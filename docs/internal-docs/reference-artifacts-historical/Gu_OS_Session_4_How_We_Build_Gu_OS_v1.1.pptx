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856" y="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docs/product/initiatives/relationship-operations/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Canonical baseline: main @ a172040149fbd4263eaa0e78b554e88861c10fae (verified 2026-09-02).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docs/principles/gu-os-principles-and-design-doctrine.md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 (v0.4.4)</a:t>
            </a:r>
          </a:p>
          <a:p>
            <a:r>
              <a:t>- docs/development/release-path-playbook.md</a:t>
            </a:r>
          </a:p>
          <a:p>
            <a:r>
              <a:t>- docs/product/roadmap-increments/r1-relationship-operations-v1/slice-plan.md</a:t>
            </a:r>
          </a:p>
          <a:p>
            <a: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docs/operational-cases/architecture.md</a:t>
            </a:r>
          </a:p>
          <a:p>
            <a:r>
              <a:t>- docs/manuals/ai-native-loops.md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Baseline: janotowers/Gu-OS main @ 5a6fbb05117042e1f7c47c911e0e2bc14d068340 (2026-09-08)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indent="0"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[Sources]</a:t>
            </a:r>
          </a:p>
          <a:p>
            <a:pPr indent="0">
              <a:buNone/>
            </a:pPr>
            <a:r>
              <a:t>- docs/development/agentic-product-software-development-methodology.md (v0.4.4)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rPr sz="2000" b="0" u="none">
                <a:solidFill>
                  <a:srgbClr val="000000"/>
                </a:solidFill>
                <a:latin typeface="Arial"/>
                <a:ea typeface="Arial"/>
                <a:cs typeface="Arial"/>
              </a:rPr>
              <a:t>- docs/development/release-path-playbook.md</a:t>
            </a:r>
          </a:p>
          <a:p>
            <a:pPr indent="0">
              <a:lnSpc>
                <a:spcPct val="100000"/>
              </a:lnSpc>
              <a:buNone/>
            </a:pPr>
            <a:r>
              <a:t>- docs/product/roadmap-increments/r1-relationship-operations-v1/slice-plan.md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indent="0">
              <a:lnSpc>
                <a:spcPct val="100000"/>
              </a:lnSpc>
              <a:buNone/>
            </a:pPr>
            <a:r>
              <a:t>- Baseline: janotowers/Gu-OS main @ 5a6fbb05117042e1f7c47c911e0e2bc14d068340 (2026-09-08)</a:t>
            </a:r>
            <a:endParaRPr sz="20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[Sources]</a:t>
            </a:r>
          </a:p>
          <a:p>
            <a:r>
              <a:t>- docs/development/agentic-product-software-development-methodology.md</a:t>
            </a:r>
          </a:p>
          <a:p>
            <a:r>
              <a:t>- docs/development/release-path-playbook.md</a:t>
            </a:r>
          </a:p>
          <a:p>
            <a:r>
              <a:t>- Canonical baseline: main @ a172040149fbd4263eaa0e78b554e88861c10fae (verified 2026-09-02).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BC63B25C-670F-4488-879E-F0CD51EBE0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6F1E4D1A-2F7E-4AC1-8FDC-6AE75379CE78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STER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>
            <a:extLst>
              <a:ext uri="{FF2B5EF4-FFF2-40B4-BE49-F238E27FC236}">
                <a16:creationId xmlns:a16="http://schemas.microsoft.com/office/drawing/2014/main" id="{EB944373-EEE6-46B4-A364-E8B53D22F2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/>
          <a:p>
            <a:pPr indent="0">
              <a:buNone/>
            </a:pPr>
            <a:r>
              <a:rPr sz="18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title text format</a:t>
            </a:r>
          </a:p>
        </p:txBody>
      </p:sp>
      <p:sp>
        <p:nvSpPr>
          <p:cNvPr id="3" name="PlaceHolder 2">
            <a:extLst>
              <a:ext uri="{FF2B5EF4-FFF2-40B4-BE49-F238E27FC236}">
                <a16:creationId xmlns:a16="http://schemas.microsoft.com/office/drawing/2014/main" id="{2ADF579C-3EBB-4BD2-868C-F69FC5ADC2E2}"/>
              </a:ext>
            </a:extLst>
          </p:cNvPr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080" cy="397728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32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4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/>
              <a:buChar char="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/>
              <a:buChar char=""/>
            </a:pPr>
            <a:r>
              <a:rPr sz="2000" b="0" u="none">
                <a:solidFill>
                  <a:schemeClr val="dk1"/>
                </a:solidFill>
                <a:latin typeface="Aptos"/>
                <a:ea typeface="Aptos"/>
                <a:cs typeface="Aptos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LIGHT">
    <p:bg>
      <p:bgPr>
        <a:solidFill>
          <a:srgbClr val="FBFAF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84F23614-6F64-47D1-8F12-1E80D64B231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5B2DB6"/>
          </a:solidFill>
          <a:ln w="12700">
            <a:solidFill>
              <a:srgbClr val="5B2DB6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6A9BE1BB-E906-472C-B8CB-9381EFFCC413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8D86A0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85321E42-F19C-49B4-AC84-466C948DAD38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8D86A0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2FE9AFF-8959-4C75-A2D0-48965FB9B7A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F42D48-45F2-484B-BB55-10A2E45A615A}"/>
              </a:ext>
            </a:extLst>
          </p:cNvPr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fld id="{5BCAD085-E8A6-8845-BD4E-CB4CCA059FC4}" type="datetimeFigureOut">
              <a:t>08/09/2026</a:t>
            </a:fld>
            <a:endParaRPr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4585A-970F-462F-8C0C-20118D55C418}"/>
              </a:ext>
            </a:extLst>
          </p:cNvPr>
          <p:cNvSpPr>
            <a:spLocks noGrp="1"/>
          </p:cNvSpPr>
          <p:nvPr>
            <p:ph type="ftr" idx="1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1A5FA4-7045-4A81-9481-11A4BF5A4C5E}"/>
              </a:ext>
            </a:extLst>
          </p:cNvPr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fld id="{C1FF6DA9-008F-8B48-92A6-B652298478BF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1_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BLANK"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1AE492B-2527-4DDE-AFC2-164475CD77B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695" cy="0"/>
          </a:xfrm>
          <a:prstGeom prst="line">
            <a:avLst/>
          </a:prstGeom>
          <a:noFill/>
          <a:ln w="50800">
            <a:solidFill>
              <a:srgbClr val="5E2BCF"/>
            </a:solidFill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87CCBB3D-80E3-4D2A-8E1A-E0AEE2152102}"/>
              </a:ext>
            </a:extLst>
          </p:cNvPr>
          <p:cNvSpPr>
            <a:spLocks noGrp="1"/>
          </p:cNvSpPr>
          <p:nvPr/>
        </p:nvSpPr>
        <p:spPr>
          <a:xfrm>
            <a:off x="420624" y="6601968"/>
            <a:ext cx="109728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CONFIDENTIAL</a:t>
            </a:r>
            <a:endParaRPr sz="65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B2D3471-2705-4854-88E7-32A1E08C4864}"/>
              </a:ext>
            </a:extLst>
          </p:cNvPr>
          <p:cNvSpPr>
            <a:spLocks noGrp="1"/>
          </p:cNvSpPr>
          <p:nvPr/>
        </p:nvSpPr>
        <p:spPr>
          <a:xfrm>
            <a:off x="10927080" y="6601968"/>
            <a:ext cx="685800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ungga.com</a:t>
            </a:r>
            <a:endParaRPr sz="650"/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1F947B6B-C519-4A36-BA79-A3B5AAB632EB}"/>
              </a:ext>
            </a:extLst>
          </p:cNvPr>
          <p:cNvSpPr>
            <a:spLocks noGrp="1"/>
          </p:cNvSpPr>
          <p:nvPr/>
        </p:nvSpPr>
        <p:spPr>
          <a:xfrm>
            <a:off x="11503152" y="6601968"/>
            <a:ext cx="384048" cy="109728"/>
          </a:xfrm>
          <a:prstGeom prst="rect">
            <a:avLst/>
          </a:prstGeom>
          <a:noFill/>
        </p:spPr>
        <p:txBody>
          <a:bodyPr wrap="square" anchor="ctr"/>
          <a:lstStyle/>
          <a:p>
            <a:pPr marL="0" indent="0" algn="r">
              <a:buNone/>
            </a:pPr>
            <a:r>
              <a:rPr sz="650">
                <a:solidFill>
                  <a:srgbClr val="7A728D"/>
                </a:solidFill>
                <a:latin typeface="Inter"/>
                <a:ea typeface="Inter"/>
                <a:cs typeface="Inter"/>
              </a:rPr>
              <a:t>16</a:t>
            </a:r>
            <a:endParaRPr sz="65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UNGGA_DARK">
    <p:bg>
      <p:bgPr>
        <a:solidFill>
          <a:srgbClr val="1A12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>
            <a:extLst>
              <a:ext uri="{FF2B5EF4-FFF2-40B4-BE49-F238E27FC236}">
                <a16:creationId xmlns:a16="http://schemas.microsoft.com/office/drawing/2014/main" id="{589198CB-776F-4A59-A56D-12D7B118D6F9}"/>
              </a:ext>
            </a:extLst>
          </p:cNvPr>
          <p:cNvSpPr>
            <a:spLocks noGrp="1"/>
          </p:cNvSpPr>
          <p:nvPr/>
        </p:nvSpPr>
        <p:spPr>
          <a:xfrm>
            <a:off x="566928" y="6537960"/>
            <a:ext cx="1097280" cy="164592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>
              <a:buNone/>
            </a:pPr>
            <a:r>
              <a:rPr sz="750" spc="120">
                <a:solidFill>
                  <a:srgbClr val="BFB5D8"/>
                </a:solidFill>
                <a:latin typeface="Inter"/>
                <a:ea typeface="Inter"/>
                <a:cs typeface="Inter"/>
              </a:rPr>
              <a:t>CONFIDENTIAL</a:t>
            </a:r>
            <a:endParaRPr sz="75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070C3F6D-279A-46C0-A651-5293336125C2}"/>
              </a:ext>
            </a:extLst>
          </p:cNvPr>
          <p:cNvSpPr>
            <a:spLocks noGrp="1"/>
          </p:cNvSpPr>
          <p:nvPr/>
        </p:nvSpPr>
        <p:spPr>
          <a:xfrm>
            <a:off x="10561320" y="6510528"/>
            <a:ext cx="914400" cy="182880"/>
          </a:xfrm>
          <a:prstGeom prst="rect">
            <a:avLst/>
          </a:prstGeom>
          <a:noFill/>
        </p:spPr>
        <p:txBody>
          <a:bodyPr wrap="square" lIns="0" tIns="0" rIns="0" bIns="0" anchor="ctr"/>
          <a:lstStyle/>
          <a:p>
            <a:pPr marL="0" indent="0" algn="r">
              <a:buNone/>
            </a:pPr>
            <a:r>
              <a:rPr sz="800">
                <a:solidFill>
                  <a:srgbClr val="BFB5D8"/>
                </a:solidFill>
                <a:latin typeface="Inter"/>
                <a:ea typeface="Inter"/>
                <a:cs typeface="Inter"/>
              </a:rPr>
              <a:t>ungga.com</a:t>
            </a:r>
            <a:endParaRPr sz="800"/>
          </a:p>
        </p:txBody>
      </p:sp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7094EC15-AE83-49E6-87CE-94F10DD7F04E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8" y="6510528"/>
            <a:ext cx="219456" cy="182880"/>
          </a:xfrm>
          <a:prstGeom prst="rect">
            <a:avLst/>
          </a:prstGeom>
        </p:spPr>
        <p:txBody>
          <a:bodyPr/>
          <a:lstStyle>
            <a:lvl1pPr>
              <a:buNone/>
              <a:defRPr sz="800">
                <a:solidFill>
                  <a:srgbClr val="BFB5D8"/>
                </a:solidFill>
                <a:latin typeface="Inter"/>
                <a:ea typeface="Inter"/>
                <a:cs typeface="Inter"/>
              </a:defRPr>
            </a:lvl1pPr>
          </a:lstStyle>
          <a:p>
            <a:pPr algn="r">
              <a:buNone/>
            </a:pPr>
            <a:fld id="{F7021451-1387-4CA6-816F-3879F97B5CBC}" type="slidenum">
              <a:rPr b="0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Shape 0">
            <a:extLst>
              <a:ext uri="{FF2B5EF4-FFF2-40B4-BE49-F238E27FC236}">
                <a16:creationId xmlns:a16="http://schemas.microsoft.com/office/drawing/2014/main" id="{15224E59-A114-EF97-9AD5-4F714DE083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857640"/>
          </a:xfrm>
          <a:prstGeom prst="rect">
            <a:avLst/>
          </a:prstGeom>
          <a:solidFill>
            <a:srgbClr val="20143D"/>
          </a:solidFill>
          <a:ln w="12700">
            <a:solidFill>
              <a:srgbClr val="20143D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+mj-lt"/>
              <a:ea typeface="+mj-lt"/>
              <a:cs typeface="+mj-lt"/>
            </a:endParaRPr>
          </a:p>
        </p:txBody>
      </p:sp>
      <p:sp>
        <p:nvSpPr>
          <p:cNvPr id="11" name="Text 1">
            <a:extLst>
              <a:ext uri="{FF2B5EF4-FFF2-40B4-BE49-F238E27FC236}">
                <a16:creationId xmlns:a16="http://schemas.microsoft.com/office/drawing/2014/main" id="{8965042D-42A4-D40C-B362-56D62F2B4A66}"/>
              </a:ext>
            </a:extLst>
          </p:cNvPr>
          <p:cNvSpPr>
            <a:spLocks noGrp="1"/>
          </p:cNvSpPr>
          <p:nvPr/>
        </p:nvSpPr>
        <p:spPr>
          <a:xfrm>
            <a:off x="567000" y="502920"/>
            <a:ext cx="41144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CAB9FF"/>
                </a:solidFill>
                <a:latin typeface="Aptos"/>
                <a:ea typeface="Aptos"/>
                <a:cs typeface="Aptos"/>
              </a:rPr>
              <a:t>UNGGA | INTERNAL SESSION</a:t>
            </a:r>
            <a:endParaRPr sz="12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2" name="Text 2">
            <a:extLst>
              <a:ext uri="{FF2B5EF4-FFF2-40B4-BE49-F238E27FC236}">
                <a16:creationId xmlns:a16="http://schemas.microsoft.com/office/drawing/2014/main" id="{0316C7E0-8E26-4A2B-880B-6FEF8F6163B9}"/>
              </a:ext>
            </a:extLst>
          </p:cNvPr>
          <p:cNvSpPr>
            <a:spLocks noGrp="1"/>
          </p:cNvSpPr>
          <p:nvPr/>
        </p:nvSpPr>
        <p:spPr>
          <a:xfrm>
            <a:off x="567000" y="1492856"/>
            <a:ext cx="5943240" cy="6397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500" b="1" u="none">
                <a:solidFill>
                  <a:srgbClr val="FFFFFF"/>
                </a:solidFill>
              </a:rPr>
              <a:t>Cómo construimos Gu OS</a:t>
            </a:r>
            <a:endParaRPr sz="3500" b="0" u="none">
              <a:solidFill>
                <a:srgbClr val="FFFFFF"/>
              </a:solidFill>
            </a:endParaRPr>
          </a:p>
        </p:txBody>
      </p:sp>
      <p:sp>
        <p:nvSpPr>
          <p:cNvPr id="13" name="Text 3">
            <a:extLst>
              <a:ext uri="{FF2B5EF4-FFF2-40B4-BE49-F238E27FC236}">
                <a16:creationId xmlns:a16="http://schemas.microsoft.com/office/drawing/2014/main" id="{8F476939-C89E-34BC-BFF7-E9DA39ED9558}"/>
              </a:ext>
            </a:extLst>
          </p:cNvPr>
          <p:cNvSpPr>
            <a:spLocks noGrp="1"/>
          </p:cNvSpPr>
          <p:nvPr/>
        </p:nvSpPr>
        <p:spPr>
          <a:xfrm>
            <a:off x="567000" y="2235832"/>
            <a:ext cx="7589160" cy="63971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3000" b="0" u="none">
                <a:solidFill>
                  <a:srgbClr val="E9E2FF"/>
                </a:solidFill>
                <a:latin typeface="Aptos"/>
                <a:ea typeface="Aptos"/>
                <a:cs typeface="Aptos"/>
              </a:rPr>
              <a:t>De intención a evidencia</a:t>
            </a:r>
            <a:endParaRPr sz="30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4">
            <a:extLst>
              <a:ext uri="{FF2B5EF4-FFF2-40B4-BE49-F238E27FC236}">
                <a16:creationId xmlns:a16="http://schemas.microsoft.com/office/drawing/2014/main" id="{3880D93C-3FD0-A8BD-A47F-30288E4BE158}"/>
              </a:ext>
            </a:extLst>
          </p:cNvPr>
          <p:cNvSpPr>
            <a:spLocks noGrp="1"/>
          </p:cNvSpPr>
          <p:nvPr/>
        </p:nvSpPr>
        <p:spPr>
          <a:xfrm>
            <a:off x="567000" y="3139243"/>
            <a:ext cx="5943240" cy="6510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Sesión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4 ·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Metodología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de </a:t>
            </a:r>
            <a:r>
              <a:rPr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desarrollo</a:t>
            </a:r>
            <a:r>
              <a:rPr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900" b="0" u="none" dirty="0">
                <a:solidFill>
                  <a:srgbClr val="CFC3F4"/>
                </a:solidFill>
                <a:latin typeface="Aptos"/>
                <a:ea typeface="Aptos"/>
                <a:cs typeface="Aptos"/>
              </a:rPr>
              <a:t>de sistema </a:t>
            </a:r>
            <a:r>
              <a:rPr lang="es-MX" sz="1900" b="0" u="none" dirty="0" err="1">
                <a:solidFill>
                  <a:srgbClr val="CFC3F4"/>
                </a:solidFill>
                <a:latin typeface="Aptos"/>
                <a:ea typeface="Aptos"/>
                <a:cs typeface="Aptos"/>
              </a:rPr>
              <a:t>agéntico</a:t>
            </a:r>
            <a:endParaRPr sz="1900" b="0" u="none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5">
            <a:extLst>
              <a:ext uri="{FF2B5EF4-FFF2-40B4-BE49-F238E27FC236}">
                <a16:creationId xmlns:a16="http://schemas.microsoft.com/office/drawing/2014/main" id="{A6164349-3215-A4F6-3FBF-8BE60EEECA6B}"/>
              </a:ext>
            </a:extLst>
          </p:cNvPr>
          <p:cNvSpPr>
            <a:spLocks noGrp="1"/>
          </p:cNvSpPr>
          <p:nvPr/>
        </p:nvSpPr>
        <p:spPr>
          <a:xfrm>
            <a:off x="567000" y="5053773"/>
            <a:ext cx="6300939" cy="894741"/>
          </a:xfrm>
          <a:prstGeom prst="roundRect">
            <a:avLst>
              <a:gd name="adj" fmla="val 18750"/>
            </a:avLst>
          </a:prstGeom>
          <a:solidFill>
            <a:srgbClr val="FFFFFF">
              <a:alpha val="10000"/>
            </a:srgbClr>
          </a:solidFill>
          <a:ln w="12700">
            <a:solidFill>
              <a:srgbClr val="7B49E6">
                <a:alpha val="6500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3000" b="0" u="none">
              <a:solidFill>
                <a:srgbClr val="000000"/>
              </a:solidFill>
            </a:endParaRPr>
          </a:p>
        </p:txBody>
      </p:sp>
      <p:sp>
        <p:nvSpPr>
          <p:cNvPr id="16" name="Text 6">
            <a:extLst>
              <a:ext uri="{FF2B5EF4-FFF2-40B4-BE49-F238E27FC236}">
                <a16:creationId xmlns:a16="http://schemas.microsoft.com/office/drawing/2014/main" id="{ED36FB87-AC9C-401E-792E-E0B9300034F1}"/>
              </a:ext>
            </a:extLst>
          </p:cNvPr>
          <p:cNvSpPr>
            <a:spLocks noGrp="1"/>
          </p:cNvSpPr>
          <p:nvPr/>
        </p:nvSpPr>
        <p:spPr>
          <a:xfrm>
            <a:off x="765792" y="5188987"/>
            <a:ext cx="5886382" cy="6167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500" b="0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Objetivo: entender cómo convertimos una responsabilidad de negocio en cambios pequeños, verificables, liberables y capaces de producir aprendizaje.</a:t>
            </a:r>
            <a:endParaRPr sz="15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Shape 7">
            <a:extLst>
              <a:ext uri="{FF2B5EF4-FFF2-40B4-BE49-F238E27FC236}">
                <a16:creationId xmlns:a16="http://schemas.microsoft.com/office/drawing/2014/main" id="{4AA47739-366C-D04A-0CA4-C2554390AD0D}"/>
              </a:ext>
            </a:extLst>
          </p:cNvPr>
          <p:cNvSpPr>
            <a:spLocks noGrp="1"/>
          </p:cNvSpPr>
          <p:nvPr/>
        </p:nvSpPr>
        <p:spPr>
          <a:xfrm>
            <a:off x="7675580" y="1100947"/>
            <a:ext cx="3328274" cy="3205734"/>
          </a:xfrm>
          <a:prstGeom prst="ellipse">
            <a:avLst/>
          </a:prstGeom>
          <a:solidFill>
            <a:srgbClr val="FFFFFF">
              <a:alpha val="7000"/>
            </a:srgbClr>
          </a:solidFill>
          <a:ln w="1524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8" name="Text 8">
            <a:extLst>
              <a:ext uri="{FF2B5EF4-FFF2-40B4-BE49-F238E27FC236}">
                <a16:creationId xmlns:a16="http://schemas.microsoft.com/office/drawing/2014/main" id="{4BFFEF0A-570F-33D2-136B-839BCE005F9E}"/>
              </a:ext>
            </a:extLst>
          </p:cNvPr>
          <p:cNvSpPr>
            <a:spLocks noGrp="1"/>
          </p:cNvSpPr>
          <p:nvPr/>
        </p:nvSpPr>
        <p:spPr>
          <a:xfrm>
            <a:off x="8507788" y="3702852"/>
            <a:ext cx="1645560" cy="456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Shape 9">
            <a:extLst>
              <a:ext uri="{FF2B5EF4-FFF2-40B4-BE49-F238E27FC236}">
                <a16:creationId xmlns:a16="http://schemas.microsoft.com/office/drawing/2014/main" id="{4580023E-1CF3-E90A-C87B-06232376F2D5}"/>
              </a:ext>
            </a:extLst>
          </p:cNvPr>
          <p:cNvSpPr>
            <a:spLocks noGrp="1"/>
          </p:cNvSpPr>
          <p:nvPr/>
        </p:nvSpPr>
        <p:spPr>
          <a:xfrm>
            <a:off x="9374254" y="4370760"/>
            <a:ext cx="360" cy="622080"/>
          </a:xfrm>
          <a:prstGeom prst="line">
            <a:avLst/>
          </a:prstGeom>
          <a:ln w="22860">
            <a:solidFill>
              <a:srgbClr val="CAB9FF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0">
            <a:extLst>
              <a:ext uri="{FF2B5EF4-FFF2-40B4-BE49-F238E27FC236}">
                <a16:creationId xmlns:a16="http://schemas.microsoft.com/office/drawing/2014/main" id="{680639FB-D27D-D3DB-D44B-45166BA776E1}"/>
              </a:ext>
            </a:extLst>
          </p:cNvPr>
          <p:cNvSpPr>
            <a:spLocks noGrp="1"/>
          </p:cNvSpPr>
          <p:nvPr/>
        </p:nvSpPr>
        <p:spPr>
          <a:xfrm>
            <a:off x="7956934" y="5084280"/>
            <a:ext cx="2880000" cy="840960"/>
          </a:xfrm>
          <a:prstGeom prst="roundRect">
            <a:avLst>
              <a:gd name="adj" fmla="val 14130"/>
            </a:avLst>
          </a:prstGeom>
          <a:solidFill>
            <a:srgbClr val="7B49E6"/>
          </a:solidFill>
          <a:ln w="12700">
            <a:solidFill>
              <a:srgbClr val="7B49E6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1" name="Text 11">
            <a:extLst>
              <a:ext uri="{FF2B5EF4-FFF2-40B4-BE49-F238E27FC236}">
                <a16:creationId xmlns:a16="http://schemas.microsoft.com/office/drawing/2014/main" id="{ED89F9FD-33CD-3FDC-D2A2-120B1544279E}"/>
              </a:ext>
            </a:extLst>
          </p:cNvPr>
          <p:cNvSpPr>
            <a:spLocks noGrp="1"/>
          </p:cNvSpPr>
          <p:nvPr/>
        </p:nvSpPr>
        <p:spPr>
          <a:xfrm>
            <a:off x="8459854" y="5374032"/>
            <a:ext cx="1919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400" b="1" u="none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Gu OS</a:t>
            </a:r>
            <a:endParaRPr sz="24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3" name="Text 13">
            <a:extLst>
              <a:ext uri="{FF2B5EF4-FFF2-40B4-BE49-F238E27FC236}">
                <a16:creationId xmlns:a16="http://schemas.microsoft.com/office/drawing/2014/main" id="{0A392EEC-8670-C71D-F5B6-133FE9D865A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4">
            <a:extLst>
              <a:ext uri="{FF2B5EF4-FFF2-40B4-BE49-F238E27FC236}">
                <a16:creationId xmlns:a16="http://schemas.microsoft.com/office/drawing/2014/main" id="{A0D1D728-2877-56A1-C3AA-A5A762FE2D61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5">
            <a:extLst>
              <a:ext uri="{FF2B5EF4-FFF2-40B4-BE49-F238E27FC236}">
                <a16:creationId xmlns:a16="http://schemas.microsoft.com/office/drawing/2014/main" id="{9EC56527-DFE0-0B6D-1A22-25AA8DCC0C05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</a:t>
            </a:r>
            <a:endParaRPr sz="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3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83216" y="1275732"/>
            <a:ext cx="2454948" cy="2454948"/>
          </a:xfrm>
          <a:prstGeom prst="rect">
            <a:avLst/>
          </a:prstGeom>
        </p:spPr>
      </p:pic>
      <p:pic>
        <p:nvPicPr>
          <p:cNvPr id="44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67587" y="396427"/>
            <a:ext cx="791013" cy="658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274371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Shape 0">
            <a:extLst>
              <a:ext uri="{FF2B5EF4-FFF2-40B4-BE49-F238E27FC236}">
                <a16:creationId xmlns:a16="http://schemas.microsoft.com/office/drawing/2014/main" id="{8A6FB232-29C7-4148-A318-D6D37027B43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1">
            <a:extLst>
              <a:ext uri="{FF2B5EF4-FFF2-40B4-BE49-F238E27FC236}">
                <a16:creationId xmlns:a16="http://schemas.microsoft.com/office/drawing/2014/main" id="{B656D5D7-5F56-4C48-B355-26CB3853B2EA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QUÉ RESUELVE LA METODOLOGÍA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Text 2">
            <a:extLst>
              <a:ext uri="{FF2B5EF4-FFF2-40B4-BE49-F238E27FC236}">
                <a16:creationId xmlns:a16="http://schemas.microsoft.com/office/drawing/2014/main" id="{7FC0CD6F-5E97-4B6A-B2CA-51F418519531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405800" cy="8226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es ag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é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ntic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en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en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su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pero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se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modelo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9" name="Text 3">
            <a:extLst>
              <a:ext uri="{FF2B5EF4-FFF2-40B4-BE49-F238E27FC236}">
                <a16:creationId xmlns:a16="http://schemas.microsoft.com/office/drawing/2014/main" id="{E5AC0352-BA88-4ADA-9660-CD1313D12700}"/>
              </a:ext>
            </a:extLst>
          </p:cNvPr>
          <p:cNvSpPr>
            <a:spLocks noGrp="1"/>
          </p:cNvSpPr>
          <p:nvPr/>
        </p:nvSpPr>
        <p:spPr>
          <a:xfrm>
            <a:off x="567000" y="1700530"/>
            <a:ext cx="1069812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metodología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hace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explícita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artefacto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el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humanos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agentes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la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exigida</a:t>
            </a:r>
            <a:r>
              <a:rPr sz="16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1" name="Text 5">
            <a:extLst>
              <a:ext uri="{FF2B5EF4-FFF2-40B4-BE49-F238E27FC236}">
                <a16:creationId xmlns:a16="http://schemas.microsoft.com/office/drawing/2014/main" id="{CC814270-2D41-4CE0-BCB5-AAF97BF72825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6">
            <a:extLst>
              <a:ext uri="{FF2B5EF4-FFF2-40B4-BE49-F238E27FC236}">
                <a16:creationId xmlns:a16="http://schemas.microsoft.com/office/drawing/2014/main" id="{2FD7BBD5-2BD3-474B-8F23-EE1DF3168EE9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7">
            <a:extLst>
              <a:ext uri="{FF2B5EF4-FFF2-40B4-BE49-F238E27FC236}">
                <a16:creationId xmlns:a16="http://schemas.microsoft.com/office/drawing/2014/main" id="{B9E9BABF-B8BA-4327-AFAF-80C36E4CEEA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2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8">
            <a:extLst>
              <a:ext uri="{FF2B5EF4-FFF2-40B4-BE49-F238E27FC236}">
                <a16:creationId xmlns:a16="http://schemas.microsoft.com/office/drawing/2014/main" id="{DB5131BC-B514-4FCE-B245-F6A4736B6361}"/>
              </a:ext>
            </a:extLst>
          </p:cNvPr>
          <p:cNvSpPr>
            <a:spLocks noGrp="1"/>
          </p:cNvSpPr>
          <p:nvPr/>
        </p:nvSpPr>
        <p:spPr>
          <a:xfrm>
            <a:off x="685800" y="2462911"/>
            <a:ext cx="237708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Trazabilidad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5" name="Shape 9">
            <a:extLst>
              <a:ext uri="{FF2B5EF4-FFF2-40B4-BE49-F238E27FC236}">
                <a16:creationId xmlns:a16="http://schemas.microsoft.com/office/drawing/2014/main" id="{665FA2CF-4526-4CF5-A5DF-C2A118EDE11F}"/>
              </a:ext>
            </a:extLst>
          </p:cNvPr>
          <p:cNvSpPr>
            <a:spLocks noGrp="1"/>
          </p:cNvSpPr>
          <p:nvPr/>
        </p:nvSpPr>
        <p:spPr>
          <a:xfrm>
            <a:off x="68580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6" name="Text 10">
            <a:extLst>
              <a:ext uri="{FF2B5EF4-FFF2-40B4-BE49-F238E27FC236}">
                <a16:creationId xmlns:a16="http://schemas.microsoft.com/office/drawing/2014/main" id="{AAEEDB45-9CC4-464E-B1AA-8DEB915C75E5}"/>
              </a:ext>
            </a:extLst>
          </p:cNvPr>
          <p:cNvSpPr>
            <a:spLocks noGrp="1"/>
          </p:cNvSpPr>
          <p:nvPr/>
        </p:nvSpPr>
        <p:spPr>
          <a:xfrm>
            <a:off x="88704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Intención → implementación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7" name="Text 11">
            <a:extLst>
              <a:ext uri="{FF2B5EF4-FFF2-40B4-BE49-F238E27FC236}">
                <a16:creationId xmlns:a16="http://schemas.microsoft.com/office/drawing/2014/main" id="{5544A2D3-5818-497B-B11C-6F90D3649BB8}"/>
              </a:ext>
            </a:extLst>
          </p:cNvPr>
          <p:cNvSpPr>
            <a:spLocks noGrp="1"/>
          </p:cNvSpPr>
          <p:nvPr/>
        </p:nvSpPr>
        <p:spPr>
          <a:xfrm>
            <a:off x="941760" y="3510975"/>
            <a:ext cx="2725779" cy="38468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Cada decisión importante tiene un dueño, un artefacto y una evidencia.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8" name="Shape 12">
            <a:extLst>
              <a:ext uri="{FF2B5EF4-FFF2-40B4-BE49-F238E27FC236}">
                <a16:creationId xmlns:a16="http://schemas.microsoft.com/office/drawing/2014/main" id="{FC4AB4AB-8A0D-4675-8B3B-1A670A926D22}"/>
              </a:ext>
            </a:extLst>
          </p:cNvPr>
          <p:cNvSpPr>
            <a:spLocks noGrp="1"/>
          </p:cNvSpPr>
          <p:nvPr/>
        </p:nvSpPr>
        <p:spPr>
          <a:xfrm>
            <a:off x="443484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9" name="Text 13">
            <a:extLst>
              <a:ext uri="{FF2B5EF4-FFF2-40B4-BE49-F238E27FC236}">
                <a16:creationId xmlns:a16="http://schemas.microsoft.com/office/drawing/2014/main" id="{9B91866C-0D65-4CF5-B9AE-83546FAD5F88}"/>
              </a:ext>
            </a:extLst>
          </p:cNvPr>
          <p:cNvSpPr>
            <a:spLocks noGrp="1"/>
          </p:cNvSpPr>
          <p:nvPr/>
        </p:nvSpPr>
        <p:spPr>
          <a:xfrm>
            <a:off x="463608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Flujo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0" name="Text 14">
            <a:extLst>
              <a:ext uri="{FF2B5EF4-FFF2-40B4-BE49-F238E27FC236}">
                <a16:creationId xmlns:a16="http://schemas.microsoft.com/office/drawing/2014/main" id="{3E1770D2-F4A4-46AC-9E53-366F0B501AE8}"/>
              </a:ext>
            </a:extLst>
          </p:cNvPr>
          <p:cNvSpPr>
            <a:spLocks noGrp="1"/>
          </p:cNvSpPr>
          <p:nvPr/>
        </p:nvSpPr>
        <p:spPr>
          <a:xfrm>
            <a:off x="4705920" y="3471967"/>
            <a:ext cx="2779560" cy="4384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Slices pequeños que pueden revisarse, verificarse, liberarse y aprender.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" name="Shape 15">
            <a:extLst>
              <a:ext uri="{FF2B5EF4-FFF2-40B4-BE49-F238E27FC236}">
                <a16:creationId xmlns:a16="http://schemas.microsoft.com/office/drawing/2014/main" id="{FFE74B19-D367-4C38-99A4-6820C1D08276}"/>
              </a:ext>
            </a:extLst>
          </p:cNvPr>
          <p:cNvSpPr>
            <a:spLocks noGrp="1"/>
          </p:cNvSpPr>
          <p:nvPr/>
        </p:nvSpPr>
        <p:spPr>
          <a:xfrm>
            <a:off x="8183880" y="2828671"/>
            <a:ext cx="3291480" cy="119129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" name="Text 16">
            <a:extLst>
              <a:ext uri="{FF2B5EF4-FFF2-40B4-BE49-F238E27FC236}">
                <a16:creationId xmlns:a16="http://schemas.microsoft.com/office/drawing/2014/main" id="{13304863-5231-4072-B83B-78C7C184C7AC}"/>
              </a:ext>
            </a:extLst>
          </p:cNvPr>
          <p:cNvSpPr>
            <a:spLocks noGrp="1"/>
          </p:cNvSpPr>
          <p:nvPr/>
        </p:nvSpPr>
        <p:spPr>
          <a:xfrm>
            <a:off x="8385120" y="3048271"/>
            <a:ext cx="28890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Gobernanza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" name="Text 17">
            <a:extLst>
              <a:ext uri="{FF2B5EF4-FFF2-40B4-BE49-F238E27FC236}">
                <a16:creationId xmlns:a16="http://schemas.microsoft.com/office/drawing/2014/main" id="{000F244F-8DD5-4EDB-9F29-FAE5060E87E6}"/>
              </a:ext>
            </a:extLst>
          </p:cNvPr>
          <p:cNvSpPr>
            <a:spLocks noGrp="1"/>
          </p:cNvSpPr>
          <p:nvPr/>
        </p:nvSpPr>
        <p:spPr>
          <a:xfrm>
            <a:off x="8439840" y="3533986"/>
            <a:ext cx="2779560" cy="37645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modelo propone; los contratos, checks y reviewers deciden.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4" name="Text 18">
            <a:extLst>
              <a:ext uri="{FF2B5EF4-FFF2-40B4-BE49-F238E27FC236}">
                <a16:creationId xmlns:a16="http://schemas.microsoft.com/office/drawing/2014/main" id="{8F09E838-7508-4DBB-878D-9E6461CF1859}"/>
              </a:ext>
            </a:extLst>
          </p:cNvPr>
          <p:cNvSpPr>
            <a:spLocks noGrp="1"/>
          </p:cNvSpPr>
          <p:nvPr/>
        </p:nvSpPr>
        <p:spPr>
          <a:xfrm>
            <a:off x="685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PREVIO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5" name="Shape 19">
            <a:extLst>
              <a:ext uri="{FF2B5EF4-FFF2-40B4-BE49-F238E27FC236}">
                <a16:creationId xmlns:a16="http://schemas.microsoft.com/office/drawing/2014/main" id="{870E1DDA-56CA-4E99-B8AA-5DD8540CD368}"/>
              </a:ext>
            </a:extLst>
          </p:cNvPr>
          <p:cNvSpPr>
            <a:spLocks noGrp="1"/>
          </p:cNvSpPr>
          <p:nvPr/>
        </p:nvSpPr>
        <p:spPr>
          <a:xfrm>
            <a:off x="731520" y="486771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" name="Text 20">
            <a:extLst>
              <a:ext uri="{FF2B5EF4-FFF2-40B4-BE49-F238E27FC236}">
                <a16:creationId xmlns:a16="http://schemas.microsoft.com/office/drawing/2014/main" id="{87EF43EB-2B9A-43B3-ADBA-DCDAAD22980B}"/>
              </a:ext>
            </a:extLst>
          </p:cNvPr>
          <p:cNvSpPr>
            <a:spLocks noGrp="1"/>
          </p:cNvSpPr>
          <p:nvPr/>
        </p:nvSpPr>
        <p:spPr>
          <a:xfrm>
            <a:off x="896040" y="479463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Sessions 3 + 3B: arquitectura y runtime.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" name="Shape 21">
            <a:extLst>
              <a:ext uri="{FF2B5EF4-FFF2-40B4-BE49-F238E27FC236}">
                <a16:creationId xmlns:a16="http://schemas.microsoft.com/office/drawing/2014/main" id="{0EE7AE17-FCAA-499A-8E9A-4F7DFCF59FB1}"/>
              </a:ext>
            </a:extLst>
          </p:cNvPr>
          <p:cNvSpPr>
            <a:spLocks noGrp="1"/>
          </p:cNvSpPr>
          <p:nvPr/>
        </p:nvSpPr>
        <p:spPr>
          <a:xfrm>
            <a:off x="731520" y="528855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" name="Text 22">
            <a:extLst>
              <a:ext uri="{FF2B5EF4-FFF2-40B4-BE49-F238E27FC236}">
                <a16:creationId xmlns:a16="http://schemas.microsoft.com/office/drawing/2014/main" id="{2044C36A-B23A-44A4-AF9D-018739D3C4C1}"/>
              </a:ext>
            </a:extLst>
          </p:cNvPr>
          <p:cNvSpPr>
            <a:spLocks noGrp="1"/>
          </p:cNvSpPr>
          <p:nvPr/>
        </p:nvSpPr>
        <p:spPr>
          <a:xfrm>
            <a:off x="896040" y="521511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Lectura: Methodology Guide v0.2 (derivada de v0.4.4).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9" name="Shape 23">
            <a:extLst>
              <a:ext uri="{FF2B5EF4-FFF2-40B4-BE49-F238E27FC236}">
                <a16:creationId xmlns:a16="http://schemas.microsoft.com/office/drawing/2014/main" id="{2AB794F0-1FC0-4702-8D39-5F03EAA67754}"/>
              </a:ext>
            </a:extLst>
          </p:cNvPr>
          <p:cNvSpPr>
            <a:spLocks noGrp="1"/>
          </p:cNvSpPr>
          <p:nvPr/>
        </p:nvSpPr>
        <p:spPr>
          <a:xfrm>
            <a:off x="731520" y="5709031"/>
            <a:ext cx="72720" cy="72720"/>
          </a:xfrm>
          <a:prstGeom prst="ellipse">
            <a:avLst/>
          </a:prstGeom>
          <a:solidFill>
            <a:srgbClr val="A84A7A"/>
          </a:solidFill>
          <a:ln w="12700">
            <a:solidFill>
              <a:srgbClr val="A84A7A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0" name="Text 24">
            <a:extLst>
              <a:ext uri="{FF2B5EF4-FFF2-40B4-BE49-F238E27FC236}">
                <a16:creationId xmlns:a16="http://schemas.microsoft.com/office/drawing/2014/main" id="{4F045B93-12C9-4CD6-B523-566CF0E35B46}"/>
              </a:ext>
            </a:extLst>
          </p:cNvPr>
          <p:cNvSpPr>
            <a:spLocks noGrp="1"/>
          </p:cNvSpPr>
          <p:nvPr/>
        </p:nvSpPr>
        <p:spPr>
          <a:xfrm>
            <a:off x="896040" y="5635951"/>
            <a:ext cx="495576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Repo actual como evidencia.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1" name="Text 25">
            <a:extLst>
              <a:ext uri="{FF2B5EF4-FFF2-40B4-BE49-F238E27FC236}">
                <a16:creationId xmlns:a16="http://schemas.microsoft.com/office/drawing/2014/main" id="{F0379311-C9D2-4A7B-A47A-68E51AEB351F}"/>
              </a:ext>
            </a:extLst>
          </p:cNvPr>
          <p:cNvSpPr>
            <a:spLocks noGrp="1"/>
          </p:cNvSpPr>
          <p:nvPr/>
        </p:nvSpPr>
        <p:spPr>
          <a:xfrm>
            <a:off x="6400800" y="4428871"/>
            <a:ext cx="1371240" cy="1825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RESULTADO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3AF30DE7-5E7C-41D2-9536-92A874763C47}"/>
              </a:ext>
            </a:extLst>
          </p:cNvPr>
          <p:cNvSpPr>
            <a:spLocks noGrp="1"/>
          </p:cNvSpPr>
          <p:nvPr/>
        </p:nvSpPr>
        <p:spPr>
          <a:xfrm>
            <a:off x="6446520" y="486771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BED7AF87-63AE-456D-AED5-98C999802EA6}"/>
              </a:ext>
            </a:extLst>
          </p:cNvPr>
          <p:cNvSpPr>
            <a:spLocks noGrp="1"/>
          </p:cNvSpPr>
          <p:nvPr/>
        </p:nvSpPr>
        <p:spPr>
          <a:xfrm>
            <a:off x="6611040" y="479463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Un proceso compartido.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4" name="Shape 28">
            <a:extLst>
              <a:ext uri="{FF2B5EF4-FFF2-40B4-BE49-F238E27FC236}">
                <a16:creationId xmlns:a16="http://schemas.microsoft.com/office/drawing/2014/main" id="{01B96AF5-0887-43EE-825B-4C38F6317C64}"/>
              </a:ext>
            </a:extLst>
          </p:cNvPr>
          <p:cNvSpPr>
            <a:spLocks noGrp="1"/>
          </p:cNvSpPr>
          <p:nvPr/>
        </p:nvSpPr>
        <p:spPr>
          <a:xfrm>
            <a:off x="6446520" y="528855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5" name="Text 29">
            <a:extLst>
              <a:ext uri="{FF2B5EF4-FFF2-40B4-BE49-F238E27FC236}">
                <a16:creationId xmlns:a16="http://schemas.microsoft.com/office/drawing/2014/main" id="{97078734-4A17-498D-89D1-3E562987F525}"/>
              </a:ext>
            </a:extLst>
          </p:cNvPr>
          <p:cNvSpPr>
            <a:spLocks noGrp="1"/>
          </p:cNvSpPr>
          <p:nvPr/>
        </p:nvSpPr>
        <p:spPr>
          <a:xfrm>
            <a:off x="6611040" y="521511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Gates explícitos.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6" name="Shape 30">
            <a:extLst>
              <a:ext uri="{FF2B5EF4-FFF2-40B4-BE49-F238E27FC236}">
                <a16:creationId xmlns:a16="http://schemas.microsoft.com/office/drawing/2014/main" id="{48880A06-C8F4-404C-8041-DA0806D34E2B}"/>
              </a:ext>
            </a:extLst>
          </p:cNvPr>
          <p:cNvSpPr>
            <a:spLocks noGrp="1"/>
          </p:cNvSpPr>
          <p:nvPr/>
        </p:nvSpPr>
        <p:spPr>
          <a:xfrm>
            <a:off x="6446520" y="5709031"/>
            <a:ext cx="72720" cy="727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6840" rIns="90000" bIns="684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7" name="Text 31">
            <a:extLst>
              <a:ext uri="{FF2B5EF4-FFF2-40B4-BE49-F238E27FC236}">
                <a16:creationId xmlns:a16="http://schemas.microsoft.com/office/drawing/2014/main" id="{FD33A5F3-A21E-44ED-A50E-76D6739901EF}"/>
              </a:ext>
            </a:extLst>
          </p:cNvPr>
          <p:cNvSpPr>
            <a:spLocks noGrp="1"/>
          </p:cNvSpPr>
          <p:nvPr/>
        </p:nvSpPr>
        <p:spPr>
          <a:xfrm>
            <a:off x="6611040" y="5635951"/>
            <a:ext cx="4772880" cy="2923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Feedback cerrado.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9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02286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Shape 0">
            <a:extLst>
              <a:ext uri="{FF2B5EF4-FFF2-40B4-BE49-F238E27FC236}">
                <a16:creationId xmlns:a16="http://schemas.microsoft.com/office/drawing/2014/main" id="{A882DA7A-3DA1-1A55-4EBA-9C75BDA6F61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6" name="Text 1">
            <a:extLst>
              <a:ext uri="{FF2B5EF4-FFF2-40B4-BE49-F238E27FC236}">
                <a16:creationId xmlns:a16="http://schemas.microsoft.com/office/drawing/2014/main" id="{DD354175-608D-1A71-E390-4A51460BF4E4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LA CADENA DE ARTEFACTOS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7" name="Text 2">
            <a:extLst>
              <a:ext uri="{FF2B5EF4-FFF2-40B4-BE49-F238E27FC236}">
                <a16:creationId xmlns:a16="http://schemas.microsoft.com/office/drawing/2014/main" id="{1F0F9BBB-715B-CCD0-D86A-82CE0AFC0591}"/>
              </a:ext>
            </a:extLst>
          </p:cNvPr>
          <p:cNvSpPr>
            <a:spLocks noGrp="1"/>
          </p:cNvSpPr>
          <p:nvPr/>
        </p:nvSpPr>
        <p:spPr>
          <a:xfrm>
            <a:off x="567000" y="71582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3902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artefacto posee una clase de verdad; ninguno debe intentar poseerlas todas.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8" name="Text 3">
            <a:extLst>
              <a:ext uri="{FF2B5EF4-FFF2-40B4-BE49-F238E27FC236}">
                <a16:creationId xmlns:a16="http://schemas.microsoft.com/office/drawing/2014/main" id="{582BD880-1DE5-1431-DDC0-428E681E3EE3}"/>
              </a:ext>
            </a:extLst>
          </p:cNvPr>
          <p:cNvSpPr>
            <a:spLocks noGrp="1"/>
          </p:cNvSpPr>
          <p:nvPr/>
        </p:nvSpPr>
        <p:spPr>
          <a:xfrm>
            <a:off x="567000" y="1416923"/>
            <a:ext cx="10698120" cy="55597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El flujo reduce ambigüedad progresivamente sin convertir documentos explicativos en autoridad.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0" name="Text 5">
            <a:extLst>
              <a:ext uri="{FF2B5EF4-FFF2-40B4-BE49-F238E27FC236}">
                <a16:creationId xmlns:a16="http://schemas.microsoft.com/office/drawing/2014/main" id="{D2D2F6A2-EC10-697E-7210-5676009B1357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1" name="Text 6">
            <a:extLst>
              <a:ext uri="{FF2B5EF4-FFF2-40B4-BE49-F238E27FC236}">
                <a16:creationId xmlns:a16="http://schemas.microsoft.com/office/drawing/2014/main" id="{C8E8C1CA-69BD-676C-6D51-0F12A7F90997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2" name="Text 7">
            <a:extLst>
              <a:ext uri="{FF2B5EF4-FFF2-40B4-BE49-F238E27FC236}">
                <a16:creationId xmlns:a16="http://schemas.microsoft.com/office/drawing/2014/main" id="{782E3E29-A04F-D32C-CB78-16E7FAB75028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3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3" name="Shape 8">
            <a:extLst>
              <a:ext uri="{FF2B5EF4-FFF2-40B4-BE49-F238E27FC236}">
                <a16:creationId xmlns:a16="http://schemas.microsoft.com/office/drawing/2014/main" id="{9FDD9B24-9FEF-8229-883C-80F5E3ED9CB3}"/>
              </a:ext>
            </a:extLst>
          </p:cNvPr>
          <p:cNvSpPr>
            <a:spLocks noGrp="1"/>
          </p:cNvSpPr>
          <p:nvPr/>
        </p:nvSpPr>
        <p:spPr>
          <a:xfrm>
            <a:off x="9362660" y="3067601"/>
            <a:ext cx="2246243" cy="2150444"/>
          </a:xfrm>
          <a:prstGeom prst="roundRect">
            <a:avLst>
              <a:gd name="adj" fmla="val 7143"/>
            </a:avLst>
          </a:prstGeom>
          <a:solidFill>
            <a:srgbClr val="CC99FF">
              <a:alpha val="50000"/>
            </a:srgbClr>
          </a:solidFill>
          <a:ln w="12700">
            <a:solidFill>
              <a:srgbClr val="5F2CC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4" name="Text 9">
            <a:extLst>
              <a:ext uri="{FF2B5EF4-FFF2-40B4-BE49-F238E27FC236}">
                <a16:creationId xmlns:a16="http://schemas.microsoft.com/office/drawing/2014/main" id="{95D2BA50-8761-62A4-6805-2AC02C8CC3CE}"/>
              </a:ext>
            </a:extLst>
          </p:cNvPr>
          <p:cNvSpPr>
            <a:spLocks noGrp="1"/>
          </p:cNvSpPr>
          <p:nvPr/>
        </p:nvSpPr>
        <p:spPr>
          <a:xfrm>
            <a:off x="9556552" y="3244229"/>
            <a:ext cx="1892341" cy="57815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8698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Tasks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Code 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Evidence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5" name="Text 10">
            <a:extLst>
              <a:ext uri="{FF2B5EF4-FFF2-40B4-BE49-F238E27FC236}">
                <a16:creationId xmlns:a16="http://schemas.microsoft.com/office/drawing/2014/main" id="{62EF2D04-2D08-2831-76B6-C735FB76BBFC}"/>
              </a:ext>
            </a:extLst>
          </p:cNvPr>
          <p:cNvSpPr>
            <a:spLocks noGrp="1"/>
          </p:cNvSpPr>
          <p:nvPr/>
        </p:nvSpPr>
        <p:spPr>
          <a:xfrm>
            <a:off x="9434072" y="3913819"/>
            <a:ext cx="2107309" cy="114586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está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implementado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verificado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operando.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7" name="Shape 12">
            <a:extLst>
              <a:ext uri="{FF2B5EF4-FFF2-40B4-BE49-F238E27FC236}">
                <a16:creationId xmlns:a16="http://schemas.microsoft.com/office/drawing/2014/main" id="{11D88C58-7E48-2E2C-33DF-5C4665E241AF}"/>
              </a:ext>
            </a:extLst>
          </p:cNvPr>
          <p:cNvSpPr>
            <a:spLocks noGrp="1"/>
          </p:cNvSpPr>
          <p:nvPr/>
        </p:nvSpPr>
        <p:spPr>
          <a:xfrm>
            <a:off x="6399652" y="2752257"/>
            <a:ext cx="2078085" cy="2257065"/>
          </a:xfrm>
          <a:prstGeom prst="roundRect">
            <a:avLst>
              <a:gd name="adj" fmla="val 7143"/>
            </a:avLst>
          </a:prstGeom>
          <a:solidFill>
            <a:srgbClr val="99FFCC">
              <a:alpha val="50000"/>
            </a:srgbClr>
          </a:solidFill>
          <a:ln w="12700">
            <a:solidFill>
              <a:srgbClr val="546080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8" name="Text 13">
            <a:extLst>
              <a:ext uri="{FF2B5EF4-FFF2-40B4-BE49-F238E27FC236}">
                <a16:creationId xmlns:a16="http://schemas.microsoft.com/office/drawing/2014/main" id="{3B491646-BE3F-253A-DC8F-525F168F7CF2}"/>
              </a:ext>
            </a:extLst>
          </p:cNvPr>
          <p:cNvSpPr>
            <a:spLocks noGrp="1"/>
          </p:cNvSpPr>
          <p:nvPr/>
        </p:nvSpPr>
        <p:spPr>
          <a:xfrm>
            <a:off x="6497266" y="2894243"/>
            <a:ext cx="1902542" cy="69864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ADR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s,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Plan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Técnico &amp; Slice Plan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9" name="Text 14">
            <a:extLst>
              <a:ext uri="{FF2B5EF4-FFF2-40B4-BE49-F238E27FC236}">
                <a16:creationId xmlns:a16="http://schemas.microsoft.com/office/drawing/2014/main" id="{2F3F53C4-89BC-D87A-20F4-EDBD2E790419}"/>
              </a:ext>
            </a:extLst>
          </p:cNvPr>
          <p:cNvSpPr>
            <a:spLocks noGrp="1"/>
          </p:cNvSpPr>
          <p:nvPr/>
        </p:nvSpPr>
        <p:spPr>
          <a:xfrm>
            <a:off x="6530255" y="3699376"/>
            <a:ext cx="1869553" cy="9986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ones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técnica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secuencia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</a:t>
            </a:r>
            <a:r>
              <a:rPr lang="es-MX"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j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ecutable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se </a:t>
            </a:r>
            <a:r>
              <a:rPr sz="12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eligen</a:t>
            </a:r>
            <a:r>
              <a:rPr sz="12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1" name="Shape 16">
            <a:extLst>
              <a:ext uri="{FF2B5EF4-FFF2-40B4-BE49-F238E27FC236}">
                <a16:creationId xmlns:a16="http://schemas.microsoft.com/office/drawing/2014/main" id="{A855A8B1-4B3B-1033-08E7-E229B114997E}"/>
              </a:ext>
            </a:extLst>
          </p:cNvPr>
          <p:cNvSpPr>
            <a:spLocks noGrp="1"/>
          </p:cNvSpPr>
          <p:nvPr/>
        </p:nvSpPr>
        <p:spPr>
          <a:xfrm>
            <a:off x="3366780" y="2484561"/>
            <a:ext cx="2078085" cy="2216647"/>
          </a:xfrm>
          <a:prstGeom prst="roundRect">
            <a:avLst>
              <a:gd name="adj" fmla="val 7143"/>
            </a:avLst>
          </a:prstGeom>
          <a:solidFill>
            <a:schemeClr val="accent6">
              <a:lumMod val="20000"/>
              <a:lumOff val="80000"/>
            </a:schemeClr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2" name="Text 17">
            <a:extLst>
              <a:ext uri="{FF2B5EF4-FFF2-40B4-BE49-F238E27FC236}">
                <a16:creationId xmlns:a16="http://schemas.microsoft.com/office/drawing/2014/main" id="{1E4DFB1D-5C00-DAF8-1D3B-742BCF11A11B}"/>
              </a:ext>
            </a:extLst>
          </p:cNvPr>
          <p:cNvSpPr>
            <a:spLocks noGrp="1"/>
          </p:cNvSpPr>
          <p:nvPr/>
        </p:nvSpPr>
        <p:spPr>
          <a:xfrm>
            <a:off x="3546158" y="2697970"/>
            <a:ext cx="1719329" cy="586697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Spec 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optional Initiative Brief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3" name="Text 18">
            <a:extLst>
              <a:ext uri="{FF2B5EF4-FFF2-40B4-BE49-F238E27FC236}">
                <a16:creationId xmlns:a16="http://schemas.microsoft.com/office/drawing/2014/main" id="{479BCBCE-C877-5D81-254B-824FAEA9E464}"/>
              </a:ext>
            </a:extLst>
          </p:cNvPr>
          <p:cNvSpPr>
            <a:spLocks noGrp="1"/>
          </p:cNvSpPr>
          <p:nvPr/>
        </p:nvSpPr>
        <p:spPr>
          <a:xfrm>
            <a:off x="3497382" y="3414925"/>
            <a:ext cx="1849869" cy="116546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responsabilidad y comportamiento deben existir.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5" name="Shape 20">
            <a:extLst>
              <a:ext uri="{FF2B5EF4-FFF2-40B4-BE49-F238E27FC236}">
                <a16:creationId xmlns:a16="http://schemas.microsoft.com/office/drawing/2014/main" id="{767E9E23-87D6-D399-C628-63AB925920D2}"/>
              </a:ext>
            </a:extLst>
          </p:cNvPr>
          <p:cNvSpPr>
            <a:spLocks noGrp="1"/>
          </p:cNvSpPr>
          <p:nvPr/>
        </p:nvSpPr>
        <p:spPr>
          <a:xfrm>
            <a:off x="566906" y="2246082"/>
            <a:ext cx="1907915" cy="2125076"/>
          </a:xfrm>
          <a:prstGeom prst="roundRect">
            <a:avLst>
              <a:gd name="adj" fmla="val 7143"/>
            </a:avLst>
          </a:prstGeom>
          <a:solidFill>
            <a:schemeClr val="accent4">
              <a:lumMod val="20000"/>
              <a:lumOff val="80000"/>
            </a:schemeClr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6" name="Text 21">
            <a:extLst>
              <a:ext uri="{FF2B5EF4-FFF2-40B4-BE49-F238E27FC236}">
                <a16:creationId xmlns:a16="http://schemas.microsoft.com/office/drawing/2014/main" id="{2843F256-14CC-937F-7108-B04F725DAD56}"/>
              </a:ext>
            </a:extLst>
          </p:cNvPr>
          <p:cNvSpPr>
            <a:spLocks noGrp="1"/>
          </p:cNvSpPr>
          <p:nvPr/>
        </p:nvSpPr>
        <p:spPr>
          <a:xfrm>
            <a:off x="731595" y="2473462"/>
            <a:ext cx="1578537" cy="56258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Producto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lang="es-MX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&amp;</a:t>
            </a:r>
            <a:r>
              <a:rPr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Roadmap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67" name="Text 22">
            <a:extLst>
              <a:ext uri="{FF2B5EF4-FFF2-40B4-BE49-F238E27FC236}">
                <a16:creationId xmlns:a16="http://schemas.microsoft.com/office/drawing/2014/main" id="{63669163-2472-2609-3BF1-16ED831BAC0A}"/>
              </a:ext>
            </a:extLst>
          </p:cNvPr>
          <p:cNvSpPr>
            <a:spLocks noGrp="1"/>
          </p:cNvSpPr>
          <p:nvPr/>
        </p:nvSpPr>
        <p:spPr>
          <a:xfrm>
            <a:off x="613726" y="2960766"/>
            <a:ext cx="1815468" cy="121638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 problema, outcome y principios gobiernan.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36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cxnSp>
        <p:nvCxnSpPr>
          <p:cNvPr id="361" name="Conector: angular 9"/>
          <p:cNvCxnSpPr>
            <a:stCxn id="265" idx="3"/>
            <a:endCxn id="261" idx="1"/>
          </p:cNvCxnSpPr>
          <p:nvPr/>
        </p:nvCxnSpPr>
        <p:spPr>
          <a:xfrm>
            <a:off x="2474821" y="3308620"/>
            <a:ext cx="891959" cy="284265"/>
          </a:xfrm>
          <a:prstGeom prst="bentConnector3">
            <a:avLst/>
          </a:prstGeom>
          <a:ln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2" name="Conector: angular 14"/>
          <p:cNvCxnSpPr>
            <a:stCxn id="261" idx="3"/>
            <a:endCxn id="257" idx="1"/>
          </p:cNvCxnSpPr>
          <p:nvPr/>
        </p:nvCxnSpPr>
        <p:spPr>
          <a:xfrm>
            <a:off x="5444865" y="3592885"/>
            <a:ext cx="954787" cy="287905"/>
          </a:xfrm>
          <a:prstGeom prst="bentConnector3">
            <a:avLst/>
          </a:prstGeom>
          <a:ln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3" name="Conector: angular 18"/>
          <p:cNvCxnSpPr>
            <a:stCxn id="257" idx="3"/>
            <a:endCxn id="253" idx="1"/>
          </p:cNvCxnSpPr>
          <p:nvPr/>
        </p:nvCxnSpPr>
        <p:spPr>
          <a:xfrm>
            <a:off x="8477737" y="3880790"/>
            <a:ext cx="884923" cy="262033"/>
          </a:xfrm>
          <a:prstGeom prst="bentConnector3">
            <a:avLst>
              <a:gd name="adj1" fmla="val 50000"/>
            </a:avLst>
          </a:prstGeom>
          <a:ln>
            <a:solidFill>
              <a:srgbClr val="746F93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 22">
            <a:extLst>
              <a:ext uri="{FF2B5EF4-FFF2-40B4-BE49-F238E27FC236}">
                <a16:creationId xmlns:a16="http://schemas.microsoft.com/office/drawing/2014/main" id="{206A407A-8804-81B3-C1A6-9FC84EF2D345}"/>
              </a:ext>
            </a:extLst>
          </p:cNvPr>
          <p:cNvSpPr>
            <a:spLocks noGrp="1"/>
          </p:cNvSpPr>
          <p:nvPr/>
        </p:nvSpPr>
        <p:spPr>
          <a:xfrm>
            <a:off x="2481118" y="2866403"/>
            <a:ext cx="865783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encuadra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0" name="Text 22">
            <a:extLst>
              <a:ext uri="{FF2B5EF4-FFF2-40B4-BE49-F238E27FC236}">
                <a16:creationId xmlns:a16="http://schemas.microsoft.com/office/drawing/2014/main" id="{8B156619-183E-3AC1-6407-70F99B2544E4}"/>
              </a:ext>
            </a:extLst>
          </p:cNvPr>
          <p:cNvSpPr>
            <a:spLocks noGrp="1"/>
          </p:cNvSpPr>
          <p:nvPr/>
        </p:nvSpPr>
        <p:spPr>
          <a:xfrm>
            <a:off x="5468385" y="3082162"/>
            <a:ext cx="899687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especifica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2" name="Text 22">
            <a:extLst>
              <a:ext uri="{FF2B5EF4-FFF2-40B4-BE49-F238E27FC236}">
                <a16:creationId xmlns:a16="http://schemas.microsoft.com/office/drawing/2014/main" id="{07A10CED-1BA2-055D-3949-FC59D07DFA14}"/>
              </a:ext>
            </a:extLst>
          </p:cNvPr>
          <p:cNvSpPr>
            <a:spLocks noGrp="1"/>
          </p:cNvSpPr>
          <p:nvPr/>
        </p:nvSpPr>
        <p:spPr>
          <a:xfrm>
            <a:off x="8521133" y="3387276"/>
            <a:ext cx="783476" cy="44183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i="1">
                <a:solidFill>
                  <a:schemeClr val="tx1">
                    <a:lumMod val="65000"/>
                    <a:lumOff val="35000"/>
                  </a:schemeClr>
                </a:solidFill>
                <a:latin typeface="Aptos"/>
                <a:ea typeface="Aptos"/>
                <a:cs typeface="Aptos"/>
              </a:rPr>
              <a:t>realiza</a:t>
            </a:r>
            <a:endParaRPr sz="1200" b="1" i="1" u="none">
              <a:solidFill>
                <a:schemeClr val="tx1">
                  <a:lumMod val="65000"/>
                  <a:lumOff val="35000"/>
                </a:schemeClr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4" name="Text 18">
            <a:extLst>
              <a:ext uri="{FF2B5EF4-FFF2-40B4-BE49-F238E27FC236}">
                <a16:creationId xmlns:a16="http://schemas.microsoft.com/office/drawing/2014/main" id="{07243253-56A4-A7BE-B07C-C4B42B326592}"/>
              </a:ext>
            </a:extLst>
          </p:cNvPr>
          <p:cNvSpPr>
            <a:spLocks noGrp="1"/>
          </p:cNvSpPr>
          <p:nvPr/>
        </p:nvSpPr>
        <p:spPr>
          <a:xfrm>
            <a:off x="6184693" y="5035085"/>
            <a:ext cx="2651194" cy="73413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Decisiones</a:t>
            </a: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slices</a:t>
            </a:r>
          </a:p>
        </p:txBody>
      </p:sp>
      <p:sp>
        <p:nvSpPr>
          <p:cNvPr id="38" name="Text 18">
            <a:extLst>
              <a:ext uri="{FF2B5EF4-FFF2-40B4-BE49-F238E27FC236}">
                <a16:creationId xmlns:a16="http://schemas.microsoft.com/office/drawing/2014/main" id="{F57873A9-E077-9E17-5EF8-0464E041EEE4}"/>
              </a:ext>
            </a:extLst>
          </p:cNvPr>
          <p:cNvSpPr>
            <a:spLocks noGrp="1"/>
          </p:cNvSpPr>
          <p:nvPr/>
        </p:nvSpPr>
        <p:spPr>
          <a:xfrm>
            <a:off x="3226456" y="4709097"/>
            <a:ext cx="2401654" cy="7951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criteria</a:t>
            </a:r>
          </a:p>
        </p:txBody>
      </p:sp>
      <p:sp>
        <p:nvSpPr>
          <p:cNvPr id="40" name="Text 18">
            <a:extLst>
              <a:ext uri="{FF2B5EF4-FFF2-40B4-BE49-F238E27FC236}">
                <a16:creationId xmlns:a16="http://schemas.microsoft.com/office/drawing/2014/main" id="{90B284CB-E804-3A65-2AC1-66D52252ECC3}"/>
              </a:ext>
            </a:extLst>
          </p:cNvPr>
          <p:cNvSpPr>
            <a:spLocks noGrp="1"/>
          </p:cNvSpPr>
          <p:nvPr/>
        </p:nvSpPr>
        <p:spPr>
          <a:xfrm>
            <a:off x="547028" y="4395828"/>
            <a:ext cx="2303978" cy="921608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Producto y principios</a:t>
            </a:r>
          </a:p>
        </p:txBody>
      </p:sp>
      <p:sp>
        <p:nvSpPr>
          <p:cNvPr id="42" name="Text 18">
            <a:extLst>
              <a:ext uri="{FF2B5EF4-FFF2-40B4-BE49-F238E27FC236}">
                <a16:creationId xmlns:a16="http://schemas.microsoft.com/office/drawing/2014/main" id="{6CE8AE74-6110-CE00-E83B-64D0ABA3678A}"/>
              </a:ext>
            </a:extLst>
          </p:cNvPr>
          <p:cNvSpPr>
            <a:spLocks noGrp="1"/>
          </p:cNvSpPr>
          <p:nvPr/>
        </p:nvSpPr>
        <p:spPr>
          <a:xfrm>
            <a:off x="9084619" y="5241384"/>
            <a:ext cx="2951667" cy="8370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Repo, CI, runtime, feedback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F6BA2A2C-7CD9-4DCB-56F0-137CA2F3165C}"/>
              </a:ext>
            </a:extLst>
          </p:cNvPr>
          <p:cNvSpPr>
            <a:spLocks noGrp="1"/>
          </p:cNvSpPr>
          <p:nvPr/>
        </p:nvSpPr>
        <p:spPr>
          <a:xfrm>
            <a:off x="545821" y="5823380"/>
            <a:ext cx="5340703" cy="614028"/>
          </a:xfrm>
          <a:prstGeom prst="roundRect">
            <a:avLst>
              <a:gd name="adj" fmla="val 8621"/>
            </a:avLst>
          </a:prstGeom>
          <a:solidFill>
            <a:srgbClr val="F0E9FF"/>
          </a:solidFill>
          <a:ln w="15240">
            <a:noFill/>
            <a:prstDash val="solid"/>
          </a:ln>
        </p:spPr>
        <p:txBody>
          <a:bodyPr/>
          <a:lstStyle/>
          <a:p>
            <a:endParaRPr/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C37FAC06-5F26-8642-35A3-B350DC24DDCB}"/>
              </a:ext>
            </a:extLst>
          </p:cNvPr>
          <p:cNvSpPr>
            <a:spLocks noGrp="1"/>
          </p:cNvSpPr>
          <p:nvPr/>
        </p:nvSpPr>
        <p:spPr>
          <a:xfrm>
            <a:off x="715991" y="5951396"/>
            <a:ext cx="5054241" cy="357306"/>
          </a:xfrm>
          <a:prstGeom prst="rect">
            <a:avLst/>
          </a:prstGeom>
          <a:noFill/>
        </p:spPr>
        <p:txBody>
          <a:bodyPr wrap="square" lIns="0" tIns="0" rIns="0" bIns="0" anchor="ctr">
            <a:no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comunicación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deriva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 de 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cadena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; no la </a:t>
            </a:r>
            <a:r>
              <a:rPr sz="1600" b="1" dirty="0" err="1">
                <a:solidFill>
                  <a:srgbClr val="6034D3"/>
                </a:solidFill>
                <a:latin typeface="Aptos"/>
                <a:ea typeface="Aptos"/>
                <a:cs typeface="Aptos"/>
              </a:rPr>
              <a:t>reemplaza</a:t>
            </a:r>
            <a:r>
              <a:rPr sz="1600" b="1" dirty="0">
                <a:solidFill>
                  <a:srgbClr val="6034D3"/>
                </a:solidFill>
                <a:latin typeface="Aptos"/>
                <a:ea typeface="Aptos"/>
                <a:cs typeface="Aptos"/>
              </a:rPr>
              <a:t>.</a:t>
            </a:r>
            <a:endParaRPr sz="1600" dirty="0"/>
          </a:p>
        </p:txBody>
      </p:sp>
    </p:spTree>
    <p:extLst>
      <p:ext uri="{BB962C8B-B14F-4D97-AF65-F5344CB8AC3E}">
        <p14:creationId xmlns:p14="http://schemas.microsoft.com/office/powerpoint/2010/main" val="253358188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AUTORIDAD POR TIPO DE VERDAD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coherencia depende de saber qué documento gobierna cada pregunta.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 dos artefactos divergen, reconciliamos según ownership; no elegimos el texto más reciente por intuición.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GOBIERNA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Fuentes canónicas: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PRD → producto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Doctrine → principios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Architecture/ADRs → diseño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Roadmap → secuencia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Specs → comportamiento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Code/tests → realidad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EXPLICA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 de equipo: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Team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Architecture Primer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Architecture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Runtime &amp; Harness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Methodology Guide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Sessions 1–4 + 3B</a:t>
            </a:r>
            <a:endParaRPr sz="1400" b="0" u="none">
              <a:solidFill>
                <a:srgbClr val="000000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Derivada y fechada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PRODUCT INTENT Y ROADMAP DEFINEN EL OUTCOME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comienza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responsabilidad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problema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negocio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no con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técnica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interesante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El Roadmap Increment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declara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qué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resultado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debe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probarse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un Brief es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opcional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cuando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ese frame no basta.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5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s-MX" sz="1200" b="1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PRODUCT REQS DOCUMENT (</a:t>
            </a:r>
            <a:r>
              <a:rPr sz="12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PRD</a:t>
            </a:r>
            <a:r>
              <a:rPr lang="es-MX" sz="12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)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 qué y para quién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Problema, usuario, outcomes, límites y métricas de producto.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ROADMAP INCREMENT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cambio perseguimos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Secuencia estratégica, prerequisites y evidence para graduar el incremento.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OPTIONAL BRIEF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Cuándo hace falta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Sólo si hace falta un frame de coordinación que el incremento no aporta.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Roadmap no equivale a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diseño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aprobado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a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trabajo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b="1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ej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ecutable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LA SPEC CONVIERTE INTENCIÓN EN CONTRATO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buena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spec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hace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visible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comportamiento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fallos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autoridad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antes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implementar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Debe ser suficientemente precisa para que diferentes agentes y reviewers converjan.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6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BEHAVIOR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observa el usuario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Flujos, estados, transiciones, mensajes y criterios de finalización.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CONTRACTS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Qué integra el sistema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Schemas, interfaces,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eventos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invariant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e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s,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permis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compatibili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dad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VERIFICATION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30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Cómo sabremos que funciona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Tests, scenarios, checks, evidence y métricas.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9323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spec reduce grados de libertad; no reemplaza juicio ni descubrimiento.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PLAN, SLICE CONTRACT Y JIT TASKS NO SON LO MISMO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Technical Plan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realiza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behavior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aprobado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Slice Plan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conserva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el agent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deriva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Tasks al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Programar un slice no lo aprueba: la autoridad debe estar explícita antes de ejecutar.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TECHNICAL PLAN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Diseño de realización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Componentes, contratos, secuencia técnica, flags y rollback.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SLICE PLAN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 durable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Outcome, acceptance, DoD, Release Scope, estimate y readiness.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A84A7A"/>
                </a:solidFill>
                <a:latin typeface="Aptos"/>
                <a:ea typeface="Aptos"/>
                <a:cs typeface="Aptos"/>
              </a:rPr>
              <a:t>JIT TASKS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Plan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operativo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del agent</a:t>
            </a:r>
            <a:r>
              <a:rPr lang="es-MX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Investigar, cambiar y verificar ahora; no Markdown canonical.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756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READY → Planned → Executable; Cycle planning no re-aprueba el diseño.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D673AD65-218B-46BA-B9E8-7269B0F4B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13F09029-38F3-42B0-A307-5DC38B7B45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VERTICAL SLICES PRODUCEN EVIDENCIA ANTES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BADB5B0E-6D95-48EB-B4EC-B3D090A7AAD3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Un slice cruza las capas mínimas necesarias para demostrar comportamiento real.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176600AA-1B63-45F9-871A-6AD1C4E6A128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Evita acumular foundations sin feedback y reduce el costo de encontrar decisiones equivocadas.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159929BB-DB75-4E07-B671-CD48ABFC1BCC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CBF423FC-1CBB-49FD-8FF3-75873061ECBA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9F70A1A1-32E8-4233-BA47-6C2EC12FD1C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1CC1EC6-334D-4038-92EF-6255EFFFA9FE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A0ABFAC3-3559-4628-A586-41ACD4A3808A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HORIZONTAL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75F4AE5E-E80B-45E4-BADD-2BFAD6021DE9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Completa una capa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78244901-84EA-4405-A882-45E8BF84EE99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Muchas tablas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Muchos endpoints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Muchos componentes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Poca validación end-to-end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B266D8D-6C44-4646-8069-FD46DF89C4DD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4FEF65FE-ACC4-4CFA-8081-45CB5720246C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SLICE VERTICAL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FD9326D0-A3D0-4E98-91F3-46A353B0094A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Demuestra un outcome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F88ADD56-6AB7-4BE1-A11D-BABFF45967F0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 flujo real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Datos mínimos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Policy relevante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UI/canal necesario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Test y evidencia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313DD324-EC61-4C94-805F-7B7BB2F2A21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2900152-8B5C-43E2-A09D-9EEE8FA7564C}"/>
              </a:ext>
            </a:extLst>
          </p:cNvPr>
          <p:cNvSpPr>
            <a:spLocks noGrp="1"/>
          </p:cNvSpPr>
          <p:nvPr/>
        </p:nvSpPr>
        <p:spPr>
          <a:xfrm>
            <a:off x="2468880" y="5713479"/>
            <a:ext cx="722340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77AF808D-1372-4727-8F65-4489B5397ED6}"/>
              </a:ext>
            </a:extLst>
          </p:cNvPr>
          <p:cNvSpPr>
            <a:spLocks noGrp="1"/>
          </p:cNvSpPr>
          <p:nvPr/>
        </p:nvSpPr>
        <p:spPr>
          <a:xfrm>
            <a:off x="2514600" y="5768199"/>
            <a:ext cx="713196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 err="1">
                <a:solidFill>
                  <a:srgbClr val="5F2CCB"/>
                </a:solidFill>
              </a:rPr>
              <a:t>Pequeño</a:t>
            </a:r>
            <a:r>
              <a:rPr sz="1600" b="1" dirty="0">
                <a:solidFill>
                  <a:srgbClr val="5F2CCB"/>
                </a:solidFill>
              </a:rPr>
              <a:t> no </a:t>
            </a:r>
            <a:r>
              <a:rPr sz="1600" b="1" dirty="0" err="1">
                <a:solidFill>
                  <a:srgbClr val="5F2CCB"/>
                </a:solidFill>
              </a:rPr>
              <a:t>significa</a:t>
            </a:r>
            <a:r>
              <a:rPr sz="1600" b="1" dirty="0">
                <a:solidFill>
                  <a:srgbClr val="5F2CCB"/>
                </a:solidFill>
              </a:rPr>
              <a:t> superficial: </a:t>
            </a:r>
            <a:r>
              <a:rPr sz="1600" b="1" dirty="0" err="1">
                <a:solidFill>
                  <a:srgbClr val="5F2CCB"/>
                </a:solidFill>
              </a:rPr>
              <a:t>significa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alcance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cerrado</a:t>
            </a:r>
            <a:r>
              <a:rPr sz="1600" b="1" dirty="0">
                <a:solidFill>
                  <a:srgbClr val="5F2CCB"/>
                </a:solidFill>
              </a:rPr>
              <a:t> y </a:t>
            </a:r>
            <a:r>
              <a:rPr sz="1600" b="1" dirty="0" err="1">
                <a:solidFill>
                  <a:srgbClr val="5F2CCB"/>
                </a:solidFill>
              </a:rPr>
              <a:t>verificable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preferir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537614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READY ≠ PLANNED ≠ EXECUTABLE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Tres preguntas separan calidad del contract, scheduling humano y posibilidad real de empezar.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READY no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requiere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DRI; Planned lo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confirma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Executable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prerequis</a:t>
            </a:r>
            <a:r>
              <a:rPr lang="es-MX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itos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satisfechos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</a:t>
            </a:r>
            <a:r>
              <a:rPr lang="es-MX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9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READY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Calidad del contrato: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Behavior gobernado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verificable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Release Scope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Estimate + confidence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Dependencies clasificadas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PLANNED / EXECUTABLE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Scheduling y posibilidad real: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Planned: Cycle </a:t>
            </a:r>
            <a:r>
              <a:rPr sz="1400" dirty="0" err="1">
                <a:solidFill>
                  <a:srgbClr val="6F6888"/>
                </a:solidFill>
              </a:rPr>
              <a:t>confirmado</a:t>
            </a:r>
            <a:endParaRPr sz="1400" dirty="0">
              <a:solidFill>
                <a:srgbClr val="6F6888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Accountable / DRI </a:t>
            </a:r>
            <a:r>
              <a:rPr sz="1400" dirty="0" err="1">
                <a:solidFill>
                  <a:srgbClr val="6F6888"/>
                </a:solidFill>
              </a:rPr>
              <a:t>humano</a:t>
            </a:r>
            <a:endParaRPr sz="1400" dirty="0">
              <a:solidFill>
                <a:srgbClr val="6F6888"/>
              </a:solidFill>
            </a:endParaRP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Executable: </a:t>
            </a:r>
            <a:r>
              <a:rPr sz="1400" dirty="0" err="1">
                <a:solidFill>
                  <a:srgbClr val="6F6888"/>
                </a:solidFill>
              </a:rPr>
              <a:t>prerequisit</a:t>
            </a:r>
            <a:r>
              <a:rPr lang="es-MX" sz="1400" dirty="0">
                <a:solidFill>
                  <a:srgbClr val="6F6888"/>
                </a:solidFill>
              </a:rPr>
              <a:t>os</a:t>
            </a:r>
            <a:r>
              <a:rPr sz="1400" dirty="0">
                <a:solidFill>
                  <a:srgbClr val="6F6888"/>
                </a:solidFill>
              </a:rPr>
              <a:t> reales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>
                <a:solidFill>
                  <a:srgbClr val="6F6888"/>
                </a:solidFill>
              </a:rPr>
              <a:t>Capaci</a:t>
            </a:r>
            <a:r>
              <a:rPr lang="es-MX" sz="1400" dirty="0">
                <a:solidFill>
                  <a:srgbClr val="6F6888"/>
                </a:solidFill>
              </a:rPr>
              <a:t>dad</a:t>
            </a:r>
            <a:r>
              <a:rPr sz="1400" dirty="0">
                <a:solidFill>
                  <a:srgbClr val="6F6888"/>
                </a:solidFill>
              </a:rPr>
              <a:t> disponible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 dirty="0" err="1">
                <a:solidFill>
                  <a:srgbClr val="6F6888"/>
                </a:solidFill>
              </a:rPr>
              <a:t>Entonces</a:t>
            </a:r>
            <a:r>
              <a:rPr sz="1400" dirty="0">
                <a:solidFill>
                  <a:srgbClr val="6F6888"/>
                </a:solidFill>
              </a:rPr>
              <a:t>: JIT Tasks</a:t>
            </a: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HUMANOS Y AGENTES TIENEN RESPONSABILIDADES DISTINTAS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velocidad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viene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dentro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no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delegar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ownership.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Las personas 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poseen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aceptación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los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agentes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amplifican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exploración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implementación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10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HUMANO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Posee la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decisión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Outcome, prioridades, tradeoffs, aprobación, release y responsabilidad.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AGENTE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433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Ejecuta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dentro</a:t>
            </a:r>
            <a:r>
              <a:rPr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del </a:t>
            </a:r>
            <a:r>
              <a:rPr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contrato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Investiga, propone, implementa, prueba, documenta y prepara evidencia.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SISTEMA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Aplica gates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Scopes, checks, CI, policies, permisos, auditabilidad y feedback.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Delegar ejecución no delega accountability.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MODELO PARA VARIACIÓN; CHECKS PARA INVARIANTES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67116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modelos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excelentes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para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explorar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sintetizar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gates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deterministas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protegen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propiedades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no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pueden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quedar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interpretación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Las evaluaciones del modelo complementan —no sustituyen— tests, schemas, policies y reviewers.</a:t>
            </a:r>
            <a:endParaRPr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11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MODEL-MEDIATED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Úsalo para: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Investigación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Alternativas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Generación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Revisión semántica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Síntesis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Diagnóstico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DETERMINISTA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Exígelo para: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Schemas y types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Tests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Linters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Migrations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Permissions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CI/release gates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EL READY HORIZON EVITA PARADAS SIN BAJAR </a:t>
            </a:r>
            <a:r>
              <a:rPr lang="es-MX" sz="12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LA BARRA</a:t>
            </a:r>
            <a:endParaRPr sz="12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Mantenemos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capacidad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genuinamente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READY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delante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 más lejano con un enfoque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rolling-wave.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Default: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capacidad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para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aproximadamente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1–2 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no un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número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fijo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Slices.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12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ELABORAR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3752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Próximo trabajo gobernado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Precisar outcome, acceptance, evidence, riesgos, estimate y dependencies.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EVALUAR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6031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Aplicar Definition of Ready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No resolver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ambigüedad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producto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dentro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Tasks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ni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bajar</a:t>
            </a:r>
            <a:r>
              <a:rPr lang="es-MX" sz="1400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la barra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REPLENISH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87644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Mantener capacidad por delante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Anticipar agotamiento y blockers; actualizar contratos sin inventar decisiones.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i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Readiness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no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confirma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</a:t>
            </a:r>
            <a:r>
              <a:rPr b="1" i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Cycle inclusion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ni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 concede </a:t>
            </a:r>
            <a:r>
              <a:rPr b="1" u="none" dirty="0" err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1" u="none" dirty="0">
                <a:solidFill>
                  <a:srgbClr val="FFFFFF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VERIFICACIÓN ES PARTE DEL DISEÑO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se define antes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implementar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y se produce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durante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slice.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“El agente dice que terminó” nunca es un criterio de aceptación.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13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STATIC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Consistencia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Types, schemas, lint, dependency rules y contract validation.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BEHAVIORAL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Comportamiento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Unit, integration, scenario, UI y migration tests.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OPERATIONAL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Realidad del sistema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Telemetry, evidence, rollout checks, incident signals y outcomes.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combinación correcta depende del riesgo y del tipo de verdad.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Shape 0">
            <a:extLst>
              <a:ext uri="{FF2B5EF4-FFF2-40B4-BE49-F238E27FC236}">
                <a16:creationId xmlns:a16="http://schemas.microsoft.com/office/drawing/2014/main" id="{C48E843B-4D81-4900-9DF8-36F5BA050A1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19" name="Text 1">
            <a:extLst>
              <a:ext uri="{FF2B5EF4-FFF2-40B4-BE49-F238E27FC236}">
                <a16:creationId xmlns:a16="http://schemas.microsoft.com/office/drawing/2014/main" id="{E0547E09-4263-421F-9544-6762BBF21891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CONTINUITY LOOP: AVANZAR SIN AMPLIAR AUTORIDAD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0" name="Text 2">
            <a:extLst>
              <a:ext uri="{FF2B5EF4-FFF2-40B4-BE49-F238E27FC236}">
                <a16:creationId xmlns:a16="http://schemas.microsoft.com/office/drawing/2014/main" id="{1E0EA74A-3960-4588-BE32-F8AD32D578BE}"/>
              </a:ext>
            </a:extLst>
          </p:cNvPr>
          <p:cNvSpPr>
            <a:spLocks noGrp="1"/>
          </p:cNvSpPr>
          <p:nvPr/>
        </p:nvSpPr>
        <p:spPr>
          <a:xfrm>
            <a:off x="567000" y="831234"/>
            <a:ext cx="10195200" cy="712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avanza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ejecución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prerequisit</a:t>
            </a:r>
            <a:r>
              <a:rPr lang="es-MX" sz="2600" b="1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s,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reaprovisionamiento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planeación de ciclo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gradua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ción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,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o 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 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increment</a:t>
            </a:r>
            <a:r>
              <a:rPr lang="es-MX"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1" name="Text 3">
            <a:extLst>
              <a:ext uri="{FF2B5EF4-FFF2-40B4-BE49-F238E27FC236}">
                <a16:creationId xmlns:a16="http://schemas.microsoft.com/office/drawing/2014/main" id="{E01CC22D-DE1E-4DF1-ABDE-C564711D43A3}"/>
              </a:ext>
            </a:extLst>
          </p:cNvPr>
          <p:cNvSpPr>
            <a:spLocks noGrp="1"/>
          </p:cNvSpPr>
          <p:nvPr/>
        </p:nvSpPr>
        <p:spPr>
          <a:xfrm>
            <a:off x="567000" y="1722964"/>
            <a:ext cx="10698120" cy="511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Un re</a:t>
            </a:r>
            <a:r>
              <a:rPr lang="es-MX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intento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sin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nueva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evidencia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sólo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repite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incertidumbre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3" name="Text 5">
            <a:extLst>
              <a:ext uri="{FF2B5EF4-FFF2-40B4-BE49-F238E27FC236}">
                <a16:creationId xmlns:a16="http://schemas.microsoft.com/office/drawing/2014/main" id="{DF5152AD-3FF2-449B-B65A-CB08123E1E32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4" name="Text 6">
            <a:extLst>
              <a:ext uri="{FF2B5EF4-FFF2-40B4-BE49-F238E27FC236}">
                <a16:creationId xmlns:a16="http://schemas.microsoft.com/office/drawing/2014/main" id="{392C72B7-77A7-44B6-962A-CBFF86DBD6FF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5" name="Text 7">
            <a:extLst>
              <a:ext uri="{FF2B5EF4-FFF2-40B4-BE49-F238E27FC236}">
                <a16:creationId xmlns:a16="http://schemas.microsoft.com/office/drawing/2014/main" id="{24E5CC09-D985-44EB-B2BE-BF236DFD8DE3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14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6" name="Shape 8">
            <a:extLst>
              <a:ext uri="{FF2B5EF4-FFF2-40B4-BE49-F238E27FC236}">
                <a16:creationId xmlns:a16="http://schemas.microsoft.com/office/drawing/2014/main" id="{DA3D0389-0C49-431D-9104-81AF9DBD0BAF}"/>
              </a:ext>
            </a:extLst>
          </p:cNvPr>
          <p:cNvSpPr>
            <a:spLocks noGrp="1"/>
          </p:cNvSpPr>
          <p:nvPr/>
        </p:nvSpPr>
        <p:spPr>
          <a:xfrm>
            <a:off x="82296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078C53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7" name="Text 9">
            <a:extLst>
              <a:ext uri="{FF2B5EF4-FFF2-40B4-BE49-F238E27FC236}">
                <a16:creationId xmlns:a16="http://schemas.microsoft.com/office/drawing/2014/main" id="{38781DC6-535B-4F60-A68A-1C763747992C}"/>
              </a:ext>
            </a:extLst>
          </p:cNvPr>
          <p:cNvSpPr>
            <a:spLocks noGrp="1"/>
          </p:cNvSpPr>
          <p:nvPr/>
        </p:nvSpPr>
        <p:spPr>
          <a:xfrm>
            <a:off x="96012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078C53"/>
                </a:solidFill>
                <a:latin typeface="Aptos"/>
                <a:ea typeface="Aptos"/>
                <a:cs typeface="Aptos"/>
              </a:rPr>
              <a:t>EJECUTAR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8" name="Text 10">
            <a:extLst>
              <a:ext uri="{FF2B5EF4-FFF2-40B4-BE49-F238E27FC236}">
                <a16:creationId xmlns:a16="http://schemas.microsoft.com/office/drawing/2014/main" id="{F23EA603-B103-4106-A786-B04C34C21FB2}"/>
              </a:ext>
            </a:extLst>
          </p:cNvPr>
          <p:cNvSpPr>
            <a:spLocks noGrp="1"/>
          </p:cNvSpPr>
          <p:nvPr/>
        </p:nvSpPr>
        <p:spPr>
          <a:xfrm>
            <a:off x="102420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Avanzar dentro del scope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29" name="Text 11">
            <a:extLst>
              <a:ext uri="{FF2B5EF4-FFF2-40B4-BE49-F238E27FC236}">
                <a16:creationId xmlns:a16="http://schemas.microsoft.com/office/drawing/2014/main" id="{5C889340-F655-4124-A297-0C2AFB389AC2}"/>
              </a:ext>
            </a:extLst>
          </p:cNvPr>
          <p:cNvSpPr>
            <a:spLocks noGrp="1"/>
          </p:cNvSpPr>
          <p:nvPr/>
        </p:nvSpPr>
        <p:spPr>
          <a:xfrm>
            <a:off x="107892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Trabajo Planned + Executable; verificar, reparar y cerrar con evidencia.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0" name="Shape 12">
            <a:extLst>
              <a:ext uri="{FF2B5EF4-FFF2-40B4-BE49-F238E27FC236}">
                <a16:creationId xmlns:a16="http://schemas.microsoft.com/office/drawing/2014/main" id="{AC665E2B-2535-4AAB-B909-CEB0D141EE3B}"/>
              </a:ext>
            </a:extLst>
          </p:cNvPr>
          <p:cNvSpPr>
            <a:spLocks noGrp="1"/>
          </p:cNvSpPr>
          <p:nvPr/>
        </p:nvSpPr>
        <p:spPr>
          <a:xfrm>
            <a:off x="452628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F39A2B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1" name="Text 13">
            <a:extLst>
              <a:ext uri="{FF2B5EF4-FFF2-40B4-BE49-F238E27FC236}">
                <a16:creationId xmlns:a16="http://schemas.microsoft.com/office/drawing/2014/main" id="{981441BB-5748-4D95-9BB1-55E8176A9B0B}"/>
              </a:ext>
            </a:extLst>
          </p:cNvPr>
          <p:cNvSpPr>
            <a:spLocks noGrp="1"/>
          </p:cNvSpPr>
          <p:nvPr/>
        </p:nvSpPr>
        <p:spPr>
          <a:xfrm>
            <a:off x="466344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F39A2B"/>
                </a:solidFill>
                <a:latin typeface="Aptos"/>
                <a:ea typeface="Aptos"/>
                <a:cs typeface="Aptos"/>
              </a:rPr>
              <a:t>PREPARAR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2" name="Text 14">
            <a:extLst>
              <a:ext uri="{FF2B5EF4-FFF2-40B4-BE49-F238E27FC236}">
                <a16:creationId xmlns:a16="http://schemas.microsoft.com/office/drawing/2014/main" id="{04023FDD-970F-4D10-8561-0A9819ACCA07}"/>
              </a:ext>
            </a:extLst>
          </p:cNvPr>
          <p:cNvSpPr>
            <a:spLocks noGrp="1"/>
          </p:cNvSpPr>
          <p:nvPr/>
        </p:nvSpPr>
        <p:spPr>
          <a:xfrm>
            <a:off x="472752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Mantener continuidad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3" name="Text 15">
            <a:extLst>
              <a:ext uri="{FF2B5EF4-FFF2-40B4-BE49-F238E27FC236}">
                <a16:creationId xmlns:a16="http://schemas.microsoft.com/office/drawing/2014/main" id="{37523528-D0E4-40B4-8447-AFC205ED2598}"/>
              </a:ext>
            </a:extLst>
          </p:cNvPr>
          <p:cNvSpPr>
            <a:spLocks noGrp="1"/>
          </p:cNvSpPr>
          <p:nvPr/>
        </p:nvSpPr>
        <p:spPr>
          <a:xfrm>
            <a:off x="478224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Prerequisites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gobernados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endParaRPr lang="es-MX" sz="1400" b="0" u="none" dirty="0">
              <a:solidFill>
                <a:srgbClr val="6F6888"/>
              </a:solidFill>
              <a:latin typeface="Aptos"/>
              <a:ea typeface="Aptos"/>
              <a:cs typeface="Aptos"/>
            </a:endParaRPr>
          </a:p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READY Horizon,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propuesta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lang="es-MX"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ciclo 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o </a:t>
            </a:r>
            <a:r>
              <a:rPr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gradua</a:t>
            </a:r>
            <a:r>
              <a:rPr lang="es-MX" sz="1400"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ció</a:t>
            </a:r>
            <a:r>
              <a:rPr sz="1400"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n.</a:t>
            </a:r>
            <a:endParaRPr sz="14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4" name="Shape 16">
            <a:extLst>
              <a:ext uri="{FF2B5EF4-FFF2-40B4-BE49-F238E27FC236}">
                <a16:creationId xmlns:a16="http://schemas.microsoft.com/office/drawing/2014/main" id="{EB5F3289-0960-45DB-A592-881DCBC656FF}"/>
              </a:ext>
            </a:extLst>
          </p:cNvPr>
          <p:cNvSpPr>
            <a:spLocks noGrp="1"/>
          </p:cNvSpPr>
          <p:nvPr/>
        </p:nvSpPr>
        <p:spPr>
          <a:xfrm>
            <a:off x="8229600" y="2649424"/>
            <a:ext cx="3200040" cy="2239920"/>
          </a:xfrm>
          <a:prstGeom prst="roundRect">
            <a:avLst>
              <a:gd name="adj" fmla="val 4082"/>
            </a:avLst>
          </a:prstGeom>
          <a:solidFill>
            <a:srgbClr val="FFFFFF"/>
          </a:solidFill>
          <a:ln w="12700">
            <a:solidFill>
              <a:srgbClr val="A84A7A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5" name="Text 17">
            <a:extLst>
              <a:ext uri="{FF2B5EF4-FFF2-40B4-BE49-F238E27FC236}">
                <a16:creationId xmlns:a16="http://schemas.microsoft.com/office/drawing/2014/main" id="{F7EF6C67-6469-465A-A4EB-DA605A148FCD}"/>
              </a:ext>
            </a:extLst>
          </p:cNvPr>
          <p:cNvSpPr>
            <a:spLocks noGrp="1"/>
          </p:cNvSpPr>
          <p:nvPr/>
        </p:nvSpPr>
        <p:spPr>
          <a:xfrm>
            <a:off x="8366760" y="2795584"/>
            <a:ext cx="292572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A84A7A"/>
                </a:solidFill>
                <a:latin typeface="Aptos"/>
                <a:ea typeface="Aptos"/>
                <a:cs typeface="Aptos"/>
              </a:rPr>
              <a:t>ESCALAR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6" name="Text 18">
            <a:extLst>
              <a:ext uri="{FF2B5EF4-FFF2-40B4-BE49-F238E27FC236}">
                <a16:creationId xmlns:a16="http://schemas.microsoft.com/office/drawing/2014/main" id="{19633672-6274-4D74-B23B-3DE239377F75}"/>
              </a:ext>
            </a:extLst>
          </p:cNvPr>
          <p:cNvSpPr>
            <a:spLocks noGrp="1"/>
          </p:cNvSpPr>
          <p:nvPr/>
        </p:nvSpPr>
        <p:spPr>
          <a:xfrm>
            <a:off x="8430840" y="3124984"/>
            <a:ext cx="279756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Frontera humana real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7" name="Text 19">
            <a:extLst>
              <a:ext uri="{FF2B5EF4-FFF2-40B4-BE49-F238E27FC236}">
                <a16:creationId xmlns:a16="http://schemas.microsoft.com/office/drawing/2014/main" id="{87271A21-DAB9-464C-B28A-83B6C1C1327C}"/>
              </a:ext>
            </a:extLst>
          </p:cNvPr>
          <p:cNvSpPr>
            <a:spLocks noGrp="1"/>
          </p:cNvSpPr>
          <p:nvPr/>
        </p:nvSpPr>
        <p:spPr>
          <a:xfrm>
            <a:off x="8485560" y="3636904"/>
            <a:ext cx="2688120" cy="108792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Declarar bloqueo, owner y mínima decisión necesaria; nunca ampliar autoridad.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8" name="Shape 20">
            <a:extLst>
              <a:ext uri="{FF2B5EF4-FFF2-40B4-BE49-F238E27FC236}">
                <a16:creationId xmlns:a16="http://schemas.microsoft.com/office/drawing/2014/main" id="{F625E4CB-1E6C-4B56-A217-2219F811650A}"/>
              </a:ext>
            </a:extLst>
          </p:cNvPr>
          <p:cNvSpPr>
            <a:spLocks noGrp="1"/>
          </p:cNvSpPr>
          <p:nvPr/>
        </p:nvSpPr>
        <p:spPr>
          <a:xfrm>
            <a:off x="2240280" y="5730953"/>
            <a:ext cx="7726320" cy="640345"/>
          </a:xfrm>
          <a:prstGeom prst="roundRect">
            <a:avLst>
              <a:gd name="adj" fmla="val 16000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39" name="Text 21">
            <a:extLst>
              <a:ext uri="{FF2B5EF4-FFF2-40B4-BE49-F238E27FC236}">
                <a16:creationId xmlns:a16="http://schemas.microsoft.com/office/drawing/2014/main" id="{144A89E0-D31B-4FA8-986C-48063F25BD10}"/>
              </a:ext>
            </a:extLst>
          </p:cNvPr>
          <p:cNvSpPr>
            <a:spLocks noGrp="1"/>
          </p:cNvSpPr>
          <p:nvPr/>
        </p:nvSpPr>
        <p:spPr>
          <a:xfrm>
            <a:off x="2516826" y="5868472"/>
            <a:ext cx="7218948" cy="3470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 fontScale="99285"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Terminar un PR o Cycle no es por sí solo una condición de parada.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4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86309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36B0772C-8F1F-4B7E-BF10-800CDAA8B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9A148F58-91C0-475D-8DCA-74610B0268E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RELEASE SCOPE DECLARA LA EVIDENCIA EXIGIDA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97DF39FD-3B96-4A25-A3B3-61AE87E495D1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Cada Slice declara hasta dónde debe llegar y qué evidencia debe producir.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122AEC7D-9A0B-4EB5-BCE0-82D4E25DC4D9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Review y release son gates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distintos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; el scope no concede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de </a:t>
            </a:r>
            <a:r>
              <a:rPr b="0"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producción</a:t>
            </a:r>
            <a:r>
              <a:rPr b="0"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A15DE90B-3496-4997-AE64-9835FD8DADE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789DAE4A-8055-4543-950B-B67405472D6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78BF3187-271F-4D56-B9C2-F36D4C56C0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15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9ECAF1EB-4DE1-4F26-BF01-9BF26494B787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6E40DA7E-FB13-47F6-95A4-DB1C17ED706F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64EAE850-3BAE-4972-A4CB-CC2664AA5891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CAF9C5D2-2C24-4BE6-A97F-4430AEBB31F2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RS1 — Repo / CI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FF6BB28E-B61B-4AC2-A22E-34E2F59ED23E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 local determinista, CI y merge; no afirma validación hosted.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69B9495-D8C3-4150-94CC-FE8922DA58C2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2C2B3EE-AB4F-4A94-9349-36A9CD4965EA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BA2EF85C-87A7-428A-99FC-8CE9BF6D55D9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3EFE570F-B7BA-4AA0-99E3-09B5E2E04255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RS2 — Hosted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0E67F4AC-A2E6-4634-9222-B3E4DBEE81B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Añade evidencia del comportamiento en el entorno hosted definido por el contrato.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F7D1620E-3F66-4042-AAC3-4097F5280664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38AA9811-FA92-4230-B6BC-366660D0F9E5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2381B0E5-1ECE-440D-9867-4430DBE6C714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C86291F8-E6EB-4EA6-A207-AEB32A9EC923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RS3 — Production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ED1E821-5702-41FD-BF7D-ADEE57A0DE3D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Exige autoridad de producción, rollout controlado y verificación post-release.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60CE112A-4E78-4E62-A405-62245F821D07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91FDCC19-B47A-45F8-9579-0AEBDBC3B94B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Shadow mode no es Release Scope. Done no equivale a graduation.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52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Shape 0">
            <a:extLst>
              <a:ext uri="{FF2B5EF4-FFF2-40B4-BE49-F238E27FC236}">
                <a16:creationId xmlns:a16="http://schemas.microsoft.com/office/drawing/2014/main" id="{D673AD65-218B-46BA-B9E8-7269B0F4BF4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9" name="Text 1">
            <a:extLst>
              <a:ext uri="{FF2B5EF4-FFF2-40B4-BE49-F238E27FC236}">
                <a16:creationId xmlns:a16="http://schemas.microsoft.com/office/drawing/2014/main" id="{13F09029-38F3-42B0-A307-5DC38B7B45B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DONE Y ROADMAP GRADUATED SON CLAIMS DISTINTOS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0" name="Text 2">
            <a:extLst>
              <a:ext uri="{FF2B5EF4-FFF2-40B4-BE49-F238E27FC236}">
                <a16:creationId xmlns:a16="http://schemas.microsoft.com/office/drawing/2014/main" id="{BADB5B0E-6D95-48EB-B4EC-B3D090A7AAD3}"/>
              </a:ext>
            </a:extLst>
          </p:cNvPr>
          <p:cNvSpPr>
            <a:spLocks noGrp="1"/>
          </p:cNvSpPr>
          <p:nvPr/>
        </p:nvSpPr>
        <p:spPr>
          <a:xfrm>
            <a:off x="567000" y="822356"/>
            <a:ext cx="1043243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Done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satisface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Slice contract; graduation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evalúa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la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declarada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por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Roadmap.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1" name="Text 3">
            <a:extLst>
              <a:ext uri="{FF2B5EF4-FFF2-40B4-BE49-F238E27FC236}">
                <a16:creationId xmlns:a16="http://schemas.microsoft.com/office/drawing/2014/main" id="{176600AA-1B63-45F9-871A-6AD1C4E6A128}"/>
              </a:ext>
            </a:extLst>
          </p:cNvPr>
          <p:cNvSpPr>
            <a:spLocks noGrp="1"/>
          </p:cNvSpPr>
          <p:nvPr/>
        </p:nvSpPr>
        <p:spPr>
          <a:xfrm>
            <a:off x="567000" y="1721575"/>
            <a:ext cx="10698120" cy="5666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Telemetry, feedback y outcomes deben regresar a producto, specs, arquitectura y prioridades.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3" name="Text 5">
            <a:extLst>
              <a:ext uri="{FF2B5EF4-FFF2-40B4-BE49-F238E27FC236}">
                <a16:creationId xmlns:a16="http://schemas.microsoft.com/office/drawing/2014/main" id="{159929BB-DB75-4E07-B671-CD48ABFC1BCC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4" name="Text 6">
            <a:extLst>
              <a:ext uri="{FF2B5EF4-FFF2-40B4-BE49-F238E27FC236}">
                <a16:creationId xmlns:a16="http://schemas.microsoft.com/office/drawing/2014/main" id="{CBF423FC-1CBB-49FD-8FF3-75873061ECBA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5" name="Text 7">
            <a:extLst>
              <a:ext uri="{FF2B5EF4-FFF2-40B4-BE49-F238E27FC236}">
                <a16:creationId xmlns:a16="http://schemas.microsoft.com/office/drawing/2014/main" id="{9F70A1A1-32E8-4233-BA47-6C2EC12FD1C4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>
                <a:solidFill>
                  <a:srgbClr val="7E7798"/>
                </a:solidFill>
                <a:latin typeface="Aptos"/>
                <a:ea typeface="Aptos"/>
                <a:cs typeface="Aptos"/>
              </a:rPr>
              <a:t>16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6" name="Shape 8">
            <a:extLst>
              <a:ext uri="{FF2B5EF4-FFF2-40B4-BE49-F238E27FC236}">
                <a16:creationId xmlns:a16="http://schemas.microsoft.com/office/drawing/2014/main" id="{41CC1EC6-334D-4038-92EF-6255EFFFA9FE}"/>
              </a:ext>
            </a:extLst>
          </p:cNvPr>
          <p:cNvSpPr>
            <a:spLocks noGrp="1"/>
          </p:cNvSpPr>
          <p:nvPr/>
        </p:nvSpPr>
        <p:spPr>
          <a:xfrm>
            <a:off x="573053" y="2684449"/>
            <a:ext cx="4845960" cy="258240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7" name="Text 9">
            <a:extLst>
              <a:ext uri="{FF2B5EF4-FFF2-40B4-BE49-F238E27FC236}">
                <a16:creationId xmlns:a16="http://schemas.microsoft.com/office/drawing/2014/main" id="{A0ABFAC3-3559-4628-A586-41ACD4A3808A}"/>
              </a:ext>
            </a:extLst>
          </p:cNvPr>
          <p:cNvSpPr>
            <a:spLocks noGrp="1"/>
          </p:cNvSpPr>
          <p:nvPr/>
        </p:nvSpPr>
        <p:spPr>
          <a:xfrm>
            <a:off x="71021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SLICE DONE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8" name="Text 10">
            <a:extLst>
              <a:ext uri="{FF2B5EF4-FFF2-40B4-BE49-F238E27FC236}">
                <a16:creationId xmlns:a16="http://schemas.microsoft.com/office/drawing/2014/main" id="{75F4AE5E-E80B-45E4-BADD-2BFAD6021DE9}"/>
              </a:ext>
            </a:extLst>
          </p:cNvPr>
          <p:cNvSpPr>
            <a:spLocks noGrp="1"/>
          </p:cNvSpPr>
          <p:nvPr/>
        </p:nvSpPr>
        <p:spPr>
          <a:xfrm>
            <a:off x="77429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¿Construimos lo especificado?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9" name="Text 11">
            <a:extLst>
              <a:ext uri="{FF2B5EF4-FFF2-40B4-BE49-F238E27FC236}">
                <a16:creationId xmlns:a16="http://schemas.microsoft.com/office/drawing/2014/main" id="{78244901-84EA-4405-A882-45E8BF84EE99}"/>
              </a:ext>
            </a:extLst>
          </p:cNvPr>
          <p:cNvSpPr>
            <a:spLocks noGrp="1"/>
          </p:cNvSpPr>
          <p:nvPr/>
        </p:nvSpPr>
        <p:spPr>
          <a:xfrm>
            <a:off x="829013" y="3671929"/>
            <a:ext cx="4334040" cy="116544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5532"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Acceptance del Slice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Definition of Done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Release Scope declarado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 verificable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Límites y rollout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0" name="Shape 12">
            <a:extLst>
              <a:ext uri="{FF2B5EF4-FFF2-40B4-BE49-F238E27FC236}">
                <a16:creationId xmlns:a16="http://schemas.microsoft.com/office/drawing/2014/main" id="{9B266D8D-6C44-4646-8069-FD46DF89C4DD}"/>
              </a:ext>
            </a:extLst>
          </p:cNvPr>
          <p:cNvSpPr>
            <a:spLocks noGrp="1"/>
          </p:cNvSpPr>
          <p:nvPr/>
        </p:nvSpPr>
        <p:spPr>
          <a:xfrm>
            <a:off x="6333773" y="2684449"/>
            <a:ext cx="4739640" cy="2582049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1" name="Text 13">
            <a:extLst>
              <a:ext uri="{FF2B5EF4-FFF2-40B4-BE49-F238E27FC236}">
                <a16:creationId xmlns:a16="http://schemas.microsoft.com/office/drawing/2014/main" id="{4FEF65FE-ACC4-4CFA-8081-45CB5720246C}"/>
              </a:ext>
            </a:extLst>
          </p:cNvPr>
          <p:cNvSpPr>
            <a:spLocks noGrp="1"/>
          </p:cNvSpPr>
          <p:nvPr/>
        </p:nvSpPr>
        <p:spPr>
          <a:xfrm>
            <a:off x="6470933" y="2830609"/>
            <a:ext cx="457164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INCREMENT GRADUATED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2" name="Text 14">
            <a:extLst>
              <a:ext uri="{FF2B5EF4-FFF2-40B4-BE49-F238E27FC236}">
                <a16:creationId xmlns:a16="http://schemas.microsoft.com/office/drawing/2014/main" id="{FD9326D0-A3D0-4E98-91F3-46A353B0094A}"/>
              </a:ext>
            </a:extLst>
          </p:cNvPr>
          <p:cNvSpPr>
            <a:spLocks noGrp="1"/>
          </p:cNvSpPr>
          <p:nvPr/>
        </p:nvSpPr>
        <p:spPr>
          <a:xfrm>
            <a:off x="6535013" y="3160009"/>
            <a:ext cx="444348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¿Cambió el resultado?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3" name="Text 15">
            <a:extLst>
              <a:ext uri="{FF2B5EF4-FFF2-40B4-BE49-F238E27FC236}">
                <a16:creationId xmlns:a16="http://schemas.microsoft.com/office/drawing/2014/main" id="{F88ADD56-6AB7-4BE1-A11D-BABFF45967F0}"/>
              </a:ext>
            </a:extLst>
          </p:cNvPr>
          <p:cNvSpPr>
            <a:spLocks noGrp="1"/>
          </p:cNvSpPr>
          <p:nvPr/>
        </p:nvSpPr>
        <p:spPr>
          <a:xfrm>
            <a:off x="6589733" y="3671929"/>
            <a:ext cx="3512734" cy="137058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Uso y calidad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Tiempo/costo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Outcome de negocio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Feedback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Incidentes y gaps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4" name="Shape 16">
            <a:extLst>
              <a:ext uri="{FF2B5EF4-FFF2-40B4-BE49-F238E27FC236}">
                <a16:creationId xmlns:a16="http://schemas.microsoft.com/office/drawing/2014/main" id="{313DD324-EC61-4C94-805F-7B7BB2F2A219}"/>
              </a:ext>
            </a:extLst>
          </p:cNvPr>
          <p:cNvSpPr>
            <a:spLocks noGrp="1"/>
          </p:cNvSpPr>
          <p:nvPr/>
        </p:nvSpPr>
        <p:spPr>
          <a:xfrm>
            <a:off x="5510813" y="4074049"/>
            <a:ext cx="731520" cy="360"/>
          </a:xfrm>
          <a:prstGeom prst="line">
            <a:avLst/>
          </a:prstGeom>
          <a:ln w="19050">
            <a:solidFill>
              <a:srgbClr val="5F2CCB"/>
            </a:solidFill>
            <a:tailEnd type="triangl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-44640" rIns="90000" bIns="-4464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5" name="Shape 17">
            <a:extLst>
              <a:ext uri="{FF2B5EF4-FFF2-40B4-BE49-F238E27FC236}">
                <a16:creationId xmlns:a16="http://schemas.microsoft.com/office/drawing/2014/main" id="{82900152-8B5C-43E2-A09D-9EEE8FA7564C}"/>
              </a:ext>
            </a:extLst>
          </p:cNvPr>
          <p:cNvSpPr>
            <a:spLocks noGrp="1"/>
          </p:cNvSpPr>
          <p:nvPr/>
        </p:nvSpPr>
        <p:spPr>
          <a:xfrm>
            <a:off x="1429967" y="5713479"/>
            <a:ext cx="8929990" cy="438480"/>
          </a:xfrm>
          <a:prstGeom prst="roundRect">
            <a:avLst>
              <a:gd name="adj" fmla="val 16667"/>
            </a:avLst>
          </a:prstGeom>
          <a:solidFill>
            <a:srgbClr val="F1EBFF"/>
          </a:solidFill>
          <a:ln w="12700">
            <a:solidFill>
              <a:srgbClr val="F1EBFF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6" name="Text 18">
            <a:extLst>
              <a:ext uri="{FF2B5EF4-FFF2-40B4-BE49-F238E27FC236}">
                <a16:creationId xmlns:a16="http://schemas.microsoft.com/office/drawing/2014/main" id="{77AF808D-1372-4727-8F65-4489B5397ED6}"/>
              </a:ext>
            </a:extLst>
          </p:cNvPr>
          <p:cNvSpPr>
            <a:spLocks noGrp="1"/>
          </p:cNvSpPr>
          <p:nvPr/>
        </p:nvSpPr>
        <p:spPr>
          <a:xfrm>
            <a:off x="1832043" y="5768199"/>
            <a:ext cx="8090170" cy="328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>
              <a:buNone/>
              <a:tabLst>
                <a:tab pos="0" algn="l"/>
              </a:tabLst>
            </a:pPr>
            <a:r>
              <a:rPr sz="1600" b="1" dirty="0">
                <a:solidFill>
                  <a:srgbClr val="5F2CCB"/>
                </a:solidFill>
              </a:rPr>
              <a:t>Todos </a:t>
            </a:r>
            <a:r>
              <a:rPr sz="1600" b="1" dirty="0" err="1">
                <a:solidFill>
                  <a:srgbClr val="5F2CCB"/>
                </a:solidFill>
              </a:rPr>
              <a:t>los</a:t>
            </a:r>
            <a:r>
              <a:rPr sz="1600" b="1" dirty="0">
                <a:solidFill>
                  <a:srgbClr val="5F2CCB"/>
                </a:solidFill>
              </a:rPr>
              <a:t> Slices Done no </a:t>
            </a:r>
            <a:r>
              <a:rPr sz="1600" b="1" dirty="0" err="1">
                <a:solidFill>
                  <a:srgbClr val="5F2CCB"/>
                </a:solidFill>
              </a:rPr>
              <a:t>prueban</a:t>
            </a:r>
            <a:r>
              <a:rPr sz="1600" b="1" dirty="0">
                <a:solidFill>
                  <a:srgbClr val="5F2CCB"/>
                </a:solidFill>
              </a:rPr>
              <a:t> </a:t>
            </a:r>
            <a:r>
              <a:rPr sz="1600" b="1" dirty="0" err="1">
                <a:solidFill>
                  <a:srgbClr val="5F2CCB"/>
                </a:solidFill>
              </a:rPr>
              <a:t>automáticamente</a:t>
            </a:r>
            <a:r>
              <a:rPr sz="1600" b="1" dirty="0">
                <a:solidFill>
                  <a:srgbClr val="5F2CCB"/>
                </a:solidFill>
              </a:rPr>
              <a:t> la </a:t>
            </a:r>
            <a:r>
              <a:rPr sz="1600" b="1" dirty="0" err="1">
                <a:solidFill>
                  <a:srgbClr val="5F2CCB"/>
                </a:solidFill>
              </a:rPr>
              <a:t>graduación</a:t>
            </a:r>
            <a:r>
              <a:rPr sz="1600" b="1" dirty="0">
                <a:solidFill>
                  <a:srgbClr val="5F2CCB"/>
                </a:solidFill>
              </a:rPr>
              <a:t> del </a:t>
            </a:r>
            <a:r>
              <a:rPr sz="1600" b="1" dirty="0" err="1">
                <a:solidFill>
                  <a:srgbClr val="5F2CCB"/>
                </a:solidFill>
              </a:rPr>
              <a:t>incremento</a:t>
            </a:r>
            <a:r>
              <a:rPr sz="1600" b="1" dirty="0">
                <a:solidFill>
                  <a:srgbClr val="5F2CCB"/>
                </a:solidFill>
              </a:rPr>
              <a:t>.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19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  <p:sp>
        <p:nvSpPr>
          <p:cNvPr id="5" name="Text 11">
            <a:extLst>
              <a:ext uri="{FF2B5EF4-FFF2-40B4-BE49-F238E27FC236}">
                <a16:creationId xmlns:a16="http://schemas.microsoft.com/office/drawing/2014/main" id="{2148283B-6FF9-8FE6-B79F-13BF57068B95}"/>
              </a:ext>
            </a:extLst>
          </p:cNvPr>
          <p:cNvSpPr>
            <a:spLocks noGrp="1"/>
          </p:cNvSpPr>
          <p:nvPr/>
        </p:nvSpPr>
        <p:spPr>
          <a:xfrm>
            <a:off x="5457288" y="3736654"/>
            <a:ext cx="800566" cy="27146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habilita</a:t>
            </a:r>
            <a:endParaRPr sz="14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95537614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Shape 0">
            <a:extLst>
              <a:ext uri="{FF2B5EF4-FFF2-40B4-BE49-F238E27FC236}">
                <a16:creationId xmlns:a16="http://schemas.microsoft.com/office/drawing/2014/main" id="{252DBD7B-D3A0-4DB1-BE25-168CE5C3ADB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8" name="Text 1">
            <a:extLst>
              <a:ext uri="{FF2B5EF4-FFF2-40B4-BE49-F238E27FC236}">
                <a16:creationId xmlns:a16="http://schemas.microsoft.com/office/drawing/2014/main" id="{80D883B1-BDEB-469B-BCB0-0A1DE25BBA55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CONSTRUIMOS DOS SISTEMAS SPEC-DRIVEN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69" name="Text 2">
            <a:extLst>
              <a:ext uri="{FF2B5EF4-FFF2-40B4-BE49-F238E27FC236}">
                <a16:creationId xmlns:a16="http://schemas.microsoft.com/office/drawing/2014/main" id="{01AA6E1E-4766-4DB5-A53B-335839B04BF1}"/>
              </a:ext>
            </a:extLst>
          </p:cNvPr>
          <p:cNvSpPr>
            <a:spLocks noGrp="1"/>
          </p:cNvSpPr>
          <p:nvPr/>
        </p:nvSpPr>
        <p:spPr>
          <a:xfrm>
            <a:off x="535101" y="942127"/>
            <a:ext cx="10426941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Gu OS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usuarios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;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nuestra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metodología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coordina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trabajo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de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desarrollo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0" name="Text 3">
            <a:extLst>
              <a:ext uri="{FF2B5EF4-FFF2-40B4-BE49-F238E27FC236}">
                <a16:creationId xmlns:a16="http://schemas.microsoft.com/office/drawing/2014/main" id="{50B8E248-F25C-45A0-97C1-3488B1B3872F}"/>
              </a:ext>
            </a:extLst>
          </p:cNvPr>
          <p:cNvSpPr>
            <a:spLocks noGrp="1"/>
          </p:cNvSpPr>
          <p:nvPr/>
        </p:nvSpPr>
        <p:spPr>
          <a:xfrm>
            <a:off x="566999" y="1816086"/>
            <a:ext cx="10542961" cy="639105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Ambos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necesitan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intención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explícita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unidades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durables,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autoridad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ejecución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,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verificación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 y </a:t>
            </a:r>
            <a:r>
              <a:rPr u="none" dirty="0" err="1">
                <a:solidFill>
                  <a:srgbClr val="6F6888"/>
                </a:solidFill>
                <a:latin typeface="Aptos"/>
                <a:ea typeface="Aptos"/>
                <a:cs typeface="Aptos"/>
              </a:rPr>
              <a:t>aprendizaje</a:t>
            </a:r>
            <a:r>
              <a:rPr u="none" dirty="0">
                <a:solidFill>
                  <a:srgbClr val="6F6888"/>
                </a:solidFill>
                <a:latin typeface="Aptos"/>
                <a:ea typeface="Aptos"/>
                <a:cs typeface="Aptos"/>
              </a:rPr>
              <a:t>.</a:t>
            </a:r>
            <a:endParaRPr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2" name="Text 5">
            <a:extLst>
              <a:ext uri="{FF2B5EF4-FFF2-40B4-BE49-F238E27FC236}">
                <a16:creationId xmlns:a16="http://schemas.microsoft.com/office/drawing/2014/main" id="{FDAD2FBB-01BC-4588-B45D-CB4B3A182F69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3" name="Text 6">
            <a:extLst>
              <a:ext uri="{FF2B5EF4-FFF2-40B4-BE49-F238E27FC236}">
                <a16:creationId xmlns:a16="http://schemas.microsoft.com/office/drawing/2014/main" id="{D3B354FB-C4E5-4F6D-9EAF-216A890B8390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4" name="Text 7">
            <a:extLst>
              <a:ext uri="{FF2B5EF4-FFF2-40B4-BE49-F238E27FC236}">
                <a16:creationId xmlns:a16="http://schemas.microsoft.com/office/drawing/2014/main" id="{B9F7EE63-BA30-4FE6-BA95-DFE85B9CC25B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7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17</a:t>
            </a:r>
            <a:endParaRPr sz="7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5" name="Shape 8">
            <a:extLst>
              <a:ext uri="{FF2B5EF4-FFF2-40B4-BE49-F238E27FC236}">
                <a16:creationId xmlns:a16="http://schemas.microsoft.com/office/drawing/2014/main" id="{2CA55D01-8F05-41AB-B280-B355EB4F6C75}"/>
              </a:ext>
            </a:extLst>
          </p:cNvPr>
          <p:cNvSpPr>
            <a:spLocks noGrp="1"/>
          </p:cNvSpPr>
          <p:nvPr/>
        </p:nvSpPr>
        <p:spPr>
          <a:xfrm>
            <a:off x="685800" y="2793020"/>
            <a:ext cx="521172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6" name="Text 9">
            <a:extLst>
              <a:ext uri="{FF2B5EF4-FFF2-40B4-BE49-F238E27FC236}">
                <a16:creationId xmlns:a16="http://schemas.microsoft.com/office/drawing/2014/main" id="{CCE403DE-AA8D-4374-91D9-6D32EF411B3E}"/>
              </a:ext>
            </a:extLst>
          </p:cNvPr>
          <p:cNvSpPr>
            <a:spLocks noGrp="1"/>
          </p:cNvSpPr>
          <p:nvPr/>
        </p:nvSpPr>
        <p:spPr>
          <a:xfrm>
            <a:off x="82296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5F2CCB"/>
                </a:solidFill>
                <a:latin typeface="Aptos"/>
                <a:ea typeface="Aptos"/>
                <a:cs typeface="Aptos"/>
              </a:rPr>
              <a:t>GU OS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7" name="Text 10">
            <a:extLst>
              <a:ext uri="{FF2B5EF4-FFF2-40B4-BE49-F238E27FC236}">
                <a16:creationId xmlns:a16="http://schemas.microsoft.com/office/drawing/2014/main" id="{26206E4F-4CA6-4966-AF91-A1CF9B2ECA42}"/>
              </a:ext>
            </a:extLst>
          </p:cNvPr>
          <p:cNvSpPr>
            <a:spLocks noGrp="1"/>
          </p:cNvSpPr>
          <p:nvPr/>
        </p:nvSpPr>
        <p:spPr>
          <a:xfrm>
            <a:off x="867162" y="3288458"/>
            <a:ext cx="480924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 de producto: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78" name="Text 11">
            <a:extLst>
              <a:ext uri="{FF2B5EF4-FFF2-40B4-BE49-F238E27FC236}">
                <a16:creationId xmlns:a16="http://schemas.microsoft.com/office/drawing/2014/main" id="{2E0DD706-2F6D-4F7C-84C5-0477BDD03438}"/>
              </a:ext>
            </a:extLst>
          </p:cNvPr>
          <p:cNvSpPr>
            <a:spLocks noGrp="1"/>
          </p:cNvSpPr>
          <p:nvPr/>
        </p:nvSpPr>
        <p:spPr>
          <a:xfrm>
            <a:off x="941760" y="3780500"/>
            <a:ext cx="4809240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Cases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Work items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Capabilities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Policies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Evidence</a:t>
            </a:r>
          </a:p>
          <a:p>
            <a:pPr marL="285750" indent="-285750" defTabSz="914400">
              <a:lnSpc>
                <a:spcPct val="100000"/>
              </a:lnSpc>
              <a:buFont typeface="Arial"/>
              <a:buChar char="•"/>
              <a:tabLst>
                <a:tab pos="0" algn="l"/>
              </a:tabLst>
            </a:pPr>
            <a:r>
              <a:rPr sz="14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Impact loops</a:t>
            </a:r>
          </a:p>
        </p:txBody>
      </p:sp>
      <p:sp>
        <p:nvSpPr>
          <p:cNvPr id="479" name="Shape 12">
            <a:extLst>
              <a:ext uri="{FF2B5EF4-FFF2-40B4-BE49-F238E27FC236}">
                <a16:creationId xmlns:a16="http://schemas.microsoft.com/office/drawing/2014/main" id="{DACC0191-C847-4B0A-B08D-4CEBD7EEFC46}"/>
              </a:ext>
            </a:extLst>
          </p:cNvPr>
          <p:cNvSpPr>
            <a:spLocks noGrp="1"/>
          </p:cNvSpPr>
          <p:nvPr/>
        </p:nvSpPr>
        <p:spPr>
          <a:xfrm>
            <a:off x="6153480" y="2793020"/>
            <a:ext cx="5367600" cy="2788560"/>
          </a:xfrm>
          <a:prstGeom prst="roundRect">
            <a:avLst>
              <a:gd name="adj" fmla="val 3279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0" name="Text 13">
            <a:extLst>
              <a:ext uri="{FF2B5EF4-FFF2-40B4-BE49-F238E27FC236}">
                <a16:creationId xmlns:a16="http://schemas.microsoft.com/office/drawing/2014/main" id="{F664B46C-4D12-4642-B557-080839F85413}"/>
              </a:ext>
            </a:extLst>
          </p:cNvPr>
          <p:cNvSpPr>
            <a:spLocks noGrp="1"/>
          </p:cNvSpPr>
          <p:nvPr/>
        </p:nvSpPr>
        <p:spPr>
          <a:xfrm>
            <a:off x="6446520" y="2939180"/>
            <a:ext cx="4937400" cy="2282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 dirty="0">
                <a:solidFill>
                  <a:srgbClr val="078C53"/>
                </a:solidFill>
                <a:latin typeface="Aptos"/>
                <a:ea typeface="Aptos"/>
                <a:cs typeface="Aptos"/>
              </a:rPr>
              <a:t>DESARROLLO</a:t>
            </a:r>
            <a:endParaRPr sz="1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1" name="Text 14">
            <a:extLst>
              <a:ext uri="{FF2B5EF4-FFF2-40B4-BE49-F238E27FC236}">
                <a16:creationId xmlns:a16="http://schemas.microsoft.com/office/drawing/2014/main" id="{32658972-2980-423C-825C-01C769192818}"/>
              </a:ext>
            </a:extLst>
          </p:cNvPr>
          <p:cNvSpPr>
            <a:spLocks noGrp="1"/>
          </p:cNvSpPr>
          <p:nvPr/>
        </p:nvSpPr>
        <p:spPr>
          <a:xfrm>
            <a:off x="6441027" y="3268580"/>
            <a:ext cx="4937400" cy="4384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>
              <a:buNone/>
              <a:tabLst>
                <a:tab pos="0" algn="l"/>
              </a:tabLst>
            </a:pPr>
            <a:r>
              <a:rPr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Sistema de construcción: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82" name="Text 15">
            <a:extLst>
              <a:ext uri="{FF2B5EF4-FFF2-40B4-BE49-F238E27FC236}">
                <a16:creationId xmlns:a16="http://schemas.microsoft.com/office/drawing/2014/main" id="{131138BE-DAE1-40D0-8C27-D13D6A447290}"/>
              </a:ext>
            </a:extLst>
          </p:cNvPr>
          <p:cNvSpPr>
            <a:spLocks noGrp="1"/>
          </p:cNvSpPr>
          <p:nvPr/>
        </p:nvSpPr>
        <p:spPr>
          <a:xfrm>
            <a:off x="6565320" y="3780500"/>
            <a:ext cx="4261565" cy="16365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Briefs/specs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Slices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Agents/tools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Review gates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Release evidence</a:t>
            </a:r>
          </a:p>
          <a:p>
            <a:pPr marL="285750" indent="-285750">
              <a:buFont typeface="Arial"/>
              <a:buChar char="•"/>
              <a:tabLst>
                <a:tab pos="0" algn="l"/>
              </a:tabLst>
            </a:pPr>
            <a:r>
              <a:rPr sz="1400">
                <a:solidFill>
                  <a:srgbClr val="6F6888"/>
                </a:solidFill>
              </a:rPr>
              <a:t>Learning loops</a:t>
            </a:r>
            <a:endParaRPr sz="1400" b="0" u="none">
              <a:solidFill>
                <a:srgbClr val="000000"/>
              </a:solidFill>
            </a:endParaRPr>
          </a:p>
        </p:txBody>
      </p:sp>
      <p:pic>
        <p:nvPicPr>
          <p:cNvPr id="49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7925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5" name="Shape 0">
            <a:extLst>
              <a:ext uri="{FF2B5EF4-FFF2-40B4-BE49-F238E27FC236}">
                <a16:creationId xmlns:a16="http://schemas.microsoft.com/office/drawing/2014/main" id="{36B0772C-8F1F-4B7E-BF10-800CDAA8B1A3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6" name="Text 1">
            <a:extLst>
              <a:ext uri="{FF2B5EF4-FFF2-40B4-BE49-F238E27FC236}">
                <a16:creationId xmlns:a16="http://schemas.microsoft.com/office/drawing/2014/main" id="{9A148F58-91C0-475D-8DCA-74610B0268E8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R1 MUESTRA LA CADENA COMPLETA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7" name="Text 2">
            <a:extLst>
              <a:ext uri="{FF2B5EF4-FFF2-40B4-BE49-F238E27FC236}">
                <a16:creationId xmlns:a16="http://schemas.microsoft.com/office/drawing/2014/main" id="{97DF39FD-3B96-4A25-A3B3-61AE87E495D1}"/>
              </a:ext>
            </a:extLst>
          </p:cNvPr>
          <p:cNvSpPr>
            <a:spLocks noGrp="1"/>
          </p:cNvSpPr>
          <p:nvPr/>
        </p:nvSpPr>
        <p:spPr>
          <a:xfrm>
            <a:off x="566999" y="804600"/>
            <a:ext cx="10375983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Relationship Operations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ya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produce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evidenc</a:t>
            </a:r>
            <a:r>
              <a:rPr lang="es-MX"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ia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real y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expone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el </a:t>
            </a:r>
            <a:r>
              <a:rPr sz="2600" b="1" u="none" dirty="0" err="1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siguiente</a:t>
            </a:r>
            <a:r>
              <a:rPr sz="2600" b="1" u="none" dirty="0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 planning/authority boundary.</a:t>
            </a:r>
            <a:endParaRPr sz="2600"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8" name="Text 3">
            <a:extLst>
              <a:ext uri="{FF2B5EF4-FFF2-40B4-BE49-F238E27FC236}">
                <a16:creationId xmlns:a16="http://schemas.microsoft.com/office/drawing/2014/main" id="{122AEC7D-9A0B-4EB5-BCE0-82D4E25DC4D9}"/>
              </a:ext>
            </a:extLst>
          </p:cNvPr>
          <p:cNvSpPr>
            <a:spLocks noGrp="1"/>
          </p:cNvSpPr>
          <p:nvPr/>
        </p:nvSpPr>
        <p:spPr>
          <a:xfrm>
            <a:off x="567000" y="1591200"/>
            <a:ext cx="10698120" cy="56451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SL-0…SL-3 están Done; SL-4 es READY pero aún no Planned ni tiene DRI confirmado.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0" name="Text 5">
            <a:extLst>
              <a:ext uri="{FF2B5EF4-FFF2-40B4-BE49-F238E27FC236}">
                <a16:creationId xmlns:a16="http://schemas.microsoft.com/office/drawing/2014/main" id="{A15DE90B-3496-4997-AE64-9835FD8DADE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1" name="Text 6">
            <a:extLst>
              <a:ext uri="{FF2B5EF4-FFF2-40B4-BE49-F238E27FC236}">
                <a16:creationId xmlns:a16="http://schemas.microsoft.com/office/drawing/2014/main" id="{789DAE4A-8055-4543-950B-B67405472D63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2" name="Text 7">
            <a:extLst>
              <a:ext uri="{FF2B5EF4-FFF2-40B4-BE49-F238E27FC236}">
                <a16:creationId xmlns:a16="http://schemas.microsoft.com/office/drawing/2014/main" id="{78BF3187-271F-4D56-B9C2-F36D4C56C0B2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18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3" name="Shape 8">
            <a:extLst>
              <a:ext uri="{FF2B5EF4-FFF2-40B4-BE49-F238E27FC236}">
                <a16:creationId xmlns:a16="http://schemas.microsoft.com/office/drawing/2014/main" id="{9ECAF1EB-4DE1-4F26-BF01-9BF26494B787}"/>
              </a:ext>
            </a:extLst>
          </p:cNvPr>
          <p:cNvSpPr>
            <a:spLocks noGrp="1"/>
          </p:cNvSpPr>
          <p:nvPr/>
        </p:nvSpPr>
        <p:spPr>
          <a:xfrm>
            <a:off x="868680" y="2483481"/>
            <a:ext cx="502560" cy="50256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4" name="Text 9">
            <a:extLst>
              <a:ext uri="{FF2B5EF4-FFF2-40B4-BE49-F238E27FC236}">
                <a16:creationId xmlns:a16="http://schemas.microsoft.com/office/drawing/2014/main" id="{6E40DA7E-FB13-47F6-95A4-DB1C17ED706F}"/>
              </a:ext>
            </a:extLst>
          </p:cNvPr>
          <p:cNvSpPr>
            <a:spLocks noGrp="1"/>
          </p:cNvSpPr>
          <p:nvPr/>
        </p:nvSpPr>
        <p:spPr>
          <a:xfrm>
            <a:off x="868680" y="260228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5" name="Shape 10">
            <a:extLst>
              <a:ext uri="{FF2B5EF4-FFF2-40B4-BE49-F238E27FC236}">
                <a16:creationId xmlns:a16="http://schemas.microsoft.com/office/drawing/2014/main" id="{64EAE850-3BAE-4972-A4CB-CC2664AA5891}"/>
              </a:ext>
            </a:extLst>
          </p:cNvPr>
          <p:cNvSpPr>
            <a:spLocks noGrp="1"/>
          </p:cNvSpPr>
          <p:nvPr/>
        </p:nvSpPr>
        <p:spPr>
          <a:xfrm>
            <a:off x="1600200" y="2392041"/>
            <a:ext cx="9738000" cy="8740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6" name="Text 11">
            <a:extLst>
              <a:ext uri="{FF2B5EF4-FFF2-40B4-BE49-F238E27FC236}">
                <a16:creationId xmlns:a16="http://schemas.microsoft.com/office/drawing/2014/main" id="{CAF9C5D2-2C24-4BE6-A97F-4430AEBB31F2}"/>
              </a:ext>
            </a:extLst>
          </p:cNvPr>
          <p:cNvSpPr>
            <a:spLocks noGrp="1"/>
          </p:cNvSpPr>
          <p:nvPr/>
        </p:nvSpPr>
        <p:spPr>
          <a:xfrm>
            <a:off x="1801440" y="252920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1 · Define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7" name="Text 12">
            <a:extLst>
              <a:ext uri="{FF2B5EF4-FFF2-40B4-BE49-F238E27FC236}">
                <a16:creationId xmlns:a16="http://schemas.microsoft.com/office/drawing/2014/main" id="{FF6BB28E-B61B-4AC2-A22E-34E2F59ED23E}"/>
              </a:ext>
            </a:extLst>
          </p:cNvPr>
          <p:cNvSpPr>
            <a:spLocks noGrp="1"/>
          </p:cNvSpPr>
          <p:nvPr/>
        </p:nvSpPr>
        <p:spPr>
          <a:xfrm>
            <a:off x="1856160" y="2812665"/>
            <a:ext cx="9226080" cy="1463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PRD + Roadmap + Specs + AC-1…AC-10 establecen responsibility, behavior y graduation evidence.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8" name="Shape 13">
            <a:extLst>
              <a:ext uri="{FF2B5EF4-FFF2-40B4-BE49-F238E27FC236}">
                <a16:creationId xmlns:a16="http://schemas.microsoft.com/office/drawing/2014/main" id="{569B9495-D8C3-4150-94CC-FE8922DA58C2}"/>
              </a:ext>
            </a:extLst>
          </p:cNvPr>
          <p:cNvSpPr>
            <a:spLocks noGrp="1"/>
          </p:cNvSpPr>
          <p:nvPr/>
        </p:nvSpPr>
        <p:spPr>
          <a:xfrm>
            <a:off x="868680" y="3554451"/>
            <a:ext cx="502560" cy="50256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49" name="Text 14">
            <a:extLst>
              <a:ext uri="{FF2B5EF4-FFF2-40B4-BE49-F238E27FC236}">
                <a16:creationId xmlns:a16="http://schemas.microsoft.com/office/drawing/2014/main" id="{B2C2B3EE-AB4F-4A94-9349-36A9CD4965EA}"/>
              </a:ext>
            </a:extLst>
          </p:cNvPr>
          <p:cNvSpPr>
            <a:spLocks noGrp="1"/>
          </p:cNvSpPr>
          <p:nvPr/>
        </p:nvSpPr>
        <p:spPr>
          <a:xfrm>
            <a:off x="868680" y="367361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0" name="Shape 15">
            <a:extLst>
              <a:ext uri="{FF2B5EF4-FFF2-40B4-BE49-F238E27FC236}">
                <a16:creationId xmlns:a16="http://schemas.microsoft.com/office/drawing/2014/main" id="{BA2EF85C-87A7-428A-99FC-8CE9BF6D55D9}"/>
              </a:ext>
            </a:extLst>
          </p:cNvPr>
          <p:cNvSpPr>
            <a:spLocks noGrp="1"/>
          </p:cNvSpPr>
          <p:nvPr/>
        </p:nvSpPr>
        <p:spPr>
          <a:xfrm>
            <a:off x="1600200" y="3463011"/>
            <a:ext cx="9738000" cy="983868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1" name="Text 16">
            <a:extLst>
              <a:ext uri="{FF2B5EF4-FFF2-40B4-BE49-F238E27FC236}">
                <a16:creationId xmlns:a16="http://schemas.microsoft.com/office/drawing/2014/main" id="{3EFE570F-B7BA-4AA0-99E3-09B5E2E04255}"/>
              </a:ext>
            </a:extLst>
          </p:cNvPr>
          <p:cNvSpPr>
            <a:spLocks noGrp="1"/>
          </p:cNvSpPr>
          <p:nvPr/>
        </p:nvSpPr>
        <p:spPr>
          <a:xfrm>
            <a:off x="1801440" y="360017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2 · Decide y slice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2" name="Text 17">
            <a:extLst>
              <a:ext uri="{FF2B5EF4-FFF2-40B4-BE49-F238E27FC236}">
                <a16:creationId xmlns:a16="http://schemas.microsoft.com/office/drawing/2014/main" id="{0E67F4AC-A2E6-4634-9222-B3E4DBEE81BF}"/>
              </a:ext>
            </a:extLst>
          </p:cNvPr>
          <p:cNvSpPr>
            <a:spLocks noGrp="1"/>
          </p:cNvSpPr>
          <p:nvPr/>
        </p:nvSpPr>
        <p:spPr>
          <a:xfrm>
            <a:off x="1856160" y="3903513"/>
            <a:ext cx="9226080" cy="411912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Arquitectura/ADRs/plan seleccionan límites, datos, policies y secuencia executable.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3" name="Shape 18">
            <a:extLst>
              <a:ext uri="{FF2B5EF4-FFF2-40B4-BE49-F238E27FC236}">
                <a16:creationId xmlns:a16="http://schemas.microsoft.com/office/drawing/2014/main" id="{F7D1620E-3F66-4042-AAC3-4097F5280664}"/>
              </a:ext>
            </a:extLst>
          </p:cNvPr>
          <p:cNvSpPr>
            <a:spLocks noGrp="1"/>
          </p:cNvSpPr>
          <p:nvPr/>
        </p:nvSpPr>
        <p:spPr>
          <a:xfrm>
            <a:off x="868680" y="4725171"/>
            <a:ext cx="502560" cy="502560"/>
          </a:xfrm>
          <a:prstGeom prst="ellipse">
            <a:avLst/>
          </a:prstGeom>
          <a:solidFill>
            <a:srgbClr val="F39A2B"/>
          </a:solidFill>
          <a:ln w="12700">
            <a:solidFill>
              <a:srgbClr val="F39A2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4" name="Text 19">
            <a:extLst>
              <a:ext uri="{FF2B5EF4-FFF2-40B4-BE49-F238E27FC236}">
                <a16:creationId xmlns:a16="http://schemas.microsoft.com/office/drawing/2014/main" id="{38AA9811-FA92-4230-B6BC-366660D0F9E5}"/>
              </a:ext>
            </a:extLst>
          </p:cNvPr>
          <p:cNvSpPr>
            <a:spLocks noGrp="1"/>
          </p:cNvSpPr>
          <p:nvPr/>
        </p:nvSpPr>
        <p:spPr>
          <a:xfrm>
            <a:off x="868680" y="4843971"/>
            <a:ext cx="502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5" name="Shape 20">
            <a:extLst>
              <a:ext uri="{FF2B5EF4-FFF2-40B4-BE49-F238E27FC236}">
                <a16:creationId xmlns:a16="http://schemas.microsoft.com/office/drawing/2014/main" id="{2381B0E5-1ECE-440D-9867-4430DBE6C714}"/>
              </a:ext>
            </a:extLst>
          </p:cNvPr>
          <p:cNvSpPr>
            <a:spLocks noGrp="1"/>
          </p:cNvSpPr>
          <p:nvPr/>
        </p:nvSpPr>
        <p:spPr>
          <a:xfrm>
            <a:off x="1600200" y="4633730"/>
            <a:ext cx="9738000" cy="983867"/>
          </a:xfrm>
          <a:prstGeom prst="roundRect">
            <a:avLst>
              <a:gd name="adj" fmla="val 13158"/>
            </a:avLst>
          </a:prstGeom>
          <a:solidFill>
            <a:srgbClr val="FFFFFF"/>
          </a:solidFill>
          <a:ln w="12700">
            <a:solidFill>
              <a:srgbClr val="DED2F6"/>
            </a:solidFill>
          </a:ln>
          <a:effectLst>
            <a:outerShdw blurRad="12600" dist="50402" dir="2700000" algn="bl" rotWithShape="0">
              <a:srgbClr val="000000">
                <a:alpha val="10000"/>
              </a:srgbClr>
            </a:outerShdw>
          </a:effectLst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6" name="Text 21">
            <a:extLst>
              <a:ext uri="{FF2B5EF4-FFF2-40B4-BE49-F238E27FC236}">
                <a16:creationId xmlns:a16="http://schemas.microsoft.com/office/drawing/2014/main" id="{C86291F8-E6EB-4EA6-A207-AEB32A9EC923}"/>
              </a:ext>
            </a:extLst>
          </p:cNvPr>
          <p:cNvSpPr>
            <a:spLocks noGrp="1"/>
          </p:cNvSpPr>
          <p:nvPr/>
        </p:nvSpPr>
        <p:spPr>
          <a:xfrm>
            <a:off x="1801440" y="4770891"/>
            <a:ext cx="9335520" cy="21945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3 · Implementa y demuestra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7" name="Text 22">
            <a:extLst>
              <a:ext uri="{FF2B5EF4-FFF2-40B4-BE49-F238E27FC236}">
                <a16:creationId xmlns:a16="http://schemas.microsoft.com/office/drawing/2014/main" id="{9ED1E821-5702-41FD-BF7D-ADEE57A0DE3D}"/>
              </a:ext>
            </a:extLst>
          </p:cNvPr>
          <p:cNvSpPr>
            <a:spLocks noGrp="1"/>
          </p:cNvSpPr>
          <p:nvPr/>
        </p:nvSpPr>
        <p:spPr>
          <a:xfrm>
            <a:off x="1856160" y="5064293"/>
            <a:ext cx="9226080" cy="458211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Código, migrations, tests y validación de producto aportan evidencia y aprendizaje.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8" name="Shape 23">
            <a:extLst>
              <a:ext uri="{FF2B5EF4-FFF2-40B4-BE49-F238E27FC236}">
                <a16:creationId xmlns:a16="http://schemas.microsoft.com/office/drawing/2014/main" id="{60CE112A-4E78-4E62-A405-62245F821D07}"/>
              </a:ext>
            </a:extLst>
          </p:cNvPr>
          <p:cNvSpPr>
            <a:spLocks noGrp="1"/>
          </p:cNvSpPr>
          <p:nvPr/>
        </p:nvSpPr>
        <p:spPr>
          <a:xfrm>
            <a:off x="868680" y="5803512"/>
            <a:ext cx="10725480" cy="616121"/>
          </a:xfrm>
          <a:prstGeom prst="roundRect">
            <a:avLst>
              <a:gd name="adj" fmla="val 15385"/>
            </a:avLst>
          </a:prstGeom>
          <a:solidFill>
            <a:srgbClr val="20143D"/>
          </a:solidFill>
          <a:ln w="12700">
            <a:solidFill>
              <a:srgbClr val="20143D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59" name="Text 24">
            <a:extLst>
              <a:ext uri="{FF2B5EF4-FFF2-40B4-BE49-F238E27FC236}">
                <a16:creationId xmlns:a16="http://schemas.microsoft.com/office/drawing/2014/main" id="{91FDCC19-B47A-45F8-9579-0AEBDBC3B94B}"/>
              </a:ext>
            </a:extLst>
          </p:cNvPr>
          <p:cNvSpPr>
            <a:spLocks noGrp="1"/>
          </p:cNvSpPr>
          <p:nvPr/>
        </p:nvSpPr>
        <p:spPr>
          <a:xfrm>
            <a:off x="1007918" y="5914090"/>
            <a:ext cx="10440082" cy="442939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La aceptación documental no sustituye la validación operativa.</a:t>
            </a:r>
          </a:p>
        </p:txBody>
      </p:sp>
      <p:pic>
        <p:nvPicPr>
          <p:cNvPr id="68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820525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BFA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7" name="Shape 0">
            <a:extLst>
              <a:ext uri="{FF2B5EF4-FFF2-40B4-BE49-F238E27FC236}">
                <a16:creationId xmlns:a16="http://schemas.microsoft.com/office/drawing/2014/main" id="{2FB8E6D6-4AAE-429B-AE83-0C5323AB8CC2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1400" cy="63720"/>
          </a:xfrm>
          <a:prstGeom prst="rect">
            <a:avLst/>
          </a:prstGeom>
          <a:solidFill>
            <a:srgbClr val="5F2CCB"/>
          </a:solidFill>
          <a:ln w="12700">
            <a:solidFill>
              <a:srgbClr val="5F2CCB">
                <a:alpha val="0"/>
              </a:srgb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19080" rIns="90000" bIns="19080" anchor="t">
            <a:noAutofit/>
          </a:bodyPr>
          <a:lstStyle/>
          <a:p>
            <a:endParaRPr sz="18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8" name="Text 1">
            <a:extLst>
              <a:ext uri="{FF2B5EF4-FFF2-40B4-BE49-F238E27FC236}">
                <a16:creationId xmlns:a16="http://schemas.microsoft.com/office/drawing/2014/main" id="{F9C10B8D-A635-4D6F-8E96-F7006C5308E2}"/>
              </a:ext>
            </a:extLst>
          </p:cNvPr>
          <p:cNvSpPr>
            <a:spLocks noGrp="1"/>
          </p:cNvSpPr>
          <p:nvPr/>
        </p:nvSpPr>
        <p:spPr>
          <a:xfrm>
            <a:off x="567000" y="438840"/>
            <a:ext cx="6857640" cy="16416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200" b="1" u="none">
                <a:solidFill>
                  <a:srgbClr val="5F2CCB"/>
                </a:solidFill>
                <a:latin typeface="Aptos"/>
                <a:ea typeface="Aptos"/>
                <a:cs typeface="Aptos"/>
              </a:rPr>
              <a:t>CHECKLIST ANTES DE LLAMAR “DONE”</a:t>
            </a:r>
            <a:endParaRPr sz="12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99" name="Text 2">
            <a:extLst>
              <a:ext uri="{FF2B5EF4-FFF2-40B4-BE49-F238E27FC236}">
                <a16:creationId xmlns:a16="http://schemas.microsoft.com/office/drawing/2014/main" id="{0C26F4B9-F13F-4D82-A9DF-8CCA71EC3CE7}"/>
              </a:ext>
            </a:extLst>
          </p:cNvPr>
          <p:cNvSpPr>
            <a:spLocks noGrp="1"/>
          </p:cNvSpPr>
          <p:nvPr/>
        </p:nvSpPr>
        <p:spPr>
          <a:xfrm>
            <a:off x="567000" y="804600"/>
            <a:ext cx="10195200" cy="685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rmAutofit fontScale="93902" lnSpcReduction="10000"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2600" b="1" u="none">
                <a:solidFill>
                  <a:srgbClr val="151327"/>
                </a:solidFill>
                <a:latin typeface="Aptos Display"/>
                <a:ea typeface="Aptos Display"/>
                <a:cs typeface="Aptos Display"/>
              </a:rPr>
              <a:t>Diez preguntas mantienen intención, autoridad, implementación y evidencia alineadas.</a:t>
            </a:r>
            <a:endParaRPr sz="2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0" name="Text 3">
            <a:extLst>
              <a:ext uri="{FF2B5EF4-FFF2-40B4-BE49-F238E27FC236}">
                <a16:creationId xmlns:a16="http://schemas.microsoft.com/office/drawing/2014/main" id="{0A3C6B46-059D-45D7-835B-3B0842D2B56A}"/>
              </a:ext>
            </a:extLst>
          </p:cNvPr>
          <p:cNvSpPr>
            <a:spLocks noGrp="1"/>
          </p:cNvSpPr>
          <p:nvPr/>
        </p:nvSpPr>
        <p:spPr>
          <a:xfrm>
            <a:off x="567000" y="1552734"/>
            <a:ext cx="9682786" cy="507504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360" tIns="360" rIns="360" bIns="36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6F6888"/>
                </a:solidFill>
                <a:latin typeface="Aptos"/>
                <a:ea typeface="Aptos"/>
                <a:cs typeface="Aptos"/>
              </a:rPr>
              <a:t>Si una respuesta no es verificable, todavía existe trabajo o una decisión pendiente.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2" name="Text 5">
            <a:extLst>
              <a:ext uri="{FF2B5EF4-FFF2-40B4-BE49-F238E27FC236}">
                <a16:creationId xmlns:a16="http://schemas.microsoft.com/office/drawing/2014/main" id="{EE876D90-43AC-42A5-99EB-FF72CAF0C283}"/>
              </a:ext>
            </a:extLst>
          </p:cNvPr>
          <p:cNvSpPr>
            <a:spLocks noGrp="1"/>
          </p:cNvSpPr>
          <p:nvPr/>
        </p:nvSpPr>
        <p:spPr>
          <a:xfrm>
            <a:off x="411480" y="6546960"/>
            <a:ext cx="1645560" cy="1094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CONFIDENTIAL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3" name="Text 6">
            <a:extLst>
              <a:ext uri="{FF2B5EF4-FFF2-40B4-BE49-F238E27FC236}">
                <a16:creationId xmlns:a16="http://schemas.microsoft.com/office/drawing/2014/main" id="{0C847BC2-4A38-403E-B93E-724AB469E2DD}"/>
              </a:ext>
            </a:extLst>
          </p:cNvPr>
          <p:cNvSpPr>
            <a:spLocks noGrp="1"/>
          </p:cNvSpPr>
          <p:nvPr/>
        </p:nvSpPr>
        <p:spPr>
          <a:xfrm>
            <a:off x="10716840" y="6537960"/>
            <a:ext cx="73116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65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ungga.com</a:t>
            </a:r>
            <a:endParaRPr sz="65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4" name="Text 7">
            <a:extLst>
              <a:ext uri="{FF2B5EF4-FFF2-40B4-BE49-F238E27FC236}">
                <a16:creationId xmlns:a16="http://schemas.microsoft.com/office/drawing/2014/main" id="{94BC95D0-FF9C-4740-9D86-77C5B773F9B9}"/>
              </a:ext>
            </a:extLst>
          </p:cNvPr>
          <p:cNvSpPr>
            <a:spLocks noGrp="1"/>
          </p:cNvSpPr>
          <p:nvPr/>
        </p:nvSpPr>
        <p:spPr>
          <a:xfrm>
            <a:off x="11658600" y="6528960"/>
            <a:ext cx="228240" cy="13680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800" b="0" u="none">
                <a:solidFill>
                  <a:srgbClr val="7E7798"/>
                </a:solidFill>
                <a:latin typeface="Aptos"/>
                <a:ea typeface="Aptos"/>
                <a:cs typeface="Aptos"/>
              </a:rPr>
              <a:t>19</a:t>
            </a:r>
            <a:endParaRPr sz="8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5" name="Shape 8">
            <a:extLst>
              <a:ext uri="{FF2B5EF4-FFF2-40B4-BE49-F238E27FC236}">
                <a16:creationId xmlns:a16="http://schemas.microsoft.com/office/drawing/2014/main" id="{1039685A-2B8E-404C-A2D2-0FDB692FEA72}"/>
              </a:ext>
            </a:extLst>
          </p:cNvPr>
          <p:cNvSpPr>
            <a:spLocks noGrp="1"/>
          </p:cNvSpPr>
          <p:nvPr/>
        </p:nvSpPr>
        <p:spPr>
          <a:xfrm>
            <a:off x="649647" y="25539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6" name="Text 9">
            <a:extLst>
              <a:ext uri="{FF2B5EF4-FFF2-40B4-BE49-F238E27FC236}">
                <a16:creationId xmlns:a16="http://schemas.microsoft.com/office/drawing/2014/main" id="{DB544F2D-224B-4C17-AA22-308394ADA88C}"/>
              </a:ext>
            </a:extLst>
          </p:cNvPr>
          <p:cNvSpPr>
            <a:spLocks noGrp="1"/>
          </p:cNvSpPr>
          <p:nvPr/>
        </p:nvSpPr>
        <p:spPr>
          <a:xfrm>
            <a:off x="64964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7" name="Text 10">
            <a:extLst>
              <a:ext uri="{FF2B5EF4-FFF2-40B4-BE49-F238E27FC236}">
                <a16:creationId xmlns:a16="http://schemas.microsoft.com/office/drawing/2014/main" id="{EF8412A2-9E0B-495E-B22F-F064087A424D}"/>
              </a:ext>
            </a:extLst>
          </p:cNvPr>
          <p:cNvSpPr>
            <a:spLocks noGrp="1"/>
          </p:cNvSpPr>
          <p:nvPr/>
        </p:nvSpPr>
        <p:spPr>
          <a:xfrm>
            <a:off x="1061127" y="25172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¿Outcome y usuario están claros?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8" name="Shape 11">
            <a:extLst>
              <a:ext uri="{FF2B5EF4-FFF2-40B4-BE49-F238E27FC236}">
                <a16:creationId xmlns:a16="http://schemas.microsoft.com/office/drawing/2014/main" id="{E8699C85-722F-4291-8272-B6200F2D06CF}"/>
              </a:ext>
            </a:extLst>
          </p:cNvPr>
          <p:cNvSpPr>
            <a:spLocks noGrp="1"/>
          </p:cNvSpPr>
          <p:nvPr/>
        </p:nvSpPr>
        <p:spPr>
          <a:xfrm>
            <a:off x="649647" y="32397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09" name="Text 12">
            <a:extLst>
              <a:ext uri="{FF2B5EF4-FFF2-40B4-BE49-F238E27FC236}">
                <a16:creationId xmlns:a16="http://schemas.microsoft.com/office/drawing/2014/main" id="{878D2009-F939-4096-8BE8-AA662D3F1F15}"/>
              </a:ext>
            </a:extLst>
          </p:cNvPr>
          <p:cNvSpPr>
            <a:spLocks noGrp="1"/>
          </p:cNvSpPr>
          <p:nvPr/>
        </p:nvSpPr>
        <p:spPr>
          <a:xfrm>
            <a:off x="64964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0" name="Text 13">
            <a:extLst>
              <a:ext uri="{FF2B5EF4-FFF2-40B4-BE49-F238E27FC236}">
                <a16:creationId xmlns:a16="http://schemas.microsoft.com/office/drawing/2014/main" id="{B11FA310-DF78-4B98-B5C5-294701A349DE}"/>
              </a:ext>
            </a:extLst>
          </p:cNvPr>
          <p:cNvSpPr>
            <a:spLocks noGrp="1"/>
          </p:cNvSpPr>
          <p:nvPr/>
        </p:nvSpPr>
        <p:spPr>
          <a:xfrm>
            <a:off x="106112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¿La fuente de autoridad es correcta?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1" name="Shape 14">
            <a:extLst>
              <a:ext uri="{FF2B5EF4-FFF2-40B4-BE49-F238E27FC236}">
                <a16:creationId xmlns:a16="http://schemas.microsoft.com/office/drawing/2014/main" id="{DDDE5CCE-7C78-4A30-859D-D95550B7FCDA}"/>
              </a:ext>
            </a:extLst>
          </p:cNvPr>
          <p:cNvSpPr>
            <a:spLocks noGrp="1"/>
          </p:cNvSpPr>
          <p:nvPr/>
        </p:nvSpPr>
        <p:spPr>
          <a:xfrm>
            <a:off x="649647" y="39255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2" name="Text 15">
            <a:extLst>
              <a:ext uri="{FF2B5EF4-FFF2-40B4-BE49-F238E27FC236}">
                <a16:creationId xmlns:a16="http://schemas.microsoft.com/office/drawing/2014/main" id="{F138A06A-3D00-492A-BA01-FC090AA8BEEA}"/>
              </a:ext>
            </a:extLst>
          </p:cNvPr>
          <p:cNvSpPr>
            <a:spLocks noGrp="1"/>
          </p:cNvSpPr>
          <p:nvPr/>
        </p:nvSpPr>
        <p:spPr>
          <a:xfrm>
            <a:off x="64964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3" name="Text 16">
            <a:extLst>
              <a:ext uri="{FF2B5EF4-FFF2-40B4-BE49-F238E27FC236}">
                <a16:creationId xmlns:a16="http://schemas.microsoft.com/office/drawing/2014/main" id="{6089318C-B276-47FB-92D4-FF7D0DB176D9}"/>
              </a:ext>
            </a:extLst>
          </p:cNvPr>
          <p:cNvSpPr>
            <a:spLocks noGrp="1"/>
          </p:cNvSpPr>
          <p:nvPr/>
        </p:nvSpPr>
        <p:spPr>
          <a:xfrm>
            <a:off x="1061127" y="38888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t>¿Acceptance criteria observables?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4" name="Shape 17">
            <a:extLst>
              <a:ext uri="{FF2B5EF4-FFF2-40B4-BE49-F238E27FC236}">
                <a16:creationId xmlns:a16="http://schemas.microsoft.com/office/drawing/2014/main" id="{57A18003-9A83-4E3E-8324-697474564594}"/>
              </a:ext>
            </a:extLst>
          </p:cNvPr>
          <p:cNvSpPr>
            <a:spLocks noGrp="1"/>
          </p:cNvSpPr>
          <p:nvPr/>
        </p:nvSpPr>
        <p:spPr>
          <a:xfrm>
            <a:off x="649647" y="46113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5" name="Text 18">
            <a:extLst>
              <a:ext uri="{FF2B5EF4-FFF2-40B4-BE49-F238E27FC236}">
                <a16:creationId xmlns:a16="http://schemas.microsoft.com/office/drawing/2014/main" id="{8D7A4332-3E31-4933-95FD-D3E42DEA4A71}"/>
              </a:ext>
            </a:extLst>
          </p:cNvPr>
          <p:cNvSpPr>
            <a:spLocks noGrp="1"/>
          </p:cNvSpPr>
          <p:nvPr/>
        </p:nvSpPr>
        <p:spPr>
          <a:xfrm>
            <a:off x="64964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6" name="Text 19">
            <a:extLst>
              <a:ext uri="{FF2B5EF4-FFF2-40B4-BE49-F238E27FC236}">
                <a16:creationId xmlns:a16="http://schemas.microsoft.com/office/drawing/2014/main" id="{2093E537-5F68-43F6-994E-1A839208A84B}"/>
              </a:ext>
            </a:extLst>
          </p:cNvPr>
          <p:cNvSpPr>
            <a:spLocks noGrp="1"/>
          </p:cNvSpPr>
          <p:nvPr/>
        </p:nvSpPr>
        <p:spPr>
          <a:xfrm>
            <a:off x="106112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¿Contratos, datos y fallos explícitos?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7" name="Shape 20">
            <a:extLst>
              <a:ext uri="{FF2B5EF4-FFF2-40B4-BE49-F238E27FC236}">
                <a16:creationId xmlns:a16="http://schemas.microsoft.com/office/drawing/2014/main" id="{4DF35F95-9B56-4C21-9BE3-96EAFD065B67}"/>
              </a:ext>
            </a:extLst>
          </p:cNvPr>
          <p:cNvSpPr>
            <a:spLocks noGrp="1"/>
          </p:cNvSpPr>
          <p:nvPr/>
        </p:nvSpPr>
        <p:spPr>
          <a:xfrm>
            <a:off x="649647" y="5297146"/>
            <a:ext cx="292320" cy="292320"/>
          </a:xfrm>
          <a:prstGeom prst="ellipse">
            <a:avLst/>
          </a:prstGeom>
          <a:solidFill>
            <a:srgbClr val="5F2CCB"/>
          </a:solidFill>
          <a:ln w="12700">
            <a:solidFill>
              <a:srgbClr val="5F2CCB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8" name="Text 21">
            <a:extLst>
              <a:ext uri="{FF2B5EF4-FFF2-40B4-BE49-F238E27FC236}">
                <a16:creationId xmlns:a16="http://schemas.microsoft.com/office/drawing/2014/main" id="{C6267B67-615B-4B51-AED2-B5BF61D4C389}"/>
              </a:ext>
            </a:extLst>
          </p:cNvPr>
          <p:cNvSpPr>
            <a:spLocks noGrp="1"/>
          </p:cNvSpPr>
          <p:nvPr/>
        </p:nvSpPr>
        <p:spPr>
          <a:xfrm>
            <a:off x="64964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19" name="Text 22">
            <a:extLst>
              <a:ext uri="{FF2B5EF4-FFF2-40B4-BE49-F238E27FC236}">
                <a16:creationId xmlns:a16="http://schemas.microsoft.com/office/drawing/2014/main" id="{9A39BA69-27E5-4B49-B52D-A1C7A3006EE7}"/>
              </a:ext>
            </a:extLst>
          </p:cNvPr>
          <p:cNvSpPr>
            <a:spLocks noGrp="1"/>
          </p:cNvSpPr>
          <p:nvPr/>
        </p:nvSpPr>
        <p:spPr>
          <a:xfrm>
            <a:off x="1061127" y="5370154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¿Slice READY y end-to-end?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0" name="Shape 23">
            <a:extLst>
              <a:ext uri="{FF2B5EF4-FFF2-40B4-BE49-F238E27FC236}">
                <a16:creationId xmlns:a16="http://schemas.microsoft.com/office/drawing/2014/main" id="{7293D0D0-98BA-4ABC-85D0-0E2CBE028B47}"/>
              </a:ext>
            </a:extLst>
          </p:cNvPr>
          <p:cNvSpPr>
            <a:spLocks noGrp="1"/>
          </p:cNvSpPr>
          <p:nvPr/>
        </p:nvSpPr>
        <p:spPr>
          <a:xfrm>
            <a:off x="6273207" y="25539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1" name="Text 24">
            <a:extLst>
              <a:ext uri="{FF2B5EF4-FFF2-40B4-BE49-F238E27FC236}">
                <a16:creationId xmlns:a16="http://schemas.microsoft.com/office/drawing/2014/main" id="{715A0225-6B41-4DFC-A20F-E9C8F5EA7F20}"/>
              </a:ext>
            </a:extLst>
          </p:cNvPr>
          <p:cNvSpPr>
            <a:spLocks noGrp="1"/>
          </p:cNvSpPr>
          <p:nvPr/>
        </p:nvSpPr>
        <p:spPr>
          <a:xfrm>
            <a:off x="6273207" y="26180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6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2" name="Text 25">
            <a:extLst>
              <a:ext uri="{FF2B5EF4-FFF2-40B4-BE49-F238E27FC236}">
                <a16:creationId xmlns:a16="http://schemas.microsoft.com/office/drawing/2014/main" id="{AECAC420-F5C0-4591-8FF0-489E5306E71F}"/>
              </a:ext>
            </a:extLst>
          </p:cNvPr>
          <p:cNvSpPr>
            <a:spLocks noGrp="1"/>
          </p:cNvSpPr>
          <p:nvPr/>
        </p:nvSpPr>
        <p:spPr>
          <a:xfrm>
            <a:off x="6684687" y="2644819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¿Cycle + Accountable/DRI confirmados?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3" name="Shape 26">
            <a:extLst>
              <a:ext uri="{FF2B5EF4-FFF2-40B4-BE49-F238E27FC236}">
                <a16:creationId xmlns:a16="http://schemas.microsoft.com/office/drawing/2014/main" id="{FE086162-6CBC-4BD3-9D2E-DE7993C99D93}"/>
              </a:ext>
            </a:extLst>
          </p:cNvPr>
          <p:cNvSpPr>
            <a:spLocks noGrp="1"/>
          </p:cNvSpPr>
          <p:nvPr/>
        </p:nvSpPr>
        <p:spPr>
          <a:xfrm>
            <a:off x="6273207" y="32397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4" name="Text 27">
            <a:extLst>
              <a:ext uri="{FF2B5EF4-FFF2-40B4-BE49-F238E27FC236}">
                <a16:creationId xmlns:a16="http://schemas.microsoft.com/office/drawing/2014/main" id="{6786D939-B45A-4B38-B79D-84EB960E48E1}"/>
              </a:ext>
            </a:extLst>
          </p:cNvPr>
          <p:cNvSpPr>
            <a:spLocks noGrp="1"/>
          </p:cNvSpPr>
          <p:nvPr/>
        </p:nvSpPr>
        <p:spPr>
          <a:xfrm>
            <a:off x="6273207" y="33038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7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5" name="Text 28">
            <a:extLst>
              <a:ext uri="{FF2B5EF4-FFF2-40B4-BE49-F238E27FC236}">
                <a16:creationId xmlns:a16="http://schemas.microsoft.com/office/drawing/2014/main" id="{FD43B344-BB30-4E0C-8D51-50770E25948E}"/>
              </a:ext>
            </a:extLst>
          </p:cNvPr>
          <p:cNvSpPr>
            <a:spLocks noGrp="1"/>
          </p:cNvSpPr>
          <p:nvPr/>
        </p:nvSpPr>
        <p:spPr>
          <a:xfrm>
            <a:off x="6684687" y="32030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¿Prerequisites + capacity → Executable?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6" name="Shape 29">
            <a:extLst>
              <a:ext uri="{FF2B5EF4-FFF2-40B4-BE49-F238E27FC236}">
                <a16:creationId xmlns:a16="http://schemas.microsoft.com/office/drawing/2014/main" id="{D9DA9ACC-A9D3-4574-AE7C-E6F65B8B5DE0}"/>
              </a:ext>
            </a:extLst>
          </p:cNvPr>
          <p:cNvSpPr>
            <a:spLocks noGrp="1"/>
          </p:cNvSpPr>
          <p:nvPr/>
        </p:nvSpPr>
        <p:spPr>
          <a:xfrm>
            <a:off x="6273207" y="39255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7" name="Text 30">
            <a:extLst>
              <a:ext uri="{FF2B5EF4-FFF2-40B4-BE49-F238E27FC236}">
                <a16:creationId xmlns:a16="http://schemas.microsoft.com/office/drawing/2014/main" id="{F40C6C6D-60E0-44C9-BC7E-6FBE01A33FF7}"/>
              </a:ext>
            </a:extLst>
          </p:cNvPr>
          <p:cNvSpPr>
            <a:spLocks noGrp="1"/>
          </p:cNvSpPr>
          <p:nvPr/>
        </p:nvSpPr>
        <p:spPr>
          <a:xfrm>
            <a:off x="6273207" y="39896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8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8" name="Text 31">
            <a:extLst>
              <a:ext uri="{FF2B5EF4-FFF2-40B4-BE49-F238E27FC236}">
                <a16:creationId xmlns:a16="http://schemas.microsoft.com/office/drawing/2014/main" id="{F1C44F7F-24F8-4CCE-80F2-3101A9293472}"/>
              </a:ext>
            </a:extLst>
          </p:cNvPr>
          <p:cNvSpPr>
            <a:spLocks noGrp="1"/>
          </p:cNvSpPr>
          <p:nvPr/>
        </p:nvSpPr>
        <p:spPr>
          <a:xfrm>
            <a:off x="6684687" y="3889050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¿Release Scope y evidence </a:t>
            </a:r>
            <a:r>
              <a:rPr b="0" u="none" dirty="0" err="1">
                <a:solidFill>
                  <a:srgbClr val="151327"/>
                </a:solidFill>
                <a:latin typeface="Aptos"/>
                <a:ea typeface="Aptos"/>
                <a:cs typeface="Aptos"/>
              </a:rPr>
              <a:t>satisfechos</a:t>
            </a:r>
            <a:r>
              <a:rPr b="0" u="none" dirty="0">
                <a:solidFill>
                  <a:srgbClr val="151327"/>
                </a:solidFill>
                <a:latin typeface="Aptos"/>
                <a:ea typeface="Aptos"/>
                <a:cs typeface="Aptos"/>
              </a:rPr>
              <a:t>?</a:t>
            </a:r>
            <a:endParaRPr b="0" u="none" dirty="0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29" name="Shape 32">
            <a:extLst>
              <a:ext uri="{FF2B5EF4-FFF2-40B4-BE49-F238E27FC236}">
                <a16:creationId xmlns:a16="http://schemas.microsoft.com/office/drawing/2014/main" id="{691FFD09-6CBB-4950-A369-2124360170F2}"/>
              </a:ext>
            </a:extLst>
          </p:cNvPr>
          <p:cNvSpPr>
            <a:spLocks noGrp="1"/>
          </p:cNvSpPr>
          <p:nvPr/>
        </p:nvSpPr>
        <p:spPr>
          <a:xfrm>
            <a:off x="6273207" y="46113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0" name="Text 33">
            <a:extLst>
              <a:ext uri="{FF2B5EF4-FFF2-40B4-BE49-F238E27FC236}">
                <a16:creationId xmlns:a16="http://schemas.microsoft.com/office/drawing/2014/main" id="{C487218E-B3E3-40A2-AD88-10D1CD243A12}"/>
              </a:ext>
            </a:extLst>
          </p:cNvPr>
          <p:cNvSpPr>
            <a:spLocks noGrp="1"/>
          </p:cNvSpPr>
          <p:nvPr/>
        </p:nvSpPr>
        <p:spPr>
          <a:xfrm>
            <a:off x="6273207" y="46754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9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1" name="Text 34">
            <a:extLst>
              <a:ext uri="{FF2B5EF4-FFF2-40B4-BE49-F238E27FC236}">
                <a16:creationId xmlns:a16="http://schemas.microsoft.com/office/drawing/2014/main" id="{728EAC79-592E-43C2-A918-30191AAECBE6}"/>
              </a:ext>
            </a:extLst>
          </p:cNvPr>
          <p:cNvSpPr>
            <a:spLocks noGrp="1"/>
          </p:cNvSpPr>
          <p:nvPr/>
        </p:nvSpPr>
        <p:spPr>
          <a:xfrm>
            <a:off x="6684687" y="45746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¿Release y rollback preparados?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2" name="Shape 35">
            <a:extLst>
              <a:ext uri="{FF2B5EF4-FFF2-40B4-BE49-F238E27FC236}">
                <a16:creationId xmlns:a16="http://schemas.microsoft.com/office/drawing/2014/main" id="{42D2CC6D-C32A-4553-A687-A20DF9D1DAD9}"/>
              </a:ext>
            </a:extLst>
          </p:cNvPr>
          <p:cNvSpPr>
            <a:spLocks noGrp="1"/>
          </p:cNvSpPr>
          <p:nvPr/>
        </p:nvSpPr>
        <p:spPr>
          <a:xfrm>
            <a:off x="6273207" y="5297146"/>
            <a:ext cx="292320" cy="292320"/>
          </a:xfrm>
          <a:prstGeom prst="ellipse">
            <a:avLst/>
          </a:prstGeom>
          <a:solidFill>
            <a:srgbClr val="078C53"/>
          </a:solidFill>
          <a:ln w="12700">
            <a:solidFill>
              <a:srgbClr val="078C53"/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sz="1600" b="0" u="none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3" name="Text 36">
            <a:extLst>
              <a:ext uri="{FF2B5EF4-FFF2-40B4-BE49-F238E27FC236}">
                <a16:creationId xmlns:a16="http://schemas.microsoft.com/office/drawing/2014/main" id="{C1500A42-A9D1-46DA-8A8B-948840C2B5C2}"/>
              </a:ext>
            </a:extLst>
          </p:cNvPr>
          <p:cNvSpPr>
            <a:spLocks noGrp="1"/>
          </p:cNvSpPr>
          <p:nvPr/>
        </p:nvSpPr>
        <p:spPr>
          <a:xfrm>
            <a:off x="6273207" y="5361226"/>
            <a:ext cx="292320" cy="910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Autofit/>
          </a:bodyPr>
          <a:lstStyle/>
          <a:p>
            <a:pPr algn="ctr"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sz="1600" b="1" u="none">
                <a:solidFill>
                  <a:srgbClr val="FFFFFF"/>
                </a:solidFill>
                <a:latin typeface="Aptos"/>
                <a:ea typeface="Aptos"/>
                <a:cs typeface="Aptos"/>
              </a:rPr>
              <a:t>10</a:t>
            </a:r>
            <a:endParaRPr sz="1600"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34" name="Text 37">
            <a:extLst>
              <a:ext uri="{FF2B5EF4-FFF2-40B4-BE49-F238E27FC236}">
                <a16:creationId xmlns:a16="http://schemas.microsoft.com/office/drawing/2014/main" id="{AF8B3305-2D9C-4378-AE71-AD0F07AE92CF}"/>
              </a:ext>
            </a:extLst>
          </p:cNvPr>
          <p:cNvSpPr>
            <a:spLocks noGrp="1"/>
          </p:cNvSpPr>
          <p:nvPr/>
        </p:nvSpPr>
        <p:spPr>
          <a:xfrm>
            <a:off x="6684687" y="5260426"/>
            <a:ext cx="4617360" cy="31068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0" tIns="0" rIns="0" bIns="0" anchor="ctr">
            <a:normAutofit/>
          </a:bodyPr>
          <a:lstStyle/>
          <a:p>
            <a:pPr defTabSz="914400">
              <a:lnSpc>
                <a:spcPct val="100000"/>
              </a:lnSpc>
              <a:buNone/>
              <a:tabLst>
                <a:tab pos="0" algn="l"/>
              </a:tabLst>
            </a:pPr>
            <a:r>
              <a:rPr b="0" u="none">
                <a:solidFill>
                  <a:srgbClr val="151327"/>
                </a:solidFill>
                <a:latin typeface="Aptos"/>
                <a:ea typeface="Aptos"/>
                <a:cs typeface="Aptos"/>
              </a:rPr>
              <a:t>¿El feedback actualiza la siguiente decisión?</a:t>
            </a:r>
            <a:endParaRPr b="0" u="none">
              <a:solidFill>
                <a:srgbClr val="000000"/>
              </a:solidFill>
              <a:latin typeface="Arial"/>
              <a:ea typeface="Arial"/>
              <a:cs typeface="Arial"/>
            </a:endParaRPr>
          </a:p>
        </p:txBody>
      </p:sp>
      <p:pic>
        <p:nvPicPr>
          <p:cNvPr id="67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109960" y="449715"/>
            <a:ext cx="566928" cy="4721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88629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>
            <a:extLst>
              <a:ext uri="{FF2B5EF4-FFF2-40B4-BE49-F238E27FC236}">
                <a16:creationId xmlns:a16="http://schemas.microsoft.com/office/drawing/2014/main" id="{C7F4DE37-20C0-41FF-A469-24214E4626BB}"/>
              </a:ext>
            </a:extLst>
          </p:cNvPr>
          <p:cNvSpPr>
            <a:spLocks noGrp="1"/>
          </p:cNvSpPr>
          <p:nvPr/>
        </p:nvSpPr>
        <p:spPr>
          <a:xfrm>
            <a:off x="676656" y="2331720"/>
            <a:ext cx="5669280" cy="685800"/>
          </a:xfrm>
          <a:prstGeom prst="rect">
            <a:avLst/>
          </a:prstGeom>
          <a:noFill/>
        </p:spPr>
        <p:txBody>
          <a:bodyPr wrap="square" lIns="0" tIns="0" rIns="0" bIns="0" anchor="ctr">
            <a:normAutofit fontScale="59211" lnSpcReduction="10000"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La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velocidad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sostenible</a:t>
            </a:r>
            <a:endParaRPr sz="3800" dirty="0"/>
          </a:p>
          <a:p>
            <a:pPr marL="0" indent="0" algn="l">
              <a:lnSpc>
                <a:spcPct val="100000"/>
              </a:lnSpc>
              <a:buNone/>
            </a:pP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viene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 de la </a:t>
            </a:r>
            <a:r>
              <a:rPr sz="3800" b="1" dirty="0" err="1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evidencia</a:t>
            </a:r>
            <a:r>
              <a:rPr sz="3800" b="1" dirty="0">
                <a:solidFill>
                  <a:srgbClr val="FFFFFF"/>
                </a:solidFill>
                <a:latin typeface="Inter Display"/>
                <a:ea typeface="Inter Display"/>
                <a:cs typeface="Inter Display"/>
              </a:rPr>
              <a:t>.</a:t>
            </a:r>
            <a:endParaRPr sz="3800" dirty="0"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2B17B00-208E-4093-AA43-175782358350}"/>
              </a:ext>
            </a:extLst>
          </p:cNvPr>
          <p:cNvSpPr>
            <a:spLocks noGrp="1"/>
          </p:cNvSpPr>
          <p:nvPr/>
        </p:nvSpPr>
        <p:spPr>
          <a:xfrm>
            <a:off x="694944" y="3072384"/>
            <a:ext cx="5760720" cy="411480"/>
          </a:xfrm>
          <a:prstGeom prst="rect">
            <a:avLst/>
          </a:prstGeom>
          <a:noFill/>
        </p:spPr>
        <p:txBody>
          <a:bodyPr wrap="square" lIns="0" tIns="0" rIns="0" bIns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Intención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explícita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Slices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pequeños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 Loops </a:t>
            </a:r>
            <a:r>
              <a:rPr dirty="0" err="1">
                <a:solidFill>
                  <a:srgbClr val="D8CFEA"/>
                </a:solidFill>
                <a:latin typeface="Inter"/>
                <a:ea typeface="Inter"/>
                <a:cs typeface="Inter"/>
              </a:rPr>
              <a:t>cerrados</a:t>
            </a:r>
            <a:r>
              <a:rPr dirty="0">
                <a:solidFill>
                  <a:srgbClr val="D8CFEA"/>
                </a:solidFill>
                <a:latin typeface="Inter"/>
                <a:ea typeface="Inter"/>
                <a:cs typeface="Inter"/>
              </a:rPr>
              <a:t>.</a:t>
            </a:r>
            <a:endParaRPr dirty="0"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2360" y="1376172"/>
            <a:ext cx="4151376" cy="4151376"/>
          </a:xfrm>
          <a:prstGeom prst="rect">
            <a:avLst/>
          </a:prstGeom>
        </p:spPr>
      </p:pic>
      <p:sp>
        <p:nvSpPr>
          <p:cNvPr id="25" name="Slide Number Placeholder 0">
            <a:extLst>
              <a:ext uri="{FF2B5EF4-FFF2-40B4-BE49-F238E27FC236}">
                <a16:creationId xmlns:a16="http://schemas.microsoft.com/office/drawing/2014/main" id="{3F4517B7-1930-416E-8BF2-373DAAD801D3}"/>
              </a:ext>
            </a:extLst>
          </p:cNvPr>
          <p:cNvSpPr>
            <a:spLocks noGrp="1"/>
          </p:cNvSpPr>
          <p:nvPr>
            <p:ph type="sldNum" idx="4294967295"/>
          </p:nvPr>
        </p:nvSpPr>
        <p:spPr>
          <a:xfrm>
            <a:off x="11631167" y="6490252"/>
            <a:ext cx="315668" cy="203156"/>
          </a:xfrm>
          <a:prstGeom prst="rect">
            <a:avLst/>
          </a:prstGeom>
        </p:spPr>
        <p:txBody>
          <a:bodyPr/>
          <a:lstStyle>
            <a:lvl1pPr marL="0" algn="l" defTabSz="914400">
              <a:buNone/>
              <a:defRPr sz="800" kern="1200">
                <a:solidFill>
                  <a:srgbClr val="8D86A0"/>
                </a:solidFill>
                <a:latin typeface="Inter"/>
                <a:ea typeface="Inter"/>
                <a:cs typeface="Inter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r">
              <a:buNone/>
            </a:pPr>
            <a:fld id="{844E025A-983C-6D44-79C6-4612AACD43FC}" type="slidenum">
              <a:rPr/>
              <a:t>20</a:t>
            </a:fld>
            <a:endParaRPr/>
          </a:p>
        </p:txBody>
      </p:sp>
      <p:pic>
        <p:nvPicPr>
          <p:cNvPr id="32" name="Image 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71349" y="432161"/>
            <a:ext cx="713798" cy="59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373826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</a:majorFont>
      <a:minorFont>
        <a:latin typeface="Aptos"/>
        <a:ea typeface=""/>
        <a:cs typeface="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</a:schemeClr>
            </a:gs>
            <a:gs pos="50000">
              <a:schemeClr val="phClr">
                <a:tint val="73000"/>
                <a:lumMod val="105000"/>
              </a:schemeClr>
            </a:gs>
            <a:gs pos="100000">
              <a:schemeClr val="phClr">
                <a:tint val="81000"/>
                <a:lumMod val="105000"/>
              </a:schemeClr>
            </a:gs>
          </a:gsLst>
          <a:lin ang="5400000" scaled="0"/>
          <a:tileRect/>
        </a:gradFill>
        <a:gradFill>
          <a:gsLst>
            <a:gs pos="0">
              <a:schemeClr val="phClr">
                <a:tint val="94000"/>
                <a:lumMod val="102000"/>
              </a:schemeClr>
            </a:gs>
            <a:gs pos="50000">
              <a:schemeClr val="phClr">
                <a:shade val="100000"/>
                <a:lumMod val="100000"/>
              </a:schemeClr>
            </a:gs>
            <a:gs pos="100000">
              <a:schemeClr val="phClr">
                <a:shade val="78000"/>
                <a:lumMod val="99000"/>
              </a:schemeClr>
            </a:gs>
          </a:gsLst>
          <a:lin ang="5400000" scaled="0"/>
          <a:tileRect/>
        </a:gradFill>
      </a:fillStyleLst>
      <a:lnStyleLst>
        <a:ln w="6350">
          <a:prstDash val="solid"/>
        </a:ln>
        <a:ln w="12700">
          <a:prstDash val="solid"/>
        </a:ln>
        <a:ln w="19050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</a:schemeClr>
            </a:gs>
            <a:gs pos="50000">
              <a:schemeClr val="phClr">
                <a:tint val="98000"/>
                <a:shade val="90000"/>
                <a:lumMod val="103000"/>
              </a:schemeClr>
            </a:gs>
            <a:gs pos="100000">
              <a:schemeClr val="phClr">
                <a:shade val="63000"/>
              </a:schemeClr>
            </a:gs>
          </a:gsLst>
          <a:lin ang="5400000" scaled="0"/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2723</Words>
  <Application>Microsoft Office PowerPoint</Application>
  <DocSecurity>0</DocSecurity>
  <PresentationFormat>Panorámica</PresentationFormat>
  <Paragraphs>451</Paragraphs>
  <Slides>20</Slides>
  <Notes>20</Notes>
  <HiddenSlides>0</HiddenSlides>
  <MMClips>0</MMClips>
  <ScaleCrop>false</ScaleCrop>
  <HeadingPairs>
    <vt:vector size="6" baseType="variant">
      <vt:variant>
        <vt:lpstr>Fuentes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Inter</vt:lpstr>
      <vt:lpstr>Inter Display</vt:lpstr>
      <vt:lpstr>Symbol</vt:lpstr>
      <vt:lpstr>Wingdings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Alejandro Torres</cp:lastModifiedBy>
  <cp:revision>14</cp:revision>
  <dcterms:created xsi:type="dcterms:W3CDTF">2026-09-08T13:16:15Z</dcterms:created>
  <dcterms:modified xsi:type="dcterms:W3CDTF">2026-09-08T18:42:17Z</dcterms:modified>
</cp:coreProperties>
</file>