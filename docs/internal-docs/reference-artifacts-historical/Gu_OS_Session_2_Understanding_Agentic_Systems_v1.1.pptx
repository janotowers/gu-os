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docs/principles/gu-os-principles-and-design-doctrine.md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Gu_OS_Agentic_Architecture_Primer_v0.4.docx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Gu_OS_Agentic_Architecture_Primer_v0.4.docx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docs/manuals/gu-os-experience-architecture.md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Gu_OS_Agentic_Architecture_Primer_v0.4.docx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docs/manuals/ai-native-loops.md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docs/operational-cases/architecture.md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docs/manuals/gu-os-flexible-workflows-technical-plan.md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docs/manuals/architecture-manual.md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Gu_OS_Agentic_Architecture_Primer_v0.4.docx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docs/manuals/gu-os-experience-architecture.md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docs/manuals/gu-os-experience-architecture.md</a:t>
            </a:r>
          </a:p>
          <a:p>
            <a:r>
              <a:t>- docs/manuals/architecture-manual.md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Gu_OS_Agentic_Architecture_Primer_v0.4.docx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docs/brain/gbrain-evaluation-and-plan.md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docs/brain/gbrain-evaluation-and-plan.md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docs/manuals/architecture-manual.md</a:t>
            </a:r>
          </a:p>
          <a:p>
            <a:r>
              <a:t>- docs/manuals/gu-os-experience-architecture.md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docs/manuals/gu-os-flexible-workflows-technical-plan.md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docs/manuals/gu-os-experience-architecture.md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Gu_OS_Agentic_Architecture_Primer_v0.4.docx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docs/manuals/architecture-manual.md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F43F81C-6B5B-4042-BE41-54B3BF62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1AB9508-59AA-4504-849E-1AB32058C9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6C73D5C-FFB3-4E47-BA16-922D0FFC3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1976C6A-8728-414A-8036-13C31FA6CB2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665832-C92A-4CEF-AB28-361EA95432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E0F7BE-4131-45FD-969A-76BAA4FAB272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06C70B-F60B-4548-8BCB-EFCD87508C4E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230E6B9-A5B2-4BE5-97F1-0126BD8BB27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DFDB0-C73F-4AFB-AAD0-0317ABBD4C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08/09/2026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7B917-A2B7-498B-A49D-ECF04A972B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BF582-ABF5-461A-A409-93AE55EA8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5B36D5-DFE6-4FCF-A12B-DB5A6B8E7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FB8FE4-D27B-4437-A58B-FC0EDD14E864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AA6023-3A5F-4A80-A53C-E27093E886B1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212753-2765-4A78-B1E9-69A1F088167A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E12BD-B46D-4755-83FC-3F323AE8FA99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FBCA21-194E-443E-B6D5-21176038E5C0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5F60F97-8571-4374-AA4C-33EB70F930B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Sistemas agénticos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Cómo pensar una arquitectura agéntica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 2 · Fundamentos antes de entrar a Gu OS</a:t>
            </a:r>
            <a:endParaRPr sz="1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Objetivo: construir una referencia común para razonar sobre agentes, harness, estado, memoria, herramientas, gobernanza y resultados.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0CA54AEE-DA0E-4396-B936-7D40AEF2BA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BB7983F-26EF-48FC-8265-F424BF750A6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DEBEMOS ENTENDER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E0F312F4-7B99-437B-AFFC-303A4970FC62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Antes de evaluar Gu OS necesitamos un lenguaje general que permita comparar arquitecturas sin perdernos en frameworks.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BF1A9BBA-E9A8-40A3-8969-F919A74D6694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9323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sesión avanza desde el agente y su harness hasta el sistema operativo que mantiene trabajo durable y gobernado.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968F5BA-8550-4799-871D-9C722B77371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4D5A9CE-1FD5-4205-9BCF-A3FF17A480F5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308AC89D-676A-4750-A1F1-B58D18D1C51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49CC29F-9DAF-4BD6-A38C-45125D257C0D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 mental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76AA01F7-6B4F-4613-984E-1E5EB27BAE97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E256B88-A25E-40CC-B593-98CE4A920162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Agente ≠ sistema completo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CDA5E85-4AD8-4A44-A254-35393DDD63DF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modelo razona; el harness y la plataforma hacen el trabajo confiable.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075E088-1765-4C99-83FD-A082022825A5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AC5494F2-88AF-41CD-8785-D5AAFD679CB2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Preguntas de arquitectura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9C993A8-4AFF-4FB6-8BC6-CF337EF744FB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Dónde viven estado, autoridad, memoria, tools, verificación y observabilidad.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78477E3F-1308-4A22-A424-7B53A7038EF6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A40ACEE-4BC4-46F5-BA82-A813646A3709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Criterio práctico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01385D9-762C-4066-94A5-20080ECCE0B5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Juzgar por resultados, límites y capacidad de recuperación.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7CB114E-7483-40E8-80EA-73C4C4EBF86B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4607EC1A-5109-44BC-B7F7-8D33863E4E3A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5E3E3AC-72F5-4FC2-9BA0-2D2B7E7930A3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1: por qué Gu 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D5DBDEB-6279-43F3-B4B2-D4BD75D4C1A1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93AEA1F-8C4B-481A-A871-67F915A2C390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Agentic Systems Primer v0.4.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C681436B-EBE4-4900-AB19-0E54395F3512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93C7532-C572-42FA-9C8D-198107137DDD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El código de Gu OS se reserva para Session 3B.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D9DEE2AD-0BA2-4985-82AC-0BD59C829B39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18ED76A9-0B52-442A-8772-5E8AD4FC3057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4C9EB7E-2B87-4D55-A83C-5F514FED9E84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vocabulario común.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7668B971-7E99-4305-A9A3-A109CD018498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5DAFDD79-CDA7-4FAF-BBCD-7A84A2367C4E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mapa de componentes.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D77D5ABE-2520-4B7E-823E-F01719C3EEA8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83705391-B1D8-4CA2-86FA-B6CF6F5205A4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Preguntas mejores.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9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2A9A6740-C5D9-42D2-84B3-399EFBCA7C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4D60FAB3-FA6A-4411-892C-416DC1B70AB8}"/>
              </a:ext>
            </a:extLst>
          </p:cNvPr>
          <p:cNvSpPr>
            <a:spLocks noGrp="1"/>
          </p:cNvSpPr>
          <p:nvPr/>
        </p:nvSpPr>
        <p:spPr>
          <a:xfrm>
            <a:off x="567000" y="415394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CUATRO NIVELES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966ADF08-E656-4C99-8A6D-7EAAA1487E20}"/>
              </a:ext>
            </a:extLst>
          </p:cNvPr>
          <p:cNvSpPr>
            <a:spLocks noGrp="1"/>
          </p:cNvSpPr>
          <p:nvPr/>
        </p:nvSpPr>
        <p:spPr>
          <a:xfrm>
            <a:off x="567000" y="734262"/>
            <a:ext cx="101952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Usar un LLM no define una arquitectura: el sistema debe convertir razonamiento en trabajo confiable.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905C195B-0E6E-45B2-B7A5-8E4B471A0846}"/>
              </a:ext>
            </a:extLst>
          </p:cNvPr>
          <p:cNvSpPr>
            <a:spLocks noGrp="1"/>
          </p:cNvSpPr>
          <p:nvPr/>
        </p:nvSpPr>
        <p:spPr>
          <a:xfrm>
            <a:off x="567000" y="1610312"/>
            <a:ext cx="10698120" cy="680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nivel agrega responsabilidades que el modelo por sí solo no puede sostener.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82A2286F-E3EE-417E-957C-7BE6F58EBAE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8D7896BA-B562-4018-928A-934B29C1BAC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D44C96BB-DFC8-4CBC-84F3-DD95AFE2D5B6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1D8E4951-0D6C-428C-A6A6-064F05BBC70B}"/>
              </a:ext>
            </a:extLst>
          </p:cNvPr>
          <p:cNvSpPr>
            <a:spLocks noGrp="1"/>
          </p:cNvSpPr>
          <p:nvPr/>
        </p:nvSpPr>
        <p:spPr>
          <a:xfrm>
            <a:off x="1005840" y="2388640"/>
            <a:ext cx="9235080" cy="7077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1EDA9918-060B-43E2-B5A2-C999901B7A89}"/>
              </a:ext>
            </a:extLst>
          </p:cNvPr>
          <p:cNvSpPr>
            <a:spLocks noGrp="1"/>
          </p:cNvSpPr>
          <p:nvPr/>
        </p:nvSpPr>
        <p:spPr>
          <a:xfrm>
            <a:off x="1207080" y="2502814"/>
            <a:ext cx="8832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Software tradicional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0A92D881-FEF6-424C-A661-F5F6855CE79F}"/>
              </a:ext>
            </a:extLst>
          </p:cNvPr>
          <p:cNvSpPr>
            <a:spLocks noGrp="1"/>
          </p:cNvSpPr>
          <p:nvPr/>
        </p:nvSpPr>
        <p:spPr>
          <a:xfrm>
            <a:off x="1261800" y="2807746"/>
            <a:ext cx="8723160" cy="219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Flujos y reglas codificados.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69D004CF-FB94-42E9-A8CB-E9981E63B741}"/>
              </a:ext>
            </a:extLst>
          </p:cNvPr>
          <p:cNvSpPr>
            <a:spLocks noGrp="1"/>
          </p:cNvSpPr>
          <p:nvPr/>
        </p:nvSpPr>
        <p:spPr>
          <a:xfrm>
            <a:off x="5669280" y="3148772"/>
            <a:ext cx="0" cy="146159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83B05040-F671-4F92-A21A-86E04C4418AD}"/>
              </a:ext>
            </a:extLst>
          </p:cNvPr>
          <p:cNvSpPr>
            <a:spLocks noGrp="1"/>
          </p:cNvSpPr>
          <p:nvPr/>
        </p:nvSpPr>
        <p:spPr>
          <a:xfrm>
            <a:off x="1463040" y="3341011"/>
            <a:ext cx="8320680" cy="737481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256F4D10-D574-49C4-B924-C20107AAFCBF}"/>
              </a:ext>
            </a:extLst>
          </p:cNvPr>
          <p:cNvSpPr>
            <a:spLocks noGrp="1"/>
          </p:cNvSpPr>
          <p:nvPr/>
        </p:nvSpPr>
        <p:spPr>
          <a:xfrm>
            <a:off x="1664280" y="3427294"/>
            <a:ext cx="79182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Copiloto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7798B358-B04D-4990-A5FD-F792816DAF6B}"/>
              </a:ext>
            </a:extLst>
          </p:cNvPr>
          <p:cNvSpPr>
            <a:spLocks noGrp="1"/>
          </p:cNvSpPr>
          <p:nvPr/>
        </p:nvSpPr>
        <p:spPr>
          <a:xfrm>
            <a:off x="1719000" y="3712347"/>
            <a:ext cx="7808760" cy="26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Sugiere dentro de una interfaz.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CCCE9C28-AEA1-4B98-924F-032040061511}"/>
              </a:ext>
            </a:extLst>
          </p:cNvPr>
          <p:cNvSpPr>
            <a:spLocks noGrp="1"/>
          </p:cNvSpPr>
          <p:nvPr/>
        </p:nvSpPr>
        <p:spPr>
          <a:xfrm>
            <a:off x="5669280" y="4121523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470A478E-13F4-4005-930B-11DC9CB3CD62}"/>
              </a:ext>
            </a:extLst>
          </p:cNvPr>
          <p:cNvSpPr>
            <a:spLocks noGrp="1"/>
          </p:cNvSpPr>
          <p:nvPr/>
        </p:nvSpPr>
        <p:spPr>
          <a:xfrm>
            <a:off x="1920240" y="4289956"/>
            <a:ext cx="7406280" cy="7840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EEED6EE5-B67F-4D8E-8040-28C169460CC5}"/>
              </a:ext>
            </a:extLst>
          </p:cNvPr>
          <p:cNvSpPr>
            <a:spLocks noGrp="1"/>
          </p:cNvSpPr>
          <p:nvPr/>
        </p:nvSpPr>
        <p:spPr>
          <a:xfrm>
            <a:off x="2121480" y="4376239"/>
            <a:ext cx="70038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Agente + harness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2B3F05EA-578D-48B2-821B-0FF879A1A828}"/>
              </a:ext>
            </a:extLst>
          </p:cNvPr>
          <p:cNvSpPr>
            <a:spLocks noGrp="1"/>
          </p:cNvSpPr>
          <p:nvPr/>
        </p:nvSpPr>
        <p:spPr>
          <a:xfrm>
            <a:off x="2176200" y="4681170"/>
            <a:ext cx="6894360" cy="336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Razona, usa tools, observa y reintenta.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DD90B15A-CFD4-444B-BE32-0D74BA278713}"/>
              </a:ext>
            </a:extLst>
          </p:cNvPr>
          <p:cNvSpPr>
            <a:spLocks noGrp="1"/>
          </p:cNvSpPr>
          <p:nvPr/>
        </p:nvSpPr>
        <p:spPr>
          <a:xfrm>
            <a:off x="5669280" y="5130102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6F985166-573C-46D3-B6B7-9469A502C531}"/>
              </a:ext>
            </a:extLst>
          </p:cNvPr>
          <p:cNvSpPr>
            <a:spLocks noGrp="1"/>
          </p:cNvSpPr>
          <p:nvPr/>
        </p:nvSpPr>
        <p:spPr>
          <a:xfrm>
            <a:off x="2377440" y="5322342"/>
            <a:ext cx="6491880" cy="1096818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E41279CA-CEEE-4D16-BDDC-E5899F1A95AE}"/>
              </a:ext>
            </a:extLst>
          </p:cNvPr>
          <p:cNvSpPr>
            <a:spLocks noGrp="1"/>
          </p:cNvSpPr>
          <p:nvPr/>
        </p:nvSpPr>
        <p:spPr>
          <a:xfrm>
            <a:off x="2578680" y="5461887"/>
            <a:ext cx="60894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i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Sistema operativo agéntico</a:t>
            </a:r>
            <a:endParaRPr sz="20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9B5FA7D7-CA0A-45AA-BF20-B75405569B90}"/>
              </a:ext>
            </a:extLst>
          </p:cNvPr>
          <p:cNvSpPr>
            <a:spLocks noGrp="1"/>
          </p:cNvSpPr>
          <p:nvPr/>
        </p:nvSpPr>
        <p:spPr>
          <a:xfrm>
            <a:off x="2633400" y="5806574"/>
            <a:ext cx="5979960" cy="471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E8DFFF"/>
                </a:solidFill>
                <a:latin typeface="Aptos"/>
                <a:ea typeface="Aptos"/>
                <a:cs typeface="Aptos"/>
              </a:rPr>
              <a:t>Mantiene trabajo durable, identidad, autoridad, contexto, evidencia y aprendizaje.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DC1D1664-7167-49D4-B964-75D8A03D95C3}"/>
              </a:ext>
            </a:extLst>
          </p:cNvPr>
          <p:cNvSpPr>
            <a:spLocks noGrp="1"/>
          </p:cNvSpPr>
          <p:nvPr/>
        </p:nvSpPr>
        <p:spPr>
          <a:xfrm>
            <a:off x="9412357" y="5340868"/>
            <a:ext cx="1981067" cy="1096818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CA1A9687-A43A-4F66-AD83-71091939163A}"/>
              </a:ext>
            </a:extLst>
          </p:cNvPr>
          <p:cNvSpPr>
            <a:spLocks noGrp="1"/>
          </p:cNvSpPr>
          <p:nvPr/>
        </p:nvSpPr>
        <p:spPr>
          <a:xfrm>
            <a:off x="9563024" y="5525669"/>
            <a:ext cx="1682640" cy="78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El </a:t>
            </a:r>
            <a:r>
              <a:rPr sz="14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</a:t>
            </a:r>
            <a:r>
              <a:rPr sz="14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propone; el </a:t>
            </a:r>
            <a:r>
              <a:rPr sz="14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4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gobierna</a:t>
            </a:r>
            <a:r>
              <a:rPr sz="14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10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8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37ED2560-55E8-4F03-8AD7-377895563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B5E98044-CA38-438E-8ADC-34ADEA48A13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PRIMERA DISTINCIÓN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2664FD3F-E083-43FD-A02D-93117B449135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modelo es una capacidad de razonamiento. El harness convierte esa capacidad en una unidad de trabajo operable.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F54E7B9A-4094-4FBB-B521-3E84A0CCEF8F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Sin harness no hay continuidad confiable: faltan tools, contexto, estado, límites, recuperación y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2159E07A-4D9A-4C23-ABF6-F935B12F6A8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D4E199A8-A37F-414F-9045-DB1D48F677A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AD5DEA2F-C52C-4BC4-B144-3DA6B6F22E6C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2E3C18FE-C143-4552-A4AF-0398BAAF0B55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F1761F2F-5FFF-4FDF-98E0-92BE5F413507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4095029D-21AB-4F27-B3F9-2CFC223C9A02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Razonamiento probabilístico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E5C20C17-8287-4029-9C24-6587923BF2A8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Interpreta intención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Propone planes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Genera o transforma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Evalúa información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Maneja ambigüedad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124856B5-2DDC-4795-88B6-7AB102075D83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3DCF46AE-B470-4C47-8495-74C03F58A04B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HARNESS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DEB40F6F-55EC-4EA6-A0EC-B4E7394135A8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Entorno de ejecución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2AA5CCE7-BB79-4204-B6EC-3C6634660C4E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Compila contexto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Expone tools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Mantiene 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Aplica permisos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Observa resultados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Reintenta o escala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231FC923-B290-4382-BC31-F263B92E7688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ACD5224-7EA4-40F7-B6CE-F0A80D090F32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2CC9CA9D-5515-4838-999A-6CDF997CC73A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El </a:t>
            </a:r>
            <a:r>
              <a:rPr sz="1600" b="1" dirty="0" err="1">
                <a:solidFill>
                  <a:srgbClr val="5F2CCB"/>
                </a:solidFill>
              </a:rPr>
              <a:t>agente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útil</a:t>
            </a:r>
            <a:r>
              <a:rPr sz="1600" b="1" dirty="0">
                <a:solidFill>
                  <a:srgbClr val="5F2CCB"/>
                </a:solidFill>
              </a:rPr>
              <a:t> emerge de la </a:t>
            </a:r>
            <a:r>
              <a:rPr sz="1600" b="1" dirty="0" err="1">
                <a:solidFill>
                  <a:srgbClr val="5F2CCB"/>
                </a:solidFill>
              </a:rPr>
              <a:t>relación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modelo</a:t>
            </a:r>
            <a:r>
              <a:rPr sz="1600" b="1" dirty="0">
                <a:solidFill>
                  <a:srgbClr val="5F2CCB"/>
                </a:solidFill>
              </a:rPr>
              <a:t> + harness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71541" y="3813243"/>
            <a:ext cx="823319" cy="183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63533"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dentro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72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AUTONOMÍA ES UNA DECISIÓN DE DISEÑO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agéntico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serio 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maximiza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autonomía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asigna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según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riesgo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reversibilidad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misma capacidad puede operar con distintos modos dependiendo del contexto y del efecto externo.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AUTÓNOMO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Bajo riesgo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Ejecuta dentro de políticas.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lectura · clasificación · recordatorios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HUMANO LIDERA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Juicio / relación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agente analiza y prepara; la persona decide o conduce.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negociación · excepciones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HUMANO AUTORIZA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Efecto sensible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7267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agente prepara contexto, pausa, recibe autorización y reanuda.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publicar · enviar · comprometer</a:t>
            </a: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 acotada + evidencia explícita &gt; autonomía máxima.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TRABAJO NECESITA RAÍCES DURABLES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7754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pertenece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conversación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ni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debe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convertirse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un Case.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elige la unidad durable más pequeña que conserva identidad, estado, responsabilidad y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Acción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Ejecución acotada con resultado inmediato.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item / task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Unidad durable: puede esperar, reintentar, depender o bloquearse.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operacional durable con participantes, políticas y finalización.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288630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Dominio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Semántica y capacidades alrededor de una responsabilidad operativa.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agrupa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coordina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se realiza mediante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conseguir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un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documento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convertir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una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oportunidad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Relationship Operations</a:t>
            </a: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32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enviar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un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mensaje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autorizado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638872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380009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raíz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correcta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simplifica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responsabilidad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gobernanza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DOS LOOPS, DOS TIPOS DE VERDAD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arquitectura agéntica opera tanto el ciclo de ejecución como el ciclo de trabajo durable.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Confundirlos produce agentes que “hacen cosas” pero no sostienen responsabilidades.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Loop de ejecución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277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razonamiento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tool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observación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reintento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o salida.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Loop de trabajo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plan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ítems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esperas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/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→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aprendizaje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Puente entre ambos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ejecución actualiza estado durable y cada cambio durable compila el siguiente contexto.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Pregunta: ¿dónde vive la verdad cuando una ejecución termina pero el trabajo todavía no?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DETERMINISMO Y RAZONAMIENTO SE COMPLEMENTAN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pregunta no es “¿reglas o IA?”. Es qué comportamiento exige variación semántica y qué comportamiento exige invariantes.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frontera correcta protege autoridad y datos sin quitar al modelo la flexibilidad que produce valor.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MODELO-MEDIADO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Útil cuando hay ambigüedad: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Interpretar intención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Resumir contexto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Proponer planes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Clasificar señales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Redactar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Evaluar alternativas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DETERMINISTA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Necesario para invariantes: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Permisos y políticas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Transiciones críticas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Idempotencia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Persistencia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Límites de tools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Auditoría y evidencia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37ED2560-55E8-4F03-8AD7-377895563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B5E98044-CA38-438E-8ADC-34ADEA48A13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SEGUNDA DISTINCIÓN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2664FD3F-E083-43FD-A02D-93117B449135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 para razonar no es lo mismo que verdad operacional durable.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F54E7B9A-4094-4FBB-B521-3E84A0CCEF8F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contexto es una compilación temporal; la verdad durable debe sobrevivir canales, sesiones, modelos y ejecuciones.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2159E07A-4D9A-4C23-ABF6-F935B12F6A8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D4E199A8-A37F-414F-9045-DB1D48F677A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AD5DEA2F-C52C-4BC4-B144-3DA6B6F22E6C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2E3C18FE-C143-4552-A4AF-0398BAAF0B55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F1761F2F-5FFF-4FDF-98E0-92BE5F413507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CONTEXTO COMPILADO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4095029D-21AB-4F27-B3F9-2CFC223C9A02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 necesario ahora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E5C20C17-8287-4029-9C24-6587923BF2A8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Instrucciones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Historial relevante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Conocimiento recuperado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resumido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Permisos vigentes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124856B5-2DDC-4795-88B6-7AB102075D83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3DCF46AE-B470-4C47-8495-74C03F58A04B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VERDAD DURABLE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DEB40F6F-55EC-4EA6-A0EC-B4E7394135A8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 que el sistema debe conservar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2AA5CCE7-BB79-4204-B6EC-3C6634660C4E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y 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y resultados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231FC923-B290-4382-BC31-F263B92E7688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ACD5224-7EA4-40F7-B6CE-F0A80D090F32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2CC9CA9D-5515-4838-999A-6CDF997CC73A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El </a:t>
            </a:r>
            <a:r>
              <a:rPr sz="1600" b="1" dirty="0" err="1">
                <a:solidFill>
                  <a:srgbClr val="5F2CCB"/>
                </a:solidFill>
              </a:rPr>
              <a:t>contexto</a:t>
            </a:r>
            <a:r>
              <a:rPr sz="1600" b="1" dirty="0">
                <a:solidFill>
                  <a:srgbClr val="5F2CCB"/>
                </a:solidFill>
              </a:rPr>
              <a:t> se </a:t>
            </a:r>
            <a:r>
              <a:rPr sz="1600" b="1" dirty="0" err="1">
                <a:solidFill>
                  <a:srgbClr val="5F2CCB"/>
                </a:solidFill>
              </a:rPr>
              <a:t>deriva</a:t>
            </a:r>
            <a:r>
              <a:rPr sz="1600" b="1" dirty="0">
                <a:solidFill>
                  <a:srgbClr val="5F2CCB"/>
                </a:solidFill>
              </a:rPr>
              <a:t>; la </a:t>
            </a:r>
            <a:r>
              <a:rPr sz="1600" b="1" dirty="0" err="1">
                <a:solidFill>
                  <a:srgbClr val="5F2CCB"/>
                </a:solidFill>
              </a:rPr>
              <a:t>verdad</a:t>
            </a:r>
            <a:r>
              <a:rPr sz="1600" b="1" dirty="0">
                <a:solidFill>
                  <a:srgbClr val="5F2CCB"/>
                </a:solidFill>
              </a:rPr>
              <a:t> durable </a:t>
            </a:r>
            <a:r>
              <a:rPr sz="1600" b="1" dirty="0" err="1">
                <a:solidFill>
                  <a:srgbClr val="5F2CCB"/>
                </a:solidFill>
              </a:rPr>
              <a:t>gobierna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consulta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722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>
            <a:extLst>
              <a:ext uri="{FF2B5EF4-FFF2-40B4-BE49-F238E27FC236}">
                <a16:creationId xmlns:a16="http://schemas.microsoft.com/office/drawing/2014/main" id="{8B25C622-73C8-43BC-85B7-5E602683F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Text 1">
            <a:extLst>
              <a:ext uri="{FF2B5EF4-FFF2-40B4-BE49-F238E27FC236}">
                <a16:creationId xmlns:a16="http://schemas.microsoft.com/office/drawing/2014/main" id="{9506D69E-9655-49A4-A754-647742C7AEC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UN MAPA DE DIEZ RESPONSABILIDADES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Text 2">
            <a:extLst>
              <a:ext uri="{FF2B5EF4-FFF2-40B4-BE49-F238E27FC236}">
                <a16:creationId xmlns:a16="http://schemas.microsoft.com/office/drawing/2014/main" id="{84E70C57-B112-4DBB-991B-5F915CA28C4B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6402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 arquitectura agéntica completa separa responsabilidades para poder razonar, probar y evolucionar.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Text 3">
            <a:extLst>
              <a:ext uri="{FF2B5EF4-FFF2-40B4-BE49-F238E27FC236}">
                <a16:creationId xmlns:a16="http://schemas.microsoft.com/office/drawing/2014/main" id="{E92C7BA6-76D8-4990-8855-36A226B5517F}"/>
              </a:ext>
            </a:extLst>
          </p:cNvPr>
          <p:cNvSpPr>
            <a:spLocks noGrp="1"/>
          </p:cNvSpPr>
          <p:nvPr/>
        </p:nvSpPr>
        <p:spPr>
          <a:xfrm>
            <a:off x="567000" y="1552734"/>
            <a:ext cx="9682786" cy="5075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Las capas no son productos independientes: colaboran para convertir intención en resultados gobernados.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Text 5">
            <a:extLst>
              <a:ext uri="{FF2B5EF4-FFF2-40B4-BE49-F238E27FC236}">
                <a16:creationId xmlns:a16="http://schemas.microsoft.com/office/drawing/2014/main" id="{3D1E55AA-4B19-472B-B488-457607506D1E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Text 6">
            <a:extLst>
              <a:ext uri="{FF2B5EF4-FFF2-40B4-BE49-F238E27FC236}">
                <a16:creationId xmlns:a16="http://schemas.microsoft.com/office/drawing/2014/main" id="{1914CEC5-2A02-4C61-B0D0-C3451437C36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Text 7">
            <a:extLst>
              <a:ext uri="{FF2B5EF4-FFF2-40B4-BE49-F238E27FC236}">
                <a16:creationId xmlns:a16="http://schemas.microsoft.com/office/drawing/2014/main" id="{47EE1E90-9D10-4037-9AA4-07C0777E5DE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Shape 8">
            <a:extLst>
              <a:ext uri="{FF2B5EF4-FFF2-40B4-BE49-F238E27FC236}">
                <a16:creationId xmlns:a16="http://schemas.microsoft.com/office/drawing/2014/main" id="{04DD929C-E8A7-40EF-A58B-77606AC73D5E}"/>
              </a:ext>
            </a:extLst>
          </p:cNvPr>
          <p:cNvSpPr>
            <a:spLocks noGrp="1"/>
          </p:cNvSpPr>
          <p:nvPr/>
        </p:nvSpPr>
        <p:spPr>
          <a:xfrm>
            <a:off x="649647" y="25539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Text 9">
            <a:extLst>
              <a:ext uri="{FF2B5EF4-FFF2-40B4-BE49-F238E27FC236}">
                <a16:creationId xmlns:a16="http://schemas.microsoft.com/office/drawing/2014/main" id="{89D09C95-B7B0-4EAD-86E4-11097D459FD5}"/>
              </a:ext>
            </a:extLst>
          </p:cNvPr>
          <p:cNvSpPr>
            <a:spLocks noGrp="1"/>
          </p:cNvSpPr>
          <p:nvPr/>
        </p:nvSpPr>
        <p:spPr>
          <a:xfrm>
            <a:off x="64964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Text 10">
            <a:extLst>
              <a:ext uri="{FF2B5EF4-FFF2-40B4-BE49-F238E27FC236}">
                <a16:creationId xmlns:a16="http://schemas.microsoft.com/office/drawing/2014/main" id="{03BCB5E6-7DB6-4DC3-B22A-565503F1BF0B}"/>
              </a:ext>
            </a:extLst>
          </p:cNvPr>
          <p:cNvSpPr>
            <a:spLocks noGrp="1"/>
          </p:cNvSpPr>
          <p:nvPr/>
        </p:nvSpPr>
        <p:spPr>
          <a:xfrm>
            <a:off x="1061127" y="25172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Experience &amp; Interaction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Shape 11">
            <a:extLst>
              <a:ext uri="{FF2B5EF4-FFF2-40B4-BE49-F238E27FC236}">
                <a16:creationId xmlns:a16="http://schemas.microsoft.com/office/drawing/2014/main" id="{C9DA9A37-AD16-4C47-ACD4-8959A31D5E37}"/>
              </a:ext>
            </a:extLst>
          </p:cNvPr>
          <p:cNvSpPr>
            <a:spLocks noGrp="1"/>
          </p:cNvSpPr>
          <p:nvPr/>
        </p:nvSpPr>
        <p:spPr>
          <a:xfrm>
            <a:off x="649647" y="32397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Text 12">
            <a:extLst>
              <a:ext uri="{FF2B5EF4-FFF2-40B4-BE49-F238E27FC236}">
                <a16:creationId xmlns:a16="http://schemas.microsoft.com/office/drawing/2014/main" id="{1BBC9C46-ACE6-4614-8A4F-34488556E82E}"/>
              </a:ext>
            </a:extLst>
          </p:cNvPr>
          <p:cNvSpPr>
            <a:spLocks noGrp="1"/>
          </p:cNvSpPr>
          <p:nvPr/>
        </p:nvSpPr>
        <p:spPr>
          <a:xfrm>
            <a:off x="64964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Text 13">
            <a:extLst>
              <a:ext uri="{FF2B5EF4-FFF2-40B4-BE49-F238E27FC236}">
                <a16:creationId xmlns:a16="http://schemas.microsoft.com/office/drawing/2014/main" id="{FE169AB7-BBB4-444C-B3DD-72A23224EC73}"/>
              </a:ext>
            </a:extLst>
          </p:cNvPr>
          <p:cNvSpPr>
            <a:spLocks noGrp="1"/>
          </p:cNvSpPr>
          <p:nvPr/>
        </p:nvSpPr>
        <p:spPr>
          <a:xfrm>
            <a:off x="106112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Identity &amp; Organizations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Shape 14">
            <a:extLst>
              <a:ext uri="{FF2B5EF4-FFF2-40B4-BE49-F238E27FC236}">
                <a16:creationId xmlns:a16="http://schemas.microsoft.com/office/drawing/2014/main" id="{CB3BBA31-DB9D-41ED-94A2-E665BBBE125B}"/>
              </a:ext>
            </a:extLst>
          </p:cNvPr>
          <p:cNvSpPr>
            <a:spLocks noGrp="1"/>
          </p:cNvSpPr>
          <p:nvPr/>
        </p:nvSpPr>
        <p:spPr>
          <a:xfrm>
            <a:off x="649647" y="39255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 15">
            <a:extLst>
              <a:ext uri="{FF2B5EF4-FFF2-40B4-BE49-F238E27FC236}">
                <a16:creationId xmlns:a16="http://schemas.microsoft.com/office/drawing/2014/main" id="{1F8AB10A-2CAA-4E17-90A2-1E04E422478F}"/>
              </a:ext>
            </a:extLst>
          </p:cNvPr>
          <p:cNvSpPr>
            <a:spLocks noGrp="1"/>
          </p:cNvSpPr>
          <p:nvPr/>
        </p:nvSpPr>
        <p:spPr>
          <a:xfrm>
            <a:off x="64964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Text 16">
            <a:extLst>
              <a:ext uri="{FF2B5EF4-FFF2-40B4-BE49-F238E27FC236}">
                <a16:creationId xmlns:a16="http://schemas.microsoft.com/office/drawing/2014/main" id="{B1671692-316B-4117-8958-8AC933CE23E4}"/>
              </a:ext>
            </a:extLst>
          </p:cNvPr>
          <p:cNvSpPr>
            <a:spLocks noGrp="1"/>
          </p:cNvSpPr>
          <p:nvPr/>
        </p:nvSpPr>
        <p:spPr>
          <a:xfrm>
            <a:off x="1061127" y="38888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t>Intelligence &amp; Knowledge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Shape 17">
            <a:extLst>
              <a:ext uri="{FF2B5EF4-FFF2-40B4-BE49-F238E27FC236}">
                <a16:creationId xmlns:a16="http://schemas.microsoft.com/office/drawing/2014/main" id="{5F0A08CE-8D08-470D-9B94-BA5C9B613282}"/>
              </a:ext>
            </a:extLst>
          </p:cNvPr>
          <p:cNvSpPr>
            <a:spLocks noGrp="1"/>
          </p:cNvSpPr>
          <p:nvPr/>
        </p:nvSpPr>
        <p:spPr>
          <a:xfrm>
            <a:off x="649647" y="46113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Text 18">
            <a:extLst>
              <a:ext uri="{FF2B5EF4-FFF2-40B4-BE49-F238E27FC236}">
                <a16:creationId xmlns:a16="http://schemas.microsoft.com/office/drawing/2014/main" id="{CE0117C1-1B86-44D2-970D-54078423FE9B}"/>
              </a:ext>
            </a:extLst>
          </p:cNvPr>
          <p:cNvSpPr>
            <a:spLocks noGrp="1"/>
          </p:cNvSpPr>
          <p:nvPr/>
        </p:nvSpPr>
        <p:spPr>
          <a:xfrm>
            <a:off x="64964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Text 19">
            <a:extLst>
              <a:ext uri="{FF2B5EF4-FFF2-40B4-BE49-F238E27FC236}">
                <a16:creationId xmlns:a16="http://schemas.microsoft.com/office/drawing/2014/main" id="{B41C6CDC-A225-4945-80B8-10A88EEE9B88}"/>
              </a:ext>
            </a:extLst>
          </p:cNvPr>
          <p:cNvSpPr>
            <a:spLocks noGrp="1"/>
          </p:cNvSpPr>
          <p:nvPr/>
        </p:nvSpPr>
        <p:spPr>
          <a:xfrm>
            <a:off x="106112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Agent Kernel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Shape 20">
            <a:extLst>
              <a:ext uri="{FF2B5EF4-FFF2-40B4-BE49-F238E27FC236}">
                <a16:creationId xmlns:a16="http://schemas.microsoft.com/office/drawing/2014/main" id="{4BCCD321-7BB4-4839-9E3A-33D3BC80EBC0}"/>
              </a:ext>
            </a:extLst>
          </p:cNvPr>
          <p:cNvSpPr>
            <a:spLocks noGrp="1"/>
          </p:cNvSpPr>
          <p:nvPr/>
        </p:nvSpPr>
        <p:spPr>
          <a:xfrm>
            <a:off x="649647" y="52971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Text 21">
            <a:extLst>
              <a:ext uri="{FF2B5EF4-FFF2-40B4-BE49-F238E27FC236}">
                <a16:creationId xmlns:a16="http://schemas.microsoft.com/office/drawing/2014/main" id="{9AA6ABB1-633A-4E6E-9A4D-898DADCB19B9}"/>
              </a:ext>
            </a:extLst>
          </p:cNvPr>
          <p:cNvSpPr>
            <a:spLocks noGrp="1"/>
          </p:cNvSpPr>
          <p:nvPr/>
        </p:nvSpPr>
        <p:spPr>
          <a:xfrm>
            <a:off x="64964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Text 22">
            <a:extLst>
              <a:ext uri="{FF2B5EF4-FFF2-40B4-BE49-F238E27FC236}">
                <a16:creationId xmlns:a16="http://schemas.microsoft.com/office/drawing/2014/main" id="{3B38EE43-27D2-4B85-AD2D-B01F2C52A774}"/>
              </a:ext>
            </a:extLst>
          </p:cNvPr>
          <p:cNvSpPr>
            <a:spLocks noGrp="1"/>
          </p:cNvSpPr>
          <p:nvPr/>
        </p:nvSpPr>
        <p:spPr>
          <a:xfrm>
            <a:off x="1061127" y="5302058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Operational Roots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Shape 23">
            <a:extLst>
              <a:ext uri="{FF2B5EF4-FFF2-40B4-BE49-F238E27FC236}">
                <a16:creationId xmlns:a16="http://schemas.microsoft.com/office/drawing/2014/main" id="{88EE5318-6F34-4145-BBF3-90F2DEF12EA7}"/>
              </a:ext>
            </a:extLst>
          </p:cNvPr>
          <p:cNvSpPr>
            <a:spLocks noGrp="1"/>
          </p:cNvSpPr>
          <p:nvPr/>
        </p:nvSpPr>
        <p:spPr>
          <a:xfrm>
            <a:off x="6273207" y="25539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Text 24">
            <a:extLst>
              <a:ext uri="{FF2B5EF4-FFF2-40B4-BE49-F238E27FC236}">
                <a16:creationId xmlns:a16="http://schemas.microsoft.com/office/drawing/2014/main" id="{350ED758-CE1A-42C9-996C-975336E8F161}"/>
              </a:ext>
            </a:extLst>
          </p:cNvPr>
          <p:cNvSpPr>
            <a:spLocks noGrp="1"/>
          </p:cNvSpPr>
          <p:nvPr/>
        </p:nvSpPr>
        <p:spPr>
          <a:xfrm>
            <a:off x="627320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2" name="Text 25">
            <a:extLst>
              <a:ext uri="{FF2B5EF4-FFF2-40B4-BE49-F238E27FC236}">
                <a16:creationId xmlns:a16="http://schemas.microsoft.com/office/drawing/2014/main" id="{573B4A54-2078-4746-9D6E-68697E619D90}"/>
              </a:ext>
            </a:extLst>
          </p:cNvPr>
          <p:cNvSpPr>
            <a:spLocks noGrp="1"/>
          </p:cNvSpPr>
          <p:nvPr/>
        </p:nvSpPr>
        <p:spPr>
          <a:xfrm>
            <a:off x="6684687" y="2528083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Workflows, Routines &amp; Loops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Shape 26">
            <a:extLst>
              <a:ext uri="{FF2B5EF4-FFF2-40B4-BE49-F238E27FC236}">
                <a16:creationId xmlns:a16="http://schemas.microsoft.com/office/drawing/2014/main" id="{2DBEC732-C9DC-4998-B189-2D3390B63BCF}"/>
              </a:ext>
            </a:extLst>
          </p:cNvPr>
          <p:cNvSpPr>
            <a:spLocks noGrp="1"/>
          </p:cNvSpPr>
          <p:nvPr/>
        </p:nvSpPr>
        <p:spPr>
          <a:xfrm>
            <a:off x="6273207" y="32397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Text 27">
            <a:extLst>
              <a:ext uri="{FF2B5EF4-FFF2-40B4-BE49-F238E27FC236}">
                <a16:creationId xmlns:a16="http://schemas.microsoft.com/office/drawing/2014/main" id="{D7AA12D3-E532-493E-8841-37A08663B4F6}"/>
              </a:ext>
            </a:extLst>
          </p:cNvPr>
          <p:cNvSpPr>
            <a:spLocks noGrp="1"/>
          </p:cNvSpPr>
          <p:nvPr/>
        </p:nvSpPr>
        <p:spPr>
          <a:xfrm>
            <a:off x="627320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Text 28">
            <a:extLst>
              <a:ext uri="{FF2B5EF4-FFF2-40B4-BE49-F238E27FC236}">
                <a16:creationId xmlns:a16="http://schemas.microsoft.com/office/drawing/2014/main" id="{38582139-A5D1-4C4B-91D3-275176B23820}"/>
              </a:ext>
            </a:extLst>
          </p:cNvPr>
          <p:cNvSpPr>
            <a:spLocks noGrp="1"/>
          </p:cNvSpPr>
          <p:nvPr/>
        </p:nvSpPr>
        <p:spPr>
          <a:xfrm>
            <a:off x="668468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Capabilities &amp; Execution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Shape 29">
            <a:extLst>
              <a:ext uri="{FF2B5EF4-FFF2-40B4-BE49-F238E27FC236}">
                <a16:creationId xmlns:a16="http://schemas.microsoft.com/office/drawing/2014/main" id="{B740E535-B9D7-487B-A02D-71BC4ECB4CA4}"/>
              </a:ext>
            </a:extLst>
          </p:cNvPr>
          <p:cNvSpPr>
            <a:spLocks noGrp="1"/>
          </p:cNvSpPr>
          <p:nvPr/>
        </p:nvSpPr>
        <p:spPr>
          <a:xfrm>
            <a:off x="6273207" y="39255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Text 30">
            <a:extLst>
              <a:ext uri="{FF2B5EF4-FFF2-40B4-BE49-F238E27FC236}">
                <a16:creationId xmlns:a16="http://schemas.microsoft.com/office/drawing/2014/main" id="{AD2FFEB0-14A7-440E-BB87-24C73DA1BF4C}"/>
              </a:ext>
            </a:extLst>
          </p:cNvPr>
          <p:cNvSpPr>
            <a:spLocks noGrp="1"/>
          </p:cNvSpPr>
          <p:nvPr/>
        </p:nvSpPr>
        <p:spPr>
          <a:xfrm>
            <a:off x="627320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 31">
            <a:extLst>
              <a:ext uri="{FF2B5EF4-FFF2-40B4-BE49-F238E27FC236}">
                <a16:creationId xmlns:a16="http://schemas.microsoft.com/office/drawing/2014/main" id="{4C7B5E41-8723-48CD-BC62-C3A9A7958038}"/>
              </a:ext>
            </a:extLst>
          </p:cNvPr>
          <p:cNvSpPr>
            <a:spLocks noGrp="1"/>
          </p:cNvSpPr>
          <p:nvPr/>
        </p:nvSpPr>
        <p:spPr>
          <a:xfrm>
            <a:off x="6684687" y="3898778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Trust, Authority &amp; Safety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Shape 32">
            <a:extLst>
              <a:ext uri="{FF2B5EF4-FFF2-40B4-BE49-F238E27FC236}">
                <a16:creationId xmlns:a16="http://schemas.microsoft.com/office/drawing/2014/main" id="{1931142D-A0F7-4868-A3A8-21DBDE355E40}"/>
              </a:ext>
            </a:extLst>
          </p:cNvPr>
          <p:cNvSpPr>
            <a:spLocks noGrp="1"/>
          </p:cNvSpPr>
          <p:nvPr/>
        </p:nvSpPr>
        <p:spPr>
          <a:xfrm>
            <a:off x="6273207" y="46113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Text 33">
            <a:extLst>
              <a:ext uri="{FF2B5EF4-FFF2-40B4-BE49-F238E27FC236}">
                <a16:creationId xmlns:a16="http://schemas.microsoft.com/office/drawing/2014/main" id="{6EF54F83-55F8-4570-B130-B0D4804A354F}"/>
              </a:ext>
            </a:extLst>
          </p:cNvPr>
          <p:cNvSpPr>
            <a:spLocks noGrp="1"/>
          </p:cNvSpPr>
          <p:nvPr/>
        </p:nvSpPr>
        <p:spPr>
          <a:xfrm>
            <a:off x="627320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Text 34">
            <a:extLst>
              <a:ext uri="{FF2B5EF4-FFF2-40B4-BE49-F238E27FC236}">
                <a16:creationId xmlns:a16="http://schemas.microsoft.com/office/drawing/2014/main" id="{A8B46107-B766-4267-9D76-7DDEC33A6475}"/>
              </a:ext>
            </a:extLst>
          </p:cNvPr>
          <p:cNvSpPr>
            <a:spLocks noGrp="1"/>
          </p:cNvSpPr>
          <p:nvPr/>
        </p:nvSpPr>
        <p:spPr>
          <a:xfrm>
            <a:off x="668468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External Systems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Shape 35">
            <a:extLst>
              <a:ext uri="{FF2B5EF4-FFF2-40B4-BE49-F238E27FC236}">
                <a16:creationId xmlns:a16="http://schemas.microsoft.com/office/drawing/2014/main" id="{C14BD1B5-30D3-4EE6-8529-2E84394EA8DA}"/>
              </a:ext>
            </a:extLst>
          </p:cNvPr>
          <p:cNvSpPr>
            <a:spLocks noGrp="1"/>
          </p:cNvSpPr>
          <p:nvPr/>
        </p:nvSpPr>
        <p:spPr>
          <a:xfrm>
            <a:off x="6273207" y="52971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Text 36">
            <a:extLst>
              <a:ext uri="{FF2B5EF4-FFF2-40B4-BE49-F238E27FC236}">
                <a16:creationId xmlns:a16="http://schemas.microsoft.com/office/drawing/2014/main" id="{851527BD-DD3A-4E87-B974-10B98A5D0FD5}"/>
              </a:ext>
            </a:extLst>
          </p:cNvPr>
          <p:cNvSpPr>
            <a:spLocks noGrp="1"/>
          </p:cNvSpPr>
          <p:nvPr/>
        </p:nvSpPr>
        <p:spPr>
          <a:xfrm>
            <a:off x="627320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Text 37">
            <a:extLst>
              <a:ext uri="{FF2B5EF4-FFF2-40B4-BE49-F238E27FC236}">
                <a16:creationId xmlns:a16="http://schemas.microsoft.com/office/drawing/2014/main" id="{2904190D-C8FF-4A72-A7AB-21BF34739C8A}"/>
              </a:ext>
            </a:extLst>
          </p:cNvPr>
          <p:cNvSpPr>
            <a:spLocks noGrp="1"/>
          </p:cNvSpPr>
          <p:nvPr/>
        </p:nvSpPr>
        <p:spPr>
          <a:xfrm>
            <a:off x="6684687" y="52604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Outcomes &amp; Learning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EXPERIENCIA Y KERNEL TIENEN TRABAJOS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superficie mantiene continuidad con la persona; el kernel mantiene continuidad de ejecución.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Ambos deben referirse al mismo trabajo durable, identidad, políticas y evidencia.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EXPERIENCIA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interacción humana necesita: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Un sol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Gu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cross-channel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Vistas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contextuales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Notificaciones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aprobaciones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Explicaciones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recuperación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KERNEL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ejecución necesita: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Plan y selección de acción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Tool loop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Estado de ejecución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Reintentos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Escalamiento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Verificación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MEMORIA NO ES LO MISMO QUE BRAIN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Memoria conserva señales útiles. El Brain organiza, deriva y aplica conocimiento para mejorar decisiones y trabajo.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Embeddings y retrieval ayudan a localizar contexto; no sustituyen estado, autoridad ni ownership.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MEMORIA + RETRIEVAL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Recupera evidencia relevante: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Episodios e interacciones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Hechos semánticos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Procedimientos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Artefactos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Búsqueda híbrida y filtros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BRAIN (TARGET EN GU OS)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Construye cognición: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Modelos de relaciones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Señales derivadas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Contexto compilado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Políticas de conocimiento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Aprendizaje organizacional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NO HAY UNA SOLA “MEMORIA”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Diferentes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preguntas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requieren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diferentes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formas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persistencia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recuperación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ownership.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Llamar memoria a todo oculta decisiones de arquitectura y gobernanza.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EPISÓDICA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ocurrió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Interacciones, acciones, observaciones y resultados con tiempo y procedencia.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SEMÁNTICA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sabemos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Hechos, relaciones, conceptos y señales que pueden mantenerse o derivarse.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PROCEDURAL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se hace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Instrucciones, políticas, skills, workflows y patrones de ejecución.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5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memoria sólo es útil si su procedencia, alcance y autoridad son explícitos.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EMBEDDINGS SON UN ÍNDICE, NO LA VERDAD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 embeddings ayudan a encontrar material relacionado; la recuperación decide qué evidencia entra al contexto.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respuesta confiable combina similitud con metadatos, filtros, recencia, procedencia y autoridad.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EMBEDDINGS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Representación para localizar: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Similitud semántica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Clustering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Búsqueda aproximada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Candidatos relacionados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RETRIEVAL + CONTEXT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Política para usar evidencia: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Filtros de organización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Tipo y procedencia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Recencia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Reranking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Presupuesto de contexto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Citas/evidencia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LA EJECUCIÓN CONFIABLE ES MULTICAPA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Tools,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aislamiento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verificación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reducen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riesgos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diferentes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ninguna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defensa basta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sí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sola.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autoridad se evalúa antes del efecto, la evidencia después y la observabilidad durante todo el ciclo.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CAPABILITIES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puede intentar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Contratos de entrada/salida, idempotencia, límites y semántica de resultado.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TRUST BOUNDARY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Dónde puede operar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Permisos, sandbox, scopes de organización, canales e integraciones externas.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VERIFICACIÓN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demuestra éxito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Checks deterministas, evidencia, evaluación, revisión humana o combinación.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Permitir una tool no equivale a autorizar cualquier uso.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UN EJEMPLO: INCORPORAR UNA PROPIEDAD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valor aparece cuando las responsabilidades se conectan, no cuando un prompt es impresionante.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caso sencillo permite ver agente, harness y sistema operativo trabajando juntos.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Entender y planear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42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Gu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interpreta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el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identifica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faltante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propone el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Ejecutar y gobernar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 usan capabilities; políticas pausan efectos sensibles y solicitan aporte humano.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Verificar y aprender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evidencia actualiza Case, organización y señales para el siguiente contexto.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conversación inicia o guía; el sistema conserva la responsabilidad.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068D2387-91A3-4A37-8C0A-E1F4C2B18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07CE398A-135A-495F-9B48-56598EE386C8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CURRENT → TARGET → VISION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A56FC0E7-BBD3-49B3-BE37-8AA683CBB9BD}"/>
              </a:ext>
            </a:extLst>
          </p:cNvPr>
          <p:cNvSpPr>
            <a:spLocks noGrp="1"/>
          </p:cNvSpPr>
          <p:nvPr/>
        </p:nvSpPr>
        <p:spPr>
          <a:xfrm>
            <a:off x="567000" y="650597"/>
            <a:ext cx="10195200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78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mapa conceptual no debe confundirse con estado de implementación.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B6C80F6D-5004-4B3A-97B0-D3CBA898C8F2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0627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En Gu OS, “Current” se valida contra repo; “Target” contra artefactos aprobados; “Vision” contra doctrina y roadmap.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7CB78A67-0BC4-41B1-A13D-D2DE4B72944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683A80DD-6F0C-4F61-B3B9-C43AD78BE54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CBA4BF8C-F7AB-4E65-9376-57584447DC0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280FE400-3E11-4E05-A493-1305095328D9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1212E377-D908-46F8-AF92-EA2A1733E733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Responsabilidad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34368E52-4134-4B44-ABA4-C112F47C623E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ED5BD8B7-2739-4438-AE08-1AB7B8EFA83E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D4389F78-392C-4258-948B-DC099B963288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35FADD88-0043-47A1-923B-0170C66967CB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3A4D5E7C-2CE7-4ED2-B487-1E97C26837A6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1DF6EB2B-8627-4EC2-AC3E-839B2BB2D391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65FAA4C4-788B-46C2-9825-CA6798E83DA0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C40B1278-78EA-445B-BD57-BE2943F47BE4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Trabajo durable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225FCE25-0FF0-4BA8-8C0A-54DA9BDBE47E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D5D85398-12C8-4F3C-828B-AB2E174617C8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Cases, Work/Impact Planes y durable task foundations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9174AA93-E561-4233-8968-3A78AE76F936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62E9A645-530F-4119-9221-556FFB8FD75B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Supervisión y workflows flexibles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F2BE6532-F179-4D4C-9A9E-FC13DFF4ACA3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0A09A824-143F-4514-8B97-60160728274A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Responsabilidades cross-domain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23616B52-E3A7-4FBB-8525-ABBE7585F6FA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50C743EA-79F3-4CF9-A016-59D3E36C1114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Experience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674CC7C9-DCA0-4454-9485-0A23FBA43888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790622E9-411C-4047-89EC-C29E8729DEFE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Chat, Studio y superficies actuales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BA8AE00E-A3B0-4C38-8D5E-ED7041DD187C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0CF37F82-C0D7-4EDC-A5E8-AA32F8887821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cross-channel explícita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2810C883-8CF2-489A-AE18-623A16E9A4FC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AC2EDA0B-9A5F-4C20-B03A-F6830CA884C2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Una Gu, múltiples superficies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EF884D38-DD74-401B-B715-ADBCCC198039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8B885F3C-1AC5-4FDC-817D-1DB2660F6EF4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Knowledge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195B9512-695C-42C5-8460-40334944A7D7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8D010195-D595-4212-B6D8-BEB21A5577B8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 memory + account context; broad Brain target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6CF808A2-10A1-4D4A-AC59-ACA0FEEE70D7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1033ACC4-86DB-425A-B876-CAEFA3A7C636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compilado y ownership organizacional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1E0E6B5D-904C-4F8F-8C4D-F129C698C5CF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1BDD6D6A-FC08-4F03-9BB0-60E165E8CEB6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5A37EDCE-48CA-4351-98E3-2587CA5A53D4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B5EEF3FD-37A0-4DEC-BA02-3090821A9974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Governance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D4C690DF-B1B0-4D27-9BFA-16BE95152007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2487BFE1-0130-453B-B5D0-7E2F396C6F56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Políticas, HITL y trazabilidad existentes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61DA3049-7F36-409E-9C2E-3FD3C5A0FFF9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B2A88F81-CA47-441F-BD51-0D1DC0B6B45D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 reusable por capability/caso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A36FF717-EFD7-4D06-AC8E-6CE117C4DB0A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F2478A0F-58F9-48AB-9F98-29ABB64D1D72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Autonomía gobernada a escala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5D0EA355-1CFF-4ADF-A68C-32FA2E3C04F4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A0743C2D-D327-4AC0-8FA0-F24EBB89B240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Learning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415F272A-81A1-4C4F-8CFB-09C0D898409D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89575DA1-4974-4882-8AB3-4854DB940D86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 Plane y evaluación foundations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2F67F5BD-037D-4292-98A6-9BDA679FE12F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D82D087C-E15E-4A29-A55F-A64406C3C2B7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Loops cerrados por resultado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6BEE19B8-03B5-4DBC-B274-E53450D8E381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B5FFBEDC-F9F9-4399-85F3-87F35F70BB23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Optimización organizacional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648A8FB7-0F48-4FF7-8193-AB37858E3D14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039E89D5-271C-4B4F-8325-D5D5E85B335F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Nunca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presentes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target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como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current sin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verificable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8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schema, bindings y RLS; runtime parcial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Adopción uniforme de runtime, scopes y multi-seat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Multi-org con continuidad gobernada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Execution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Graph, tools, HITL, compaction y memoria personal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Planificación y recuperación más dinámicas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Ejecución sustituible y resiliente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618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18F6DEF-7D48-40BC-B18B-856FBF23F32D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Piensa en responsabilidades,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no sólo en modelos.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9D48F3-5576-4724-8683-EA137FCD39ED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D8CFEA"/>
                </a:solidFill>
                <a:latin typeface="Inter"/>
                <a:ea typeface="Inter"/>
                <a:cs typeface="Inter"/>
              </a:rPr>
              <a:t>El modelo razona. El sistema hace el trabajo confiable.</a:t>
            </a:r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5DBDF2-E7DA-462E-B9BD-C3A35A73DB2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B1C6C81E-38B9-7560-621D-5A151A79DF9B}" type="slidenum">
              <a:rPr/>
              <a:t>18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2366</Words>
  <Application>Microsoft Office PowerPoint</Application>
  <DocSecurity>0</DocSecurity>
  <PresentationFormat>Panorámica</PresentationFormat>
  <Paragraphs>434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</cp:revision>
  <dcterms:created xsi:type="dcterms:W3CDTF">2026-09-08T13:16:02Z</dcterms:created>
  <dcterms:modified xsi:type="dcterms:W3CDTF">2026-09-08T16:03:47Z</dcterms:modified>
</cp:coreProperties>
</file>