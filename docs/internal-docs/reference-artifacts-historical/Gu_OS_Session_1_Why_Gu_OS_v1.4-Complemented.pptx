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7" r:id="rId18"/>
    <p:sldId id="278" r:id="rId19"/>
    <p:sldId id="279" r:id="rId20"/>
    <p:sldId id="271" r:id="rId21"/>
    <p:sldId id="272" r:id="rId2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373" autoAdjust="0"/>
  </p:normalViewPr>
  <p:slideViewPr>
    <p:cSldViewPr snapToGrid="0">
      <p:cViewPr>
        <p:scale>
          <a:sx n="90" d="100"/>
          <a:sy n="90" d="100"/>
        </p:scale>
        <p:origin x="556" y="-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1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docs/principles/gu-os-principles-and-design-doctrine.md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docs/roadmap/gu-os-evolution-roadmap.md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/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docs/principles/gu-os-principles-and-design-doctrine.md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docs/product/PRD.md</a:t>
            </a:r>
          </a:p>
          <a:p>
            <a:r>
              <a:t>- docs/roadmap/gu-os-evolution-roadmap.md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1200" b="0" u="none">
                <a:solidFill>
                  <a:srgbClr val="000000"/>
                </a:solidFill>
                <a:latin typeface="+mn-lt"/>
                <a:ea typeface="+mn-lt"/>
                <a:cs typeface="+mn-lt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1200" b="0" u="none">
              <a:solidFill>
                <a:srgbClr val="000000"/>
              </a:solidFill>
              <a:latin typeface="+mn-lt"/>
              <a:ea typeface="+mn-lt"/>
              <a:cs typeface="+mn-lt"/>
            </a:endParaRPr>
          </a:p>
          <a:p>
            <a:pPr indent="0">
              <a:lnSpc>
                <a:spcPct val="100000"/>
              </a:lnSpc>
              <a:buNone/>
            </a:pPr>
            <a:r>
              <a:rPr sz="1200" b="0" u="none">
                <a:solidFill>
                  <a:srgbClr val="000000"/>
                </a:solidFill>
                <a:latin typeface="+mn-lt"/>
                <a:ea typeface="+mn-lt"/>
                <a:cs typeface="+mn-lt"/>
              </a:rPr>
              <a:t>- docs/roadmap/gu-os-evolution-roadmap.md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docs/principles/gu-os-principles-and-design-doctrine.md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docs/manuals/gu-os-experience-architecture.md</a:t>
            </a:r>
          </a:p>
          <a:p>
            <a:pPr indent="0">
              <a:lnSpc>
                <a:spcPct val="100000"/>
              </a:lnSpc>
              <a:buNone/>
            </a:pPr>
            <a:r>
              <a:t>- docs/operational-cases/architecture.md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buNone/>
            </a:pPr>
            <a:r>
              <a:t>- docs/roadmap/gu-os-evolution-roadmap.md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docs/product/roadmap-increments/r1-relationship-operations-v1/slice-plan.md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1200" b="0" u="none">
                <a:solidFill>
                  <a:srgbClr val="000000"/>
                </a:solidFill>
                <a:latin typeface="+mn-lt"/>
                <a:ea typeface="+mn-lt"/>
                <a:cs typeface="+mn-lt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1200" b="0" u="none">
              <a:solidFill>
                <a:srgbClr val="000000"/>
              </a:solidFill>
              <a:latin typeface="+mn-lt"/>
              <a:ea typeface="+mn-lt"/>
              <a:cs typeface="+mn-lt"/>
            </a:endParaRPr>
          </a:p>
          <a:p>
            <a:pPr indent="0">
              <a:lnSpc>
                <a:spcPct val="100000"/>
              </a:lnSpc>
              <a:buNone/>
            </a:pPr>
            <a:r>
              <a:rPr sz="1200" b="0" u="none">
                <a:solidFill>
                  <a:srgbClr val="000000"/>
                </a:solidFill>
                <a:latin typeface="+mn-lt"/>
                <a:ea typeface="+mn-lt"/>
                <a:cs typeface="+mn-lt"/>
              </a:rPr>
              <a:t>- docs/roadmap/gu-os-evolution-roadmap.md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docs/product/PRD.md</a:t>
            </a:r>
          </a:p>
          <a:p>
            <a:r>
              <a:t>- docs/roadmap/gu-os-evolution-roadmap.md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docs/roadmap/gu-os-evolution-roadmap.md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docs/roadmap/gu-os-evolution-roadmap.md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docs/manuals/gu-os-experience-architecture.md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docs/brain/business-and-platform-brain-boundary.md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docs/roadmap/gu-os-evolution-roadmap.md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PROPÓSITO DE LA LÁMINA</a:t>
            </a:r>
          </a:p>
          <a:p>
            <a:r>
              <a:rPr dirty="0"/>
              <a:t>Esta </a:t>
            </a:r>
            <a:r>
              <a:rPr dirty="0" err="1"/>
              <a:t>lámina</a:t>
            </a:r>
            <a:r>
              <a:rPr dirty="0"/>
              <a:t>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distinta</a:t>
            </a:r>
            <a:r>
              <a:rPr dirty="0"/>
              <a:t> de la </a:t>
            </a:r>
            <a:r>
              <a:rPr dirty="0" err="1"/>
              <a:t>lámina</a:t>
            </a:r>
            <a:r>
              <a:rPr dirty="0"/>
              <a:t> </a:t>
            </a:r>
            <a:r>
              <a:rPr dirty="0" err="1"/>
              <a:t>siguiente</a:t>
            </a:r>
            <a:r>
              <a:rPr dirty="0"/>
              <a:t>: 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podría</a:t>
            </a:r>
            <a:r>
              <a:rPr dirty="0"/>
              <a:t> </a:t>
            </a:r>
            <a:r>
              <a:rPr dirty="0" err="1"/>
              <a:t>entrar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Roadmap Increment. El </a:t>
            </a:r>
            <a:r>
              <a:rPr dirty="0" err="1"/>
              <a:t>eje</a:t>
            </a:r>
            <a:r>
              <a:rPr dirty="0"/>
              <a:t> horizontal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relativo</a:t>
            </a:r>
            <a:r>
              <a:rPr dirty="0"/>
              <a:t> y </a:t>
            </a:r>
            <a:r>
              <a:rPr dirty="0" err="1"/>
              <a:t>condiciones</a:t>
            </a:r>
            <a:r>
              <a:rPr dirty="0"/>
              <a:t> de </a:t>
            </a:r>
            <a:r>
              <a:rPr dirty="0" err="1"/>
              <a:t>avance</a:t>
            </a:r>
            <a:r>
              <a:rPr dirty="0"/>
              <a:t>. No </a:t>
            </a:r>
            <a:r>
              <a:rPr dirty="0" err="1"/>
              <a:t>promete</a:t>
            </a:r>
            <a:r>
              <a:rPr dirty="0"/>
              <a:t> </a:t>
            </a:r>
            <a:r>
              <a:rPr dirty="0" err="1"/>
              <a:t>trimestres</a:t>
            </a:r>
            <a:r>
              <a:rPr dirty="0"/>
              <a:t>, meses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fechas</a:t>
            </a:r>
            <a:r>
              <a:rPr dirty="0"/>
              <a:t> de release.</a:t>
            </a:r>
          </a:p>
          <a:p>
            <a:endParaRPr dirty="0"/>
          </a:p>
          <a:p>
            <a:r>
              <a:rPr dirty="0"/>
              <a:t>GUION DIDÁCTICO</a:t>
            </a:r>
          </a:p>
          <a:p>
            <a:r>
              <a:rPr dirty="0"/>
              <a:t>1. </a:t>
            </a:r>
            <a:r>
              <a:rPr dirty="0" err="1"/>
              <a:t>Empiece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explicar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roadmap </a:t>
            </a:r>
            <a:r>
              <a:rPr dirty="0" err="1"/>
              <a:t>canónico</a:t>
            </a:r>
            <a:r>
              <a:rPr dirty="0"/>
              <a:t> </a:t>
            </a:r>
            <a:r>
              <a:rPr dirty="0" err="1"/>
              <a:t>gobierna</a:t>
            </a:r>
            <a:r>
              <a:rPr dirty="0"/>
              <a:t> la </a:t>
            </a:r>
            <a:r>
              <a:rPr dirty="0" err="1"/>
              <a:t>secuencia</a:t>
            </a:r>
            <a:r>
              <a:rPr dirty="0"/>
              <a:t> de </a:t>
            </a:r>
            <a:r>
              <a:rPr dirty="0" err="1"/>
              <a:t>pruebas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. La </a:t>
            </a:r>
            <a:r>
              <a:rPr dirty="0" err="1"/>
              <a:t>planeación</a:t>
            </a:r>
            <a:r>
              <a:rPr dirty="0"/>
              <a:t> de </a:t>
            </a:r>
            <a:r>
              <a:rPr dirty="0" err="1"/>
              <a:t>ejecución</a:t>
            </a:r>
            <a:r>
              <a:rPr dirty="0"/>
              <a:t> </a:t>
            </a:r>
            <a:r>
              <a:rPr dirty="0" err="1"/>
              <a:t>gobierna</a:t>
            </a:r>
            <a:r>
              <a:rPr dirty="0"/>
              <a:t> </a:t>
            </a:r>
            <a:r>
              <a:rPr dirty="0" err="1"/>
              <a:t>fechas</a:t>
            </a:r>
            <a:r>
              <a:rPr dirty="0"/>
              <a:t>, </a:t>
            </a:r>
            <a:r>
              <a:rPr dirty="0" err="1"/>
              <a:t>capacidad</a:t>
            </a:r>
            <a:r>
              <a:rPr dirty="0"/>
              <a:t> disponible y </a:t>
            </a:r>
            <a:r>
              <a:rPr dirty="0" err="1"/>
              <a:t>compromisos</a:t>
            </a:r>
            <a:r>
              <a:rPr dirty="0"/>
              <a:t> </a:t>
            </a:r>
            <a:r>
              <a:rPr dirty="0" err="1"/>
              <a:t>concretos</a:t>
            </a:r>
            <a:r>
              <a:rPr dirty="0"/>
              <a:t>. </a:t>
            </a:r>
            <a:r>
              <a:rPr dirty="0" err="1"/>
              <a:t>Separar</a:t>
            </a:r>
            <a:r>
              <a:rPr dirty="0"/>
              <a:t> ambas </a:t>
            </a:r>
            <a:r>
              <a:rPr dirty="0" err="1"/>
              <a:t>cosas</a:t>
            </a:r>
            <a:r>
              <a:rPr dirty="0"/>
              <a:t>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estimación</a:t>
            </a:r>
            <a:r>
              <a:rPr dirty="0"/>
              <a:t> se </a:t>
            </a:r>
            <a:r>
              <a:rPr dirty="0" err="1"/>
              <a:t>convierta</a:t>
            </a:r>
            <a:r>
              <a:rPr dirty="0"/>
              <a:t> </a:t>
            </a:r>
            <a:r>
              <a:rPr dirty="0" err="1"/>
              <a:t>accidentalmente</a:t>
            </a:r>
            <a:r>
              <a:rPr dirty="0"/>
              <a:t> en </a:t>
            </a:r>
            <a:r>
              <a:rPr dirty="0" err="1"/>
              <a:t>promesa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2. En AHORA </a:t>
            </a:r>
            <a:r>
              <a:rPr dirty="0" err="1"/>
              <a:t>conviven</a:t>
            </a:r>
            <a:r>
              <a:rPr dirty="0"/>
              <a:t> cuatro </a:t>
            </a:r>
            <a:r>
              <a:rPr dirty="0" err="1"/>
              <a:t>movimientos</a:t>
            </a:r>
            <a:r>
              <a:rPr dirty="0"/>
              <a:t>. R0 </a:t>
            </a:r>
            <a:r>
              <a:rPr dirty="0" err="1"/>
              <a:t>cierra</a:t>
            </a:r>
            <a:r>
              <a:rPr dirty="0"/>
              <a:t> la base actual y la </a:t>
            </a:r>
            <a:r>
              <a:rPr dirty="0" err="1"/>
              <a:t>convierte</a:t>
            </a:r>
            <a:r>
              <a:rPr dirty="0"/>
              <a:t> en un baseline </a:t>
            </a:r>
            <a:r>
              <a:rPr dirty="0" err="1"/>
              <a:t>piloto</a:t>
            </a:r>
            <a:r>
              <a:rPr dirty="0"/>
              <a:t> </a:t>
            </a:r>
            <a:r>
              <a:rPr dirty="0" err="1"/>
              <a:t>confiable</a:t>
            </a:r>
            <a:r>
              <a:rPr dirty="0"/>
              <a:t>. R1 </a:t>
            </a:r>
            <a:r>
              <a:rPr dirty="0" err="1"/>
              <a:t>asume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de </a:t>
            </a:r>
            <a:r>
              <a:rPr dirty="0" err="1"/>
              <a:t>mantener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oportunidad</a:t>
            </a:r>
            <a:r>
              <a:rPr dirty="0"/>
              <a:t> </a:t>
            </a:r>
            <a:r>
              <a:rPr dirty="0" err="1"/>
              <a:t>activa</a:t>
            </a:r>
            <a:r>
              <a:rPr dirty="0"/>
              <a:t> y </a:t>
            </a:r>
            <a:r>
              <a:rPr dirty="0" err="1"/>
              <a:t>acercarla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visita. R2 </a:t>
            </a:r>
            <a:r>
              <a:rPr dirty="0" err="1"/>
              <a:t>comienza</a:t>
            </a:r>
            <a:r>
              <a:rPr dirty="0"/>
              <a:t> a </a:t>
            </a:r>
            <a:r>
              <a:rPr dirty="0" err="1"/>
              <a:t>medir</a:t>
            </a:r>
            <a:r>
              <a:rPr dirty="0"/>
              <a:t> outcomes </a:t>
            </a:r>
            <a:r>
              <a:rPr dirty="0" err="1"/>
              <a:t>desde</a:t>
            </a:r>
            <a:r>
              <a:rPr dirty="0"/>
              <a:t> el </a:t>
            </a:r>
            <a:r>
              <a:rPr dirty="0" err="1"/>
              <a:t>inicio</a:t>
            </a:r>
            <a:r>
              <a:rPr dirty="0"/>
              <a:t> de R1. R3 </a:t>
            </a:r>
            <a:r>
              <a:rPr dirty="0" err="1"/>
              <a:t>aporta</a:t>
            </a:r>
            <a:r>
              <a:rPr dirty="0"/>
              <a:t> </a:t>
            </a:r>
            <a:r>
              <a:rPr dirty="0" err="1"/>
              <a:t>sólo</a:t>
            </a:r>
            <a:r>
              <a:rPr dirty="0"/>
              <a:t> la </a:t>
            </a:r>
            <a:r>
              <a:rPr dirty="0" err="1"/>
              <a:t>identidad</a:t>
            </a:r>
            <a:r>
              <a:rPr dirty="0"/>
              <a:t>, </a:t>
            </a:r>
            <a:r>
              <a:rPr dirty="0" err="1"/>
              <a:t>membresía</a:t>
            </a:r>
            <a:r>
              <a:rPr dirty="0"/>
              <a:t>, </a:t>
            </a:r>
            <a:r>
              <a:rPr dirty="0" err="1"/>
              <a:t>asignación</a:t>
            </a:r>
            <a:r>
              <a:rPr dirty="0"/>
              <a:t> y </a:t>
            </a:r>
            <a:r>
              <a:rPr dirty="0" err="1"/>
              <a:t>visibilidad</a:t>
            </a:r>
            <a:r>
              <a:rPr dirty="0"/>
              <a:t> multi-</a:t>
            </a:r>
            <a:r>
              <a:rPr dirty="0" err="1"/>
              <a:t>asesor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R1 </a:t>
            </a:r>
            <a:r>
              <a:rPr dirty="0" err="1"/>
              <a:t>necesita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3. R2 </a:t>
            </a:r>
            <a:r>
              <a:rPr dirty="0" err="1"/>
              <a:t>aparece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barra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solapa</a:t>
            </a:r>
            <a:r>
              <a:rPr dirty="0"/>
              <a:t> con R1 </a:t>
            </a:r>
            <a:r>
              <a:rPr dirty="0" err="1"/>
              <a:t>porque</a:t>
            </a:r>
            <a:r>
              <a:rPr dirty="0"/>
              <a:t> no es un </a:t>
            </a:r>
            <a:r>
              <a:rPr dirty="0" err="1"/>
              <a:t>proyecto</a:t>
            </a:r>
            <a:r>
              <a:rPr dirty="0"/>
              <a:t> de analytics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empiece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. Debe </a:t>
            </a:r>
            <a:r>
              <a:rPr dirty="0" err="1"/>
              <a:t>enlazar</a:t>
            </a:r>
            <a:r>
              <a:rPr dirty="0"/>
              <a:t> lead, </a:t>
            </a:r>
            <a:r>
              <a:rPr dirty="0" err="1"/>
              <a:t>solicitud</a:t>
            </a:r>
            <a:r>
              <a:rPr dirty="0"/>
              <a:t> de visita y visita </a:t>
            </a:r>
            <a:r>
              <a:rPr dirty="0" err="1"/>
              <a:t>atendida</a:t>
            </a:r>
            <a:r>
              <a:rPr dirty="0"/>
              <a:t>, </a:t>
            </a:r>
            <a:r>
              <a:rPr dirty="0" err="1"/>
              <a:t>además</a:t>
            </a:r>
            <a:r>
              <a:rPr dirty="0"/>
              <a:t> de </a:t>
            </a:r>
            <a:r>
              <a:rPr dirty="0" err="1"/>
              <a:t>demostrar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más de un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materialmente</a:t>
            </a:r>
            <a:r>
              <a:rPr dirty="0"/>
              <a:t> </a:t>
            </a:r>
            <a:r>
              <a:rPr dirty="0" err="1"/>
              <a:t>diferente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alcanzar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delegado</a:t>
            </a:r>
            <a:r>
              <a:rPr dirty="0"/>
              <a:t> </a:t>
            </a:r>
            <a:r>
              <a:rPr dirty="0" err="1"/>
              <a:t>valioso</a:t>
            </a:r>
            <a:r>
              <a:rPr dirty="0"/>
              <a:t> con </a:t>
            </a:r>
            <a:r>
              <a:rPr dirty="0" err="1"/>
              <a:t>poca</a:t>
            </a:r>
            <a:r>
              <a:rPr dirty="0"/>
              <a:t> </a:t>
            </a:r>
            <a:r>
              <a:rPr dirty="0" err="1"/>
              <a:t>ingeniería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4. R3 </a:t>
            </a:r>
            <a:r>
              <a:rPr dirty="0" err="1"/>
              <a:t>aparece</a:t>
            </a:r>
            <a:r>
              <a:rPr dirty="0"/>
              <a:t> en dos </a:t>
            </a:r>
            <a:r>
              <a:rPr dirty="0" err="1"/>
              <a:t>segmentos</a:t>
            </a:r>
            <a:r>
              <a:rPr dirty="0"/>
              <a:t>. El primer </a:t>
            </a:r>
            <a:r>
              <a:rPr dirty="0" err="1"/>
              <a:t>segmento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R1. El </a:t>
            </a:r>
            <a:r>
              <a:rPr dirty="0" err="1"/>
              <a:t>segundo</a:t>
            </a:r>
            <a:r>
              <a:rPr dirty="0"/>
              <a:t> no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 </a:t>
            </a:r>
            <a:r>
              <a:rPr dirty="0" err="1"/>
              <a:t>fija</a:t>
            </a:r>
            <a:r>
              <a:rPr dirty="0"/>
              <a:t>: </a:t>
            </a:r>
            <a:r>
              <a:rPr dirty="0" err="1"/>
              <a:t>entra</a:t>
            </a:r>
            <a:r>
              <a:rPr dirty="0"/>
              <a:t> </a:t>
            </a:r>
            <a:r>
              <a:rPr dirty="0" err="1"/>
              <a:t>progresivamente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el rollout </a:t>
            </a:r>
            <a:r>
              <a:rPr dirty="0" err="1"/>
              <a:t>revele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hacen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roles más </a:t>
            </a:r>
            <a:r>
              <a:rPr dirty="0" err="1"/>
              <a:t>ricos</a:t>
            </a:r>
            <a:r>
              <a:rPr dirty="0"/>
              <a:t>, scopes de manager o </a:t>
            </a:r>
            <a:r>
              <a:rPr dirty="0" err="1"/>
              <a:t>equipo</a:t>
            </a:r>
            <a:r>
              <a:rPr dirty="0"/>
              <a:t>, </a:t>
            </a:r>
            <a:r>
              <a:rPr dirty="0" err="1"/>
              <a:t>administración</a:t>
            </a:r>
            <a:r>
              <a:rPr dirty="0"/>
              <a:t>, </a:t>
            </a:r>
            <a:r>
              <a:rPr dirty="0" err="1"/>
              <a:t>políticas</a:t>
            </a:r>
            <a:r>
              <a:rPr dirty="0"/>
              <a:t> </a:t>
            </a:r>
            <a:r>
              <a:rPr dirty="0" err="1"/>
              <a:t>organizacionales</a:t>
            </a:r>
            <a:r>
              <a:rPr dirty="0"/>
              <a:t>, knowledge o integrations </a:t>
            </a:r>
            <a:r>
              <a:rPr dirty="0" err="1"/>
              <a:t>propiedad</a:t>
            </a:r>
            <a:r>
              <a:rPr dirty="0"/>
              <a:t> de la </a:t>
            </a:r>
            <a:r>
              <a:rPr dirty="0" err="1"/>
              <a:t>organización</a:t>
            </a:r>
            <a:r>
              <a:rPr dirty="0"/>
              <a:t>, </a:t>
            </a:r>
            <a:r>
              <a:rPr dirty="0" err="1"/>
              <a:t>estructuras</a:t>
            </a:r>
            <a:r>
              <a:rPr dirty="0"/>
              <a:t> </a:t>
            </a:r>
            <a:r>
              <a:rPr dirty="0" err="1"/>
              <a:t>avanzadas</a:t>
            </a:r>
            <a:r>
              <a:rPr dirty="0"/>
              <a:t> de </a:t>
            </a:r>
            <a:r>
              <a:rPr dirty="0" err="1"/>
              <a:t>delegación</a:t>
            </a:r>
            <a:r>
              <a:rPr dirty="0"/>
              <a:t> y </a:t>
            </a:r>
            <a:r>
              <a:rPr dirty="0" err="1"/>
              <a:t>aprobación</a:t>
            </a:r>
            <a:r>
              <a:rPr dirty="0"/>
              <a:t>, o la </a:t>
            </a:r>
            <a:r>
              <a:rPr dirty="0" err="1"/>
              <a:t>eliminación</a:t>
            </a:r>
            <a:r>
              <a:rPr dirty="0"/>
              <a:t> de atajos legacy </a:t>
            </a:r>
            <a:r>
              <a:rPr dirty="0" err="1"/>
              <a:t>basados</a:t>
            </a:r>
            <a:r>
              <a:rPr dirty="0"/>
              <a:t> en </a:t>
            </a:r>
            <a:r>
              <a:rPr dirty="0" err="1"/>
              <a:t>usuario</a:t>
            </a:r>
            <a:r>
              <a:rPr dirty="0"/>
              <a:t> o </a:t>
            </a:r>
            <a:r>
              <a:rPr dirty="0" err="1"/>
              <a:t>cuenta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5. R4 </a:t>
            </a:r>
            <a:r>
              <a:rPr dirty="0" err="1"/>
              <a:t>entra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outcomes de Relationship </a:t>
            </a:r>
            <a:r>
              <a:rPr dirty="0" err="1"/>
              <a:t>sean</a:t>
            </a:r>
            <a:r>
              <a:rPr dirty="0"/>
              <a:t> </a:t>
            </a:r>
            <a:r>
              <a:rPr dirty="0" err="1"/>
              <a:t>suficientemente</a:t>
            </a:r>
            <a:r>
              <a:rPr dirty="0"/>
              <a:t> </a:t>
            </a:r>
            <a:r>
              <a:rPr dirty="0" err="1"/>
              <a:t>confiables</a:t>
            </a:r>
            <a:r>
              <a:rPr dirty="0"/>
              <a:t>. </a:t>
            </a:r>
            <a:r>
              <a:rPr dirty="0" err="1"/>
              <a:t>Sólo</a:t>
            </a:r>
            <a:r>
              <a:rPr dirty="0"/>
              <a:t> </a:t>
            </a:r>
            <a:r>
              <a:rPr dirty="0" err="1"/>
              <a:t>entonces</a:t>
            </a:r>
            <a:r>
              <a:rPr dirty="0"/>
              <a:t> Gu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optimizar</a:t>
            </a:r>
            <a:r>
              <a:rPr dirty="0"/>
              <a:t> </a:t>
            </a:r>
            <a:r>
              <a:rPr dirty="0" err="1"/>
              <a:t>adquisición</a:t>
            </a:r>
            <a:r>
              <a:rPr dirty="0"/>
              <a:t> contra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downstream en </a:t>
            </a:r>
            <a:r>
              <a:rPr dirty="0" err="1"/>
              <a:t>vez</a:t>
            </a:r>
            <a:r>
              <a:rPr dirty="0"/>
              <a:t> de </a:t>
            </a:r>
            <a:r>
              <a:rPr dirty="0" err="1"/>
              <a:t>optimizar</a:t>
            </a:r>
            <a:r>
              <a:rPr dirty="0"/>
              <a:t> </a:t>
            </a:r>
            <a:r>
              <a:rPr dirty="0" err="1"/>
              <a:t>actividad</a:t>
            </a:r>
            <a:r>
              <a:rPr dirty="0"/>
              <a:t> o </a:t>
            </a:r>
            <a:r>
              <a:rPr dirty="0" err="1"/>
              <a:t>costo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lead </a:t>
            </a:r>
            <a:r>
              <a:rPr dirty="0" err="1"/>
              <a:t>aislado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6. R5 </a:t>
            </a:r>
            <a:r>
              <a:rPr dirty="0" err="1"/>
              <a:t>tampoco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 </a:t>
            </a:r>
            <a:r>
              <a:rPr dirty="0" err="1"/>
              <a:t>fija</a:t>
            </a:r>
            <a:r>
              <a:rPr dirty="0"/>
              <a:t>. Su </a:t>
            </a:r>
            <a:r>
              <a:rPr dirty="0" err="1"/>
              <a:t>primera</a:t>
            </a:r>
            <a:r>
              <a:rPr dirty="0"/>
              <a:t> Slice </a:t>
            </a:r>
            <a:r>
              <a:rPr dirty="0" err="1"/>
              <a:t>entra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 o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repetida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varios</a:t>
            </a:r>
            <a:r>
              <a:rPr dirty="0"/>
              <a:t> Cases. El </a:t>
            </a:r>
            <a:r>
              <a:rPr dirty="0" err="1"/>
              <a:t>signo</a:t>
            </a:r>
            <a:r>
              <a:rPr dirty="0"/>
              <a:t> de </a:t>
            </a:r>
            <a:r>
              <a:rPr dirty="0" err="1"/>
              <a:t>interrogación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ese trigger. La </a:t>
            </a:r>
            <a:r>
              <a:rPr dirty="0" err="1"/>
              <a:t>intención</a:t>
            </a:r>
            <a:r>
              <a:rPr dirty="0"/>
              <a:t> es </a:t>
            </a:r>
            <a:r>
              <a:rPr dirty="0" err="1"/>
              <a:t>probar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primera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valiosa</a:t>
            </a:r>
            <a:r>
              <a:rPr dirty="0"/>
              <a:t>, no </a:t>
            </a:r>
            <a:r>
              <a:rPr dirty="0" err="1"/>
              <a:t>desplegar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vez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la </a:t>
            </a:r>
            <a:r>
              <a:rPr dirty="0" err="1"/>
              <a:t>visión</a:t>
            </a:r>
            <a:r>
              <a:rPr dirty="0"/>
              <a:t> del Business Brain.</a:t>
            </a:r>
          </a:p>
          <a:p>
            <a:endParaRPr dirty="0"/>
          </a:p>
          <a:p>
            <a:pPr marL="171450" indent="-171450">
              <a:buFont typeface="Arial" panose="020B0604020202020204" pitchFamily="34" charset="0"/>
              <a:buChar char="•"/>
              <a:defRPr sz="1200" b="0" i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dirty="0"/>
              <a:t>7. R6, R7 y R8 </a:t>
            </a:r>
            <a:r>
              <a:rPr dirty="0" err="1"/>
              <a:t>permanecen</a:t>
            </a:r>
            <a:r>
              <a:rPr dirty="0"/>
              <a:t> posteriores o </a:t>
            </a:r>
            <a:r>
              <a:rPr dirty="0" err="1"/>
              <a:t>condicionales</a:t>
            </a:r>
            <a:r>
              <a:rPr lang="es-MX" dirty="0"/>
              <a:t> (R6: </a:t>
            </a:r>
            <a:r>
              <a:rPr lang="es-ES"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Transaction</a:t>
            </a:r>
            <a:r>
              <a:rPr lang="es-ES"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cuando un negocio requiera su propio Case</a:t>
            </a:r>
            <a:r>
              <a:rPr lang="es-MX" dirty="0"/>
              <a:t>; </a:t>
            </a:r>
            <a:r>
              <a:rPr lang="es-ES"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R7: Network conforme crezcan </a:t>
            </a:r>
            <a:r>
              <a:rPr lang="es-ES"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supply</a:t>
            </a:r>
            <a:r>
              <a:rPr lang="es-ES"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uso; y R8: </a:t>
            </a:r>
            <a:r>
              <a:rPr lang="es-ES"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Consumer</a:t>
            </a:r>
            <a:r>
              <a:rPr lang="es-ES"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tras densidad de mercado y </a:t>
            </a:r>
            <a:r>
              <a:rPr lang="es-ES" sz="1200" b="0" i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routing</a:t>
            </a:r>
            <a:r>
              <a:rPr lang="es-ES" sz="1200" b="0" i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gobernado</a:t>
            </a:r>
            <a:r>
              <a:rPr lang="es-MX" dirty="0"/>
              <a:t>)</a:t>
            </a:r>
            <a:r>
              <a:rPr dirty="0"/>
              <a:t>. R9 </a:t>
            </a:r>
            <a:r>
              <a:rPr dirty="0" err="1"/>
              <a:t>crece</a:t>
            </a:r>
            <a:r>
              <a:rPr dirty="0"/>
              <a:t> </a:t>
            </a:r>
            <a:r>
              <a:rPr dirty="0" err="1"/>
              <a:t>progresivamente</a:t>
            </a:r>
            <a:r>
              <a:rPr dirty="0"/>
              <a:t> con </a:t>
            </a:r>
            <a:r>
              <a:rPr dirty="0" err="1"/>
              <a:t>evidencia</a:t>
            </a:r>
            <a:r>
              <a:rPr dirty="0"/>
              <a:t> y </a:t>
            </a:r>
            <a:r>
              <a:rPr dirty="0" err="1"/>
              <a:t>controles</a:t>
            </a:r>
            <a:r>
              <a:rPr dirty="0"/>
              <a:t>. Su </a:t>
            </a:r>
            <a:r>
              <a:rPr dirty="0" err="1"/>
              <a:t>orden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cambiar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cambia la </a:t>
            </a:r>
            <a:r>
              <a:rPr dirty="0" err="1"/>
              <a:t>evidencia</a:t>
            </a:r>
            <a:r>
              <a:rPr dirty="0"/>
              <a:t> del mercado.</a:t>
            </a:r>
          </a:p>
          <a:p>
            <a:endParaRPr dirty="0"/>
          </a:p>
          <a:p>
            <a:r>
              <a:rPr dirty="0"/>
              <a:t>RESPUESTA A LA DUDA SOBRE EL TIEMPO</a:t>
            </a:r>
          </a:p>
          <a:p>
            <a:r>
              <a:rPr dirty="0" err="1"/>
              <a:t>Sí</a:t>
            </a:r>
            <a:r>
              <a:rPr dirty="0"/>
              <a:t>, un roadmap </a:t>
            </a:r>
            <a:r>
              <a:rPr dirty="0" err="1"/>
              <a:t>suele</a:t>
            </a:r>
            <a:r>
              <a:rPr dirty="0"/>
              <a:t>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. </a:t>
            </a:r>
            <a:r>
              <a:rPr dirty="0" err="1"/>
              <a:t>Aquí</a:t>
            </a:r>
            <a:r>
              <a:rPr dirty="0"/>
              <a:t> </a:t>
            </a:r>
            <a:r>
              <a:rPr dirty="0" err="1"/>
              <a:t>conviene</a:t>
            </a:r>
            <a:r>
              <a:rPr dirty="0"/>
              <a:t> </a:t>
            </a:r>
            <a:r>
              <a:rPr dirty="0" err="1"/>
              <a:t>mostrar</a:t>
            </a:r>
            <a:r>
              <a:rPr dirty="0"/>
              <a:t> </a:t>
            </a:r>
            <a:r>
              <a:rPr dirty="0" err="1"/>
              <a:t>horizonte</a:t>
            </a:r>
            <a:r>
              <a:rPr dirty="0"/>
              <a:t> </a:t>
            </a:r>
            <a:r>
              <a:rPr dirty="0" err="1"/>
              <a:t>relativo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el </a:t>
            </a:r>
            <a:r>
              <a:rPr dirty="0" err="1"/>
              <a:t>documento</a:t>
            </a:r>
            <a:r>
              <a:rPr dirty="0"/>
              <a:t> </a:t>
            </a:r>
            <a:r>
              <a:rPr dirty="0" err="1"/>
              <a:t>canónico</a:t>
            </a:r>
            <a:r>
              <a:rPr dirty="0"/>
              <a:t> no </a:t>
            </a:r>
            <a:r>
              <a:rPr dirty="0" err="1"/>
              <a:t>contiene</a:t>
            </a:r>
            <a:r>
              <a:rPr dirty="0"/>
              <a:t> </a:t>
            </a:r>
            <a:r>
              <a:rPr dirty="0" err="1"/>
              <a:t>compromisos</a:t>
            </a:r>
            <a:r>
              <a:rPr dirty="0"/>
              <a:t> </a:t>
            </a:r>
            <a:r>
              <a:rPr dirty="0" err="1"/>
              <a:t>calendario</a:t>
            </a:r>
            <a:r>
              <a:rPr dirty="0"/>
              <a:t>. Cuando </a:t>
            </a:r>
            <a:r>
              <a:rPr dirty="0" err="1"/>
              <a:t>exista</a:t>
            </a:r>
            <a:r>
              <a:rPr dirty="0"/>
              <a:t> un </a:t>
            </a:r>
            <a:r>
              <a:rPr dirty="0" err="1"/>
              <a:t>compromiso</a:t>
            </a:r>
            <a:r>
              <a:rPr dirty="0"/>
              <a:t> real de </a:t>
            </a:r>
            <a:r>
              <a:rPr dirty="0" err="1"/>
              <a:t>fecha</a:t>
            </a:r>
            <a:r>
              <a:rPr dirty="0"/>
              <a:t>,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aparecer</a:t>
            </a:r>
            <a:r>
              <a:rPr dirty="0"/>
              <a:t> en el Release Scope, Execution Cycle, GitHub y </a:t>
            </a:r>
            <a:r>
              <a:rPr dirty="0" err="1"/>
              <a:t>demás</a:t>
            </a:r>
            <a:r>
              <a:rPr dirty="0"/>
              <a:t> superficies de </a:t>
            </a:r>
            <a:r>
              <a:rPr dirty="0" err="1"/>
              <a:t>ejecución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correspondan</a:t>
            </a:r>
            <a:r>
              <a:rPr dirty="0"/>
              <a:t>. Esta </a:t>
            </a:r>
            <a:r>
              <a:rPr dirty="0" err="1"/>
              <a:t>lámina</a:t>
            </a:r>
            <a:r>
              <a:rPr dirty="0"/>
              <a:t>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inventar</a:t>
            </a:r>
            <a:r>
              <a:rPr dirty="0"/>
              <a:t> </a:t>
            </a:r>
            <a:r>
              <a:rPr dirty="0" err="1"/>
              <a:t>precisión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el roadmap no </a:t>
            </a:r>
            <a:r>
              <a:rPr dirty="0" err="1"/>
              <a:t>posee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GLOSARIO BREVE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Roadmap Increment: </a:t>
            </a:r>
            <a:r>
              <a:rPr dirty="0" err="1"/>
              <a:t>unidad</a:t>
            </a:r>
            <a:r>
              <a:rPr dirty="0"/>
              <a:t> R0–R9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demostrar</a:t>
            </a:r>
            <a:r>
              <a:rPr dirty="0"/>
              <a:t> un outcome de </a:t>
            </a:r>
            <a:r>
              <a:rPr dirty="0" err="1"/>
              <a:t>producto</a:t>
            </a:r>
            <a:r>
              <a:rPr dirty="0"/>
              <a:t> o </a:t>
            </a:r>
            <a:r>
              <a:rPr dirty="0" err="1"/>
              <a:t>plataforma</a:t>
            </a:r>
            <a:r>
              <a:rPr dirty="0"/>
              <a:t>. No equivale a </a:t>
            </a:r>
            <a:r>
              <a:rPr dirty="0" err="1"/>
              <a:t>una</a:t>
            </a:r>
            <a:r>
              <a:rPr dirty="0"/>
              <a:t> sola feature </a:t>
            </a:r>
            <a:r>
              <a:rPr dirty="0" err="1"/>
              <a:t>ni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 de release.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Horizonte </a:t>
            </a:r>
            <a:r>
              <a:rPr dirty="0" err="1"/>
              <a:t>relativo</a:t>
            </a:r>
            <a:r>
              <a:rPr dirty="0"/>
              <a:t>: </a:t>
            </a:r>
            <a:r>
              <a:rPr dirty="0" err="1"/>
              <a:t>posición</a:t>
            </a:r>
            <a:r>
              <a:rPr dirty="0"/>
              <a:t> </a:t>
            </a:r>
            <a:r>
              <a:rPr dirty="0" err="1"/>
              <a:t>aproximada</a:t>
            </a:r>
            <a:r>
              <a:rPr dirty="0"/>
              <a:t> en la </a:t>
            </a:r>
            <a:r>
              <a:rPr dirty="0" err="1"/>
              <a:t>secuencia</a:t>
            </a:r>
            <a:r>
              <a:rPr dirty="0"/>
              <a:t>: </a:t>
            </a:r>
            <a:r>
              <a:rPr dirty="0" err="1"/>
              <a:t>ahora</a:t>
            </a:r>
            <a:r>
              <a:rPr dirty="0"/>
              <a:t>, </a:t>
            </a:r>
            <a:r>
              <a:rPr dirty="0" err="1"/>
              <a:t>después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prueba</a:t>
            </a:r>
            <a:r>
              <a:rPr dirty="0"/>
              <a:t>, </a:t>
            </a:r>
            <a:r>
              <a:rPr dirty="0" err="1"/>
              <a:t>expansión</a:t>
            </a:r>
            <a:r>
              <a:rPr dirty="0"/>
              <a:t> con </a:t>
            </a:r>
            <a:r>
              <a:rPr dirty="0" err="1"/>
              <a:t>evidencia</a:t>
            </a:r>
            <a:r>
              <a:rPr dirty="0"/>
              <a:t> o posterior/</a:t>
            </a:r>
            <a:r>
              <a:rPr dirty="0" err="1"/>
              <a:t>condicional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Graduation evidence: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declarada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considerar</a:t>
            </a:r>
            <a:r>
              <a:rPr dirty="0"/>
              <a:t> </a:t>
            </a:r>
            <a:r>
              <a:rPr dirty="0" err="1"/>
              <a:t>probado</a:t>
            </a:r>
            <a:r>
              <a:rPr dirty="0"/>
              <a:t> el </a:t>
            </a:r>
            <a:r>
              <a:rPr dirty="0" err="1"/>
              <a:t>objetivo</a:t>
            </a:r>
            <a:r>
              <a:rPr dirty="0"/>
              <a:t> del </a:t>
            </a:r>
            <a:r>
              <a:rPr dirty="0" err="1"/>
              <a:t>incremento</a:t>
            </a:r>
            <a:r>
              <a:rPr dirty="0"/>
              <a:t>. </a:t>
            </a:r>
            <a:r>
              <a:rPr dirty="0" err="1"/>
              <a:t>Terminar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sus Slices no basta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solo.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Evidence-gated: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empieza</a:t>
            </a:r>
            <a:r>
              <a:rPr dirty="0"/>
              <a:t> o se </a:t>
            </a:r>
            <a:r>
              <a:rPr dirty="0" err="1"/>
              <a:t>amplía</a:t>
            </a:r>
            <a:r>
              <a:rPr dirty="0"/>
              <a:t> </a:t>
            </a:r>
            <a:r>
              <a:rPr dirty="0" err="1"/>
              <a:t>sólo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un trigger </a:t>
            </a:r>
            <a:r>
              <a:rPr dirty="0" err="1"/>
              <a:t>verificable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Slice: </a:t>
            </a:r>
            <a:r>
              <a:rPr dirty="0" err="1"/>
              <a:t>incremento</a:t>
            </a:r>
            <a:r>
              <a:rPr dirty="0"/>
              <a:t> vertical </a:t>
            </a:r>
            <a:r>
              <a:rPr dirty="0" err="1"/>
              <a:t>acotado</a:t>
            </a:r>
            <a:r>
              <a:rPr dirty="0"/>
              <a:t>, </a:t>
            </a:r>
            <a:r>
              <a:rPr dirty="0" err="1"/>
              <a:t>verificable</a:t>
            </a:r>
            <a:r>
              <a:rPr dirty="0"/>
              <a:t> y </a:t>
            </a:r>
            <a:r>
              <a:rPr dirty="0" err="1"/>
              <a:t>útil</a:t>
            </a:r>
            <a:r>
              <a:rPr dirty="0"/>
              <a:t> para </a:t>
            </a:r>
            <a:r>
              <a:rPr dirty="0" err="1"/>
              <a:t>avanzar</a:t>
            </a:r>
            <a:r>
              <a:rPr dirty="0"/>
              <a:t> un Roadmap Increment.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Rollout: </a:t>
            </a:r>
            <a:r>
              <a:rPr dirty="0" err="1"/>
              <a:t>introducción</a:t>
            </a:r>
            <a:r>
              <a:rPr dirty="0"/>
              <a:t> </a:t>
            </a:r>
            <a:r>
              <a:rPr dirty="0" err="1"/>
              <a:t>controlada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construida</a:t>
            </a:r>
            <a:r>
              <a:rPr dirty="0"/>
              <a:t>, con </a:t>
            </a:r>
            <a:r>
              <a:rPr dirty="0" err="1"/>
              <a:t>verificación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uso</a:t>
            </a:r>
            <a:r>
              <a:rPr dirty="0"/>
              <a:t> real.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Outcome: </a:t>
            </a:r>
            <a:r>
              <a:rPr dirty="0" err="1"/>
              <a:t>cambio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 o </a:t>
            </a:r>
            <a:r>
              <a:rPr dirty="0" err="1"/>
              <a:t>comercial</a:t>
            </a:r>
            <a:r>
              <a:rPr dirty="0"/>
              <a:t> observable,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solicitud</a:t>
            </a:r>
            <a:r>
              <a:rPr dirty="0"/>
              <a:t> de visita o </a:t>
            </a:r>
            <a:r>
              <a:rPr dirty="0" err="1"/>
              <a:t>una</a:t>
            </a:r>
            <a:r>
              <a:rPr dirty="0"/>
              <a:t> visita </a:t>
            </a:r>
            <a:r>
              <a:rPr dirty="0" err="1"/>
              <a:t>atendida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FUENTES</a:t>
            </a:r>
          </a:p>
          <a:p>
            <a:r>
              <a:rPr dirty="0"/>
              <a:t>- docs/roadmap/gu-os-evolution-roadmap.md v1.1, §§1–5 y §8</a:t>
            </a:r>
          </a:p>
          <a:p>
            <a:r>
              <a:rPr dirty="0"/>
              <a:t>- docs/README.md, Authority by question</a:t>
            </a:r>
          </a:p>
          <a:p>
            <a:r>
              <a:rPr dirty="0"/>
              <a:t>- Baseline: </a:t>
            </a:r>
            <a:r>
              <a:rPr dirty="0" err="1"/>
              <a:t>janotowers</a:t>
            </a:r>
            <a:r>
              <a:rPr dirty="0"/>
              <a:t>/Gu-OS main @ 5a6fbb05117042e1f7c47c911e0e2bc14d068340 · reviewed 11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PROPÓSITO DE LA LÁMINA</a:t>
            </a:r>
          </a:p>
          <a:p>
            <a:r>
              <a:rPr dirty="0"/>
              <a:t>Esta </a:t>
            </a:r>
            <a:r>
              <a:rPr dirty="0" err="1"/>
              <a:t>lámina</a:t>
            </a:r>
            <a:r>
              <a:rPr dirty="0"/>
              <a:t> </a:t>
            </a: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causalidad</a:t>
            </a:r>
            <a:r>
              <a:rPr dirty="0"/>
              <a:t> y </a:t>
            </a:r>
            <a:r>
              <a:rPr dirty="0" err="1"/>
              <a:t>dependencia</a:t>
            </a:r>
            <a:r>
              <a:rPr dirty="0"/>
              <a:t>, no </a:t>
            </a:r>
            <a:r>
              <a:rPr dirty="0" err="1"/>
              <a:t>tiempo</a:t>
            </a:r>
            <a:r>
              <a:rPr dirty="0"/>
              <a:t>. Debe </a:t>
            </a:r>
            <a:r>
              <a:rPr dirty="0" err="1"/>
              <a:t>presentarse</a:t>
            </a:r>
            <a:r>
              <a:rPr dirty="0"/>
              <a:t> </a:t>
            </a:r>
            <a:r>
              <a:rPr dirty="0" err="1"/>
              <a:t>inmediatamente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del </a:t>
            </a:r>
            <a:r>
              <a:rPr dirty="0" err="1"/>
              <a:t>horizonte</a:t>
            </a:r>
            <a:r>
              <a:rPr dirty="0"/>
              <a:t> temporal para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público</a:t>
            </a:r>
            <a:r>
              <a:rPr dirty="0"/>
              <a:t> </a:t>
            </a:r>
            <a:r>
              <a:rPr dirty="0" err="1"/>
              <a:t>distinga</a:t>
            </a:r>
            <a:r>
              <a:rPr dirty="0"/>
              <a:t> 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ocurrir</a:t>
            </a:r>
            <a:r>
              <a:rPr dirty="0"/>
              <a:t> algo de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ocurrir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GUION DIDÁCTICO</a:t>
            </a:r>
          </a:p>
          <a:p>
            <a:r>
              <a:rPr dirty="0"/>
              <a:t>1. La </a:t>
            </a:r>
            <a:r>
              <a:rPr dirty="0" err="1"/>
              <a:t>ruta</a:t>
            </a:r>
            <a:r>
              <a:rPr dirty="0"/>
              <a:t> superior </a:t>
            </a:r>
            <a:r>
              <a:rPr dirty="0" err="1"/>
              <a:t>muestra</a:t>
            </a:r>
            <a:r>
              <a:rPr dirty="0"/>
              <a:t> las </a:t>
            </a:r>
            <a:r>
              <a:rPr dirty="0" err="1"/>
              <a:t>dependencias</a:t>
            </a:r>
            <a:r>
              <a:rPr dirty="0"/>
              <a:t> más </a:t>
            </a:r>
            <a:r>
              <a:rPr dirty="0" err="1"/>
              <a:t>fuertes</a:t>
            </a:r>
            <a:r>
              <a:rPr dirty="0"/>
              <a:t>. R0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cerrar</a:t>
            </a:r>
            <a:r>
              <a:rPr dirty="0"/>
              <a:t> la base actual hasta </a:t>
            </a:r>
            <a:r>
              <a:rPr dirty="0" err="1"/>
              <a:t>producir</a:t>
            </a:r>
            <a:r>
              <a:rPr dirty="0"/>
              <a:t> un baseline </a:t>
            </a:r>
            <a:r>
              <a:rPr dirty="0" err="1"/>
              <a:t>piloto</a:t>
            </a:r>
            <a:r>
              <a:rPr dirty="0"/>
              <a:t> </a:t>
            </a:r>
            <a:r>
              <a:rPr dirty="0" err="1"/>
              <a:t>confiable</a:t>
            </a:r>
            <a:r>
              <a:rPr dirty="0"/>
              <a:t>. El Gate A no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 Gu OS </a:t>
            </a:r>
            <a:r>
              <a:rPr dirty="0" err="1"/>
              <a:t>esté</a:t>
            </a:r>
            <a:r>
              <a:rPr dirty="0"/>
              <a:t> </a:t>
            </a:r>
            <a:r>
              <a:rPr dirty="0" err="1"/>
              <a:t>terminado</a:t>
            </a:r>
            <a:r>
              <a:rPr dirty="0"/>
              <a:t>.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las </a:t>
            </a:r>
            <a:r>
              <a:rPr dirty="0" err="1"/>
              <a:t>capacidades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construidas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R1 consume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verificación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 en runtime real, tenancy y </a:t>
            </a:r>
            <a:r>
              <a:rPr dirty="0" err="1"/>
              <a:t>autoridad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2. R1 es el </a:t>
            </a:r>
            <a:r>
              <a:rPr dirty="0" err="1"/>
              <a:t>incremento</a:t>
            </a:r>
            <a:r>
              <a:rPr dirty="0"/>
              <a:t> principal. Gu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conservar</a:t>
            </a:r>
            <a:r>
              <a:rPr dirty="0"/>
              <a:t> </a:t>
            </a:r>
            <a:r>
              <a:rPr dirty="0" err="1"/>
              <a:t>responsabilidad</a:t>
            </a:r>
            <a:r>
              <a:rPr dirty="0"/>
              <a:t> durable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Lead Opportunity y </a:t>
            </a:r>
            <a:r>
              <a:rPr dirty="0" err="1"/>
              <a:t>mantenerla</a:t>
            </a:r>
            <a:r>
              <a:rPr dirty="0"/>
              <a:t> en </a:t>
            </a:r>
            <a:r>
              <a:rPr dirty="0" err="1"/>
              <a:t>movimiento</a:t>
            </a:r>
            <a:r>
              <a:rPr dirty="0"/>
              <a:t> a </a:t>
            </a:r>
            <a:r>
              <a:rPr dirty="0" err="1"/>
              <a:t>través</a:t>
            </a:r>
            <a:r>
              <a:rPr dirty="0"/>
              <a:t> de </a:t>
            </a:r>
            <a:r>
              <a:rPr dirty="0" err="1"/>
              <a:t>sesiones</a:t>
            </a:r>
            <a:r>
              <a:rPr dirty="0"/>
              <a:t>, </a:t>
            </a:r>
            <a:r>
              <a:rPr dirty="0" err="1"/>
              <a:t>eventos</a:t>
            </a:r>
            <a:r>
              <a:rPr dirty="0"/>
              <a:t> y </a:t>
            </a:r>
            <a:r>
              <a:rPr dirty="0" err="1"/>
              <a:t>asignaciones</a:t>
            </a:r>
            <a:r>
              <a:rPr dirty="0"/>
              <a:t>. La visita </a:t>
            </a:r>
            <a:r>
              <a:rPr dirty="0" err="1"/>
              <a:t>funciona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el primer </a:t>
            </a:r>
            <a:r>
              <a:rPr dirty="0" err="1"/>
              <a:t>hito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</a:t>
            </a:r>
            <a:r>
              <a:rPr dirty="0" err="1"/>
              <a:t>medible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conecta</a:t>
            </a:r>
            <a:r>
              <a:rPr dirty="0"/>
              <a:t> el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delegado</a:t>
            </a:r>
            <a:r>
              <a:rPr dirty="0"/>
              <a:t> con un outcome observable.</a:t>
            </a:r>
          </a:p>
          <a:p>
            <a:endParaRPr dirty="0"/>
          </a:p>
          <a:p>
            <a:r>
              <a:rPr dirty="0"/>
              <a:t>3. El Gate B protege la entrada a R4. Demand Operations no </a:t>
            </a:r>
            <a:r>
              <a:rPr dirty="0" err="1"/>
              <a:t>debería</a:t>
            </a:r>
            <a:r>
              <a:rPr dirty="0"/>
              <a:t> </a:t>
            </a:r>
            <a:r>
              <a:rPr dirty="0" err="1"/>
              <a:t>optimizar</a:t>
            </a:r>
            <a:r>
              <a:rPr dirty="0"/>
              <a:t> </a:t>
            </a:r>
            <a:r>
              <a:rPr dirty="0" err="1"/>
              <a:t>campañas</a:t>
            </a:r>
            <a:r>
              <a:rPr dirty="0"/>
              <a:t> contra </a:t>
            </a:r>
            <a:r>
              <a:rPr dirty="0" err="1"/>
              <a:t>volumen</a:t>
            </a:r>
            <a:r>
              <a:rPr dirty="0"/>
              <a:t> de leads o </a:t>
            </a:r>
            <a:r>
              <a:rPr dirty="0" err="1"/>
              <a:t>actividad</a:t>
            </a:r>
            <a:r>
              <a:rPr dirty="0"/>
              <a:t> superficial. </a:t>
            </a:r>
            <a:r>
              <a:rPr dirty="0" err="1"/>
              <a:t>Necesita</a:t>
            </a:r>
            <a:r>
              <a:rPr dirty="0"/>
              <a:t> outcomes de Relationship </a:t>
            </a:r>
            <a:r>
              <a:rPr dirty="0" err="1"/>
              <a:t>confiables</a:t>
            </a:r>
            <a:r>
              <a:rPr dirty="0"/>
              <a:t> y </a:t>
            </a:r>
            <a:r>
              <a:rPr dirty="0" err="1"/>
              <a:t>atribuibles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oportunidad</a:t>
            </a:r>
            <a:r>
              <a:rPr dirty="0"/>
              <a:t> </a:t>
            </a:r>
            <a:r>
              <a:rPr dirty="0" err="1"/>
              <a:t>calificada</a:t>
            </a:r>
            <a:r>
              <a:rPr dirty="0"/>
              <a:t>, </a:t>
            </a:r>
            <a:r>
              <a:rPr dirty="0" err="1"/>
              <a:t>solicitud</a:t>
            </a:r>
            <a:r>
              <a:rPr dirty="0"/>
              <a:t> de visita o visita </a:t>
            </a:r>
            <a:r>
              <a:rPr dirty="0" err="1"/>
              <a:t>atendida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esté</a:t>
            </a:r>
            <a:r>
              <a:rPr dirty="0"/>
              <a:t> disponible.</a:t>
            </a:r>
          </a:p>
          <a:p>
            <a:endParaRPr dirty="0"/>
          </a:p>
          <a:p>
            <a:r>
              <a:rPr dirty="0"/>
              <a:t>4. La </a:t>
            </a:r>
            <a:r>
              <a:rPr dirty="0" err="1"/>
              <a:t>caja</a:t>
            </a:r>
            <a:r>
              <a:rPr dirty="0"/>
              <a:t> inferior </a:t>
            </a:r>
            <a:r>
              <a:rPr dirty="0" err="1"/>
              <a:t>izquierda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</a:t>
            </a:r>
            <a:r>
              <a:rPr dirty="0" err="1"/>
              <a:t>sólo</a:t>
            </a:r>
            <a:r>
              <a:rPr dirty="0"/>
              <a:t> la </a:t>
            </a:r>
            <a:r>
              <a:rPr dirty="0" err="1"/>
              <a:t>parte</a:t>
            </a:r>
            <a:r>
              <a:rPr dirty="0"/>
              <a:t> de R3 </a:t>
            </a:r>
            <a:r>
              <a:rPr dirty="0" err="1"/>
              <a:t>que</a:t>
            </a:r>
            <a:r>
              <a:rPr dirty="0"/>
              <a:t> R1 consume. R1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Organization sea owner del </a:t>
            </a:r>
            <a:r>
              <a:rPr dirty="0" err="1"/>
              <a:t>trabajo</a:t>
            </a:r>
            <a:r>
              <a:rPr dirty="0"/>
              <a:t> durable y </a:t>
            </a:r>
            <a:r>
              <a:rPr dirty="0" err="1"/>
              <a:t>que</a:t>
            </a:r>
            <a:r>
              <a:rPr dirty="0"/>
              <a:t> Membership, Assignment, DRI, approver y endpoint de routing </a:t>
            </a:r>
            <a:r>
              <a:rPr dirty="0" err="1"/>
              <a:t>permanezcan</a:t>
            </a:r>
            <a:r>
              <a:rPr dirty="0"/>
              <a:t> </a:t>
            </a:r>
            <a:r>
              <a:rPr dirty="0" err="1"/>
              <a:t>separados</a:t>
            </a:r>
            <a:r>
              <a:rPr dirty="0"/>
              <a:t>. No </a:t>
            </a:r>
            <a:r>
              <a:rPr dirty="0" err="1"/>
              <a:t>representa</a:t>
            </a:r>
            <a:r>
              <a:rPr dirty="0"/>
              <a:t> la </a:t>
            </a:r>
            <a:r>
              <a:rPr dirty="0" err="1"/>
              <a:t>terminación</a:t>
            </a:r>
            <a:r>
              <a:rPr dirty="0"/>
              <a:t> de R3.</a:t>
            </a:r>
          </a:p>
          <a:p>
            <a:endParaRPr dirty="0"/>
          </a:p>
          <a:p>
            <a:r>
              <a:rPr dirty="0"/>
              <a:t>5. La </a:t>
            </a:r>
            <a:r>
              <a:rPr dirty="0" err="1"/>
              <a:t>caja</a:t>
            </a:r>
            <a:r>
              <a:rPr dirty="0"/>
              <a:t> R2 </a:t>
            </a:r>
            <a:r>
              <a:rPr dirty="0" err="1"/>
              <a:t>comienza</a:t>
            </a:r>
            <a:r>
              <a:rPr dirty="0"/>
              <a:t> con R1 </a:t>
            </a:r>
            <a:r>
              <a:rPr dirty="0" err="1"/>
              <a:t>porque</a:t>
            </a:r>
            <a:r>
              <a:rPr dirty="0"/>
              <a:t> outcome instrumentation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diseñarse</a:t>
            </a:r>
            <a:r>
              <a:rPr dirty="0"/>
              <a:t> al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tiempo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</a:t>
            </a:r>
            <a:r>
              <a:rPr dirty="0" err="1"/>
              <a:t>operacional</a:t>
            </a:r>
            <a:r>
              <a:rPr dirty="0"/>
              <a:t>. R2 también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repetir</a:t>
            </a:r>
            <a:r>
              <a:rPr dirty="0"/>
              <a:t> el </a:t>
            </a:r>
            <a:r>
              <a:rPr dirty="0" err="1"/>
              <a:t>despliegue</a:t>
            </a:r>
            <a:r>
              <a:rPr dirty="0"/>
              <a:t> en más de un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materialmente</a:t>
            </a:r>
            <a:r>
              <a:rPr dirty="0"/>
              <a:t> </a:t>
            </a:r>
            <a:r>
              <a:rPr dirty="0" err="1"/>
              <a:t>diferente</a:t>
            </a:r>
            <a:r>
              <a:rPr dirty="0"/>
              <a:t> con </a:t>
            </a:r>
            <a:r>
              <a:rPr dirty="0" err="1"/>
              <a:t>poca</a:t>
            </a:r>
            <a:r>
              <a:rPr dirty="0"/>
              <a:t> </a:t>
            </a:r>
            <a:r>
              <a:rPr dirty="0" err="1"/>
              <a:t>ingeniería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. Por </a:t>
            </a:r>
            <a:r>
              <a:rPr dirty="0" err="1"/>
              <a:t>eso</a:t>
            </a:r>
            <a:r>
              <a:rPr dirty="0"/>
              <a:t> R2 se </a:t>
            </a:r>
            <a:r>
              <a:rPr dirty="0" err="1"/>
              <a:t>solapa</a:t>
            </a:r>
            <a:r>
              <a:rPr dirty="0"/>
              <a:t> con R1 y </a:t>
            </a:r>
            <a:r>
              <a:rPr dirty="0" err="1"/>
              <a:t>continúa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6. La </a:t>
            </a:r>
            <a:r>
              <a:rPr dirty="0" err="1"/>
              <a:t>línea</a:t>
            </a:r>
            <a:r>
              <a:rPr dirty="0"/>
              <a:t> </a:t>
            </a:r>
            <a:r>
              <a:rPr dirty="0" err="1"/>
              <a:t>punteada</a:t>
            </a:r>
            <a:r>
              <a:rPr dirty="0"/>
              <a:t> </a:t>
            </a:r>
            <a:r>
              <a:rPr dirty="0" err="1"/>
              <a:t>hacia</a:t>
            </a:r>
            <a:r>
              <a:rPr dirty="0"/>
              <a:t> el trigger de R5 indica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condición</a:t>
            </a:r>
            <a:r>
              <a:rPr dirty="0"/>
              <a:t>, no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dependencia</a:t>
            </a:r>
            <a:r>
              <a:rPr dirty="0"/>
              <a:t> </a:t>
            </a:r>
            <a:r>
              <a:rPr dirty="0" err="1"/>
              <a:t>obligatoria</a:t>
            </a:r>
            <a:r>
              <a:rPr dirty="0"/>
              <a:t> de </a:t>
            </a:r>
            <a:r>
              <a:rPr dirty="0" err="1"/>
              <a:t>secuencia</a:t>
            </a:r>
            <a:r>
              <a:rPr dirty="0"/>
              <a:t>. Una </a:t>
            </a:r>
            <a:r>
              <a:rPr dirty="0" err="1"/>
              <a:t>primera</a:t>
            </a:r>
            <a:r>
              <a:rPr dirty="0"/>
              <a:t> Slice del Business Brain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comenzar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repetida</a:t>
            </a:r>
            <a:r>
              <a:rPr dirty="0"/>
              <a:t> no </a:t>
            </a:r>
            <a:r>
              <a:rPr dirty="0" err="1"/>
              <a:t>pueda</a:t>
            </a:r>
            <a:r>
              <a:rPr dirty="0"/>
              <a:t> </a:t>
            </a:r>
            <a:r>
              <a:rPr dirty="0" err="1"/>
              <a:t>resolverse</a:t>
            </a:r>
            <a:r>
              <a:rPr dirty="0"/>
              <a:t> </a:t>
            </a:r>
            <a:r>
              <a:rPr dirty="0" err="1"/>
              <a:t>adecuadamente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un solo Case o </a:t>
            </a:r>
            <a:r>
              <a:rPr dirty="0" err="1"/>
              <a:t>sistema</a:t>
            </a:r>
            <a:r>
              <a:rPr dirty="0"/>
              <a:t> de </a:t>
            </a:r>
            <a:r>
              <a:rPr dirty="0" err="1"/>
              <a:t>registro</a:t>
            </a:r>
            <a:r>
              <a:rPr dirty="0"/>
              <a:t> y </a:t>
            </a:r>
            <a:r>
              <a:rPr dirty="0" err="1"/>
              <a:t>requiera</a:t>
            </a:r>
            <a:r>
              <a:rPr dirty="0"/>
              <a:t> </a:t>
            </a:r>
            <a:r>
              <a:rPr dirty="0" err="1"/>
              <a:t>conocimiento</a:t>
            </a:r>
            <a:r>
              <a:rPr dirty="0"/>
              <a:t> </a:t>
            </a:r>
            <a:r>
              <a:rPr dirty="0" err="1"/>
              <a:t>compilado</a:t>
            </a:r>
            <a:r>
              <a:rPr dirty="0"/>
              <a:t> entre Cases </a:t>
            </a:r>
            <a:r>
              <a:rPr dirty="0" err="1"/>
              <a:t>autorizados</a:t>
            </a:r>
            <a:r>
              <a:rPr dirty="0"/>
              <a:t>. R5 no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esperar</a:t>
            </a:r>
            <a:r>
              <a:rPr dirty="0"/>
              <a:t> </a:t>
            </a:r>
            <a:r>
              <a:rPr dirty="0" err="1"/>
              <a:t>necesariamente</a:t>
            </a:r>
            <a:r>
              <a:rPr dirty="0"/>
              <a:t> 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termine</a:t>
            </a:r>
            <a:r>
              <a:rPr dirty="0"/>
              <a:t> R4,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tampoco</a:t>
            </a:r>
            <a:r>
              <a:rPr dirty="0"/>
              <a:t> </a:t>
            </a:r>
            <a:r>
              <a:rPr dirty="0" err="1"/>
              <a:t>comienza</a:t>
            </a:r>
            <a:r>
              <a:rPr dirty="0"/>
              <a:t> </a:t>
            </a:r>
            <a:r>
              <a:rPr dirty="0" err="1"/>
              <a:t>automáticamente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R1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exista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LECTURA DE LAS FLECHAS</a:t>
            </a:r>
          </a:p>
          <a:p>
            <a:r>
              <a:rPr dirty="0"/>
              <a:t>Flecha continua: el </a:t>
            </a:r>
            <a:r>
              <a:rPr dirty="0" err="1"/>
              <a:t>elemento</a:t>
            </a:r>
            <a:r>
              <a:rPr dirty="0"/>
              <a:t> de la </a:t>
            </a:r>
            <a:r>
              <a:rPr dirty="0" err="1"/>
              <a:t>izquierda</a:t>
            </a:r>
            <a:r>
              <a:rPr dirty="0"/>
              <a:t> </a:t>
            </a:r>
            <a:r>
              <a:rPr dirty="0" err="1"/>
              <a:t>proporciona</a:t>
            </a:r>
            <a:r>
              <a:rPr dirty="0"/>
              <a:t> un </a:t>
            </a:r>
            <a:r>
              <a:rPr dirty="0" err="1"/>
              <a:t>prerequisito</a:t>
            </a:r>
            <a:r>
              <a:rPr dirty="0"/>
              <a:t> </a:t>
            </a:r>
            <a:r>
              <a:rPr dirty="0" err="1"/>
              <a:t>necesario</a:t>
            </a:r>
            <a:r>
              <a:rPr dirty="0"/>
              <a:t> 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prueba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hace</a:t>
            </a:r>
            <a:r>
              <a:rPr dirty="0"/>
              <a:t> </a:t>
            </a:r>
            <a:r>
              <a:rPr dirty="0" err="1"/>
              <a:t>creíble</a:t>
            </a:r>
            <a:r>
              <a:rPr dirty="0"/>
              <a:t> el </a:t>
            </a:r>
            <a:r>
              <a:rPr dirty="0" err="1"/>
              <a:t>siguiente</a:t>
            </a:r>
            <a:r>
              <a:rPr dirty="0"/>
              <a:t> paso.</a:t>
            </a:r>
          </a:p>
          <a:p>
            <a:r>
              <a:rPr dirty="0"/>
              <a:t>Línea </a:t>
            </a:r>
            <a:r>
              <a:rPr dirty="0" err="1"/>
              <a:t>punteada</a:t>
            </a:r>
            <a:r>
              <a:rPr dirty="0"/>
              <a:t>: la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activar</a:t>
            </a:r>
            <a:r>
              <a:rPr dirty="0"/>
              <a:t> el </a:t>
            </a:r>
            <a:r>
              <a:rPr dirty="0" err="1"/>
              <a:t>trabajo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el roadmap no lo </a:t>
            </a:r>
            <a:r>
              <a:rPr dirty="0" err="1"/>
              <a:t>compromete</a:t>
            </a:r>
            <a:r>
              <a:rPr dirty="0"/>
              <a:t> </a:t>
            </a:r>
            <a:r>
              <a:rPr dirty="0" err="1"/>
              <a:t>todavía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siguiente</a:t>
            </a:r>
            <a:r>
              <a:rPr dirty="0"/>
              <a:t> paso </a:t>
            </a:r>
            <a:r>
              <a:rPr dirty="0" err="1"/>
              <a:t>obligatorio</a:t>
            </a:r>
            <a:r>
              <a:rPr dirty="0"/>
              <a:t>.</a:t>
            </a:r>
          </a:p>
          <a:p>
            <a:r>
              <a:rPr dirty="0" err="1"/>
              <a:t>Conexión</a:t>
            </a:r>
            <a:r>
              <a:rPr dirty="0"/>
              <a:t> vertical </a:t>
            </a:r>
            <a:r>
              <a:rPr dirty="0" err="1"/>
              <a:t>naranja</a:t>
            </a:r>
            <a:r>
              <a:rPr dirty="0"/>
              <a:t>: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transversal </a:t>
            </a:r>
            <a:r>
              <a:rPr dirty="0" err="1"/>
              <a:t>entra</a:t>
            </a:r>
            <a:r>
              <a:rPr dirty="0"/>
              <a:t> </a:t>
            </a:r>
            <a:r>
              <a:rPr dirty="0" err="1"/>
              <a:t>porque</a:t>
            </a:r>
            <a:r>
              <a:rPr dirty="0"/>
              <a:t> el </a:t>
            </a:r>
            <a:r>
              <a:rPr dirty="0" err="1"/>
              <a:t>incremento</a:t>
            </a:r>
            <a:r>
              <a:rPr dirty="0"/>
              <a:t> principal la consume; no </a:t>
            </a:r>
            <a:r>
              <a:rPr dirty="0" err="1"/>
              <a:t>convierte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en el </a:t>
            </a:r>
            <a:r>
              <a:rPr dirty="0" err="1"/>
              <a:t>producto</a:t>
            </a:r>
            <a:r>
              <a:rPr dirty="0"/>
              <a:t> principal.</a:t>
            </a:r>
          </a:p>
          <a:p>
            <a:endParaRPr dirty="0"/>
          </a:p>
          <a:p>
            <a:r>
              <a:rPr dirty="0"/>
              <a:t>EJEMPLO INMOBILIARIO</a:t>
            </a:r>
          </a:p>
          <a:p>
            <a:r>
              <a:rPr dirty="0"/>
              <a:t>Una </a:t>
            </a:r>
            <a:r>
              <a:rPr dirty="0" err="1"/>
              <a:t>inmobiliaria</a:t>
            </a:r>
            <a:r>
              <a:rPr dirty="0"/>
              <a:t> </a:t>
            </a:r>
            <a:r>
              <a:rPr dirty="0" err="1"/>
              <a:t>recibe</a:t>
            </a:r>
            <a:r>
              <a:rPr dirty="0"/>
              <a:t> leads y Gu </a:t>
            </a: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oportunidad</a:t>
            </a:r>
            <a:r>
              <a:rPr dirty="0"/>
              <a:t> en </a:t>
            </a:r>
            <a:r>
              <a:rPr dirty="0" err="1"/>
              <a:t>seguimiento</a:t>
            </a:r>
            <a:r>
              <a:rPr dirty="0"/>
              <a:t>. R1 </a:t>
            </a:r>
            <a:r>
              <a:rPr dirty="0" err="1"/>
              <a:t>conserva</a:t>
            </a:r>
            <a:r>
              <a:rPr dirty="0"/>
              <a:t> </a:t>
            </a:r>
            <a:r>
              <a:rPr dirty="0" err="1"/>
              <a:t>compromisos</a:t>
            </a:r>
            <a:r>
              <a:rPr dirty="0"/>
              <a:t> y </a:t>
            </a:r>
            <a:r>
              <a:rPr dirty="0" err="1"/>
              <a:t>próximos</a:t>
            </a:r>
            <a:r>
              <a:rPr dirty="0"/>
              <a:t> pasos. R2 </a:t>
            </a:r>
            <a:r>
              <a:rPr dirty="0" err="1"/>
              <a:t>mide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ese </a:t>
            </a:r>
            <a:r>
              <a:rPr dirty="0" err="1"/>
              <a:t>trabajo</a:t>
            </a:r>
            <a:r>
              <a:rPr dirty="0"/>
              <a:t> genera solicitudes y visitas, y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desplegarlo</a:t>
            </a:r>
            <a:r>
              <a:rPr dirty="0"/>
              <a:t> sin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implementación</a:t>
            </a:r>
            <a:r>
              <a:rPr dirty="0"/>
              <a:t> </a:t>
            </a:r>
            <a:r>
              <a:rPr dirty="0" err="1"/>
              <a:t>hecha</a:t>
            </a:r>
            <a:r>
              <a:rPr dirty="0"/>
              <a:t> a la </a:t>
            </a:r>
            <a:r>
              <a:rPr dirty="0" err="1"/>
              <a:t>medida</a:t>
            </a:r>
            <a:r>
              <a:rPr dirty="0"/>
              <a:t>. Cuando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sea </a:t>
            </a:r>
            <a:r>
              <a:rPr dirty="0" err="1"/>
              <a:t>confiable</a:t>
            </a:r>
            <a:r>
              <a:rPr dirty="0"/>
              <a:t>, R4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ajustar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campaña</a:t>
            </a:r>
            <a:r>
              <a:rPr dirty="0"/>
              <a:t> </a:t>
            </a:r>
            <a:r>
              <a:rPr dirty="0" err="1"/>
              <a:t>utilizando</a:t>
            </a:r>
            <a:r>
              <a:rPr dirty="0"/>
              <a:t> </a:t>
            </a:r>
            <a:r>
              <a:rPr dirty="0" err="1"/>
              <a:t>calidad</a:t>
            </a:r>
            <a:r>
              <a:rPr dirty="0"/>
              <a:t> y visitas downstream. Si </a:t>
            </a:r>
            <a:r>
              <a:rPr dirty="0" err="1"/>
              <a:t>varias</a:t>
            </a:r>
            <a:r>
              <a:rPr dirty="0"/>
              <a:t> </a:t>
            </a:r>
            <a:r>
              <a:rPr dirty="0" err="1"/>
              <a:t>oportunidades</a:t>
            </a:r>
            <a:r>
              <a:rPr dirty="0"/>
              <a:t> </a:t>
            </a:r>
            <a:r>
              <a:rPr dirty="0" err="1"/>
              <a:t>revelan</a:t>
            </a:r>
            <a:r>
              <a:rPr dirty="0"/>
              <a:t> </a:t>
            </a:r>
            <a:r>
              <a:rPr dirty="0" err="1"/>
              <a:t>repetidamente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empresarial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ninguna</a:t>
            </a:r>
            <a:r>
              <a:rPr dirty="0"/>
              <a:t> Opportunity </a:t>
            </a:r>
            <a:r>
              <a:rPr dirty="0" err="1"/>
              <a:t>aislada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responder, </a:t>
            </a:r>
            <a:r>
              <a:rPr dirty="0" err="1"/>
              <a:t>aparece</a:t>
            </a:r>
            <a:r>
              <a:rPr dirty="0"/>
              <a:t> un </a:t>
            </a:r>
            <a:r>
              <a:rPr dirty="0" err="1"/>
              <a:t>posible</a:t>
            </a:r>
            <a:r>
              <a:rPr dirty="0"/>
              <a:t> trigger para R5.</a:t>
            </a:r>
          </a:p>
          <a:p>
            <a:endParaRPr dirty="0"/>
          </a:p>
          <a:p>
            <a:r>
              <a:rPr dirty="0"/>
              <a:t>GLOSARIO BREVE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Gate: </a:t>
            </a:r>
            <a:r>
              <a:rPr dirty="0" err="1"/>
              <a:t>condición</a:t>
            </a:r>
            <a:r>
              <a:rPr dirty="0"/>
              <a:t> </a:t>
            </a:r>
            <a:r>
              <a:rPr dirty="0" err="1"/>
              <a:t>verificable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cumplirse</a:t>
            </a:r>
            <a:r>
              <a:rPr dirty="0"/>
              <a:t> antes de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siguiente</a:t>
            </a:r>
            <a:r>
              <a:rPr dirty="0"/>
              <a:t> paso sea </a:t>
            </a:r>
            <a:r>
              <a:rPr dirty="0" err="1"/>
              <a:t>creíble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 err="1"/>
              <a:t>Prerequisito</a:t>
            </a:r>
            <a:r>
              <a:rPr dirty="0"/>
              <a:t>: </a:t>
            </a:r>
            <a:r>
              <a:rPr dirty="0" err="1"/>
              <a:t>capacidad</a:t>
            </a:r>
            <a:r>
              <a:rPr dirty="0"/>
              <a:t> o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necesaria</a:t>
            </a:r>
            <a:r>
              <a:rPr dirty="0"/>
              <a:t> antes de </a:t>
            </a:r>
            <a:r>
              <a:rPr dirty="0" err="1"/>
              <a:t>comenzar</a:t>
            </a:r>
            <a:r>
              <a:rPr dirty="0"/>
              <a:t> o </a:t>
            </a:r>
            <a:r>
              <a:rPr dirty="0" err="1"/>
              <a:t>ampliar</a:t>
            </a:r>
            <a:r>
              <a:rPr dirty="0"/>
              <a:t>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Tenancy: </a:t>
            </a:r>
            <a:r>
              <a:rPr dirty="0" err="1"/>
              <a:t>reglas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aíslan</a:t>
            </a:r>
            <a:r>
              <a:rPr dirty="0"/>
              <a:t> </a:t>
            </a:r>
            <a:r>
              <a:rPr dirty="0" err="1"/>
              <a:t>organizaciones</a:t>
            </a:r>
            <a:r>
              <a:rPr dirty="0"/>
              <a:t> y </a:t>
            </a:r>
            <a:r>
              <a:rPr dirty="0" err="1"/>
              <a:t>determinan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actor </a:t>
            </a:r>
            <a:r>
              <a:rPr dirty="0" err="1"/>
              <a:t>puede</a:t>
            </a:r>
            <a:r>
              <a:rPr dirty="0"/>
              <a:t> acceder a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y </a:t>
            </a:r>
            <a:r>
              <a:rPr dirty="0" err="1"/>
              <a:t>acciones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Authority: </a:t>
            </a:r>
            <a:r>
              <a:rPr dirty="0" err="1"/>
              <a:t>permiso</a:t>
            </a:r>
            <a:r>
              <a:rPr dirty="0"/>
              <a:t> </a:t>
            </a:r>
            <a:r>
              <a:rPr dirty="0" err="1"/>
              <a:t>efectivo</a:t>
            </a:r>
            <a:r>
              <a:rPr dirty="0"/>
              <a:t> para </a:t>
            </a:r>
            <a:r>
              <a:rPr dirty="0" err="1"/>
              <a:t>decidir</a:t>
            </a:r>
            <a:r>
              <a:rPr dirty="0"/>
              <a:t>, </a:t>
            </a:r>
            <a:r>
              <a:rPr dirty="0" err="1"/>
              <a:t>aprobar</a:t>
            </a:r>
            <a:r>
              <a:rPr dirty="0"/>
              <a:t> o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acción</a:t>
            </a:r>
            <a:r>
              <a:rPr dirty="0"/>
              <a:t>; el </a:t>
            </a:r>
            <a:r>
              <a:rPr dirty="0" err="1"/>
              <a:t>modelo</a:t>
            </a:r>
            <a:r>
              <a:rPr dirty="0"/>
              <a:t> no la concede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mismo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Lead Opportunity: Case durable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la </a:t>
            </a:r>
            <a:r>
              <a:rPr dirty="0" err="1"/>
              <a:t>responsabilidad</a:t>
            </a:r>
            <a:r>
              <a:rPr dirty="0"/>
              <a:t> de </a:t>
            </a:r>
            <a:r>
              <a:rPr dirty="0" err="1"/>
              <a:t>mantener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oportunidad</a:t>
            </a:r>
            <a:r>
              <a:rPr dirty="0"/>
              <a:t> viable en </a:t>
            </a:r>
            <a:r>
              <a:rPr dirty="0" err="1"/>
              <a:t>movimiento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Outcome </a:t>
            </a:r>
            <a:r>
              <a:rPr dirty="0" err="1"/>
              <a:t>atribuible</a:t>
            </a:r>
            <a:r>
              <a:rPr dirty="0"/>
              <a:t>: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relacionarse</a:t>
            </a:r>
            <a:r>
              <a:rPr dirty="0"/>
              <a:t> con la </a:t>
            </a:r>
            <a:r>
              <a:rPr dirty="0" err="1"/>
              <a:t>oportunidad</a:t>
            </a:r>
            <a:r>
              <a:rPr dirty="0"/>
              <a:t> y el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realizado</a:t>
            </a:r>
            <a:r>
              <a:rPr dirty="0"/>
              <a:t>, sin </a:t>
            </a:r>
            <a:r>
              <a:rPr dirty="0" err="1"/>
              <a:t>confundir</a:t>
            </a:r>
            <a:r>
              <a:rPr dirty="0"/>
              <a:t> </a:t>
            </a:r>
            <a:r>
              <a:rPr dirty="0" err="1"/>
              <a:t>correlación</a:t>
            </a:r>
            <a:r>
              <a:rPr dirty="0"/>
              <a:t> con </a:t>
            </a:r>
            <a:r>
              <a:rPr dirty="0" err="1"/>
              <a:t>causalidad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Owner: persona o </a:t>
            </a:r>
            <a:r>
              <a:rPr dirty="0" err="1"/>
              <a:t>entidad</a:t>
            </a:r>
            <a:r>
              <a:rPr dirty="0"/>
              <a:t> </a:t>
            </a:r>
            <a:r>
              <a:rPr dirty="0" err="1"/>
              <a:t>responsable</a:t>
            </a:r>
            <a:r>
              <a:rPr dirty="0"/>
              <a:t> del </a:t>
            </a:r>
            <a:r>
              <a:rPr dirty="0" err="1"/>
              <a:t>problema</a:t>
            </a:r>
            <a:r>
              <a:rPr dirty="0"/>
              <a:t>, </a:t>
            </a:r>
            <a:r>
              <a:rPr dirty="0" err="1"/>
              <a:t>evidencia</a:t>
            </a:r>
            <a:r>
              <a:rPr dirty="0"/>
              <a:t> o </a:t>
            </a:r>
            <a:r>
              <a:rPr dirty="0" err="1"/>
              <a:t>decisión</a:t>
            </a:r>
            <a:r>
              <a:rPr dirty="0"/>
              <a:t>; no </a:t>
            </a:r>
            <a:r>
              <a:rPr dirty="0" err="1"/>
              <a:t>significa</a:t>
            </a:r>
            <a:r>
              <a:rPr dirty="0"/>
              <a:t> </a:t>
            </a:r>
            <a:r>
              <a:rPr dirty="0" err="1"/>
              <a:t>propietario</a:t>
            </a:r>
            <a:r>
              <a:rPr dirty="0"/>
              <a:t> </a:t>
            </a:r>
            <a:r>
              <a:rPr dirty="0" err="1"/>
              <a:t>jurídico</a:t>
            </a:r>
            <a:r>
              <a:rPr dirty="0"/>
              <a:t> del </a:t>
            </a:r>
            <a:r>
              <a:rPr dirty="0" err="1"/>
              <a:t>inmueble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Cross-Case: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relacionar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varios</a:t>
            </a:r>
            <a:r>
              <a:rPr dirty="0"/>
              <a:t> Cases </a:t>
            </a:r>
            <a:r>
              <a:rPr dirty="0" err="1"/>
              <a:t>autorizados</a:t>
            </a:r>
            <a:r>
              <a:rPr dirty="0"/>
              <a:t>, no </a:t>
            </a:r>
            <a:r>
              <a:rPr dirty="0" err="1"/>
              <a:t>sólo</a:t>
            </a:r>
            <a:r>
              <a:rPr dirty="0"/>
              <a:t> leer un </a:t>
            </a:r>
            <a:r>
              <a:rPr dirty="0" err="1"/>
              <a:t>expediente</a:t>
            </a:r>
            <a:r>
              <a:rPr dirty="0"/>
              <a:t> individual.</a:t>
            </a:r>
          </a:p>
          <a:p>
            <a:endParaRPr dirty="0"/>
          </a:p>
          <a:p>
            <a:r>
              <a:rPr dirty="0"/>
              <a:t>FUENTES</a:t>
            </a:r>
          </a:p>
          <a:p>
            <a:r>
              <a:rPr dirty="0"/>
              <a:t>- docs/roadmap/gu-os-evolution-roadmap.md v1.1, §§3–5 y §7</a:t>
            </a:r>
          </a:p>
          <a:p>
            <a:r>
              <a:rPr dirty="0"/>
              <a:t>- docs/adr/ADR-106-organization-native-multiseat-tenancy.md</a:t>
            </a:r>
          </a:p>
          <a:p>
            <a:r>
              <a:rPr dirty="0"/>
              <a:t>- docs/adr/ADR-108-versioned-organization-policy.md</a:t>
            </a:r>
          </a:p>
          <a:p>
            <a:r>
              <a:rPr dirty="0"/>
              <a:t>- Baseline: </a:t>
            </a:r>
            <a:r>
              <a:rPr dirty="0" err="1"/>
              <a:t>janotowers</a:t>
            </a:r>
            <a:r>
              <a:rPr dirty="0"/>
              <a:t>/Gu-OS main @ 5a6fbb05117042e1f7c47c911e0e2bc14d068340 · reviewed 11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PROPÓSITO DE LA LÁMINA</a:t>
            </a:r>
          </a:p>
          <a:p>
            <a:r>
              <a:rPr dirty="0"/>
              <a:t>Esta </a:t>
            </a:r>
            <a:r>
              <a:rPr dirty="0" err="1"/>
              <a:t>lámina</a:t>
            </a:r>
            <a:r>
              <a:rPr dirty="0"/>
              <a:t> </a:t>
            </a:r>
            <a:r>
              <a:rPr dirty="0" err="1"/>
              <a:t>responde</a:t>
            </a:r>
            <a:r>
              <a:rPr dirty="0"/>
              <a:t> </a:t>
            </a:r>
            <a:r>
              <a:rPr dirty="0" err="1"/>
              <a:t>directamente</a:t>
            </a:r>
            <a:r>
              <a:rPr dirty="0"/>
              <a:t> </a:t>
            </a:r>
            <a:r>
              <a:rPr dirty="0" err="1"/>
              <a:t>dónde</a:t>
            </a:r>
            <a:r>
              <a:rPr dirty="0"/>
              <a:t> y </a:t>
            </a:r>
            <a:r>
              <a:rPr dirty="0" err="1"/>
              <a:t>cuándo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el resto de R3, y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confundir</a:t>
            </a:r>
            <a:r>
              <a:rPr dirty="0"/>
              <a:t> </a:t>
            </a:r>
            <a:r>
              <a:rPr dirty="0" err="1"/>
              <a:t>organización</a:t>
            </a:r>
            <a:r>
              <a:rPr dirty="0"/>
              <a:t> con Business Brain. Ambos son </a:t>
            </a:r>
            <a:r>
              <a:rPr dirty="0" err="1"/>
              <a:t>incrementos</a:t>
            </a:r>
            <a:r>
              <a:rPr dirty="0"/>
              <a:t> </a:t>
            </a:r>
            <a:r>
              <a:rPr dirty="0" err="1"/>
              <a:t>compartidos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resuelven</a:t>
            </a:r>
            <a:r>
              <a:rPr dirty="0"/>
              <a:t>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y </a:t>
            </a:r>
            <a:r>
              <a:rPr dirty="0" err="1"/>
              <a:t>tienen</a:t>
            </a:r>
            <a:r>
              <a:rPr dirty="0"/>
              <a:t> triggers de entrada </a:t>
            </a:r>
            <a:r>
              <a:rPr dirty="0" err="1"/>
              <a:t>distintos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R3: QUÉ ENTRA DURANTE R1</a:t>
            </a:r>
          </a:p>
          <a:p>
            <a:r>
              <a:rPr dirty="0"/>
              <a:t>R1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colaboración</a:t>
            </a:r>
            <a:r>
              <a:rPr dirty="0"/>
              <a:t> multi-</a:t>
            </a:r>
            <a:r>
              <a:rPr dirty="0" err="1"/>
              <a:t>asesor</a:t>
            </a:r>
            <a:r>
              <a:rPr dirty="0"/>
              <a:t>. Por </a:t>
            </a:r>
            <a:r>
              <a:rPr dirty="0" err="1"/>
              <a:t>eso</a:t>
            </a:r>
            <a:r>
              <a:rPr dirty="0"/>
              <a:t> </a:t>
            </a:r>
            <a:r>
              <a:rPr dirty="0" err="1"/>
              <a:t>adelanta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fundación</a:t>
            </a:r>
            <a:r>
              <a:rPr dirty="0"/>
              <a:t> </a:t>
            </a:r>
            <a:r>
              <a:rPr dirty="0" err="1"/>
              <a:t>mínima</a:t>
            </a:r>
            <a:r>
              <a:rPr dirty="0"/>
              <a:t>: Organization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dueño</a:t>
            </a:r>
            <a:r>
              <a:rPr dirty="0"/>
              <a:t> </a:t>
            </a:r>
            <a:r>
              <a:rPr dirty="0" err="1"/>
              <a:t>canónico</a:t>
            </a:r>
            <a:r>
              <a:rPr dirty="0"/>
              <a:t> del </a:t>
            </a:r>
            <a:r>
              <a:rPr dirty="0" err="1"/>
              <a:t>trabajo</a:t>
            </a:r>
            <a:r>
              <a:rPr dirty="0"/>
              <a:t> durable; Membership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relación</a:t>
            </a:r>
            <a:r>
              <a:rPr dirty="0"/>
              <a:t> de un </a:t>
            </a:r>
            <a:r>
              <a:rPr dirty="0" err="1"/>
              <a:t>usuario</a:t>
            </a:r>
            <a:r>
              <a:rPr dirty="0"/>
              <a:t> con la </a:t>
            </a:r>
            <a:r>
              <a:rPr dirty="0" err="1"/>
              <a:t>organización</a:t>
            </a:r>
            <a:r>
              <a:rPr dirty="0"/>
              <a:t>; roles y grants; Assignment y DRI </a:t>
            </a:r>
            <a:r>
              <a:rPr dirty="0" err="1"/>
              <a:t>separados</a:t>
            </a:r>
            <a:r>
              <a:rPr dirty="0"/>
              <a:t>; </a:t>
            </a:r>
            <a:r>
              <a:rPr dirty="0" err="1"/>
              <a:t>visibilidad</a:t>
            </a:r>
            <a:r>
              <a:rPr dirty="0"/>
              <a:t> y routing </a:t>
            </a:r>
            <a:r>
              <a:rPr dirty="0" err="1"/>
              <a:t>apropiados</a:t>
            </a:r>
            <a:r>
              <a:rPr dirty="0"/>
              <a:t>; y las policies </a:t>
            </a:r>
            <a:r>
              <a:rPr dirty="0" err="1"/>
              <a:t>organizacionales</a:t>
            </a:r>
            <a:r>
              <a:rPr dirty="0"/>
              <a:t> </a:t>
            </a:r>
            <a:r>
              <a:rPr dirty="0" err="1"/>
              <a:t>necesarias</a:t>
            </a:r>
            <a:r>
              <a:rPr dirty="0"/>
              <a:t> para </a:t>
            </a:r>
            <a:r>
              <a:rPr dirty="0" err="1"/>
              <a:t>admitir</a:t>
            </a:r>
            <a:r>
              <a:rPr dirty="0"/>
              <a:t> y </a:t>
            </a:r>
            <a:r>
              <a:rPr dirty="0" err="1"/>
              <a:t>gobernar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Relationship Opportunity.</a:t>
            </a:r>
          </a:p>
          <a:p>
            <a:endParaRPr dirty="0"/>
          </a:p>
          <a:p>
            <a:r>
              <a:rPr dirty="0"/>
              <a:t>R3: DÓNDE Y CUÁNDO ENTRA EL RESTO</a:t>
            </a:r>
          </a:p>
          <a:p>
            <a:r>
              <a:rPr dirty="0"/>
              <a:t>El resto de R3 </a:t>
            </a:r>
            <a:r>
              <a:rPr dirty="0" err="1"/>
              <a:t>entra</a:t>
            </a:r>
            <a:r>
              <a:rPr dirty="0"/>
              <a:t> </a:t>
            </a:r>
            <a:r>
              <a:rPr dirty="0" err="1"/>
              <a:t>progresivamente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 la </a:t>
            </a:r>
            <a:r>
              <a:rPr dirty="0" err="1"/>
              <a:t>fundación</a:t>
            </a:r>
            <a:r>
              <a:rPr dirty="0"/>
              <a:t> </a:t>
            </a:r>
            <a:r>
              <a:rPr dirty="0" err="1"/>
              <a:t>mínima</a:t>
            </a:r>
            <a:r>
              <a:rPr dirty="0"/>
              <a:t>, </a:t>
            </a:r>
            <a:r>
              <a:rPr dirty="0" err="1"/>
              <a:t>normalmente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el rollout de R1 y la </a:t>
            </a:r>
            <a:r>
              <a:rPr dirty="0" err="1"/>
              <a:t>demostración</a:t>
            </a:r>
            <a:r>
              <a:rPr dirty="0"/>
              <a:t> de R2. No </a:t>
            </a:r>
            <a:r>
              <a:rPr dirty="0" err="1"/>
              <a:t>depende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 </a:t>
            </a:r>
            <a:r>
              <a:rPr dirty="0" err="1"/>
              <a:t>predeterminada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esperar</a:t>
            </a:r>
            <a:r>
              <a:rPr dirty="0"/>
              <a:t> 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termine</a:t>
            </a:r>
            <a:r>
              <a:rPr dirty="0"/>
              <a:t> R4. Cada </a:t>
            </a:r>
            <a:r>
              <a:rPr dirty="0" err="1"/>
              <a:t>parte</a:t>
            </a:r>
            <a:r>
              <a:rPr dirty="0"/>
              <a:t> se </a:t>
            </a:r>
            <a:r>
              <a:rPr dirty="0" err="1"/>
              <a:t>incorpora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un </a:t>
            </a:r>
            <a:r>
              <a:rPr dirty="0" err="1"/>
              <a:t>uso</a:t>
            </a:r>
            <a:r>
              <a:rPr dirty="0"/>
              <a:t> real la </a:t>
            </a:r>
            <a:r>
              <a:rPr dirty="0" err="1"/>
              <a:t>exige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Ejemplos</a:t>
            </a:r>
            <a:r>
              <a:rPr dirty="0"/>
              <a:t> de triggers para </a:t>
            </a:r>
            <a:r>
              <a:rPr dirty="0" err="1"/>
              <a:t>ampliar</a:t>
            </a:r>
            <a:r>
              <a:rPr dirty="0"/>
              <a:t> R3:</a:t>
            </a:r>
          </a:p>
          <a:p>
            <a:r>
              <a:rPr dirty="0"/>
              <a:t>- Una </a:t>
            </a:r>
            <a:r>
              <a:rPr dirty="0" err="1"/>
              <a:t>segunda</a:t>
            </a:r>
            <a:r>
              <a:rPr dirty="0"/>
              <a:t> brokerage o un nuevo </a:t>
            </a:r>
            <a:r>
              <a:rPr dirty="0" err="1"/>
              <a:t>equipo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roles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mínimo</a:t>
            </a:r>
            <a:r>
              <a:rPr dirty="0"/>
              <a:t> no </a:t>
            </a:r>
            <a:r>
              <a:rPr dirty="0" err="1"/>
              <a:t>representa</a:t>
            </a:r>
            <a:r>
              <a:rPr dirty="0"/>
              <a:t>.</a:t>
            </a:r>
          </a:p>
          <a:p>
            <a:r>
              <a:rPr dirty="0"/>
              <a:t>- Managers </a:t>
            </a:r>
            <a:r>
              <a:rPr dirty="0" err="1"/>
              <a:t>necesitan</a:t>
            </a:r>
            <a:r>
              <a:rPr dirty="0"/>
              <a:t> scopes de </a:t>
            </a:r>
            <a:r>
              <a:rPr dirty="0" err="1"/>
              <a:t>visibilidad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 a </a:t>
            </a:r>
            <a:r>
              <a:rPr dirty="0" err="1"/>
              <a:t>los</a:t>
            </a:r>
            <a:r>
              <a:rPr dirty="0"/>
              <a:t> de un </a:t>
            </a:r>
            <a:r>
              <a:rPr dirty="0" err="1"/>
              <a:t>asesor</a:t>
            </a:r>
            <a:r>
              <a:rPr dirty="0"/>
              <a:t>.</a:t>
            </a:r>
          </a:p>
          <a:p>
            <a:r>
              <a:rPr dirty="0"/>
              <a:t>- La </a:t>
            </a:r>
            <a:r>
              <a:rPr dirty="0" err="1"/>
              <a:t>organización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publicar</a:t>
            </a:r>
            <a:r>
              <a:rPr dirty="0"/>
              <a:t> y </a:t>
            </a:r>
            <a:r>
              <a:rPr dirty="0" err="1"/>
              <a:t>versionar</a:t>
            </a:r>
            <a:r>
              <a:rPr dirty="0"/>
              <a:t> policies, Skills o integrations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pertenecer</a:t>
            </a:r>
            <a:r>
              <a:rPr dirty="0"/>
              <a:t> a un </a:t>
            </a:r>
            <a:r>
              <a:rPr dirty="0" err="1"/>
              <a:t>usuario</a:t>
            </a:r>
            <a:r>
              <a:rPr dirty="0"/>
              <a:t> individual.</a:t>
            </a:r>
          </a:p>
          <a:p>
            <a:r>
              <a:rPr dirty="0"/>
              <a:t>- La </a:t>
            </a:r>
            <a:r>
              <a:rPr dirty="0" err="1"/>
              <a:t>delegación</a:t>
            </a:r>
            <a:r>
              <a:rPr dirty="0"/>
              <a:t> o </a:t>
            </a:r>
            <a:r>
              <a:rPr dirty="0" err="1"/>
              <a:t>aprobación</a:t>
            </a:r>
            <a:r>
              <a:rPr dirty="0"/>
              <a:t>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estructuras</a:t>
            </a:r>
            <a:r>
              <a:rPr dirty="0"/>
              <a:t> más </a:t>
            </a:r>
            <a:r>
              <a:rPr dirty="0" err="1"/>
              <a:t>ricas</a:t>
            </a:r>
            <a:r>
              <a:rPr dirty="0"/>
              <a:t>.</a:t>
            </a:r>
          </a:p>
          <a:p>
            <a:r>
              <a:rPr dirty="0"/>
              <a:t>- Los atajos legacy </a:t>
            </a:r>
            <a:r>
              <a:rPr dirty="0" err="1"/>
              <a:t>basados</a:t>
            </a:r>
            <a:r>
              <a:rPr dirty="0"/>
              <a:t> en profile, </a:t>
            </a:r>
            <a:r>
              <a:rPr dirty="0" err="1"/>
              <a:t>user_id</a:t>
            </a:r>
            <a:r>
              <a:rPr dirty="0"/>
              <a:t> o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cuenta</a:t>
            </a:r>
            <a:r>
              <a:rPr dirty="0"/>
              <a:t> </a:t>
            </a:r>
            <a:r>
              <a:rPr dirty="0" err="1"/>
              <a:t>producen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bespoke o </a:t>
            </a:r>
            <a:r>
              <a:rPr dirty="0" err="1"/>
              <a:t>riesgo</a:t>
            </a:r>
            <a:r>
              <a:rPr dirty="0"/>
              <a:t> de </a:t>
            </a:r>
            <a:r>
              <a:rPr dirty="0" err="1"/>
              <a:t>aislamiento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R3 se </a:t>
            </a:r>
            <a:r>
              <a:rPr dirty="0" err="1"/>
              <a:t>considera</a:t>
            </a:r>
            <a:r>
              <a:rPr dirty="0"/>
              <a:t> </a:t>
            </a:r>
            <a:r>
              <a:rPr dirty="0" err="1"/>
              <a:t>graduado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varias</a:t>
            </a:r>
            <a:r>
              <a:rPr dirty="0"/>
              <a:t> brokerages </a:t>
            </a:r>
            <a:r>
              <a:rPr dirty="0" err="1"/>
              <a:t>materialmente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colaborar</a:t>
            </a:r>
            <a:r>
              <a:rPr dirty="0"/>
              <a:t> entre </a:t>
            </a:r>
            <a:r>
              <a:rPr dirty="0" err="1"/>
              <a:t>equipos</a:t>
            </a:r>
            <a:r>
              <a:rPr dirty="0"/>
              <a:t> y roles con </a:t>
            </a:r>
            <a:r>
              <a:rPr dirty="0" err="1"/>
              <a:t>autoridad</a:t>
            </a:r>
            <a:r>
              <a:rPr dirty="0"/>
              <a:t> y </a:t>
            </a:r>
            <a:r>
              <a:rPr dirty="0" err="1"/>
              <a:t>visibilidad</a:t>
            </a:r>
            <a:r>
              <a:rPr dirty="0"/>
              <a:t> </a:t>
            </a:r>
            <a:r>
              <a:rPr dirty="0" err="1"/>
              <a:t>gobernadas</a:t>
            </a:r>
            <a:r>
              <a:rPr dirty="0"/>
              <a:t>, sin workarounds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cuenta</a:t>
            </a:r>
            <a:r>
              <a:rPr dirty="0"/>
              <a:t> y sin </a:t>
            </a:r>
            <a:r>
              <a:rPr dirty="0" err="1"/>
              <a:t>fuga</a:t>
            </a:r>
            <a:r>
              <a:rPr dirty="0"/>
              <a:t> cross-tenant. Por </a:t>
            </a:r>
            <a:r>
              <a:rPr dirty="0" err="1"/>
              <a:t>ello</a:t>
            </a:r>
            <a:r>
              <a:rPr dirty="0"/>
              <a:t> el </a:t>
            </a:r>
            <a:r>
              <a:rPr dirty="0" err="1"/>
              <a:t>segundo</a:t>
            </a:r>
            <a:r>
              <a:rPr dirty="0"/>
              <a:t> </a:t>
            </a:r>
            <a:r>
              <a:rPr dirty="0" err="1"/>
              <a:t>segmento</a:t>
            </a:r>
            <a:r>
              <a:rPr dirty="0"/>
              <a:t> de R3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solaparse</a:t>
            </a:r>
            <a:r>
              <a:rPr dirty="0"/>
              <a:t> con R2 y con </a:t>
            </a:r>
            <a:r>
              <a:rPr dirty="0" err="1"/>
              <a:t>incrementos</a:t>
            </a:r>
            <a:r>
              <a:rPr dirty="0"/>
              <a:t> posteriores; el roadmap lo </a:t>
            </a:r>
            <a:r>
              <a:rPr dirty="0" err="1"/>
              <a:t>clasifica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maturity layer evidence-gated.</a:t>
            </a:r>
          </a:p>
          <a:p>
            <a:endParaRPr dirty="0"/>
          </a:p>
          <a:p>
            <a:r>
              <a:rPr dirty="0"/>
              <a:t>R5: POR QUÉ ES DIFERENTE</a:t>
            </a:r>
          </a:p>
          <a:p>
            <a:r>
              <a:rPr dirty="0"/>
              <a:t>R5 </a:t>
            </a:r>
            <a:r>
              <a:rPr dirty="0" err="1"/>
              <a:t>responde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necesidad</a:t>
            </a:r>
            <a:r>
              <a:rPr dirty="0"/>
              <a:t> de </a:t>
            </a:r>
            <a:r>
              <a:rPr dirty="0" err="1"/>
              <a:t>conocimiento</a:t>
            </a:r>
            <a:r>
              <a:rPr dirty="0"/>
              <a:t> </a:t>
            </a:r>
            <a:r>
              <a:rPr dirty="0" err="1"/>
              <a:t>empresarial</a:t>
            </a:r>
            <a:r>
              <a:rPr dirty="0"/>
              <a:t>. </a:t>
            </a:r>
            <a:r>
              <a:rPr dirty="0" err="1"/>
              <a:t>Empieza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 o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importante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de forma </a:t>
            </a:r>
            <a:r>
              <a:rPr dirty="0" err="1"/>
              <a:t>repetida</a:t>
            </a:r>
            <a:r>
              <a:rPr dirty="0"/>
              <a:t> y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responderse</a:t>
            </a:r>
            <a:r>
              <a:rPr dirty="0"/>
              <a:t> bien </a:t>
            </a:r>
            <a:r>
              <a:rPr dirty="0" err="1"/>
              <a:t>leyendo</a:t>
            </a:r>
            <a:r>
              <a:rPr dirty="0"/>
              <a:t> un </a:t>
            </a:r>
            <a:r>
              <a:rPr dirty="0" err="1"/>
              <a:t>único</a:t>
            </a:r>
            <a:r>
              <a:rPr dirty="0"/>
              <a:t> Case. La </a:t>
            </a:r>
            <a:r>
              <a:rPr dirty="0" err="1"/>
              <a:t>primera</a:t>
            </a:r>
            <a:r>
              <a:rPr dirty="0"/>
              <a:t> Slice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tomar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autorizada</a:t>
            </a:r>
            <a:r>
              <a:rPr dirty="0"/>
              <a:t>, </a:t>
            </a:r>
            <a:r>
              <a:rPr dirty="0" err="1"/>
              <a:t>compilar</a:t>
            </a:r>
            <a:r>
              <a:rPr dirty="0"/>
              <a:t> </a:t>
            </a:r>
            <a:r>
              <a:rPr dirty="0" err="1"/>
              <a:t>conocimiento</a:t>
            </a:r>
            <a:r>
              <a:rPr dirty="0"/>
              <a:t> con </a:t>
            </a:r>
            <a:r>
              <a:rPr dirty="0" err="1"/>
              <a:t>procedencia</a:t>
            </a:r>
            <a:r>
              <a:rPr dirty="0"/>
              <a:t> y responder o </a:t>
            </a:r>
            <a:r>
              <a:rPr dirty="0" err="1"/>
              <a:t>mejorar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pregunta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medible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Una </a:t>
            </a:r>
            <a:r>
              <a:rPr dirty="0" err="1"/>
              <a:t>pregunta</a:t>
            </a:r>
            <a:r>
              <a:rPr dirty="0"/>
              <a:t> cross-Case </a:t>
            </a:r>
            <a:r>
              <a:rPr dirty="0" err="1"/>
              <a:t>puede</a:t>
            </a:r>
            <a:r>
              <a:rPr dirty="0"/>
              <a:t> ser: “¿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señales</a:t>
            </a:r>
            <a:r>
              <a:rPr dirty="0"/>
              <a:t> </a:t>
            </a:r>
            <a:r>
              <a:rPr dirty="0" err="1"/>
              <a:t>preceden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visita </a:t>
            </a:r>
            <a:r>
              <a:rPr dirty="0" err="1"/>
              <a:t>efectiva</a:t>
            </a:r>
            <a:r>
              <a:rPr dirty="0"/>
              <a:t> y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oportunidades</a:t>
            </a:r>
            <a:r>
              <a:rPr dirty="0"/>
              <a:t> </a:t>
            </a:r>
            <a:r>
              <a:rPr dirty="0" err="1"/>
              <a:t>debería</a:t>
            </a:r>
            <a:r>
              <a:rPr dirty="0"/>
              <a:t> </a:t>
            </a:r>
            <a:r>
              <a:rPr dirty="0" err="1"/>
              <a:t>priorizar</a:t>
            </a:r>
            <a:r>
              <a:rPr dirty="0"/>
              <a:t> el </a:t>
            </a:r>
            <a:r>
              <a:rPr dirty="0" err="1"/>
              <a:t>equipo</a:t>
            </a:r>
            <a:r>
              <a:rPr dirty="0"/>
              <a:t>?”. </a:t>
            </a:r>
            <a:r>
              <a:rPr dirty="0" err="1"/>
              <a:t>Contestarla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requerir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 Lead Opportunities, </a:t>
            </a:r>
            <a:r>
              <a:rPr dirty="0" err="1"/>
              <a:t>propiedades</a:t>
            </a:r>
            <a:r>
              <a:rPr dirty="0"/>
              <a:t> </a:t>
            </a:r>
            <a:r>
              <a:rPr dirty="0" err="1"/>
              <a:t>presentadas</a:t>
            </a:r>
            <a:r>
              <a:rPr dirty="0"/>
              <a:t>, </a:t>
            </a:r>
            <a:r>
              <a:rPr dirty="0" err="1"/>
              <a:t>reacciones</a:t>
            </a:r>
            <a:r>
              <a:rPr dirty="0"/>
              <a:t>, </a:t>
            </a:r>
            <a:r>
              <a:rPr dirty="0" err="1"/>
              <a:t>compromisos</a:t>
            </a:r>
            <a:r>
              <a:rPr dirty="0"/>
              <a:t>, solicitudes de visita y outcomes </a:t>
            </a:r>
            <a:r>
              <a:rPr dirty="0" err="1"/>
              <a:t>observados</a:t>
            </a:r>
            <a:r>
              <a:rPr dirty="0"/>
              <a:t>. El Business Brain no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inventar</a:t>
            </a:r>
            <a:r>
              <a:rPr dirty="0"/>
              <a:t> </a:t>
            </a:r>
            <a:r>
              <a:rPr dirty="0" err="1"/>
              <a:t>causalidad</a:t>
            </a:r>
            <a:r>
              <a:rPr dirty="0"/>
              <a:t>. Debe </a:t>
            </a:r>
            <a:r>
              <a:rPr dirty="0" err="1"/>
              <a:t>preservar</a:t>
            </a:r>
            <a:r>
              <a:rPr dirty="0"/>
              <a:t> </a:t>
            </a:r>
            <a:r>
              <a:rPr dirty="0" err="1"/>
              <a:t>fuentes</a:t>
            </a:r>
            <a:r>
              <a:rPr dirty="0"/>
              <a:t>, </a:t>
            </a:r>
            <a:r>
              <a:rPr dirty="0" err="1"/>
              <a:t>límites</a:t>
            </a:r>
            <a:r>
              <a:rPr dirty="0"/>
              <a:t> de </a:t>
            </a:r>
            <a:r>
              <a:rPr dirty="0" err="1"/>
              <a:t>autorización</a:t>
            </a:r>
            <a:r>
              <a:rPr dirty="0"/>
              <a:t>, freshness y </a:t>
            </a:r>
            <a:r>
              <a:rPr dirty="0" err="1"/>
              <a:t>reproducibilidad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R5 no </a:t>
            </a:r>
            <a:r>
              <a:rPr dirty="0" err="1"/>
              <a:t>sustituye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de </a:t>
            </a:r>
            <a:r>
              <a:rPr dirty="0" err="1"/>
              <a:t>registro</a:t>
            </a:r>
            <a:r>
              <a:rPr dirty="0"/>
              <a:t>, Cases, Work Items </a:t>
            </a:r>
            <a:r>
              <a:rPr dirty="0" err="1"/>
              <a:t>ni</a:t>
            </a:r>
            <a:r>
              <a:rPr dirty="0"/>
              <a:t> policies. </a:t>
            </a:r>
            <a:r>
              <a:rPr dirty="0" err="1"/>
              <a:t>Tampoco</a:t>
            </a:r>
            <a:r>
              <a:rPr dirty="0"/>
              <a:t> </a:t>
            </a:r>
            <a:r>
              <a:rPr dirty="0" err="1"/>
              <a:t>guarda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cola de </a:t>
            </a:r>
            <a:r>
              <a:rPr dirty="0" err="1"/>
              <a:t>acciones</a:t>
            </a:r>
            <a:r>
              <a:rPr dirty="0"/>
              <a:t>. Produce </a:t>
            </a:r>
            <a:r>
              <a:rPr dirty="0" err="1"/>
              <a:t>contexto</a:t>
            </a:r>
            <a:r>
              <a:rPr dirty="0"/>
              <a:t> o </a:t>
            </a:r>
            <a:r>
              <a:rPr dirty="0" err="1"/>
              <a:t>síntesis</a:t>
            </a:r>
            <a:r>
              <a:rPr dirty="0"/>
              <a:t> </a:t>
            </a:r>
            <a:r>
              <a:rPr dirty="0" err="1"/>
              <a:t>empresarial</a:t>
            </a:r>
            <a:r>
              <a:rPr dirty="0"/>
              <a:t> para </a:t>
            </a:r>
            <a:r>
              <a:rPr dirty="0" err="1"/>
              <a:t>que</a:t>
            </a:r>
            <a:r>
              <a:rPr dirty="0"/>
              <a:t> el </a:t>
            </a:r>
            <a:r>
              <a:rPr dirty="0" err="1"/>
              <a:t>agente</a:t>
            </a:r>
            <a:r>
              <a:rPr dirty="0"/>
              <a:t>, </a:t>
            </a:r>
            <a:r>
              <a:rPr dirty="0" err="1"/>
              <a:t>una</a:t>
            </a:r>
            <a:r>
              <a:rPr dirty="0"/>
              <a:t> persona o un workflow tome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bajo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 </a:t>
            </a:r>
            <a:r>
              <a:rPr dirty="0" err="1"/>
              <a:t>correspondiente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RELACIÓN ENTRE R3 Y R5</a:t>
            </a:r>
          </a:p>
          <a:p>
            <a:r>
              <a:rPr dirty="0"/>
              <a:t>R3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facilitar</a:t>
            </a:r>
            <a:r>
              <a:rPr dirty="0"/>
              <a:t> el scope </a:t>
            </a:r>
            <a:r>
              <a:rPr dirty="0" err="1"/>
              <a:t>organizacional</a:t>
            </a:r>
            <a:r>
              <a:rPr dirty="0"/>
              <a:t> y la </a:t>
            </a:r>
            <a:r>
              <a:rPr dirty="0" err="1"/>
              <a:t>autorización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R5 </a:t>
            </a:r>
            <a:r>
              <a:rPr dirty="0" err="1"/>
              <a:t>necesita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obliga</a:t>
            </a:r>
            <a:r>
              <a:rPr dirty="0"/>
              <a:t> a </a:t>
            </a:r>
            <a:r>
              <a:rPr dirty="0" err="1"/>
              <a:t>construir</a:t>
            </a:r>
            <a:r>
              <a:rPr dirty="0"/>
              <a:t> R5. R5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requerir</a:t>
            </a:r>
            <a:r>
              <a:rPr dirty="0"/>
              <a:t> organization-owned knowledge,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trigger </a:t>
            </a:r>
            <a:r>
              <a:rPr dirty="0" err="1"/>
              <a:t>sigue</a:t>
            </a:r>
            <a:r>
              <a:rPr dirty="0"/>
              <a:t> </a:t>
            </a:r>
            <a:r>
              <a:rPr dirty="0" err="1"/>
              <a:t>siendo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necesidad</a:t>
            </a:r>
            <a:r>
              <a:rPr dirty="0"/>
              <a:t> cross-Case </a:t>
            </a:r>
            <a:r>
              <a:rPr dirty="0" err="1"/>
              <a:t>demostrada</a:t>
            </a:r>
            <a:r>
              <a:rPr dirty="0"/>
              <a:t>. La </a:t>
            </a:r>
            <a:r>
              <a:rPr dirty="0" err="1"/>
              <a:t>madurez</a:t>
            </a:r>
            <a:r>
              <a:rPr dirty="0"/>
              <a:t> </a:t>
            </a:r>
            <a:r>
              <a:rPr dirty="0" err="1"/>
              <a:t>administrativa</a:t>
            </a:r>
            <a:r>
              <a:rPr dirty="0"/>
              <a:t> y la </a:t>
            </a:r>
            <a:r>
              <a:rPr dirty="0" err="1"/>
              <a:t>cognición</a:t>
            </a:r>
            <a:r>
              <a:rPr dirty="0"/>
              <a:t> </a:t>
            </a:r>
            <a:r>
              <a:rPr dirty="0" err="1"/>
              <a:t>empresarial</a:t>
            </a:r>
            <a:r>
              <a:rPr dirty="0"/>
              <a:t> no son el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programa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GLOSARIO BREVE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Organization: </a:t>
            </a:r>
            <a:r>
              <a:rPr dirty="0" err="1"/>
              <a:t>entidad</a:t>
            </a:r>
            <a:r>
              <a:rPr dirty="0"/>
              <a:t> </a:t>
            </a:r>
            <a:r>
              <a:rPr dirty="0" err="1"/>
              <a:t>canónica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representa</a:t>
            </a:r>
            <a:r>
              <a:rPr dirty="0"/>
              <a:t> a la </a:t>
            </a:r>
            <a:r>
              <a:rPr dirty="0" err="1"/>
              <a:t>inmobiliaria</a:t>
            </a:r>
            <a:r>
              <a:rPr dirty="0"/>
              <a:t> o </a:t>
            </a:r>
            <a:r>
              <a:rPr dirty="0" err="1"/>
              <a:t>negocio</a:t>
            </a:r>
            <a:r>
              <a:rPr dirty="0"/>
              <a:t> y </a:t>
            </a:r>
            <a:r>
              <a:rPr dirty="0" err="1"/>
              <a:t>actúa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owner de </a:t>
            </a:r>
            <a:r>
              <a:rPr dirty="0" err="1"/>
              <a:t>trabajo</a:t>
            </a:r>
            <a:r>
              <a:rPr dirty="0"/>
              <a:t> y </a:t>
            </a:r>
            <a:r>
              <a:rPr dirty="0" err="1"/>
              <a:t>activos</a:t>
            </a:r>
            <a:r>
              <a:rPr dirty="0"/>
              <a:t> </a:t>
            </a:r>
            <a:r>
              <a:rPr dirty="0" err="1"/>
              <a:t>organizacionales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Membership: </a:t>
            </a:r>
            <a:r>
              <a:rPr dirty="0" err="1"/>
              <a:t>vínculo</a:t>
            </a:r>
            <a:r>
              <a:rPr dirty="0"/>
              <a:t> entre un </a:t>
            </a:r>
            <a:r>
              <a:rPr dirty="0" err="1"/>
              <a:t>usuario</a:t>
            </a:r>
            <a:r>
              <a:rPr dirty="0"/>
              <a:t> </a:t>
            </a:r>
            <a:r>
              <a:rPr dirty="0" err="1"/>
              <a:t>autenticado</a:t>
            </a:r>
            <a:r>
              <a:rPr dirty="0"/>
              <a:t> y </a:t>
            </a:r>
            <a:r>
              <a:rPr dirty="0" err="1"/>
              <a:t>una</a:t>
            </a:r>
            <a:r>
              <a:rPr dirty="0"/>
              <a:t> Organization, con roles o grants </a:t>
            </a:r>
            <a:r>
              <a:rPr dirty="0" err="1"/>
              <a:t>aplicables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Assignment: </a:t>
            </a:r>
            <a:r>
              <a:rPr dirty="0" err="1"/>
              <a:t>relación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indica a </a:t>
            </a:r>
            <a:r>
              <a:rPr dirty="0" err="1"/>
              <a:t>quién</a:t>
            </a:r>
            <a:r>
              <a:rPr dirty="0"/>
              <a:t> se </a:t>
            </a:r>
            <a:r>
              <a:rPr dirty="0" err="1"/>
              <a:t>asigna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responsabilidad</a:t>
            </a:r>
            <a:r>
              <a:rPr dirty="0"/>
              <a:t> o </a:t>
            </a:r>
            <a:r>
              <a:rPr dirty="0" err="1"/>
              <a:t>trabajo</a:t>
            </a:r>
            <a:r>
              <a:rPr dirty="0"/>
              <a:t>; no equivale </a:t>
            </a:r>
            <a:r>
              <a:rPr dirty="0" err="1"/>
              <a:t>automáticamente</a:t>
            </a:r>
            <a:r>
              <a:rPr dirty="0"/>
              <a:t> a Membership </a:t>
            </a:r>
            <a:r>
              <a:rPr dirty="0" err="1"/>
              <a:t>ni</a:t>
            </a:r>
            <a:r>
              <a:rPr dirty="0"/>
              <a:t> a </a:t>
            </a:r>
            <a:r>
              <a:rPr dirty="0" err="1"/>
              <a:t>autoridad</a:t>
            </a:r>
            <a:r>
              <a:rPr dirty="0"/>
              <a:t> total.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DRI: persona </a:t>
            </a:r>
            <a:r>
              <a:rPr dirty="0" err="1"/>
              <a:t>directamente</a:t>
            </a:r>
            <a:r>
              <a:rPr dirty="0"/>
              <a:t> </a:t>
            </a:r>
            <a:r>
              <a:rPr dirty="0" err="1"/>
              <a:t>responsable</a:t>
            </a:r>
            <a:r>
              <a:rPr dirty="0"/>
              <a:t> de un </a:t>
            </a:r>
            <a:r>
              <a:rPr dirty="0" err="1"/>
              <a:t>resultado</a:t>
            </a:r>
            <a:r>
              <a:rPr dirty="0"/>
              <a:t> o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Organization Policy: </a:t>
            </a:r>
            <a:r>
              <a:rPr dirty="0" err="1"/>
              <a:t>regla</a:t>
            </a:r>
            <a:r>
              <a:rPr dirty="0"/>
              <a:t> </a:t>
            </a:r>
            <a:r>
              <a:rPr dirty="0" err="1"/>
              <a:t>tipada</a:t>
            </a:r>
            <a:r>
              <a:rPr dirty="0"/>
              <a:t>, </a:t>
            </a:r>
            <a:r>
              <a:rPr dirty="0" err="1"/>
              <a:t>versionada</a:t>
            </a:r>
            <a:r>
              <a:rPr dirty="0"/>
              <a:t> y </a:t>
            </a:r>
            <a:r>
              <a:rPr dirty="0" err="1"/>
              <a:t>publicada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persona </a:t>
            </a:r>
            <a:r>
              <a:rPr dirty="0" err="1"/>
              <a:t>autorizada</a:t>
            </a:r>
            <a:r>
              <a:rPr dirty="0"/>
              <a:t>; el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interpretarla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no </a:t>
            </a:r>
            <a:r>
              <a:rPr dirty="0" err="1"/>
              <a:t>publicarla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solo.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Rollout: </a:t>
            </a:r>
            <a:r>
              <a:rPr dirty="0" err="1"/>
              <a:t>introducción</a:t>
            </a:r>
            <a:r>
              <a:rPr dirty="0"/>
              <a:t> </a:t>
            </a:r>
            <a:r>
              <a:rPr dirty="0" err="1"/>
              <a:t>controlada</a:t>
            </a:r>
            <a:r>
              <a:rPr dirty="0"/>
              <a:t> en </a:t>
            </a:r>
            <a:r>
              <a:rPr dirty="0" err="1"/>
              <a:t>uso</a:t>
            </a:r>
            <a:r>
              <a:rPr dirty="0"/>
              <a:t> real, con flags, </a:t>
            </a:r>
            <a:r>
              <a:rPr dirty="0" err="1"/>
              <a:t>verificación</a:t>
            </a:r>
            <a:r>
              <a:rPr dirty="0"/>
              <a:t> y </a:t>
            </a:r>
            <a:r>
              <a:rPr dirty="0" err="1"/>
              <a:t>observación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Cross-Case question: </a:t>
            </a:r>
            <a:r>
              <a:rPr dirty="0" err="1"/>
              <a:t>pregunta</a:t>
            </a:r>
            <a:r>
              <a:rPr dirty="0"/>
              <a:t> </a:t>
            </a:r>
            <a:r>
              <a:rPr dirty="0" err="1"/>
              <a:t>cuya</a:t>
            </a:r>
            <a:r>
              <a:rPr dirty="0"/>
              <a:t> </a:t>
            </a:r>
            <a:r>
              <a:rPr dirty="0" err="1"/>
              <a:t>respuesta</a:t>
            </a:r>
            <a:r>
              <a:rPr dirty="0"/>
              <a:t>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relacionar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de </a:t>
            </a:r>
            <a:r>
              <a:rPr dirty="0" err="1"/>
              <a:t>varios</a:t>
            </a:r>
            <a:r>
              <a:rPr dirty="0"/>
              <a:t> Cases </a:t>
            </a:r>
            <a:r>
              <a:rPr dirty="0" err="1"/>
              <a:t>dentro</a:t>
            </a:r>
            <a:r>
              <a:rPr dirty="0"/>
              <a:t> del scope </a:t>
            </a:r>
            <a:r>
              <a:rPr dirty="0" err="1"/>
              <a:t>autorizado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Business Brain: </a:t>
            </a:r>
            <a:r>
              <a:rPr dirty="0" err="1"/>
              <a:t>capa</a:t>
            </a:r>
            <a:r>
              <a:rPr dirty="0"/>
              <a:t> de </a:t>
            </a:r>
            <a:r>
              <a:rPr dirty="0" err="1"/>
              <a:t>conocimiento</a:t>
            </a:r>
            <a:r>
              <a:rPr dirty="0"/>
              <a:t> </a:t>
            </a:r>
            <a:r>
              <a:rPr dirty="0" err="1"/>
              <a:t>empresarial</a:t>
            </a:r>
            <a:r>
              <a:rPr dirty="0"/>
              <a:t> </a:t>
            </a:r>
            <a:r>
              <a:rPr dirty="0" err="1"/>
              <a:t>compilado</a:t>
            </a:r>
            <a:r>
              <a:rPr dirty="0"/>
              <a:t> y consultable. No </a:t>
            </a:r>
            <a:r>
              <a:rPr dirty="0" err="1"/>
              <a:t>sustituye</a:t>
            </a:r>
            <a:r>
              <a:rPr dirty="0"/>
              <a:t> memoria personal,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Scope: </a:t>
            </a:r>
            <a:r>
              <a:rPr dirty="0" err="1"/>
              <a:t>límite</a:t>
            </a:r>
            <a:r>
              <a:rPr dirty="0"/>
              <a:t> de </a:t>
            </a:r>
            <a:r>
              <a:rPr dirty="0" err="1"/>
              <a:t>organización</a:t>
            </a:r>
            <a:r>
              <a:rPr dirty="0"/>
              <a:t>, </a:t>
            </a:r>
            <a:r>
              <a:rPr dirty="0" err="1"/>
              <a:t>equipo</a:t>
            </a:r>
            <a:r>
              <a:rPr dirty="0"/>
              <a:t>, </a:t>
            </a:r>
            <a:r>
              <a:rPr dirty="0" err="1"/>
              <a:t>usuario</a:t>
            </a:r>
            <a:r>
              <a:rPr dirty="0"/>
              <a:t> o </a:t>
            </a:r>
            <a:r>
              <a:rPr dirty="0" err="1"/>
              <a:t>dominio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del </a:t>
            </a:r>
            <a:r>
              <a:rPr dirty="0" err="1"/>
              <a:t>cual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verse y </a:t>
            </a:r>
            <a:r>
              <a:rPr dirty="0" err="1"/>
              <a:t>utilizarse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Provenance: </a:t>
            </a:r>
            <a:r>
              <a:rPr dirty="0" err="1"/>
              <a:t>registro</a:t>
            </a:r>
            <a:r>
              <a:rPr dirty="0"/>
              <a:t> de </a:t>
            </a:r>
            <a:r>
              <a:rPr dirty="0" err="1"/>
              <a:t>dónde</a:t>
            </a:r>
            <a:r>
              <a:rPr dirty="0"/>
              <a:t> </a:t>
            </a:r>
            <a:r>
              <a:rPr dirty="0" err="1"/>
              <a:t>proviene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afirmación</a:t>
            </a:r>
            <a:r>
              <a:rPr dirty="0"/>
              <a:t> o </a:t>
            </a:r>
            <a:r>
              <a:rPr dirty="0" err="1"/>
              <a:t>pieza</a:t>
            </a:r>
            <a:r>
              <a:rPr dirty="0"/>
              <a:t> de </a:t>
            </a:r>
            <a:r>
              <a:rPr dirty="0" err="1"/>
              <a:t>conocimiento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Freshness: </a:t>
            </a:r>
            <a:r>
              <a:rPr dirty="0" err="1"/>
              <a:t>vigencia</a:t>
            </a:r>
            <a:r>
              <a:rPr dirty="0"/>
              <a:t> temporal de la </a:t>
            </a:r>
            <a:r>
              <a:rPr dirty="0" err="1"/>
              <a:t>evidencia</a:t>
            </a:r>
            <a:r>
              <a:rPr dirty="0"/>
              <a:t>; </a:t>
            </a:r>
            <a:r>
              <a:rPr dirty="0" err="1"/>
              <a:t>ayuda</a:t>
            </a:r>
            <a:r>
              <a:rPr dirty="0"/>
              <a:t> a saber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todavía</a:t>
            </a:r>
            <a:r>
              <a:rPr dirty="0"/>
              <a:t> es </a:t>
            </a:r>
            <a:r>
              <a:rPr dirty="0" err="1"/>
              <a:t>adecuada</a:t>
            </a:r>
            <a:r>
              <a:rPr dirty="0"/>
              <a:t> para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Cross-tenant leakage: </a:t>
            </a:r>
            <a:r>
              <a:rPr dirty="0" err="1"/>
              <a:t>exposición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o </a:t>
            </a:r>
            <a:r>
              <a:rPr dirty="0" err="1"/>
              <a:t>decisiones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organización</a:t>
            </a:r>
            <a:r>
              <a:rPr dirty="0"/>
              <a:t> a </a:t>
            </a:r>
            <a:r>
              <a:rPr dirty="0" err="1"/>
              <a:t>otra</a:t>
            </a:r>
            <a:r>
              <a:rPr dirty="0"/>
              <a:t> sin </a:t>
            </a:r>
            <a:r>
              <a:rPr dirty="0" err="1"/>
              <a:t>autorización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FUENTES</a:t>
            </a:r>
          </a:p>
          <a:p>
            <a:r>
              <a:rPr dirty="0"/>
              <a:t>- docs/roadmap/gu-os-evolution-roadmap.md v1.1, R3, R5 y §§5, 8, 11</a:t>
            </a:r>
          </a:p>
          <a:p>
            <a:r>
              <a:rPr dirty="0"/>
              <a:t>- docs/adr/ADR-106-organization-native-multiseat-tenancy.md</a:t>
            </a:r>
          </a:p>
          <a:p>
            <a:r>
              <a:rPr dirty="0"/>
              <a:t>- docs/adr/ADR-108-versioned-organization-policy.md</a:t>
            </a:r>
          </a:p>
          <a:p>
            <a:r>
              <a:rPr dirty="0"/>
              <a:t>- docs/brain/gbrain-evaluation-and-plan.md</a:t>
            </a:r>
          </a:p>
          <a:p>
            <a:r>
              <a:rPr dirty="0"/>
              <a:t>- docs/brain/business-and-platform-brain-boundary.md</a:t>
            </a:r>
          </a:p>
          <a:p>
            <a:r>
              <a:rPr dirty="0"/>
              <a:t>- Baseline: </a:t>
            </a:r>
            <a:r>
              <a:rPr dirty="0" err="1"/>
              <a:t>janotowers</a:t>
            </a:r>
            <a:r>
              <a:rPr dirty="0"/>
              <a:t>/Gu-OS main @ 5a6fbb05117042e1f7c47c911e0e2bc14d068340 · reviewed 11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PROPÓSITO DE LA LÁMINA</a:t>
            </a:r>
          </a:p>
          <a:p>
            <a:r>
              <a:rPr dirty="0"/>
              <a:t>Esta </a:t>
            </a:r>
            <a:r>
              <a:rPr dirty="0" err="1"/>
              <a:t>lámina</a:t>
            </a:r>
            <a:r>
              <a:rPr dirty="0"/>
              <a:t> </a:t>
            </a:r>
            <a:r>
              <a:rPr dirty="0" err="1"/>
              <a:t>explica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entran</a:t>
            </a:r>
            <a:r>
              <a:rPr dirty="0"/>
              <a:t> al roadmap </a:t>
            </a:r>
            <a:r>
              <a:rPr dirty="0" err="1"/>
              <a:t>capacidades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servir</a:t>
            </a:r>
            <a:r>
              <a:rPr dirty="0"/>
              <a:t> a </a:t>
            </a:r>
            <a:r>
              <a:rPr dirty="0" err="1"/>
              <a:t>varios</a:t>
            </a:r>
            <a:r>
              <a:rPr dirty="0"/>
              <a:t> Roadmap Increments. </a:t>
            </a:r>
            <a:r>
              <a:rPr dirty="0" err="1"/>
              <a:t>Corrige</a:t>
            </a:r>
            <a:r>
              <a:rPr dirty="0"/>
              <a:t> dos </a:t>
            </a:r>
            <a:r>
              <a:rPr dirty="0" err="1"/>
              <a:t>ambigüedades</a:t>
            </a:r>
            <a:r>
              <a:rPr dirty="0"/>
              <a:t> de la </a:t>
            </a:r>
            <a:r>
              <a:rPr dirty="0" err="1"/>
              <a:t>versión</a:t>
            </a:r>
            <a:r>
              <a:rPr dirty="0"/>
              <a:t> anterior: “</a:t>
            </a:r>
            <a:r>
              <a:rPr dirty="0" err="1"/>
              <a:t>arrastrado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” no </a:t>
            </a:r>
            <a:r>
              <a:rPr dirty="0" err="1"/>
              <a:t>indicaba</a:t>
            </a:r>
            <a:r>
              <a:rPr dirty="0"/>
              <a:t> con </a:t>
            </a:r>
            <a:r>
              <a:rPr dirty="0" err="1"/>
              <a:t>claridad</a:t>
            </a:r>
            <a:r>
              <a:rPr dirty="0"/>
              <a:t>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justificaba</a:t>
            </a:r>
            <a:r>
              <a:rPr dirty="0"/>
              <a:t> el </a:t>
            </a:r>
            <a:r>
              <a:rPr dirty="0" err="1"/>
              <a:t>trabajo</a:t>
            </a:r>
            <a:r>
              <a:rPr dirty="0"/>
              <a:t>, y la </a:t>
            </a:r>
            <a:r>
              <a:rPr dirty="0" err="1"/>
              <a:t>tabla</a:t>
            </a:r>
            <a:r>
              <a:rPr dirty="0"/>
              <a:t> </a:t>
            </a:r>
            <a:r>
              <a:rPr dirty="0" err="1"/>
              <a:t>mezclaba</a:t>
            </a:r>
            <a:r>
              <a:rPr dirty="0"/>
              <a:t> </a:t>
            </a:r>
            <a:r>
              <a:rPr dirty="0" err="1"/>
              <a:t>capacidades</a:t>
            </a:r>
            <a:r>
              <a:rPr dirty="0"/>
              <a:t> sin </a:t>
            </a:r>
            <a:r>
              <a:rPr dirty="0" err="1"/>
              <a:t>número</a:t>
            </a:r>
            <a:r>
              <a:rPr dirty="0"/>
              <a:t> R con </a:t>
            </a:r>
            <a:r>
              <a:rPr dirty="0" err="1"/>
              <a:t>expansiones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pertenecen</a:t>
            </a:r>
            <a:r>
              <a:rPr dirty="0"/>
              <a:t> a R5 o R8.</a:t>
            </a:r>
          </a:p>
          <a:p>
            <a:endParaRPr dirty="0"/>
          </a:p>
          <a:p>
            <a:r>
              <a:rPr dirty="0"/>
              <a:t>GUION DIDÁCTICO</a:t>
            </a:r>
          </a:p>
          <a:p>
            <a:r>
              <a:rPr dirty="0"/>
              <a:t>1. </a:t>
            </a:r>
            <a:r>
              <a:rPr dirty="0" err="1"/>
              <a:t>Empiece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distinguir</a:t>
            </a:r>
            <a:r>
              <a:rPr dirty="0"/>
              <a:t> un Roadmap Increment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transversal. Un Roadmap Increment, </a:t>
            </a:r>
            <a:r>
              <a:rPr dirty="0" err="1"/>
              <a:t>como</a:t>
            </a:r>
            <a:r>
              <a:rPr dirty="0"/>
              <a:t> R1 o R4,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demostrar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responsabilidad</a:t>
            </a:r>
            <a:r>
              <a:rPr dirty="0"/>
              <a:t> u outcome de </a:t>
            </a:r>
            <a:r>
              <a:rPr dirty="0" err="1"/>
              <a:t>producto</a:t>
            </a:r>
            <a:r>
              <a:rPr dirty="0"/>
              <a:t>. Una </a:t>
            </a:r>
            <a:r>
              <a:rPr dirty="0" err="1"/>
              <a:t>capacidad</a:t>
            </a:r>
            <a:r>
              <a:rPr dirty="0"/>
              <a:t> transversal,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paquetes</a:t>
            </a:r>
            <a:r>
              <a:rPr dirty="0"/>
              <a:t> privados de Skills o </a:t>
            </a:r>
            <a:r>
              <a:rPr dirty="0" err="1"/>
              <a:t>continuidad</a:t>
            </a:r>
            <a:r>
              <a:rPr dirty="0"/>
              <a:t> entre canales,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servir</a:t>
            </a:r>
            <a:r>
              <a:rPr dirty="0"/>
              <a:t> a </a:t>
            </a:r>
            <a:r>
              <a:rPr dirty="0" err="1"/>
              <a:t>varios</a:t>
            </a:r>
            <a:r>
              <a:rPr dirty="0"/>
              <a:t> </a:t>
            </a:r>
            <a:r>
              <a:rPr dirty="0" err="1"/>
              <a:t>incrementos</a:t>
            </a:r>
            <a:r>
              <a:rPr dirty="0"/>
              <a:t> y no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ocupar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sola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fase</a:t>
            </a:r>
            <a:r>
              <a:rPr dirty="0"/>
              <a:t> completa del roadmap.</a:t>
            </a:r>
          </a:p>
          <a:p>
            <a:endParaRPr dirty="0"/>
          </a:p>
          <a:p>
            <a:r>
              <a:rPr dirty="0"/>
              <a:t>2. </a:t>
            </a:r>
            <a:r>
              <a:rPr dirty="0" err="1"/>
              <a:t>Explique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“</a:t>
            </a:r>
            <a:r>
              <a:rPr dirty="0" err="1"/>
              <a:t>posibles</a:t>
            </a:r>
            <a:r>
              <a:rPr dirty="0"/>
              <a:t> </a:t>
            </a:r>
            <a:r>
              <a:rPr dirty="0" err="1"/>
              <a:t>consumidores</a:t>
            </a:r>
            <a:r>
              <a:rPr dirty="0"/>
              <a:t>” </a:t>
            </a:r>
            <a:r>
              <a:rPr dirty="0" err="1"/>
              <a:t>reemplaza</a:t>
            </a:r>
            <a:r>
              <a:rPr dirty="0"/>
              <a:t> a “</a:t>
            </a:r>
            <a:r>
              <a:rPr dirty="0" err="1"/>
              <a:t>arrastrado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”. La </a:t>
            </a:r>
            <a:r>
              <a:rPr dirty="0" err="1"/>
              <a:t>expresión</a:t>
            </a:r>
            <a:r>
              <a:rPr dirty="0"/>
              <a:t> anterior </a:t>
            </a:r>
            <a:r>
              <a:rPr dirty="0" err="1"/>
              <a:t>intentaba</a:t>
            </a:r>
            <a:r>
              <a:rPr dirty="0"/>
              <a:t> </a:t>
            </a:r>
            <a:r>
              <a:rPr dirty="0" err="1"/>
              <a:t>decir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un </a:t>
            </a:r>
            <a:r>
              <a:rPr dirty="0" err="1"/>
              <a:t>incremento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 </a:t>
            </a:r>
            <a:r>
              <a:rPr dirty="0" err="1"/>
              <a:t>crea</a:t>
            </a:r>
            <a:r>
              <a:rPr dirty="0"/>
              <a:t> la </a:t>
            </a:r>
            <a:r>
              <a:rPr dirty="0" err="1"/>
              <a:t>necesidad</a:t>
            </a:r>
            <a:r>
              <a:rPr dirty="0"/>
              <a:t> y </a:t>
            </a:r>
            <a:r>
              <a:rPr dirty="0" err="1"/>
              <a:t>justifica</a:t>
            </a:r>
            <a:r>
              <a:rPr dirty="0"/>
              <a:t> la </a:t>
            </a:r>
            <a:r>
              <a:rPr dirty="0" err="1"/>
              <a:t>inversión</a:t>
            </a:r>
            <a:r>
              <a:rPr dirty="0"/>
              <a:t>. </a:t>
            </a:r>
            <a:r>
              <a:rPr dirty="0" err="1"/>
              <a:t>Podía</a:t>
            </a:r>
            <a:r>
              <a:rPr dirty="0"/>
              <a:t> </a:t>
            </a:r>
            <a:r>
              <a:rPr dirty="0" err="1"/>
              <a:t>interpretarse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dependencia</a:t>
            </a:r>
            <a:r>
              <a:rPr dirty="0"/>
              <a:t> </a:t>
            </a:r>
            <a:r>
              <a:rPr dirty="0" err="1"/>
              <a:t>automática</a:t>
            </a:r>
            <a:r>
              <a:rPr dirty="0"/>
              <a:t> o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debía</a:t>
            </a:r>
            <a:r>
              <a:rPr dirty="0"/>
              <a:t> </a:t>
            </a:r>
            <a:r>
              <a:rPr dirty="0" err="1"/>
              <a:t>ejecutarse</a:t>
            </a:r>
            <a:r>
              <a:rPr dirty="0"/>
              <a:t> </a:t>
            </a:r>
            <a:r>
              <a:rPr dirty="0" err="1"/>
              <a:t>completo</a:t>
            </a:r>
            <a:r>
              <a:rPr dirty="0"/>
              <a:t>. “</a:t>
            </a:r>
            <a:r>
              <a:rPr dirty="0" err="1"/>
              <a:t>Posibles</a:t>
            </a:r>
            <a:r>
              <a:rPr dirty="0"/>
              <a:t> </a:t>
            </a:r>
            <a:r>
              <a:rPr dirty="0" err="1"/>
              <a:t>consumidores</a:t>
            </a:r>
            <a:r>
              <a:rPr dirty="0"/>
              <a:t>” indica </a:t>
            </a:r>
            <a:r>
              <a:rPr dirty="0" err="1"/>
              <a:t>solamente</a:t>
            </a:r>
            <a:r>
              <a:rPr dirty="0"/>
              <a:t> </a:t>
            </a:r>
            <a:r>
              <a:rPr dirty="0" err="1"/>
              <a:t>dónde</a:t>
            </a:r>
            <a:r>
              <a:rPr dirty="0"/>
              <a:t> </a:t>
            </a:r>
            <a:r>
              <a:rPr dirty="0" err="1"/>
              <a:t>podría</a:t>
            </a:r>
            <a:r>
              <a:rPr dirty="0"/>
              <a:t> </a:t>
            </a:r>
            <a:r>
              <a:rPr dirty="0" err="1"/>
              <a:t>aparecer</a:t>
            </a:r>
            <a:r>
              <a:rPr dirty="0"/>
              <a:t> la </a:t>
            </a:r>
            <a:r>
              <a:rPr dirty="0" err="1"/>
              <a:t>necesidad</a:t>
            </a:r>
            <a:r>
              <a:rPr dirty="0"/>
              <a:t>. El trigger </a:t>
            </a:r>
            <a:r>
              <a:rPr dirty="0" err="1"/>
              <a:t>verificable</a:t>
            </a:r>
            <a:r>
              <a:rPr dirty="0"/>
              <a:t> decide </a:t>
            </a:r>
            <a:r>
              <a:rPr dirty="0" err="1"/>
              <a:t>si</a:t>
            </a:r>
            <a:r>
              <a:rPr dirty="0"/>
              <a:t> la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realmente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3. </a:t>
            </a:r>
            <a:r>
              <a:rPr dirty="0" err="1"/>
              <a:t>Estas</a:t>
            </a:r>
            <a:r>
              <a:rPr dirty="0"/>
              <a:t> </a:t>
            </a:r>
            <a:r>
              <a:rPr dirty="0" err="1"/>
              <a:t>capacidades</a:t>
            </a:r>
            <a:r>
              <a:rPr dirty="0"/>
              <a:t> no </a:t>
            </a:r>
            <a:r>
              <a:rPr dirty="0" err="1"/>
              <a:t>pueden</a:t>
            </a:r>
            <a:r>
              <a:rPr dirty="0"/>
              <a:t> </a:t>
            </a:r>
            <a:r>
              <a:rPr dirty="0" err="1"/>
              <a:t>desarrollarse</a:t>
            </a:r>
            <a:r>
              <a:rPr dirty="0"/>
              <a:t> </a:t>
            </a:r>
            <a:r>
              <a:rPr dirty="0" err="1"/>
              <a:t>arbitrariamente</a:t>
            </a:r>
            <a:r>
              <a:rPr dirty="0"/>
              <a:t> en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. </a:t>
            </a:r>
            <a:r>
              <a:rPr dirty="0" err="1"/>
              <a:t>Tampoco</a:t>
            </a:r>
            <a:r>
              <a:rPr dirty="0"/>
              <a:t>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fecha</a:t>
            </a:r>
            <a:r>
              <a:rPr dirty="0"/>
              <a:t> </a:t>
            </a:r>
            <a:r>
              <a:rPr dirty="0" err="1"/>
              <a:t>fija</a:t>
            </a:r>
            <a:r>
              <a:rPr dirty="0"/>
              <a:t>. La </a:t>
            </a:r>
            <a:r>
              <a:rPr dirty="0" err="1"/>
              <a:t>regla</a:t>
            </a:r>
            <a:r>
              <a:rPr dirty="0"/>
              <a:t> es demand-pulled: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necesidad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bloquea</a:t>
            </a:r>
            <a:r>
              <a:rPr dirty="0"/>
              <a:t> un workflow 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mejorarlo</a:t>
            </a:r>
            <a:r>
              <a:rPr dirty="0"/>
              <a:t> de forma material. Debe </a:t>
            </a:r>
            <a:r>
              <a:rPr dirty="0" err="1"/>
              <a:t>existir</a:t>
            </a:r>
            <a:r>
              <a:rPr dirty="0"/>
              <a:t> un </a:t>
            </a:r>
            <a:r>
              <a:rPr dirty="0" err="1"/>
              <a:t>consumidor</a:t>
            </a:r>
            <a:r>
              <a:rPr dirty="0"/>
              <a:t> </a:t>
            </a:r>
            <a:r>
              <a:rPr dirty="0" err="1"/>
              <a:t>identificable</a:t>
            </a:r>
            <a:r>
              <a:rPr dirty="0"/>
              <a:t>, </a:t>
            </a:r>
            <a:r>
              <a:rPr dirty="0" err="1"/>
              <a:t>evidencia</a:t>
            </a:r>
            <a:r>
              <a:rPr dirty="0"/>
              <a:t> del </a:t>
            </a:r>
            <a:r>
              <a:rPr dirty="0" err="1"/>
              <a:t>problema</a:t>
            </a:r>
            <a:r>
              <a:rPr dirty="0"/>
              <a:t> y un </a:t>
            </a:r>
            <a:r>
              <a:rPr dirty="0" err="1"/>
              <a:t>alcance</a:t>
            </a:r>
            <a:r>
              <a:rPr dirty="0"/>
              <a:t> </a:t>
            </a:r>
            <a:r>
              <a:rPr dirty="0" err="1"/>
              <a:t>acotado</a:t>
            </a:r>
            <a:r>
              <a:rPr dirty="0"/>
              <a:t>. El </a:t>
            </a:r>
            <a:r>
              <a:rPr dirty="0" err="1"/>
              <a:t>equipo</a:t>
            </a:r>
            <a:r>
              <a:rPr dirty="0"/>
              <a:t> también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proteger</a:t>
            </a:r>
            <a:r>
              <a:rPr dirty="0"/>
              <a:t> R0 y el </a:t>
            </a:r>
            <a:r>
              <a:rPr dirty="0" err="1"/>
              <a:t>incremento</a:t>
            </a:r>
            <a:r>
              <a:rPr dirty="0"/>
              <a:t> principal </a:t>
            </a:r>
            <a:r>
              <a:rPr dirty="0" err="1"/>
              <a:t>vigente</a:t>
            </a:r>
            <a:r>
              <a:rPr dirty="0"/>
              <a:t> para no </a:t>
            </a:r>
            <a:r>
              <a:rPr dirty="0" err="1"/>
              <a:t>abrir</a:t>
            </a:r>
            <a:r>
              <a:rPr dirty="0"/>
              <a:t> </a:t>
            </a:r>
            <a:r>
              <a:rPr dirty="0" err="1"/>
              <a:t>otro</a:t>
            </a:r>
            <a:r>
              <a:rPr dirty="0"/>
              <a:t> </a:t>
            </a:r>
            <a:r>
              <a:rPr dirty="0" err="1"/>
              <a:t>programa</a:t>
            </a:r>
            <a:r>
              <a:rPr dirty="0"/>
              <a:t> de </a:t>
            </a:r>
            <a:r>
              <a:rPr dirty="0" err="1"/>
              <a:t>plataforma</a:t>
            </a:r>
            <a:r>
              <a:rPr dirty="0"/>
              <a:t> sin </a:t>
            </a:r>
            <a:r>
              <a:rPr dirty="0" err="1"/>
              <a:t>capacidad</a:t>
            </a:r>
            <a:r>
              <a:rPr dirty="0"/>
              <a:t> disponible.</a:t>
            </a:r>
          </a:p>
          <a:p>
            <a:endParaRPr dirty="0"/>
          </a:p>
          <a:p>
            <a:r>
              <a:rPr dirty="0"/>
              <a:t>4. </a:t>
            </a:r>
            <a:r>
              <a:rPr dirty="0" err="1"/>
              <a:t>Conviene</a:t>
            </a:r>
            <a:r>
              <a:rPr dirty="0"/>
              <a:t> </a:t>
            </a:r>
            <a:r>
              <a:rPr dirty="0" err="1"/>
              <a:t>distinguir</a:t>
            </a:r>
            <a:r>
              <a:rPr dirty="0"/>
              <a:t> </a:t>
            </a:r>
            <a:r>
              <a:rPr dirty="0" err="1"/>
              <a:t>exploración</a:t>
            </a:r>
            <a:r>
              <a:rPr dirty="0"/>
              <a:t> de </a:t>
            </a:r>
            <a:r>
              <a:rPr dirty="0" err="1"/>
              <a:t>implementación</a:t>
            </a:r>
            <a:r>
              <a:rPr dirty="0"/>
              <a:t>. Un spike, ADR, </a:t>
            </a:r>
            <a:r>
              <a:rPr dirty="0" err="1"/>
              <a:t>prototipo</a:t>
            </a:r>
            <a:r>
              <a:rPr dirty="0"/>
              <a:t> o </a:t>
            </a:r>
            <a:r>
              <a:rPr dirty="0" err="1"/>
              <a:t>investigación</a:t>
            </a:r>
            <a:r>
              <a:rPr dirty="0"/>
              <a:t> breve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adelantarse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reduce un </a:t>
            </a:r>
            <a:r>
              <a:rPr dirty="0" err="1"/>
              <a:t>riesgo</a:t>
            </a:r>
            <a:r>
              <a:rPr dirty="0"/>
              <a:t> </a:t>
            </a:r>
            <a:r>
              <a:rPr dirty="0" err="1"/>
              <a:t>próximo</a:t>
            </a:r>
            <a:r>
              <a:rPr dirty="0"/>
              <a:t>. La </a:t>
            </a:r>
            <a:r>
              <a:rPr dirty="0" err="1"/>
              <a:t>implementación</a:t>
            </a:r>
            <a:r>
              <a:rPr dirty="0"/>
              <a:t> </a:t>
            </a:r>
            <a:r>
              <a:rPr dirty="0" err="1"/>
              <a:t>destinada</a:t>
            </a:r>
            <a:r>
              <a:rPr dirty="0"/>
              <a:t> a </a:t>
            </a:r>
            <a:r>
              <a:rPr dirty="0" err="1"/>
              <a:t>producción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esperar</a:t>
            </a:r>
            <a:r>
              <a:rPr dirty="0"/>
              <a:t> un trigger </a:t>
            </a:r>
            <a:r>
              <a:rPr dirty="0" err="1"/>
              <a:t>suficiente</a:t>
            </a:r>
            <a:r>
              <a:rPr dirty="0"/>
              <a:t>, un owner, </a:t>
            </a:r>
            <a:r>
              <a:rPr dirty="0" err="1"/>
              <a:t>criterios</a:t>
            </a:r>
            <a:r>
              <a:rPr dirty="0"/>
              <a:t> de </a:t>
            </a:r>
            <a:r>
              <a:rPr dirty="0" err="1"/>
              <a:t>verificación</a:t>
            </a:r>
            <a:r>
              <a:rPr dirty="0"/>
              <a:t> y las </a:t>
            </a:r>
            <a:r>
              <a:rPr dirty="0" err="1"/>
              <a:t>dependencias</a:t>
            </a:r>
            <a:r>
              <a:rPr dirty="0"/>
              <a:t> de </a:t>
            </a:r>
            <a:r>
              <a:rPr dirty="0" err="1"/>
              <a:t>seguridad</a:t>
            </a:r>
            <a:r>
              <a:rPr dirty="0"/>
              <a:t> o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correspondientes</a:t>
            </a:r>
            <a:r>
              <a:rPr dirty="0"/>
              <a:t>. Por tanto, “sin </a:t>
            </a:r>
            <a:r>
              <a:rPr dirty="0" err="1"/>
              <a:t>calendario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” no </a:t>
            </a:r>
            <a:r>
              <a:rPr dirty="0" err="1"/>
              <a:t>significa</a:t>
            </a:r>
            <a:r>
              <a:rPr dirty="0"/>
              <a:t> “sin </a:t>
            </a:r>
            <a:r>
              <a:rPr dirty="0" err="1"/>
              <a:t>dependencias</a:t>
            </a:r>
            <a:r>
              <a:rPr dirty="0"/>
              <a:t>”.</a:t>
            </a:r>
          </a:p>
          <a:p>
            <a:endParaRPr dirty="0"/>
          </a:p>
          <a:p>
            <a:r>
              <a:rPr dirty="0"/>
              <a:t>LECTURA DE LAS CUATRO CAPACIDADES TRANSVERSALES</a:t>
            </a:r>
          </a:p>
          <a:p>
            <a:r>
              <a:rPr dirty="0" err="1"/>
              <a:t>Paquetes</a:t>
            </a:r>
            <a:r>
              <a:rPr dirty="0"/>
              <a:t> privados de Skills. </a:t>
            </a:r>
            <a:r>
              <a:rPr dirty="0" err="1"/>
              <a:t>account_skills</a:t>
            </a:r>
            <a:r>
              <a:rPr dirty="0"/>
              <a:t> V1 </a:t>
            </a:r>
            <a:r>
              <a:rPr dirty="0" err="1"/>
              <a:t>cubre</a:t>
            </a:r>
            <a:r>
              <a:rPr dirty="0"/>
              <a:t> </a:t>
            </a:r>
            <a:r>
              <a:rPr dirty="0" err="1"/>
              <a:t>muchos</a:t>
            </a:r>
            <a:r>
              <a:rPr dirty="0"/>
              <a:t> </a:t>
            </a:r>
            <a:r>
              <a:rPr dirty="0" err="1"/>
              <a:t>usos</a:t>
            </a:r>
            <a:r>
              <a:rPr dirty="0"/>
              <a:t> </a:t>
            </a:r>
            <a:r>
              <a:rPr dirty="0" err="1"/>
              <a:t>cercanos</a:t>
            </a:r>
            <a:r>
              <a:rPr dirty="0"/>
              <a:t>. El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adicional</a:t>
            </a:r>
            <a:r>
              <a:rPr dirty="0"/>
              <a:t> </a:t>
            </a:r>
            <a:r>
              <a:rPr dirty="0" err="1"/>
              <a:t>entra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un </a:t>
            </a:r>
            <a:r>
              <a:rPr dirty="0" err="1"/>
              <a:t>cliente</a:t>
            </a:r>
            <a:r>
              <a:rPr dirty="0"/>
              <a:t> o workflow real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privacidad</a:t>
            </a:r>
            <a:r>
              <a:rPr dirty="0"/>
              <a:t> de </a:t>
            </a:r>
            <a:r>
              <a:rPr dirty="0" err="1"/>
              <a:t>paquete</a:t>
            </a:r>
            <a:r>
              <a:rPr dirty="0"/>
              <a:t>, </a:t>
            </a:r>
            <a:r>
              <a:rPr dirty="0" err="1"/>
              <a:t>versionado</a:t>
            </a:r>
            <a:r>
              <a:rPr dirty="0"/>
              <a:t>, </a:t>
            </a:r>
            <a:r>
              <a:rPr dirty="0" err="1"/>
              <a:t>publicación</a:t>
            </a:r>
            <a:r>
              <a:rPr dirty="0"/>
              <a:t> </a:t>
            </a:r>
            <a:r>
              <a:rPr dirty="0" err="1"/>
              <a:t>controlada</a:t>
            </a:r>
            <a:r>
              <a:rPr dirty="0"/>
              <a:t> o rollback </a:t>
            </a:r>
            <a:r>
              <a:rPr dirty="0" err="1"/>
              <a:t>que</a:t>
            </a:r>
            <a:r>
              <a:rPr dirty="0"/>
              <a:t> la base actual no </a:t>
            </a:r>
            <a:r>
              <a:rPr dirty="0" err="1"/>
              <a:t>resuelve</a:t>
            </a:r>
            <a:r>
              <a:rPr dirty="0"/>
              <a:t>. R1, R3 u </a:t>
            </a:r>
            <a:r>
              <a:rPr dirty="0" err="1"/>
              <a:t>otros</a:t>
            </a:r>
            <a:r>
              <a:rPr dirty="0"/>
              <a:t> </a:t>
            </a:r>
            <a:r>
              <a:rPr dirty="0" err="1"/>
              <a:t>incrementos</a:t>
            </a:r>
            <a:r>
              <a:rPr dirty="0"/>
              <a:t> </a:t>
            </a:r>
            <a:r>
              <a:rPr dirty="0" err="1"/>
              <a:t>podrían</a:t>
            </a:r>
            <a:r>
              <a:rPr dirty="0"/>
              <a:t> </a:t>
            </a:r>
            <a:r>
              <a:rPr dirty="0" err="1"/>
              <a:t>consumirlo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Multi-Skill </a:t>
            </a:r>
            <a:r>
              <a:rPr dirty="0" err="1"/>
              <a:t>dinámico</a:t>
            </a:r>
            <a:r>
              <a:rPr dirty="0"/>
              <a:t> y subagents. El </a:t>
            </a:r>
            <a:r>
              <a:rPr dirty="0" err="1"/>
              <a:t>sistema</a:t>
            </a:r>
            <a:r>
              <a:rPr dirty="0"/>
              <a:t> actual </a:t>
            </a:r>
            <a:r>
              <a:rPr dirty="0" err="1"/>
              <a:t>prefiere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Skill </a:t>
            </a:r>
            <a:r>
              <a:rPr dirty="0" err="1"/>
              <a:t>dominante</a:t>
            </a:r>
            <a:r>
              <a:rPr dirty="0"/>
              <a:t>, </a:t>
            </a:r>
            <a:r>
              <a:rPr dirty="0" err="1"/>
              <a:t>referencias</a:t>
            </a:r>
            <a:r>
              <a:rPr dirty="0"/>
              <a:t> </a:t>
            </a:r>
            <a:r>
              <a:rPr dirty="0" err="1"/>
              <a:t>explícitas</a:t>
            </a:r>
            <a:r>
              <a:rPr dirty="0"/>
              <a:t>, </a:t>
            </a:r>
            <a:r>
              <a:rPr dirty="0" err="1"/>
              <a:t>composición</a:t>
            </a:r>
            <a:r>
              <a:rPr dirty="0"/>
              <a:t> </a:t>
            </a:r>
            <a:r>
              <a:rPr dirty="0" err="1"/>
              <a:t>acotada</a:t>
            </a:r>
            <a:r>
              <a:rPr dirty="0"/>
              <a:t> y capability dispatch. Los subagents o routing </a:t>
            </a:r>
            <a:r>
              <a:rPr dirty="0" err="1"/>
              <a:t>dinámico</a:t>
            </a:r>
            <a:r>
              <a:rPr dirty="0"/>
              <a:t> </a:t>
            </a:r>
            <a:r>
              <a:rPr dirty="0" err="1"/>
              <a:t>entran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logs y </a:t>
            </a:r>
            <a:r>
              <a:rPr dirty="0" err="1"/>
              <a:t>evaluaciones</a:t>
            </a:r>
            <a:r>
              <a:rPr dirty="0"/>
              <a:t> </a:t>
            </a:r>
            <a:r>
              <a:rPr dirty="0" err="1"/>
              <a:t>muestran</a:t>
            </a:r>
            <a:r>
              <a:rPr dirty="0"/>
              <a:t> solicitudes </a:t>
            </a:r>
            <a:r>
              <a:rPr dirty="0" err="1"/>
              <a:t>repetidas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composición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no </a:t>
            </a:r>
            <a:r>
              <a:rPr dirty="0" err="1"/>
              <a:t>resuelve</a:t>
            </a:r>
            <a:r>
              <a:rPr dirty="0"/>
              <a:t> </a:t>
            </a:r>
            <a:r>
              <a:rPr dirty="0" err="1"/>
              <a:t>limpiamente</a:t>
            </a:r>
            <a:r>
              <a:rPr dirty="0"/>
              <a:t>. No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confundirse</a:t>
            </a:r>
            <a:r>
              <a:rPr dirty="0"/>
              <a:t> con multi-seat u </a:t>
            </a:r>
            <a:r>
              <a:rPr dirty="0" err="1"/>
              <a:t>organización</a:t>
            </a:r>
            <a:r>
              <a:rPr dirty="0"/>
              <a:t>: </a:t>
            </a:r>
            <a:r>
              <a:rPr dirty="0" err="1"/>
              <a:t>coordinar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de IA y </a:t>
            </a:r>
            <a:r>
              <a:rPr dirty="0" err="1"/>
              <a:t>coordinar</a:t>
            </a:r>
            <a:r>
              <a:rPr dirty="0"/>
              <a:t> personas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inmobiliaria</a:t>
            </a:r>
            <a:r>
              <a:rPr dirty="0"/>
              <a:t> son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.</a:t>
            </a:r>
          </a:p>
          <a:p>
            <a:endParaRPr dirty="0"/>
          </a:p>
          <a:p>
            <a:r>
              <a:rPr dirty="0" err="1"/>
              <a:t>Continuidad</a:t>
            </a:r>
            <a:r>
              <a:rPr dirty="0"/>
              <a:t> de </a:t>
            </a:r>
            <a:r>
              <a:rPr dirty="0" err="1"/>
              <a:t>voz</a:t>
            </a:r>
            <a:r>
              <a:rPr dirty="0"/>
              <a:t> y canal. Entra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cambiar</a:t>
            </a:r>
            <a:r>
              <a:rPr dirty="0"/>
              <a:t> entre WhatsApp, Web o </a:t>
            </a:r>
            <a:r>
              <a:rPr dirty="0" err="1"/>
              <a:t>voz</a:t>
            </a:r>
            <a:r>
              <a:rPr dirty="0"/>
              <a:t>, o </a:t>
            </a:r>
            <a:r>
              <a:rPr dirty="0" err="1"/>
              <a:t>utilizar</a:t>
            </a:r>
            <a:r>
              <a:rPr dirty="0"/>
              <a:t> </a:t>
            </a:r>
            <a:r>
              <a:rPr dirty="0" err="1"/>
              <a:t>artefactos</a:t>
            </a:r>
            <a:r>
              <a:rPr dirty="0"/>
              <a:t> de </a:t>
            </a:r>
            <a:r>
              <a:rPr dirty="0" err="1"/>
              <a:t>voz</a:t>
            </a:r>
            <a:r>
              <a:rPr dirty="0"/>
              <a:t>, </a:t>
            </a:r>
            <a:r>
              <a:rPr dirty="0" err="1"/>
              <a:t>mejora</a:t>
            </a:r>
            <a:r>
              <a:rPr dirty="0"/>
              <a:t> </a:t>
            </a:r>
            <a:r>
              <a:rPr dirty="0" err="1"/>
              <a:t>materialmente</a:t>
            </a:r>
            <a:r>
              <a:rPr dirty="0"/>
              <a:t> un workflow. La </a:t>
            </a:r>
            <a:r>
              <a:rPr dirty="0" err="1"/>
              <a:t>continuidad</a:t>
            </a:r>
            <a:r>
              <a:rPr dirty="0"/>
              <a:t> de un Case, la </a:t>
            </a:r>
            <a:r>
              <a:rPr dirty="0" err="1"/>
              <a:t>continuidad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decisión</a:t>
            </a:r>
            <a:r>
              <a:rPr dirty="0"/>
              <a:t> </a:t>
            </a:r>
            <a:r>
              <a:rPr dirty="0" err="1"/>
              <a:t>pendiente</a:t>
            </a:r>
            <a:r>
              <a:rPr dirty="0"/>
              <a:t> y la </a:t>
            </a:r>
            <a:r>
              <a:rPr dirty="0" err="1"/>
              <a:t>continuidad</a:t>
            </a:r>
            <a:r>
              <a:rPr dirty="0"/>
              <a:t> general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conversación</a:t>
            </a:r>
            <a:r>
              <a:rPr dirty="0"/>
              <a:t> </a:t>
            </a:r>
            <a:r>
              <a:rPr dirty="0" err="1"/>
              <a:t>siguen</a:t>
            </a:r>
            <a:r>
              <a:rPr dirty="0"/>
              <a:t> </a:t>
            </a:r>
            <a:r>
              <a:rPr dirty="0" err="1"/>
              <a:t>siendo</a:t>
            </a:r>
            <a:r>
              <a:rPr dirty="0"/>
              <a:t> </a:t>
            </a:r>
            <a:r>
              <a:rPr dirty="0" err="1"/>
              <a:t>contratos</a:t>
            </a:r>
            <a:r>
              <a:rPr dirty="0"/>
              <a:t> </a:t>
            </a:r>
            <a:r>
              <a:rPr dirty="0" err="1"/>
              <a:t>distintos</a:t>
            </a:r>
            <a:r>
              <a:rPr dirty="0"/>
              <a:t>. Un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sería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un </a:t>
            </a:r>
            <a:r>
              <a:rPr dirty="0" err="1"/>
              <a:t>asesor</a:t>
            </a:r>
            <a:r>
              <a:rPr dirty="0"/>
              <a:t> </a:t>
            </a:r>
            <a:r>
              <a:rPr dirty="0" err="1"/>
              <a:t>deje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instrucción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voz</a:t>
            </a:r>
            <a:r>
              <a:rPr dirty="0"/>
              <a:t> y </a:t>
            </a:r>
            <a:r>
              <a:rPr dirty="0" err="1"/>
              <a:t>continúe</a:t>
            </a:r>
            <a:r>
              <a:rPr dirty="0"/>
              <a:t> en Web sin </a:t>
            </a:r>
            <a:r>
              <a:rPr dirty="0" err="1"/>
              <a:t>perder</a:t>
            </a:r>
            <a:r>
              <a:rPr dirty="0"/>
              <a:t> el Case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ampliar</a:t>
            </a:r>
            <a:r>
              <a:rPr dirty="0"/>
              <a:t> la </a:t>
            </a:r>
            <a:r>
              <a:rPr dirty="0" err="1"/>
              <a:t>autoridad</a:t>
            </a:r>
            <a:r>
              <a:rPr dirty="0"/>
              <a:t> de Gu.</a:t>
            </a:r>
          </a:p>
          <a:p>
            <a:endParaRPr dirty="0"/>
          </a:p>
          <a:p>
            <a:r>
              <a:rPr dirty="0"/>
              <a:t>Sandbox y </a:t>
            </a:r>
            <a:r>
              <a:rPr dirty="0" err="1"/>
              <a:t>artefactos</a:t>
            </a:r>
            <a:r>
              <a:rPr dirty="0"/>
              <a:t> </a:t>
            </a:r>
            <a:r>
              <a:rPr dirty="0" err="1"/>
              <a:t>ejecutables</a:t>
            </a:r>
            <a:r>
              <a:rPr dirty="0"/>
              <a:t>. Entra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generado</a:t>
            </a:r>
            <a:r>
              <a:rPr dirty="0"/>
              <a:t>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transformación</a:t>
            </a:r>
            <a:r>
              <a:rPr dirty="0"/>
              <a:t> de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resolverse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capability </a:t>
            </a:r>
            <a:r>
              <a:rPr dirty="0" err="1"/>
              <a:t>aprobada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. </a:t>
            </a:r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nunca</a:t>
            </a:r>
            <a:r>
              <a:rPr dirty="0"/>
              <a:t> concede </a:t>
            </a:r>
            <a:r>
              <a:rPr dirty="0" err="1"/>
              <a:t>permiso</a:t>
            </a:r>
            <a:r>
              <a:rPr dirty="0"/>
              <a:t> para </a:t>
            </a:r>
            <a:r>
              <a:rPr dirty="0" err="1"/>
              <a:t>ejecutarlo</a:t>
            </a:r>
            <a:r>
              <a:rPr dirty="0"/>
              <a:t>. El sandbox, las allowlists,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límites</a:t>
            </a:r>
            <a:r>
              <a:rPr dirty="0"/>
              <a:t> de </a:t>
            </a:r>
            <a:r>
              <a:rPr dirty="0" err="1"/>
              <a:t>recursos</a:t>
            </a:r>
            <a:r>
              <a:rPr dirty="0"/>
              <a:t>, la </a:t>
            </a:r>
            <a:r>
              <a:rPr dirty="0" err="1"/>
              <a:t>revisión</a:t>
            </a:r>
            <a:r>
              <a:rPr dirty="0"/>
              <a:t> y la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deben</a:t>
            </a:r>
            <a:r>
              <a:rPr dirty="0"/>
              <a:t> </a:t>
            </a:r>
            <a:r>
              <a:rPr dirty="0" err="1"/>
              <a:t>gobernar</a:t>
            </a:r>
            <a:r>
              <a:rPr dirty="0"/>
              <a:t> la </a:t>
            </a:r>
            <a:r>
              <a:rPr dirty="0" err="1"/>
              <a:t>ejecución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POR QUÉ R5, R8 Y R9 APARECEN EN UNA FRANJA SEPARADA</a:t>
            </a:r>
          </a:p>
          <a:p>
            <a:r>
              <a:rPr dirty="0"/>
              <a:t>R5 y R8 </a:t>
            </a:r>
            <a:r>
              <a:rPr dirty="0" err="1"/>
              <a:t>sí</a:t>
            </a:r>
            <a:r>
              <a:rPr dirty="0"/>
              <a:t> </a:t>
            </a:r>
            <a:r>
              <a:rPr dirty="0" err="1"/>
              <a:t>aparecen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Roadmap Increments en la </a:t>
            </a:r>
            <a:r>
              <a:rPr dirty="0" err="1"/>
              <a:t>secuencia</a:t>
            </a:r>
            <a:r>
              <a:rPr dirty="0"/>
              <a:t> principal. El roadmap también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menciona</a:t>
            </a:r>
            <a:r>
              <a:rPr dirty="0"/>
              <a:t> entre </a:t>
            </a:r>
            <a:r>
              <a:rPr dirty="0" err="1"/>
              <a:t>los</a:t>
            </a:r>
            <a:r>
              <a:rPr dirty="0"/>
              <a:t> tracks demand-pulled para </a:t>
            </a:r>
            <a:r>
              <a:rPr dirty="0" err="1"/>
              <a:t>reforzar</a:t>
            </a:r>
            <a:r>
              <a:rPr dirty="0"/>
              <a:t> sus </a:t>
            </a:r>
            <a:r>
              <a:rPr dirty="0" err="1"/>
              <a:t>condiciones</a:t>
            </a:r>
            <a:r>
              <a:rPr dirty="0"/>
              <a:t> de entrada. La </a:t>
            </a:r>
            <a:r>
              <a:rPr dirty="0" err="1"/>
              <a:t>separación</a:t>
            </a:r>
            <a:r>
              <a:rPr dirty="0"/>
              <a:t> visual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tratarlos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fueran</a:t>
            </a:r>
            <a:r>
              <a:rPr dirty="0"/>
              <a:t> </a:t>
            </a:r>
            <a:r>
              <a:rPr dirty="0" err="1"/>
              <a:t>idénticos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sin </a:t>
            </a:r>
            <a:r>
              <a:rPr dirty="0" err="1"/>
              <a:t>número</a:t>
            </a:r>
            <a:r>
              <a:rPr dirty="0"/>
              <a:t> R.</a:t>
            </a:r>
          </a:p>
          <a:p>
            <a:endParaRPr dirty="0"/>
          </a:p>
          <a:p>
            <a:r>
              <a:rPr dirty="0"/>
              <a:t>R5 </a:t>
            </a:r>
            <a:r>
              <a:rPr dirty="0" err="1"/>
              <a:t>demuestra</a:t>
            </a:r>
            <a:r>
              <a:rPr dirty="0"/>
              <a:t> primero </a:t>
            </a:r>
            <a:r>
              <a:rPr dirty="0" err="1"/>
              <a:t>una</a:t>
            </a:r>
            <a:r>
              <a:rPr dirty="0"/>
              <a:t> Slice </a:t>
            </a:r>
            <a:r>
              <a:rPr dirty="0" err="1"/>
              <a:t>valiosa</a:t>
            </a:r>
            <a:r>
              <a:rPr dirty="0"/>
              <a:t> del Business Brain. La </a:t>
            </a:r>
            <a:r>
              <a:rPr dirty="0" err="1"/>
              <a:t>capa</a:t>
            </a:r>
            <a:r>
              <a:rPr dirty="0"/>
              <a:t> completa de ingesta, </a:t>
            </a:r>
            <a:r>
              <a:rPr dirty="0" err="1"/>
              <a:t>consolidación</a:t>
            </a:r>
            <a:r>
              <a:rPr dirty="0"/>
              <a:t>, graph, query y pattern mining </a:t>
            </a:r>
            <a:r>
              <a:rPr dirty="0" err="1"/>
              <a:t>sólo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crecer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necesidades</a:t>
            </a:r>
            <a:r>
              <a:rPr dirty="0"/>
              <a:t> reales de </a:t>
            </a:r>
            <a:r>
              <a:rPr dirty="0" err="1"/>
              <a:t>producto</a:t>
            </a:r>
            <a:r>
              <a:rPr dirty="0"/>
              <a:t> y </a:t>
            </a:r>
            <a:r>
              <a:rPr dirty="0" err="1"/>
              <a:t>evidencia</a:t>
            </a:r>
            <a:r>
              <a:rPr dirty="0"/>
              <a:t> de valor. Una </a:t>
            </a:r>
            <a:r>
              <a:rPr dirty="0" err="1"/>
              <a:t>pregunta</a:t>
            </a:r>
            <a:r>
              <a:rPr dirty="0"/>
              <a:t> cross-Case </a:t>
            </a:r>
            <a:r>
              <a:rPr dirty="0" err="1"/>
              <a:t>repetida</a:t>
            </a:r>
            <a:r>
              <a:rPr dirty="0"/>
              <a:t> </a:t>
            </a:r>
            <a:r>
              <a:rPr dirty="0" err="1"/>
              <a:t>constituye</a:t>
            </a:r>
            <a:r>
              <a:rPr dirty="0"/>
              <a:t> el trigger </a:t>
            </a:r>
            <a:r>
              <a:rPr dirty="0" err="1"/>
              <a:t>inicial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R8 Consumer Discovery </a:t>
            </a:r>
            <a:r>
              <a:rPr dirty="0" err="1"/>
              <a:t>requiere</a:t>
            </a:r>
            <a:r>
              <a:rPr dirty="0"/>
              <a:t> </a:t>
            </a:r>
            <a:r>
              <a:rPr dirty="0" err="1"/>
              <a:t>suficiente</a:t>
            </a:r>
            <a:r>
              <a:rPr dirty="0"/>
              <a:t> </a:t>
            </a:r>
            <a:r>
              <a:rPr dirty="0" err="1"/>
              <a:t>densidad</a:t>
            </a:r>
            <a:r>
              <a:rPr dirty="0"/>
              <a:t> y </a:t>
            </a:r>
            <a:r>
              <a:rPr dirty="0" err="1"/>
              <a:t>vigencia</a:t>
            </a:r>
            <a:r>
              <a:rPr dirty="0"/>
              <a:t> de </a:t>
            </a:r>
            <a:r>
              <a:rPr dirty="0" err="1"/>
              <a:t>inventario</a:t>
            </a:r>
            <a:r>
              <a:rPr dirty="0"/>
              <a:t>, </a:t>
            </a:r>
            <a:r>
              <a:rPr dirty="0" err="1"/>
              <a:t>además</a:t>
            </a:r>
            <a:r>
              <a:rPr dirty="0"/>
              <a:t> de routing y </a:t>
            </a:r>
            <a:r>
              <a:rPr dirty="0" err="1"/>
              <a:t>economía</a:t>
            </a:r>
            <a:r>
              <a:rPr dirty="0"/>
              <a:t> </a:t>
            </a:r>
            <a:r>
              <a:rPr dirty="0" err="1"/>
              <a:t>alineados</a:t>
            </a:r>
            <a:r>
              <a:rPr dirty="0"/>
              <a:t> con las </a:t>
            </a:r>
            <a:r>
              <a:rPr dirty="0" err="1"/>
              <a:t>inmobiliarias</a:t>
            </a:r>
            <a:r>
              <a:rPr dirty="0"/>
              <a:t>. Su </a:t>
            </a:r>
            <a:r>
              <a:rPr dirty="0" err="1"/>
              <a:t>coherencia</a:t>
            </a:r>
            <a:r>
              <a:rPr dirty="0"/>
              <a:t> </a:t>
            </a:r>
            <a:r>
              <a:rPr dirty="0" err="1"/>
              <a:t>estratégica</a:t>
            </a:r>
            <a:r>
              <a:rPr dirty="0"/>
              <a:t> no lo </a:t>
            </a:r>
            <a:r>
              <a:rPr dirty="0" err="1"/>
              <a:t>convierte</a:t>
            </a:r>
            <a:r>
              <a:rPr dirty="0"/>
              <a:t> en un </a:t>
            </a:r>
            <a:r>
              <a:rPr dirty="0" err="1"/>
              <a:t>compromiso</a:t>
            </a:r>
            <a:r>
              <a:rPr dirty="0"/>
              <a:t> </a:t>
            </a:r>
            <a:r>
              <a:rPr dirty="0" err="1"/>
              <a:t>temprano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R9 no </a:t>
            </a:r>
            <a:r>
              <a:rPr dirty="0" err="1"/>
              <a:t>aparecía</a:t>
            </a:r>
            <a:r>
              <a:rPr dirty="0"/>
              <a:t> en la </a:t>
            </a:r>
            <a:r>
              <a:rPr dirty="0" err="1"/>
              <a:t>tabla</a:t>
            </a:r>
            <a:r>
              <a:rPr dirty="0"/>
              <a:t> anterior </a:t>
            </a:r>
            <a:r>
              <a:rPr dirty="0" err="1"/>
              <a:t>porque</a:t>
            </a:r>
            <a:r>
              <a:rPr dirty="0"/>
              <a:t> la </a:t>
            </a:r>
            <a:r>
              <a:rPr dirty="0" err="1"/>
              <a:t>sección</a:t>
            </a:r>
            <a:r>
              <a:rPr dirty="0"/>
              <a:t> </a:t>
            </a:r>
            <a:r>
              <a:rPr dirty="0" err="1"/>
              <a:t>canónica</a:t>
            </a:r>
            <a:r>
              <a:rPr dirty="0"/>
              <a:t> de tracks </a:t>
            </a:r>
            <a:r>
              <a:rPr dirty="0" err="1"/>
              <a:t>transversales</a:t>
            </a:r>
            <a:r>
              <a:rPr dirty="0"/>
              <a:t> no lo </a:t>
            </a:r>
            <a:r>
              <a:rPr dirty="0" err="1"/>
              <a:t>enumera</a:t>
            </a:r>
            <a:r>
              <a:rPr dirty="0"/>
              <a:t> </a:t>
            </a:r>
            <a:r>
              <a:rPr dirty="0" err="1"/>
              <a:t>allí</a:t>
            </a:r>
            <a:r>
              <a:rPr dirty="0"/>
              <a:t>: el roadmap lo define </a:t>
            </a:r>
            <a:r>
              <a:rPr dirty="0" err="1"/>
              <a:t>como</a:t>
            </a:r>
            <a:r>
              <a:rPr dirty="0"/>
              <a:t> un Roadmap Increment </a:t>
            </a:r>
            <a:r>
              <a:rPr dirty="0" err="1"/>
              <a:t>progresivo</a:t>
            </a:r>
            <a:r>
              <a:rPr dirty="0"/>
              <a:t>. Sin embargo,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confundirse</a:t>
            </a:r>
            <a:r>
              <a:rPr dirty="0"/>
              <a:t> con un track transversal </a:t>
            </a:r>
            <a:r>
              <a:rPr dirty="0" err="1"/>
              <a:t>porque</a:t>
            </a:r>
            <a:r>
              <a:rPr dirty="0"/>
              <a:t> </a:t>
            </a:r>
            <a:r>
              <a:rPr dirty="0" err="1"/>
              <a:t>aprende</a:t>
            </a:r>
            <a:r>
              <a:rPr dirty="0"/>
              <a:t> de </a:t>
            </a:r>
            <a:r>
              <a:rPr dirty="0" err="1"/>
              <a:t>resultados</a:t>
            </a:r>
            <a:r>
              <a:rPr dirty="0"/>
              <a:t> de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incrementos</a:t>
            </a:r>
            <a:r>
              <a:rPr dirty="0"/>
              <a:t>. Por </a:t>
            </a:r>
            <a:r>
              <a:rPr dirty="0" err="1"/>
              <a:t>eso</a:t>
            </a:r>
            <a:r>
              <a:rPr dirty="0"/>
              <a:t> </a:t>
            </a:r>
            <a:r>
              <a:rPr dirty="0" err="1"/>
              <a:t>esta</a:t>
            </a:r>
            <a:r>
              <a:rPr dirty="0"/>
              <a:t> </a:t>
            </a:r>
            <a:r>
              <a:rPr dirty="0" err="1"/>
              <a:t>versión</a:t>
            </a:r>
            <a:r>
              <a:rPr dirty="0"/>
              <a:t> lo </a:t>
            </a:r>
            <a:r>
              <a:rPr dirty="0" err="1"/>
              <a:t>incluye</a:t>
            </a:r>
            <a:r>
              <a:rPr dirty="0"/>
              <a:t> en la </a:t>
            </a:r>
            <a:r>
              <a:rPr dirty="0" err="1"/>
              <a:t>franja</a:t>
            </a:r>
            <a:r>
              <a:rPr dirty="0"/>
              <a:t> </a:t>
            </a:r>
            <a:r>
              <a:rPr dirty="0" err="1"/>
              <a:t>separada</a:t>
            </a:r>
            <a:r>
              <a:rPr dirty="0"/>
              <a:t>. R9 </a:t>
            </a:r>
            <a:r>
              <a:rPr dirty="0" err="1"/>
              <a:t>amplía</a:t>
            </a:r>
            <a:r>
              <a:rPr dirty="0"/>
              <a:t> Platform Knowledge y la </a:t>
            </a:r>
            <a:r>
              <a:rPr dirty="0" err="1"/>
              <a:t>mejora</a:t>
            </a:r>
            <a:r>
              <a:rPr dirty="0"/>
              <a:t> </a:t>
            </a:r>
            <a:r>
              <a:rPr dirty="0" err="1"/>
              <a:t>gobernada</a:t>
            </a:r>
            <a:r>
              <a:rPr dirty="0"/>
              <a:t>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clasificación</a:t>
            </a:r>
            <a:r>
              <a:rPr dirty="0"/>
              <a:t> de </a:t>
            </a:r>
            <a:r>
              <a:rPr dirty="0" err="1"/>
              <a:t>fallas</a:t>
            </a:r>
            <a:r>
              <a:rPr dirty="0"/>
              <a:t>, </a:t>
            </a:r>
            <a:r>
              <a:rPr dirty="0" err="1"/>
              <a:t>propuestas</a:t>
            </a:r>
            <a:r>
              <a:rPr dirty="0"/>
              <a:t>, </a:t>
            </a:r>
            <a:r>
              <a:rPr dirty="0" err="1"/>
              <a:t>evaluaciones</a:t>
            </a:r>
            <a:r>
              <a:rPr dirty="0"/>
              <a:t>, </a:t>
            </a:r>
            <a:r>
              <a:rPr dirty="0" err="1"/>
              <a:t>aprobación</a:t>
            </a:r>
            <a:r>
              <a:rPr dirty="0"/>
              <a:t> humana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corresponda</a:t>
            </a:r>
            <a:r>
              <a:rPr dirty="0"/>
              <a:t>, canary y rollback. No </a:t>
            </a:r>
            <a:r>
              <a:rPr dirty="0" err="1"/>
              <a:t>autoriza</a:t>
            </a:r>
            <a:r>
              <a:rPr dirty="0"/>
              <a:t> auto-</a:t>
            </a:r>
            <a:r>
              <a:rPr dirty="0" err="1"/>
              <a:t>modificación</a:t>
            </a:r>
            <a:r>
              <a:rPr dirty="0"/>
              <a:t> </a:t>
            </a:r>
            <a:r>
              <a:rPr dirty="0" err="1"/>
              <a:t>silenciosa</a:t>
            </a:r>
            <a:r>
              <a:rPr dirty="0"/>
              <a:t> de </a:t>
            </a:r>
            <a:r>
              <a:rPr dirty="0" err="1"/>
              <a:t>políticas</a:t>
            </a:r>
            <a:r>
              <a:rPr dirty="0"/>
              <a:t>, </a:t>
            </a:r>
            <a:r>
              <a:rPr dirty="0" err="1"/>
              <a:t>permisos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de </a:t>
            </a:r>
            <a:r>
              <a:rPr dirty="0" err="1"/>
              <a:t>producción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CUÁNDO PRIORIZAR UNA CAPACIDAD TRANSVERSAL</a:t>
            </a:r>
          </a:p>
          <a:p>
            <a:r>
              <a:rPr dirty="0"/>
              <a:t>Use cuatro </a:t>
            </a:r>
            <a:r>
              <a:rPr dirty="0" err="1"/>
              <a:t>preguntas</a:t>
            </a:r>
            <a:r>
              <a:rPr dirty="0"/>
              <a:t>:</a:t>
            </a:r>
          </a:p>
          <a:p>
            <a:r>
              <a:rPr dirty="0"/>
              <a:t>1.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incremento</a:t>
            </a:r>
            <a:r>
              <a:rPr dirty="0"/>
              <a:t> o workflow </a:t>
            </a:r>
            <a:r>
              <a:rPr dirty="0" err="1"/>
              <a:t>concreto</a:t>
            </a:r>
            <a:r>
              <a:rPr dirty="0"/>
              <a:t> la </a:t>
            </a:r>
            <a:r>
              <a:rPr dirty="0" err="1"/>
              <a:t>necesita</a:t>
            </a:r>
            <a:r>
              <a:rPr dirty="0"/>
              <a:t>?</a:t>
            </a:r>
          </a:p>
          <a:p>
            <a:r>
              <a:rPr dirty="0"/>
              <a:t>2.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demuestra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la </a:t>
            </a:r>
            <a:r>
              <a:rPr dirty="0" err="1"/>
              <a:t>solución</a:t>
            </a:r>
            <a:r>
              <a:rPr dirty="0"/>
              <a:t> actual es </a:t>
            </a:r>
            <a:r>
              <a:rPr dirty="0" err="1"/>
              <a:t>insuficiente</a:t>
            </a:r>
            <a:r>
              <a:rPr dirty="0"/>
              <a:t>?</a:t>
            </a:r>
          </a:p>
          <a:p>
            <a:r>
              <a:rPr dirty="0"/>
              <a:t>3. ¿</a:t>
            </a:r>
            <a:r>
              <a:rPr dirty="0" err="1"/>
              <a:t>Cuál</a:t>
            </a:r>
            <a:r>
              <a:rPr dirty="0"/>
              <a:t> es la Slice </a:t>
            </a:r>
            <a:r>
              <a:rPr dirty="0" err="1"/>
              <a:t>mínima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desbloquea</a:t>
            </a:r>
            <a:r>
              <a:rPr dirty="0"/>
              <a:t> o </a:t>
            </a:r>
            <a:r>
              <a:rPr dirty="0" err="1"/>
              <a:t>mejora</a:t>
            </a:r>
            <a:r>
              <a:rPr dirty="0"/>
              <a:t> el outcome?</a:t>
            </a:r>
          </a:p>
          <a:p>
            <a:r>
              <a:rPr dirty="0"/>
              <a:t>4. ¿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autoridad</a:t>
            </a:r>
            <a:r>
              <a:rPr dirty="0"/>
              <a:t>, </a:t>
            </a:r>
            <a:r>
              <a:rPr dirty="0" err="1"/>
              <a:t>aislamiento</a:t>
            </a:r>
            <a:r>
              <a:rPr dirty="0"/>
              <a:t>, </a:t>
            </a:r>
            <a:r>
              <a:rPr dirty="0" err="1"/>
              <a:t>evaluación</a:t>
            </a:r>
            <a:r>
              <a:rPr dirty="0"/>
              <a:t> y rollback </a:t>
            </a:r>
            <a:r>
              <a:rPr dirty="0" err="1"/>
              <a:t>necesita</a:t>
            </a:r>
            <a:r>
              <a:rPr dirty="0"/>
              <a:t> antes de </a:t>
            </a:r>
            <a:r>
              <a:rPr dirty="0" err="1"/>
              <a:t>uso</a:t>
            </a:r>
            <a:r>
              <a:rPr dirty="0"/>
              <a:t> real?</a:t>
            </a:r>
          </a:p>
          <a:p>
            <a:endParaRPr dirty="0"/>
          </a:p>
          <a:p>
            <a:r>
              <a:rPr dirty="0"/>
              <a:t>Si </a:t>
            </a:r>
            <a:r>
              <a:rPr dirty="0" err="1"/>
              <a:t>esas</a:t>
            </a:r>
            <a:r>
              <a:rPr dirty="0"/>
              <a:t> </a:t>
            </a:r>
            <a:r>
              <a:rPr dirty="0" err="1"/>
              <a:t>preguntas</a:t>
            </a:r>
            <a:r>
              <a:rPr dirty="0"/>
              <a:t> no </a:t>
            </a:r>
            <a:r>
              <a:rPr dirty="0" err="1"/>
              <a:t>tienen</a:t>
            </a:r>
            <a:r>
              <a:rPr dirty="0"/>
              <a:t> </a:t>
            </a:r>
            <a:r>
              <a:rPr dirty="0" err="1"/>
              <a:t>respuesta</a:t>
            </a:r>
            <a:r>
              <a:rPr dirty="0"/>
              <a:t>, la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permanece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opción</a:t>
            </a:r>
            <a:r>
              <a:rPr dirty="0"/>
              <a:t>, </a:t>
            </a:r>
            <a:r>
              <a:rPr dirty="0" err="1"/>
              <a:t>investigación</a:t>
            </a:r>
            <a:r>
              <a:rPr dirty="0"/>
              <a:t> o </a:t>
            </a:r>
            <a:r>
              <a:rPr dirty="0" err="1"/>
              <a:t>arquitectura</a:t>
            </a:r>
            <a:r>
              <a:rPr dirty="0"/>
              <a:t> de </a:t>
            </a:r>
            <a:r>
              <a:rPr dirty="0" err="1"/>
              <a:t>referencia</a:t>
            </a:r>
            <a:r>
              <a:rPr dirty="0"/>
              <a:t>. Si la </a:t>
            </a:r>
            <a:r>
              <a:rPr dirty="0" err="1"/>
              <a:t>necesidad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probada</a:t>
            </a:r>
            <a:r>
              <a:rPr dirty="0"/>
              <a:t>, </a:t>
            </a:r>
            <a:r>
              <a:rPr dirty="0" err="1"/>
              <a:t>entra</a:t>
            </a:r>
            <a:r>
              <a:rPr dirty="0"/>
              <a:t> en el Slice Plan del Roadmap Increment </a:t>
            </a:r>
            <a:r>
              <a:rPr dirty="0" err="1"/>
              <a:t>consumidor</a:t>
            </a:r>
            <a:r>
              <a:rPr dirty="0"/>
              <a:t> y </a:t>
            </a:r>
            <a:r>
              <a:rPr dirty="0" err="1"/>
              <a:t>compite</a:t>
            </a:r>
            <a:r>
              <a:rPr dirty="0"/>
              <a:t> </a:t>
            </a:r>
            <a:r>
              <a:rPr dirty="0" err="1"/>
              <a:t>explícitamente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 del </a:t>
            </a:r>
            <a:r>
              <a:rPr dirty="0" err="1"/>
              <a:t>equipo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EJEMPLOS INMOBILIARIOS</a:t>
            </a:r>
          </a:p>
          <a:p>
            <a:r>
              <a:rPr dirty="0"/>
              <a:t>Un </a:t>
            </a:r>
            <a:r>
              <a:rPr dirty="0" err="1"/>
              <a:t>paquete</a:t>
            </a:r>
            <a:r>
              <a:rPr dirty="0"/>
              <a:t> privado de Skills </a:t>
            </a:r>
            <a:r>
              <a:rPr dirty="0" err="1"/>
              <a:t>podría</a:t>
            </a:r>
            <a:r>
              <a:rPr dirty="0"/>
              <a:t> </a:t>
            </a:r>
            <a:r>
              <a:rPr dirty="0" err="1"/>
              <a:t>justificarse</a:t>
            </a:r>
            <a:r>
              <a:rPr dirty="0"/>
              <a:t> </a:t>
            </a:r>
            <a:r>
              <a:rPr dirty="0" err="1"/>
              <a:t>cuando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inmobiliaria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un </a:t>
            </a:r>
            <a:r>
              <a:rPr dirty="0" err="1"/>
              <a:t>procedimiento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de </a:t>
            </a:r>
            <a:r>
              <a:rPr dirty="0" err="1"/>
              <a:t>captación</a:t>
            </a:r>
            <a:r>
              <a:rPr dirty="0"/>
              <a:t> con </a:t>
            </a:r>
            <a:r>
              <a:rPr dirty="0" err="1"/>
              <a:t>versiones</a:t>
            </a:r>
            <a:r>
              <a:rPr dirty="0"/>
              <a:t> y rollback. Multi-Skill </a:t>
            </a:r>
            <a:r>
              <a:rPr dirty="0" err="1"/>
              <a:t>dinámico</a:t>
            </a:r>
            <a:r>
              <a:rPr dirty="0"/>
              <a:t> </a:t>
            </a:r>
            <a:r>
              <a:rPr dirty="0" err="1"/>
              <a:t>podría</a:t>
            </a:r>
            <a:r>
              <a:rPr dirty="0"/>
              <a:t> </a:t>
            </a:r>
            <a:r>
              <a:rPr dirty="0" err="1"/>
              <a:t>justificarse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solicitudes </a:t>
            </a:r>
            <a:r>
              <a:rPr dirty="0" err="1"/>
              <a:t>repetidas</a:t>
            </a:r>
            <a:r>
              <a:rPr dirty="0"/>
              <a:t> </a:t>
            </a:r>
            <a:r>
              <a:rPr dirty="0" err="1"/>
              <a:t>requieren</a:t>
            </a:r>
            <a:r>
              <a:rPr dirty="0"/>
              <a:t> </a:t>
            </a:r>
            <a:r>
              <a:rPr dirty="0" err="1"/>
              <a:t>coordinar</a:t>
            </a:r>
            <a:r>
              <a:rPr dirty="0"/>
              <a:t> matching, </a:t>
            </a:r>
            <a:r>
              <a:rPr dirty="0" err="1"/>
              <a:t>investigación</a:t>
            </a:r>
            <a:r>
              <a:rPr dirty="0"/>
              <a:t> documental y agenda, y la </a:t>
            </a:r>
            <a:r>
              <a:rPr dirty="0" err="1"/>
              <a:t>composición</a:t>
            </a:r>
            <a:r>
              <a:rPr dirty="0"/>
              <a:t> actual produce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medibles</a:t>
            </a:r>
            <a:r>
              <a:rPr dirty="0"/>
              <a:t>. La </a:t>
            </a:r>
            <a:r>
              <a:rPr dirty="0" err="1"/>
              <a:t>continuidad</a:t>
            </a:r>
            <a:r>
              <a:rPr dirty="0"/>
              <a:t> de </a:t>
            </a:r>
            <a:r>
              <a:rPr dirty="0" err="1"/>
              <a:t>voz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entrar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dirty="0" err="1"/>
              <a:t>asesores</a:t>
            </a:r>
            <a:r>
              <a:rPr dirty="0"/>
              <a:t> </a:t>
            </a:r>
            <a:r>
              <a:rPr dirty="0" err="1"/>
              <a:t>usan</a:t>
            </a:r>
            <a:r>
              <a:rPr dirty="0"/>
              <a:t> </a:t>
            </a:r>
            <a:r>
              <a:rPr dirty="0" err="1"/>
              <a:t>mensajes</a:t>
            </a:r>
            <a:r>
              <a:rPr dirty="0"/>
              <a:t> de audio para </a:t>
            </a:r>
            <a:r>
              <a:rPr dirty="0" err="1"/>
              <a:t>intervenir</a:t>
            </a:r>
            <a:r>
              <a:rPr dirty="0"/>
              <a:t> en </a:t>
            </a:r>
            <a:r>
              <a:rPr dirty="0" err="1"/>
              <a:t>oportunidades</a:t>
            </a:r>
            <a:r>
              <a:rPr dirty="0"/>
              <a:t> </a:t>
            </a:r>
            <a:r>
              <a:rPr dirty="0" err="1"/>
              <a:t>activas</a:t>
            </a:r>
            <a:r>
              <a:rPr dirty="0"/>
              <a:t>. R9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aprender</a:t>
            </a:r>
            <a:r>
              <a:rPr dirty="0"/>
              <a:t> de </a:t>
            </a:r>
            <a:r>
              <a:rPr dirty="0" err="1"/>
              <a:t>fallas</a:t>
            </a:r>
            <a:r>
              <a:rPr dirty="0"/>
              <a:t> </a:t>
            </a:r>
            <a:r>
              <a:rPr dirty="0" err="1"/>
              <a:t>repetidas</a:t>
            </a:r>
            <a:r>
              <a:rPr dirty="0"/>
              <a:t> al </a:t>
            </a:r>
            <a:r>
              <a:rPr dirty="0" err="1"/>
              <a:t>agendar</a:t>
            </a:r>
            <a:r>
              <a:rPr dirty="0"/>
              <a:t> visitas y </a:t>
            </a:r>
            <a:r>
              <a:rPr dirty="0" err="1"/>
              <a:t>proponer</a:t>
            </a:r>
            <a:r>
              <a:rPr dirty="0"/>
              <a:t> un </a:t>
            </a:r>
            <a:r>
              <a:rPr dirty="0" err="1"/>
              <a:t>cambio</a:t>
            </a:r>
            <a:r>
              <a:rPr dirty="0"/>
              <a:t> de Skill o validator, </a:t>
            </a:r>
            <a:r>
              <a:rPr dirty="0" err="1"/>
              <a:t>pero</a:t>
            </a:r>
            <a:r>
              <a:rPr dirty="0"/>
              <a:t> el </a:t>
            </a:r>
            <a:r>
              <a:rPr dirty="0" err="1"/>
              <a:t>cambio</a:t>
            </a:r>
            <a:r>
              <a:rPr dirty="0"/>
              <a:t> </a:t>
            </a:r>
            <a:r>
              <a:rPr dirty="0" err="1"/>
              <a:t>sólo</a:t>
            </a:r>
            <a:r>
              <a:rPr dirty="0"/>
              <a:t> </a:t>
            </a:r>
            <a:r>
              <a:rPr dirty="0" err="1"/>
              <a:t>avanza</a:t>
            </a:r>
            <a:r>
              <a:rPr dirty="0"/>
              <a:t> </a:t>
            </a:r>
            <a:r>
              <a:rPr dirty="0" err="1"/>
              <a:t>después</a:t>
            </a:r>
            <a:r>
              <a:rPr dirty="0"/>
              <a:t> de </a:t>
            </a:r>
            <a:r>
              <a:rPr dirty="0" err="1"/>
              <a:t>evaluación</a:t>
            </a:r>
            <a:r>
              <a:rPr dirty="0"/>
              <a:t>, </a:t>
            </a:r>
            <a:r>
              <a:rPr dirty="0" err="1"/>
              <a:t>aprobación</a:t>
            </a:r>
            <a:r>
              <a:rPr dirty="0"/>
              <a:t>, canary y </a:t>
            </a:r>
            <a:r>
              <a:rPr dirty="0" err="1"/>
              <a:t>posibilidad</a:t>
            </a:r>
            <a:r>
              <a:rPr dirty="0"/>
              <a:t> de rollback.</a:t>
            </a:r>
          </a:p>
          <a:p>
            <a:endParaRPr dirty="0"/>
          </a:p>
          <a:p>
            <a:r>
              <a:rPr dirty="0"/>
              <a:t>GLOSARIO BREVE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 err="1"/>
              <a:t>Capacidad</a:t>
            </a:r>
            <a:r>
              <a:rPr dirty="0"/>
              <a:t> transversal: </a:t>
            </a:r>
            <a:r>
              <a:rPr dirty="0" err="1"/>
              <a:t>mecanismo</a:t>
            </a:r>
            <a:r>
              <a:rPr dirty="0"/>
              <a:t> </a:t>
            </a:r>
            <a:r>
              <a:rPr dirty="0" err="1"/>
              <a:t>reutilizable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apoyar</a:t>
            </a:r>
            <a:r>
              <a:rPr dirty="0"/>
              <a:t> </a:t>
            </a:r>
            <a:r>
              <a:rPr dirty="0" err="1"/>
              <a:t>varios</a:t>
            </a:r>
            <a:r>
              <a:rPr dirty="0"/>
              <a:t> </a:t>
            </a:r>
            <a:r>
              <a:rPr dirty="0" err="1"/>
              <a:t>incrementos</a:t>
            </a:r>
            <a:r>
              <a:rPr dirty="0"/>
              <a:t> o </a:t>
            </a:r>
            <a:r>
              <a:rPr dirty="0" err="1"/>
              <a:t>dominios</a:t>
            </a:r>
            <a:r>
              <a:rPr dirty="0"/>
              <a:t> y no </a:t>
            </a:r>
            <a:r>
              <a:rPr dirty="0" err="1"/>
              <a:t>constituye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sí</a:t>
            </a:r>
            <a:r>
              <a:rPr dirty="0"/>
              <a:t> solo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responsabilidad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 err="1"/>
              <a:t>Consumidor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: Roadmap Increment, workflow o </a:t>
            </a:r>
            <a:r>
              <a:rPr dirty="0" err="1"/>
              <a:t>responsabilidad</a:t>
            </a:r>
            <a:r>
              <a:rPr dirty="0"/>
              <a:t> </a:t>
            </a:r>
            <a:r>
              <a:rPr dirty="0" err="1"/>
              <a:t>concreta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necesita</a:t>
            </a:r>
            <a:r>
              <a:rPr dirty="0"/>
              <a:t> la </a:t>
            </a:r>
            <a:r>
              <a:rPr dirty="0" err="1"/>
              <a:t>capacidad</a:t>
            </a:r>
            <a:r>
              <a:rPr dirty="0"/>
              <a:t> y </a:t>
            </a:r>
            <a:r>
              <a:rPr dirty="0" err="1"/>
              <a:t>justifica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inversión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Trigger </a:t>
            </a:r>
            <a:r>
              <a:rPr dirty="0" err="1"/>
              <a:t>verificable</a:t>
            </a:r>
            <a:r>
              <a:rPr dirty="0"/>
              <a:t>: </a:t>
            </a:r>
            <a:r>
              <a:rPr dirty="0" err="1"/>
              <a:t>evidencia</a:t>
            </a:r>
            <a:r>
              <a:rPr dirty="0"/>
              <a:t> observable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activa</a:t>
            </a:r>
            <a:r>
              <a:rPr dirty="0"/>
              <a:t> la </a:t>
            </a:r>
            <a:r>
              <a:rPr dirty="0" err="1"/>
              <a:t>evaluación</a:t>
            </a:r>
            <a:r>
              <a:rPr dirty="0"/>
              <a:t> o </a:t>
            </a:r>
            <a:r>
              <a:rPr dirty="0" err="1"/>
              <a:t>construcción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capacidad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Demand-pulled: </a:t>
            </a:r>
            <a:r>
              <a:rPr dirty="0" err="1"/>
              <a:t>priorización</a:t>
            </a:r>
            <a:r>
              <a:rPr dirty="0"/>
              <a:t> </a:t>
            </a:r>
            <a:r>
              <a:rPr dirty="0" err="1"/>
              <a:t>impulsada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necesidad</a:t>
            </a:r>
            <a:r>
              <a:rPr dirty="0"/>
              <a:t> </a:t>
            </a:r>
            <a:r>
              <a:rPr dirty="0" err="1"/>
              <a:t>demostrada</a:t>
            </a:r>
            <a:r>
              <a:rPr dirty="0"/>
              <a:t> de </a:t>
            </a:r>
            <a:r>
              <a:rPr dirty="0" err="1"/>
              <a:t>producto</a:t>
            </a:r>
            <a:r>
              <a:rPr dirty="0"/>
              <a:t>, no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deseo</a:t>
            </a:r>
            <a:r>
              <a:rPr dirty="0"/>
              <a:t> </a:t>
            </a:r>
            <a:r>
              <a:rPr dirty="0" err="1"/>
              <a:t>abstracto</a:t>
            </a:r>
            <a:r>
              <a:rPr dirty="0"/>
              <a:t> de </a:t>
            </a:r>
            <a:r>
              <a:rPr dirty="0" err="1"/>
              <a:t>completar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plataforma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Spike: </a:t>
            </a:r>
            <a:r>
              <a:rPr dirty="0" err="1"/>
              <a:t>exploración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breve y </a:t>
            </a:r>
            <a:r>
              <a:rPr dirty="0" err="1"/>
              <a:t>acotada</a:t>
            </a:r>
            <a:r>
              <a:rPr dirty="0"/>
              <a:t> para </a:t>
            </a:r>
            <a:r>
              <a:rPr dirty="0" err="1"/>
              <a:t>reducir</a:t>
            </a:r>
            <a:r>
              <a:rPr dirty="0"/>
              <a:t> </a:t>
            </a:r>
            <a:r>
              <a:rPr dirty="0" err="1"/>
              <a:t>incertidumbre</a:t>
            </a:r>
            <a:r>
              <a:rPr dirty="0"/>
              <a:t> antes de </a:t>
            </a:r>
            <a:r>
              <a:rPr dirty="0" err="1"/>
              <a:t>comprometer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implementación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Skill package: conjunto </a:t>
            </a:r>
            <a:r>
              <a:rPr dirty="0" err="1"/>
              <a:t>versionable</a:t>
            </a:r>
            <a:r>
              <a:rPr dirty="0"/>
              <a:t> de </a:t>
            </a:r>
            <a:r>
              <a:rPr dirty="0" err="1"/>
              <a:t>instrucciones</a:t>
            </a:r>
            <a:r>
              <a:rPr dirty="0"/>
              <a:t>, </a:t>
            </a:r>
            <a:r>
              <a:rPr dirty="0" err="1"/>
              <a:t>referencias</a:t>
            </a:r>
            <a:r>
              <a:rPr dirty="0"/>
              <a:t> y </a:t>
            </a:r>
            <a:r>
              <a:rPr dirty="0" err="1"/>
              <a:t>contratos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enseña</a:t>
            </a:r>
            <a:r>
              <a:rPr dirty="0"/>
              <a:t> a Gu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realizar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clase</a:t>
            </a:r>
            <a:r>
              <a:rPr dirty="0"/>
              <a:t> de </a:t>
            </a:r>
            <a:r>
              <a:rPr dirty="0" err="1"/>
              <a:t>trabajo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Subagent: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subordinado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ejecuta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tarea</a:t>
            </a:r>
            <a:r>
              <a:rPr dirty="0"/>
              <a:t> </a:t>
            </a:r>
            <a:r>
              <a:rPr dirty="0" err="1"/>
              <a:t>acotada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</a:t>
            </a:r>
            <a:r>
              <a:rPr dirty="0" err="1"/>
              <a:t>límites</a:t>
            </a:r>
            <a:r>
              <a:rPr dirty="0"/>
              <a:t> de </a:t>
            </a:r>
            <a:r>
              <a:rPr dirty="0" err="1"/>
              <a:t>contexto</a:t>
            </a:r>
            <a:r>
              <a:rPr dirty="0"/>
              <a:t>, </a:t>
            </a:r>
            <a:r>
              <a:rPr dirty="0" err="1"/>
              <a:t>herramientas</a:t>
            </a:r>
            <a:r>
              <a:rPr dirty="0"/>
              <a:t> y </a:t>
            </a:r>
            <a:r>
              <a:rPr dirty="0" err="1"/>
              <a:t>autoridad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Sandbox: </a:t>
            </a:r>
            <a:r>
              <a:rPr dirty="0" err="1"/>
              <a:t>entorno</a:t>
            </a:r>
            <a:r>
              <a:rPr dirty="0"/>
              <a:t> </a:t>
            </a:r>
            <a:r>
              <a:rPr dirty="0" err="1"/>
              <a:t>aislado</a:t>
            </a:r>
            <a:r>
              <a:rPr dirty="0"/>
              <a:t> para </a:t>
            </a:r>
            <a:r>
              <a:rPr dirty="0" err="1"/>
              <a:t>ejecutar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con </a:t>
            </a:r>
            <a:r>
              <a:rPr dirty="0" err="1"/>
              <a:t>permisos</a:t>
            </a:r>
            <a:r>
              <a:rPr dirty="0"/>
              <a:t> y </a:t>
            </a:r>
            <a:r>
              <a:rPr dirty="0" err="1"/>
              <a:t>recursos</a:t>
            </a:r>
            <a:r>
              <a:rPr dirty="0"/>
              <a:t> </a:t>
            </a:r>
            <a:r>
              <a:rPr dirty="0" err="1"/>
              <a:t>restringidos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Business Brain: </a:t>
            </a:r>
            <a:r>
              <a:rPr dirty="0" err="1"/>
              <a:t>conocimiento</a:t>
            </a:r>
            <a:r>
              <a:rPr dirty="0"/>
              <a:t> </a:t>
            </a:r>
            <a:r>
              <a:rPr dirty="0" err="1"/>
              <a:t>empresarial</a:t>
            </a:r>
            <a:r>
              <a:rPr dirty="0"/>
              <a:t> </a:t>
            </a:r>
            <a:r>
              <a:rPr dirty="0" err="1"/>
              <a:t>compilado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</a:t>
            </a:r>
            <a:r>
              <a:rPr dirty="0" err="1"/>
              <a:t>evidencia</a:t>
            </a:r>
            <a:r>
              <a:rPr dirty="0"/>
              <a:t> </a:t>
            </a:r>
            <a:r>
              <a:rPr dirty="0" err="1"/>
              <a:t>autorizada</a:t>
            </a:r>
            <a:r>
              <a:rPr dirty="0"/>
              <a:t> entre Cases; no </a:t>
            </a:r>
            <a:r>
              <a:rPr dirty="0" err="1"/>
              <a:t>sustituye</a:t>
            </a:r>
            <a:r>
              <a:rPr dirty="0"/>
              <a:t> el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operativo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Platform Knowledge: </a:t>
            </a:r>
            <a:r>
              <a:rPr dirty="0" err="1"/>
              <a:t>conocimiento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</a:t>
            </a:r>
            <a:r>
              <a:rPr dirty="0" err="1"/>
              <a:t>mejorar</a:t>
            </a:r>
            <a:r>
              <a:rPr dirty="0"/>
              <a:t> el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producto</a:t>
            </a:r>
            <a:r>
              <a:rPr dirty="0"/>
              <a:t>, sus Skills, validators y </a:t>
            </a:r>
            <a:r>
              <a:rPr dirty="0" err="1"/>
              <a:t>patrones</a:t>
            </a:r>
            <a:r>
              <a:rPr dirty="0"/>
              <a:t> bajo </a:t>
            </a:r>
            <a:r>
              <a:rPr dirty="0" err="1"/>
              <a:t>gobierno</a:t>
            </a:r>
            <a:r>
              <a:rPr dirty="0"/>
              <a:t> </a:t>
            </a:r>
            <a:r>
              <a:rPr dirty="0" err="1"/>
              <a:t>explícito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Canary: </a:t>
            </a:r>
            <a:r>
              <a:rPr dirty="0" err="1"/>
              <a:t>introducción</a:t>
            </a:r>
            <a:r>
              <a:rPr dirty="0"/>
              <a:t> </a:t>
            </a:r>
            <a:r>
              <a:rPr dirty="0" err="1"/>
              <a:t>controlada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parte</a:t>
            </a:r>
            <a:r>
              <a:rPr dirty="0"/>
              <a:t> </a:t>
            </a:r>
            <a:r>
              <a:rPr dirty="0" err="1"/>
              <a:t>pequeña</a:t>
            </a:r>
            <a:r>
              <a:rPr dirty="0"/>
              <a:t> del </a:t>
            </a:r>
            <a:r>
              <a:rPr dirty="0" err="1"/>
              <a:t>tráfico</a:t>
            </a:r>
            <a:r>
              <a:rPr dirty="0"/>
              <a:t> o de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clientes</a:t>
            </a:r>
            <a:r>
              <a:rPr dirty="0"/>
              <a:t> antes de </a:t>
            </a:r>
            <a:r>
              <a:rPr dirty="0" err="1"/>
              <a:t>ampliar</a:t>
            </a:r>
            <a:r>
              <a:rPr dirty="0"/>
              <a:t> el </a:t>
            </a:r>
            <a:r>
              <a:rPr dirty="0" err="1"/>
              <a:t>cambio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Rollback: </a:t>
            </a:r>
            <a:r>
              <a:rPr dirty="0" err="1"/>
              <a:t>capacidad</a:t>
            </a:r>
            <a:r>
              <a:rPr dirty="0"/>
              <a:t> de </a:t>
            </a:r>
            <a:r>
              <a:rPr dirty="0" err="1"/>
              <a:t>revertir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versión</a:t>
            </a:r>
            <a:r>
              <a:rPr dirty="0"/>
              <a:t> o </a:t>
            </a:r>
            <a:r>
              <a:rPr dirty="0" err="1"/>
              <a:t>cambio</a:t>
            </a:r>
            <a:r>
              <a:rPr dirty="0"/>
              <a:t> de </a:t>
            </a:r>
            <a:r>
              <a:rPr dirty="0" err="1"/>
              <a:t>manera</a:t>
            </a:r>
            <a:r>
              <a:rPr dirty="0"/>
              <a:t> </a:t>
            </a:r>
            <a:r>
              <a:rPr dirty="0" err="1"/>
              <a:t>segura</a:t>
            </a:r>
            <a:r>
              <a:rPr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dirty="0"/>
              <a:t>Evidence-gated: </a:t>
            </a:r>
            <a:r>
              <a:rPr dirty="0" err="1"/>
              <a:t>trabajo</a:t>
            </a:r>
            <a:r>
              <a:rPr dirty="0"/>
              <a:t> </a:t>
            </a:r>
            <a:r>
              <a:rPr dirty="0" err="1"/>
              <a:t>cuya</a:t>
            </a:r>
            <a:r>
              <a:rPr dirty="0"/>
              <a:t> entrada o </a:t>
            </a:r>
            <a:r>
              <a:rPr dirty="0" err="1"/>
              <a:t>expansión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de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condición</a:t>
            </a:r>
            <a:r>
              <a:rPr dirty="0"/>
              <a:t> observable </a:t>
            </a:r>
            <a:r>
              <a:rPr dirty="0" err="1"/>
              <a:t>previamente</a:t>
            </a:r>
            <a:r>
              <a:rPr dirty="0"/>
              <a:t> </a:t>
            </a:r>
            <a:r>
              <a:rPr dirty="0" err="1"/>
              <a:t>declarada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FUENTES</a:t>
            </a:r>
          </a:p>
          <a:p>
            <a:r>
              <a:rPr dirty="0"/>
              <a:t>- docs/roadmap/gu-os-evolution-roadmap.md v1.1, §§3–5 y §8</a:t>
            </a:r>
          </a:p>
          <a:p>
            <a:r>
              <a:rPr dirty="0"/>
              <a:t>- docs/brain/gbrain-evaluation-and-plan.md</a:t>
            </a:r>
          </a:p>
          <a:p>
            <a:r>
              <a:rPr dirty="0"/>
              <a:t>- docs/brain/business-and-platform-brain-boundary.md</a:t>
            </a:r>
          </a:p>
          <a:p>
            <a:r>
              <a:rPr dirty="0"/>
              <a:t>- docs/manuals/adr/0011-skill-package-interoperability.md</a:t>
            </a:r>
          </a:p>
          <a:p>
            <a:r>
              <a:rPr dirty="0"/>
              <a:t>- docs/manuals/ai-native-loops.md</a:t>
            </a:r>
          </a:p>
          <a:p>
            <a:r>
              <a:rPr dirty="0"/>
              <a:t>- Baseline: </a:t>
            </a:r>
            <a:r>
              <a:rPr dirty="0" err="1"/>
              <a:t>janotowers</a:t>
            </a:r>
            <a:r>
              <a:rPr dirty="0"/>
              <a:t>/Gu-OS main @ 5a6fbb05117042e1f7c47c911e0e2bc14d068340 · reviewed 11 September 2026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docs/product/PRD.md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docs/roadmap/gu-os-evolution-roadmap.md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docs/principles/gu-os-principles-and-design-doctrine.md</a:t>
            </a:r>
          </a:p>
          <a:p>
            <a:r>
              <a:t>- docs/roadmap/gu-os-evolution-roadmap.md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DA5E5BA-45F7-4B6D-98F2-BEBCBB866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6C68FD3-9251-4BDB-AD7F-6059210DBD9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94750BE3-5E7D-45EF-BE98-BF3EEE058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0A55C4A6-ABF7-4986-913D-49DB78910B8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LIGHT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96BC44-96A7-4608-B1BE-82A44A6DB7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2DB6"/>
          </a:solidFill>
          <a:ln w="12700">
            <a:solidFill>
              <a:srgbClr val="5B2D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AF9CEF-F29C-4F82-8A64-3CD469FBDDCF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8D86A0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53618C-AF3D-483A-87BE-4CBFFE737BEA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8D86A0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E0EDE91-ABA8-4410-8A51-28833B6BE7C0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4A4361-3728-407E-9AF6-CB33698CE75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10/09/2026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2E4CD9-63C7-472A-BE78-0FFE3F81CF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8FD49D-7427-4316-A4B3-54AEB2AD59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BLANK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924FA5-771A-415B-82A1-338F7276B4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5E2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EDB5A6-05CD-42C3-AC01-5E08699D6CCD}"/>
              </a:ext>
            </a:extLst>
          </p:cNvPr>
          <p:cNvSpPr>
            <a:spLocks noGrp="1"/>
          </p:cNvSpPr>
          <p:nvPr/>
        </p:nvSpPr>
        <p:spPr>
          <a:xfrm>
            <a:off x="420624" y="6601968"/>
            <a:ext cx="109728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CONFIDENTIAL</a:t>
            </a:r>
            <a:endParaRPr sz="6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BA81A2-BE21-45E9-B73E-FCE303A8D53C}"/>
              </a:ext>
            </a:extLst>
          </p:cNvPr>
          <p:cNvSpPr>
            <a:spLocks noGrp="1"/>
          </p:cNvSpPr>
          <p:nvPr/>
        </p:nvSpPr>
        <p:spPr>
          <a:xfrm>
            <a:off x="10927080" y="6601968"/>
            <a:ext cx="68580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ungga.com</a:t>
            </a:r>
            <a:endParaRPr sz="6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90E4A91-CEDA-4605-90DD-84172CEF1761}"/>
              </a:ext>
            </a:extLst>
          </p:cNvPr>
          <p:cNvSpPr>
            <a:spLocks noGrp="1"/>
          </p:cNvSpPr>
          <p:nvPr/>
        </p:nvSpPr>
        <p:spPr>
          <a:xfrm>
            <a:off x="11503152" y="6601968"/>
            <a:ext cx="384048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16</a:t>
            </a:r>
            <a:endParaRPr sz="6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DARK">
    <p:bg>
      <p:bgPr>
        <a:solidFill>
          <a:srgbClr val="1A12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6138E6-978C-47B0-B455-7C479800B7FB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BFB5D8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935142-6212-43EF-88BD-65454157E340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BFB5D8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BB7AC76-C660-4C8E-B8CF-A1B5D19783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BFB5D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798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15224E59-A114-EF97-9AD5-4F714DE083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0143D"/>
          </a:solidFill>
          <a:ln w="12700">
            <a:solidFill>
              <a:srgbClr val="20143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965042D-42A4-D40C-B362-56D62F2B4A66}"/>
              </a:ext>
            </a:extLst>
          </p:cNvPr>
          <p:cNvSpPr>
            <a:spLocks noGrp="1"/>
          </p:cNvSpPr>
          <p:nvPr/>
        </p:nvSpPr>
        <p:spPr>
          <a:xfrm>
            <a:off x="567000" y="502920"/>
            <a:ext cx="4114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CAB9FF"/>
                </a:solidFill>
                <a:latin typeface="Aptos"/>
                <a:ea typeface="Aptos"/>
                <a:cs typeface="Aptos"/>
              </a:rPr>
              <a:t>UNGGA | INTERNAL SESSION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316C7E0-8E26-4A2B-880B-6FEF8F6163B9}"/>
              </a:ext>
            </a:extLst>
          </p:cNvPr>
          <p:cNvSpPr>
            <a:spLocks noGrp="1"/>
          </p:cNvSpPr>
          <p:nvPr/>
        </p:nvSpPr>
        <p:spPr>
          <a:xfrm>
            <a:off x="567000" y="1492856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500" b="1" u="none">
                <a:solidFill>
                  <a:srgbClr val="FFFFFF"/>
                </a:solidFill>
              </a:rPr>
              <a:t>Gu → Gu OS</a:t>
            </a:r>
            <a:endParaRPr sz="3500" b="0" u="none">
              <a:solidFill>
                <a:srgbClr val="FFFFFF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F476939-C89E-34BC-BFF7-E9DA39ED9558}"/>
              </a:ext>
            </a:extLst>
          </p:cNvPr>
          <p:cNvSpPr>
            <a:spLocks noGrp="1"/>
          </p:cNvSpPr>
          <p:nvPr/>
        </p:nvSpPr>
        <p:spPr>
          <a:xfrm>
            <a:off x="567000" y="2235832"/>
            <a:ext cx="7589160" cy="639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E9E2FF"/>
                </a:solidFill>
                <a:latin typeface="Aptos"/>
                <a:ea typeface="Aptos"/>
                <a:cs typeface="Aptos"/>
              </a:rPr>
              <a:t>Por qué Gu OS</a:t>
            </a:r>
            <a:endParaRPr sz="3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880D93C-3FD0-A8BD-A47F-30288E4BE158}"/>
              </a:ext>
            </a:extLst>
          </p:cNvPr>
          <p:cNvSpPr>
            <a:spLocks noGrp="1"/>
          </p:cNvSpPr>
          <p:nvPr/>
        </p:nvSpPr>
        <p:spPr>
          <a:xfrm>
            <a:off x="567000" y="3139243"/>
            <a:ext cx="5943240" cy="6510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>
                <a:solidFill>
                  <a:srgbClr val="CFC3F4"/>
                </a:solidFill>
                <a:latin typeface="Aptos"/>
                <a:ea typeface="Aptos"/>
                <a:cs typeface="Aptos"/>
              </a:rPr>
              <a:t>Sesión 1 · Visión, producto y modelo operativo</a:t>
            </a:r>
            <a:endParaRPr sz="19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6164349-3215-A4F6-3FBF-8BE60EEECA6B}"/>
              </a:ext>
            </a:extLst>
          </p:cNvPr>
          <p:cNvSpPr>
            <a:spLocks noGrp="1"/>
          </p:cNvSpPr>
          <p:nvPr/>
        </p:nvSpPr>
        <p:spPr>
          <a:xfrm>
            <a:off x="567000" y="5053773"/>
            <a:ext cx="6417460" cy="894741"/>
          </a:xfrm>
          <a:prstGeom prst="roundRect">
            <a:avLst>
              <a:gd name="adj" fmla="val 187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49E6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3000" b="0" u="none">
              <a:solidFill>
                <a:srgbClr val="000000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D36FB87-AC9C-401E-792E-E0B9300034F1}"/>
              </a:ext>
            </a:extLst>
          </p:cNvPr>
          <p:cNvSpPr>
            <a:spLocks noGrp="1"/>
          </p:cNvSpPr>
          <p:nvPr/>
        </p:nvSpPr>
        <p:spPr>
          <a:xfrm>
            <a:off x="765791" y="5188987"/>
            <a:ext cx="6102147" cy="616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compartir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tesis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precisa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sobre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qué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es Gu,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qué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habilita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Gu OS y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qué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cambia para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,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negocio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 </a:t>
            </a:r>
            <a:r>
              <a:rPr sz="1500" b="0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ingeniería</a:t>
            </a:r>
            <a:r>
              <a:rPr sz="1500" b="0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sz="1500" b="0" u="non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AA47739-366C-D04A-0CA4-C2554390AD0D}"/>
              </a:ext>
            </a:extLst>
          </p:cNvPr>
          <p:cNvSpPr>
            <a:spLocks noGrp="1"/>
          </p:cNvSpPr>
          <p:nvPr/>
        </p:nvSpPr>
        <p:spPr>
          <a:xfrm>
            <a:off x="7675580" y="1100947"/>
            <a:ext cx="3328274" cy="3205734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BFFEF0A-570F-33D2-136B-839BCE005F9E}"/>
              </a:ext>
            </a:extLst>
          </p:cNvPr>
          <p:cNvSpPr>
            <a:spLocks noGrp="1"/>
          </p:cNvSpPr>
          <p:nvPr/>
        </p:nvSpPr>
        <p:spPr>
          <a:xfrm>
            <a:off x="8507788" y="3702852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580023E-1CF3-E90A-C87B-06232376F2D5}"/>
              </a:ext>
            </a:extLst>
          </p:cNvPr>
          <p:cNvSpPr>
            <a:spLocks noGrp="1"/>
          </p:cNvSpPr>
          <p:nvPr/>
        </p:nvSpPr>
        <p:spPr>
          <a:xfrm>
            <a:off x="9374254" y="4370760"/>
            <a:ext cx="360" cy="622080"/>
          </a:xfrm>
          <a:prstGeom prst="line">
            <a:avLst/>
          </a:prstGeom>
          <a:ln w="22860">
            <a:solidFill>
              <a:srgbClr val="CAB9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680639FB-D27D-D3DB-D44B-45166BA776E1}"/>
              </a:ext>
            </a:extLst>
          </p:cNvPr>
          <p:cNvSpPr>
            <a:spLocks noGrp="1"/>
          </p:cNvSpPr>
          <p:nvPr/>
        </p:nvSpPr>
        <p:spPr>
          <a:xfrm>
            <a:off x="7956934" y="5084280"/>
            <a:ext cx="2880000" cy="840960"/>
          </a:xfrm>
          <a:prstGeom prst="roundRect">
            <a:avLst>
              <a:gd name="adj" fmla="val 14130"/>
            </a:avLst>
          </a:prstGeom>
          <a:solidFill>
            <a:srgbClr val="7B49E6"/>
          </a:solidFill>
          <a:ln w="1270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D89F9FD-33CD-3FDC-D2A2-120B1544279E}"/>
              </a:ext>
            </a:extLst>
          </p:cNvPr>
          <p:cNvSpPr>
            <a:spLocks noGrp="1"/>
          </p:cNvSpPr>
          <p:nvPr/>
        </p:nvSpPr>
        <p:spPr>
          <a:xfrm>
            <a:off x="8459854" y="5374032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OS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A392EEC-8670-C71D-F5B6-133FE9D865A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0D1D728-2877-56A1-C3AA-A5A762FE2D61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EC56527-DFE0-0B6D-1A22-25AA8DCC0C0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</a:t>
            </a:r>
            <a:endParaRPr sz="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16" y="1275732"/>
            <a:ext cx="2454948" cy="2454948"/>
          </a:xfrm>
          <a:prstGeom prst="rect">
            <a:avLst/>
          </a:prstGeom>
        </p:spPr>
      </p:pic>
      <p:pic>
        <p:nvPicPr>
          <p:cNvPr id="44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587" y="396427"/>
            <a:ext cx="791013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4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E9167DAE-498B-4F73-B146-0FD11AA3E1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3352A16A-AAE1-4ED7-8DE7-429949D25F2E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CÓMO USAR ESTA SESIÓN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63664548-0370-4DD0-9D63-D94DE39284A6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405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No es una lista de features. Es una alineación del modelo mental que debe guiar decisiones.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40172E45-7A7B-43D8-8A06-B0DC64CCA08B}"/>
              </a:ext>
            </a:extLst>
          </p:cNvPr>
          <p:cNvSpPr>
            <a:spLocks noGrp="1"/>
          </p:cNvSpPr>
          <p:nvPr/>
        </p:nvSpPr>
        <p:spPr>
          <a:xfrm>
            <a:off x="567000" y="170053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9285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meta es que negocio, producto e ingeniería puedan explicar la misma historia y discutirla con precisión.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B4BA88D5-F09B-4A4B-A6AB-4C49679EC620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73055C75-D45B-418E-B1C4-E2FD6415FDA9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CB41D4B5-F3E6-4F67-8F51-7070F3EE6AB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5E5FA98B-8D33-42A0-9178-2C420893B506}"/>
              </a:ext>
            </a:extLst>
          </p:cNvPr>
          <p:cNvSpPr>
            <a:spLocks noGrp="1"/>
          </p:cNvSpPr>
          <p:nvPr/>
        </p:nvSpPr>
        <p:spPr>
          <a:xfrm>
            <a:off x="685800" y="2462911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RESULTADO ESPERADO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C54B5E79-2065-41E6-9BAB-842E83A13279}"/>
              </a:ext>
            </a:extLst>
          </p:cNvPr>
          <p:cNvSpPr>
            <a:spLocks noGrp="1"/>
          </p:cNvSpPr>
          <p:nvPr/>
        </p:nvSpPr>
        <p:spPr>
          <a:xfrm>
            <a:off x="68580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DC04DEF6-C959-4725-B070-115F93271A0E}"/>
              </a:ext>
            </a:extLst>
          </p:cNvPr>
          <p:cNvSpPr>
            <a:spLocks noGrp="1"/>
          </p:cNvSpPr>
          <p:nvPr/>
        </p:nvSpPr>
        <p:spPr>
          <a:xfrm>
            <a:off x="88704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Lenguaje común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9A3377CB-D066-4845-B4A3-2CC32AA3247D}"/>
              </a:ext>
            </a:extLst>
          </p:cNvPr>
          <p:cNvSpPr>
            <a:spLocks noGrp="1"/>
          </p:cNvSpPr>
          <p:nvPr/>
        </p:nvSpPr>
        <p:spPr>
          <a:xfrm>
            <a:off x="941760" y="3510975"/>
            <a:ext cx="2725779" cy="384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Gu, Gu OS, trabajo delegable, Cases, dominios y Network &amp; Ecosystem.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C5CDCABC-89EB-4E66-A3B0-8FE7EEDDB483}"/>
              </a:ext>
            </a:extLst>
          </p:cNvPr>
          <p:cNvSpPr>
            <a:spLocks noGrp="1"/>
          </p:cNvSpPr>
          <p:nvPr/>
        </p:nvSpPr>
        <p:spPr>
          <a:xfrm>
            <a:off x="443484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C0380A72-C11F-4634-A244-876AB4101493}"/>
              </a:ext>
            </a:extLst>
          </p:cNvPr>
          <p:cNvSpPr>
            <a:spLocks noGrp="1"/>
          </p:cNvSpPr>
          <p:nvPr/>
        </p:nvSpPr>
        <p:spPr>
          <a:xfrm>
            <a:off x="463608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Criterios de decisión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AFF4F856-0B7C-43D5-86E6-A2CB9530B662}"/>
              </a:ext>
            </a:extLst>
          </p:cNvPr>
          <p:cNvSpPr>
            <a:spLocks noGrp="1"/>
          </p:cNvSpPr>
          <p:nvPr/>
        </p:nvSpPr>
        <p:spPr>
          <a:xfrm>
            <a:off x="4705920" y="3471967"/>
            <a:ext cx="2779560" cy="4384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debe poseer Gu OS, qué puede orquestar y dónde debe conservar responsabilidad.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4EA3DB8A-CC9E-4631-A9CD-6E7DD98F5254}"/>
              </a:ext>
            </a:extLst>
          </p:cNvPr>
          <p:cNvSpPr>
            <a:spLocks noGrp="1"/>
          </p:cNvSpPr>
          <p:nvPr/>
        </p:nvSpPr>
        <p:spPr>
          <a:xfrm>
            <a:off x="818388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823F6BC7-41DB-4DEB-9D80-5A0BDC2841AC}"/>
              </a:ext>
            </a:extLst>
          </p:cNvPr>
          <p:cNvSpPr>
            <a:spLocks noGrp="1"/>
          </p:cNvSpPr>
          <p:nvPr/>
        </p:nvSpPr>
        <p:spPr>
          <a:xfrm>
            <a:off x="838512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Fronteras claras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EC0931C5-DCE1-4CDB-A798-D2DC305C5F2D}"/>
              </a:ext>
            </a:extLst>
          </p:cNvPr>
          <p:cNvSpPr>
            <a:spLocks noGrp="1"/>
          </p:cNvSpPr>
          <p:nvPr/>
        </p:nvSpPr>
        <p:spPr>
          <a:xfrm>
            <a:off x="8439840" y="3533986"/>
            <a:ext cx="2779560" cy="3764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es actual, qué es siguiente y qué sigue siendo visión.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256D0303-7DF6-4140-AC46-2B6978128B30}"/>
              </a:ext>
            </a:extLst>
          </p:cNvPr>
          <p:cNvSpPr>
            <a:spLocks noGrp="1"/>
          </p:cNvSpPr>
          <p:nvPr/>
        </p:nvSpPr>
        <p:spPr>
          <a:xfrm>
            <a:off x="685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NO 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47E1B87E-252C-4DC9-B40B-E67D2CEDDC7D}"/>
              </a:ext>
            </a:extLst>
          </p:cNvPr>
          <p:cNvSpPr>
            <a:spLocks noGrp="1"/>
          </p:cNvSpPr>
          <p:nvPr/>
        </p:nvSpPr>
        <p:spPr>
          <a:xfrm>
            <a:off x="731520" y="486771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C8C15B1F-8048-4827-B6DE-8AD73F95A97D}"/>
              </a:ext>
            </a:extLst>
          </p:cNvPr>
          <p:cNvSpPr>
            <a:spLocks noGrp="1"/>
          </p:cNvSpPr>
          <p:nvPr/>
        </p:nvSpPr>
        <p:spPr>
          <a:xfrm>
            <a:off x="896040" y="479463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Una especificación técnica.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C81DB84B-84EE-4170-9288-57B7938219DD}"/>
              </a:ext>
            </a:extLst>
          </p:cNvPr>
          <p:cNvSpPr>
            <a:spLocks noGrp="1"/>
          </p:cNvSpPr>
          <p:nvPr/>
        </p:nvSpPr>
        <p:spPr>
          <a:xfrm>
            <a:off x="731520" y="528855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3604818B-DF28-4C28-98F1-FFF240413AC1}"/>
              </a:ext>
            </a:extLst>
          </p:cNvPr>
          <p:cNvSpPr>
            <a:spLocks noGrp="1"/>
          </p:cNvSpPr>
          <p:nvPr/>
        </p:nvSpPr>
        <p:spPr>
          <a:xfrm>
            <a:off x="896040" y="521511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Una promesa de entrega inmediata.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9CD49D44-5FDE-49DC-950F-4511E12AC87A}"/>
              </a:ext>
            </a:extLst>
          </p:cNvPr>
          <p:cNvSpPr>
            <a:spLocks noGrp="1"/>
          </p:cNvSpPr>
          <p:nvPr/>
        </p:nvSpPr>
        <p:spPr>
          <a:xfrm>
            <a:off x="731520" y="570903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E3A62DD4-36DF-4808-8C20-CE9FF0ACF99F}"/>
              </a:ext>
            </a:extLst>
          </p:cNvPr>
          <p:cNvSpPr>
            <a:spLocks noGrp="1"/>
          </p:cNvSpPr>
          <p:nvPr/>
        </p:nvSpPr>
        <p:spPr>
          <a:xfrm>
            <a:off x="896040" y="563595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Los deep dives de arquitectura y runtime.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096FFE82-1643-4412-A3E8-99E414B33BBE}"/>
              </a:ext>
            </a:extLst>
          </p:cNvPr>
          <p:cNvSpPr>
            <a:spLocks noGrp="1"/>
          </p:cNvSpPr>
          <p:nvPr/>
        </p:nvSpPr>
        <p:spPr>
          <a:xfrm>
            <a:off x="6400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SÍ 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C1E36622-A132-4770-B99D-B1B27954E908}"/>
              </a:ext>
            </a:extLst>
          </p:cNvPr>
          <p:cNvSpPr>
            <a:spLocks noGrp="1"/>
          </p:cNvSpPr>
          <p:nvPr/>
        </p:nvSpPr>
        <p:spPr>
          <a:xfrm>
            <a:off x="6446520" y="486771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B9DABDA6-8048-411C-A7B7-929FADFB2B79}"/>
              </a:ext>
            </a:extLst>
          </p:cNvPr>
          <p:cNvSpPr>
            <a:spLocks noGrp="1"/>
          </p:cNvSpPr>
          <p:nvPr/>
        </p:nvSpPr>
        <p:spPr>
          <a:xfrm>
            <a:off x="6611040" y="479463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Una tesis de producto.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6C1229CD-7A9D-4207-B6A8-83E65FF67B1F}"/>
              </a:ext>
            </a:extLst>
          </p:cNvPr>
          <p:cNvSpPr>
            <a:spLocks noGrp="1"/>
          </p:cNvSpPr>
          <p:nvPr/>
        </p:nvSpPr>
        <p:spPr>
          <a:xfrm>
            <a:off x="6446520" y="528855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F3B97AA0-742E-408A-926B-69A221CDF57E}"/>
              </a:ext>
            </a:extLst>
          </p:cNvPr>
          <p:cNvSpPr>
            <a:spLocks noGrp="1"/>
          </p:cNvSpPr>
          <p:nvPr/>
        </p:nvSpPr>
        <p:spPr>
          <a:xfrm>
            <a:off x="6611040" y="521511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Una guía de prioridades.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372B7BD3-3DA9-4EF5-ACBE-9EE4B320D4DC}"/>
              </a:ext>
            </a:extLst>
          </p:cNvPr>
          <p:cNvSpPr>
            <a:spLocks noGrp="1"/>
          </p:cNvSpPr>
          <p:nvPr/>
        </p:nvSpPr>
        <p:spPr>
          <a:xfrm>
            <a:off x="6446520" y="570903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6E182540-E13F-4C1C-B434-24A033B2F29E}"/>
              </a:ext>
            </a:extLst>
          </p:cNvPr>
          <p:cNvSpPr>
            <a:spLocks noGrp="1"/>
          </p:cNvSpPr>
          <p:nvPr/>
        </p:nvSpPr>
        <p:spPr>
          <a:xfrm>
            <a:off x="6611040" y="563595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Una base para debatir.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249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0">
            <a:extLst>
              <a:ext uri="{FF2B5EF4-FFF2-40B4-BE49-F238E27FC236}">
                <a16:creationId xmlns:a16="http://schemas.microsoft.com/office/drawing/2014/main" id="{E92104A7-2840-41E0-AC13-0BDD8C0C28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3F3804AA-1C7E-4395-B29C-5221B2BB582B}"/>
              </a:ext>
            </a:extLst>
          </p:cNvPr>
          <p:cNvSpPr>
            <a:spLocks noGrp="1"/>
          </p:cNvSpPr>
          <p:nvPr/>
        </p:nvSpPr>
        <p:spPr>
          <a:xfrm>
            <a:off x="567000" y="415394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TESIS CENTRAL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Text 2">
            <a:extLst>
              <a:ext uri="{FF2B5EF4-FFF2-40B4-BE49-F238E27FC236}">
                <a16:creationId xmlns:a16="http://schemas.microsoft.com/office/drawing/2014/main" id="{C901447F-4F3E-4C8D-9C94-3FA324204EF5}"/>
              </a:ext>
            </a:extLst>
          </p:cNvPr>
          <p:cNvSpPr>
            <a:spLocks noGrp="1"/>
          </p:cNvSpPr>
          <p:nvPr/>
        </p:nvSpPr>
        <p:spPr>
          <a:xfrm>
            <a:off x="567000" y="734262"/>
            <a:ext cx="1019520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oportunidad no es agregar IA al software inmobiliario. Es hacer delegable más trabajo real.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001151FD-5508-479E-B7C5-6C2C08CE856E}"/>
              </a:ext>
            </a:extLst>
          </p:cNvPr>
          <p:cNvSpPr>
            <a:spLocks noGrp="1"/>
          </p:cNvSpPr>
          <p:nvPr/>
        </p:nvSpPr>
        <p:spPr>
          <a:xfrm>
            <a:off x="567000" y="1610312"/>
            <a:ext cx="10698120" cy="6809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fue el </a:t>
            </a:r>
            <a:r>
              <a:rPr b="0" i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wedge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(punto de entrada). </a:t>
            </a:r>
            <a:r>
              <a:rPr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 OS 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 el entorno que permite que ese trabajo sea durable, gobernado y ampliable.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B839A129-E26E-4D94-A672-B82CF05EFCF0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7344030D-7C38-4611-8201-0F12160B8DE9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Text 7">
            <a:extLst>
              <a:ext uri="{FF2B5EF4-FFF2-40B4-BE49-F238E27FC236}">
                <a16:creationId xmlns:a16="http://schemas.microsoft.com/office/drawing/2014/main" id="{081BF8FA-6EEB-4E29-9C33-77BD69F3327A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3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hape 8">
            <a:extLst>
              <a:ext uri="{FF2B5EF4-FFF2-40B4-BE49-F238E27FC236}">
                <a16:creationId xmlns:a16="http://schemas.microsoft.com/office/drawing/2014/main" id="{13D70579-975A-4681-9C16-0E072EFF44D5}"/>
              </a:ext>
            </a:extLst>
          </p:cNvPr>
          <p:cNvSpPr>
            <a:spLocks noGrp="1"/>
          </p:cNvSpPr>
          <p:nvPr/>
        </p:nvSpPr>
        <p:spPr>
          <a:xfrm>
            <a:off x="1005840" y="2388640"/>
            <a:ext cx="9235080" cy="707775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4E04750F-4738-46A7-8088-FDAEFF5F7FCF}"/>
              </a:ext>
            </a:extLst>
          </p:cNvPr>
          <p:cNvSpPr>
            <a:spLocks noGrp="1"/>
          </p:cNvSpPr>
          <p:nvPr/>
        </p:nvSpPr>
        <p:spPr>
          <a:xfrm>
            <a:off x="1207080" y="2502814"/>
            <a:ext cx="88326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Software tradicional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286561F0-0CD2-4E6C-8D1A-00732F4B1DA3}"/>
              </a:ext>
            </a:extLst>
          </p:cNvPr>
          <p:cNvSpPr>
            <a:spLocks noGrp="1"/>
          </p:cNvSpPr>
          <p:nvPr/>
        </p:nvSpPr>
        <p:spPr>
          <a:xfrm>
            <a:off x="1261800" y="2807746"/>
            <a:ext cx="8723160" cy="2190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Digitaliza piezas del trabajo.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" name="Shape 11">
            <a:extLst>
              <a:ext uri="{FF2B5EF4-FFF2-40B4-BE49-F238E27FC236}">
                <a16:creationId xmlns:a16="http://schemas.microsoft.com/office/drawing/2014/main" id="{6CF456FE-54CC-4F92-9167-5ACF310163F1}"/>
              </a:ext>
            </a:extLst>
          </p:cNvPr>
          <p:cNvSpPr>
            <a:spLocks noGrp="1"/>
          </p:cNvSpPr>
          <p:nvPr/>
        </p:nvSpPr>
        <p:spPr>
          <a:xfrm>
            <a:off x="5669280" y="3148772"/>
            <a:ext cx="0" cy="146159"/>
          </a:xfrm>
          <a:prstGeom prst="line">
            <a:avLst/>
          </a:prstGeom>
          <a:ln w="16510">
            <a:solidFill>
              <a:srgbClr val="B5A4D8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Shape 12">
            <a:extLst>
              <a:ext uri="{FF2B5EF4-FFF2-40B4-BE49-F238E27FC236}">
                <a16:creationId xmlns:a16="http://schemas.microsoft.com/office/drawing/2014/main" id="{6D2F2DE7-60C5-4730-8B9D-9CD941AE1869}"/>
              </a:ext>
            </a:extLst>
          </p:cNvPr>
          <p:cNvSpPr>
            <a:spLocks noGrp="1"/>
          </p:cNvSpPr>
          <p:nvPr/>
        </p:nvSpPr>
        <p:spPr>
          <a:xfrm>
            <a:off x="1463040" y="3341011"/>
            <a:ext cx="8320680" cy="737481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Text 13">
            <a:extLst>
              <a:ext uri="{FF2B5EF4-FFF2-40B4-BE49-F238E27FC236}">
                <a16:creationId xmlns:a16="http://schemas.microsoft.com/office/drawing/2014/main" id="{FB95FA95-2691-45B5-B4A4-4FE07C682AF7}"/>
              </a:ext>
            </a:extLst>
          </p:cNvPr>
          <p:cNvSpPr>
            <a:spLocks noGrp="1"/>
          </p:cNvSpPr>
          <p:nvPr/>
        </p:nvSpPr>
        <p:spPr>
          <a:xfrm>
            <a:off x="1664280" y="3427294"/>
            <a:ext cx="79182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Copilotos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Text 14">
            <a:extLst>
              <a:ext uri="{FF2B5EF4-FFF2-40B4-BE49-F238E27FC236}">
                <a16:creationId xmlns:a16="http://schemas.microsoft.com/office/drawing/2014/main" id="{EFD10F35-9B7F-4B82-8BC5-BA25FF5C31B5}"/>
              </a:ext>
            </a:extLst>
          </p:cNvPr>
          <p:cNvSpPr>
            <a:spLocks noGrp="1"/>
          </p:cNvSpPr>
          <p:nvPr/>
        </p:nvSpPr>
        <p:spPr>
          <a:xfrm>
            <a:off x="1719000" y="3712347"/>
            <a:ext cx="7808760" cy="265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Asisten al usuario dentro del software.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Shape 15">
            <a:extLst>
              <a:ext uri="{FF2B5EF4-FFF2-40B4-BE49-F238E27FC236}">
                <a16:creationId xmlns:a16="http://schemas.microsoft.com/office/drawing/2014/main" id="{71208A46-29AD-4FF2-8A4D-EAE68774BA61}"/>
              </a:ext>
            </a:extLst>
          </p:cNvPr>
          <p:cNvSpPr>
            <a:spLocks noGrp="1"/>
          </p:cNvSpPr>
          <p:nvPr/>
        </p:nvSpPr>
        <p:spPr>
          <a:xfrm>
            <a:off x="5669280" y="4121523"/>
            <a:ext cx="360" cy="146160"/>
          </a:xfrm>
          <a:prstGeom prst="line">
            <a:avLst/>
          </a:prstGeom>
          <a:ln w="16510">
            <a:solidFill>
              <a:srgbClr val="B5A4D8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D73E8149-C0A7-4078-8E57-B62A0872D427}"/>
              </a:ext>
            </a:extLst>
          </p:cNvPr>
          <p:cNvSpPr>
            <a:spLocks noGrp="1"/>
          </p:cNvSpPr>
          <p:nvPr/>
        </p:nvSpPr>
        <p:spPr>
          <a:xfrm>
            <a:off x="1920240" y="4289956"/>
            <a:ext cx="7406280" cy="78403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67C10BD3-5842-456B-A036-15821AE791F3}"/>
              </a:ext>
            </a:extLst>
          </p:cNvPr>
          <p:cNvSpPr>
            <a:spLocks noGrp="1"/>
          </p:cNvSpPr>
          <p:nvPr/>
        </p:nvSpPr>
        <p:spPr>
          <a:xfrm>
            <a:off x="2121480" y="4376239"/>
            <a:ext cx="70038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Agentes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89A0C4CB-D7FE-4368-96EA-530607610D13}"/>
              </a:ext>
            </a:extLst>
          </p:cNvPr>
          <p:cNvSpPr>
            <a:spLocks noGrp="1"/>
          </p:cNvSpPr>
          <p:nvPr/>
        </p:nvSpPr>
        <p:spPr>
          <a:xfrm>
            <a:off x="2176200" y="4681170"/>
            <a:ext cx="6894360" cy="3362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Pueden razonar y ejecutar trabajo con mayor autonomía.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hape 19">
            <a:extLst>
              <a:ext uri="{FF2B5EF4-FFF2-40B4-BE49-F238E27FC236}">
                <a16:creationId xmlns:a16="http://schemas.microsoft.com/office/drawing/2014/main" id="{3313405C-5B8F-44CC-A8C6-6D4F1C7AF99D}"/>
              </a:ext>
            </a:extLst>
          </p:cNvPr>
          <p:cNvSpPr>
            <a:spLocks noGrp="1"/>
          </p:cNvSpPr>
          <p:nvPr/>
        </p:nvSpPr>
        <p:spPr>
          <a:xfrm>
            <a:off x="5669280" y="5130102"/>
            <a:ext cx="360" cy="146160"/>
          </a:xfrm>
          <a:prstGeom prst="line">
            <a:avLst/>
          </a:prstGeom>
          <a:ln w="16510">
            <a:solidFill>
              <a:srgbClr val="B5A4D8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4DA9CBE5-0185-4228-AC10-C1C5B920E291}"/>
              </a:ext>
            </a:extLst>
          </p:cNvPr>
          <p:cNvSpPr>
            <a:spLocks noGrp="1"/>
          </p:cNvSpPr>
          <p:nvPr/>
        </p:nvSpPr>
        <p:spPr>
          <a:xfrm>
            <a:off x="2377440" y="5322342"/>
            <a:ext cx="6491880" cy="1096818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0EBAD889-ECEA-4820-BD52-B118AF49D5BE}"/>
              </a:ext>
            </a:extLst>
          </p:cNvPr>
          <p:cNvSpPr>
            <a:spLocks noGrp="1"/>
          </p:cNvSpPr>
          <p:nvPr/>
        </p:nvSpPr>
        <p:spPr>
          <a:xfrm>
            <a:off x="2578680" y="5461887"/>
            <a:ext cx="6089400" cy="228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i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powered by Gu OS</a:t>
            </a:r>
            <a:endParaRPr sz="20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" name="Text 22">
            <a:extLst>
              <a:ext uri="{FF2B5EF4-FFF2-40B4-BE49-F238E27FC236}">
                <a16:creationId xmlns:a16="http://schemas.microsoft.com/office/drawing/2014/main" id="{8E0C772E-3C81-4845-9CED-2E597E64DDC0}"/>
              </a:ext>
            </a:extLst>
          </p:cNvPr>
          <p:cNvSpPr>
            <a:spLocks noGrp="1"/>
          </p:cNvSpPr>
          <p:nvPr/>
        </p:nvSpPr>
        <p:spPr>
          <a:xfrm>
            <a:off x="2633400" y="5806574"/>
            <a:ext cx="5979960" cy="4713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E8DFFF"/>
                </a:solidFill>
                <a:latin typeface="Aptos"/>
                <a:ea typeface="Aptos"/>
                <a:cs typeface="Aptos"/>
              </a:rPr>
              <a:t>Gu puede coordinar y ejecutar trabajo manteniendo contexto, responsabilidad y continuidad a través de la operación.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hape 23">
            <a:extLst>
              <a:ext uri="{FF2B5EF4-FFF2-40B4-BE49-F238E27FC236}">
                <a16:creationId xmlns:a16="http://schemas.microsoft.com/office/drawing/2014/main" id="{118136F6-58B9-4701-9024-7FB68AA3FCE2}"/>
              </a:ext>
            </a:extLst>
          </p:cNvPr>
          <p:cNvSpPr>
            <a:spLocks noGrp="1"/>
          </p:cNvSpPr>
          <p:nvPr/>
        </p:nvSpPr>
        <p:spPr>
          <a:xfrm>
            <a:off x="9412357" y="5340868"/>
            <a:ext cx="1981067" cy="1096818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92A64BA8-08E3-4909-9B1C-3F1439737989}"/>
              </a:ext>
            </a:extLst>
          </p:cNvPr>
          <p:cNvSpPr>
            <a:spLocks noGrp="1"/>
          </p:cNvSpPr>
          <p:nvPr/>
        </p:nvSpPr>
        <p:spPr>
          <a:xfrm>
            <a:off x="9499281" y="5525669"/>
            <a:ext cx="1874203" cy="78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Los humanos lideran.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Gu hace el trabajo.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59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1963A0-712B-4AF1-B87E-005E0319DB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0A3A2D-C45D-4366-8077-5ABF38DF553D}"/>
              </a:ext>
            </a:extLst>
          </p:cNvPr>
          <p:cNvSpPr>
            <a:spLocks noGrp="1"/>
          </p:cNvSpPr>
          <p:nvPr/>
        </p:nvSpPr>
        <p:spPr>
          <a:xfrm>
            <a:off x="469270" y="326524"/>
            <a:ext cx="212019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100" b="1">
                <a:solidFill>
                  <a:srgbClr val="6034D3"/>
                </a:solidFill>
              </a:defRPr>
            </a:pPr>
            <a:r>
              <a:rPr sz="1200"/>
              <a:t>EL PROBLEMA DE NEGOCIO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85354-BC69-4239-AA42-F5EEB5A01E4E}"/>
              </a:ext>
            </a:extLst>
          </p:cNvPr>
          <p:cNvSpPr>
            <a:spLocks noGrp="1"/>
          </p:cNvSpPr>
          <p:nvPr/>
        </p:nvSpPr>
        <p:spPr>
          <a:xfrm>
            <a:off x="91440" y="6510528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800">
                <a:solidFill>
                  <a:srgbClr val="746F93"/>
                </a:solidFill>
              </a:defRPr>
            </a:pPr>
            <a:r>
              <a:t>CONFIDENTIAL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6AEAA7-E3FE-417A-8E66-999BC23B8103}"/>
              </a:ext>
            </a:extLst>
          </p:cNvPr>
          <p:cNvSpPr>
            <a:spLocks noGrp="1"/>
          </p:cNvSpPr>
          <p:nvPr/>
        </p:nvSpPr>
        <p:spPr>
          <a:xfrm>
            <a:off x="10744200" y="6510528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  <a:defRPr sz="800">
                <a:solidFill>
                  <a:srgbClr val="746F93"/>
                </a:solidFill>
              </a:defRPr>
            </a:pPr>
            <a:r>
              <a:t>ungga.com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3BD73C-A6F9-4483-85E1-28C9D8409789}"/>
              </a:ext>
            </a:extLst>
          </p:cNvPr>
          <p:cNvSpPr>
            <a:spLocks noGrp="1"/>
          </p:cNvSpPr>
          <p:nvPr/>
        </p:nvSpPr>
        <p:spPr>
          <a:xfrm>
            <a:off x="11722608" y="6510528"/>
            <a:ext cx="182880" cy="21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  <a:defRPr sz="800">
                <a:solidFill>
                  <a:srgbClr val="746F93"/>
                </a:solidFill>
              </a:defRPr>
            </a:pPr>
            <a: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F95DB1-2CB3-4FDD-B729-4AE261D842ED}"/>
              </a:ext>
            </a:extLst>
          </p:cNvPr>
          <p:cNvSpPr>
            <a:spLocks noGrp="1"/>
          </p:cNvSpPr>
          <p:nvPr/>
        </p:nvSpPr>
        <p:spPr>
          <a:xfrm>
            <a:off x="500826" y="749808"/>
            <a:ext cx="1046988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400" b="1">
                <a:solidFill>
                  <a:srgbClr val="14132B"/>
                </a:solidFill>
              </a:defRPr>
            </a:pPr>
            <a:r>
              <a:t>Generar oportunidades calificadas sigue siendo difícil; demasiadas se pierden antes de una visita.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8A4915B-7177-4728-94F2-78FE73896FE5}"/>
              </a:ext>
            </a:extLst>
          </p:cNvPr>
          <p:cNvSpPr>
            <a:spLocks noGrp="1"/>
          </p:cNvSpPr>
          <p:nvPr/>
        </p:nvSpPr>
        <p:spPr>
          <a:xfrm>
            <a:off x="566928" y="1737360"/>
            <a:ext cx="5349240" cy="4114800"/>
          </a:xfrm>
          <a:prstGeom prst="roundRect">
            <a:avLst>
              <a:gd name="adj" fmla="val 6225"/>
            </a:avLst>
          </a:prstGeom>
          <a:solidFill>
            <a:srgbClr val="FFFFFF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4DF2FBC-9A1E-4446-BA48-01C1ED54CF29}"/>
              </a:ext>
            </a:extLst>
          </p:cNvPr>
          <p:cNvSpPr>
            <a:spLocks noGrp="1"/>
          </p:cNvSpPr>
          <p:nvPr/>
        </p:nvSpPr>
        <p:spPr>
          <a:xfrm>
            <a:off x="6217699" y="1737360"/>
            <a:ext cx="5568916" cy="411480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B8E5E6D-21DF-48DA-AD08-2C9E4BEBD510}"/>
              </a:ext>
            </a:extLst>
          </p:cNvPr>
          <p:cNvSpPr>
            <a:spLocks noGrp="1"/>
          </p:cNvSpPr>
          <p:nvPr/>
        </p:nvSpPr>
        <p:spPr>
          <a:xfrm>
            <a:off x="804672" y="1956816"/>
            <a:ext cx="1508760" cy="320040"/>
          </a:xfrm>
          <a:prstGeom prst="roundRect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</a:rPr>
              <a:t>GENERAR DEMANDA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516626F-80C5-4768-A0BA-36EC97A257F6}"/>
              </a:ext>
            </a:extLst>
          </p:cNvPr>
          <p:cNvSpPr>
            <a:spLocks noGrp="1"/>
          </p:cNvSpPr>
          <p:nvPr/>
        </p:nvSpPr>
        <p:spPr>
          <a:xfrm>
            <a:off x="6455443" y="1956816"/>
            <a:ext cx="1645920" cy="320040"/>
          </a:xfrm>
          <a:prstGeom prst="roundRect">
            <a:avLst/>
          </a:prstGeom>
          <a:solidFill>
            <a:srgbClr val="C55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000" b="1">
                <a:solidFill>
                  <a:srgbClr val="FFFFFF"/>
                </a:solidFill>
              </a:rPr>
              <a:t>CONVERTIR DEMANDA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A3CC8-FA99-487D-BD6A-BE1A24C10C5D}"/>
              </a:ext>
            </a:extLst>
          </p:cNvPr>
          <p:cNvSpPr>
            <a:spLocks noGrp="1"/>
          </p:cNvSpPr>
          <p:nvPr/>
        </p:nvSpPr>
        <p:spPr>
          <a:xfrm>
            <a:off x="868680" y="2468880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800" b="1">
                <a:solidFill>
                  <a:srgbClr val="14132B"/>
                </a:solidFill>
              </a:defRPr>
            </a:pPr>
            <a:r>
              <a:t>Generar suficientes oportunidades calificadas de forma predecible es difícil.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1BBBB0E-F4F7-4817-8141-E03C8B2A376B}"/>
              </a:ext>
            </a:extLst>
          </p:cNvPr>
          <p:cNvSpPr>
            <a:spLocks noGrp="1"/>
          </p:cNvSpPr>
          <p:nvPr/>
        </p:nvSpPr>
        <p:spPr>
          <a:xfrm>
            <a:off x="932688" y="3352044"/>
            <a:ext cx="1097280" cy="503420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Portales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541BCDA-FD72-4AF1-B785-D6BDF8CC125E}"/>
              </a:ext>
            </a:extLst>
          </p:cNvPr>
          <p:cNvSpPr>
            <a:spLocks noGrp="1"/>
          </p:cNvSpPr>
          <p:nvPr/>
        </p:nvSpPr>
        <p:spPr>
          <a:xfrm>
            <a:off x="2331720" y="3352044"/>
            <a:ext cx="1188720" cy="503420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Redes pagadas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DD7A2F3-325E-4164-8AAC-D22E190F295F}"/>
              </a:ext>
            </a:extLst>
          </p:cNvPr>
          <p:cNvSpPr>
            <a:spLocks noGrp="1"/>
          </p:cNvSpPr>
          <p:nvPr/>
        </p:nvSpPr>
        <p:spPr>
          <a:xfrm>
            <a:off x="3968496" y="3352044"/>
            <a:ext cx="1051560" cy="503420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Orgánico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4AEC0D-70EC-4915-9B31-E29563A8C0B9}"/>
              </a:ext>
            </a:extLst>
          </p:cNvPr>
          <p:cNvSpPr>
            <a:spLocks noGrp="1"/>
          </p:cNvSpPr>
          <p:nvPr/>
        </p:nvSpPr>
        <p:spPr>
          <a:xfrm>
            <a:off x="932688" y="4041195"/>
            <a:ext cx="1097280" cy="442121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Referidos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D0B5C5F-3AB2-4156-B91F-3DDC0E395E35}"/>
              </a:ext>
            </a:extLst>
          </p:cNvPr>
          <p:cNvSpPr>
            <a:spLocks noGrp="1"/>
          </p:cNvSpPr>
          <p:nvPr/>
        </p:nvSpPr>
        <p:spPr>
          <a:xfrm>
            <a:off x="2441448" y="4041195"/>
            <a:ext cx="960120" cy="442121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Offline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533D092-C39D-4F8C-AAF6-F513A3C528B6}"/>
              </a:ext>
            </a:extLst>
          </p:cNvPr>
          <p:cNvSpPr>
            <a:spLocks noGrp="1"/>
          </p:cNvSpPr>
          <p:nvPr/>
        </p:nvSpPr>
        <p:spPr>
          <a:xfrm>
            <a:off x="3986784" y="4041195"/>
            <a:ext cx="1005840" cy="442121"/>
          </a:xfrm>
          <a:prstGeom prst="roundRect">
            <a:avLst/>
          </a:prstGeom>
          <a:solidFill>
            <a:srgbClr val="F2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r>
              <a:rPr sz="1400" b="1">
                <a:solidFill>
                  <a:srgbClr val="6034D3"/>
                </a:solidFill>
              </a:rPr>
              <a:t>Agentes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C285AA-D06D-429C-A82B-B7D197A9D794}"/>
              </a:ext>
            </a:extLst>
          </p:cNvPr>
          <p:cNvSpPr>
            <a:spLocks noGrp="1"/>
          </p:cNvSpPr>
          <p:nvPr/>
        </p:nvSpPr>
        <p:spPr>
          <a:xfrm>
            <a:off x="868680" y="4906361"/>
            <a:ext cx="448056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buNone/>
              <a:defRPr sz="1300" b="1">
                <a:solidFill>
                  <a:srgbClr val="746F93"/>
                </a:solidFill>
              </a:defRPr>
            </a:pPr>
            <a:r>
              <a:rPr sz="1600"/>
              <a:t>Múltiples fuentes → Esfuerzo significativo </a:t>
            </a:r>
            <a:r>
              <a:rPr sz="1600">
                <a:solidFill>
                  <a:schemeClr val="tx1">
                    <a:lumMod val="50000"/>
                    <a:lumOff val="50000"/>
                  </a:schemeClr>
                </a:solidFill>
              </a:rPr>
              <a:t>→ </a:t>
            </a:r>
            <a:r>
              <a:rPr sz="1600"/>
              <a:t>Resultados posteriores inciertos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0FD27F-9761-440F-9043-7585390C3D4C}"/>
              </a:ext>
            </a:extLst>
          </p:cNvPr>
          <p:cNvSpPr>
            <a:spLocks noGrp="1"/>
          </p:cNvSpPr>
          <p:nvPr/>
        </p:nvSpPr>
        <p:spPr>
          <a:xfrm>
            <a:off x="6510307" y="2468880"/>
            <a:ext cx="4343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800" b="1">
                <a:solidFill>
                  <a:srgbClr val="14132B"/>
                </a:solidFill>
              </a:defRPr>
            </a:pPr>
            <a:r>
              <a:t>Demasiadas oportunidades se estancan antes de llegar a una visita.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E0AE9B-4A06-4161-A408-ECACD123578B}"/>
              </a:ext>
            </a:extLst>
          </p:cNvPr>
          <p:cNvSpPr>
            <a:spLocks noGrp="1"/>
          </p:cNvSpPr>
          <p:nvPr/>
        </p:nvSpPr>
        <p:spPr>
          <a:xfrm>
            <a:off x="6528595" y="3291177"/>
            <a:ext cx="91440" cy="91440"/>
          </a:xfrm>
          <a:prstGeom prst="ellipse">
            <a:avLst/>
          </a:prstGeom>
          <a:solidFill>
            <a:srgbClr val="C55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1AF682-1273-45AB-BA2D-86D4A76B4923}"/>
              </a:ext>
            </a:extLst>
          </p:cNvPr>
          <p:cNvSpPr>
            <a:spLocks noGrp="1"/>
          </p:cNvSpPr>
          <p:nvPr/>
        </p:nvSpPr>
        <p:spPr>
          <a:xfrm>
            <a:off x="6757195" y="3236313"/>
            <a:ext cx="14173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60" b="1">
                <a:solidFill>
                  <a:srgbClr val="14132B"/>
                </a:solidFill>
              </a:defRPr>
            </a:pPr>
            <a:r>
              <a:rPr sz="1400"/>
              <a:t>Respuesta tardía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396C0BC-4CCF-4692-A6C2-0763E5486099}"/>
              </a:ext>
            </a:extLst>
          </p:cNvPr>
          <p:cNvSpPr>
            <a:spLocks noGrp="1"/>
          </p:cNvSpPr>
          <p:nvPr/>
        </p:nvSpPr>
        <p:spPr>
          <a:xfrm>
            <a:off x="8399811" y="3236313"/>
            <a:ext cx="3211196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70" b="0">
                <a:solidFill>
                  <a:srgbClr val="746F93"/>
                </a:solidFill>
              </a:defRPr>
            </a:pPr>
            <a:r>
              <a:rPr sz="1200"/>
              <a:t>La demanda llega 24/7. La atención humana no.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192657-B172-4FC5-9219-00233E49941F}"/>
              </a:ext>
            </a:extLst>
          </p:cNvPr>
          <p:cNvSpPr>
            <a:spLocks noGrp="1"/>
          </p:cNvSpPr>
          <p:nvPr/>
        </p:nvSpPr>
        <p:spPr>
          <a:xfrm>
            <a:off x="6528595" y="3757299"/>
            <a:ext cx="91440" cy="91440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52F7064-BDD8-4B33-B67A-34264A18129D}"/>
              </a:ext>
            </a:extLst>
          </p:cNvPr>
          <p:cNvSpPr>
            <a:spLocks noGrp="1"/>
          </p:cNvSpPr>
          <p:nvPr/>
        </p:nvSpPr>
        <p:spPr>
          <a:xfrm>
            <a:off x="6757195" y="3702436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60" b="1">
                <a:solidFill>
                  <a:srgbClr val="14132B"/>
                </a:solidFill>
              </a:defRPr>
            </a:pPr>
            <a:r>
              <a:rPr sz="1400"/>
              <a:t>Seguimiento inconsistente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865E45-3F75-4FD7-9CF1-D556C88235FF}"/>
              </a:ext>
            </a:extLst>
          </p:cNvPr>
          <p:cNvSpPr>
            <a:spLocks noGrp="1"/>
          </p:cNvSpPr>
          <p:nvPr/>
        </p:nvSpPr>
        <p:spPr>
          <a:xfrm>
            <a:off x="8399811" y="3702436"/>
            <a:ext cx="321119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70" b="0">
                <a:solidFill>
                  <a:srgbClr val="746F93"/>
                </a:solidFill>
              </a:defRPr>
            </a:pPr>
            <a:r>
              <a:rPr sz="1200"/>
              <a:t>Las oportunidades dependen de memoria y disciplina.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E1853D8-FC94-4EB5-91AF-B457FD7E9BFD}"/>
              </a:ext>
            </a:extLst>
          </p:cNvPr>
          <p:cNvSpPr>
            <a:spLocks noGrp="1"/>
          </p:cNvSpPr>
          <p:nvPr/>
        </p:nvSpPr>
        <p:spPr>
          <a:xfrm>
            <a:off x="6528595" y="4278508"/>
            <a:ext cx="91440" cy="91440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FF2FA19-825D-40B7-A8B1-6AD4826518B6}"/>
              </a:ext>
            </a:extLst>
          </p:cNvPr>
          <p:cNvSpPr>
            <a:spLocks noGrp="1"/>
          </p:cNvSpPr>
          <p:nvPr/>
        </p:nvSpPr>
        <p:spPr>
          <a:xfrm>
            <a:off x="6757195" y="4223644"/>
            <a:ext cx="1467006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60" b="1">
                <a:solidFill>
                  <a:srgbClr val="14132B"/>
                </a:solidFill>
              </a:defRPr>
            </a:pPr>
            <a:r>
              <a:rPr sz="1400"/>
              <a:t>Matches perdidos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CB8527-9573-47EF-903C-BEC5EC7324AE}"/>
              </a:ext>
            </a:extLst>
          </p:cNvPr>
          <p:cNvSpPr>
            <a:spLocks noGrp="1"/>
          </p:cNvSpPr>
          <p:nvPr/>
        </p:nvSpPr>
        <p:spPr>
          <a:xfrm>
            <a:off x="8399811" y="4223644"/>
            <a:ext cx="321119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70" b="0">
                <a:solidFill>
                  <a:srgbClr val="746F93"/>
                </a:solidFill>
              </a:defRPr>
            </a:pPr>
            <a:r>
              <a:rPr sz="1200"/>
              <a:t>La propiedad adecuada puede estar en otro inventario.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BAB19DC-343D-4EEF-8416-D5FEE91C9C91}"/>
              </a:ext>
            </a:extLst>
          </p:cNvPr>
          <p:cNvSpPr>
            <a:spLocks noGrp="1"/>
          </p:cNvSpPr>
          <p:nvPr/>
        </p:nvSpPr>
        <p:spPr>
          <a:xfrm>
            <a:off x="6528595" y="4799716"/>
            <a:ext cx="91440" cy="91440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106D10-FA59-4A10-83AB-FAB326ACDDAD}"/>
              </a:ext>
            </a:extLst>
          </p:cNvPr>
          <p:cNvSpPr>
            <a:spLocks noGrp="1"/>
          </p:cNvSpPr>
          <p:nvPr/>
        </p:nvSpPr>
        <p:spPr>
          <a:xfrm>
            <a:off x="6757195" y="4744852"/>
            <a:ext cx="141732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60" b="1">
                <a:solidFill>
                  <a:srgbClr val="14132B"/>
                </a:solidFill>
              </a:defRPr>
            </a:pPr>
            <a:r>
              <a:rPr sz="1400"/>
              <a:t>“No-shows"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120DC5-AC76-4A5B-BBC3-FF3CB6C21860}"/>
              </a:ext>
            </a:extLst>
          </p:cNvPr>
          <p:cNvSpPr>
            <a:spLocks noGrp="1"/>
          </p:cNvSpPr>
          <p:nvPr/>
        </p:nvSpPr>
        <p:spPr>
          <a:xfrm>
            <a:off x="8399810" y="4744852"/>
            <a:ext cx="3211196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70" b="0">
                <a:solidFill>
                  <a:srgbClr val="746F93"/>
                </a:solidFill>
              </a:defRPr>
            </a:pPr>
            <a:r>
              <a:rPr sz="1200"/>
              <a:t>Una cita agendada no siempre significa una visita realizada.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32BBD194-4629-4D3A-9864-09D0B8DFEF05}"/>
              </a:ext>
            </a:extLst>
          </p:cNvPr>
          <p:cNvSpPr>
            <a:spLocks noGrp="1"/>
          </p:cNvSpPr>
          <p:nvPr/>
        </p:nvSpPr>
        <p:spPr>
          <a:xfrm>
            <a:off x="6528595" y="5298890"/>
            <a:ext cx="91440" cy="91440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4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2397DB-3A04-4370-95DC-84163C813C41}"/>
              </a:ext>
            </a:extLst>
          </p:cNvPr>
          <p:cNvSpPr>
            <a:spLocks noGrp="1"/>
          </p:cNvSpPr>
          <p:nvPr/>
        </p:nvSpPr>
        <p:spPr>
          <a:xfrm>
            <a:off x="6757195" y="5244026"/>
            <a:ext cx="141732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260" b="1">
                <a:solidFill>
                  <a:srgbClr val="14132B"/>
                </a:solidFill>
              </a:defRPr>
            </a:pPr>
            <a:r>
              <a:rPr sz="1400"/>
              <a:t>Oportunidades estancadas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2A9ED3-523F-4DE2-96D2-EA2F499FFE45}"/>
              </a:ext>
            </a:extLst>
          </p:cNvPr>
          <p:cNvSpPr>
            <a:spLocks noGrp="1"/>
          </p:cNvSpPr>
          <p:nvPr/>
        </p:nvSpPr>
        <p:spPr>
          <a:xfrm>
            <a:off x="8399810" y="5211333"/>
            <a:ext cx="3211195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70" b="0">
                <a:solidFill>
                  <a:srgbClr val="746F93"/>
                </a:solidFill>
              </a:defRPr>
            </a:pPr>
            <a:r>
              <a:rPr sz="1200"/>
              <a:t>Sin una siguiente acción, el momentum se pierde.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EE353795-058A-437D-AD2C-73DD5DC65411}"/>
              </a:ext>
            </a:extLst>
          </p:cNvPr>
          <p:cNvSpPr>
            <a:spLocks noGrp="1"/>
          </p:cNvSpPr>
          <p:nvPr/>
        </p:nvSpPr>
        <p:spPr>
          <a:xfrm>
            <a:off x="804673" y="5953533"/>
            <a:ext cx="10806332" cy="484632"/>
          </a:xfrm>
          <a:prstGeom prst="roundRect">
            <a:avLst/>
          </a:prstGeom>
          <a:solidFill>
            <a:srgbClr val="F2EDFC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0C6E504-BDB4-4CE9-96EE-07E132C4CB01}"/>
              </a:ext>
            </a:extLst>
          </p:cNvPr>
          <p:cNvSpPr>
            <a:spLocks noGrp="1"/>
          </p:cNvSpPr>
          <p:nvPr/>
        </p:nvSpPr>
        <p:spPr>
          <a:xfrm>
            <a:off x="932767" y="6120219"/>
            <a:ext cx="1869598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30" b="1">
                <a:solidFill>
                  <a:srgbClr val="14132B"/>
                </a:solidFill>
              </a:defRPr>
            </a:pPr>
            <a:r>
              <a:rPr sz="1200"/>
              <a:t>IMPACTO: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69AC3D-770D-4A8B-951B-DD4DAF334AD0}"/>
              </a:ext>
            </a:extLst>
          </p:cNvPr>
          <p:cNvSpPr>
            <a:spLocks noGrp="1"/>
          </p:cNvSpPr>
          <p:nvPr/>
        </p:nvSpPr>
        <p:spPr>
          <a:xfrm>
            <a:off x="9752678" y="6117232"/>
            <a:ext cx="1783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30" b="1">
                <a:solidFill>
                  <a:srgbClr val="C55E82"/>
                </a:solidFill>
              </a:defRPr>
            </a:pPr>
            <a:r>
              <a:rPr sz="1200"/>
              <a:t>Comisiones perdidas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60BAD65-C0F3-435D-BA5E-C7709C7312B1}"/>
              </a:ext>
            </a:extLst>
          </p:cNvPr>
          <p:cNvSpPr>
            <a:spLocks noGrp="1"/>
          </p:cNvSpPr>
          <p:nvPr/>
        </p:nvSpPr>
        <p:spPr>
          <a:xfrm>
            <a:off x="9588086" y="6208672"/>
            <a:ext cx="36576" cy="36576"/>
          </a:xfrm>
          <a:prstGeom prst="ellipse">
            <a:avLst/>
          </a:prstGeom>
          <a:solidFill>
            <a:srgbClr val="746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4AC8FEE-1FA9-4CE6-BAC9-CB33A59183DE}"/>
              </a:ext>
            </a:extLst>
          </p:cNvPr>
          <p:cNvSpPr>
            <a:spLocks noGrp="1"/>
          </p:cNvSpPr>
          <p:nvPr/>
        </p:nvSpPr>
        <p:spPr>
          <a:xfrm>
            <a:off x="3073711" y="6120219"/>
            <a:ext cx="26974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30" b="1">
                <a:solidFill>
                  <a:srgbClr val="6034D3"/>
                </a:solidFill>
              </a:defRPr>
            </a:pPr>
            <a:r>
              <a:rPr sz="1200">
                <a:solidFill>
                  <a:srgbClr val="746F93"/>
                </a:solidFill>
              </a:rPr>
              <a:t>Esfuerzo de adquisición desperdiciado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5EED768-BA7D-43A4-ABAF-BB67809CD425}"/>
              </a:ext>
            </a:extLst>
          </p:cNvPr>
          <p:cNvSpPr>
            <a:spLocks noGrp="1"/>
          </p:cNvSpPr>
          <p:nvPr/>
        </p:nvSpPr>
        <p:spPr>
          <a:xfrm>
            <a:off x="2909119" y="6211659"/>
            <a:ext cx="36576" cy="36576"/>
          </a:xfrm>
          <a:prstGeom prst="ellipse">
            <a:avLst/>
          </a:prstGeom>
          <a:solidFill>
            <a:srgbClr val="746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C22F49-BBD5-437A-A938-C95017429800}"/>
              </a:ext>
            </a:extLst>
          </p:cNvPr>
          <p:cNvSpPr>
            <a:spLocks noGrp="1"/>
          </p:cNvSpPr>
          <p:nvPr/>
        </p:nvSpPr>
        <p:spPr>
          <a:xfrm>
            <a:off x="6072943" y="6120219"/>
            <a:ext cx="16002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30" b="1">
                <a:solidFill>
                  <a:srgbClr val="14132B"/>
                </a:solidFill>
              </a:defRPr>
            </a:pPr>
            <a:r>
              <a:rPr sz="1200">
                <a:solidFill>
                  <a:srgbClr val="746F93"/>
                </a:solidFill>
              </a:rPr>
              <a:t>Crecimiento limitado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CBBCC88-B49C-442F-B39A-7DFE27B97113}"/>
              </a:ext>
            </a:extLst>
          </p:cNvPr>
          <p:cNvSpPr>
            <a:spLocks noGrp="1"/>
          </p:cNvSpPr>
          <p:nvPr/>
        </p:nvSpPr>
        <p:spPr>
          <a:xfrm>
            <a:off x="5908351" y="6211659"/>
            <a:ext cx="36576" cy="36576"/>
          </a:xfrm>
          <a:prstGeom prst="ellipse">
            <a:avLst/>
          </a:prstGeom>
          <a:solidFill>
            <a:srgbClr val="746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EEC6226-C51D-4EEC-8618-139F9B9D85DC}"/>
              </a:ext>
            </a:extLst>
          </p:cNvPr>
          <p:cNvSpPr>
            <a:spLocks noGrp="1"/>
          </p:cNvSpPr>
          <p:nvPr/>
        </p:nvSpPr>
        <p:spPr>
          <a:xfrm>
            <a:off x="7851832" y="6120219"/>
            <a:ext cx="178308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30" b="1">
                <a:solidFill>
                  <a:srgbClr val="746F93"/>
                </a:solidFill>
              </a:defRPr>
            </a:pPr>
            <a:r>
              <a:rPr sz="1200">
                <a:solidFill>
                  <a:srgbClr val="746F93"/>
                </a:solidFill>
              </a:rPr>
              <a:t>Sobrecarga del equipo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8ADF837-23E2-4D8C-B42E-BE3CEEDE84C8}"/>
              </a:ext>
            </a:extLst>
          </p:cNvPr>
          <p:cNvSpPr>
            <a:spLocks noGrp="1"/>
          </p:cNvSpPr>
          <p:nvPr/>
        </p:nvSpPr>
        <p:spPr>
          <a:xfrm>
            <a:off x="7687240" y="6211659"/>
            <a:ext cx="36576" cy="36576"/>
          </a:xfrm>
          <a:prstGeom prst="ellipse">
            <a:avLst/>
          </a:prstGeom>
          <a:solidFill>
            <a:srgbClr val="746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1200"/>
          </a:p>
        </p:txBody>
      </p:sp>
      <p:pic>
        <p:nvPicPr>
          <p:cNvPr id="9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71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9E945A-DD27-2CA7-F32B-9F67C0110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B8478E-2E4B-0D76-8413-77E35DC818E3}"/>
              </a:ext>
            </a:extLst>
          </p:cNvPr>
          <p:cNvSpPr>
            <a:spLocks noGrp="1"/>
          </p:cNvSpPr>
          <p:nvPr/>
        </p:nvSpPr>
        <p:spPr>
          <a:xfrm>
            <a:off x="513660" y="282132"/>
            <a:ext cx="25503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1100" b="1">
                <a:solidFill>
                  <a:srgbClr val="6034D3"/>
                </a:solidFill>
              </a:defRPr>
            </a:pPr>
            <a:r>
              <a:rPr sz="1200"/>
              <a:t>POR QUÉ EL PROBLEMA PERSISTE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133BDA-8959-BC5E-A259-CE4C925A6A2C}"/>
              </a:ext>
            </a:extLst>
          </p:cNvPr>
          <p:cNvSpPr>
            <a:spLocks noGrp="1"/>
          </p:cNvSpPr>
          <p:nvPr/>
        </p:nvSpPr>
        <p:spPr>
          <a:xfrm>
            <a:off x="91440" y="6510528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  <a:defRPr sz="800">
                <a:solidFill>
                  <a:srgbClr val="746F93"/>
                </a:solidFill>
              </a:defRPr>
            </a:pPr>
            <a:r>
              <a:t>CONFIDENTIAL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A6015-3816-D581-AC2A-3C632E1747AF}"/>
              </a:ext>
            </a:extLst>
          </p:cNvPr>
          <p:cNvSpPr>
            <a:spLocks noGrp="1"/>
          </p:cNvSpPr>
          <p:nvPr/>
        </p:nvSpPr>
        <p:spPr>
          <a:xfrm>
            <a:off x="10744200" y="6510528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  <a:defRPr sz="800">
                <a:solidFill>
                  <a:srgbClr val="746F93"/>
                </a:solidFill>
              </a:defRPr>
            </a:pPr>
            <a:r>
              <a:t>ungga.com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F94B10-D529-48BC-9AED-38F135A61BA6}"/>
              </a:ext>
            </a:extLst>
          </p:cNvPr>
          <p:cNvSpPr>
            <a:spLocks noGrp="1"/>
          </p:cNvSpPr>
          <p:nvPr/>
        </p:nvSpPr>
        <p:spPr>
          <a:xfrm>
            <a:off x="11722608" y="6510528"/>
            <a:ext cx="182880" cy="21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buNone/>
              <a:defRPr sz="800">
                <a:solidFill>
                  <a:srgbClr val="746F93"/>
                </a:solidFill>
              </a:defRPr>
            </a:pPr>
            <a:r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049C50-EF60-879A-C707-96D474A73C66}"/>
              </a:ext>
            </a:extLst>
          </p:cNvPr>
          <p:cNvSpPr>
            <a:spLocks noGrp="1"/>
          </p:cNvSpPr>
          <p:nvPr/>
        </p:nvSpPr>
        <p:spPr>
          <a:xfrm>
            <a:off x="566928" y="749808"/>
            <a:ext cx="10177272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2400" b="1">
                <a:solidFill>
                  <a:srgbClr val="14132B"/>
                </a:solidFill>
              </a:defRPr>
            </a:pPr>
            <a:r>
              <a:rPr sz="2600"/>
              <a:t>El humano sigue siendo el sistema operativo.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FFBB9F2-CF8C-57CE-A11F-3840F22ABEB3}"/>
              </a:ext>
            </a:extLst>
          </p:cNvPr>
          <p:cNvSpPr>
            <a:spLocks noGrp="1"/>
          </p:cNvSpPr>
          <p:nvPr/>
        </p:nvSpPr>
        <p:spPr>
          <a:xfrm>
            <a:off x="851110" y="5614416"/>
            <a:ext cx="30632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E146ADD-285D-05DB-CEB9-90A24E498497}"/>
              </a:ext>
            </a:extLst>
          </p:cNvPr>
          <p:cNvSpPr>
            <a:spLocks noGrp="1"/>
          </p:cNvSpPr>
          <p:nvPr/>
        </p:nvSpPr>
        <p:spPr>
          <a:xfrm>
            <a:off x="960838" y="5742432"/>
            <a:ext cx="82296" cy="82296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CD1D705-F63D-5CBB-CF23-D8E6F9DD0153}"/>
              </a:ext>
            </a:extLst>
          </p:cNvPr>
          <p:cNvSpPr>
            <a:spLocks noGrp="1"/>
          </p:cNvSpPr>
          <p:nvPr/>
        </p:nvSpPr>
        <p:spPr>
          <a:xfrm>
            <a:off x="1125430" y="568756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50" b="1">
                <a:solidFill>
                  <a:srgbClr val="14132B"/>
                </a:solidFill>
              </a:defRPr>
            </a:pPr>
            <a:r>
              <a:t>Múltiples fuentes de demanda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7CB13D-36F4-0F90-9788-44810B681169}"/>
              </a:ext>
            </a:extLst>
          </p:cNvPr>
          <p:cNvSpPr>
            <a:spLocks noGrp="1"/>
          </p:cNvSpPr>
          <p:nvPr/>
        </p:nvSpPr>
        <p:spPr>
          <a:xfrm>
            <a:off x="1125430" y="58704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960" b="0">
                <a:solidFill>
                  <a:srgbClr val="746F93"/>
                </a:solidFill>
              </a:defRPr>
            </a:pPr>
            <a:r>
              <a:t>Entradas fragmentadas crean trabajo de coordinación.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81EFBB6-03F9-CFB5-9DBB-76A0B81F7D15}"/>
              </a:ext>
            </a:extLst>
          </p:cNvPr>
          <p:cNvSpPr>
            <a:spLocks noGrp="1"/>
          </p:cNvSpPr>
          <p:nvPr/>
        </p:nvSpPr>
        <p:spPr>
          <a:xfrm>
            <a:off x="4339856" y="5614416"/>
            <a:ext cx="306324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D4D5C54-90C8-C708-7816-B2873EBDD5B0}"/>
              </a:ext>
            </a:extLst>
          </p:cNvPr>
          <p:cNvSpPr>
            <a:spLocks noGrp="1"/>
          </p:cNvSpPr>
          <p:nvPr/>
        </p:nvSpPr>
        <p:spPr>
          <a:xfrm>
            <a:off x="4440704" y="5742432"/>
            <a:ext cx="82296" cy="82296"/>
          </a:xfrm>
          <a:prstGeom prst="ellipse">
            <a:avLst/>
          </a:prstGeom>
          <a:solidFill>
            <a:srgbClr val="603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19D72D-ED49-E7EC-3F42-74E18F552EBF}"/>
              </a:ext>
            </a:extLst>
          </p:cNvPr>
          <p:cNvSpPr>
            <a:spLocks noGrp="1"/>
          </p:cNvSpPr>
          <p:nvPr/>
        </p:nvSpPr>
        <p:spPr>
          <a:xfrm>
            <a:off x="4614176" y="5687568"/>
            <a:ext cx="26060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50" b="1">
                <a:solidFill>
                  <a:srgbClr val="14132B"/>
                </a:solidFill>
              </a:defRPr>
            </a:pPr>
            <a:r>
              <a:t>El trabajo atraviesa sistemas y personas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9114B68-7112-C4E4-3D15-FD5D2E7BDD2B}"/>
              </a:ext>
            </a:extLst>
          </p:cNvPr>
          <p:cNvSpPr>
            <a:spLocks noGrp="1"/>
          </p:cNvSpPr>
          <p:nvPr/>
        </p:nvSpPr>
        <p:spPr>
          <a:xfrm>
            <a:off x="4614176" y="5870448"/>
            <a:ext cx="26517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960" b="0">
                <a:solidFill>
                  <a:srgbClr val="746F93"/>
                </a:solidFill>
              </a:defRPr>
            </a:pPr>
            <a:r>
              <a:t>Ninguna herramienta contiene por sí sola toda la realidad operativa.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80FD8E6E-82C6-FE0E-36A2-A6B140DC0787}"/>
              </a:ext>
            </a:extLst>
          </p:cNvPr>
          <p:cNvSpPr>
            <a:spLocks noGrp="1"/>
          </p:cNvSpPr>
          <p:nvPr/>
        </p:nvSpPr>
        <p:spPr>
          <a:xfrm>
            <a:off x="7900690" y="5614416"/>
            <a:ext cx="3330472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DD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6EE2430-7F28-F661-52DA-CDB497E0F988}"/>
              </a:ext>
            </a:extLst>
          </p:cNvPr>
          <p:cNvSpPr>
            <a:spLocks noGrp="1"/>
          </p:cNvSpPr>
          <p:nvPr/>
        </p:nvSpPr>
        <p:spPr>
          <a:xfrm>
            <a:off x="8010418" y="5742432"/>
            <a:ext cx="82296" cy="82296"/>
          </a:xfrm>
          <a:prstGeom prst="ellipse">
            <a:avLst/>
          </a:prstGeom>
          <a:solidFill>
            <a:srgbClr val="C55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4507F3-1CCC-4BA2-4A8E-8C7983A14BD7}"/>
              </a:ext>
            </a:extLst>
          </p:cNvPr>
          <p:cNvSpPr>
            <a:spLocks noGrp="1"/>
          </p:cNvSpPr>
          <p:nvPr/>
        </p:nvSpPr>
        <p:spPr>
          <a:xfrm>
            <a:off x="8175011" y="5687568"/>
            <a:ext cx="278892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1050" b="1">
                <a:solidFill>
                  <a:srgbClr val="14132B"/>
                </a:solidFill>
              </a:defRPr>
            </a:pPr>
            <a:r>
              <a:t>La ejecución depende del humano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8B6662A-A4C5-A7E7-8FA7-9295FB0760E9}"/>
              </a:ext>
            </a:extLst>
          </p:cNvPr>
          <p:cNvSpPr>
            <a:spLocks noGrp="1"/>
          </p:cNvSpPr>
          <p:nvPr/>
        </p:nvSpPr>
        <p:spPr>
          <a:xfrm>
            <a:off x="8175011" y="5870448"/>
            <a:ext cx="2651760" cy="2954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buNone/>
              <a:defRPr sz="960" b="0">
                <a:solidFill>
                  <a:srgbClr val="746F93"/>
                </a:solidFill>
              </a:defRPr>
            </a:pPr>
            <a:r>
              <a:t>Disponibilidad, memoria y seguimiento humano siguen moldeando los resultados.</a:t>
            </a:r>
          </a:p>
        </p:txBody>
      </p:sp>
      <p:pic>
        <p:nvPicPr>
          <p:cNvPr id="15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0" name="Text 3">
            <a:extLst>
              <a:ext uri="{FF2B5EF4-FFF2-40B4-BE49-F238E27FC236}">
                <a16:creationId xmlns:a16="http://schemas.microsoft.com/office/drawing/2014/main" id="{ED091586-9357-C189-C64F-5EE19485D24E}"/>
              </a:ext>
            </a:extLst>
          </p:cNvPr>
          <p:cNvSpPr>
            <a:spLocks noGrp="1"/>
          </p:cNvSpPr>
          <p:nvPr/>
        </p:nvSpPr>
        <p:spPr>
          <a:xfrm>
            <a:off x="570515" y="1190240"/>
            <a:ext cx="10698120" cy="7776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software digitalizó las piezas, pero las personas todavía tienen que conectar manualmente demanda, conversaciones, sistemas y ejecución.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hape 4">
            <a:extLst>
              <a:ext uri="{FF2B5EF4-FFF2-40B4-BE49-F238E27FC236}">
                <a16:creationId xmlns:a16="http://schemas.microsoft.com/office/drawing/2014/main" id="{7E87E6CD-548C-91C7-BC2A-95A5B6AC2DA4}"/>
              </a:ext>
            </a:extLst>
          </p:cNvPr>
          <p:cNvSpPr>
            <a:spLocks noGrp="1"/>
          </p:cNvSpPr>
          <p:nvPr/>
        </p:nvSpPr>
        <p:spPr>
          <a:xfrm>
            <a:off x="566928" y="2195444"/>
            <a:ext cx="1627632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CDF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72DA3AB5-51E2-E1AF-679E-C0275341049E}"/>
              </a:ext>
            </a:extLst>
          </p:cNvPr>
          <p:cNvSpPr>
            <a:spLocks noGrp="1"/>
          </p:cNvSpPr>
          <p:nvPr/>
        </p:nvSpPr>
        <p:spPr>
          <a:xfrm>
            <a:off x="676656" y="2360036"/>
            <a:ext cx="1408176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6E43E9"/>
                </a:solidFill>
                <a:latin typeface="Aptos"/>
                <a:ea typeface="Aptos"/>
                <a:cs typeface="Aptos"/>
              </a:rPr>
              <a:t>FUENTES DE DEMANDA</a:t>
            </a:r>
            <a:endParaRPr sz="1000"/>
          </a:p>
        </p:txBody>
      </p:sp>
      <p:sp>
        <p:nvSpPr>
          <p:cNvPr id="57" name="Text 6">
            <a:extLst>
              <a:ext uri="{FF2B5EF4-FFF2-40B4-BE49-F238E27FC236}">
                <a16:creationId xmlns:a16="http://schemas.microsoft.com/office/drawing/2014/main" id="{7EC8F423-359F-1EBB-357B-ED958FD1D0EF}"/>
              </a:ext>
            </a:extLst>
          </p:cNvPr>
          <p:cNvSpPr>
            <a:spLocks noGrp="1"/>
          </p:cNvSpPr>
          <p:nvPr/>
        </p:nvSpPr>
        <p:spPr>
          <a:xfrm>
            <a:off x="676656" y="2625212"/>
            <a:ext cx="1408176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930">
                <a:solidFill>
                  <a:srgbClr val="736A89"/>
                </a:solidFill>
                <a:latin typeface="Aptos"/>
                <a:ea typeface="Aptos"/>
                <a:cs typeface="Aptos"/>
              </a:rPr>
              <a:t>Donde las oportunidades comienzan</a:t>
            </a:r>
            <a:endParaRPr sz="930"/>
          </a:p>
        </p:txBody>
      </p:sp>
      <p:sp>
        <p:nvSpPr>
          <p:cNvPr id="59" name="Text 7">
            <a:extLst>
              <a:ext uri="{FF2B5EF4-FFF2-40B4-BE49-F238E27FC236}">
                <a16:creationId xmlns:a16="http://schemas.microsoft.com/office/drawing/2014/main" id="{C669F473-3638-08FE-FC66-B2B7395B0E56}"/>
              </a:ext>
            </a:extLst>
          </p:cNvPr>
          <p:cNvSpPr>
            <a:spLocks noGrp="1"/>
          </p:cNvSpPr>
          <p:nvPr/>
        </p:nvSpPr>
        <p:spPr>
          <a:xfrm>
            <a:off x="731520" y="3137276"/>
            <a:ext cx="566928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Portales</a:t>
            </a:r>
            <a:endParaRPr sz="76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7D16E9B-08A7-A3DF-E7E4-142013D1E787}"/>
              </a:ext>
            </a:extLst>
          </p:cNvPr>
          <p:cNvSpPr>
            <a:spLocks noGrp="1"/>
          </p:cNvSpPr>
          <p:nvPr/>
        </p:nvSpPr>
        <p:spPr>
          <a:xfrm>
            <a:off x="1463040" y="3137276"/>
            <a:ext cx="530352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Pagadas</a:t>
            </a:r>
            <a:endParaRPr sz="760"/>
          </a:p>
        </p:txBody>
      </p:sp>
      <p:sp>
        <p:nvSpPr>
          <p:cNvPr id="63" name="Text 9">
            <a:extLst>
              <a:ext uri="{FF2B5EF4-FFF2-40B4-BE49-F238E27FC236}">
                <a16:creationId xmlns:a16="http://schemas.microsoft.com/office/drawing/2014/main" id="{DD04A0D7-A986-9A42-E651-A07AD020851C}"/>
              </a:ext>
            </a:extLst>
          </p:cNvPr>
          <p:cNvSpPr>
            <a:spLocks noGrp="1"/>
          </p:cNvSpPr>
          <p:nvPr/>
        </p:nvSpPr>
        <p:spPr>
          <a:xfrm>
            <a:off x="731520" y="3475604"/>
            <a:ext cx="566928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Orgánicas</a:t>
            </a:r>
            <a:endParaRPr sz="760"/>
          </a:p>
        </p:txBody>
      </p:sp>
      <p:sp>
        <p:nvSpPr>
          <p:cNvPr id="65" name="Text 10">
            <a:extLst>
              <a:ext uri="{FF2B5EF4-FFF2-40B4-BE49-F238E27FC236}">
                <a16:creationId xmlns:a16="http://schemas.microsoft.com/office/drawing/2014/main" id="{0C955D63-92E9-5EF7-E5CB-D9E1D307E467}"/>
              </a:ext>
            </a:extLst>
          </p:cNvPr>
          <p:cNvSpPr>
            <a:spLocks noGrp="1"/>
          </p:cNvSpPr>
          <p:nvPr/>
        </p:nvSpPr>
        <p:spPr>
          <a:xfrm>
            <a:off x="1463040" y="3475604"/>
            <a:ext cx="530352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Referidos</a:t>
            </a:r>
            <a:endParaRPr sz="760"/>
          </a:p>
        </p:txBody>
      </p:sp>
      <p:sp>
        <p:nvSpPr>
          <p:cNvPr id="67" name="Text 11">
            <a:extLst>
              <a:ext uri="{FF2B5EF4-FFF2-40B4-BE49-F238E27FC236}">
                <a16:creationId xmlns:a16="http://schemas.microsoft.com/office/drawing/2014/main" id="{513D5118-2571-9892-DE62-FA6D7C9E3164}"/>
              </a:ext>
            </a:extLst>
          </p:cNvPr>
          <p:cNvSpPr>
            <a:spLocks noGrp="1"/>
          </p:cNvSpPr>
          <p:nvPr/>
        </p:nvSpPr>
        <p:spPr>
          <a:xfrm>
            <a:off x="731520" y="3813932"/>
            <a:ext cx="566928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Offline</a:t>
            </a:r>
            <a:endParaRPr sz="760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D4387458-3375-785E-9685-E196F288B74B}"/>
              </a:ext>
            </a:extLst>
          </p:cNvPr>
          <p:cNvSpPr>
            <a:spLocks noGrp="1"/>
          </p:cNvSpPr>
          <p:nvPr/>
        </p:nvSpPr>
        <p:spPr>
          <a:xfrm>
            <a:off x="1463040" y="3813932"/>
            <a:ext cx="530352" cy="24688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Agencias</a:t>
            </a:r>
            <a:endParaRPr sz="760"/>
          </a:p>
        </p:txBody>
      </p:sp>
      <p:sp>
        <p:nvSpPr>
          <p:cNvPr id="71" name="Shape 13">
            <a:extLst>
              <a:ext uri="{FF2B5EF4-FFF2-40B4-BE49-F238E27FC236}">
                <a16:creationId xmlns:a16="http://schemas.microsoft.com/office/drawing/2014/main" id="{933FE82A-1D62-DB05-49C7-0334F13277B0}"/>
              </a:ext>
            </a:extLst>
          </p:cNvPr>
          <p:cNvSpPr>
            <a:spLocks noGrp="1"/>
          </p:cNvSpPr>
          <p:nvPr/>
        </p:nvSpPr>
        <p:spPr>
          <a:xfrm>
            <a:off x="2560320" y="2195444"/>
            <a:ext cx="160020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CDF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3" name="Text 14">
            <a:extLst>
              <a:ext uri="{FF2B5EF4-FFF2-40B4-BE49-F238E27FC236}">
                <a16:creationId xmlns:a16="http://schemas.microsoft.com/office/drawing/2014/main" id="{88EB8AFF-5A14-6FB3-13F7-AEF8C3002B28}"/>
              </a:ext>
            </a:extLst>
          </p:cNvPr>
          <p:cNvSpPr>
            <a:spLocks noGrp="1"/>
          </p:cNvSpPr>
          <p:nvPr/>
        </p:nvSpPr>
        <p:spPr>
          <a:xfrm>
            <a:off x="2670048" y="2360036"/>
            <a:ext cx="1380744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6E43E9"/>
                </a:solidFill>
                <a:latin typeface="Aptos"/>
                <a:ea typeface="Aptos"/>
                <a:cs typeface="Aptos"/>
              </a:rPr>
              <a:t>ENTRADA</a:t>
            </a:r>
            <a:endParaRPr sz="1000"/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E2B3CE47-E5E5-4C5B-24BF-EB522173330F}"/>
              </a:ext>
            </a:extLst>
          </p:cNvPr>
          <p:cNvSpPr>
            <a:spLocks noGrp="1"/>
          </p:cNvSpPr>
          <p:nvPr/>
        </p:nvSpPr>
        <p:spPr>
          <a:xfrm>
            <a:off x="2670048" y="2625212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930">
                <a:solidFill>
                  <a:srgbClr val="736A89"/>
                </a:solidFill>
                <a:latin typeface="Aptos"/>
                <a:ea typeface="Aptos"/>
                <a:cs typeface="Aptos"/>
              </a:rPr>
              <a:t>Donde las conversaciones comienzan</a:t>
            </a:r>
            <a:endParaRPr sz="930"/>
          </a:p>
        </p:txBody>
      </p:sp>
      <p:sp>
        <p:nvSpPr>
          <p:cNvPr id="77" name="Text 16">
            <a:extLst>
              <a:ext uri="{FF2B5EF4-FFF2-40B4-BE49-F238E27FC236}">
                <a16:creationId xmlns:a16="http://schemas.microsoft.com/office/drawing/2014/main" id="{E01AC879-2265-6054-9325-965D480E6006}"/>
              </a:ext>
            </a:extLst>
          </p:cNvPr>
          <p:cNvSpPr>
            <a:spLocks noGrp="1"/>
          </p:cNvSpPr>
          <p:nvPr/>
        </p:nvSpPr>
        <p:spPr>
          <a:xfrm>
            <a:off x="2788920" y="3158752"/>
            <a:ext cx="1143000" cy="29260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WhatsApp</a:t>
            </a:r>
            <a:endParaRPr sz="760"/>
          </a:p>
        </p:txBody>
      </p:sp>
      <p:sp>
        <p:nvSpPr>
          <p:cNvPr id="79" name="Text 17">
            <a:extLst>
              <a:ext uri="{FF2B5EF4-FFF2-40B4-BE49-F238E27FC236}">
                <a16:creationId xmlns:a16="http://schemas.microsoft.com/office/drawing/2014/main" id="{F504B868-81D4-5A13-C334-260A8A30AC37}"/>
              </a:ext>
            </a:extLst>
          </p:cNvPr>
          <p:cNvSpPr>
            <a:spLocks noGrp="1"/>
          </p:cNvSpPr>
          <p:nvPr/>
        </p:nvSpPr>
        <p:spPr>
          <a:xfrm>
            <a:off x="2788920" y="3570232"/>
            <a:ext cx="521208" cy="29260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Web</a:t>
            </a:r>
            <a:endParaRPr sz="760"/>
          </a:p>
        </p:txBody>
      </p:sp>
      <p:sp>
        <p:nvSpPr>
          <p:cNvPr id="81" name="Text 18">
            <a:extLst>
              <a:ext uri="{FF2B5EF4-FFF2-40B4-BE49-F238E27FC236}">
                <a16:creationId xmlns:a16="http://schemas.microsoft.com/office/drawing/2014/main" id="{D5F61BE1-B0B7-EBEA-A9F0-76FB04DA472E}"/>
              </a:ext>
            </a:extLst>
          </p:cNvPr>
          <p:cNvSpPr>
            <a:spLocks noGrp="1"/>
          </p:cNvSpPr>
          <p:nvPr/>
        </p:nvSpPr>
        <p:spPr>
          <a:xfrm>
            <a:off x="3410712" y="3570232"/>
            <a:ext cx="521208" cy="29260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Telegram</a:t>
            </a:r>
            <a:endParaRPr sz="760"/>
          </a:p>
        </p:txBody>
      </p:sp>
      <p:sp>
        <p:nvSpPr>
          <p:cNvPr id="83" name="Shape 19">
            <a:extLst>
              <a:ext uri="{FF2B5EF4-FFF2-40B4-BE49-F238E27FC236}">
                <a16:creationId xmlns:a16="http://schemas.microsoft.com/office/drawing/2014/main" id="{FECDDAB3-4907-3C5B-B392-AEAA8D3ED1E0}"/>
              </a:ext>
            </a:extLst>
          </p:cNvPr>
          <p:cNvSpPr>
            <a:spLocks noGrp="1"/>
          </p:cNvSpPr>
          <p:nvPr/>
        </p:nvSpPr>
        <p:spPr>
          <a:xfrm>
            <a:off x="4572000" y="2122292"/>
            <a:ext cx="2286000" cy="2596896"/>
          </a:xfrm>
          <a:prstGeom prst="roundRect">
            <a:avLst/>
          </a:prstGeom>
          <a:solidFill>
            <a:srgbClr val="23173D"/>
          </a:solidFill>
          <a:ln w="12700">
            <a:solidFill>
              <a:srgbClr val="3A2A57"/>
            </a:solidFill>
            <a:prstDash val="solid"/>
          </a:ln>
          <a:effectLst>
            <a:outerShdw blurRad="25400" dist="1397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5" name="Text 20">
            <a:extLst>
              <a:ext uri="{FF2B5EF4-FFF2-40B4-BE49-F238E27FC236}">
                <a16:creationId xmlns:a16="http://schemas.microsoft.com/office/drawing/2014/main" id="{3A849298-C05F-A312-ADB1-FC6D6AF3ED82}"/>
              </a:ext>
            </a:extLst>
          </p:cNvPr>
          <p:cNvSpPr>
            <a:spLocks noGrp="1"/>
          </p:cNvSpPr>
          <p:nvPr/>
        </p:nvSpPr>
        <p:spPr>
          <a:xfrm>
            <a:off x="5084064" y="2125176"/>
            <a:ext cx="1261872" cy="201168"/>
          </a:xfrm>
          <a:prstGeom prst="rect">
            <a:avLst/>
          </a:prstGeom>
          <a:solidFill>
            <a:srgbClr val="6E43E9"/>
          </a:solidFill>
          <a:ln>
            <a:solidFill>
              <a:srgbClr val="6E43E9"/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“middleware” manual</a:t>
            </a:r>
            <a:endParaRPr sz="740"/>
          </a:p>
        </p:txBody>
      </p:sp>
      <p:sp>
        <p:nvSpPr>
          <p:cNvPr id="87" name="Text 21">
            <a:extLst>
              <a:ext uri="{FF2B5EF4-FFF2-40B4-BE49-F238E27FC236}">
                <a16:creationId xmlns:a16="http://schemas.microsoft.com/office/drawing/2014/main" id="{008C1304-239E-DF01-AA49-1F6790A3C63C}"/>
              </a:ext>
            </a:extLst>
          </p:cNvPr>
          <p:cNvSpPr>
            <a:spLocks noGrp="1"/>
          </p:cNvSpPr>
          <p:nvPr/>
        </p:nvSpPr>
        <p:spPr>
          <a:xfrm>
            <a:off x="4773168" y="2625212"/>
            <a:ext cx="1883664" cy="89611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/>
          </a:bodyPr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COORDINAR LA OPERACIÓN</a:t>
            </a:r>
            <a:endParaRPr sz="2000"/>
          </a:p>
        </p:txBody>
      </p:sp>
      <p:sp>
        <p:nvSpPr>
          <p:cNvPr id="89" name="Text 22">
            <a:extLst>
              <a:ext uri="{FF2B5EF4-FFF2-40B4-BE49-F238E27FC236}">
                <a16:creationId xmlns:a16="http://schemas.microsoft.com/office/drawing/2014/main" id="{B512AB9E-E441-77A5-906E-1D63151D1898}"/>
              </a:ext>
            </a:extLst>
          </p:cNvPr>
          <p:cNvSpPr>
            <a:spLocks noGrp="1"/>
          </p:cNvSpPr>
          <p:nvPr/>
        </p:nvSpPr>
        <p:spPr>
          <a:xfrm>
            <a:off x="4791456" y="3795644"/>
            <a:ext cx="1847088" cy="438912"/>
          </a:xfrm>
          <a:prstGeom prst="rect">
            <a:avLst/>
          </a:prstGeom>
          <a:noFill/>
        </p:spPr>
        <p:txBody>
          <a:bodyPr wrap="square" lIns="127" tIns="127" rIns="127" bIns="127" anchor="ctr">
            <a:normAutofit lnSpcReduction="10000"/>
          </a:bodyPr>
          <a:lstStyle/>
          <a:p>
            <a:pPr marL="0" indent="0" algn="ctr">
              <a:buNone/>
            </a:pPr>
            <a:r>
              <a:rPr sz="1010">
                <a:solidFill>
                  <a:srgbClr val="E6DFF8"/>
                </a:solidFill>
                <a:latin typeface="Aptos"/>
                <a:ea typeface="Aptos"/>
                <a:cs typeface="Aptos"/>
              </a:rPr>
              <a:t>Responder · Recordar · Buscar</a:t>
            </a:r>
            <a:endParaRPr sz="1010"/>
          </a:p>
          <a:p>
            <a:pPr marL="0" indent="0" algn="ctr">
              <a:buNone/>
            </a:pPr>
            <a:r>
              <a:rPr sz="1010">
                <a:solidFill>
                  <a:srgbClr val="E6DFF8"/>
                </a:solidFill>
                <a:latin typeface="Aptos"/>
                <a:ea typeface="Aptos"/>
                <a:cs typeface="Aptos"/>
              </a:rPr>
              <a:t>Coordinar · Actualizar · </a:t>
            </a:r>
          </a:p>
          <a:p>
            <a:pPr marL="0" indent="0" algn="ctr">
              <a:buNone/>
            </a:pPr>
            <a:r>
              <a:rPr sz="1010">
                <a:solidFill>
                  <a:srgbClr val="E6DFF8"/>
                </a:solidFill>
                <a:latin typeface="Aptos"/>
                <a:ea typeface="Aptos"/>
                <a:cs typeface="Aptos"/>
              </a:rPr>
              <a:t>Dar seguimiento</a:t>
            </a:r>
            <a:endParaRPr sz="1010"/>
          </a:p>
        </p:txBody>
      </p:sp>
      <p:sp>
        <p:nvSpPr>
          <p:cNvPr id="91" name="Shape 23">
            <a:extLst>
              <a:ext uri="{FF2B5EF4-FFF2-40B4-BE49-F238E27FC236}">
                <a16:creationId xmlns:a16="http://schemas.microsoft.com/office/drawing/2014/main" id="{D604C831-7DEB-BA9D-06BA-C3B43FAD1A50}"/>
              </a:ext>
            </a:extLst>
          </p:cNvPr>
          <p:cNvSpPr>
            <a:spLocks noGrp="1"/>
          </p:cNvSpPr>
          <p:nvPr/>
        </p:nvSpPr>
        <p:spPr>
          <a:xfrm>
            <a:off x="7333488" y="2195444"/>
            <a:ext cx="205740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CDF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3" name="Text 24">
            <a:extLst>
              <a:ext uri="{FF2B5EF4-FFF2-40B4-BE49-F238E27FC236}">
                <a16:creationId xmlns:a16="http://schemas.microsoft.com/office/drawing/2014/main" id="{44FB9266-0EA1-BAD1-5D13-B24A952E290B}"/>
              </a:ext>
            </a:extLst>
          </p:cNvPr>
          <p:cNvSpPr>
            <a:spLocks noGrp="1"/>
          </p:cNvSpPr>
          <p:nvPr/>
        </p:nvSpPr>
        <p:spPr>
          <a:xfrm>
            <a:off x="7443216" y="2360036"/>
            <a:ext cx="1837944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6E43E9"/>
                </a:solidFill>
                <a:latin typeface="Aptos"/>
                <a:ea typeface="Aptos"/>
                <a:cs typeface="Aptos"/>
              </a:rPr>
              <a:t>SISTEMAS + EJECUCIÓN</a:t>
            </a:r>
            <a:endParaRPr sz="1000"/>
          </a:p>
        </p:txBody>
      </p:sp>
      <p:sp>
        <p:nvSpPr>
          <p:cNvPr id="95" name="Text 25">
            <a:extLst>
              <a:ext uri="{FF2B5EF4-FFF2-40B4-BE49-F238E27FC236}">
                <a16:creationId xmlns:a16="http://schemas.microsoft.com/office/drawing/2014/main" id="{BC294EC4-1A3A-86D5-953F-61021EFB72FA}"/>
              </a:ext>
            </a:extLst>
          </p:cNvPr>
          <p:cNvSpPr>
            <a:spLocks noGrp="1"/>
          </p:cNvSpPr>
          <p:nvPr/>
        </p:nvSpPr>
        <p:spPr>
          <a:xfrm>
            <a:off x="7443216" y="2625212"/>
            <a:ext cx="1837944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930">
                <a:solidFill>
                  <a:srgbClr val="736A89"/>
                </a:solidFill>
                <a:latin typeface="Aptos"/>
                <a:ea typeface="Aptos"/>
                <a:cs typeface="Aptos"/>
              </a:rPr>
              <a:t>Donde el trabajo se realiza</a:t>
            </a:r>
            <a:endParaRPr sz="930"/>
          </a:p>
        </p:txBody>
      </p:sp>
      <p:sp>
        <p:nvSpPr>
          <p:cNvPr id="97" name="Text 26">
            <a:extLst>
              <a:ext uri="{FF2B5EF4-FFF2-40B4-BE49-F238E27FC236}">
                <a16:creationId xmlns:a16="http://schemas.microsoft.com/office/drawing/2014/main" id="{8FBDBAA3-5652-7456-6390-E8F46260525E}"/>
              </a:ext>
            </a:extLst>
          </p:cNvPr>
          <p:cNvSpPr>
            <a:spLocks noGrp="1"/>
          </p:cNvSpPr>
          <p:nvPr/>
        </p:nvSpPr>
        <p:spPr>
          <a:xfrm>
            <a:off x="7498080" y="3137276"/>
            <a:ext cx="566928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CRM</a:t>
            </a:r>
            <a:endParaRPr sz="760"/>
          </a:p>
        </p:txBody>
      </p:sp>
      <p:sp>
        <p:nvSpPr>
          <p:cNvPr id="99" name="Text 27">
            <a:extLst>
              <a:ext uri="{FF2B5EF4-FFF2-40B4-BE49-F238E27FC236}">
                <a16:creationId xmlns:a16="http://schemas.microsoft.com/office/drawing/2014/main" id="{01DDE2C4-D75C-3503-F262-970714291A2D}"/>
              </a:ext>
            </a:extLst>
          </p:cNvPr>
          <p:cNvSpPr>
            <a:spLocks noGrp="1"/>
          </p:cNvSpPr>
          <p:nvPr/>
        </p:nvSpPr>
        <p:spPr>
          <a:xfrm>
            <a:off x="8193024" y="3137276"/>
            <a:ext cx="749808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Inventario</a:t>
            </a:r>
            <a:endParaRPr sz="760"/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8A84FF03-2BF3-15E6-24A2-E275DCE2472F}"/>
              </a:ext>
            </a:extLst>
          </p:cNvPr>
          <p:cNvSpPr>
            <a:spLocks noGrp="1"/>
          </p:cNvSpPr>
          <p:nvPr/>
        </p:nvSpPr>
        <p:spPr>
          <a:xfrm>
            <a:off x="7498080" y="3475604"/>
            <a:ext cx="713232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Calendario</a:t>
            </a:r>
            <a:endParaRPr sz="760"/>
          </a:p>
        </p:txBody>
      </p:sp>
      <p:sp>
        <p:nvSpPr>
          <p:cNvPr id="103" name="Text 29">
            <a:extLst>
              <a:ext uri="{FF2B5EF4-FFF2-40B4-BE49-F238E27FC236}">
                <a16:creationId xmlns:a16="http://schemas.microsoft.com/office/drawing/2014/main" id="{00A04686-ADCD-84EB-9224-6064E42CC51F}"/>
              </a:ext>
            </a:extLst>
          </p:cNvPr>
          <p:cNvSpPr>
            <a:spLocks noGrp="1"/>
          </p:cNvSpPr>
          <p:nvPr/>
        </p:nvSpPr>
        <p:spPr>
          <a:xfrm>
            <a:off x="8357616" y="3475604"/>
            <a:ext cx="502920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Docs</a:t>
            </a:r>
            <a:endParaRPr sz="760"/>
          </a:p>
        </p:txBody>
      </p:sp>
      <p:sp>
        <p:nvSpPr>
          <p:cNvPr id="105" name="Text 30">
            <a:extLst>
              <a:ext uri="{FF2B5EF4-FFF2-40B4-BE49-F238E27FC236}">
                <a16:creationId xmlns:a16="http://schemas.microsoft.com/office/drawing/2014/main" id="{DBD7A194-219E-AA5B-0075-6565469792FD}"/>
              </a:ext>
            </a:extLst>
          </p:cNvPr>
          <p:cNvSpPr>
            <a:spLocks noGrp="1"/>
          </p:cNvSpPr>
          <p:nvPr/>
        </p:nvSpPr>
        <p:spPr>
          <a:xfrm>
            <a:off x="7498080" y="3813932"/>
            <a:ext cx="658368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Personas</a:t>
            </a:r>
            <a:endParaRPr sz="760"/>
          </a:p>
        </p:txBody>
      </p:sp>
      <p:sp>
        <p:nvSpPr>
          <p:cNvPr id="107" name="Text 31">
            <a:extLst>
              <a:ext uri="{FF2B5EF4-FFF2-40B4-BE49-F238E27FC236}">
                <a16:creationId xmlns:a16="http://schemas.microsoft.com/office/drawing/2014/main" id="{0A88083A-10F2-4CC9-B798-49F06169824D}"/>
              </a:ext>
            </a:extLst>
          </p:cNvPr>
          <p:cNvSpPr>
            <a:spLocks noGrp="1"/>
          </p:cNvSpPr>
          <p:nvPr/>
        </p:nvSpPr>
        <p:spPr>
          <a:xfrm>
            <a:off x="8275320" y="3813932"/>
            <a:ext cx="749808" cy="246888"/>
          </a:xfrm>
          <a:prstGeom prst="rect">
            <a:avLst/>
          </a:prstGeom>
          <a:solidFill>
            <a:srgbClr val="F1EEF7"/>
          </a:solidFill>
          <a:ln>
            <a:solidFill>
              <a:srgbClr val="F1EEF7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Proveedores</a:t>
            </a:r>
            <a:endParaRPr sz="760"/>
          </a:p>
        </p:txBody>
      </p:sp>
      <p:sp>
        <p:nvSpPr>
          <p:cNvPr id="109" name="Shape 32">
            <a:extLst>
              <a:ext uri="{FF2B5EF4-FFF2-40B4-BE49-F238E27FC236}">
                <a16:creationId xmlns:a16="http://schemas.microsoft.com/office/drawing/2014/main" id="{817E7C3D-0E1B-58F5-312E-FF8598E91850}"/>
              </a:ext>
            </a:extLst>
          </p:cNvPr>
          <p:cNvSpPr>
            <a:spLocks noGrp="1"/>
          </p:cNvSpPr>
          <p:nvPr/>
        </p:nvSpPr>
        <p:spPr>
          <a:xfrm>
            <a:off x="9802368" y="2195444"/>
            <a:ext cx="1783080" cy="24505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CDF6"/>
            </a:solidFill>
            <a:prstDash val="solid"/>
          </a:ln>
          <a:effectLst>
            <a:outerShdw blurRad="12700" dist="127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1" name="Text 33">
            <a:extLst>
              <a:ext uri="{FF2B5EF4-FFF2-40B4-BE49-F238E27FC236}">
                <a16:creationId xmlns:a16="http://schemas.microsoft.com/office/drawing/2014/main" id="{24DC1512-4127-BEC8-E9E1-E2CE5CA03D4C}"/>
              </a:ext>
            </a:extLst>
          </p:cNvPr>
          <p:cNvSpPr>
            <a:spLocks noGrp="1"/>
          </p:cNvSpPr>
          <p:nvPr/>
        </p:nvSpPr>
        <p:spPr>
          <a:xfrm>
            <a:off x="9912096" y="2360036"/>
            <a:ext cx="1563624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000" b="1">
                <a:solidFill>
                  <a:srgbClr val="6E43E9"/>
                </a:solidFill>
                <a:latin typeface="Aptos"/>
                <a:ea typeface="Aptos"/>
                <a:cs typeface="Aptos"/>
              </a:rPr>
              <a:t>RESULTADOS</a:t>
            </a:r>
            <a:endParaRPr sz="1000"/>
          </a:p>
        </p:txBody>
      </p:sp>
      <p:sp>
        <p:nvSpPr>
          <p:cNvPr id="113" name="Text 34">
            <a:extLst>
              <a:ext uri="{FF2B5EF4-FFF2-40B4-BE49-F238E27FC236}">
                <a16:creationId xmlns:a16="http://schemas.microsoft.com/office/drawing/2014/main" id="{F42E5E78-6B1B-C5B2-0C03-5CC8DB3EFA09}"/>
              </a:ext>
            </a:extLst>
          </p:cNvPr>
          <p:cNvSpPr>
            <a:spLocks noGrp="1"/>
          </p:cNvSpPr>
          <p:nvPr/>
        </p:nvSpPr>
        <p:spPr>
          <a:xfrm>
            <a:off x="9912096" y="2696771"/>
            <a:ext cx="1563624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930">
                <a:solidFill>
                  <a:srgbClr val="736A89"/>
                </a:solidFill>
                <a:latin typeface="Aptos"/>
                <a:ea typeface="Aptos"/>
                <a:cs typeface="Aptos"/>
              </a:rPr>
              <a:t>Donde los ingresos se hacen posibles</a:t>
            </a:r>
            <a:endParaRPr sz="930"/>
          </a:p>
        </p:txBody>
      </p:sp>
      <p:sp>
        <p:nvSpPr>
          <p:cNvPr id="115" name="Text 35">
            <a:extLst>
              <a:ext uri="{FF2B5EF4-FFF2-40B4-BE49-F238E27FC236}">
                <a16:creationId xmlns:a16="http://schemas.microsoft.com/office/drawing/2014/main" id="{54ACEF20-B768-2546-7F2E-EB33733AC5B3}"/>
              </a:ext>
            </a:extLst>
          </p:cNvPr>
          <p:cNvSpPr>
            <a:spLocks noGrp="1"/>
          </p:cNvSpPr>
          <p:nvPr/>
        </p:nvSpPr>
        <p:spPr>
          <a:xfrm>
            <a:off x="10058400" y="3182996"/>
            <a:ext cx="1261872" cy="301752"/>
          </a:xfrm>
          <a:prstGeom prst="rect">
            <a:avLst/>
          </a:prstGeom>
          <a:solidFill>
            <a:srgbClr val="F0EAFD"/>
          </a:solidFill>
          <a:ln>
            <a:solidFill>
              <a:srgbClr val="F0EAFD"/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87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VISITAS</a:t>
            </a:r>
            <a:endParaRPr sz="870"/>
          </a:p>
        </p:txBody>
      </p:sp>
      <p:sp>
        <p:nvSpPr>
          <p:cNvPr id="117" name="Text 36">
            <a:extLst>
              <a:ext uri="{FF2B5EF4-FFF2-40B4-BE49-F238E27FC236}">
                <a16:creationId xmlns:a16="http://schemas.microsoft.com/office/drawing/2014/main" id="{CF7F96B5-7A16-CFC5-2DDD-73BC24F9051F}"/>
              </a:ext>
            </a:extLst>
          </p:cNvPr>
          <p:cNvSpPr>
            <a:spLocks noGrp="1"/>
          </p:cNvSpPr>
          <p:nvPr/>
        </p:nvSpPr>
        <p:spPr>
          <a:xfrm>
            <a:off x="10058400" y="3658484"/>
            <a:ext cx="1261872" cy="301752"/>
          </a:xfrm>
          <a:prstGeom prst="rect">
            <a:avLst/>
          </a:prstGeom>
          <a:solidFill>
            <a:srgbClr val="E5F5EE"/>
          </a:solidFill>
          <a:ln>
            <a:solidFill>
              <a:srgbClr val="E5F5EE"/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850" b="1">
                <a:solidFill>
                  <a:srgbClr val="0E8A53"/>
                </a:solidFill>
                <a:latin typeface="Aptos"/>
                <a:ea typeface="Aptos"/>
                <a:cs typeface="Aptos"/>
              </a:rPr>
              <a:t>TRANSACCIONES</a:t>
            </a:r>
            <a:endParaRPr sz="850"/>
          </a:p>
        </p:txBody>
      </p:sp>
      <p:sp>
        <p:nvSpPr>
          <p:cNvPr id="119" name="Shape 37">
            <a:extLst>
              <a:ext uri="{FF2B5EF4-FFF2-40B4-BE49-F238E27FC236}">
                <a16:creationId xmlns:a16="http://schemas.microsoft.com/office/drawing/2014/main" id="{7218FCA0-1379-18F1-C708-63C36EC45752}"/>
              </a:ext>
            </a:extLst>
          </p:cNvPr>
          <p:cNvSpPr>
            <a:spLocks noGrp="1"/>
          </p:cNvSpPr>
          <p:nvPr/>
        </p:nvSpPr>
        <p:spPr>
          <a:xfrm>
            <a:off x="10689336" y="3503036"/>
            <a:ext cx="0" cy="128016"/>
          </a:xfrm>
          <a:prstGeom prst="line">
            <a:avLst/>
          </a:prstGeom>
          <a:noFill/>
          <a:ln w="12700">
            <a:solidFill>
              <a:srgbClr val="6E43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1" name="Shape 38">
            <a:extLst>
              <a:ext uri="{FF2B5EF4-FFF2-40B4-BE49-F238E27FC236}">
                <a16:creationId xmlns:a16="http://schemas.microsoft.com/office/drawing/2014/main" id="{9ED68D3D-2EBB-2C94-62B2-C53FFFDA84EC}"/>
              </a:ext>
            </a:extLst>
          </p:cNvPr>
          <p:cNvSpPr>
            <a:spLocks noGrp="1"/>
          </p:cNvSpPr>
          <p:nvPr/>
        </p:nvSpPr>
        <p:spPr>
          <a:xfrm>
            <a:off x="2258568" y="3420740"/>
            <a:ext cx="192024" cy="0"/>
          </a:xfrm>
          <a:prstGeom prst="line">
            <a:avLst/>
          </a:prstGeom>
          <a:noFill/>
          <a:ln w="17145">
            <a:solidFill>
              <a:srgbClr val="6E43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3" name="Shape 39">
            <a:extLst>
              <a:ext uri="{FF2B5EF4-FFF2-40B4-BE49-F238E27FC236}">
                <a16:creationId xmlns:a16="http://schemas.microsoft.com/office/drawing/2014/main" id="{28FE5AC0-32B7-2A0B-2AD5-796BCA0A2479}"/>
              </a:ext>
            </a:extLst>
          </p:cNvPr>
          <p:cNvSpPr>
            <a:spLocks noGrp="1"/>
          </p:cNvSpPr>
          <p:nvPr/>
        </p:nvSpPr>
        <p:spPr>
          <a:xfrm>
            <a:off x="4224528" y="3420740"/>
            <a:ext cx="219456" cy="0"/>
          </a:xfrm>
          <a:prstGeom prst="line">
            <a:avLst/>
          </a:prstGeom>
          <a:noFill/>
          <a:ln w="17145">
            <a:solidFill>
              <a:srgbClr val="6E43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5" name="Shape 40">
            <a:extLst>
              <a:ext uri="{FF2B5EF4-FFF2-40B4-BE49-F238E27FC236}">
                <a16:creationId xmlns:a16="http://schemas.microsoft.com/office/drawing/2014/main" id="{D1E9CD0E-83A7-17BD-800F-E6C9694C8EE0}"/>
              </a:ext>
            </a:extLst>
          </p:cNvPr>
          <p:cNvSpPr>
            <a:spLocks noGrp="1"/>
          </p:cNvSpPr>
          <p:nvPr/>
        </p:nvSpPr>
        <p:spPr>
          <a:xfrm>
            <a:off x="6986016" y="3420740"/>
            <a:ext cx="219456" cy="0"/>
          </a:xfrm>
          <a:prstGeom prst="line">
            <a:avLst/>
          </a:prstGeom>
          <a:noFill/>
          <a:ln w="17145">
            <a:solidFill>
              <a:srgbClr val="6E43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7" name="Shape 41">
            <a:extLst>
              <a:ext uri="{FF2B5EF4-FFF2-40B4-BE49-F238E27FC236}">
                <a16:creationId xmlns:a16="http://schemas.microsoft.com/office/drawing/2014/main" id="{79CC586A-FF00-8BC6-2741-1A585D0002A4}"/>
              </a:ext>
            </a:extLst>
          </p:cNvPr>
          <p:cNvSpPr>
            <a:spLocks noGrp="1"/>
          </p:cNvSpPr>
          <p:nvPr/>
        </p:nvSpPr>
        <p:spPr>
          <a:xfrm>
            <a:off x="9454896" y="3420740"/>
            <a:ext cx="219456" cy="0"/>
          </a:xfrm>
          <a:prstGeom prst="line">
            <a:avLst/>
          </a:prstGeom>
          <a:noFill/>
          <a:ln w="17145">
            <a:solidFill>
              <a:srgbClr val="6E43E9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9" name="Shape 42">
            <a:extLst>
              <a:ext uri="{FF2B5EF4-FFF2-40B4-BE49-F238E27FC236}">
                <a16:creationId xmlns:a16="http://schemas.microsoft.com/office/drawing/2014/main" id="{78425A49-42A0-357D-AB36-B28118D9411A}"/>
              </a:ext>
            </a:extLst>
          </p:cNvPr>
          <p:cNvSpPr>
            <a:spLocks noGrp="1"/>
          </p:cNvSpPr>
          <p:nvPr/>
        </p:nvSpPr>
        <p:spPr>
          <a:xfrm>
            <a:off x="640440" y="4956932"/>
            <a:ext cx="10945008" cy="566928"/>
          </a:xfrm>
          <a:prstGeom prst="roundRect">
            <a:avLst/>
          </a:prstGeom>
          <a:solidFill>
            <a:srgbClr val="F5F0FF"/>
          </a:solidFill>
          <a:ln w="12700">
            <a:solidFill>
              <a:srgbClr val="DACD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1" name="Text 43">
            <a:extLst>
              <a:ext uri="{FF2B5EF4-FFF2-40B4-BE49-F238E27FC236}">
                <a16:creationId xmlns:a16="http://schemas.microsoft.com/office/drawing/2014/main" id="{52C5F8CB-0EC1-FC6F-19AC-599D360E0A67}"/>
              </a:ext>
            </a:extLst>
          </p:cNvPr>
          <p:cNvSpPr>
            <a:spLocks noGrp="1"/>
          </p:cNvSpPr>
          <p:nvPr/>
        </p:nvSpPr>
        <p:spPr>
          <a:xfrm>
            <a:off x="1005840" y="5102970"/>
            <a:ext cx="10131552" cy="25541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sz="1400" b="1">
                <a:solidFill>
                  <a:srgbClr val="191529"/>
                </a:solidFill>
                <a:latin typeface="Aptos"/>
                <a:ea typeface="Aptos"/>
                <a:cs typeface="Aptos"/>
              </a:rPr>
              <a:t>El cuello de botella no es la falta de herramientas, sino el esfuerzo humano necesario para mantener la operación conectada.</a:t>
            </a:r>
            <a:endParaRPr sz="1400"/>
          </a:p>
        </p:txBody>
      </p:sp>
      <p:sp>
        <p:nvSpPr>
          <p:cNvPr id="133" name="Text 18">
            <a:extLst>
              <a:ext uri="{FF2B5EF4-FFF2-40B4-BE49-F238E27FC236}">
                <a16:creationId xmlns:a16="http://schemas.microsoft.com/office/drawing/2014/main" id="{437DBAF0-E12B-BCE5-5106-9CD6EFCED9B8}"/>
              </a:ext>
            </a:extLst>
          </p:cNvPr>
          <p:cNvSpPr>
            <a:spLocks noGrp="1"/>
          </p:cNvSpPr>
          <p:nvPr/>
        </p:nvSpPr>
        <p:spPr>
          <a:xfrm>
            <a:off x="3099816" y="3987764"/>
            <a:ext cx="521208" cy="292608"/>
          </a:xfrm>
          <a:prstGeom prst="rect">
            <a:avLst/>
          </a:prstGeom>
          <a:solidFill>
            <a:srgbClr val="F0EAFD"/>
          </a:solidFill>
          <a:ln>
            <a:solidFill>
              <a:srgbClr val="F0EAFD">
                <a:alpha val="0"/>
              </a:srgbClr>
            </a:solidFill>
          </a:ln>
        </p:spPr>
        <p:txBody>
          <a:bodyPr wrap="square" lIns="127" tIns="127" rIns="127" bIns="127" anchor="ctr"/>
          <a:lstStyle/>
          <a:p>
            <a:pPr marL="0" indent="0" algn="ctr">
              <a:buNone/>
            </a:pPr>
            <a:r>
              <a:rPr sz="760" b="1">
                <a:solidFill>
                  <a:srgbClr val="5B2DBB"/>
                </a:solidFill>
                <a:latin typeface="Aptos"/>
                <a:ea typeface="Aptos"/>
                <a:cs typeface="Aptos"/>
              </a:rPr>
              <a:t>Voz</a:t>
            </a:r>
            <a:endParaRPr sz="760"/>
          </a:p>
        </p:txBody>
      </p:sp>
    </p:spTree>
    <p:extLst>
      <p:ext uri="{BB962C8B-B14F-4D97-AF65-F5344CB8AC3E}">
        <p14:creationId xmlns:p14="http://schemas.microsoft.com/office/powerpoint/2010/main" val="298375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>
            <a:extLst>
              <a:ext uri="{FF2B5EF4-FFF2-40B4-BE49-F238E27FC236}">
                <a16:creationId xmlns:a16="http://schemas.microsoft.com/office/drawing/2014/main" id="{4F571A04-5C60-459C-B97D-C1060D492F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8" name="Text 1">
            <a:extLst>
              <a:ext uri="{FF2B5EF4-FFF2-40B4-BE49-F238E27FC236}">
                <a16:creationId xmlns:a16="http://schemas.microsoft.com/office/drawing/2014/main" id="{A2A2E7C0-3614-4FBB-9807-3D7192D9F7D8}"/>
              </a:ext>
            </a:extLst>
          </p:cNvPr>
          <p:cNvSpPr>
            <a:spLocks noGrp="1"/>
          </p:cNvSpPr>
          <p:nvPr/>
        </p:nvSpPr>
        <p:spPr>
          <a:xfrm>
            <a:off x="567000" y="291271"/>
            <a:ext cx="6857640" cy="3117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GU HOY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Text 2">
            <a:extLst>
              <a:ext uri="{FF2B5EF4-FFF2-40B4-BE49-F238E27FC236}">
                <a16:creationId xmlns:a16="http://schemas.microsoft.com/office/drawing/2014/main" id="{DFA8889B-B70F-47E9-B867-89364F371AE7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195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se ganó el derecho a expandirse resolviendo primero un trabajo cercano a ingresos.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0" name="Text 3">
            <a:extLst>
              <a:ext uri="{FF2B5EF4-FFF2-40B4-BE49-F238E27FC236}">
                <a16:creationId xmlns:a16="http://schemas.microsoft.com/office/drawing/2014/main" id="{83276D20-CE31-4A16-9CC1-50C56404D25F}"/>
              </a:ext>
            </a:extLst>
          </p:cNvPr>
          <p:cNvSpPr>
            <a:spLocks noGrp="1"/>
          </p:cNvSpPr>
          <p:nvPr/>
        </p:nvSpPr>
        <p:spPr>
          <a:xfrm>
            <a:off x="567000" y="1640895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</a:t>
            </a:r>
            <a:r>
              <a:rPr b="0" i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wedge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actual es mover demanda entrante desde la primera interacción hacia matches relevantes y visitas.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" name="Text 5">
            <a:extLst>
              <a:ext uri="{FF2B5EF4-FFF2-40B4-BE49-F238E27FC236}">
                <a16:creationId xmlns:a16="http://schemas.microsoft.com/office/drawing/2014/main" id="{4A4C2676-1F7D-48BD-89F4-F35FC05B562B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Text 6">
            <a:extLst>
              <a:ext uri="{FF2B5EF4-FFF2-40B4-BE49-F238E27FC236}">
                <a16:creationId xmlns:a16="http://schemas.microsoft.com/office/drawing/2014/main" id="{E785D79A-3F98-45C2-A7F1-BB8C92E3807B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4" name="Text 7">
            <a:extLst>
              <a:ext uri="{FF2B5EF4-FFF2-40B4-BE49-F238E27FC236}">
                <a16:creationId xmlns:a16="http://schemas.microsoft.com/office/drawing/2014/main" id="{A0CE0322-700B-4025-A90E-93853A295590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6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hape 8">
            <a:extLst>
              <a:ext uri="{FF2B5EF4-FFF2-40B4-BE49-F238E27FC236}">
                <a16:creationId xmlns:a16="http://schemas.microsoft.com/office/drawing/2014/main" id="{69E3F5DE-8F5B-4E2B-A764-9540F2F3FA5B}"/>
              </a:ext>
            </a:extLst>
          </p:cNvPr>
          <p:cNvSpPr>
            <a:spLocks noGrp="1"/>
          </p:cNvSpPr>
          <p:nvPr/>
        </p:nvSpPr>
        <p:spPr>
          <a:xfrm>
            <a:off x="1174806" y="2566796"/>
            <a:ext cx="2034360" cy="360"/>
          </a:xfrm>
          <a:prstGeom prst="line">
            <a:avLst/>
          </a:prstGeom>
          <a:ln w="16510">
            <a:solidFill>
              <a:srgbClr val="AA98CE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6" name="Shape 9">
            <a:extLst>
              <a:ext uri="{FF2B5EF4-FFF2-40B4-BE49-F238E27FC236}">
                <a16:creationId xmlns:a16="http://schemas.microsoft.com/office/drawing/2014/main" id="{20444F00-B988-4A8C-A915-5F1A92FF54DC}"/>
              </a:ext>
            </a:extLst>
          </p:cNvPr>
          <p:cNvSpPr>
            <a:spLocks noGrp="1"/>
          </p:cNvSpPr>
          <p:nvPr/>
        </p:nvSpPr>
        <p:spPr>
          <a:xfrm>
            <a:off x="3666366" y="2566796"/>
            <a:ext cx="2034720" cy="360"/>
          </a:xfrm>
          <a:prstGeom prst="line">
            <a:avLst/>
          </a:prstGeom>
          <a:ln w="16510">
            <a:solidFill>
              <a:srgbClr val="AA98CE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Shape 10">
            <a:extLst>
              <a:ext uri="{FF2B5EF4-FFF2-40B4-BE49-F238E27FC236}">
                <a16:creationId xmlns:a16="http://schemas.microsoft.com/office/drawing/2014/main" id="{3352587F-6D98-4377-918B-AAE7EE35D90B}"/>
              </a:ext>
            </a:extLst>
          </p:cNvPr>
          <p:cNvSpPr>
            <a:spLocks noGrp="1"/>
          </p:cNvSpPr>
          <p:nvPr/>
        </p:nvSpPr>
        <p:spPr>
          <a:xfrm>
            <a:off x="6158286" y="2566796"/>
            <a:ext cx="2034360" cy="360"/>
          </a:xfrm>
          <a:prstGeom prst="line">
            <a:avLst/>
          </a:prstGeom>
          <a:ln w="16510">
            <a:solidFill>
              <a:srgbClr val="AA98CE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8" name="Shape 11">
            <a:extLst>
              <a:ext uri="{FF2B5EF4-FFF2-40B4-BE49-F238E27FC236}">
                <a16:creationId xmlns:a16="http://schemas.microsoft.com/office/drawing/2014/main" id="{894C76E9-23C6-48E4-BB95-2BF7EC88AC89}"/>
              </a:ext>
            </a:extLst>
          </p:cNvPr>
          <p:cNvSpPr>
            <a:spLocks noGrp="1"/>
          </p:cNvSpPr>
          <p:nvPr/>
        </p:nvSpPr>
        <p:spPr>
          <a:xfrm>
            <a:off x="8649846" y="2566796"/>
            <a:ext cx="2034720" cy="360"/>
          </a:xfrm>
          <a:prstGeom prst="line">
            <a:avLst/>
          </a:prstGeom>
          <a:ln w="16510">
            <a:solidFill>
              <a:srgbClr val="AA98CE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Shape 12">
            <a:extLst>
              <a:ext uri="{FF2B5EF4-FFF2-40B4-BE49-F238E27FC236}">
                <a16:creationId xmlns:a16="http://schemas.microsoft.com/office/drawing/2014/main" id="{F461F06C-C5FC-4C0A-A34F-9ABE9C317463}"/>
              </a:ext>
            </a:extLst>
          </p:cNvPr>
          <p:cNvSpPr>
            <a:spLocks noGrp="1"/>
          </p:cNvSpPr>
          <p:nvPr/>
        </p:nvSpPr>
        <p:spPr>
          <a:xfrm>
            <a:off x="800046" y="241163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Text 13">
            <a:extLst>
              <a:ext uri="{FF2B5EF4-FFF2-40B4-BE49-F238E27FC236}">
                <a16:creationId xmlns:a16="http://schemas.microsoft.com/office/drawing/2014/main" id="{ACE2F992-CB57-4123-AFEF-D0634C1501A2}"/>
              </a:ext>
            </a:extLst>
          </p:cNvPr>
          <p:cNvSpPr>
            <a:spLocks noGrp="1"/>
          </p:cNvSpPr>
          <p:nvPr/>
        </p:nvSpPr>
        <p:spPr>
          <a:xfrm>
            <a:off x="809046" y="2486234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1" name="Text 14">
            <a:extLst>
              <a:ext uri="{FF2B5EF4-FFF2-40B4-BE49-F238E27FC236}">
                <a16:creationId xmlns:a16="http://schemas.microsoft.com/office/drawing/2014/main" id="{E8649BA7-DD5A-4B60-A8EB-4C9C76AB7347}"/>
              </a:ext>
            </a:extLst>
          </p:cNvPr>
          <p:cNvSpPr>
            <a:spLocks noGrp="1"/>
          </p:cNvSpPr>
          <p:nvPr/>
        </p:nvSpPr>
        <p:spPr>
          <a:xfrm>
            <a:off x="571135" y="2887195"/>
            <a:ext cx="1204399" cy="4581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Atender prospecto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2" name="Shape 15">
            <a:extLst>
              <a:ext uri="{FF2B5EF4-FFF2-40B4-BE49-F238E27FC236}">
                <a16:creationId xmlns:a16="http://schemas.microsoft.com/office/drawing/2014/main" id="{79CE4382-CF96-4DF1-8B63-89A9067927CC}"/>
              </a:ext>
            </a:extLst>
          </p:cNvPr>
          <p:cNvSpPr>
            <a:spLocks noGrp="1"/>
          </p:cNvSpPr>
          <p:nvPr/>
        </p:nvSpPr>
        <p:spPr>
          <a:xfrm>
            <a:off x="3291606" y="2411636"/>
            <a:ext cx="292320" cy="292320"/>
          </a:xfrm>
          <a:prstGeom prst="ellipse">
            <a:avLst/>
          </a:prstGeom>
          <a:solidFill>
            <a:srgbClr val="546080"/>
          </a:solidFill>
          <a:ln w="12700">
            <a:solidFill>
              <a:srgbClr val="54608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3" name="Text 16">
            <a:extLst>
              <a:ext uri="{FF2B5EF4-FFF2-40B4-BE49-F238E27FC236}">
                <a16:creationId xmlns:a16="http://schemas.microsoft.com/office/drawing/2014/main" id="{4B0A911E-AF00-4AF5-A18E-FA88C8F79FED}"/>
              </a:ext>
            </a:extLst>
          </p:cNvPr>
          <p:cNvSpPr>
            <a:spLocks noGrp="1"/>
          </p:cNvSpPr>
          <p:nvPr/>
        </p:nvSpPr>
        <p:spPr>
          <a:xfrm>
            <a:off x="3300966" y="2486234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4" name="Text 17">
            <a:extLst>
              <a:ext uri="{FF2B5EF4-FFF2-40B4-BE49-F238E27FC236}">
                <a16:creationId xmlns:a16="http://schemas.microsoft.com/office/drawing/2014/main" id="{A7B9045D-AC8F-4782-9757-ECAB480C693C}"/>
              </a:ext>
            </a:extLst>
          </p:cNvPr>
          <p:cNvSpPr>
            <a:spLocks noGrp="1"/>
          </p:cNvSpPr>
          <p:nvPr/>
        </p:nvSpPr>
        <p:spPr>
          <a:xfrm>
            <a:off x="2583402" y="2887196"/>
            <a:ext cx="1531038" cy="4577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10000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Entender requerimiento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5" name="Shape 18">
            <a:extLst>
              <a:ext uri="{FF2B5EF4-FFF2-40B4-BE49-F238E27FC236}">
                <a16:creationId xmlns:a16="http://schemas.microsoft.com/office/drawing/2014/main" id="{42D5FA06-E54C-4CAA-825E-970D059E9A6F}"/>
              </a:ext>
            </a:extLst>
          </p:cNvPr>
          <p:cNvSpPr>
            <a:spLocks noGrp="1"/>
          </p:cNvSpPr>
          <p:nvPr/>
        </p:nvSpPr>
        <p:spPr>
          <a:xfrm>
            <a:off x="5783526" y="241163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6" name="Text 19">
            <a:extLst>
              <a:ext uri="{FF2B5EF4-FFF2-40B4-BE49-F238E27FC236}">
                <a16:creationId xmlns:a16="http://schemas.microsoft.com/office/drawing/2014/main" id="{6ECC397A-15E1-4947-A3FC-31A2DBA9C8FF}"/>
              </a:ext>
            </a:extLst>
          </p:cNvPr>
          <p:cNvSpPr>
            <a:spLocks noGrp="1"/>
          </p:cNvSpPr>
          <p:nvPr/>
        </p:nvSpPr>
        <p:spPr>
          <a:xfrm>
            <a:off x="5792526" y="2486234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7" name="Text 20">
            <a:extLst>
              <a:ext uri="{FF2B5EF4-FFF2-40B4-BE49-F238E27FC236}">
                <a16:creationId xmlns:a16="http://schemas.microsoft.com/office/drawing/2014/main" id="{7FFDF6AF-BB0F-4E45-8222-6F8E1F4F18C3}"/>
              </a:ext>
            </a:extLst>
          </p:cNvPr>
          <p:cNvSpPr>
            <a:spLocks noGrp="1"/>
          </p:cNvSpPr>
          <p:nvPr/>
        </p:nvSpPr>
        <p:spPr>
          <a:xfrm>
            <a:off x="4730409" y="2826769"/>
            <a:ext cx="2371301" cy="6220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Encontrar propiedades relevantes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8" name="Shape 21">
            <a:extLst>
              <a:ext uri="{FF2B5EF4-FFF2-40B4-BE49-F238E27FC236}">
                <a16:creationId xmlns:a16="http://schemas.microsoft.com/office/drawing/2014/main" id="{9C16BEEA-FDCE-402C-9DAC-FEFEE20589EC}"/>
              </a:ext>
            </a:extLst>
          </p:cNvPr>
          <p:cNvSpPr>
            <a:spLocks noGrp="1"/>
          </p:cNvSpPr>
          <p:nvPr/>
        </p:nvSpPr>
        <p:spPr>
          <a:xfrm>
            <a:off x="8275086" y="2411636"/>
            <a:ext cx="292320" cy="2923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9" name="Text 22">
            <a:extLst>
              <a:ext uri="{FF2B5EF4-FFF2-40B4-BE49-F238E27FC236}">
                <a16:creationId xmlns:a16="http://schemas.microsoft.com/office/drawing/2014/main" id="{34B2AF33-5750-439B-BDA5-E053100DA00B}"/>
              </a:ext>
            </a:extLst>
          </p:cNvPr>
          <p:cNvSpPr>
            <a:spLocks noGrp="1"/>
          </p:cNvSpPr>
          <p:nvPr/>
        </p:nvSpPr>
        <p:spPr>
          <a:xfrm>
            <a:off x="8284446" y="2486234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" name="Text 23">
            <a:extLst>
              <a:ext uri="{FF2B5EF4-FFF2-40B4-BE49-F238E27FC236}">
                <a16:creationId xmlns:a16="http://schemas.microsoft.com/office/drawing/2014/main" id="{DED4C9C2-6D66-472F-84EB-CF259E571931}"/>
              </a:ext>
            </a:extLst>
          </p:cNvPr>
          <p:cNvSpPr>
            <a:spLocks noGrp="1"/>
          </p:cNvSpPr>
          <p:nvPr/>
        </p:nvSpPr>
        <p:spPr>
          <a:xfrm>
            <a:off x="7526278" y="2881697"/>
            <a:ext cx="1789935" cy="5049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Avanzar oportunidad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1" name="Shape 24">
            <a:extLst>
              <a:ext uri="{FF2B5EF4-FFF2-40B4-BE49-F238E27FC236}">
                <a16:creationId xmlns:a16="http://schemas.microsoft.com/office/drawing/2014/main" id="{4B9962DC-4C54-4D89-BCE6-56FEAF0BC785}"/>
              </a:ext>
            </a:extLst>
          </p:cNvPr>
          <p:cNvSpPr>
            <a:spLocks noGrp="1"/>
          </p:cNvSpPr>
          <p:nvPr/>
        </p:nvSpPr>
        <p:spPr>
          <a:xfrm>
            <a:off x="10767006" y="2411636"/>
            <a:ext cx="292320" cy="29232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2" name="Text 25">
            <a:extLst>
              <a:ext uri="{FF2B5EF4-FFF2-40B4-BE49-F238E27FC236}">
                <a16:creationId xmlns:a16="http://schemas.microsoft.com/office/drawing/2014/main" id="{D472CEE7-AE88-424A-AD89-485FD7F95D8B}"/>
              </a:ext>
            </a:extLst>
          </p:cNvPr>
          <p:cNvSpPr>
            <a:spLocks noGrp="1"/>
          </p:cNvSpPr>
          <p:nvPr/>
        </p:nvSpPr>
        <p:spPr>
          <a:xfrm>
            <a:off x="10776006" y="2486234"/>
            <a:ext cx="2739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3" name="Text 26">
            <a:extLst>
              <a:ext uri="{FF2B5EF4-FFF2-40B4-BE49-F238E27FC236}">
                <a16:creationId xmlns:a16="http://schemas.microsoft.com/office/drawing/2014/main" id="{8C2CF28A-DDF1-48CB-8F1D-5B811D2C76C2}"/>
              </a:ext>
            </a:extLst>
          </p:cNvPr>
          <p:cNvSpPr>
            <a:spLocks noGrp="1"/>
          </p:cNvSpPr>
          <p:nvPr/>
        </p:nvSpPr>
        <p:spPr>
          <a:xfrm>
            <a:off x="10056585" y="2841823"/>
            <a:ext cx="1402029" cy="5882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Coordinar visita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4" name="Shape 27">
            <a:extLst>
              <a:ext uri="{FF2B5EF4-FFF2-40B4-BE49-F238E27FC236}">
                <a16:creationId xmlns:a16="http://schemas.microsoft.com/office/drawing/2014/main" id="{9C613683-D8E9-4060-8D13-F94B8DF4145F}"/>
              </a:ext>
            </a:extLst>
          </p:cNvPr>
          <p:cNvSpPr>
            <a:spLocks noGrp="1"/>
          </p:cNvSpPr>
          <p:nvPr/>
        </p:nvSpPr>
        <p:spPr>
          <a:xfrm>
            <a:off x="646735" y="3965681"/>
            <a:ext cx="3382920" cy="16987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5" name="Text 28">
            <a:extLst>
              <a:ext uri="{FF2B5EF4-FFF2-40B4-BE49-F238E27FC236}">
                <a16:creationId xmlns:a16="http://schemas.microsoft.com/office/drawing/2014/main" id="{308A7966-A0ED-48B7-B3FC-435E902B8C13}"/>
              </a:ext>
            </a:extLst>
          </p:cNvPr>
          <p:cNvSpPr>
            <a:spLocks noGrp="1"/>
          </p:cNvSpPr>
          <p:nvPr/>
        </p:nvSpPr>
        <p:spPr>
          <a:xfrm>
            <a:off x="783895" y="4111841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QUÉ EXISTE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7" name="Text 30">
            <a:extLst>
              <a:ext uri="{FF2B5EF4-FFF2-40B4-BE49-F238E27FC236}">
                <a16:creationId xmlns:a16="http://schemas.microsoft.com/office/drawing/2014/main" id="{8C236878-D3A4-4486-BA6D-962908186C71}"/>
              </a:ext>
            </a:extLst>
          </p:cNvPr>
          <p:cNvSpPr>
            <a:spLocks noGrp="1"/>
          </p:cNvSpPr>
          <p:nvPr/>
        </p:nvSpPr>
        <p:spPr>
          <a:xfrm>
            <a:off x="808080" y="4548337"/>
            <a:ext cx="3002579" cy="82265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>
                <a:solidFill>
                  <a:srgbClr val="6F6888"/>
                </a:solidFill>
              </a:rPr>
              <a:t>Interactúa con prospectos, comprende su intención, busca y encuentra coincidencias en inventario y ayuda a mover la conversación hacia una visita</a:t>
            </a: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Shape 31">
            <a:extLst>
              <a:ext uri="{FF2B5EF4-FFF2-40B4-BE49-F238E27FC236}">
                <a16:creationId xmlns:a16="http://schemas.microsoft.com/office/drawing/2014/main" id="{DAFFD724-7BF3-41D0-9C9A-3E99E90E5897}"/>
              </a:ext>
            </a:extLst>
          </p:cNvPr>
          <p:cNvSpPr>
            <a:spLocks noGrp="1"/>
          </p:cNvSpPr>
          <p:nvPr/>
        </p:nvSpPr>
        <p:spPr>
          <a:xfrm>
            <a:off x="4198621" y="3965680"/>
            <a:ext cx="3619139" cy="16980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9" name="Text 32">
            <a:extLst>
              <a:ext uri="{FF2B5EF4-FFF2-40B4-BE49-F238E27FC236}">
                <a16:creationId xmlns:a16="http://schemas.microsoft.com/office/drawing/2014/main" id="{8BA8A6C3-46FA-4AEE-914D-03F223CEFC20}"/>
              </a:ext>
            </a:extLst>
          </p:cNvPr>
          <p:cNvSpPr>
            <a:spLocks noGrp="1"/>
          </p:cNvSpPr>
          <p:nvPr/>
        </p:nvSpPr>
        <p:spPr>
          <a:xfrm>
            <a:off x="4335781" y="4111841"/>
            <a:ext cx="3344819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L</a:t>
            </a:r>
            <a:r>
              <a:rPr sz="1600" b="1">
                <a:solidFill>
                  <a:srgbClr val="A84A7A"/>
                </a:solidFill>
                <a:latin typeface="Aptos"/>
                <a:ea typeface="Aptos"/>
                <a:cs typeface="Aptos"/>
              </a:rPr>
              <a:t>I</a:t>
            </a: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MIT</a:t>
            </a:r>
            <a:r>
              <a:rPr sz="1600" b="1">
                <a:solidFill>
                  <a:srgbClr val="A84A7A"/>
                </a:solidFill>
                <a:latin typeface="Aptos"/>
                <a:ea typeface="Aptos"/>
                <a:cs typeface="Aptos"/>
              </a:rPr>
              <a:t>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1" name="Text 34">
            <a:extLst>
              <a:ext uri="{FF2B5EF4-FFF2-40B4-BE49-F238E27FC236}">
                <a16:creationId xmlns:a16="http://schemas.microsoft.com/office/drawing/2014/main" id="{EC4F99C3-6738-46AB-A10D-D4745E2CEED8}"/>
              </a:ext>
            </a:extLst>
          </p:cNvPr>
          <p:cNvSpPr>
            <a:spLocks noGrp="1"/>
          </p:cNvSpPr>
          <p:nvPr/>
        </p:nvSpPr>
        <p:spPr>
          <a:xfrm>
            <a:off x="4335781" y="4495069"/>
            <a:ext cx="3344819" cy="9351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>
                <a:solidFill>
                  <a:srgbClr val="6F6888"/>
                </a:solidFill>
              </a:rPr>
              <a:t>El seguimiento actual sigue reglas pre-programadas después de periodos de inactividad. </a:t>
            </a:r>
            <a:r>
              <a:rPr sz="1200" b="1">
                <a:solidFill>
                  <a:srgbClr val="6F6888"/>
                </a:solidFill>
              </a:rPr>
              <a:t>No decide situacionalmente </a:t>
            </a:r>
            <a:r>
              <a:rPr sz="1200">
                <a:solidFill>
                  <a:srgbClr val="6F6888"/>
                </a:solidFill>
              </a:rPr>
              <a:t>qué necesita cada oportunidad para seguir avanzando</a:t>
            </a: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Shape 35">
            <a:extLst>
              <a:ext uri="{FF2B5EF4-FFF2-40B4-BE49-F238E27FC236}">
                <a16:creationId xmlns:a16="http://schemas.microsoft.com/office/drawing/2014/main" id="{3A7F6EC0-6906-4C5D-A6BA-8BFA7AADD159}"/>
              </a:ext>
            </a:extLst>
          </p:cNvPr>
          <p:cNvSpPr>
            <a:spLocks noGrp="1"/>
          </p:cNvSpPr>
          <p:nvPr/>
        </p:nvSpPr>
        <p:spPr>
          <a:xfrm>
            <a:off x="8001000" y="3965681"/>
            <a:ext cx="3382920" cy="169767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" name="Text 36">
            <a:extLst>
              <a:ext uri="{FF2B5EF4-FFF2-40B4-BE49-F238E27FC236}">
                <a16:creationId xmlns:a16="http://schemas.microsoft.com/office/drawing/2014/main" id="{8CB3E794-DB4E-43CA-8305-3C6377784E74}"/>
              </a:ext>
            </a:extLst>
          </p:cNvPr>
          <p:cNvSpPr>
            <a:spLocks noGrp="1"/>
          </p:cNvSpPr>
          <p:nvPr/>
        </p:nvSpPr>
        <p:spPr>
          <a:xfrm>
            <a:off x="8138160" y="4111841"/>
            <a:ext cx="3108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EVOLUCIONAR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5" name="Text 38">
            <a:extLst>
              <a:ext uri="{FF2B5EF4-FFF2-40B4-BE49-F238E27FC236}">
                <a16:creationId xmlns:a16="http://schemas.microsoft.com/office/drawing/2014/main" id="{D1C38E70-9863-4C5F-84F3-5ABCA8BD3751}"/>
              </a:ext>
            </a:extLst>
          </p:cNvPr>
          <p:cNvSpPr>
            <a:spLocks noGrp="1"/>
          </p:cNvSpPr>
          <p:nvPr/>
        </p:nvSpPr>
        <p:spPr>
          <a:xfrm>
            <a:off x="8202240" y="4590256"/>
            <a:ext cx="2925720" cy="620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 debería mantener viva cada oportunidad y decidir qué hacer después según su estado, contexto, eventos y políticas</a:t>
            </a:r>
            <a:r>
              <a:rPr sz="1200">
                <a:solidFill>
                  <a:srgbClr val="6F6888"/>
                </a:solidFill>
              </a:rPr>
              <a:t>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Shape 17">
            <a:extLst>
              <a:ext uri="{FF2B5EF4-FFF2-40B4-BE49-F238E27FC236}">
                <a16:creationId xmlns:a16="http://schemas.microsoft.com/office/drawing/2014/main" id="{6B7EB617-8741-B8AC-7962-4F33CE2B2E03}"/>
              </a:ext>
            </a:extLst>
          </p:cNvPr>
          <p:cNvSpPr>
            <a:spLocks noGrp="1"/>
          </p:cNvSpPr>
          <p:nvPr/>
        </p:nvSpPr>
        <p:spPr>
          <a:xfrm>
            <a:off x="1713390" y="5926547"/>
            <a:ext cx="8343194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18">
            <a:extLst>
              <a:ext uri="{FF2B5EF4-FFF2-40B4-BE49-F238E27FC236}">
                <a16:creationId xmlns:a16="http://schemas.microsoft.com/office/drawing/2014/main" id="{078549CC-E9B7-6A1B-F623-9579DDAB3A8C}"/>
              </a:ext>
            </a:extLst>
          </p:cNvPr>
          <p:cNvSpPr>
            <a:spLocks noGrp="1"/>
          </p:cNvSpPr>
          <p:nvPr/>
        </p:nvSpPr>
        <p:spPr>
          <a:xfrm>
            <a:off x="1766198" y="5981267"/>
            <a:ext cx="8237579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Automatizar un seguimiento no es lo mismo que asumir responsabilidad por la oportunidad.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069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8F109F70-6A4B-4A14-A8DC-C6A0EC1785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6D9F679C-31A8-4FBA-BD32-12D9CFE6285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INSIGHT GANADO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E18D8754-E950-4D9B-98FF-A7F8C480CACF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conversación es importante, pero no puede ser la única </a:t>
            </a:r>
            <a:r>
              <a:rPr sz="2600"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</a:t>
            </a: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uente de verdad operacional.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6D0ADC54-3146-4CBA-AC6C-4F7ED483D97C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Cuando el trabajo dura días, semanas o meses, Gu necesita estado explícito: objetivo, bloqueos, dependencias, permisos y evidencia.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3C442F2E-DE58-4908-B9B9-0069B2A116B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7499AD51-3F27-42DB-B94C-50F5915805D1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C521CE6C-B949-4E95-9988-0496CFDAA73A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7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B94E4C1A-723F-4845-A109-9ABA24EF5C5C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4D0765C2-A685-4337-A98B-A598CCD73B78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CONTEXTO ÚTIL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43B5C3D4-FB93-4C24-8555-36788507BE46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Conversación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04CBED31-C670-474C-89B0-20E2E3991A1D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dijo el usuario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matiz apareció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instrucción o corrección dio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Cómo debería comunicarse Gu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F62EF400-DE66-4DD2-9511-CB5880A10A9F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CF8D28D7-6403-4222-AD1B-B926EB1472A4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VERDAD DURABLE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552AA900-511C-48BF-B5C0-2E07E000EFDC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Estado operacional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5E70B018-25B3-4B4B-8AB7-E8C06AA03256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lnSpcReduction="10000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objetivo perseguimos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ya pasó y qué falta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está bloqueado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está autorizado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evidencia demuestra qu</a:t>
            </a:r>
            <a:r>
              <a:rPr sz="1600">
                <a:solidFill>
                  <a:srgbClr val="6F6888"/>
                </a:solidFill>
                <a:latin typeface="Aptos"/>
                <a:ea typeface="Aptos"/>
                <a:cs typeface="Aptos"/>
              </a:rPr>
              <a:t>e el trabajo está completo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56DEF27E-2C19-4067-868A-B232CDC9DA2B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26EE44BD-CB93-4013-93DB-8FB6B4263A24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22936323-89FD-461E-AB63-B6EECD77FB6D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400" b="1">
                <a:solidFill>
                  <a:srgbClr val="5F2CCB"/>
                </a:solidFill>
              </a:rPr>
              <a:t>Gu OS tiene la verdad operacional durable del trabajo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informa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877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ángulo 21">
            <a:extLst>
              <a:ext uri="{FF2B5EF4-FFF2-40B4-BE49-F238E27FC236}">
                <a16:creationId xmlns:a16="http://schemas.microsoft.com/office/drawing/2014/main" id="{9E73E7FE-D936-88EF-AA6A-54BEE244B378}"/>
              </a:ext>
            </a:extLst>
          </p:cNvPr>
          <p:cNvSpPr>
            <a:spLocks noGrp="1"/>
          </p:cNvSpPr>
          <p:nvPr/>
        </p:nvSpPr>
        <p:spPr>
          <a:xfrm>
            <a:off x="411480" y="3020276"/>
            <a:ext cx="11213196" cy="349395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7" name="Shape 0">
            <a:extLst>
              <a:ext uri="{FF2B5EF4-FFF2-40B4-BE49-F238E27FC236}">
                <a16:creationId xmlns:a16="http://schemas.microsoft.com/office/drawing/2014/main" id="{CB3B52B5-1710-4C41-A614-4F68DC6B44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8" name="Text 1">
            <a:extLst>
              <a:ext uri="{FF2B5EF4-FFF2-40B4-BE49-F238E27FC236}">
                <a16:creationId xmlns:a16="http://schemas.microsoft.com/office/drawing/2014/main" id="{DA3FDD95-25D4-48A2-BCA4-3AC44774596B}"/>
              </a:ext>
            </a:extLst>
          </p:cNvPr>
          <p:cNvSpPr>
            <a:spLocks noGrp="1"/>
          </p:cNvSpPr>
          <p:nvPr/>
        </p:nvSpPr>
        <p:spPr>
          <a:xfrm>
            <a:off x="567000" y="38629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QUÉ ES GU 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9" name="Text 2">
            <a:extLst>
              <a:ext uri="{FF2B5EF4-FFF2-40B4-BE49-F238E27FC236}">
                <a16:creationId xmlns:a16="http://schemas.microsoft.com/office/drawing/2014/main" id="{55B924BE-3266-4CC1-9C21-13C1D5A4F999}"/>
              </a:ext>
            </a:extLst>
          </p:cNvPr>
          <p:cNvSpPr>
            <a:spLocks noGrp="1"/>
          </p:cNvSpPr>
          <p:nvPr/>
        </p:nvSpPr>
        <p:spPr>
          <a:xfrm>
            <a:off x="567000" y="752050"/>
            <a:ext cx="10195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 fuera, una experiencia simple para el usuario. Por dentro, un sistema completo de responsabilidades.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0" name="Text 3">
            <a:extLst>
              <a:ext uri="{FF2B5EF4-FFF2-40B4-BE49-F238E27FC236}">
                <a16:creationId xmlns:a16="http://schemas.microsoft.com/office/drawing/2014/main" id="{FACD7E27-8767-4DC9-8591-7A1F726B1044}"/>
              </a:ext>
            </a:extLst>
          </p:cNvPr>
          <p:cNvSpPr>
            <a:spLocks noGrp="1"/>
          </p:cNvSpPr>
          <p:nvPr/>
        </p:nvSpPr>
        <p:spPr>
          <a:xfrm>
            <a:off x="567000" y="1552684"/>
            <a:ext cx="11213196" cy="4779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 arquitectura comercial sigue siendo simple: el usuario trabaja con Gu. Gu OS hace posible el trabajo complejo.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2" name="Text 5">
            <a:extLst>
              <a:ext uri="{FF2B5EF4-FFF2-40B4-BE49-F238E27FC236}">
                <a16:creationId xmlns:a16="http://schemas.microsoft.com/office/drawing/2014/main" id="{1DD34848-CE10-43FF-987F-0A953FE16E5A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3" name="Text 6">
            <a:extLst>
              <a:ext uri="{FF2B5EF4-FFF2-40B4-BE49-F238E27FC236}">
                <a16:creationId xmlns:a16="http://schemas.microsoft.com/office/drawing/2014/main" id="{8F23F0C6-97A5-4007-A61E-CF8DE78FEB72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4" name="Text 7">
            <a:extLst>
              <a:ext uri="{FF2B5EF4-FFF2-40B4-BE49-F238E27FC236}">
                <a16:creationId xmlns:a16="http://schemas.microsoft.com/office/drawing/2014/main" id="{6455B3DC-20AE-4295-B848-E17E9CE42AB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8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5" name="Shape 8">
            <a:extLst>
              <a:ext uri="{FF2B5EF4-FFF2-40B4-BE49-F238E27FC236}">
                <a16:creationId xmlns:a16="http://schemas.microsoft.com/office/drawing/2014/main" id="{01BEB318-607B-4D8F-8E07-0C34BAE8FF6E}"/>
              </a:ext>
            </a:extLst>
          </p:cNvPr>
          <p:cNvSpPr>
            <a:spLocks noGrp="1"/>
          </p:cNvSpPr>
          <p:nvPr/>
        </p:nvSpPr>
        <p:spPr>
          <a:xfrm>
            <a:off x="4867658" y="3479192"/>
            <a:ext cx="1922654" cy="1817468"/>
          </a:xfrm>
          <a:prstGeom prst="ellipse">
            <a:avLst/>
          </a:prstGeom>
          <a:solidFill>
            <a:srgbClr val="20143D"/>
          </a:solidFill>
          <a:ln w="1524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6" name="Text 9">
            <a:extLst>
              <a:ext uri="{FF2B5EF4-FFF2-40B4-BE49-F238E27FC236}">
                <a16:creationId xmlns:a16="http://schemas.microsoft.com/office/drawing/2014/main" id="{589E45A4-2D68-4F4D-94FF-AA01DA137588}"/>
              </a:ext>
            </a:extLst>
          </p:cNvPr>
          <p:cNvSpPr>
            <a:spLocks noGrp="1"/>
          </p:cNvSpPr>
          <p:nvPr/>
        </p:nvSpPr>
        <p:spPr>
          <a:xfrm>
            <a:off x="4947428" y="3933496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OS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7" name="Text 10">
            <a:extLst>
              <a:ext uri="{FF2B5EF4-FFF2-40B4-BE49-F238E27FC236}">
                <a16:creationId xmlns:a16="http://schemas.microsoft.com/office/drawing/2014/main" id="{0B6D5DB8-309D-4E02-B843-5B231BD0DB3E}"/>
              </a:ext>
            </a:extLst>
          </p:cNvPr>
          <p:cNvSpPr>
            <a:spLocks noGrp="1"/>
          </p:cNvSpPr>
          <p:nvPr/>
        </p:nvSpPr>
        <p:spPr>
          <a:xfrm>
            <a:off x="4883348" y="4326615"/>
            <a:ext cx="1874160" cy="50899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D8CCFF"/>
                </a:solidFill>
                <a:latin typeface="Aptos"/>
                <a:ea typeface="Aptos"/>
                <a:cs typeface="Aptos"/>
              </a:rPr>
              <a:t>Entorno operativ</a:t>
            </a:r>
            <a:r>
              <a:rPr sz="1400" b="1">
                <a:solidFill>
                  <a:srgbClr val="D8CCFF"/>
                </a:solidFill>
                <a:latin typeface="Aptos"/>
                <a:ea typeface="Aptos"/>
                <a:cs typeface="Aptos"/>
              </a:rPr>
              <a:t>o</a:t>
            </a:r>
            <a:r>
              <a:rPr sz="1400" b="1" u="none">
                <a:solidFill>
                  <a:srgbClr val="D8CCFF"/>
                </a:solidFill>
                <a:latin typeface="Aptos"/>
                <a:ea typeface="Aptos"/>
                <a:cs typeface="Aptos"/>
              </a:rPr>
              <a:t> inteligente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8" name="Shape 11">
            <a:extLst>
              <a:ext uri="{FF2B5EF4-FFF2-40B4-BE49-F238E27FC236}">
                <a16:creationId xmlns:a16="http://schemas.microsoft.com/office/drawing/2014/main" id="{83DF0A0F-F6B8-4CD6-B8AC-059354675534}"/>
              </a:ext>
            </a:extLst>
          </p:cNvPr>
          <p:cNvSpPr>
            <a:spLocks noGrp="1"/>
          </p:cNvSpPr>
          <p:nvPr/>
        </p:nvSpPr>
        <p:spPr>
          <a:xfrm>
            <a:off x="567000" y="3109687"/>
            <a:ext cx="3222519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9" name="Text 12">
            <a:extLst>
              <a:ext uri="{FF2B5EF4-FFF2-40B4-BE49-F238E27FC236}">
                <a16:creationId xmlns:a16="http://schemas.microsoft.com/office/drawing/2014/main" id="{DEFED0BE-A1EA-43B9-83D5-B7E4A0CF303D}"/>
              </a:ext>
            </a:extLst>
          </p:cNvPr>
          <p:cNvSpPr>
            <a:spLocks noGrp="1"/>
          </p:cNvSpPr>
          <p:nvPr/>
        </p:nvSpPr>
        <p:spPr>
          <a:xfrm>
            <a:off x="781841" y="3204714"/>
            <a:ext cx="2797560" cy="3057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Verdad operacional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0" name="Text 13">
            <a:extLst>
              <a:ext uri="{FF2B5EF4-FFF2-40B4-BE49-F238E27FC236}">
                <a16:creationId xmlns:a16="http://schemas.microsoft.com/office/drawing/2014/main" id="{983684C9-AAD9-452B-AB95-043ECFB9479A}"/>
              </a:ext>
            </a:extLst>
          </p:cNvPr>
          <p:cNvSpPr>
            <a:spLocks noGrp="1"/>
          </p:cNvSpPr>
          <p:nvPr/>
        </p:nvSpPr>
        <p:spPr>
          <a:xfrm>
            <a:off x="790719" y="348999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 durable del trabajo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" name="Shape 14">
            <a:extLst>
              <a:ext uri="{FF2B5EF4-FFF2-40B4-BE49-F238E27FC236}">
                <a16:creationId xmlns:a16="http://schemas.microsoft.com/office/drawing/2014/main" id="{650C0F18-9961-4233-A3D6-3C46CE88D758}"/>
              </a:ext>
            </a:extLst>
          </p:cNvPr>
          <p:cNvSpPr>
            <a:spLocks noGrp="1"/>
          </p:cNvSpPr>
          <p:nvPr/>
        </p:nvSpPr>
        <p:spPr>
          <a:xfrm>
            <a:off x="3835599" y="3466087"/>
            <a:ext cx="795600" cy="219240"/>
          </a:xfrm>
          <a:prstGeom prst="line">
            <a:avLst/>
          </a:prstGeom>
          <a:ln w="12700">
            <a:solidFill>
              <a:srgbClr val="5F2CCB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" name="Shape 15">
            <a:extLst>
              <a:ext uri="{FF2B5EF4-FFF2-40B4-BE49-F238E27FC236}">
                <a16:creationId xmlns:a16="http://schemas.microsoft.com/office/drawing/2014/main" id="{7A0CD118-9746-4E31-80A1-D562D99A005C}"/>
              </a:ext>
            </a:extLst>
          </p:cNvPr>
          <p:cNvSpPr>
            <a:spLocks noGrp="1"/>
          </p:cNvSpPr>
          <p:nvPr/>
        </p:nvSpPr>
        <p:spPr>
          <a:xfrm>
            <a:off x="589479" y="3986143"/>
            <a:ext cx="3200040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546080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3" name="Text 16">
            <a:extLst>
              <a:ext uri="{FF2B5EF4-FFF2-40B4-BE49-F238E27FC236}">
                <a16:creationId xmlns:a16="http://schemas.microsoft.com/office/drawing/2014/main" id="{E73A7426-600D-451F-A0A6-AD6D2AACFB1F}"/>
              </a:ext>
            </a:extLst>
          </p:cNvPr>
          <p:cNvSpPr>
            <a:spLocks noGrp="1"/>
          </p:cNvSpPr>
          <p:nvPr/>
        </p:nvSpPr>
        <p:spPr>
          <a:xfrm>
            <a:off x="755207" y="4063414"/>
            <a:ext cx="2797560" cy="32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4" name="Text 17">
            <a:extLst>
              <a:ext uri="{FF2B5EF4-FFF2-40B4-BE49-F238E27FC236}">
                <a16:creationId xmlns:a16="http://schemas.microsoft.com/office/drawing/2014/main" id="{D0D0C717-ECDB-4AFD-A7A6-6E2C634EAD05}"/>
              </a:ext>
            </a:extLst>
          </p:cNvPr>
          <p:cNvSpPr>
            <a:spLocks noGrp="1"/>
          </p:cNvSpPr>
          <p:nvPr/>
        </p:nvSpPr>
        <p:spPr>
          <a:xfrm>
            <a:off x="746466" y="4375324"/>
            <a:ext cx="2940922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>
                <a:solidFill>
                  <a:srgbClr val="6F6888"/>
                </a:solidFill>
                <a:latin typeface="Aptos"/>
                <a:ea typeface="Aptos"/>
                <a:cs typeface="Aptos"/>
              </a:rPr>
              <a:t>Í</a:t>
            </a: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tems de trabajo · Skills · </a:t>
            </a:r>
            <a:r>
              <a:rPr sz="1200">
                <a:solidFill>
                  <a:srgbClr val="6F6888"/>
                </a:solidFill>
                <a:latin typeface="Aptos"/>
                <a:ea typeface="Aptos"/>
                <a:cs typeface="Aptos"/>
              </a:rPr>
              <a:t>herramientas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5" name="Shape 18">
            <a:extLst>
              <a:ext uri="{FF2B5EF4-FFF2-40B4-BE49-F238E27FC236}">
                <a16:creationId xmlns:a16="http://schemas.microsoft.com/office/drawing/2014/main" id="{7AA5138A-5F76-4AE0-80FA-3B84AF0CD24A}"/>
              </a:ext>
            </a:extLst>
          </p:cNvPr>
          <p:cNvSpPr>
            <a:spLocks noGrp="1"/>
          </p:cNvSpPr>
          <p:nvPr/>
        </p:nvSpPr>
        <p:spPr>
          <a:xfrm flipV="1">
            <a:off x="3835599" y="4342543"/>
            <a:ext cx="594719" cy="0"/>
          </a:xfrm>
          <a:prstGeom prst="line">
            <a:avLst/>
          </a:prstGeom>
          <a:ln w="12700">
            <a:solidFill>
              <a:srgbClr val="546080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6" name="Shape 19">
            <a:extLst>
              <a:ext uri="{FF2B5EF4-FFF2-40B4-BE49-F238E27FC236}">
                <a16:creationId xmlns:a16="http://schemas.microsoft.com/office/drawing/2014/main" id="{ECD4EC3E-47BD-4F89-8F22-7C22DA800B85}"/>
              </a:ext>
            </a:extLst>
          </p:cNvPr>
          <p:cNvSpPr>
            <a:spLocks noGrp="1"/>
          </p:cNvSpPr>
          <p:nvPr/>
        </p:nvSpPr>
        <p:spPr>
          <a:xfrm>
            <a:off x="589479" y="4862599"/>
            <a:ext cx="3200040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" name="Text 20">
            <a:extLst>
              <a:ext uri="{FF2B5EF4-FFF2-40B4-BE49-F238E27FC236}">
                <a16:creationId xmlns:a16="http://schemas.microsoft.com/office/drawing/2014/main" id="{41E0BD8F-2FBC-473A-94F6-A913675CAA72}"/>
              </a:ext>
            </a:extLst>
          </p:cNvPr>
          <p:cNvSpPr>
            <a:spLocks noGrp="1"/>
          </p:cNvSpPr>
          <p:nvPr/>
        </p:nvSpPr>
        <p:spPr>
          <a:xfrm>
            <a:off x="790719" y="4883419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Gobernanza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8" name="Text 21">
            <a:extLst>
              <a:ext uri="{FF2B5EF4-FFF2-40B4-BE49-F238E27FC236}">
                <a16:creationId xmlns:a16="http://schemas.microsoft.com/office/drawing/2014/main" id="{791E1125-75FD-48FA-BA96-67A40145FD6C}"/>
              </a:ext>
            </a:extLst>
          </p:cNvPr>
          <p:cNvSpPr>
            <a:spLocks noGrp="1"/>
          </p:cNvSpPr>
          <p:nvPr/>
        </p:nvSpPr>
        <p:spPr>
          <a:xfrm>
            <a:off x="728606" y="5221963"/>
            <a:ext cx="3096078" cy="3479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permisos · políticas · autoridad humana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9" name="Shape 22">
            <a:extLst>
              <a:ext uri="{FF2B5EF4-FFF2-40B4-BE49-F238E27FC236}">
                <a16:creationId xmlns:a16="http://schemas.microsoft.com/office/drawing/2014/main" id="{7C9F2A39-3F72-4E30-AA31-BF436DCD7148}"/>
              </a:ext>
            </a:extLst>
          </p:cNvPr>
          <p:cNvSpPr>
            <a:spLocks noGrp="1"/>
          </p:cNvSpPr>
          <p:nvPr/>
        </p:nvSpPr>
        <p:spPr>
          <a:xfrm flipV="1">
            <a:off x="3913675" y="4883419"/>
            <a:ext cx="717524" cy="329400"/>
          </a:xfrm>
          <a:prstGeom prst="line">
            <a:avLst/>
          </a:prstGeom>
          <a:ln w="12700">
            <a:solidFill>
              <a:srgbClr val="A84A7A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" name="Shape 23">
            <a:extLst>
              <a:ext uri="{FF2B5EF4-FFF2-40B4-BE49-F238E27FC236}">
                <a16:creationId xmlns:a16="http://schemas.microsoft.com/office/drawing/2014/main" id="{3B9F6821-A4D8-4ACD-A87E-50628393927B}"/>
              </a:ext>
            </a:extLst>
          </p:cNvPr>
          <p:cNvSpPr>
            <a:spLocks noGrp="1"/>
          </p:cNvSpPr>
          <p:nvPr/>
        </p:nvSpPr>
        <p:spPr>
          <a:xfrm>
            <a:off x="7841438" y="3109687"/>
            <a:ext cx="3606561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1" name="Text 24">
            <a:extLst>
              <a:ext uri="{FF2B5EF4-FFF2-40B4-BE49-F238E27FC236}">
                <a16:creationId xmlns:a16="http://schemas.microsoft.com/office/drawing/2014/main" id="{35D6B75A-101E-4F71-8F64-8D24AD7D5ED5}"/>
              </a:ext>
            </a:extLst>
          </p:cNvPr>
          <p:cNvSpPr>
            <a:spLocks noGrp="1"/>
          </p:cNvSpPr>
          <p:nvPr/>
        </p:nvSpPr>
        <p:spPr>
          <a:xfrm>
            <a:off x="8001115" y="3140446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Inteligencia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2" name="Text 25">
            <a:extLst>
              <a:ext uri="{FF2B5EF4-FFF2-40B4-BE49-F238E27FC236}">
                <a16:creationId xmlns:a16="http://schemas.microsoft.com/office/drawing/2014/main" id="{AEBDAA4F-2A3D-4532-9DE7-C9D9E18D7B1A}"/>
              </a:ext>
            </a:extLst>
          </p:cNvPr>
          <p:cNvSpPr>
            <a:spLocks noGrp="1"/>
          </p:cNvSpPr>
          <p:nvPr/>
        </p:nvSpPr>
        <p:spPr>
          <a:xfrm>
            <a:off x="7986569" y="3519620"/>
            <a:ext cx="3346524" cy="22216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contexto </a:t>
            </a:r>
            <a:r>
              <a:rPr sz="1200">
                <a:solidFill>
                  <a:srgbClr val="6F6888"/>
                </a:solidFill>
              </a:rPr>
              <a:t>· razonamiento </a:t>
            </a: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· planeación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" name="Shape 26">
            <a:extLst>
              <a:ext uri="{FF2B5EF4-FFF2-40B4-BE49-F238E27FC236}">
                <a16:creationId xmlns:a16="http://schemas.microsoft.com/office/drawing/2014/main" id="{935290EF-B7EE-4C5D-B203-6732ACA8A35F}"/>
              </a:ext>
            </a:extLst>
          </p:cNvPr>
          <p:cNvSpPr>
            <a:spLocks noGrp="1"/>
          </p:cNvSpPr>
          <p:nvPr/>
        </p:nvSpPr>
        <p:spPr>
          <a:xfrm flipV="1">
            <a:off x="6989920" y="3466087"/>
            <a:ext cx="747431" cy="281698"/>
          </a:xfrm>
          <a:prstGeom prst="line">
            <a:avLst/>
          </a:prstGeom>
          <a:ln w="12700">
            <a:solidFill>
              <a:srgbClr val="078C53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4" name="Shape 27">
            <a:extLst>
              <a:ext uri="{FF2B5EF4-FFF2-40B4-BE49-F238E27FC236}">
                <a16:creationId xmlns:a16="http://schemas.microsoft.com/office/drawing/2014/main" id="{688E78EA-AC49-4E3A-9BFA-EC203AFA868B}"/>
              </a:ext>
            </a:extLst>
          </p:cNvPr>
          <p:cNvSpPr>
            <a:spLocks noGrp="1"/>
          </p:cNvSpPr>
          <p:nvPr/>
        </p:nvSpPr>
        <p:spPr>
          <a:xfrm>
            <a:off x="7841437" y="3986143"/>
            <a:ext cx="3595355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5" name="Text 28">
            <a:extLst>
              <a:ext uri="{FF2B5EF4-FFF2-40B4-BE49-F238E27FC236}">
                <a16:creationId xmlns:a16="http://schemas.microsoft.com/office/drawing/2014/main" id="{5AC4D4C7-1614-4007-BB2C-DDFEFF4EAAA4}"/>
              </a:ext>
            </a:extLst>
          </p:cNvPr>
          <p:cNvSpPr>
            <a:spLocks noGrp="1"/>
          </p:cNvSpPr>
          <p:nvPr/>
        </p:nvSpPr>
        <p:spPr>
          <a:xfrm>
            <a:off x="8042679" y="4036780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Continuidad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6" name="Text 29">
            <a:extLst>
              <a:ext uri="{FF2B5EF4-FFF2-40B4-BE49-F238E27FC236}">
                <a16:creationId xmlns:a16="http://schemas.microsoft.com/office/drawing/2014/main" id="{304B132A-1525-4374-B7BF-7083C40BB0A9}"/>
              </a:ext>
            </a:extLst>
          </p:cNvPr>
          <p:cNvSpPr>
            <a:spLocks noGrp="1"/>
          </p:cNvSpPr>
          <p:nvPr/>
        </p:nvSpPr>
        <p:spPr>
          <a:xfrm>
            <a:off x="8070764" y="4375324"/>
            <a:ext cx="3055409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sobrevive sesiones · esperas · cambios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7" name="Shape 30">
            <a:extLst>
              <a:ext uri="{FF2B5EF4-FFF2-40B4-BE49-F238E27FC236}">
                <a16:creationId xmlns:a16="http://schemas.microsoft.com/office/drawing/2014/main" id="{550C5FC2-D849-4393-9A4C-73A87A2DD6F0}"/>
              </a:ext>
            </a:extLst>
          </p:cNvPr>
          <p:cNvSpPr>
            <a:spLocks noGrp="1"/>
          </p:cNvSpPr>
          <p:nvPr/>
        </p:nvSpPr>
        <p:spPr>
          <a:xfrm flipV="1">
            <a:off x="7121356" y="4319916"/>
            <a:ext cx="610487" cy="0"/>
          </a:xfrm>
          <a:prstGeom prst="line">
            <a:avLst/>
          </a:prstGeom>
          <a:ln w="12700">
            <a:solidFill>
              <a:srgbClr val="F39A2B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" name="Shape 31">
            <a:extLst>
              <a:ext uri="{FF2B5EF4-FFF2-40B4-BE49-F238E27FC236}">
                <a16:creationId xmlns:a16="http://schemas.microsoft.com/office/drawing/2014/main" id="{DF589520-A1F7-4FE1-A4C6-38DEBD4B7C75}"/>
              </a:ext>
            </a:extLst>
          </p:cNvPr>
          <p:cNvSpPr>
            <a:spLocks noGrp="1"/>
          </p:cNvSpPr>
          <p:nvPr/>
        </p:nvSpPr>
        <p:spPr>
          <a:xfrm>
            <a:off x="7841438" y="4862599"/>
            <a:ext cx="3606561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9" name="Text 32">
            <a:extLst>
              <a:ext uri="{FF2B5EF4-FFF2-40B4-BE49-F238E27FC236}">
                <a16:creationId xmlns:a16="http://schemas.microsoft.com/office/drawing/2014/main" id="{E0FAD925-C818-485B-A38A-864708BD2DBE}"/>
              </a:ext>
            </a:extLst>
          </p:cNvPr>
          <p:cNvSpPr>
            <a:spLocks noGrp="1"/>
          </p:cNvSpPr>
          <p:nvPr/>
        </p:nvSpPr>
        <p:spPr>
          <a:xfrm>
            <a:off x="8001114" y="4883419"/>
            <a:ext cx="3245375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 y resultados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0" name="Text 33">
            <a:extLst>
              <a:ext uri="{FF2B5EF4-FFF2-40B4-BE49-F238E27FC236}">
                <a16:creationId xmlns:a16="http://schemas.microsoft.com/office/drawing/2014/main" id="{1E22A247-5064-4CCC-913A-82DA49345F05}"/>
              </a:ext>
            </a:extLst>
          </p:cNvPr>
          <p:cNvSpPr>
            <a:spLocks noGrp="1"/>
          </p:cNvSpPr>
          <p:nvPr/>
        </p:nvSpPr>
        <p:spPr>
          <a:xfrm>
            <a:off x="8025566" y="5221963"/>
            <a:ext cx="3307526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 · criterios/terminación · resultados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1" name="Shape 34">
            <a:extLst>
              <a:ext uri="{FF2B5EF4-FFF2-40B4-BE49-F238E27FC236}">
                <a16:creationId xmlns:a16="http://schemas.microsoft.com/office/drawing/2014/main" id="{A5134F79-3F4E-4074-929B-212E0D0EE693}"/>
              </a:ext>
            </a:extLst>
          </p:cNvPr>
          <p:cNvSpPr>
            <a:spLocks noGrp="1"/>
          </p:cNvSpPr>
          <p:nvPr/>
        </p:nvSpPr>
        <p:spPr>
          <a:xfrm>
            <a:off x="7024763" y="4936275"/>
            <a:ext cx="658440" cy="276544"/>
          </a:xfrm>
          <a:prstGeom prst="line">
            <a:avLst/>
          </a:prstGeom>
          <a:ln w="12700">
            <a:solidFill>
              <a:srgbClr val="5F2CCB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4" name="Shape 31">
            <a:extLst>
              <a:ext uri="{FF2B5EF4-FFF2-40B4-BE49-F238E27FC236}">
                <a16:creationId xmlns:a16="http://schemas.microsoft.com/office/drawing/2014/main" id="{F241AF22-FE37-9B9C-37B7-92C8F98FDB9D}"/>
              </a:ext>
            </a:extLst>
          </p:cNvPr>
          <p:cNvSpPr>
            <a:spLocks noGrp="1"/>
          </p:cNvSpPr>
          <p:nvPr/>
        </p:nvSpPr>
        <p:spPr>
          <a:xfrm>
            <a:off x="4061770" y="5717350"/>
            <a:ext cx="3621432" cy="712800"/>
          </a:xfrm>
          <a:prstGeom prst="roundRect">
            <a:avLst>
              <a:gd name="adj" fmla="val 12821"/>
            </a:avLst>
          </a:prstGeom>
          <a:solidFill>
            <a:schemeClr val="bg1"/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32">
            <a:extLst>
              <a:ext uri="{FF2B5EF4-FFF2-40B4-BE49-F238E27FC236}">
                <a16:creationId xmlns:a16="http://schemas.microsoft.com/office/drawing/2014/main" id="{325E4E77-1528-0D2D-EE1B-4E82E0E9F3A6}"/>
              </a:ext>
            </a:extLst>
          </p:cNvPr>
          <p:cNvSpPr>
            <a:spLocks noGrp="1"/>
          </p:cNvSpPr>
          <p:nvPr/>
        </p:nvSpPr>
        <p:spPr>
          <a:xfrm>
            <a:off x="4267431" y="5738170"/>
            <a:ext cx="2858999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Red &amp; ecosistema</a:t>
            </a:r>
            <a:endParaRPr sz="15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 33">
            <a:extLst>
              <a:ext uri="{FF2B5EF4-FFF2-40B4-BE49-F238E27FC236}">
                <a16:creationId xmlns:a16="http://schemas.microsoft.com/office/drawing/2014/main" id="{521EFA25-6F75-3270-F5BA-404512FC45DF}"/>
              </a:ext>
            </a:extLst>
          </p:cNvPr>
          <p:cNvSpPr>
            <a:spLocks noGrp="1"/>
          </p:cNvSpPr>
          <p:nvPr/>
        </p:nvSpPr>
        <p:spPr>
          <a:xfrm>
            <a:off x="4237827" y="6117014"/>
            <a:ext cx="3415772" cy="2731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>
                <a:solidFill>
                  <a:srgbClr val="6F6888"/>
                </a:solidFill>
                <a:latin typeface="Aptos"/>
                <a:ea typeface="Aptos"/>
                <a:cs typeface="Aptos"/>
              </a:rPr>
              <a:t>i</a:t>
            </a:r>
            <a:r>
              <a:rPr sz="135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nventario compartido · servicios integrados</a:t>
            </a:r>
            <a:endParaRPr sz="13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hape 34">
            <a:extLst>
              <a:ext uri="{FF2B5EF4-FFF2-40B4-BE49-F238E27FC236}">
                <a16:creationId xmlns:a16="http://schemas.microsoft.com/office/drawing/2014/main" id="{8C6EF861-724B-3851-DF57-110B8E709C71}"/>
              </a:ext>
            </a:extLst>
          </p:cNvPr>
          <p:cNvSpPr>
            <a:spLocks noGrp="1"/>
          </p:cNvSpPr>
          <p:nvPr/>
        </p:nvSpPr>
        <p:spPr>
          <a:xfrm>
            <a:off x="5834249" y="5400587"/>
            <a:ext cx="0" cy="232679"/>
          </a:xfrm>
          <a:prstGeom prst="line">
            <a:avLst/>
          </a:prstGeom>
          <a:ln w="12700">
            <a:solidFill>
              <a:srgbClr val="5F2CCB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D9B908C8-89B4-755C-7933-E522290CCF2D}"/>
              </a:ext>
            </a:extLst>
          </p:cNvPr>
          <p:cNvSpPr>
            <a:spLocks noGrp="1"/>
          </p:cNvSpPr>
          <p:nvPr/>
        </p:nvSpPr>
        <p:spPr>
          <a:xfrm>
            <a:off x="4001629" y="2210756"/>
            <a:ext cx="3603749" cy="712800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32">
            <a:extLst>
              <a:ext uri="{FF2B5EF4-FFF2-40B4-BE49-F238E27FC236}">
                <a16:creationId xmlns:a16="http://schemas.microsoft.com/office/drawing/2014/main" id="{63E3C7B3-EE11-A0DE-2FC9-214E15243387}"/>
              </a:ext>
            </a:extLst>
          </p:cNvPr>
          <p:cNvSpPr>
            <a:spLocks noGrp="1"/>
          </p:cNvSpPr>
          <p:nvPr/>
        </p:nvSpPr>
        <p:spPr>
          <a:xfrm>
            <a:off x="4154331" y="2231576"/>
            <a:ext cx="2845039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i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</a:t>
            </a: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– </a:t>
            </a:r>
            <a:r>
              <a:rPr sz="1600" b="1" i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AI coworker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 33">
            <a:extLst>
              <a:ext uri="{FF2B5EF4-FFF2-40B4-BE49-F238E27FC236}">
                <a16:creationId xmlns:a16="http://schemas.microsoft.com/office/drawing/2014/main" id="{4F500CA6-8384-27E4-4E97-2A6E3DB8D923}"/>
              </a:ext>
            </a:extLst>
          </p:cNvPr>
          <p:cNvSpPr>
            <a:spLocks noGrp="1"/>
          </p:cNvSpPr>
          <p:nvPr/>
        </p:nvSpPr>
        <p:spPr>
          <a:xfrm>
            <a:off x="4121746" y="2515745"/>
            <a:ext cx="3460255" cy="3470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interfaz conversacional</a:t>
            </a: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· </a:t>
            </a:r>
            <a:r>
              <a:rPr sz="1400">
                <a:solidFill>
                  <a:srgbClr val="6F6888"/>
                </a:solidFill>
                <a:latin typeface="Aptos"/>
                <a:ea typeface="Aptos"/>
                <a:cs typeface="Aptos"/>
              </a:rPr>
              <a:t>v</a:t>
            </a: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istas </a:t>
            </a:r>
            <a:r>
              <a:rPr sz="1400">
                <a:solidFill>
                  <a:srgbClr val="6F6888"/>
                </a:solidFill>
                <a:latin typeface="Aptos"/>
                <a:ea typeface="Aptos"/>
                <a:cs typeface="Aptos"/>
              </a:rPr>
              <a:t>c</a:t>
            </a: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ontextuales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hape 34">
            <a:extLst>
              <a:ext uri="{FF2B5EF4-FFF2-40B4-BE49-F238E27FC236}">
                <a16:creationId xmlns:a16="http://schemas.microsoft.com/office/drawing/2014/main" id="{5C0E2835-67EC-7215-4536-7C7B7CBD4D8C}"/>
              </a:ext>
            </a:extLst>
          </p:cNvPr>
          <p:cNvSpPr>
            <a:spLocks noGrp="1"/>
          </p:cNvSpPr>
          <p:nvPr/>
        </p:nvSpPr>
        <p:spPr>
          <a:xfrm>
            <a:off x="5786953" y="3135612"/>
            <a:ext cx="0" cy="232679"/>
          </a:xfrm>
          <a:prstGeom prst="line">
            <a:avLst/>
          </a:prstGeom>
          <a:ln w="12700">
            <a:solidFill>
              <a:srgbClr val="5F2CCB"/>
            </a:solidFill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>
              <a:buNone/>
            </a:pPr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91411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337A510D-B4CC-47A0-BDA7-947CE9A0487F}"/>
              </a:ext>
            </a:extLst>
          </p:cNvPr>
          <p:cNvSpPr>
            <a:spLocks noGrp="1"/>
          </p:cNvSpPr>
          <p:nvPr/>
        </p:nvSpPr>
        <p:spPr>
          <a:xfrm>
            <a:off x="566928" y="367350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sz="1200" b="1">
                <a:solidFill>
                  <a:srgbClr val="5F2CCB"/>
                </a:solidFill>
              </a:rPr>
              <a:t>CICLO OPERATIVO DE INGRESOS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257CE79-E21D-4006-AF42-F483214CA84E}"/>
              </a:ext>
            </a:extLst>
          </p:cNvPr>
          <p:cNvSpPr>
            <a:spLocks noGrp="1"/>
          </p:cNvSpPr>
          <p:nvPr/>
        </p:nvSpPr>
        <p:spPr>
          <a:xfrm>
            <a:off x="1434491" y="3557379"/>
            <a:ext cx="1938528" cy="1245866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9050" dist="50800" dir="2700000" algn="bl" rotWithShape="0">
              <a:srgbClr val="C6BCD8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C997A46B-D864-4F01-BE32-C29ECB88CA40}"/>
              </a:ext>
            </a:extLst>
          </p:cNvPr>
          <p:cNvSpPr>
            <a:spLocks noGrp="1"/>
          </p:cNvSpPr>
          <p:nvPr/>
        </p:nvSpPr>
        <p:spPr>
          <a:xfrm>
            <a:off x="1580795" y="3718393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INCORPORACIÓN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DE PROPIEDADES</a:t>
            </a:r>
            <a:endParaRPr sz="130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63EAFF9-5622-4019-9703-5B1C36A84FD4}"/>
              </a:ext>
            </a:extLst>
          </p:cNvPr>
          <p:cNvSpPr>
            <a:spLocks noGrp="1"/>
          </p:cNvSpPr>
          <p:nvPr/>
        </p:nvSpPr>
        <p:spPr>
          <a:xfrm>
            <a:off x="1892089" y="4489433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E042C42-25CB-4BAB-A5B6-9E4980F9EB27}"/>
              </a:ext>
            </a:extLst>
          </p:cNvPr>
          <p:cNvSpPr>
            <a:spLocks noGrp="1"/>
          </p:cNvSpPr>
          <p:nvPr/>
        </p:nvSpPr>
        <p:spPr>
          <a:xfrm>
            <a:off x="1910775" y="4492348"/>
            <a:ext cx="10607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5B2DB6"/>
                </a:solidFill>
                <a:latin typeface="Inter"/>
                <a:ea typeface="Inter"/>
                <a:cs typeface="Inter"/>
              </a:rPr>
              <a:t>BETA</a:t>
            </a:r>
            <a:endParaRPr sz="74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AD2A2B18-A447-4A0F-B05E-A3D80D6B03BF}"/>
              </a:ext>
            </a:extLst>
          </p:cNvPr>
          <p:cNvSpPr>
            <a:spLocks noGrp="1"/>
          </p:cNvSpPr>
          <p:nvPr/>
        </p:nvSpPr>
        <p:spPr>
          <a:xfrm>
            <a:off x="3680668" y="2177039"/>
            <a:ext cx="1938528" cy="1165860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9050" dist="50800" dir="2700000" algn="bl" rotWithShape="0">
              <a:srgbClr val="C6BCD8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F132B73-8BE9-40C2-B056-EF57BDBAA034}"/>
              </a:ext>
            </a:extLst>
          </p:cNvPr>
          <p:cNvSpPr>
            <a:spLocks noGrp="1"/>
          </p:cNvSpPr>
          <p:nvPr/>
        </p:nvSpPr>
        <p:spPr>
          <a:xfrm>
            <a:off x="3790396" y="2314856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GENERACIÓN DE DEMANDA</a:t>
            </a:r>
            <a:endParaRPr sz="130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FA62E6A-818E-4626-A98E-78A62FCE165A}"/>
              </a:ext>
            </a:extLst>
          </p:cNvPr>
          <p:cNvSpPr>
            <a:spLocks noGrp="1"/>
          </p:cNvSpPr>
          <p:nvPr/>
        </p:nvSpPr>
        <p:spPr>
          <a:xfrm>
            <a:off x="4092148" y="3029717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FFF2E2"/>
          </a:solidFill>
          <a:ln w="12700">
            <a:solidFill>
              <a:srgbClr val="FFF2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CA545D0-29A6-472B-9A6A-435891FF38CC}"/>
              </a:ext>
            </a:extLst>
          </p:cNvPr>
          <p:cNvSpPr>
            <a:spLocks noGrp="1"/>
          </p:cNvSpPr>
          <p:nvPr/>
        </p:nvSpPr>
        <p:spPr>
          <a:xfrm>
            <a:off x="4083894" y="3038484"/>
            <a:ext cx="1060704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F0A44A"/>
                </a:solidFill>
                <a:latin typeface="Inter"/>
                <a:ea typeface="Inter"/>
                <a:cs typeface="Inter"/>
              </a:rPr>
              <a:t>EXPANSIÓN</a:t>
            </a:r>
            <a:endParaRPr sz="74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3910DF88-7144-4CD9-BBBB-E694240E4AFE}"/>
              </a:ext>
            </a:extLst>
          </p:cNvPr>
          <p:cNvSpPr>
            <a:spLocks noGrp="1"/>
          </p:cNvSpPr>
          <p:nvPr/>
        </p:nvSpPr>
        <p:spPr>
          <a:xfrm>
            <a:off x="7618399" y="5029069"/>
            <a:ext cx="1938528" cy="1112107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9050" dist="50800" dir="2700000" algn="bl" rotWithShape="0">
              <a:srgbClr val="C6BCD8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36A66EB-7DA8-4720-B444-C3D39C41D0A9}"/>
              </a:ext>
            </a:extLst>
          </p:cNvPr>
          <p:cNvSpPr>
            <a:spLocks noGrp="1"/>
          </p:cNvSpPr>
          <p:nvPr/>
        </p:nvSpPr>
        <p:spPr>
          <a:xfrm>
            <a:off x="7728127" y="5068330"/>
            <a:ext cx="1731145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TRANSACCIÓN</a:t>
            </a:r>
            <a:endParaRPr sz="130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E4EE8335-C514-4CFC-9313-12F85F59FCD5}"/>
              </a:ext>
            </a:extLst>
          </p:cNvPr>
          <p:cNvSpPr>
            <a:spLocks noGrp="1"/>
          </p:cNvSpPr>
          <p:nvPr/>
        </p:nvSpPr>
        <p:spPr>
          <a:xfrm>
            <a:off x="7842945" y="5830280"/>
            <a:ext cx="1428265" cy="310896"/>
          </a:xfrm>
          <a:prstGeom prst="roundRect">
            <a:avLst>
              <a:gd name="adj" fmla="val 23529"/>
            </a:avLst>
          </a:prstGeom>
          <a:solidFill>
            <a:srgbClr val="F8EAF1"/>
          </a:solidFill>
          <a:ln w="12700">
            <a:solidFill>
              <a:srgbClr val="F8EAF1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C8752087-A17A-4571-9F28-D94FEE112CA8}"/>
              </a:ext>
            </a:extLst>
          </p:cNvPr>
          <p:cNvSpPr>
            <a:spLocks noGrp="1"/>
          </p:cNvSpPr>
          <p:nvPr/>
        </p:nvSpPr>
        <p:spPr>
          <a:xfrm flipV="1">
            <a:off x="5808510" y="2735480"/>
            <a:ext cx="1611869" cy="0"/>
          </a:xfrm>
          <a:prstGeom prst="line">
            <a:avLst/>
          </a:prstGeom>
          <a:noFill/>
          <a:ln w="38100">
            <a:solidFill>
              <a:srgbClr val="AA9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6F318E57-5943-404D-92A2-7FBB6908FD08}"/>
              </a:ext>
            </a:extLst>
          </p:cNvPr>
          <p:cNvSpPr>
            <a:spLocks noGrp="1"/>
          </p:cNvSpPr>
          <p:nvPr/>
        </p:nvSpPr>
        <p:spPr>
          <a:xfrm>
            <a:off x="5722421" y="3496390"/>
            <a:ext cx="1569720" cy="1520371"/>
          </a:xfrm>
          <a:prstGeom prst="ellipse">
            <a:avLst/>
          </a:prstGeom>
          <a:solidFill>
            <a:srgbClr val="20173A"/>
          </a:solidFill>
          <a:ln w="12700">
            <a:solidFill>
              <a:srgbClr val="20173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A5991DA6-1631-4FC9-ADF4-C2592EE82035}"/>
              </a:ext>
            </a:extLst>
          </p:cNvPr>
          <p:cNvSpPr>
            <a:spLocks noGrp="1"/>
          </p:cNvSpPr>
          <p:nvPr/>
        </p:nvSpPr>
        <p:spPr>
          <a:xfrm>
            <a:off x="6069165" y="3844991"/>
            <a:ext cx="840347" cy="340093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200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Gu OS</a:t>
            </a:r>
            <a:endParaRPr sz="20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6A83169-9906-4AE0-9B5D-F8BF333A3DD9}"/>
              </a:ext>
            </a:extLst>
          </p:cNvPr>
          <p:cNvSpPr>
            <a:spLocks noGrp="1"/>
          </p:cNvSpPr>
          <p:nvPr/>
        </p:nvSpPr>
        <p:spPr>
          <a:xfrm>
            <a:off x="5955282" y="4307578"/>
            <a:ext cx="1164306" cy="26952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400" b="1">
                <a:solidFill>
                  <a:srgbClr val="CFC3E6"/>
                </a:solidFill>
                <a:latin typeface="Inter"/>
                <a:ea typeface="Inter"/>
                <a:cs typeface="Inter"/>
              </a:rPr>
              <a:t>Conecta el ciclo</a:t>
            </a:r>
            <a:endParaRPr sz="1400"/>
          </a:p>
        </p:txBody>
      </p:sp>
      <p:sp>
        <p:nvSpPr>
          <p:cNvPr id="41" name="Slide Number Placeholder 0">
            <a:extLst>
              <a:ext uri="{FF2B5EF4-FFF2-40B4-BE49-F238E27FC236}">
                <a16:creationId xmlns:a16="http://schemas.microsoft.com/office/drawing/2014/main" id="{DBE2ED62-CBAA-4020-9D52-9EF36944981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800" kern="12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388657AE-30A1-5A7A-6A7F-315D84436430}" type="slidenum">
              <a:rPr/>
              <a:t>9</a:t>
            </a:fld>
            <a:endParaRPr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EE3321E3-009C-258A-AB23-9FFBD629F375}"/>
              </a:ext>
            </a:extLst>
          </p:cNvPr>
          <p:cNvSpPr>
            <a:spLocks noGrp="1"/>
          </p:cNvSpPr>
          <p:nvPr/>
        </p:nvSpPr>
        <p:spPr>
          <a:xfrm>
            <a:off x="8504939" y="3394405"/>
            <a:ext cx="0" cy="1577867"/>
          </a:xfrm>
          <a:prstGeom prst="line">
            <a:avLst/>
          </a:prstGeom>
          <a:noFill/>
          <a:ln w="38100">
            <a:solidFill>
              <a:srgbClr val="AA9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8" name="Shape 28">
            <a:extLst>
              <a:ext uri="{FF2B5EF4-FFF2-40B4-BE49-F238E27FC236}">
                <a16:creationId xmlns:a16="http://schemas.microsoft.com/office/drawing/2014/main" id="{009BD626-08AE-8180-2623-E2BED211F495}"/>
              </a:ext>
            </a:extLst>
          </p:cNvPr>
          <p:cNvSpPr>
            <a:spLocks noGrp="1"/>
          </p:cNvSpPr>
          <p:nvPr/>
        </p:nvSpPr>
        <p:spPr>
          <a:xfrm flipH="1">
            <a:off x="5766811" y="5545990"/>
            <a:ext cx="1697958" cy="2572"/>
          </a:xfrm>
          <a:prstGeom prst="line">
            <a:avLst/>
          </a:prstGeom>
          <a:noFill/>
          <a:ln w="38100">
            <a:solidFill>
              <a:srgbClr val="AA9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0" name="Shape 28">
            <a:extLst>
              <a:ext uri="{FF2B5EF4-FFF2-40B4-BE49-F238E27FC236}">
                <a16:creationId xmlns:a16="http://schemas.microsoft.com/office/drawing/2014/main" id="{3A6F5702-2FC4-C4D1-BEDF-AC029F5EFC48}"/>
              </a:ext>
            </a:extLst>
          </p:cNvPr>
          <p:cNvSpPr>
            <a:spLocks noGrp="1"/>
          </p:cNvSpPr>
          <p:nvPr/>
        </p:nvSpPr>
        <p:spPr>
          <a:xfrm flipH="1" flipV="1">
            <a:off x="4640089" y="3388353"/>
            <a:ext cx="0" cy="1583919"/>
          </a:xfrm>
          <a:prstGeom prst="line">
            <a:avLst/>
          </a:prstGeom>
          <a:noFill/>
          <a:ln w="38100">
            <a:solidFill>
              <a:srgbClr val="AA9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2" name="Shape 28">
            <a:extLst>
              <a:ext uri="{FF2B5EF4-FFF2-40B4-BE49-F238E27FC236}">
                <a16:creationId xmlns:a16="http://schemas.microsoft.com/office/drawing/2014/main" id="{8FCB2E45-89E0-E111-9CDA-A5CE51078BF8}"/>
              </a:ext>
            </a:extLst>
          </p:cNvPr>
          <p:cNvSpPr>
            <a:spLocks noGrp="1"/>
          </p:cNvSpPr>
          <p:nvPr/>
        </p:nvSpPr>
        <p:spPr>
          <a:xfrm flipH="1" flipV="1">
            <a:off x="2903382" y="5016761"/>
            <a:ext cx="610090" cy="483302"/>
          </a:xfrm>
          <a:prstGeom prst="line">
            <a:avLst/>
          </a:prstGeom>
          <a:noFill/>
          <a:ln w="38100">
            <a:solidFill>
              <a:srgbClr val="AA9ACA"/>
            </a:solidFill>
            <a:prstDash val="sysDot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0" name="Shape 28">
            <a:extLst>
              <a:ext uri="{FF2B5EF4-FFF2-40B4-BE49-F238E27FC236}">
                <a16:creationId xmlns:a16="http://schemas.microsoft.com/office/drawing/2014/main" id="{2D1E150D-68E0-7E4F-D719-F3276DB29183}"/>
              </a:ext>
            </a:extLst>
          </p:cNvPr>
          <p:cNvSpPr>
            <a:spLocks noGrp="1"/>
          </p:cNvSpPr>
          <p:nvPr/>
        </p:nvSpPr>
        <p:spPr>
          <a:xfrm flipV="1">
            <a:off x="2881264" y="2856573"/>
            <a:ext cx="610090" cy="492806"/>
          </a:xfrm>
          <a:prstGeom prst="line">
            <a:avLst/>
          </a:prstGeom>
          <a:noFill/>
          <a:ln w="38100">
            <a:solidFill>
              <a:srgbClr val="AA9AC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Text 2">
            <a:extLst>
              <a:ext uri="{FF2B5EF4-FFF2-40B4-BE49-F238E27FC236}">
                <a16:creationId xmlns:a16="http://schemas.microsoft.com/office/drawing/2014/main" id="{0EBF842F-4613-BAEF-11F3-17271B9E16DD}"/>
              </a:ext>
            </a:extLst>
          </p:cNvPr>
          <p:cNvSpPr>
            <a:spLocks noGrp="1"/>
          </p:cNvSpPr>
          <p:nvPr/>
        </p:nvSpPr>
        <p:spPr>
          <a:xfrm>
            <a:off x="567000" y="655515"/>
            <a:ext cx="10195200" cy="621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55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expansión debe conectar el ciclo que genera ingresos.</a:t>
            </a:r>
            <a:endParaRPr sz="25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F8FB3A5F-B85F-7166-2FCE-EFCEB6CE1730}"/>
              </a:ext>
            </a:extLst>
          </p:cNvPr>
          <p:cNvSpPr>
            <a:spLocks noGrp="1"/>
          </p:cNvSpPr>
          <p:nvPr/>
        </p:nvSpPr>
        <p:spPr>
          <a:xfrm>
            <a:off x="567000" y="1339981"/>
            <a:ext cx="10375983" cy="6218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objetivo no es sumar funcionalidades aisladas, sino conectar el trabajo que genera ingresos para nuestros clientes.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Shape 12">
            <a:extLst>
              <a:ext uri="{FF2B5EF4-FFF2-40B4-BE49-F238E27FC236}">
                <a16:creationId xmlns:a16="http://schemas.microsoft.com/office/drawing/2014/main" id="{364C49E3-8EAF-9E21-0761-89D83F6C3397}"/>
              </a:ext>
            </a:extLst>
          </p:cNvPr>
          <p:cNvSpPr>
            <a:spLocks noGrp="1"/>
          </p:cNvSpPr>
          <p:nvPr/>
        </p:nvSpPr>
        <p:spPr>
          <a:xfrm>
            <a:off x="7593727" y="2154549"/>
            <a:ext cx="1938528" cy="1165860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9050" dist="50800" dir="2700000" algn="bl" rotWithShape="0">
              <a:srgbClr val="C6BCD8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9119A528-7EEC-4096-F322-A887F9B99978}"/>
              </a:ext>
            </a:extLst>
          </p:cNvPr>
          <p:cNvSpPr>
            <a:spLocks noGrp="1"/>
          </p:cNvSpPr>
          <p:nvPr/>
        </p:nvSpPr>
        <p:spPr>
          <a:xfrm>
            <a:off x="7703455" y="2227049"/>
            <a:ext cx="1719072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CONVERSIÓN</a:t>
            </a:r>
            <a:endParaRPr sz="1300"/>
          </a:p>
        </p:txBody>
      </p:sp>
      <p:sp>
        <p:nvSpPr>
          <p:cNvPr id="44" name="Shape 15">
            <a:extLst>
              <a:ext uri="{FF2B5EF4-FFF2-40B4-BE49-F238E27FC236}">
                <a16:creationId xmlns:a16="http://schemas.microsoft.com/office/drawing/2014/main" id="{413AF5FD-EF8D-DDD4-B58E-F426E1B006A5}"/>
              </a:ext>
            </a:extLst>
          </p:cNvPr>
          <p:cNvSpPr>
            <a:spLocks noGrp="1"/>
          </p:cNvSpPr>
          <p:nvPr/>
        </p:nvSpPr>
        <p:spPr>
          <a:xfrm>
            <a:off x="8005207" y="2997025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E8F6EF"/>
          </a:solidFill>
          <a:ln w="12700">
            <a:solidFill>
              <a:srgbClr val="E8F6EF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7ED398E4-E362-C83F-299C-F367C4F4BD13}"/>
              </a:ext>
            </a:extLst>
          </p:cNvPr>
          <p:cNvSpPr>
            <a:spLocks noGrp="1"/>
          </p:cNvSpPr>
          <p:nvPr/>
        </p:nvSpPr>
        <p:spPr>
          <a:xfrm>
            <a:off x="8166128" y="3012684"/>
            <a:ext cx="774695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18845A"/>
                </a:solidFill>
                <a:latin typeface="Inter"/>
                <a:ea typeface="Inter"/>
                <a:cs typeface="Inter"/>
              </a:rPr>
              <a:t>ACTUAL</a:t>
            </a:r>
            <a:endParaRPr sz="74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8F4EEF7-0125-F5C9-B007-D7B9DA24E4BE}"/>
              </a:ext>
            </a:extLst>
          </p:cNvPr>
          <p:cNvSpPr>
            <a:spLocks noGrp="1"/>
          </p:cNvSpPr>
          <p:nvPr/>
        </p:nvSpPr>
        <p:spPr>
          <a:xfrm>
            <a:off x="1447616" y="4084182"/>
            <a:ext cx="193852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Obtener · capturar · validar · </a:t>
            </a:r>
          </a:p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fijar precio · preparar · publicar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F7277C7B-8CB7-412B-A295-C4BF21A64438}"/>
              </a:ext>
            </a:extLst>
          </p:cNvPr>
          <p:cNvSpPr>
            <a:spLocks noGrp="1"/>
          </p:cNvSpPr>
          <p:nvPr/>
        </p:nvSpPr>
        <p:spPr>
          <a:xfrm>
            <a:off x="7775372" y="5396667"/>
            <a:ext cx="1641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Visitar · establecer relación · negociar · cerrar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A312172D-31B2-812E-D199-FD17D5729EE7}"/>
              </a:ext>
            </a:extLst>
          </p:cNvPr>
          <p:cNvSpPr>
            <a:spLocks noGrp="1"/>
          </p:cNvSpPr>
          <p:nvPr/>
        </p:nvSpPr>
        <p:spPr>
          <a:xfrm>
            <a:off x="3664702" y="2757192"/>
            <a:ext cx="19702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Generar oportunidades calificadas</a:t>
            </a: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E058FB5E-E4F9-47A4-AB83-F324CDA61AE9}"/>
              </a:ext>
            </a:extLst>
          </p:cNvPr>
          <p:cNvSpPr>
            <a:spLocks noGrp="1"/>
          </p:cNvSpPr>
          <p:nvPr/>
        </p:nvSpPr>
        <p:spPr>
          <a:xfrm>
            <a:off x="3725058" y="5024880"/>
            <a:ext cx="1918950" cy="1107636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chemeClr val="bg1">
                <a:lumMod val="75000"/>
              </a:schemeClr>
            </a:solidFill>
            <a:prstDash val="solid"/>
          </a:ln>
          <a:effectLst>
            <a:outerShdw blurRad="19050" dist="50800" dir="2700000" algn="bl" rotWithShape="0">
              <a:srgbClr val="C6BCD8">
                <a:alpha val="16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F6CB5E14-86FC-45E1-A42A-AE75BE3DBABC}"/>
              </a:ext>
            </a:extLst>
          </p:cNvPr>
          <p:cNvSpPr>
            <a:spLocks noGrp="1"/>
          </p:cNvSpPr>
          <p:nvPr/>
        </p:nvSpPr>
        <p:spPr>
          <a:xfrm>
            <a:off x="3899930" y="5527179"/>
            <a:ext cx="1617689" cy="278085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000">
                <a:solidFill>
                  <a:srgbClr val="6F6882"/>
                </a:solidFill>
                <a:latin typeface="Inter"/>
                <a:ea typeface="Inter"/>
                <a:cs typeface="Inter"/>
              </a:rPr>
              <a:t>¿Qué pasó realmente?</a:t>
            </a:r>
            <a:endParaRPr sz="1000"/>
          </a:p>
        </p:txBody>
      </p:sp>
      <p:sp>
        <p:nvSpPr>
          <p:cNvPr id="66" name="Shape 10">
            <a:extLst>
              <a:ext uri="{FF2B5EF4-FFF2-40B4-BE49-F238E27FC236}">
                <a16:creationId xmlns:a16="http://schemas.microsoft.com/office/drawing/2014/main" id="{A448588A-60CC-2EE2-1B34-CE0D49E41CF8}"/>
              </a:ext>
            </a:extLst>
          </p:cNvPr>
          <p:cNvSpPr>
            <a:spLocks noGrp="1"/>
          </p:cNvSpPr>
          <p:nvPr/>
        </p:nvSpPr>
        <p:spPr>
          <a:xfrm>
            <a:off x="4175251" y="5821890"/>
            <a:ext cx="1060704" cy="310896"/>
          </a:xfrm>
          <a:prstGeom prst="roundRect">
            <a:avLst>
              <a:gd name="adj" fmla="val 23529"/>
            </a:avLst>
          </a:prstGeom>
          <a:solidFill>
            <a:srgbClr val="FFF2E2"/>
          </a:solidFill>
          <a:ln w="12700">
            <a:solidFill>
              <a:srgbClr val="FFF2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5751764B-0695-0E19-1A01-D36F97FAC282}"/>
              </a:ext>
            </a:extLst>
          </p:cNvPr>
          <p:cNvSpPr>
            <a:spLocks noGrp="1"/>
          </p:cNvSpPr>
          <p:nvPr/>
        </p:nvSpPr>
        <p:spPr>
          <a:xfrm>
            <a:off x="4298359" y="5830280"/>
            <a:ext cx="8260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F0A44A"/>
                </a:solidFill>
                <a:latin typeface="Inter"/>
                <a:ea typeface="Inter"/>
                <a:cs typeface="Inter"/>
              </a:rPr>
              <a:t>EXPANSIÓN</a:t>
            </a:r>
            <a:endParaRPr sz="740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02AE9563-D270-29D1-1161-BC6580406356}"/>
              </a:ext>
            </a:extLst>
          </p:cNvPr>
          <p:cNvSpPr>
            <a:spLocks noGrp="1"/>
          </p:cNvSpPr>
          <p:nvPr/>
        </p:nvSpPr>
        <p:spPr>
          <a:xfrm>
            <a:off x="3725058" y="5161942"/>
            <a:ext cx="1888123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FEEDBACK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18152B"/>
                </a:solidFill>
                <a:latin typeface="Inter Display"/>
                <a:ea typeface="Inter Display"/>
                <a:cs typeface="Inter Display"/>
              </a:rPr>
              <a:t>DE RESULTADOS</a:t>
            </a:r>
            <a:endParaRPr sz="130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ABBE7175-7A93-7272-79AD-ECFABDA379C7}"/>
              </a:ext>
            </a:extLst>
          </p:cNvPr>
          <p:cNvSpPr>
            <a:spLocks noGrp="1"/>
          </p:cNvSpPr>
          <p:nvPr/>
        </p:nvSpPr>
        <p:spPr>
          <a:xfrm>
            <a:off x="7638277" y="2555704"/>
            <a:ext cx="1840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Comprender · hacer </a:t>
            </a:r>
            <a:r>
              <a:rPr sz="1000" i="1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matching</a:t>
            </a: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 · </a:t>
            </a:r>
          </a:p>
          <a:p>
            <a:pPr algn="ctr">
              <a:buNone/>
            </a:pPr>
            <a:r>
              <a:rPr sz="100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  <a:ea typeface="Inter"/>
                <a:cs typeface="Inter"/>
              </a:rPr>
              <a:t>avanzar (basado en reglas)</a:t>
            </a:r>
          </a:p>
        </p:txBody>
      </p:sp>
      <p:sp>
        <p:nvSpPr>
          <p:cNvPr id="59" name="Text 16">
            <a:extLst>
              <a:ext uri="{FF2B5EF4-FFF2-40B4-BE49-F238E27FC236}">
                <a16:creationId xmlns:a16="http://schemas.microsoft.com/office/drawing/2014/main" id="{44974494-63E2-5A8A-EA0C-7ECE851002AA}"/>
              </a:ext>
            </a:extLst>
          </p:cNvPr>
          <p:cNvSpPr>
            <a:spLocks noGrp="1"/>
          </p:cNvSpPr>
          <p:nvPr/>
        </p:nvSpPr>
        <p:spPr>
          <a:xfrm>
            <a:off x="7921487" y="5821890"/>
            <a:ext cx="1349723" cy="33603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9A4D78"/>
                </a:solidFill>
                <a:latin typeface="Inter"/>
                <a:ea typeface="Inter"/>
                <a:cs typeface="Inter"/>
              </a:rPr>
              <a:t>LIDERADA POR HUMANO /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9A4D78"/>
                </a:solidFill>
                <a:latin typeface="Inter"/>
                <a:ea typeface="Inter"/>
                <a:cs typeface="Inter"/>
              </a:rPr>
              <a:t>ASISTIDA POR GU</a:t>
            </a:r>
          </a:p>
        </p:txBody>
      </p:sp>
    </p:spTree>
    <p:extLst>
      <p:ext uri="{BB962C8B-B14F-4D97-AF65-F5344CB8AC3E}">
        <p14:creationId xmlns:p14="http://schemas.microsoft.com/office/powerpoint/2010/main" val="56960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ECC94A-1D14-4F0B-B6F3-E98889E759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6034D3"/>
          </a:solidFill>
          <a:ln w="12700">
            <a:solidFill>
              <a:srgbClr val="6034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25D25C5-728B-4382-84BD-A919E4F5DDB2}"/>
              </a:ext>
            </a:extLst>
          </p:cNvPr>
          <p:cNvSpPr>
            <a:spLocks noGrp="1"/>
          </p:cNvSpPr>
          <p:nvPr/>
        </p:nvSpPr>
        <p:spPr>
          <a:xfrm>
            <a:off x="91440" y="6565392"/>
            <a:ext cx="914400" cy="1188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sz="720">
                <a:solidFill>
                  <a:srgbClr val="746F93"/>
                </a:solidFill>
                <a:latin typeface="Aptos"/>
                <a:ea typeface="Aptos"/>
                <a:cs typeface="Aptos"/>
              </a:rPr>
              <a:t>CONFIDENTIAL</a:t>
            </a:r>
            <a:endParaRPr sz="72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5523CB0-4650-4BB4-BAFF-62625F34B855}"/>
              </a:ext>
            </a:extLst>
          </p:cNvPr>
          <p:cNvSpPr>
            <a:spLocks noGrp="1"/>
          </p:cNvSpPr>
          <p:nvPr/>
        </p:nvSpPr>
        <p:spPr>
          <a:xfrm>
            <a:off x="10817352" y="6565392"/>
            <a:ext cx="777240" cy="1188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20">
                <a:solidFill>
                  <a:srgbClr val="746F93"/>
                </a:solidFill>
                <a:latin typeface="Aptos"/>
                <a:ea typeface="Aptos"/>
                <a:cs typeface="Aptos"/>
              </a:rPr>
              <a:t>ungga.com</a:t>
            </a:r>
            <a:endParaRPr sz="72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E8C51CD-C56D-42C1-999F-8FC517A461E9}"/>
              </a:ext>
            </a:extLst>
          </p:cNvPr>
          <p:cNvSpPr>
            <a:spLocks noGrp="1"/>
          </p:cNvSpPr>
          <p:nvPr/>
        </p:nvSpPr>
        <p:spPr>
          <a:xfrm>
            <a:off x="11777472" y="6565392"/>
            <a:ext cx="164592" cy="11887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buNone/>
            </a:pPr>
            <a:r>
              <a:rPr sz="720">
                <a:solidFill>
                  <a:srgbClr val="746F93"/>
                </a:solidFill>
                <a:latin typeface="Aptos"/>
                <a:ea typeface="Aptos"/>
                <a:cs typeface="Aptos"/>
              </a:rPr>
              <a:t>10</a:t>
            </a:r>
            <a:endParaRPr sz="72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5442282-4238-4055-AF5C-2A921270046C}"/>
              </a:ext>
            </a:extLst>
          </p:cNvPr>
          <p:cNvSpPr>
            <a:spLocks noGrp="1"/>
          </p:cNvSpPr>
          <p:nvPr/>
        </p:nvSpPr>
        <p:spPr>
          <a:xfrm>
            <a:off x="566928" y="292608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sz="1200" b="1">
                <a:solidFill>
                  <a:srgbClr val="6034D3"/>
                </a:solidFill>
                <a:latin typeface="Aptos"/>
                <a:ea typeface="Aptos"/>
                <a:cs typeface="Aptos"/>
              </a:rPr>
              <a:t>MAPEO: DOMINIOS → CICLO OPERATIVO </a:t>
            </a:r>
            <a:endParaRPr sz="120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739AB894-53F9-4F2E-8976-DAA7E2FA8C7E}"/>
              </a:ext>
            </a:extLst>
          </p:cNvPr>
          <p:cNvSpPr>
            <a:spLocks noGrp="1"/>
          </p:cNvSpPr>
          <p:nvPr/>
        </p:nvSpPr>
        <p:spPr>
          <a:xfrm>
            <a:off x="566928" y="786384"/>
            <a:ext cx="99669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2550" b="1">
                <a:solidFill>
                  <a:srgbClr val="15132B"/>
                </a:solidFill>
                <a:latin typeface="Aptos Display"/>
                <a:ea typeface="Aptos Display"/>
                <a:cs typeface="Aptos Display"/>
              </a:rPr>
              <a:t>Las etapas del negocio no son lo mismo que los dominios operativos.</a:t>
            </a:r>
            <a:endParaRPr sz="255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C87AEB5-411A-48F5-9478-FCA6228C4D13}"/>
              </a:ext>
            </a:extLst>
          </p:cNvPr>
          <p:cNvSpPr>
            <a:spLocks noGrp="1"/>
          </p:cNvSpPr>
          <p:nvPr/>
        </p:nvSpPr>
        <p:spPr>
          <a:xfrm>
            <a:off x="566928" y="1325879"/>
            <a:ext cx="10338495" cy="59099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>
                <a:solidFill>
                  <a:srgbClr val="746F93"/>
                </a:solidFill>
                <a:latin typeface="Aptos"/>
                <a:ea typeface="Aptos"/>
                <a:cs typeface="Aptos"/>
              </a:rPr>
              <a:t>Las etapas describen dónde ocurre el valor. Los dominios describen de qué trabajo puede hacerse responsable Gu OS. </a:t>
            </a:r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FDE6602-5DC2-4CC4-B731-79F4451BC91D}"/>
              </a:ext>
            </a:extLst>
          </p:cNvPr>
          <p:cNvSpPr>
            <a:spLocks noGrp="1"/>
          </p:cNvSpPr>
          <p:nvPr/>
        </p:nvSpPr>
        <p:spPr>
          <a:xfrm>
            <a:off x="911088" y="2162965"/>
            <a:ext cx="9982199" cy="804672"/>
          </a:xfrm>
          <a:prstGeom prst="roundRect">
            <a:avLst>
              <a:gd name="adj" fmla="val 9091"/>
            </a:avLst>
          </a:prstGeom>
          <a:solidFill>
            <a:srgbClr val="21174D"/>
          </a:solidFill>
          <a:ln w="12700">
            <a:solidFill>
              <a:srgbClr val="21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15B3D730-B12F-4174-81EE-2AE72C98AF8E}"/>
              </a:ext>
            </a:extLst>
          </p:cNvPr>
          <p:cNvSpPr>
            <a:spLocks noGrp="1"/>
          </p:cNvSpPr>
          <p:nvPr/>
        </p:nvSpPr>
        <p:spPr>
          <a:xfrm>
            <a:off x="789168" y="2300125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Núcleo operativo común de Gu OS</a:t>
            </a:r>
            <a:endParaRPr sz="180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B2704434-624D-4554-AED0-EA553A39477A}"/>
              </a:ext>
            </a:extLst>
          </p:cNvPr>
          <p:cNvSpPr>
            <a:spLocks noGrp="1"/>
          </p:cNvSpPr>
          <p:nvPr/>
        </p:nvSpPr>
        <p:spPr>
          <a:xfrm>
            <a:off x="926328" y="2620165"/>
            <a:ext cx="101955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Casos · eventos · trabajo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scheduler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 · gobernanza · evidencia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HITL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Skills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/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tools</a:t>
            </a:r>
            <a:endParaRPr sz="1120" i="1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45B10DB-30ED-4AF9-B230-7A8101785B70}"/>
              </a:ext>
            </a:extLst>
          </p:cNvPr>
          <p:cNvSpPr>
            <a:spLocks noGrp="1"/>
          </p:cNvSpPr>
          <p:nvPr/>
        </p:nvSpPr>
        <p:spPr>
          <a:xfrm>
            <a:off x="2455877" y="2977262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E76715F0-CA94-4742-BD54-224829502AEE}"/>
              </a:ext>
            </a:extLst>
          </p:cNvPr>
          <p:cNvSpPr>
            <a:spLocks noGrp="1"/>
          </p:cNvSpPr>
          <p:nvPr/>
        </p:nvSpPr>
        <p:spPr>
          <a:xfrm>
            <a:off x="1381457" y="3324253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56607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E30E725-7C5C-41C8-918A-1AD2EF346249}"/>
              </a:ext>
            </a:extLst>
          </p:cNvPr>
          <p:cNvSpPr>
            <a:spLocks noGrp="1"/>
          </p:cNvSpPr>
          <p:nvPr/>
        </p:nvSpPr>
        <p:spPr>
          <a:xfrm>
            <a:off x="1491185" y="3443125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Propiedades</a:t>
            </a:r>
            <a:endParaRPr sz="14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95BA24C5-409F-40D0-9EB0-11F9FB1A039C}"/>
              </a:ext>
            </a:extLst>
          </p:cNvPr>
          <p:cNvSpPr>
            <a:spLocks noGrp="1"/>
          </p:cNvSpPr>
          <p:nvPr/>
        </p:nvSpPr>
        <p:spPr>
          <a:xfrm>
            <a:off x="1491185" y="3798790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i="1">
                <a:solidFill>
                  <a:srgbClr val="746F93"/>
                </a:solidFill>
                <a:latin typeface="Aptos"/>
                <a:ea typeface="Aptos"/>
                <a:cs typeface="Aptos"/>
              </a:rPr>
              <a:t>onboarding</a:t>
            </a: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 · publicación · corrección</a:t>
            </a:r>
            <a:endParaRPr sz="100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0175455-99EF-4ED5-8E92-AEC016899AA6}"/>
              </a:ext>
            </a:extLst>
          </p:cNvPr>
          <p:cNvSpPr>
            <a:spLocks noGrp="1"/>
          </p:cNvSpPr>
          <p:nvPr/>
        </p:nvSpPr>
        <p:spPr>
          <a:xfrm>
            <a:off x="2455877" y="4238653"/>
            <a:ext cx="0" cy="155448"/>
          </a:xfrm>
          <a:prstGeom prst="line">
            <a:avLst/>
          </a:prstGeom>
          <a:noFill/>
          <a:ln w="15240">
            <a:solidFill>
              <a:srgbClr val="56607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100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37FE759-192E-45D5-936E-84A6D555D982}"/>
              </a:ext>
            </a:extLst>
          </p:cNvPr>
          <p:cNvSpPr>
            <a:spLocks noGrp="1"/>
          </p:cNvSpPr>
          <p:nvPr/>
        </p:nvSpPr>
        <p:spPr>
          <a:xfrm>
            <a:off x="1454609" y="4448965"/>
            <a:ext cx="2002536" cy="502920"/>
          </a:xfrm>
          <a:prstGeom prst="roundRect">
            <a:avLst>
              <a:gd name="adj" fmla="val 14545"/>
            </a:avLst>
          </a:prstGeom>
          <a:solidFill>
            <a:srgbClr val="EEF1F6"/>
          </a:solidFill>
          <a:ln w="16510">
            <a:solidFill>
              <a:srgbClr val="56607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B8F11F0-21D8-465E-9DD4-45049428C586}"/>
              </a:ext>
            </a:extLst>
          </p:cNvPr>
          <p:cNvSpPr>
            <a:spLocks noGrp="1"/>
          </p:cNvSpPr>
          <p:nvPr/>
        </p:nvSpPr>
        <p:spPr>
          <a:xfrm>
            <a:off x="1564337" y="4567837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sz="1030" b="1">
                <a:solidFill>
                  <a:srgbClr val="56607F"/>
                </a:solidFill>
                <a:latin typeface="Aptos"/>
                <a:ea typeface="Aptos"/>
                <a:cs typeface="Aptos"/>
              </a:rPr>
              <a:t>INCORPORACIÓN</a:t>
            </a:r>
            <a:endParaRPr sz="1030"/>
          </a:p>
          <a:p>
            <a:pPr marL="0" indent="0" algn="ctr">
              <a:buNone/>
            </a:pPr>
            <a:r>
              <a:rPr sz="1030" b="1">
                <a:solidFill>
                  <a:srgbClr val="56607F"/>
                </a:solidFill>
                <a:latin typeface="Aptos"/>
                <a:ea typeface="Aptos"/>
                <a:cs typeface="Aptos"/>
              </a:rPr>
              <a:t>DE PROPIEDADES</a:t>
            </a:r>
            <a:endParaRPr sz="103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6614107-19CB-456A-971D-AFF6D7896C80}"/>
              </a:ext>
            </a:extLst>
          </p:cNvPr>
          <p:cNvSpPr>
            <a:spLocks noGrp="1"/>
          </p:cNvSpPr>
          <p:nvPr/>
        </p:nvSpPr>
        <p:spPr>
          <a:xfrm>
            <a:off x="4760165" y="2977262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F97E3C31-8753-4FD0-BA6D-A52241DE2F34}"/>
              </a:ext>
            </a:extLst>
          </p:cNvPr>
          <p:cNvSpPr>
            <a:spLocks noGrp="1"/>
          </p:cNvSpPr>
          <p:nvPr/>
        </p:nvSpPr>
        <p:spPr>
          <a:xfrm>
            <a:off x="3685745" y="3324253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F39A2C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F6BDBC08-EE3F-46D7-B05C-F161F2F73CE2}"/>
              </a:ext>
            </a:extLst>
          </p:cNvPr>
          <p:cNvSpPr>
            <a:spLocks noGrp="1"/>
          </p:cNvSpPr>
          <p:nvPr/>
        </p:nvSpPr>
        <p:spPr>
          <a:xfrm>
            <a:off x="3795473" y="3443125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Demanda</a:t>
            </a:r>
            <a:endParaRPr sz="14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B117329-FD20-4858-9336-0AA3328756A9}"/>
              </a:ext>
            </a:extLst>
          </p:cNvPr>
          <p:cNvSpPr>
            <a:spLocks noGrp="1"/>
          </p:cNvSpPr>
          <p:nvPr/>
        </p:nvSpPr>
        <p:spPr>
          <a:xfrm>
            <a:off x="3795473" y="3798790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campañas · atribución · optimización</a:t>
            </a:r>
            <a:endParaRPr sz="100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728F0EA7-1527-41AE-8C31-C96C5DA2A158}"/>
              </a:ext>
            </a:extLst>
          </p:cNvPr>
          <p:cNvSpPr>
            <a:spLocks noGrp="1"/>
          </p:cNvSpPr>
          <p:nvPr/>
        </p:nvSpPr>
        <p:spPr>
          <a:xfrm>
            <a:off x="4760165" y="4238653"/>
            <a:ext cx="0" cy="155448"/>
          </a:xfrm>
          <a:prstGeom prst="line">
            <a:avLst/>
          </a:prstGeom>
          <a:noFill/>
          <a:ln w="15240">
            <a:solidFill>
              <a:srgbClr val="F39A2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1000"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9385CD95-93C1-4FF1-9A41-389BD0B4F083}"/>
              </a:ext>
            </a:extLst>
          </p:cNvPr>
          <p:cNvSpPr>
            <a:spLocks noGrp="1"/>
          </p:cNvSpPr>
          <p:nvPr/>
        </p:nvSpPr>
        <p:spPr>
          <a:xfrm>
            <a:off x="3758897" y="4448965"/>
            <a:ext cx="2002536" cy="502920"/>
          </a:xfrm>
          <a:prstGeom prst="roundRect">
            <a:avLst>
              <a:gd name="adj" fmla="val 14545"/>
            </a:avLst>
          </a:prstGeom>
          <a:solidFill>
            <a:srgbClr val="FFF2DF"/>
          </a:solidFill>
          <a:ln w="16510">
            <a:solidFill>
              <a:srgbClr val="F39A2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5A63327-4DD2-4B05-BB29-77CA84D3CF86}"/>
              </a:ext>
            </a:extLst>
          </p:cNvPr>
          <p:cNvSpPr>
            <a:spLocks noGrp="1"/>
          </p:cNvSpPr>
          <p:nvPr/>
        </p:nvSpPr>
        <p:spPr>
          <a:xfrm>
            <a:off x="3868625" y="4567837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sz="1030" b="1">
                <a:solidFill>
                  <a:srgbClr val="F39A2C"/>
                </a:solidFill>
                <a:latin typeface="Aptos"/>
                <a:ea typeface="Aptos"/>
                <a:cs typeface="Aptos"/>
              </a:rPr>
              <a:t>GENERACIÓN</a:t>
            </a:r>
            <a:endParaRPr sz="1030"/>
          </a:p>
          <a:p>
            <a:pPr marL="0" indent="0" algn="ctr">
              <a:buNone/>
            </a:pPr>
            <a:r>
              <a:rPr sz="1030" b="1">
                <a:solidFill>
                  <a:srgbClr val="F39A2C"/>
                </a:solidFill>
                <a:latin typeface="Aptos"/>
                <a:ea typeface="Aptos"/>
                <a:cs typeface="Aptos"/>
              </a:rPr>
              <a:t>DE DEMANDA</a:t>
            </a:r>
            <a:endParaRPr sz="1030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967F11B6-94AC-4F99-8F71-6B738D2D97C1}"/>
              </a:ext>
            </a:extLst>
          </p:cNvPr>
          <p:cNvSpPr>
            <a:spLocks noGrp="1"/>
          </p:cNvSpPr>
          <p:nvPr/>
        </p:nvSpPr>
        <p:spPr>
          <a:xfrm>
            <a:off x="7064453" y="2977262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CD300B9A-E8C1-4DCD-8C9B-4A74A69D9748}"/>
              </a:ext>
            </a:extLst>
          </p:cNvPr>
          <p:cNvSpPr>
            <a:spLocks noGrp="1"/>
          </p:cNvSpPr>
          <p:nvPr/>
        </p:nvSpPr>
        <p:spPr>
          <a:xfrm>
            <a:off x="5990033" y="3324253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6034D3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CF995ED-D47E-4A01-8C29-7487E2CDC2CE}"/>
              </a:ext>
            </a:extLst>
          </p:cNvPr>
          <p:cNvSpPr>
            <a:spLocks noGrp="1"/>
          </p:cNvSpPr>
          <p:nvPr/>
        </p:nvSpPr>
        <p:spPr>
          <a:xfrm>
            <a:off x="6099761" y="3443125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Relaciones</a:t>
            </a:r>
            <a:endParaRPr sz="140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C4FC1090-37F0-4E1D-8EDE-0C5880B2D77A}"/>
              </a:ext>
            </a:extLst>
          </p:cNvPr>
          <p:cNvSpPr>
            <a:spLocks noGrp="1"/>
          </p:cNvSpPr>
          <p:nvPr/>
        </p:nvSpPr>
        <p:spPr>
          <a:xfrm>
            <a:off x="6099761" y="3798790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leads · oportunidades · visitas · seguimiento</a:t>
            </a:r>
            <a:endParaRPr sz="1000"/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6DFD2E23-735F-4430-B041-6BF2FB7391A9}"/>
              </a:ext>
            </a:extLst>
          </p:cNvPr>
          <p:cNvSpPr>
            <a:spLocks noGrp="1"/>
          </p:cNvSpPr>
          <p:nvPr/>
        </p:nvSpPr>
        <p:spPr>
          <a:xfrm>
            <a:off x="7064453" y="4238653"/>
            <a:ext cx="0" cy="155448"/>
          </a:xfrm>
          <a:prstGeom prst="line">
            <a:avLst/>
          </a:prstGeom>
          <a:noFill/>
          <a:ln w="15240">
            <a:solidFill>
              <a:srgbClr val="6034D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1000"/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61CA5CD5-DC3B-4888-A5B7-640B88F1F743}"/>
              </a:ext>
            </a:extLst>
          </p:cNvPr>
          <p:cNvSpPr>
            <a:spLocks noGrp="1"/>
          </p:cNvSpPr>
          <p:nvPr/>
        </p:nvSpPr>
        <p:spPr>
          <a:xfrm>
            <a:off x="6063185" y="4448965"/>
            <a:ext cx="2002536" cy="502920"/>
          </a:xfrm>
          <a:prstGeom prst="roundRect">
            <a:avLst>
              <a:gd name="adj" fmla="val 14545"/>
            </a:avLst>
          </a:prstGeom>
          <a:solidFill>
            <a:srgbClr val="F0E9FF"/>
          </a:solidFill>
          <a:ln w="16510">
            <a:solidFill>
              <a:srgbClr val="6034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313E39DB-6A4A-412D-BE05-92AAF3D206F9}"/>
              </a:ext>
            </a:extLst>
          </p:cNvPr>
          <p:cNvSpPr>
            <a:spLocks noGrp="1"/>
          </p:cNvSpPr>
          <p:nvPr/>
        </p:nvSpPr>
        <p:spPr>
          <a:xfrm>
            <a:off x="6172913" y="4567837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30" b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CONVERSIÓN</a:t>
            </a:r>
            <a:endParaRPr sz="1030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4F0195C3-4C0E-4CAF-A85F-656CEBDAAC99}"/>
              </a:ext>
            </a:extLst>
          </p:cNvPr>
          <p:cNvSpPr>
            <a:spLocks noGrp="1"/>
          </p:cNvSpPr>
          <p:nvPr/>
        </p:nvSpPr>
        <p:spPr>
          <a:xfrm>
            <a:off x="9368741" y="2977262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4D222C83-C019-4918-BC0E-7922E8286A35}"/>
              </a:ext>
            </a:extLst>
          </p:cNvPr>
          <p:cNvSpPr>
            <a:spLocks noGrp="1"/>
          </p:cNvSpPr>
          <p:nvPr/>
        </p:nvSpPr>
        <p:spPr>
          <a:xfrm>
            <a:off x="8294321" y="3324253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B04D8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82638FD7-2C23-4F78-A333-6812AD450309}"/>
              </a:ext>
            </a:extLst>
          </p:cNvPr>
          <p:cNvSpPr>
            <a:spLocks noGrp="1"/>
          </p:cNvSpPr>
          <p:nvPr/>
        </p:nvSpPr>
        <p:spPr>
          <a:xfrm>
            <a:off x="8404049" y="3443125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Transacciones</a:t>
            </a:r>
            <a:endParaRPr sz="140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43C36F6B-CC49-4F05-81A2-E983707D5C51}"/>
              </a:ext>
            </a:extLst>
          </p:cNvPr>
          <p:cNvSpPr>
            <a:spLocks noGrp="1"/>
          </p:cNvSpPr>
          <p:nvPr/>
        </p:nvSpPr>
        <p:spPr>
          <a:xfrm>
            <a:off x="8404049" y="3798790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ofertas · documentos · financiamiento · cierre</a:t>
            </a:r>
            <a:endParaRPr sz="100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681909AC-CB10-4A80-8583-269963779404}"/>
              </a:ext>
            </a:extLst>
          </p:cNvPr>
          <p:cNvSpPr>
            <a:spLocks noGrp="1"/>
          </p:cNvSpPr>
          <p:nvPr/>
        </p:nvSpPr>
        <p:spPr>
          <a:xfrm>
            <a:off x="9368741" y="4238653"/>
            <a:ext cx="0" cy="155448"/>
          </a:xfrm>
          <a:prstGeom prst="line">
            <a:avLst/>
          </a:prstGeom>
          <a:noFill/>
          <a:ln w="15240">
            <a:solidFill>
              <a:srgbClr val="B04D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sz="100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EB0FE520-58E6-4793-8EC6-48AAAE72B7F6}"/>
              </a:ext>
            </a:extLst>
          </p:cNvPr>
          <p:cNvSpPr>
            <a:spLocks noGrp="1"/>
          </p:cNvSpPr>
          <p:nvPr/>
        </p:nvSpPr>
        <p:spPr>
          <a:xfrm>
            <a:off x="8367473" y="4448965"/>
            <a:ext cx="2002536" cy="502920"/>
          </a:xfrm>
          <a:prstGeom prst="roundRect">
            <a:avLst>
              <a:gd name="adj" fmla="val 14545"/>
            </a:avLst>
          </a:prstGeom>
          <a:solidFill>
            <a:srgbClr val="F8E8F0"/>
          </a:solidFill>
          <a:ln w="16510">
            <a:solidFill>
              <a:srgbClr val="B04D8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9BB02ADC-5329-4CC8-87FA-CCD45488DDF2}"/>
              </a:ext>
            </a:extLst>
          </p:cNvPr>
          <p:cNvSpPr>
            <a:spLocks noGrp="1"/>
          </p:cNvSpPr>
          <p:nvPr/>
        </p:nvSpPr>
        <p:spPr>
          <a:xfrm>
            <a:off x="8477201" y="4567837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30" b="1">
                <a:solidFill>
                  <a:srgbClr val="B04D80"/>
                </a:solidFill>
                <a:latin typeface="Aptos"/>
                <a:ea typeface="Aptos"/>
                <a:cs typeface="Aptos"/>
              </a:rPr>
              <a:t>TRANSACCIÓN</a:t>
            </a:r>
            <a:endParaRPr sz="1030"/>
          </a:p>
        </p:txBody>
      </p:sp>
      <p:sp>
        <p:nvSpPr>
          <p:cNvPr id="41" name="Shape 38">
            <a:extLst>
              <a:ext uri="{FF2B5EF4-FFF2-40B4-BE49-F238E27FC236}">
                <a16:creationId xmlns:a16="http://schemas.microsoft.com/office/drawing/2014/main" id="{4D676498-2ADA-44EF-B07D-D1E751662843}"/>
              </a:ext>
            </a:extLst>
          </p:cNvPr>
          <p:cNvSpPr>
            <a:spLocks noGrp="1"/>
          </p:cNvSpPr>
          <p:nvPr/>
        </p:nvSpPr>
        <p:spPr>
          <a:xfrm>
            <a:off x="1381457" y="5138344"/>
            <a:ext cx="9072920" cy="576656"/>
          </a:xfrm>
          <a:prstGeom prst="roundRect">
            <a:avLst>
              <a:gd name="adj" fmla="val 8621"/>
            </a:avLst>
          </a:prstGeom>
          <a:solidFill>
            <a:srgbClr val="E7F6EF"/>
          </a:solidFill>
          <a:ln w="15240">
            <a:solidFill>
              <a:srgbClr val="008C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3067E205-C1F3-439A-9B3D-C0A9B26588AC}"/>
              </a:ext>
            </a:extLst>
          </p:cNvPr>
          <p:cNvSpPr>
            <a:spLocks noGrp="1"/>
          </p:cNvSpPr>
          <p:nvPr/>
        </p:nvSpPr>
        <p:spPr>
          <a:xfrm>
            <a:off x="1818862" y="5229784"/>
            <a:ext cx="2181752" cy="3416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008C58"/>
                </a:solidFill>
                <a:latin typeface="Aptos"/>
                <a:ea typeface="Aptos"/>
                <a:cs typeface="Aptos"/>
              </a:rPr>
              <a:t>Operaciones de Red</a:t>
            </a:r>
            <a:endParaRPr sz="140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34A99650-5561-4965-BF47-DC6FC1FD4C12}"/>
              </a:ext>
            </a:extLst>
          </p:cNvPr>
          <p:cNvSpPr>
            <a:spLocks noGrp="1"/>
          </p:cNvSpPr>
          <p:nvPr/>
        </p:nvSpPr>
        <p:spPr>
          <a:xfrm>
            <a:off x="4084983" y="5229784"/>
            <a:ext cx="6285025" cy="341696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200">
                <a:solidFill>
                  <a:srgbClr val="746F93"/>
                </a:solidFill>
                <a:latin typeface="Aptos"/>
                <a:ea typeface="Aptos"/>
                <a:cs typeface="Aptos"/>
              </a:rPr>
              <a:t>Apoya múltiples dominios mediante inventario compartido · enrutamiento · servicios especializados · oportunidades compartidas</a:t>
            </a:r>
            <a:endParaRPr sz="120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15F30B34-5FC2-47D5-8E76-E774293F9AAB}"/>
              </a:ext>
            </a:extLst>
          </p:cNvPr>
          <p:cNvSpPr>
            <a:spLocks noGrp="1"/>
          </p:cNvSpPr>
          <p:nvPr/>
        </p:nvSpPr>
        <p:spPr>
          <a:xfrm>
            <a:off x="911088" y="5906041"/>
            <a:ext cx="9982199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664423AD-BB50-4B0D-8C7B-81DCFF9C369C}"/>
              </a:ext>
            </a:extLst>
          </p:cNvPr>
          <p:cNvSpPr>
            <a:spLocks noGrp="1"/>
          </p:cNvSpPr>
          <p:nvPr/>
        </p:nvSpPr>
        <p:spPr>
          <a:xfrm>
            <a:off x="1125107" y="6034057"/>
            <a:ext cx="2832569" cy="28968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Retroalimentación de Resultados</a:t>
            </a:r>
            <a:endParaRPr sz="1400"/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2D036293-D78A-409D-A942-66620D04A3AF}"/>
              </a:ext>
            </a:extLst>
          </p:cNvPr>
          <p:cNvSpPr>
            <a:spLocks noGrp="1"/>
          </p:cNvSpPr>
          <p:nvPr/>
        </p:nvSpPr>
        <p:spPr>
          <a:xfrm>
            <a:off x="4097223" y="6061489"/>
            <a:ext cx="6585752" cy="282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200">
                <a:solidFill>
                  <a:srgbClr val="746F93"/>
                </a:solidFill>
                <a:latin typeface="Aptos"/>
                <a:ea typeface="Aptos"/>
                <a:cs typeface="Aptos"/>
              </a:rPr>
              <a:t>Los resultados reales del negocio retroalimentan múltiples dominios y ayudan a decidir qué hacer después en propiedades, demanda, relaciones y transacciones.</a:t>
            </a:r>
            <a:endParaRPr sz="1200"/>
          </a:p>
        </p:txBody>
      </p:sp>
      <p:pic>
        <p:nvPicPr>
          <p:cNvPr id="9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936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Shape 0">
            <a:extLst>
              <a:ext uri="{FF2B5EF4-FFF2-40B4-BE49-F238E27FC236}">
                <a16:creationId xmlns:a16="http://schemas.microsoft.com/office/drawing/2014/main" id="{A47AE981-3183-2382-FA5A-1B496DD0DD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1" name="Text 1">
            <a:extLst>
              <a:ext uri="{FF2B5EF4-FFF2-40B4-BE49-F238E27FC236}">
                <a16:creationId xmlns:a16="http://schemas.microsoft.com/office/drawing/2014/main" id="{9FC03272-9C9A-3482-2AD9-9270490398CD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CASOS + </a:t>
            </a:r>
            <a:r>
              <a:rPr sz="1200" b="1">
                <a:solidFill>
                  <a:srgbClr val="5F2CCB"/>
                </a:solidFill>
                <a:latin typeface="Aptos"/>
                <a:ea typeface="Aptos"/>
                <a:cs typeface="Aptos"/>
              </a:rPr>
              <a:t>FLUJOS DINÁMICOS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2" name="Text 2">
            <a:extLst>
              <a:ext uri="{FF2B5EF4-FFF2-40B4-BE49-F238E27FC236}">
                <a16:creationId xmlns:a16="http://schemas.microsoft.com/office/drawing/2014/main" id="{042ED85C-876D-0A0A-81DC-40C9E8836825}"/>
              </a:ext>
            </a:extLst>
          </p:cNvPr>
          <p:cNvSpPr>
            <a:spLocks noGrp="1"/>
          </p:cNvSpPr>
          <p:nvPr/>
        </p:nvSpPr>
        <p:spPr>
          <a:xfrm>
            <a:off x="567000" y="744966"/>
            <a:ext cx="10195200" cy="51212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Caso es durable, el camino para avanzar puede ser dinámico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3" name="Text 3">
            <a:extLst>
              <a:ext uri="{FF2B5EF4-FFF2-40B4-BE49-F238E27FC236}">
                <a16:creationId xmlns:a16="http://schemas.microsoft.com/office/drawing/2014/main" id="{83BBB250-37F4-CCE5-2415-BCD3F14EBACA}"/>
              </a:ext>
            </a:extLst>
          </p:cNvPr>
          <p:cNvSpPr>
            <a:spLocks noGrp="1"/>
          </p:cNvSpPr>
          <p:nvPr/>
        </p:nvSpPr>
        <p:spPr>
          <a:xfrm>
            <a:off x="567000" y="1285885"/>
            <a:ext cx="1069812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Lo estable es el contrato operacional; el camino se adapta conforme cambia la realidad.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5" name="Text 5">
            <a:extLst>
              <a:ext uri="{FF2B5EF4-FFF2-40B4-BE49-F238E27FC236}">
                <a16:creationId xmlns:a16="http://schemas.microsoft.com/office/drawing/2014/main" id="{2281CC1B-0F9D-61EB-D7ED-AC8026332EAE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6" name="Text 6">
            <a:extLst>
              <a:ext uri="{FF2B5EF4-FFF2-40B4-BE49-F238E27FC236}">
                <a16:creationId xmlns:a16="http://schemas.microsoft.com/office/drawing/2014/main" id="{898EB01F-8B82-EAF8-240F-58AD5A5F29F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7" name="Text 7">
            <a:extLst>
              <a:ext uri="{FF2B5EF4-FFF2-40B4-BE49-F238E27FC236}">
                <a16:creationId xmlns:a16="http://schemas.microsoft.com/office/drawing/2014/main" id="{5B6D0330-FAB0-5BDA-C83E-2827052348E1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11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8" name="Shape 8">
            <a:extLst>
              <a:ext uri="{FF2B5EF4-FFF2-40B4-BE49-F238E27FC236}">
                <a16:creationId xmlns:a16="http://schemas.microsoft.com/office/drawing/2014/main" id="{DB29663A-744A-2162-F307-28CDC514DFDF}"/>
              </a:ext>
            </a:extLst>
          </p:cNvPr>
          <p:cNvSpPr>
            <a:spLocks noGrp="1"/>
          </p:cNvSpPr>
          <p:nvPr/>
        </p:nvSpPr>
        <p:spPr>
          <a:xfrm>
            <a:off x="558582" y="2015646"/>
            <a:ext cx="2599760" cy="2915908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9" name="Text 9">
            <a:extLst>
              <a:ext uri="{FF2B5EF4-FFF2-40B4-BE49-F238E27FC236}">
                <a16:creationId xmlns:a16="http://schemas.microsoft.com/office/drawing/2014/main" id="{3E1BE664-5DAF-0B5F-0314-FCFBA1A23F11}"/>
              </a:ext>
            </a:extLst>
          </p:cNvPr>
          <p:cNvSpPr>
            <a:spLocks noGrp="1"/>
          </p:cNvSpPr>
          <p:nvPr/>
        </p:nvSpPr>
        <p:spPr>
          <a:xfrm>
            <a:off x="731279" y="2188916"/>
            <a:ext cx="2259578" cy="2301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DURABLE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0" name="Text 10">
            <a:extLst>
              <a:ext uri="{FF2B5EF4-FFF2-40B4-BE49-F238E27FC236}">
                <a16:creationId xmlns:a16="http://schemas.microsoft.com/office/drawing/2014/main" id="{55B777C1-F647-82B9-F781-ECC2A1038393}"/>
              </a:ext>
            </a:extLst>
          </p:cNvPr>
          <p:cNvSpPr>
            <a:spLocks noGrp="1"/>
          </p:cNvSpPr>
          <p:nvPr/>
        </p:nvSpPr>
        <p:spPr>
          <a:xfrm>
            <a:off x="731279" y="2534665"/>
            <a:ext cx="2204587" cy="5009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Caso Operacional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1" name="Text 11">
            <a:extLst>
              <a:ext uri="{FF2B5EF4-FFF2-40B4-BE49-F238E27FC236}">
                <a16:creationId xmlns:a16="http://schemas.microsoft.com/office/drawing/2014/main" id="{BC1A9369-DCA3-6F73-6419-060AF758F580}"/>
              </a:ext>
            </a:extLst>
          </p:cNvPr>
          <p:cNvSpPr>
            <a:spLocks noGrp="1"/>
          </p:cNvSpPr>
          <p:nvPr/>
        </p:nvSpPr>
        <p:spPr>
          <a:xfrm>
            <a:off x="735591" y="3187645"/>
            <a:ext cx="2204587" cy="13473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Objetivo / compromiso durable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Estado del trabajo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Participantes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Restricciones y permisos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 / criterios de finalización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Ciclo de vida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2" name="Shape 12">
            <a:extLst>
              <a:ext uri="{FF2B5EF4-FFF2-40B4-BE49-F238E27FC236}">
                <a16:creationId xmlns:a16="http://schemas.microsoft.com/office/drawing/2014/main" id="{72E364FC-291F-1C9E-7FFA-CB9E100C424A}"/>
              </a:ext>
            </a:extLst>
          </p:cNvPr>
          <p:cNvSpPr>
            <a:spLocks noGrp="1"/>
          </p:cNvSpPr>
          <p:nvPr/>
        </p:nvSpPr>
        <p:spPr>
          <a:xfrm>
            <a:off x="4600632" y="2010333"/>
            <a:ext cx="3621007" cy="645045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3" name="Text 13">
            <a:extLst>
              <a:ext uri="{FF2B5EF4-FFF2-40B4-BE49-F238E27FC236}">
                <a16:creationId xmlns:a16="http://schemas.microsoft.com/office/drawing/2014/main" id="{E26899A2-D4C9-F121-ABB2-7EACA4AF300B}"/>
              </a:ext>
            </a:extLst>
          </p:cNvPr>
          <p:cNvSpPr>
            <a:spLocks noGrp="1"/>
          </p:cNvSpPr>
          <p:nvPr/>
        </p:nvSpPr>
        <p:spPr>
          <a:xfrm>
            <a:off x="4711145" y="2119846"/>
            <a:ext cx="3359426" cy="4308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latin typeface="Aptos"/>
                <a:ea typeface="Aptos"/>
                <a:cs typeface="Aptos"/>
              </a:rPr>
              <a:t>event</a:t>
            </a:r>
            <a:r>
              <a:rPr sz="1400" b="1">
                <a:latin typeface="Aptos"/>
                <a:ea typeface="Aptos"/>
                <a:cs typeface="Aptos"/>
              </a:rPr>
              <a:t>o</a:t>
            </a:r>
            <a:r>
              <a:rPr sz="1400" b="1" u="none">
                <a:latin typeface="Aptos"/>
                <a:ea typeface="Aptos"/>
                <a:cs typeface="Aptos"/>
              </a:rPr>
              <a:t> · “wake-up” programado · intervención humana</a:t>
            </a:r>
            <a:endParaRPr sz="1400" b="1" u="none">
              <a:latin typeface="Arial"/>
              <a:ea typeface="Arial"/>
              <a:cs typeface="Arial"/>
            </a:endParaRPr>
          </a:p>
        </p:txBody>
      </p:sp>
      <p:sp>
        <p:nvSpPr>
          <p:cNvPr id="284" name="Shape 14">
            <a:extLst>
              <a:ext uri="{FF2B5EF4-FFF2-40B4-BE49-F238E27FC236}">
                <a16:creationId xmlns:a16="http://schemas.microsoft.com/office/drawing/2014/main" id="{AF00CE06-8E54-4D67-94BB-62006D4C4F5D}"/>
              </a:ext>
            </a:extLst>
          </p:cNvPr>
          <p:cNvSpPr>
            <a:spLocks noGrp="1"/>
          </p:cNvSpPr>
          <p:nvPr/>
        </p:nvSpPr>
        <p:spPr>
          <a:xfrm flipH="1">
            <a:off x="6411136" y="2675256"/>
            <a:ext cx="0" cy="333760"/>
          </a:xfrm>
          <a:prstGeom prst="line">
            <a:avLst/>
          </a:prstGeom>
          <a:ln w="1778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5" name="Shape 15">
            <a:extLst>
              <a:ext uri="{FF2B5EF4-FFF2-40B4-BE49-F238E27FC236}">
                <a16:creationId xmlns:a16="http://schemas.microsoft.com/office/drawing/2014/main" id="{99F029EA-EFA8-66B3-6F9F-91EC4A4B2FCD}"/>
              </a:ext>
            </a:extLst>
          </p:cNvPr>
          <p:cNvSpPr>
            <a:spLocks noGrp="1"/>
          </p:cNvSpPr>
          <p:nvPr/>
        </p:nvSpPr>
        <p:spPr>
          <a:xfrm>
            <a:off x="4600632" y="3043366"/>
            <a:ext cx="3621727" cy="86832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6" name="Text 16">
            <a:extLst>
              <a:ext uri="{FF2B5EF4-FFF2-40B4-BE49-F238E27FC236}">
                <a16:creationId xmlns:a16="http://schemas.microsoft.com/office/drawing/2014/main" id="{8546E097-327E-5F5D-4625-677487B05131}"/>
              </a:ext>
            </a:extLst>
          </p:cNvPr>
          <p:cNvSpPr>
            <a:spLocks noGrp="1"/>
          </p:cNvSpPr>
          <p:nvPr/>
        </p:nvSpPr>
        <p:spPr>
          <a:xfrm>
            <a:off x="5121107" y="3129801"/>
            <a:ext cx="261468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i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Supervisor de Caso</a:t>
            </a:r>
            <a:endParaRPr sz="16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7" name="Text 17">
            <a:extLst>
              <a:ext uri="{FF2B5EF4-FFF2-40B4-BE49-F238E27FC236}">
                <a16:creationId xmlns:a16="http://schemas.microsoft.com/office/drawing/2014/main" id="{17FC8A71-4AE9-BDB6-EBE3-5B9CA8A2F616}"/>
              </a:ext>
            </a:extLst>
          </p:cNvPr>
          <p:cNvSpPr>
            <a:spLocks noGrp="1"/>
          </p:cNvSpPr>
          <p:nvPr/>
        </p:nvSpPr>
        <p:spPr>
          <a:xfrm>
            <a:off x="4680145" y="3492929"/>
            <a:ext cx="3469938" cy="2812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¿Qué trabajo avanza mejor el objetivo ahora?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8" name="Shape 18">
            <a:extLst>
              <a:ext uri="{FF2B5EF4-FFF2-40B4-BE49-F238E27FC236}">
                <a16:creationId xmlns:a16="http://schemas.microsoft.com/office/drawing/2014/main" id="{4B1C1D46-8703-ED9A-E42A-29D42A79EF77}"/>
              </a:ext>
            </a:extLst>
          </p:cNvPr>
          <p:cNvSpPr>
            <a:spLocks noGrp="1"/>
          </p:cNvSpPr>
          <p:nvPr/>
        </p:nvSpPr>
        <p:spPr>
          <a:xfrm>
            <a:off x="6411137" y="3916316"/>
            <a:ext cx="0" cy="312109"/>
          </a:xfrm>
          <a:prstGeom prst="line">
            <a:avLst/>
          </a:prstGeom>
          <a:ln w="1778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9" name="Shape 19">
            <a:extLst>
              <a:ext uri="{FF2B5EF4-FFF2-40B4-BE49-F238E27FC236}">
                <a16:creationId xmlns:a16="http://schemas.microsoft.com/office/drawing/2014/main" id="{A13533F3-F2C8-276B-2218-2CB852138937}"/>
              </a:ext>
            </a:extLst>
          </p:cNvPr>
          <p:cNvSpPr>
            <a:spLocks noGrp="1"/>
          </p:cNvSpPr>
          <p:nvPr/>
        </p:nvSpPr>
        <p:spPr>
          <a:xfrm>
            <a:off x="4600632" y="4249977"/>
            <a:ext cx="3621007" cy="937359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0" name="Text 20">
            <a:extLst>
              <a:ext uri="{FF2B5EF4-FFF2-40B4-BE49-F238E27FC236}">
                <a16:creationId xmlns:a16="http://schemas.microsoft.com/office/drawing/2014/main" id="{519FE353-04B2-5E71-B072-F9A3F31DAF7B}"/>
              </a:ext>
            </a:extLst>
          </p:cNvPr>
          <p:cNvSpPr>
            <a:spLocks noGrp="1"/>
          </p:cNvSpPr>
          <p:nvPr/>
        </p:nvSpPr>
        <p:spPr>
          <a:xfrm>
            <a:off x="5121107" y="4327535"/>
            <a:ext cx="261468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i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Grafo de trabajo</a:t>
            </a:r>
            <a:endParaRPr sz="16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1" name="Text 21">
            <a:extLst>
              <a:ext uri="{FF2B5EF4-FFF2-40B4-BE49-F238E27FC236}">
                <a16:creationId xmlns:a16="http://schemas.microsoft.com/office/drawing/2014/main" id="{F209726F-47CE-F311-8960-B6FB720C648B}"/>
              </a:ext>
            </a:extLst>
          </p:cNvPr>
          <p:cNvSpPr>
            <a:spLocks noGrp="1"/>
          </p:cNvSpPr>
          <p:nvPr/>
        </p:nvSpPr>
        <p:spPr>
          <a:xfrm>
            <a:off x="4711145" y="4701325"/>
            <a:ext cx="3359425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</a:rPr>
              <a:t>Work Items · tools · esperas · HITL · Casos hijo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2" name="Shape 22">
            <a:extLst>
              <a:ext uri="{FF2B5EF4-FFF2-40B4-BE49-F238E27FC236}">
                <a16:creationId xmlns:a16="http://schemas.microsoft.com/office/drawing/2014/main" id="{8647DD3D-112D-187E-6EA7-E2326FBE765D}"/>
              </a:ext>
            </a:extLst>
          </p:cNvPr>
          <p:cNvSpPr>
            <a:spLocks noGrp="1"/>
          </p:cNvSpPr>
          <p:nvPr/>
        </p:nvSpPr>
        <p:spPr>
          <a:xfrm>
            <a:off x="8491992" y="2040150"/>
            <a:ext cx="3179022" cy="361851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4" name="Text 24">
            <a:extLst>
              <a:ext uri="{FF2B5EF4-FFF2-40B4-BE49-F238E27FC236}">
                <a16:creationId xmlns:a16="http://schemas.microsoft.com/office/drawing/2014/main" id="{B84AE9ED-090A-29EF-3DF9-0B753733DBEB}"/>
              </a:ext>
            </a:extLst>
          </p:cNvPr>
          <p:cNvSpPr>
            <a:spLocks noGrp="1"/>
          </p:cNvSpPr>
          <p:nvPr/>
        </p:nvSpPr>
        <p:spPr>
          <a:xfrm>
            <a:off x="8820534" y="2423143"/>
            <a:ext cx="2524098" cy="8691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grafo puede construirse y ajustarse dinámicamente para avanzar el Caso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5" name="Text 25">
            <a:extLst>
              <a:ext uri="{FF2B5EF4-FFF2-40B4-BE49-F238E27FC236}">
                <a16:creationId xmlns:a16="http://schemas.microsoft.com/office/drawing/2014/main" id="{97A5D10E-A242-E2AF-8587-2FC8689025D2}"/>
              </a:ext>
            </a:extLst>
          </p:cNvPr>
          <p:cNvSpPr>
            <a:spLocks noGrp="1"/>
          </p:cNvSpPr>
          <p:nvPr/>
        </p:nvSpPr>
        <p:spPr>
          <a:xfrm>
            <a:off x="8819196" y="3535875"/>
            <a:ext cx="2525436" cy="17478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Ramificación</a:t>
            </a: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Bucles</a:t>
            </a: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Trabajo y dependencias en paralelo</a:t>
            </a: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Replanificación</a:t>
            </a: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Intervenciones humanas</a:t>
            </a:r>
          </a:p>
          <a:p>
            <a:pPr marL="171450" indent="-1714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Creación/coordinación de Casos hijo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cxnSp>
        <p:nvCxnSpPr>
          <p:cNvPr id="439" name="Conector: angular 4"/>
          <p:cNvCxnSpPr>
            <a:stCxn id="289" idx="2"/>
            <a:endCxn id="278" idx="2"/>
          </p:cNvCxnSpPr>
          <p:nvPr/>
        </p:nvCxnSpPr>
        <p:spPr>
          <a:xfrm rot="5400000" flipH="1">
            <a:off x="4006908" y="2783108"/>
            <a:ext cx="255782" cy="4552674"/>
          </a:xfrm>
          <a:prstGeom prst="bentConnector3">
            <a:avLst>
              <a:gd name="adj1" fmla="val -89373"/>
            </a:avLst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13">
            <a:extLst>
              <a:ext uri="{FF2B5EF4-FFF2-40B4-BE49-F238E27FC236}">
                <a16:creationId xmlns:a16="http://schemas.microsoft.com/office/drawing/2014/main" id="{4E858D72-298E-749F-1920-304E73FDD74B}"/>
              </a:ext>
            </a:extLst>
          </p:cNvPr>
          <p:cNvSpPr>
            <a:spLocks noGrp="1"/>
          </p:cNvSpPr>
          <p:nvPr/>
        </p:nvSpPr>
        <p:spPr>
          <a:xfrm>
            <a:off x="2117038" y="5430046"/>
            <a:ext cx="4254342" cy="339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a</a:t>
            </a:r>
            <a:r>
              <a:rPr sz="130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vanza trabajo + produce evidencia + actualiza el </a:t>
            </a: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C</a:t>
            </a:r>
            <a:r>
              <a:rPr sz="130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aso</a:t>
            </a:r>
            <a:endParaRPr sz="13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F5F155B6-344F-CC73-D30B-1105F028E90A}"/>
              </a:ext>
            </a:extLst>
          </p:cNvPr>
          <p:cNvSpPr>
            <a:spLocks noGrp="1"/>
          </p:cNvSpPr>
          <p:nvPr/>
        </p:nvSpPr>
        <p:spPr>
          <a:xfrm>
            <a:off x="7519260" y="3048771"/>
            <a:ext cx="678396" cy="310896"/>
          </a:xfrm>
          <a:prstGeom prst="roundRect">
            <a:avLst>
              <a:gd name="adj" fmla="val 23529"/>
            </a:avLst>
          </a:prstGeom>
          <a:solidFill>
            <a:srgbClr val="FFF2E2"/>
          </a:solidFill>
          <a:ln w="12700">
            <a:solidFill>
              <a:srgbClr val="FFF2E2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1EDE7D3-71D8-CCB3-3970-A7CAABCF99FC}"/>
              </a:ext>
            </a:extLst>
          </p:cNvPr>
          <p:cNvSpPr>
            <a:spLocks noGrp="1"/>
          </p:cNvSpPr>
          <p:nvPr/>
        </p:nvSpPr>
        <p:spPr>
          <a:xfrm>
            <a:off x="7513981" y="3057538"/>
            <a:ext cx="678396" cy="310896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sz="740" b="1">
                <a:solidFill>
                  <a:srgbClr val="F0A44A"/>
                </a:solidFill>
                <a:latin typeface="Inter"/>
                <a:ea typeface="Inter"/>
                <a:cs typeface="Inter"/>
              </a:rPr>
              <a:t>EVOLUCIÓN</a:t>
            </a:r>
            <a:endParaRPr sz="74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0D8BB112-252C-F5A1-A627-92F61900440C}"/>
              </a:ext>
            </a:extLst>
          </p:cNvPr>
          <p:cNvSpPr>
            <a:spLocks noGrp="1"/>
          </p:cNvSpPr>
          <p:nvPr/>
        </p:nvSpPr>
        <p:spPr>
          <a:xfrm>
            <a:off x="1371600" y="6053221"/>
            <a:ext cx="8979566" cy="448316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F1CFDFFA-54DD-C1C0-10AB-0A84EB52AE26}"/>
              </a:ext>
            </a:extLst>
          </p:cNvPr>
          <p:cNvSpPr>
            <a:spLocks noGrp="1"/>
          </p:cNvSpPr>
          <p:nvPr/>
        </p:nvSpPr>
        <p:spPr>
          <a:xfrm>
            <a:off x="1510748" y="6113034"/>
            <a:ext cx="8706678" cy="3690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Firme (determinístico) </a:t>
            </a:r>
            <a:r>
              <a:rPr sz="1400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donde la realidad es dura.  </a:t>
            </a: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Flexible (adaptativo) </a:t>
            </a:r>
            <a:r>
              <a:rPr sz="1400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donde la inteligencia puede elegir.</a:t>
            </a:r>
            <a:endParaRPr sz="14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45" name="Conector recto de flecha 36"/>
          <p:cNvCxnSpPr>
            <a:stCxn id="278" idx="3"/>
            <a:endCxn id="285" idx="1"/>
          </p:cNvCxnSpPr>
          <p:nvPr/>
        </p:nvCxnSpPr>
        <p:spPr>
          <a:xfrm>
            <a:off x="3158342" y="3473600"/>
            <a:ext cx="1442290" cy="3926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13">
            <a:extLst>
              <a:ext uri="{FF2B5EF4-FFF2-40B4-BE49-F238E27FC236}">
                <a16:creationId xmlns:a16="http://schemas.microsoft.com/office/drawing/2014/main" id="{C04DA751-7304-018C-DA6A-AD61457AD280}"/>
              </a:ext>
            </a:extLst>
          </p:cNvPr>
          <p:cNvSpPr>
            <a:spLocks noGrp="1"/>
          </p:cNvSpPr>
          <p:nvPr/>
        </p:nvSpPr>
        <p:spPr>
          <a:xfrm>
            <a:off x="3677480" y="3553541"/>
            <a:ext cx="842923" cy="339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lee e</a:t>
            </a:r>
            <a:r>
              <a:rPr sz="130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stado + contrato</a:t>
            </a:r>
            <a:endParaRPr sz="13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3">
            <a:extLst>
              <a:ext uri="{FF2B5EF4-FFF2-40B4-BE49-F238E27FC236}">
                <a16:creationId xmlns:a16="http://schemas.microsoft.com/office/drawing/2014/main" id="{606748DA-2069-0B20-4ED3-864BE27A8211}"/>
              </a:ext>
            </a:extLst>
          </p:cNvPr>
          <p:cNvSpPr>
            <a:spLocks noGrp="1"/>
          </p:cNvSpPr>
          <p:nvPr/>
        </p:nvSpPr>
        <p:spPr>
          <a:xfrm>
            <a:off x="4629488" y="2652090"/>
            <a:ext cx="1769142" cy="339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dispara reevaluación</a:t>
            </a:r>
            <a:endParaRPr sz="13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3">
            <a:extLst>
              <a:ext uri="{FF2B5EF4-FFF2-40B4-BE49-F238E27FC236}">
                <a16:creationId xmlns:a16="http://schemas.microsoft.com/office/drawing/2014/main" id="{74B3B8D0-6D1C-C158-4919-97EC13133948}"/>
              </a:ext>
            </a:extLst>
          </p:cNvPr>
          <p:cNvSpPr>
            <a:spLocks noGrp="1"/>
          </p:cNvSpPr>
          <p:nvPr/>
        </p:nvSpPr>
        <p:spPr>
          <a:xfrm>
            <a:off x="4969564" y="3918450"/>
            <a:ext cx="1441565" cy="3121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define trabajo</a:t>
            </a:r>
            <a:endParaRPr sz="13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2E010271-2173-C7E9-7418-5993A539305F}"/>
              </a:ext>
            </a:extLst>
          </p:cNvPr>
          <p:cNvSpPr>
            <a:spLocks noGrp="1"/>
          </p:cNvSpPr>
          <p:nvPr/>
        </p:nvSpPr>
        <p:spPr>
          <a:xfrm>
            <a:off x="3319400" y="2046554"/>
            <a:ext cx="782083" cy="726758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CE939075-B9DC-109F-87E2-99A0CA32B315}"/>
              </a:ext>
            </a:extLst>
          </p:cNvPr>
          <p:cNvSpPr>
            <a:spLocks noGrp="1"/>
          </p:cNvSpPr>
          <p:nvPr/>
        </p:nvSpPr>
        <p:spPr>
          <a:xfrm>
            <a:off x="3319398" y="2217742"/>
            <a:ext cx="782085" cy="4308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Brain (target)</a:t>
            </a:r>
            <a:endParaRPr sz="120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451" name="Conector: angular 49"/>
          <p:cNvCxnSpPr>
            <a:stCxn id="45" idx="4"/>
          </p:cNvCxnSpPr>
          <p:nvPr/>
        </p:nvCxnSpPr>
        <p:spPr>
          <a:xfrm rot="16200000" flipH="1">
            <a:off x="3882721" y="2601033"/>
            <a:ext cx="518996" cy="863554"/>
          </a:xfrm>
          <a:prstGeom prst="bentConnector2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13">
            <a:extLst>
              <a:ext uri="{FF2B5EF4-FFF2-40B4-BE49-F238E27FC236}">
                <a16:creationId xmlns:a16="http://schemas.microsoft.com/office/drawing/2014/main" id="{04537181-B5AD-0764-DF7A-93C698CCC1B2}"/>
              </a:ext>
            </a:extLst>
          </p:cNvPr>
          <p:cNvSpPr>
            <a:spLocks noGrp="1"/>
          </p:cNvSpPr>
          <p:nvPr/>
        </p:nvSpPr>
        <p:spPr>
          <a:xfrm>
            <a:off x="3677479" y="2845143"/>
            <a:ext cx="842923" cy="33999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aporta contexto</a:t>
            </a:r>
            <a:endParaRPr sz="130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43684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Shape 0">
            <a:extLst>
              <a:ext uri="{FF2B5EF4-FFF2-40B4-BE49-F238E27FC236}">
                <a16:creationId xmlns:a16="http://schemas.microsoft.com/office/drawing/2014/main" id="{710B31FF-2F8B-4EEA-9522-18043B3F9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0" name="Text 1">
            <a:extLst>
              <a:ext uri="{FF2B5EF4-FFF2-40B4-BE49-F238E27FC236}">
                <a16:creationId xmlns:a16="http://schemas.microsoft.com/office/drawing/2014/main" id="{F1EE4045-918C-4335-A188-FCEE12E16E4F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DOMINIOS OPERATIVOS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1" name="Text 2">
            <a:extLst>
              <a:ext uri="{FF2B5EF4-FFF2-40B4-BE49-F238E27FC236}">
                <a16:creationId xmlns:a16="http://schemas.microsoft.com/office/drawing/2014/main" id="{5072AF0B-E884-4F85-AD7C-236C7C1EB85F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415739" cy="89090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Recordemos: Se tiene un núcleo operativ</a:t>
            </a:r>
            <a:r>
              <a:rPr sz="2600"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 y</a:t>
            </a: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</a:t>
            </a: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últiples dominios operativos en donde viven los Cases.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2" name="Text 3">
            <a:extLst>
              <a:ext uri="{FF2B5EF4-FFF2-40B4-BE49-F238E27FC236}">
                <a16:creationId xmlns:a16="http://schemas.microsoft.com/office/drawing/2014/main" id="{8327E604-86C0-41FC-878A-162A9C08BF39}"/>
              </a:ext>
            </a:extLst>
          </p:cNvPr>
          <p:cNvSpPr>
            <a:spLocks noGrp="1"/>
          </p:cNvSpPr>
          <p:nvPr/>
        </p:nvSpPr>
        <p:spPr>
          <a:xfrm>
            <a:off x="567000" y="1680938"/>
            <a:ext cx="10698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dominio agrega semántica propia, reutilizando el mismo core operativo de Gu OS.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4" name="Text 5">
            <a:extLst>
              <a:ext uri="{FF2B5EF4-FFF2-40B4-BE49-F238E27FC236}">
                <a16:creationId xmlns:a16="http://schemas.microsoft.com/office/drawing/2014/main" id="{75A9B6DC-6C97-4DEA-A6E3-EFCAF5B85A8D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5" name="Text 6">
            <a:extLst>
              <a:ext uri="{FF2B5EF4-FFF2-40B4-BE49-F238E27FC236}">
                <a16:creationId xmlns:a16="http://schemas.microsoft.com/office/drawing/2014/main" id="{309964C9-73AE-4660-9ED0-606223C0BDB5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6" name="Text 7">
            <a:extLst>
              <a:ext uri="{FF2B5EF4-FFF2-40B4-BE49-F238E27FC236}">
                <a16:creationId xmlns:a16="http://schemas.microsoft.com/office/drawing/2014/main" id="{D1663CC0-81B7-49CD-BC3E-DED030704FD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52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444" name="Shape 7">
            <a:extLst>
              <a:ext uri="{FF2B5EF4-FFF2-40B4-BE49-F238E27FC236}">
                <a16:creationId xmlns:a16="http://schemas.microsoft.com/office/drawing/2014/main" id="{86AD60F0-41C2-1699-BBEF-5D11B15BDF2C}"/>
              </a:ext>
            </a:extLst>
          </p:cNvPr>
          <p:cNvSpPr>
            <a:spLocks noGrp="1"/>
          </p:cNvSpPr>
          <p:nvPr/>
        </p:nvSpPr>
        <p:spPr>
          <a:xfrm>
            <a:off x="911088" y="2530710"/>
            <a:ext cx="9982199" cy="804672"/>
          </a:xfrm>
          <a:prstGeom prst="roundRect">
            <a:avLst>
              <a:gd name="adj" fmla="val 9091"/>
            </a:avLst>
          </a:prstGeom>
          <a:solidFill>
            <a:srgbClr val="21174D"/>
          </a:solidFill>
          <a:ln w="12700">
            <a:solidFill>
              <a:srgbClr val="2117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6" name="Text 8">
            <a:extLst>
              <a:ext uri="{FF2B5EF4-FFF2-40B4-BE49-F238E27FC236}">
                <a16:creationId xmlns:a16="http://schemas.microsoft.com/office/drawing/2014/main" id="{E1AC4604-E9A3-0E1F-FD45-E5DD8B22BFA2}"/>
              </a:ext>
            </a:extLst>
          </p:cNvPr>
          <p:cNvSpPr>
            <a:spLocks noGrp="1"/>
          </p:cNvSpPr>
          <p:nvPr/>
        </p:nvSpPr>
        <p:spPr>
          <a:xfrm>
            <a:off x="789168" y="2667870"/>
            <a:ext cx="104698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ctr">
              <a:buNone/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Núcleo operativo común de Gu OS</a:t>
            </a:r>
            <a:endParaRPr sz="1800"/>
          </a:p>
        </p:txBody>
      </p:sp>
      <p:sp>
        <p:nvSpPr>
          <p:cNvPr id="448" name="Text 9">
            <a:extLst>
              <a:ext uri="{FF2B5EF4-FFF2-40B4-BE49-F238E27FC236}">
                <a16:creationId xmlns:a16="http://schemas.microsoft.com/office/drawing/2014/main" id="{DE95238F-9469-E539-B96E-FE949E1CF0C5}"/>
              </a:ext>
            </a:extLst>
          </p:cNvPr>
          <p:cNvSpPr>
            <a:spLocks noGrp="1"/>
          </p:cNvSpPr>
          <p:nvPr/>
        </p:nvSpPr>
        <p:spPr>
          <a:xfrm>
            <a:off x="926328" y="2987910"/>
            <a:ext cx="10195560" cy="1828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Casos · eventos · trabajo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scheduler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 · gobernanza · evidencia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HITL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 · 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Skills</a:t>
            </a:r>
            <a:r>
              <a:rPr sz="1120">
                <a:solidFill>
                  <a:srgbClr val="E8E3F6"/>
                </a:solidFill>
                <a:latin typeface="Aptos"/>
                <a:ea typeface="Aptos"/>
                <a:cs typeface="Aptos"/>
              </a:rPr>
              <a:t>/</a:t>
            </a:r>
            <a:r>
              <a:rPr sz="1120" i="1">
                <a:solidFill>
                  <a:srgbClr val="E8E3F6"/>
                </a:solidFill>
                <a:latin typeface="Aptos"/>
                <a:ea typeface="Aptos"/>
                <a:cs typeface="Aptos"/>
              </a:rPr>
              <a:t>tools</a:t>
            </a:r>
            <a:endParaRPr sz="1120" i="1"/>
          </a:p>
        </p:txBody>
      </p:sp>
      <p:sp>
        <p:nvSpPr>
          <p:cNvPr id="450" name="Shape 10">
            <a:extLst>
              <a:ext uri="{FF2B5EF4-FFF2-40B4-BE49-F238E27FC236}">
                <a16:creationId xmlns:a16="http://schemas.microsoft.com/office/drawing/2014/main" id="{B6738F1D-73A5-F404-D226-6035181392C0}"/>
              </a:ext>
            </a:extLst>
          </p:cNvPr>
          <p:cNvSpPr>
            <a:spLocks noGrp="1"/>
          </p:cNvSpPr>
          <p:nvPr/>
        </p:nvSpPr>
        <p:spPr>
          <a:xfrm>
            <a:off x="2455877" y="3345007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2" name="Shape 11">
            <a:extLst>
              <a:ext uri="{FF2B5EF4-FFF2-40B4-BE49-F238E27FC236}">
                <a16:creationId xmlns:a16="http://schemas.microsoft.com/office/drawing/2014/main" id="{560AC81D-4199-D564-018F-8F922A6999E4}"/>
              </a:ext>
            </a:extLst>
          </p:cNvPr>
          <p:cNvSpPr>
            <a:spLocks noGrp="1"/>
          </p:cNvSpPr>
          <p:nvPr/>
        </p:nvSpPr>
        <p:spPr>
          <a:xfrm>
            <a:off x="1381457" y="3691998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56607F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4" name="Text 12">
            <a:extLst>
              <a:ext uri="{FF2B5EF4-FFF2-40B4-BE49-F238E27FC236}">
                <a16:creationId xmlns:a16="http://schemas.microsoft.com/office/drawing/2014/main" id="{6F88373A-1911-ABF9-23C7-93DDBB83F513}"/>
              </a:ext>
            </a:extLst>
          </p:cNvPr>
          <p:cNvSpPr>
            <a:spLocks noGrp="1"/>
          </p:cNvSpPr>
          <p:nvPr/>
        </p:nvSpPr>
        <p:spPr>
          <a:xfrm>
            <a:off x="1491185" y="381087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Propiedades (PO)</a:t>
            </a:r>
            <a:endParaRPr sz="1400"/>
          </a:p>
        </p:txBody>
      </p:sp>
      <p:sp>
        <p:nvSpPr>
          <p:cNvPr id="456" name="Text 13">
            <a:extLst>
              <a:ext uri="{FF2B5EF4-FFF2-40B4-BE49-F238E27FC236}">
                <a16:creationId xmlns:a16="http://schemas.microsoft.com/office/drawing/2014/main" id="{146B1ED3-AA7E-C812-1248-4E7CDAD8A1CF}"/>
              </a:ext>
            </a:extLst>
          </p:cNvPr>
          <p:cNvSpPr>
            <a:spLocks noGrp="1"/>
          </p:cNvSpPr>
          <p:nvPr/>
        </p:nvSpPr>
        <p:spPr>
          <a:xfrm>
            <a:off x="1491185" y="4166535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 i="1">
                <a:solidFill>
                  <a:srgbClr val="746F93"/>
                </a:solidFill>
                <a:latin typeface="Aptos"/>
                <a:ea typeface="Aptos"/>
                <a:cs typeface="Aptos"/>
              </a:rPr>
              <a:t>onboarding</a:t>
            </a: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 · publicación · corrección</a:t>
            </a:r>
            <a:endParaRPr sz="1000"/>
          </a:p>
        </p:txBody>
      </p:sp>
      <p:sp>
        <p:nvSpPr>
          <p:cNvPr id="464" name="Shape 17">
            <a:extLst>
              <a:ext uri="{FF2B5EF4-FFF2-40B4-BE49-F238E27FC236}">
                <a16:creationId xmlns:a16="http://schemas.microsoft.com/office/drawing/2014/main" id="{D648068F-6AFF-BF3C-C366-5F50FA138113}"/>
              </a:ext>
            </a:extLst>
          </p:cNvPr>
          <p:cNvSpPr>
            <a:spLocks noGrp="1"/>
          </p:cNvSpPr>
          <p:nvPr/>
        </p:nvSpPr>
        <p:spPr>
          <a:xfrm>
            <a:off x="4760165" y="3345007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66" name="Shape 18">
            <a:extLst>
              <a:ext uri="{FF2B5EF4-FFF2-40B4-BE49-F238E27FC236}">
                <a16:creationId xmlns:a16="http://schemas.microsoft.com/office/drawing/2014/main" id="{FEE85023-D8CB-DCA0-24F8-05D0AABF0A77}"/>
              </a:ext>
            </a:extLst>
          </p:cNvPr>
          <p:cNvSpPr>
            <a:spLocks noGrp="1"/>
          </p:cNvSpPr>
          <p:nvPr/>
        </p:nvSpPr>
        <p:spPr>
          <a:xfrm>
            <a:off x="3685745" y="3691998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F39A2C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8" name="Text 19">
            <a:extLst>
              <a:ext uri="{FF2B5EF4-FFF2-40B4-BE49-F238E27FC236}">
                <a16:creationId xmlns:a16="http://schemas.microsoft.com/office/drawing/2014/main" id="{ED37E0D6-2E30-62D1-754A-B7F66F340B43}"/>
              </a:ext>
            </a:extLst>
          </p:cNvPr>
          <p:cNvSpPr>
            <a:spLocks noGrp="1"/>
          </p:cNvSpPr>
          <p:nvPr/>
        </p:nvSpPr>
        <p:spPr>
          <a:xfrm>
            <a:off x="3795473" y="381087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Demanda (DO)</a:t>
            </a:r>
            <a:endParaRPr sz="1400"/>
          </a:p>
        </p:txBody>
      </p:sp>
      <p:sp>
        <p:nvSpPr>
          <p:cNvPr id="470" name="Text 20">
            <a:extLst>
              <a:ext uri="{FF2B5EF4-FFF2-40B4-BE49-F238E27FC236}">
                <a16:creationId xmlns:a16="http://schemas.microsoft.com/office/drawing/2014/main" id="{E63D79C9-CBDE-3DAE-94AC-C3BD4F1B080B}"/>
              </a:ext>
            </a:extLst>
          </p:cNvPr>
          <p:cNvSpPr>
            <a:spLocks noGrp="1"/>
          </p:cNvSpPr>
          <p:nvPr/>
        </p:nvSpPr>
        <p:spPr>
          <a:xfrm>
            <a:off x="3795473" y="4166535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campañas · atribución · optimización</a:t>
            </a:r>
            <a:endParaRPr sz="1000"/>
          </a:p>
        </p:txBody>
      </p:sp>
      <p:sp>
        <p:nvSpPr>
          <p:cNvPr id="478" name="Shape 24">
            <a:extLst>
              <a:ext uri="{FF2B5EF4-FFF2-40B4-BE49-F238E27FC236}">
                <a16:creationId xmlns:a16="http://schemas.microsoft.com/office/drawing/2014/main" id="{080E216B-6CD3-36D5-4553-B1647E834A60}"/>
              </a:ext>
            </a:extLst>
          </p:cNvPr>
          <p:cNvSpPr>
            <a:spLocks noGrp="1"/>
          </p:cNvSpPr>
          <p:nvPr/>
        </p:nvSpPr>
        <p:spPr>
          <a:xfrm>
            <a:off x="7064453" y="3345007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80" name="Shape 25">
            <a:extLst>
              <a:ext uri="{FF2B5EF4-FFF2-40B4-BE49-F238E27FC236}">
                <a16:creationId xmlns:a16="http://schemas.microsoft.com/office/drawing/2014/main" id="{9532F679-50AE-A8C2-0710-07035642CB5E}"/>
              </a:ext>
            </a:extLst>
          </p:cNvPr>
          <p:cNvSpPr>
            <a:spLocks noGrp="1"/>
          </p:cNvSpPr>
          <p:nvPr/>
        </p:nvSpPr>
        <p:spPr>
          <a:xfrm>
            <a:off x="5990033" y="3691998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6034D3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82" name="Text 26">
            <a:extLst>
              <a:ext uri="{FF2B5EF4-FFF2-40B4-BE49-F238E27FC236}">
                <a16:creationId xmlns:a16="http://schemas.microsoft.com/office/drawing/2014/main" id="{5DFE55CB-32D1-1C4C-79FC-9EBAD52CF3A7}"/>
              </a:ext>
            </a:extLst>
          </p:cNvPr>
          <p:cNvSpPr>
            <a:spLocks noGrp="1"/>
          </p:cNvSpPr>
          <p:nvPr/>
        </p:nvSpPr>
        <p:spPr>
          <a:xfrm>
            <a:off x="6099761" y="381087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Relaciones (RO)</a:t>
            </a:r>
            <a:endParaRPr sz="1400"/>
          </a:p>
        </p:txBody>
      </p:sp>
      <p:sp>
        <p:nvSpPr>
          <p:cNvPr id="484" name="Text 27">
            <a:extLst>
              <a:ext uri="{FF2B5EF4-FFF2-40B4-BE49-F238E27FC236}">
                <a16:creationId xmlns:a16="http://schemas.microsoft.com/office/drawing/2014/main" id="{1310CCBB-E903-19AF-45EB-1A41A8DAE98E}"/>
              </a:ext>
            </a:extLst>
          </p:cNvPr>
          <p:cNvSpPr>
            <a:spLocks noGrp="1"/>
          </p:cNvSpPr>
          <p:nvPr/>
        </p:nvSpPr>
        <p:spPr>
          <a:xfrm>
            <a:off x="6099761" y="4166535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leads · oportunidades · visitas · seguimiento</a:t>
            </a:r>
            <a:endParaRPr sz="1000"/>
          </a:p>
        </p:txBody>
      </p:sp>
      <p:sp>
        <p:nvSpPr>
          <p:cNvPr id="492" name="Shape 31">
            <a:extLst>
              <a:ext uri="{FF2B5EF4-FFF2-40B4-BE49-F238E27FC236}">
                <a16:creationId xmlns:a16="http://schemas.microsoft.com/office/drawing/2014/main" id="{5B8FB48E-DA23-9DF7-6AD8-005C58BB3D52}"/>
              </a:ext>
            </a:extLst>
          </p:cNvPr>
          <p:cNvSpPr>
            <a:spLocks noGrp="1"/>
          </p:cNvSpPr>
          <p:nvPr/>
        </p:nvSpPr>
        <p:spPr>
          <a:xfrm>
            <a:off x="9368741" y="3345007"/>
            <a:ext cx="0" cy="283464"/>
          </a:xfrm>
          <a:prstGeom prst="line">
            <a:avLst/>
          </a:prstGeom>
          <a:noFill/>
          <a:ln w="15240">
            <a:solidFill>
              <a:schemeClr val="tx1">
                <a:lumMod val="50000"/>
                <a:lumOff val="50000"/>
              </a:schemeClr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4" name="Shape 32">
            <a:extLst>
              <a:ext uri="{FF2B5EF4-FFF2-40B4-BE49-F238E27FC236}">
                <a16:creationId xmlns:a16="http://schemas.microsoft.com/office/drawing/2014/main" id="{3B39055C-743D-84D4-990B-60DA2307AA2E}"/>
              </a:ext>
            </a:extLst>
          </p:cNvPr>
          <p:cNvSpPr>
            <a:spLocks noGrp="1"/>
          </p:cNvSpPr>
          <p:nvPr/>
        </p:nvSpPr>
        <p:spPr>
          <a:xfrm>
            <a:off x="8294321" y="3691998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6510">
            <a:solidFill>
              <a:srgbClr val="B04D80"/>
            </a:solidFill>
            <a:prstDash val="solid"/>
          </a:ln>
          <a:effectLst>
            <a:outerShdw blurRad="12700" dist="508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6" name="Text 33">
            <a:extLst>
              <a:ext uri="{FF2B5EF4-FFF2-40B4-BE49-F238E27FC236}">
                <a16:creationId xmlns:a16="http://schemas.microsoft.com/office/drawing/2014/main" id="{4451B90F-CBBC-98F9-E83A-A9683CA49391}"/>
              </a:ext>
            </a:extLst>
          </p:cNvPr>
          <p:cNvSpPr>
            <a:spLocks noGrp="1"/>
          </p:cNvSpPr>
          <p:nvPr/>
        </p:nvSpPr>
        <p:spPr>
          <a:xfrm>
            <a:off x="8404049" y="3810870"/>
            <a:ext cx="1929384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Operaciones de</a:t>
            </a:r>
            <a:endParaRPr sz="1400"/>
          </a:p>
          <a:p>
            <a:pPr marL="0" indent="0" algn="ctr">
              <a:buNone/>
            </a:pPr>
            <a:r>
              <a:rPr sz="1400" b="1">
                <a:solidFill>
                  <a:srgbClr val="15132B"/>
                </a:solidFill>
                <a:latin typeface="Aptos"/>
                <a:ea typeface="Aptos"/>
                <a:cs typeface="Aptos"/>
              </a:rPr>
              <a:t>Transacciones (TO)</a:t>
            </a:r>
            <a:endParaRPr sz="1400"/>
          </a:p>
        </p:txBody>
      </p:sp>
      <p:sp>
        <p:nvSpPr>
          <p:cNvPr id="498" name="Text 34">
            <a:extLst>
              <a:ext uri="{FF2B5EF4-FFF2-40B4-BE49-F238E27FC236}">
                <a16:creationId xmlns:a16="http://schemas.microsoft.com/office/drawing/2014/main" id="{A24C7297-2CCD-1668-0ADE-99A6DB954F61}"/>
              </a:ext>
            </a:extLst>
          </p:cNvPr>
          <p:cNvSpPr>
            <a:spLocks noGrp="1"/>
          </p:cNvSpPr>
          <p:nvPr/>
        </p:nvSpPr>
        <p:spPr>
          <a:xfrm>
            <a:off x="8404049" y="4166535"/>
            <a:ext cx="1929384" cy="420624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ctr">
              <a:buNone/>
            </a:pPr>
            <a:r>
              <a:rPr sz="1000">
                <a:solidFill>
                  <a:srgbClr val="746F93"/>
                </a:solidFill>
                <a:latin typeface="Aptos"/>
                <a:ea typeface="Aptos"/>
                <a:cs typeface="Aptos"/>
              </a:rPr>
              <a:t>ofertas · documentos · financiamiento · cierre</a:t>
            </a:r>
            <a:endParaRPr sz="1000"/>
          </a:p>
        </p:txBody>
      </p:sp>
      <p:sp>
        <p:nvSpPr>
          <p:cNvPr id="506" name="Shape 38">
            <a:extLst>
              <a:ext uri="{FF2B5EF4-FFF2-40B4-BE49-F238E27FC236}">
                <a16:creationId xmlns:a16="http://schemas.microsoft.com/office/drawing/2014/main" id="{2AADB126-D1F5-1BAE-4216-70EBEAAED4D7}"/>
              </a:ext>
            </a:extLst>
          </p:cNvPr>
          <p:cNvSpPr>
            <a:spLocks noGrp="1"/>
          </p:cNvSpPr>
          <p:nvPr/>
        </p:nvSpPr>
        <p:spPr>
          <a:xfrm>
            <a:off x="1381457" y="4790473"/>
            <a:ext cx="9072920" cy="576656"/>
          </a:xfrm>
          <a:prstGeom prst="roundRect">
            <a:avLst>
              <a:gd name="adj" fmla="val 8621"/>
            </a:avLst>
          </a:prstGeom>
          <a:solidFill>
            <a:srgbClr val="E7F6EF"/>
          </a:solidFill>
          <a:ln w="15240">
            <a:solidFill>
              <a:srgbClr val="008C5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8" name="Text 39">
            <a:extLst>
              <a:ext uri="{FF2B5EF4-FFF2-40B4-BE49-F238E27FC236}">
                <a16:creationId xmlns:a16="http://schemas.microsoft.com/office/drawing/2014/main" id="{1BBEC49C-CDB8-D9F8-F299-32251CFE8BF7}"/>
              </a:ext>
            </a:extLst>
          </p:cNvPr>
          <p:cNvSpPr>
            <a:spLocks noGrp="1"/>
          </p:cNvSpPr>
          <p:nvPr/>
        </p:nvSpPr>
        <p:spPr>
          <a:xfrm>
            <a:off x="1818862" y="4881913"/>
            <a:ext cx="2181752" cy="3416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008C58"/>
                </a:solidFill>
                <a:latin typeface="Aptos"/>
                <a:ea typeface="Aptos"/>
                <a:cs typeface="Aptos"/>
              </a:rPr>
              <a:t>Operaciones de Red</a:t>
            </a:r>
            <a:endParaRPr sz="1400"/>
          </a:p>
        </p:txBody>
      </p:sp>
      <p:sp>
        <p:nvSpPr>
          <p:cNvPr id="510" name="Text 40">
            <a:extLst>
              <a:ext uri="{FF2B5EF4-FFF2-40B4-BE49-F238E27FC236}">
                <a16:creationId xmlns:a16="http://schemas.microsoft.com/office/drawing/2014/main" id="{68A36271-1AE1-7223-F8FE-EA9BD1206453}"/>
              </a:ext>
            </a:extLst>
          </p:cNvPr>
          <p:cNvSpPr>
            <a:spLocks noGrp="1"/>
          </p:cNvSpPr>
          <p:nvPr/>
        </p:nvSpPr>
        <p:spPr>
          <a:xfrm>
            <a:off x="4084983" y="4881913"/>
            <a:ext cx="6285025" cy="341696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sz="1200">
                <a:solidFill>
                  <a:srgbClr val="746F93"/>
                </a:solidFill>
                <a:latin typeface="Aptos"/>
                <a:ea typeface="Aptos"/>
                <a:cs typeface="Aptos"/>
              </a:rPr>
              <a:t>Apoya múltiples dominios mediante inventario compartido · enrutamiento · servicios especializados · oportunidades compartidas</a:t>
            </a:r>
            <a:endParaRPr sz="1200"/>
          </a:p>
        </p:txBody>
      </p:sp>
      <p:sp>
        <p:nvSpPr>
          <p:cNvPr id="512" name="Shape 41">
            <a:extLst>
              <a:ext uri="{FF2B5EF4-FFF2-40B4-BE49-F238E27FC236}">
                <a16:creationId xmlns:a16="http://schemas.microsoft.com/office/drawing/2014/main" id="{100DDC5D-27DB-0063-03D0-08A6532EC363}"/>
              </a:ext>
            </a:extLst>
          </p:cNvPr>
          <p:cNvSpPr>
            <a:spLocks noGrp="1"/>
          </p:cNvSpPr>
          <p:nvPr/>
        </p:nvSpPr>
        <p:spPr>
          <a:xfrm>
            <a:off x="911088" y="5558170"/>
            <a:ext cx="9982199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4" name="Text 42">
            <a:extLst>
              <a:ext uri="{FF2B5EF4-FFF2-40B4-BE49-F238E27FC236}">
                <a16:creationId xmlns:a16="http://schemas.microsoft.com/office/drawing/2014/main" id="{2379EA04-9C7C-E97E-4008-37E8D9B98221}"/>
              </a:ext>
            </a:extLst>
          </p:cNvPr>
          <p:cNvSpPr>
            <a:spLocks noGrp="1"/>
          </p:cNvSpPr>
          <p:nvPr/>
        </p:nvSpPr>
        <p:spPr>
          <a:xfrm>
            <a:off x="1125107" y="5686186"/>
            <a:ext cx="2832569" cy="28968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400" b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Retroalimentación de Resultados</a:t>
            </a:r>
            <a:endParaRPr sz="1400"/>
          </a:p>
        </p:txBody>
      </p:sp>
      <p:sp>
        <p:nvSpPr>
          <p:cNvPr id="516" name="Text 43">
            <a:extLst>
              <a:ext uri="{FF2B5EF4-FFF2-40B4-BE49-F238E27FC236}">
                <a16:creationId xmlns:a16="http://schemas.microsoft.com/office/drawing/2014/main" id="{1324EA09-BDC0-079E-89E3-450A6B462913}"/>
              </a:ext>
            </a:extLst>
          </p:cNvPr>
          <p:cNvSpPr>
            <a:spLocks noGrp="1"/>
          </p:cNvSpPr>
          <p:nvPr/>
        </p:nvSpPr>
        <p:spPr>
          <a:xfrm>
            <a:off x="4097223" y="5713618"/>
            <a:ext cx="6585752" cy="2821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200">
                <a:solidFill>
                  <a:srgbClr val="746F93"/>
                </a:solidFill>
                <a:latin typeface="Aptos"/>
                <a:ea typeface="Aptos"/>
                <a:cs typeface="Aptos"/>
              </a:rPr>
              <a:t>Los resultados reales del negocio retroalimentan múltiples dominios y ayudan a decidir qué hacer después en propiedades, demanda, relaciones y transacciones.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741877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BB1741FD-9807-45D0-9B3E-609FF89857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CC787432-23EB-4282-A726-B87F41D89B4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AUTONOMÍA GOBERNADA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8DF90902-0FF3-45B2-B343-BE5D83C67D5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i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AI-native</a:t>
            </a: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no significa máxima autonomía. Significa responsabilidad dentro de límites claros.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F01FA51-DA82-4146-BAFA-FADF24960EE4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</a:t>
            </a:r>
            <a:r>
              <a:rPr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humano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sigue liderando la relación, el juicio y la autoridad</a:t>
            </a:r>
            <a:r>
              <a:rPr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</a:t>
            </a: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ejecuta donde puede hacerlo con evidencia y políticas.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CDE3768F-9981-4AF6-923C-4C380D9C27F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11EBB12B-7903-486E-9907-15F64B2DADDE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184326F2-B66F-4A7F-A784-3C010B608D4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13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1E5B656E-5474-4F24-AE7D-BB97958338E9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AE0F0CD8-9E81-43EA-8428-0E5FB4C8C075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AUTÓNOMO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ABA142B9-698E-4420-AB60-D73CE6BA65AD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Rutina operacional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1E404BB1-98B9-49F0-8DBC-CB05ADE28477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 puede decidir y ejecutar dentro de pol</a:t>
            </a:r>
            <a:r>
              <a:rPr sz="1400">
                <a:solidFill>
                  <a:srgbClr val="6F6888"/>
                </a:solidFill>
                <a:latin typeface="Aptos"/>
                <a:ea typeface="Aptos"/>
                <a:cs typeface="Aptos"/>
              </a:rPr>
              <a:t>íticas</a:t>
            </a: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seguimiento permitido · recordatorios · búsquedas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F37653F2-6344-4413-801D-8FB48AA92BCF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296016EF-E26B-49C3-819A-D5861932CE4C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HUMANO LIDERA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76E5FF94-59A3-41FD-9DBC-9470E2F87232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Estrategia / Relación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CC6AF235-0327-4ACD-BD24-74BC7CBC0C2F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 analiza y recomienda</a:t>
            </a:r>
            <a:r>
              <a:rPr sz="1400">
                <a:solidFill>
                  <a:srgbClr val="6F6888"/>
                </a:solidFill>
                <a:latin typeface="Aptos"/>
                <a:ea typeface="Aptos"/>
                <a:cs typeface="Aptos"/>
              </a:rPr>
              <a:t>,</a:t>
            </a: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 humano lidera o decide.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negociación · excepciones · momentos sensibles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096FAE54-820C-439B-AC18-EACA4D66FC96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8F0C1711-2193-425F-9CBB-BAB33529B93E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HUMANO AUTORIZA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097A967-FCCB-490B-B5E4-C16CAB3D3110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Alto riesgo / autoridad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70F6A559-8CFF-4954-82C1-4302EC7E76C9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 prepara contexto, humano autoriza, Gu reanuda.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precio · compromisos · </a:t>
            </a: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cambios económicos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55AD3128-E358-4B02-A5FC-57D515EB2F95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FD833129-B4BB-4C55-8019-AF10223DA115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El “prompt” guía, la verificació</a:t>
            </a:r>
            <a:r>
              <a:rPr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 gobierna</a:t>
            </a: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126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83151227-96D4-4FB8-ABB7-AF3CC879B1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51A9D00A-3E78-491F-A132-CFC25144BF2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POSEER VS ORQUESTAR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E0760D67-22F8-4EB4-952B-8C34AB094952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Debemos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poseer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capacidades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construyen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nuestra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diferenciación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orquestar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pueden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permanecer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externas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sustituibles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592457D6-3887-4D8B-8F30-99DD7110ACC7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Gu conserva la responsabilidad y continuidad del trabajo en ambos casos. La frontera está en qué capacidades deben vivir y evolucionar dentro de Gu OS.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0CC9E4AC-1AC7-4EF3-913E-3E2EE6DFA5FF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DC0E433F-8BEE-4EB9-8E47-397892B093A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53A48364-4292-48EC-8534-811FA76F4C4C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14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17ED233D-2849-496A-8350-8611AFB3B786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F79F1A6A-2857-4784-B87D-965AB32C2657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POSEER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BED18285-9771-4546-B06F-8825A3232744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Ungga debería poseer: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E6D2FA68-29A0-419E-8F57-58BC11A1B228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Operación para avanzar relaciones y oportunidades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Verdad operacional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Continuidad operacional entre dominios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Gobernanza y límites de autonomía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Retroalimentación de resultados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Inteligencia organizacional acumulativa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Puntos de control críticos de red y ecosistema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13F3CCEC-20A3-45C6-8D44-3875BA9CF963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B51041BD-E237-4DCF-B4CB-E20689AEF934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ORQUESTAR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8F7C0623-562E-4003-91B4-2D47E90EDD3D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Ungga </a:t>
            </a:r>
            <a:r>
              <a:rPr b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debería </a:t>
            </a: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orquestar: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50DC1B17-9DBA-45BC-BE2A-C2C70BA5E6C7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Modelos fundacionales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Infraestructura de mensajería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Motores y servicios especializados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Infraestructura estandarizada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Portales / plataformas de medios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Sistemas externos de registro (cuando resulten útiles, ej. CRMs inmobiliarios)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Shape 0">
            <a:extLst>
              <a:ext uri="{FF2B5EF4-FFF2-40B4-BE49-F238E27FC236}">
                <a16:creationId xmlns:a16="http://schemas.microsoft.com/office/drawing/2014/main" id="{2FCDEC77-C969-4672-BD59-0820A8B059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0" name="Text 1">
            <a:extLst>
              <a:ext uri="{FF2B5EF4-FFF2-40B4-BE49-F238E27FC236}">
                <a16:creationId xmlns:a16="http://schemas.microsoft.com/office/drawing/2014/main" id="{581FCE05-3FB9-439C-B4E5-BC2F3027D506}"/>
              </a:ext>
            </a:extLst>
          </p:cNvPr>
          <p:cNvSpPr>
            <a:spLocks noGrp="1"/>
          </p:cNvSpPr>
          <p:nvPr/>
        </p:nvSpPr>
        <p:spPr>
          <a:xfrm>
            <a:off x="567000" y="38109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ACTUAL → SIGUIENTE → VISIÓN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1" name="Text 2">
            <a:extLst>
              <a:ext uri="{FF2B5EF4-FFF2-40B4-BE49-F238E27FC236}">
                <a16:creationId xmlns:a16="http://schemas.microsoft.com/office/drawing/2014/main" id="{EC7C4501-9287-46E5-8A43-34BD52A123F4}"/>
              </a:ext>
            </a:extLst>
          </p:cNvPr>
          <p:cNvSpPr>
            <a:spLocks noGrp="1"/>
          </p:cNvSpPr>
          <p:nvPr/>
        </p:nvSpPr>
        <p:spPr>
          <a:xfrm>
            <a:off x="566999" y="650597"/>
            <a:ext cx="10366889" cy="5219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repo actual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ya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materializa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más foundations; la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ambición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sigue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separada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la </a:t>
            </a:r>
            <a:r>
              <a:rPr sz="21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</a:t>
            </a:r>
            <a:r>
              <a:rPr sz="21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1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2" name="Text 3">
            <a:extLst>
              <a:ext uri="{FF2B5EF4-FFF2-40B4-BE49-F238E27FC236}">
                <a16:creationId xmlns:a16="http://schemas.microsoft.com/office/drawing/2014/main" id="{E573E4C2-34F2-4537-9609-E28FD7AA0A5A}"/>
              </a:ext>
            </a:extLst>
          </p:cNvPr>
          <p:cNvSpPr>
            <a:spLocks noGrp="1"/>
          </p:cNvSpPr>
          <p:nvPr/>
        </p:nvSpPr>
        <p:spPr>
          <a:xfrm>
            <a:off x="567000" y="1219952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76173"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“Actual” exige código, datos o comportamiento verificable. “Siguiente” y “visión” siguen gobernados por roadmap y documentos aprobados.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4" name="Text 5">
            <a:extLst>
              <a:ext uri="{FF2B5EF4-FFF2-40B4-BE49-F238E27FC236}">
                <a16:creationId xmlns:a16="http://schemas.microsoft.com/office/drawing/2014/main" id="{F82FE84E-33BD-443C-B384-F1B5B029CA7D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5" name="Text 6">
            <a:extLst>
              <a:ext uri="{FF2B5EF4-FFF2-40B4-BE49-F238E27FC236}">
                <a16:creationId xmlns:a16="http://schemas.microsoft.com/office/drawing/2014/main" id="{57F1C398-B5F3-4ED4-91AB-722A525FED8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6" name="Text 7">
            <a:extLst>
              <a:ext uri="{FF2B5EF4-FFF2-40B4-BE49-F238E27FC236}">
                <a16:creationId xmlns:a16="http://schemas.microsoft.com/office/drawing/2014/main" id="{4B0E0FF2-592B-403D-88EA-6143A2A17939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15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7" name="Shape 8">
            <a:extLst>
              <a:ext uri="{FF2B5EF4-FFF2-40B4-BE49-F238E27FC236}">
                <a16:creationId xmlns:a16="http://schemas.microsoft.com/office/drawing/2014/main" id="{CE41E811-FE43-4BD4-8DD9-7860E693F597}"/>
              </a:ext>
            </a:extLst>
          </p:cNvPr>
          <p:cNvSpPr>
            <a:spLocks noGrp="1"/>
          </p:cNvSpPr>
          <p:nvPr/>
        </p:nvSpPr>
        <p:spPr>
          <a:xfrm>
            <a:off x="594360" y="1674567"/>
            <a:ext cx="1892520" cy="347040"/>
          </a:xfrm>
          <a:prstGeom prst="roundRect">
            <a:avLst>
              <a:gd name="adj" fmla="val 21053"/>
            </a:avLst>
          </a:prstGeom>
          <a:solidFill>
            <a:srgbClr val="E8E3F7"/>
          </a:solidFill>
          <a:ln w="12700">
            <a:solidFill>
              <a:srgbClr val="E8E3F7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8" name="Text 9">
            <a:extLst>
              <a:ext uri="{FF2B5EF4-FFF2-40B4-BE49-F238E27FC236}">
                <a16:creationId xmlns:a16="http://schemas.microsoft.com/office/drawing/2014/main" id="{96104F6C-F2F3-430C-A58E-62CB2CF24233}"/>
              </a:ext>
            </a:extLst>
          </p:cNvPr>
          <p:cNvSpPr>
            <a:spLocks noGrp="1"/>
          </p:cNvSpPr>
          <p:nvPr/>
        </p:nvSpPr>
        <p:spPr>
          <a:xfrm>
            <a:off x="640080" y="1729647"/>
            <a:ext cx="18010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Área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9" name="Shape 10">
            <a:extLst>
              <a:ext uri="{FF2B5EF4-FFF2-40B4-BE49-F238E27FC236}">
                <a16:creationId xmlns:a16="http://schemas.microsoft.com/office/drawing/2014/main" id="{7FE016EF-8D37-4BE5-8A9B-D79DF768EEA8}"/>
              </a:ext>
            </a:extLst>
          </p:cNvPr>
          <p:cNvSpPr>
            <a:spLocks noGrp="1"/>
          </p:cNvSpPr>
          <p:nvPr/>
        </p:nvSpPr>
        <p:spPr>
          <a:xfrm>
            <a:off x="2560320" y="1674567"/>
            <a:ext cx="276120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0" name="Text 11">
            <a:extLst>
              <a:ext uri="{FF2B5EF4-FFF2-40B4-BE49-F238E27FC236}">
                <a16:creationId xmlns:a16="http://schemas.microsoft.com/office/drawing/2014/main" id="{28F2019F-1E53-4957-876D-FA81AE39EFB9}"/>
              </a:ext>
            </a:extLst>
          </p:cNvPr>
          <p:cNvSpPr>
            <a:spLocks noGrp="1"/>
          </p:cNvSpPr>
          <p:nvPr/>
        </p:nvSpPr>
        <p:spPr>
          <a:xfrm>
            <a:off x="2606040" y="1729647"/>
            <a:ext cx="26697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ACTUAL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1" name="Shape 12">
            <a:extLst>
              <a:ext uri="{FF2B5EF4-FFF2-40B4-BE49-F238E27FC236}">
                <a16:creationId xmlns:a16="http://schemas.microsoft.com/office/drawing/2014/main" id="{01F24F74-AA42-4F3C-B3E1-0FD7BD6B2D8E}"/>
              </a:ext>
            </a:extLst>
          </p:cNvPr>
          <p:cNvSpPr>
            <a:spLocks noGrp="1"/>
          </p:cNvSpPr>
          <p:nvPr/>
        </p:nvSpPr>
        <p:spPr>
          <a:xfrm>
            <a:off x="539496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2" name="Text 13">
            <a:extLst>
              <a:ext uri="{FF2B5EF4-FFF2-40B4-BE49-F238E27FC236}">
                <a16:creationId xmlns:a16="http://schemas.microsoft.com/office/drawing/2014/main" id="{4E0990E9-AB1C-45B5-BAAA-454A74E7D73B}"/>
              </a:ext>
            </a:extLst>
          </p:cNvPr>
          <p:cNvSpPr>
            <a:spLocks noGrp="1"/>
          </p:cNvSpPr>
          <p:nvPr/>
        </p:nvSpPr>
        <p:spPr>
          <a:xfrm>
            <a:off x="544068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SIGUIENTE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3" name="Shape 14">
            <a:extLst>
              <a:ext uri="{FF2B5EF4-FFF2-40B4-BE49-F238E27FC236}">
                <a16:creationId xmlns:a16="http://schemas.microsoft.com/office/drawing/2014/main" id="{3491D98E-06E2-4857-8DDF-63870F6C5A08}"/>
              </a:ext>
            </a:extLst>
          </p:cNvPr>
          <p:cNvSpPr>
            <a:spLocks noGrp="1"/>
          </p:cNvSpPr>
          <p:nvPr/>
        </p:nvSpPr>
        <p:spPr>
          <a:xfrm>
            <a:off x="8549640" y="1674567"/>
            <a:ext cx="3081240" cy="347040"/>
          </a:xfrm>
          <a:prstGeom prst="roundRect">
            <a:avLst>
              <a:gd name="adj" fmla="val 21053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4" name="Text 15">
            <a:extLst>
              <a:ext uri="{FF2B5EF4-FFF2-40B4-BE49-F238E27FC236}">
                <a16:creationId xmlns:a16="http://schemas.microsoft.com/office/drawing/2014/main" id="{46A35393-BE11-4A90-8A08-9D647BEFD81F}"/>
              </a:ext>
            </a:extLst>
          </p:cNvPr>
          <p:cNvSpPr>
            <a:spLocks noGrp="1"/>
          </p:cNvSpPr>
          <p:nvPr/>
        </p:nvSpPr>
        <p:spPr>
          <a:xfrm>
            <a:off x="8595360" y="1729647"/>
            <a:ext cx="29898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VISIÓN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5" name="Shape 16">
            <a:extLst>
              <a:ext uri="{FF2B5EF4-FFF2-40B4-BE49-F238E27FC236}">
                <a16:creationId xmlns:a16="http://schemas.microsoft.com/office/drawing/2014/main" id="{0947F9B2-1A02-4FD5-8004-E32EB021455D}"/>
              </a:ext>
            </a:extLst>
          </p:cNvPr>
          <p:cNvSpPr>
            <a:spLocks noGrp="1"/>
          </p:cNvSpPr>
          <p:nvPr/>
        </p:nvSpPr>
        <p:spPr>
          <a:xfrm>
            <a:off x="594360" y="2122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6" name="Text 17">
            <a:extLst>
              <a:ext uri="{FF2B5EF4-FFF2-40B4-BE49-F238E27FC236}">
                <a16:creationId xmlns:a16="http://schemas.microsoft.com/office/drawing/2014/main" id="{25507CEE-B5FA-413E-A652-1DFAA71EDC08}"/>
              </a:ext>
            </a:extLst>
          </p:cNvPr>
          <p:cNvSpPr>
            <a:spLocks noGrp="1"/>
          </p:cNvSpPr>
          <p:nvPr/>
        </p:nvSpPr>
        <p:spPr>
          <a:xfrm>
            <a:off x="667440" y="2195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Gu</a:t>
            </a:r>
            <a:endParaRPr sz="1400" b="0" i="1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7" name="Shape 18">
            <a:extLst>
              <a:ext uri="{FF2B5EF4-FFF2-40B4-BE49-F238E27FC236}">
                <a16:creationId xmlns:a16="http://schemas.microsoft.com/office/drawing/2014/main" id="{BE7103A8-B203-4012-8CBA-36889D09DB4C}"/>
              </a:ext>
            </a:extLst>
          </p:cNvPr>
          <p:cNvSpPr>
            <a:spLocks noGrp="1"/>
          </p:cNvSpPr>
          <p:nvPr/>
        </p:nvSpPr>
        <p:spPr>
          <a:xfrm>
            <a:off x="2560320" y="2122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8" name="Text 19">
            <a:extLst>
              <a:ext uri="{FF2B5EF4-FFF2-40B4-BE49-F238E27FC236}">
                <a16:creationId xmlns:a16="http://schemas.microsoft.com/office/drawing/2014/main" id="{26D21C9F-DFB6-4550-929C-B9E1499A49E3}"/>
              </a:ext>
            </a:extLst>
          </p:cNvPr>
          <p:cNvSpPr>
            <a:spLocks noGrp="1"/>
          </p:cNvSpPr>
          <p:nvPr/>
        </p:nvSpPr>
        <p:spPr>
          <a:xfrm>
            <a:off x="2633400" y="2216667"/>
            <a:ext cx="2614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Conversación, notificaciones y superficies de trabajo conectadas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9" name="Shape 20">
            <a:extLst>
              <a:ext uri="{FF2B5EF4-FFF2-40B4-BE49-F238E27FC236}">
                <a16:creationId xmlns:a16="http://schemas.microsoft.com/office/drawing/2014/main" id="{5F5075E2-0E51-421F-9E57-C9B129895259}"/>
              </a:ext>
            </a:extLst>
          </p:cNvPr>
          <p:cNvSpPr>
            <a:spLocks noGrp="1"/>
          </p:cNvSpPr>
          <p:nvPr/>
        </p:nvSpPr>
        <p:spPr>
          <a:xfrm>
            <a:off x="539496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0" name="Text 21">
            <a:extLst>
              <a:ext uri="{FF2B5EF4-FFF2-40B4-BE49-F238E27FC236}">
                <a16:creationId xmlns:a16="http://schemas.microsoft.com/office/drawing/2014/main" id="{5958B658-06C4-4217-9BD6-F877A36430D7}"/>
              </a:ext>
            </a:extLst>
          </p:cNvPr>
          <p:cNvSpPr>
            <a:spLocks noGrp="1"/>
          </p:cNvSpPr>
          <p:nvPr/>
        </p:nvSpPr>
        <p:spPr>
          <a:xfrm>
            <a:off x="5468040" y="2156901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Continuidad situacional entre canales y vistas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1" name="Shape 22">
            <a:extLst>
              <a:ext uri="{FF2B5EF4-FFF2-40B4-BE49-F238E27FC236}">
                <a16:creationId xmlns:a16="http://schemas.microsoft.com/office/drawing/2014/main" id="{6F899681-C69A-4B8A-A9D3-8206C03BA3CA}"/>
              </a:ext>
            </a:extLst>
          </p:cNvPr>
          <p:cNvSpPr>
            <a:spLocks noGrp="1"/>
          </p:cNvSpPr>
          <p:nvPr/>
        </p:nvSpPr>
        <p:spPr>
          <a:xfrm>
            <a:off x="8549640" y="2122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2" name="Text 23">
            <a:extLst>
              <a:ext uri="{FF2B5EF4-FFF2-40B4-BE49-F238E27FC236}">
                <a16:creationId xmlns:a16="http://schemas.microsoft.com/office/drawing/2014/main" id="{6B38A0FE-A574-48DE-82A7-8140524E3012}"/>
              </a:ext>
            </a:extLst>
          </p:cNvPr>
          <p:cNvSpPr>
            <a:spLocks noGrp="1"/>
          </p:cNvSpPr>
          <p:nvPr/>
        </p:nvSpPr>
        <p:spPr>
          <a:xfrm>
            <a:off x="8622720" y="2166526"/>
            <a:ext cx="293472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 coworker persistente a través de la operación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3" name="Shape 24">
            <a:extLst>
              <a:ext uri="{FF2B5EF4-FFF2-40B4-BE49-F238E27FC236}">
                <a16:creationId xmlns:a16="http://schemas.microsoft.com/office/drawing/2014/main" id="{DBE55BD7-9F8D-4114-BB3C-811631AD7B13}"/>
              </a:ext>
            </a:extLst>
          </p:cNvPr>
          <p:cNvSpPr>
            <a:spLocks noGrp="1"/>
          </p:cNvSpPr>
          <p:nvPr/>
        </p:nvSpPr>
        <p:spPr>
          <a:xfrm>
            <a:off x="594360" y="2689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4" name="Text 25">
            <a:extLst>
              <a:ext uri="{FF2B5EF4-FFF2-40B4-BE49-F238E27FC236}">
                <a16:creationId xmlns:a16="http://schemas.microsoft.com/office/drawing/2014/main" id="{7C0A917F-5ECC-422A-AB8C-FB929486787E}"/>
              </a:ext>
            </a:extLst>
          </p:cNvPr>
          <p:cNvSpPr>
            <a:spLocks noGrp="1"/>
          </p:cNvSpPr>
          <p:nvPr/>
        </p:nvSpPr>
        <p:spPr>
          <a:xfrm>
            <a:off x="667440" y="2762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 dirty="0" err="1">
                <a:solidFill>
                  <a:srgbClr val="151327"/>
                </a:solidFill>
                <a:latin typeface="Aptos"/>
                <a:ea typeface="Aptos"/>
                <a:cs typeface="Aptos"/>
              </a:rPr>
              <a:t>Núcleo</a:t>
            </a:r>
            <a:r>
              <a:rPr sz="1400" b="1" i="1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i="1" u="none" dirty="0" err="1">
                <a:solidFill>
                  <a:srgbClr val="151327"/>
                </a:solidFill>
                <a:latin typeface="Aptos"/>
                <a:ea typeface="Aptos"/>
                <a:cs typeface="Aptos"/>
              </a:rPr>
              <a:t>operativo</a:t>
            </a:r>
            <a:endParaRPr sz="1400" b="0" i="1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5" name="Shape 26">
            <a:extLst>
              <a:ext uri="{FF2B5EF4-FFF2-40B4-BE49-F238E27FC236}">
                <a16:creationId xmlns:a16="http://schemas.microsoft.com/office/drawing/2014/main" id="{C276F060-3E98-4E8B-9FFB-EEA4524D40B6}"/>
              </a:ext>
            </a:extLst>
          </p:cNvPr>
          <p:cNvSpPr>
            <a:spLocks noGrp="1"/>
          </p:cNvSpPr>
          <p:nvPr/>
        </p:nvSpPr>
        <p:spPr>
          <a:xfrm>
            <a:off x="2560320" y="2689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6" name="Text 27">
            <a:extLst>
              <a:ext uri="{FF2B5EF4-FFF2-40B4-BE49-F238E27FC236}">
                <a16:creationId xmlns:a16="http://schemas.microsoft.com/office/drawing/2014/main" id="{57A061EC-71F7-48CA-B9D0-3AE6DB68CEE3}"/>
              </a:ext>
            </a:extLst>
          </p:cNvPr>
          <p:cNvSpPr>
            <a:spLocks noGrp="1"/>
          </p:cNvSpPr>
          <p:nvPr/>
        </p:nvSpPr>
        <p:spPr>
          <a:xfrm>
            <a:off x="2633400" y="2775049"/>
            <a:ext cx="2642400" cy="295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Cases · Work Plane · Impact Plane · Durable Tasks · políticas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7" name="Shape 28">
            <a:extLst>
              <a:ext uri="{FF2B5EF4-FFF2-40B4-BE49-F238E27FC236}">
                <a16:creationId xmlns:a16="http://schemas.microsoft.com/office/drawing/2014/main" id="{D633EA5B-6F17-45FF-BB74-1C81EC6B6AC5}"/>
              </a:ext>
            </a:extLst>
          </p:cNvPr>
          <p:cNvSpPr>
            <a:spLocks noGrp="1"/>
          </p:cNvSpPr>
          <p:nvPr/>
        </p:nvSpPr>
        <p:spPr>
          <a:xfrm>
            <a:off x="539496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8" name="Text 29">
            <a:extLst>
              <a:ext uri="{FF2B5EF4-FFF2-40B4-BE49-F238E27FC236}">
                <a16:creationId xmlns:a16="http://schemas.microsoft.com/office/drawing/2014/main" id="{4D65C259-8233-4D4C-94E0-9F86B6823ECC}"/>
              </a:ext>
            </a:extLst>
          </p:cNvPr>
          <p:cNvSpPr>
            <a:spLocks noGrp="1"/>
          </p:cNvSpPr>
          <p:nvPr/>
        </p:nvSpPr>
        <p:spPr>
          <a:xfrm>
            <a:off x="5468039" y="2714276"/>
            <a:ext cx="3007005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>
              <a:buNone/>
              <a:tabLst>
                <a:tab pos="0" algn="l"/>
              </a:tabLst>
            </a:pPr>
            <a:r>
              <a:rPr sz="125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Supervisión reusable y workflows más flexibles</a:t>
            </a:r>
            <a:endParaRPr sz="12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9" name="Shape 30">
            <a:extLst>
              <a:ext uri="{FF2B5EF4-FFF2-40B4-BE49-F238E27FC236}">
                <a16:creationId xmlns:a16="http://schemas.microsoft.com/office/drawing/2014/main" id="{9593AA6D-C2C3-4DA9-A938-0FFB13013A84}"/>
              </a:ext>
            </a:extLst>
          </p:cNvPr>
          <p:cNvSpPr>
            <a:spLocks noGrp="1"/>
          </p:cNvSpPr>
          <p:nvPr/>
        </p:nvSpPr>
        <p:spPr>
          <a:xfrm>
            <a:off x="8549640" y="2689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0" name="Text 31">
            <a:extLst>
              <a:ext uri="{FF2B5EF4-FFF2-40B4-BE49-F238E27FC236}">
                <a16:creationId xmlns:a16="http://schemas.microsoft.com/office/drawing/2014/main" id="{C036CA07-9C80-4609-AF3E-E64A21E9F309}"/>
              </a:ext>
            </a:extLst>
          </p:cNvPr>
          <p:cNvSpPr>
            <a:spLocks noGrp="1"/>
          </p:cNvSpPr>
          <p:nvPr/>
        </p:nvSpPr>
        <p:spPr>
          <a:xfrm>
            <a:off x="8622720" y="2744102"/>
            <a:ext cx="2934720" cy="3265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Núcleo reusable a través de dominios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1" name="Shape 32">
            <a:extLst>
              <a:ext uri="{FF2B5EF4-FFF2-40B4-BE49-F238E27FC236}">
                <a16:creationId xmlns:a16="http://schemas.microsoft.com/office/drawing/2014/main" id="{12A7554C-C7C9-4B05-89B1-F03FA7B487BE}"/>
              </a:ext>
            </a:extLst>
          </p:cNvPr>
          <p:cNvSpPr>
            <a:spLocks noGrp="1"/>
          </p:cNvSpPr>
          <p:nvPr/>
        </p:nvSpPr>
        <p:spPr>
          <a:xfrm>
            <a:off x="594360" y="325632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2" name="Text 33">
            <a:extLst>
              <a:ext uri="{FF2B5EF4-FFF2-40B4-BE49-F238E27FC236}">
                <a16:creationId xmlns:a16="http://schemas.microsoft.com/office/drawing/2014/main" id="{29353C32-6514-4C25-94BD-45A8DC78D9D7}"/>
              </a:ext>
            </a:extLst>
          </p:cNvPr>
          <p:cNvSpPr>
            <a:spLocks noGrp="1"/>
          </p:cNvSpPr>
          <p:nvPr/>
        </p:nvSpPr>
        <p:spPr>
          <a:xfrm>
            <a:off x="667440" y="3329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Relationship Ops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3" name="Shape 34">
            <a:extLst>
              <a:ext uri="{FF2B5EF4-FFF2-40B4-BE49-F238E27FC236}">
                <a16:creationId xmlns:a16="http://schemas.microsoft.com/office/drawing/2014/main" id="{1B58D6DA-2943-4608-A3BD-50FA388FF70B}"/>
              </a:ext>
            </a:extLst>
          </p:cNvPr>
          <p:cNvSpPr>
            <a:spLocks noGrp="1"/>
          </p:cNvSpPr>
          <p:nvPr/>
        </p:nvSpPr>
        <p:spPr>
          <a:xfrm>
            <a:off x="2560320" y="325632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4" name="Text 35">
            <a:extLst>
              <a:ext uri="{FF2B5EF4-FFF2-40B4-BE49-F238E27FC236}">
                <a16:creationId xmlns:a16="http://schemas.microsoft.com/office/drawing/2014/main" id="{1CE09522-9538-4AF7-8459-77C299F8D993}"/>
              </a:ext>
            </a:extLst>
          </p:cNvPr>
          <p:cNvSpPr>
            <a:spLocks noGrp="1"/>
          </p:cNvSpPr>
          <p:nvPr/>
        </p:nvSpPr>
        <p:spPr>
          <a:xfrm>
            <a:off x="2633400" y="3281276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9855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SL-0…SL-3 Done; SL-4 READY; código y evidence R1 en repo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5" name="Shape 36">
            <a:extLst>
              <a:ext uri="{FF2B5EF4-FFF2-40B4-BE49-F238E27FC236}">
                <a16:creationId xmlns:a16="http://schemas.microsoft.com/office/drawing/2014/main" id="{327CBC98-7FFD-48AA-9158-1C02B23FC919}"/>
              </a:ext>
            </a:extLst>
          </p:cNvPr>
          <p:cNvSpPr>
            <a:spLocks noGrp="1"/>
          </p:cNvSpPr>
          <p:nvPr/>
        </p:nvSpPr>
        <p:spPr>
          <a:xfrm>
            <a:off x="539496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6" name="Text 37">
            <a:extLst>
              <a:ext uri="{FF2B5EF4-FFF2-40B4-BE49-F238E27FC236}">
                <a16:creationId xmlns:a16="http://schemas.microsoft.com/office/drawing/2014/main" id="{68CEE980-CBA5-406F-9166-634CADE11A56}"/>
              </a:ext>
            </a:extLst>
          </p:cNvPr>
          <p:cNvSpPr>
            <a:spLocks noGrp="1"/>
          </p:cNvSpPr>
          <p:nvPr/>
        </p:nvSpPr>
        <p:spPr>
          <a:xfrm>
            <a:off x="5468040" y="3300525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SL-4 supervisor loop shadow; Cycle y DRI aún por confirmar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7" name="Shape 38">
            <a:extLst>
              <a:ext uri="{FF2B5EF4-FFF2-40B4-BE49-F238E27FC236}">
                <a16:creationId xmlns:a16="http://schemas.microsoft.com/office/drawing/2014/main" id="{9B3839C1-986C-44BA-9B71-FBB8ED875760}"/>
              </a:ext>
            </a:extLst>
          </p:cNvPr>
          <p:cNvSpPr>
            <a:spLocks noGrp="1"/>
          </p:cNvSpPr>
          <p:nvPr/>
        </p:nvSpPr>
        <p:spPr>
          <a:xfrm>
            <a:off x="8549640" y="325632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8" name="Text 39">
            <a:extLst>
              <a:ext uri="{FF2B5EF4-FFF2-40B4-BE49-F238E27FC236}">
                <a16:creationId xmlns:a16="http://schemas.microsoft.com/office/drawing/2014/main" id="{266ECED4-4FC7-41F9-A8FF-41A8F9DA98CF}"/>
              </a:ext>
            </a:extLst>
          </p:cNvPr>
          <p:cNvSpPr>
            <a:spLocks noGrp="1"/>
          </p:cNvSpPr>
          <p:nvPr/>
        </p:nvSpPr>
        <p:spPr>
          <a:xfrm>
            <a:off x="8622720" y="3291750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Operación continua de relaciones y oportunidades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9" name="Shape 40">
            <a:extLst>
              <a:ext uri="{FF2B5EF4-FFF2-40B4-BE49-F238E27FC236}">
                <a16:creationId xmlns:a16="http://schemas.microsoft.com/office/drawing/2014/main" id="{50265916-3BE2-467F-8C48-0E7E54844A18}"/>
              </a:ext>
            </a:extLst>
          </p:cNvPr>
          <p:cNvSpPr>
            <a:spLocks noGrp="1"/>
          </p:cNvSpPr>
          <p:nvPr/>
        </p:nvSpPr>
        <p:spPr>
          <a:xfrm>
            <a:off x="594360" y="3822961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0" name="Text 41">
            <a:extLst>
              <a:ext uri="{FF2B5EF4-FFF2-40B4-BE49-F238E27FC236}">
                <a16:creationId xmlns:a16="http://schemas.microsoft.com/office/drawing/2014/main" id="{DC1F588F-D487-4809-BD47-35707EFF2CFD}"/>
              </a:ext>
            </a:extLst>
          </p:cNvPr>
          <p:cNvSpPr>
            <a:spLocks noGrp="1"/>
          </p:cNvSpPr>
          <p:nvPr/>
        </p:nvSpPr>
        <p:spPr>
          <a:xfrm>
            <a:off x="667440" y="3896401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Organizations</a:t>
            </a:r>
            <a:endParaRPr sz="1400" b="0" i="1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1" name="Shape 42">
            <a:extLst>
              <a:ext uri="{FF2B5EF4-FFF2-40B4-BE49-F238E27FC236}">
                <a16:creationId xmlns:a16="http://schemas.microsoft.com/office/drawing/2014/main" id="{13BB60FC-E7F5-4658-98F8-6984954F8344}"/>
              </a:ext>
            </a:extLst>
          </p:cNvPr>
          <p:cNvSpPr>
            <a:spLocks noGrp="1"/>
          </p:cNvSpPr>
          <p:nvPr/>
        </p:nvSpPr>
        <p:spPr>
          <a:xfrm>
            <a:off x="2560320" y="3822961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2" name="Text 43">
            <a:extLst>
              <a:ext uri="{FF2B5EF4-FFF2-40B4-BE49-F238E27FC236}">
                <a16:creationId xmlns:a16="http://schemas.microsoft.com/office/drawing/2014/main" id="{DA43D83A-5517-4759-B19B-4D8578513050}"/>
              </a:ext>
            </a:extLst>
          </p:cNvPr>
          <p:cNvSpPr>
            <a:spLocks noGrp="1"/>
          </p:cNvSpPr>
          <p:nvPr/>
        </p:nvSpPr>
        <p:spPr>
          <a:xfrm>
            <a:off x="2633400" y="3838651"/>
            <a:ext cx="261468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Org schema, memberships, bindings y RLS; runtime parcial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3" name="Shape 44">
            <a:extLst>
              <a:ext uri="{FF2B5EF4-FFF2-40B4-BE49-F238E27FC236}">
                <a16:creationId xmlns:a16="http://schemas.microsoft.com/office/drawing/2014/main" id="{87BDDE1A-C59F-445F-92E6-67F2CA631418}"/>
              </a:ext>
            </a:extLst>
          </p:cNvPr>
          <p:cNvSpPr>
            <a:spLocks noGrp="1"/>
          </p:cNvSpPr>
          <p:nvPr/>
        </p:nvSpPr>
        <p:spPr>
          <a:xfrm>
            <a:off x="539496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4" name="Text 45">
            <a:extLst>
              <a:ext uri="{FF2B5EF4-FFF2-40B4-BE49-F238E27FC236}">
                <a16:creationId xmlns:a16="http://schemas.microsoft.com/office/drawing/2014/main" id="{FCD217D7-FD7B-438C-9976-08906497E0CE}"/>
              </a:ext>
            </a:extLst>
          </p:cNvPr>
          <p:cNvSpPr>
            <a:spLocks noGrp="1"/>
          </p:cNvSpPr>
          <p:nvPr/>
        </p:nvSpPr>
        <p:spPr>
          <a:xfrm>
            <a:off x="5468040" y="3857901"/>
            <a:ext cx="2934720" cy="374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>
                <a:solidFill>
                  <a:srgbClr val="6F6888"/>
                </a:solidFill>
                <a:latin typeface="Aptos"/>
                <a:ea typeface="Aptos"/>
                <a:cs typeface="Aptos"/>
              </a:rPr>
              <a:t>Adopción runtime + multi-seat mínimo consumido por R1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5" name="Shape 46">
            <a:extLst>
              <a:ext uri="{FF2B5EF4-FFF2-40B4-BE49-F238E27FC236}">
                <a16:creationId xmlns:a16="http://schemas.microsoft.com/office/drawing/2014/main" id="{AFD735DC-6EDE-4621-8D47-46A69F202C2A}"/>
              </a:ext>
            </a:extLst>
          </p:cNvPr>
          <p:cNvSpPr>
            <a:spLocks noGrp="1"/>
          </p:cNvSpPr>
          <p:nvPr/>
        </p:nvSpPr>
        <p:spPr>
          <a:xfrm>
            <a:off x="8549640" y="3822961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6" name="Text 47">
            <a:extLst>
              <a:ext uri="{FF2B5EF4-FFF2-40B4-BE49-F238E27FC236}">
                <a16:creationId xmlns:a16="http://schemas.microsoft.com/office/drawing/2014/main" id="{59D845A2-E121-4D63-9A12-F1490163826A}"/>
              </a:ext>
            </a:extLst>
          </p:cNvPr>
          <p:cNvSpPr>
            <a:spLocks noGrp="1"/>
          </p:cNvSpPr>
          <p:nvPr/>
        </p:nvSpPr>
        <p:spPr>
          <a:xfrm>
            <a:off x="8622720" y="3896401"/>
            <a:ext cx="2934720" cy="316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Cognición organizacional acumulativa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7" name="Shape 48">
            <a:extLst>
              <a:ext uri="{FF2B5EF4-FFF2-40B4-BE49-F238E27FC236}">
                <a16:creationId xmlns:a16="http://schemas.microsoft.com/office/drawing/2014/main" id="{46161666-5E36-4EAE-80C8-E71C06ED3A05}"/>
              </a:ext>
            </a:extLst>
          </p:cNvPr>
          <p:cNvSpPr>
            <a:spLocks noGrp="1"/>
          </p:cNvSpPr>
          <p:nvPr/>
        </p:nvSpPr>
        <p:spPr>
          <a:xfrm>
            <a:off x="594360" y="496747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8" name="Text 49">
            <a:extLst>
              <a:ext uri="{FF2B5EF4-FFF2-40B4-BE49-F238E27FC236}">
                <a16:creationId xmlns:a16="http://schemas.microsoft.com/office/drawing/2014/main" id="{327CC002-BA57-472F-B02E-E220A94E9ADA}"/>
              </a:ext>
            </a:extLst>
          </p:cNvPr>
          <p:cNvSpPr>
            <a:spLocks noGrp="1"/>
          </p:cNvSpPr>
          <p:nvPr/>
        </p:nvSpPr>
        <p:spPr>
          <a:xfrm>
            <a:off x="667440" y="5040552"/>
            <a:ext cx="1773720" cy="279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5172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50" b="1" i="1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Network &amp; Ecosystem</a:t>
            </a:r>
            <a:endParaRPr sz="1350" b="0" i="1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9" name="Shape 50">
            <a:extLst>
              <a:ext uri="{FF2B5EF4-FFF2-40B4-BE49-F238E27FC236}">
                <a16:creationId xmlns:a16="http://schemas.microsoft.com/office/drawing/2014/main" id="{E5E30850-67A6-4D48-806F-D33340CC01F5}"/>
              </a:ext>
            </a:extLst>
          </p:cNvPr>
          <p:cNvSpPr>
            <a:spLocks noGrp="1"/>
          </p:cNvSpPr>
          <p:nvPr/>
        </p:nvSpPr>
        <p:spPr>
          <a:xfrm>
            <a:off x="2560320" y="496747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0" name="Text 51">
            <a:extLst>
              <a:ext uri="{FF2B5EF4-FFF2-40B4-BE49-F238E27FC236}">
                <a16:creationId xmlns:a16="http://schemas.microsoft.com/office/drawing/2014/main" id="{D1DFCCE3-2B84-4F9F-A347-10EE87DD2FEC}"/>
              </a:ext>
            </a:extLst>
          </p:cNvPr>
          <p:cNvSpPr>
            <a:spLocks noGrp="1"/>
          </p:cNvSpPr>
          <p:nvPr/>
        </p:nvSpPr>
        <p:spPr>
          <a:xfrm>
            <a:off x="2633400" y="502130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Shared Inventory y primeras integraciones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1" name="Shape 52">
            <a:extLst>
              <a:ext uri="{FF2B5EF4-FFF2-40B4-BE49-F238E27FC236}">
                <a16:creationId xmlns:a16="http://schemas.microsoft.com/office/drawing/2014/main" id="{DC40B2CC-C6E8-4996-85A4-5F662D3B310B}"/>
              </a:ext>
            </a:extLst>
          </p:cNvPr>
          <p:cNvSpPr>
            <a:spLocks noGrp="1"/>
          </p:cNvSpPr>
          <p:nvPr/>
        </p:nvSpPr>
        <p:spPr>
          <a:xfrm>
            <a:off x="539496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2" name="Text 53">
            <a:extLst>
              <a:ext uri="{FF2B5EF4-FFF2-40B4-BE49-F238E27FC236}">
                <a16:creationId xmlns:a16="http://schemas.microsoft.com/office/drawing/2014/main" id="{210BDA49-42D8-43A4-A062-46A06493060D}"/>
              </a:ext>
            </a:extLst>
          </p:cNvPr>
          <p:cNvSpPr>
            <a:spLocks noGrp="1"/>
          </p:cNvSpPr>
          <p:nvPr/>
        </p:nvSpPr>
        <p:spPr>
          <a:xfrm>
            <a:off x="5468040" y="500205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Más densidad, gobernanza y routing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3" name="Shape 54">
            <a:extLst>
              <a:ext uri="{FF2B5EF4-FFF2-40B4-BE49-F238E27FC236}">
                <a16:creationId xmlns:a16="http://schemas.microsoft.com/office/drawing/2014/main" id="{02AB2F29-79AF-46FE-8DD0-88A977CB45E7}"/>
              </a:ext>
            </a:extLst>
          </p:cNvPr>
          <p:cNvSpPr>
            <a:spLocks noGrp="1"/>
          </p:cNvSpPr>
          <p:nvPr/>
        </p:nvSpPr>
        <p:spPr>
          <a:xfrm>
            <a:off x="8549640" y="496747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4" name="Text 55">
            <a:extLst>
              <a:ext uri="{FF2B5EF4-FFF2-40B4-BE49-F238E27FC236}">
                <a16:creationId xmlns:a16="http://schemas.microsoft.com/office/drawing/2014/main" id="{0867FAB2-0050-4706-A1A1-75A1E1F82F67}"/>
              </a:ext>
            </a:extLst>
          </p:cNvPr>
          <p:cNvSpPr>
            <a:spLocks noGrp="1"/>
          </p:cNvSpPr>
          <p:nvPr/>
        </p:nvSpPr>
        <p:spPr>
          <a:xfrm>
            <a:off x="8622720" y="502130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Red operativa B2B2C + ecosistema de servicios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5" name="Shape 56">
            <a:extLst>
              <a:ext uri="{FF2B5EF4-FFF2-40B4-BE49-F238E27FC236}">
                <a16:creationId xmlns:a16="http://schemas.microsoft.com/office/drawing/2014/main" id="{98D76050-C69D-48E0-8DC7-1BEB7439EA33}"/>
              </a:ext>
            </a:extLst>
          </p:cNvPr>
          <p:cNvSpPr>
            <a:spLocks noGrp="1"/>
          </p:cNvSpPr>
          <p:nvPr/>
        </p:nvSpPr>
        <p:spPr>
          <a:xfrm>
            <a:off x="749881" y="6047070"/>
            <a:ext cx="10698120" cy="467980"/>
          </a:xfrm>
          <a:prstGeom prst="roundRect">
            <a:avLst>
              <a:gd name="adj" fmla="val 19048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6" name="Text 57">
            <a:extLst>
              <a:ext uri="{FF2B5EF4-FFF2-40B4-BE49-F238E27FC236}">
                <a16:creationId xmlns:a16="http://schemas.microsoft.com/office/drawing/2014/main" id="{BD4E5465-4390-4DE2-BD3F-19F9CD33CF5E}"/>
              </a:ext>
            </a:extLst>
          </p:cNvPr>
          <p:cNvSpPr>
            <a:spLocks noGrp="1"/>
          </p:cNvSpPr>
          <p:nvPr/>
        </p:nvSpPr>
        <p:spPr>
          <a:xfrm>
            <a:off x="904775" y="6120775"/>
            <a:ext cx="10433785" cy="34042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4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roadmap gobierna la secuencia; este slide sólo traduce su estado a lenguaje de equipo.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4" name="Shape 32">
            <a:extLst>
              <a:ext uri="{FF2B5EF4-FFF2-40B4-BE49-F238E27FC236}">
                <a16:creationId xmlns:a16="http://schemas.microsoft.com/office/drawing/2014/main" id="{6CDD65E2-D57C-2940-19CE-840EAF8ED1D2}"/>
              </a:ext>
            </a:extLst>
          </p:cNvPr>
          <p:cNvSpPr>
            <a:spLocks noGrp="1"/>
          </p:cNvSpPr>
          <p:nvPr/>
        </p:nvSpPr>
        <p:spPr>
          <a:xfrm>
            <a:off x="593205" y="4383388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 33">
            <a:extLst>
              <a:ext uri="{FF2B5EF4-FFF2-40B4-BE49-F238E27FC236}">
                <a16:creationId xmlns:a16="http://schemas.microsoft.com/office/drawing/2014/main" id="{47C1A929-D052-8CB2-F735-84A7665A369F}"/>
              </a:ext>
            </a:extLst>
          </p:cNvPr>
          <p:cNvSpPr>
            <a:spLocks noGrp="1"/>
          </p:cNvSpPr>
          <p:nvPr/>
        </p:nvSpPr>
        <p:spPr>
          <a:xfrm>
            <a:off x="666285" y="4456468"/>
            <a:ext cx="1746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Brain / Knowledge</a:t>
            </a:r>
            <a:endParaRPr sz="1400" b="0" i="1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hape 34">
            <a:extLst>
              <a:ext uri="{FF2B5EF4-FFF2-40B4-BE49-F238E27FC236}">
                <a16:creationId xmlns:a16="http://schemas.microsoft.com/office/drawing/2014/main" id="{FA83087B-39B5-79CE-FD09-A69FA233008B}"/>
              </a:ext>
            </a:extLst>
          </p:cNvPr>
          <p:cNvSpPr>
            <a:spLocks noGrp="1"/>
          </p:cNvSpPr>
          <p:nvPr/>
        </p:nvSpPr>
        <p:spPr>
          <a:xfrm>
            <a:off x="2559165" y="4383388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 35">
            <a:extLst>
              <a:ext uri="{FF2B5EF4-FFF2-40B4-BE49-F238E27FC236}">
                <a16:creationId xmlns:a16="http://schemas.microsoft.com/office/drawing/2014/main" id="{ED8B8A4B-FE37-187B-C07F-641FC5763B86}"/>
              </a:ext>
            </a:extLst>
          </p:cNvPr>
          <p:cNvSpPr>
            <a:spLocks noGrp="1"/>
          </p:cNvSpPr>
          <p:nvPr/>
        </p:nvSpPr>
        <p:spPr>
          <a:xfrm>
            <a:off x="2632245" y="4456468"/>
            <a:ext cx="2506491" cy="35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338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Memoria y retrieval existentes; fronteras de Brain definidas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Shape 36">
            <a:extLst>
              <a:ext uri="{FF2B5EF4-FFF2-40B4-BE49-F238E27FC236}">
                <a16:creationId xmlns:a16="http://schemas.microsoft.com/office/drawing/2014/main" id="{675C81C6-8213-95D3-5C96-314EC4340ECF}"/>
              </a:ext>
            </a:extLst>
          </p:cNvPr>
          <p:cNvSpPr>
            <a:spLocks noGrp="1"/>
          </p:cNvSpPr>
          <p:nvPr/>
        </p:nvSpPr>
        <p:spPr>
          <a:xfrm>
            <a:off x="539380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37">
            <a:extLst>
              <a:ext uri="{FF2B5EF4-FFF2-40B4-BE49-F238E27FC236}">
                <a16:creationId xmlns:a16="http://schemas.microsoft.com/office/drawing/2014/main" id="{A8AAB8DA-E110-8BED-70B5-3EC8832149E1}"/>
              </a:ext>
            </a:extLst>
          </p:cNvPr>
          <p:cNvSpPr>
            <a:spLocks noGrp="1"/>
          </p:cNvSpPr>
          <p:nvPr/>
        </p:nvSpPr>
        <p:spPr>
          <a:xfrm>
            <a:off x="5466885" y="4427592"/>
            <a:ext cx="2934720" cy="3560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Business Brain progresivo y contexto compilado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hape 38">
            <a:extLst>
              <a:ext uri="{FF2B5EF4-FFF2-40B4-BE49-F238E27FC236}">
                <a16:creationId xmlns:a16="http://schemas.microsoft.com/office/drawing/2014/main" id="{0C50F44A-B478-4A45-0729-02EB4FE0DC6B}"/>
              </a:ext>
            </a:extLst>
          </p:cNvPr>
          <p:cNvSpPr>
            <a:spLocks noGrp="1"/>
          </p:cNvSpPr>
          <p:nvPr/>
        </p:nvSpPr>
        <p:spPr>
          <a:xfrm>
            <a:off x="8548485" y="4383388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39">
            <a:extLst>
              <a:ext uri="{FF2B5EF4-FFF2-40B4-BE49-F238E27FC236}">
                <a16:creationId xmlns:a16="http://schemas.microsoft.com/office/drawing/2014/main" id="{8435773F-923F-DB57-B244-59932C6AC154}"/>
              </a:ext>
            </a:extLst>
          </p:cNvPr>
          <p:cNvSpPr>
            <a:spLocks noGrp="1"/>
          </p:cNvSpPr>
          <p:nvPr/>
        </p:nvSpPr>
        <p:spPr>
          <a:xfrm>
            <a:off x="8621565" y="4418817"/>
            <a:ext cx="2934720" cy="36481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Inteligencia organizacional acumulativa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48">
            <a:extLst>
              <a:ext uri="{FF2B5EF4-FFF2-40B4-BE49-F238E27FC236}">
                <a16:creationId xmlns:a16="http://schemas.microsoft.com/office/drawing/2014/main" id="{676ABF06-2372-0EA0-8A46-65414BA12BC3}"/>
              </a:ext>
            </a:extLst>
          </p:cNvPr>
          <p:cNvSpPr>
            <a:spLocks noGrp="1"/>
          </p:cNvSpPr>
          <p:nvPr/>
        </p:nvSpPr>
        <p:spPr>
          <a:xfrm>
            <a:off x="593205" y="5535362"/>
            <a:ext cx="189252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 49">
            <a:extLst>
              <a:ext uri="{FF2B5EF4-FFF2-40B4-BE49-F238E27FC236}">
                <a16:creationId xmlns:a16="http://schemas.microsoft.com/office/drawing/2014/main" id="{A981233E-689F-7D2B-A549-89F66BF724A6}"/>
              </a:ext>
            </a:extLst>
          </p:cNvPr>
          <p:cNvSpPr>
            <a:spLocks noGrp="1"/>
          </p:cNvSpPr>
          <p:nvPr/>
        </p:nvSpPr>
        <p:spPr>
          <a:xfrm>
            <a:off x="666285" y="5608442"/>
            <a:ext cx="1773720" cy="27500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1" i="1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Work foundations</a:t>
            </a:r>
            <a:endParaRPr sz="1400" b="0" i="1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Shape 50">
            <a:extLst>
              <a:ext uri="{FF2B5EF4-FFF2-40B4-BE49-F238E27FC236}">
                <a16:creationId xmlns:a16="http://schemas.microsoft.com/office/drawing/2014/main" id="{302A7A4C-6BEA-886B-3467-2B587EC7CAB0}"/>
              </a:ext>
            </a:extLst>
          </p:cNvPr>
          <p:cNvSpPr>
            <a:spLocks noGrp="1"/>
          </p:cNvSpPr>
          <p:nvPr/>
        </p:nvSpPr>
        <p:spPr>
          <a:xfrm>
            <a:off x="2559165" y="5535362"/>
            <a:ext cx="276120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 51">
            <a:extLst>
              <a:ext uri="{FF2B5EF4-FFF2-40B4-BE49-F238E27FC236}">
                <a16:creationId xmlns:a16="http://schemas.microsoft.com/office/drawing/2014/main" id="{FA9CB9FD-3FBA-0E32-D061-97B6D373357F}"/>
              </a:ext>
            </a:extLst>
          </p:cNvPr>
          <p:cNvSpPr>
            <a:spLocks noGrp="1"/>
          </p:cNvSpPr>
          <p:nvPr/>
        </p:nvSpPr>
        <p:spPr>
          <a:xfrm>
            <a:off x="2632245" y="5589192"/>
            <a:ext cx="2614680" cy="3179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9853" lnSpcReduction="2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Work/Impact Planes, worker profiles, capabilities y durable runtime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hape 52">
            <a:extLst>
              <a:ext uri="{FF2B5EF4-FFF2-40B4-BE49-F238E27FC236}">
                <a16:creationId xmlns:a16="http://schemas.microsoft.com/office/drawing/2014/main" id="{3C1B59BB-05BF-ED2D-5988-973645E7CC31}"/>
              </a:ext>
            </a:extLst>
          </p:cNvPr>
          <p:cNvSpPr>
            <a:spLocks noGrp="1"/>
          </p:cNvSpPr>
          <p:nvPr/>
        </p:nvSpPr>
        <p:spPr>
          <a:xfrm>
            <a:off x="539380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53">
            <a:extLst>
              <a:ext uri="{FF2B5EF4-FFF2-40B4-BE49-F238E27FC236}">
                <a16:creationId xmlns:a16="http://schemas.microsoft.com/office/drawing/2014/main" id="{1B29F206-F3C4-5AC2-A781-9F3CE5EEF86A}"/>
              </a:ext>
            </a:extLst>
          </p:cNvPr>
          <p:cNvSpPr>
            <a:spLocks noGrp="1"/>
          </p:cNvSpPr>
          <p:nvPr/>
        </p:nvSpPr>
        <p:spPr>
          <a:xfrm>
            <a:off x="5466885" y="5569942"/>
            <a:ext cx="2934720" cy="35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Loops y workflows operacionales más dinámicos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hape 54">
            <a:extLst>
              <a:ext uri="{FF2B5EF4-FFF2-40B4-BE49-F238E27FC236}">
                <a16:creationId xmlns:a16="http://schemas.microsoft.com/office/drawing/2014/main" id="{149BB92A-CBEE-0B8A-91F5-CDD4CED12FA2}"/>
              </a:ext>
            </a:extLst>
          </p:cNvPr>
          <p:cNvSpPr>
            <a:spLocks noGrp="1"/>
          </p:cNvSpPr>
          <p:nvPr/>
        </p:nvSpPr>
        <p:spPr>
          <a:xfrm>
            <a:off x="8548485" y="5535362"/>
            <a:ext cx="3081240" cy="42948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8890">
            <a:solidFill>
              <a:srgbClr val="DED2F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55">
            <a:extLst>
              <a:ext uri="{FF2B5EF4-FFF2-40B4-BE49-F238E27FC236}">
                <a16:creationId xmlns:a16="http://schemas.microsoft.com/office/drawing/2014/main" id="{4C06AB27-26DB-5BBF-1B7B-E7DBEA234548}"/>
              </a:ext>
            </a:extLst>
          </p:cNvPr>
          <p:cNvSpPr>
            <a:spLocks noGrp="1"/>
          </p:cNvSpPr>
          <p:nvPr/>
        </p:nvSpPr>
        <p:spPr>
          <a:xfrm>
            <a:off x="8621565" y="5589192"/>
            <a:ext cx="2934720" cy="2986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3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Trabajo durable, gobernado y medible</a:t>
            </a:r>
            <a:endParaRPr sz="13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974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ángulo 52">
            <a:extLst>
              <a:ext uri="{FF2B5EF4-FFF2-40B4-BE49-F238E27FC236}">
                <a16:creationId xmlns:a16="http://schemas.microsoft.com/office/drawing/2014/main" id="{0ED36306-41DA-4682-9508-4B0BDCC350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DAC0E61-AFE1-4E9D-B24E-9EA2FB3FC3D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>
              <a:defRPr sz="975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SECUENCIA Y TIEMPO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B40407F-6591-45F6-A875-78698539D67B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101441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B30"/>
                </a:solidFill>
                <a:latin typeface="Aptos"/>
                <a:ea typeface="Aptos"/>
                <a:cs typeface="Aptos"/>
              </a:rPr>
              <a:t>Roadmap de producto por horizontes relativos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3BB8603-0D3B-4D30-92A8-4FFAD86E40CD}"/>
              </a:ext>
            </a:extLst>
          </p:cNvPr>
          <p:cNvSpPr>
            <a:spLocks noGrp="1"/>
          </p:cNvSpPr>
          <p:nvPr/>
        </p:nvSpPr>
        <p:spPr>
          <a:xfrm>
            <a:off x="571499" y="1390650"/>
            <a:ext cx="10239375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El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eje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muestra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orden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solapamiento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condiciones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entrada. Las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fechas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se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acuerdan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en la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planeación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ejecución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pic>
        <p:nvPicPr>
          <p:cNvPr id="57" name="Imagen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1CDB3149-5EAD-4030-966E-541C05FFF8A9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 lnSpcReduction="20000"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F18A32AE-883D-4B67-B27C-61E0174EF48E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 lnSpcReduction="20000"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10" name="Conector recto 9">
            <a:extLst>
              <a:ext uri="{FF2B5EF4-FFF2-40B4-BE49-F238E27FC236}">
                <a16:creationId xmlns:a16="http://schemas.microsoft.com/office/drawing/2014/main" id="{CADBBFF5-DAAF-4110-A5BF-330AB00AEFD2}"/>
              </a:ext>
            </a:extLst>
          </p:cNvPr>
          <p:cNvSpPr>
            <a:spLocks noGrp="1"/>
          </p:cNvSpPr>
          <p:nvPr/>
        </p:nvSpPr>
        <p:spPr>
          <a:xfrm>
            <a:off x="1952625" y="2143125"/>
            <a:ext cx="8858250" cy="0"/>
          </a:xfrm>
          <a:prstGeom prst="line">
            <a:avLst/>
          </a:prstGeom>
          <a:noFill/>
          <a:ln w="28575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00C4D992-2A77-4866-AA03-9DB1D84437D8}"/>
              </a:ext>
            </a:extLst>
          </p:cNvPr>
          <p:cNvSpPr>
            <a:spLocks noGrp="1"/>
          </p:cNvSpPr>
          <p:nvPr/>
        </p:nvSpPr>
        <p:spPr>
          <a:xfrm>
            <a:off x="2181225" y="2085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009566"/>
          </a:solidFill>
          <a:ln w="0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41D7C1-2505-4D13-9FEA-9AD6A69CB3AD}"/>
              </a:ext>
            </a:extLst>
          </p:cNvPr>
          <p:cNvSpPr>
            <a:spLocks noGrp="1"/>
          </p:cNvSpPr>
          <p:nvPr/>
        </p:nvSpPr>
        <p:spPr>
          <a:xfrm>
            <a:off x="1209675" y="1809750"/>
            <a:ext cx="2057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>
              <a:defRPr sz="900" b="1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9566"/>
                </a:solidFill>
                <a:latin typeface="Aptos"/>
                <a:ea typeface="Aptos"/>
                <a:cs typeface="Aptos"/>
              </a:rPr>
              <a:t>AHORA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610F305-ED3B-46FE-BD24-EBE9BB5AB664}"/>
              </a:ext>
            </a:extLst>
          </p:cNvPr>
          <p:cNvSpPr>
            <a:spLocks noGrp="1"/>
          </p:cNvSpPr>
          <p:nvPr/>
        </p:nvSpPr>
        <p:spPr>
          <a:xfrm>
            <a:off x="4610100" y="2085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39A24"/>
          </a:solidFill>
          <a:ln w="0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1505CAB-27CB-45A7-931D-F6B6F19E220E}"/>
              </a:ext>
            </a:extLst>
          </p:cNvPr>
          <p:cNvSpPr>
            <a:spLocks noGrp="1"/>
          </p:cNvSpPr>
          <p:nvPr/>
        </p:nvSpPr>
        <p:spPr>
          <a:xfrm>
            <a:off x="3638550" y="1809750"/>
            <a:ext cx="2057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>
              <a:defRPr sz="900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39A24"/>
                </a:solidFill>
                <a:latin typeface="Aptos"/>
                <a:ea typeface="Aptos"/>
                <a:cs typeface="Aptos"/>
              </a:rPr>
              <a:t>DESPUÉS DE PROBAR R1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B5241122-EEF0-4240-B09B-213E405348F5}"/>
              </a:ext>
            </a:extLst>
          </p:cNvPr>
          <p:cNvSpPr>
            <a:spLocks noGrp="1"/>
          </p:cNvSpPr>
          <p:nvPr/>
        </p:nvSpPr>
        <p:spPr>
          <a:xfrm>
            <a:off x="7229475" y="2085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D4EA73C-0ADB-4227-A943-5BA66C6999F8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2057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>
              <a:defRPr sz="900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EXPANSIÓN CON EVIDENCIA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A14CB800-1040-4DF6-AFF5-6787F1C7E1B5}"/>
              </a:ext>
            </a:extLst>
          </p:cNvPr>
          <p:cNvSpPr>
            <a:spLocks noGrp="1"/>
          </p:cNvSpPr>
          <p:nvPr/>
        </p:nvSpPr>
        <p:spPr>
          <a:xfrm>
            <a:off x="9801225" y="2085975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866C6"/>
          </a:solidFill>
          <a:ln w="0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F7A259E1-D897-4C46-9572-0103A1C9CF74}"/>
              </a:ext>
            </a:extLst>
          </p:cNvPr>
          <p:cNvSpPr>
            <a:spLocks noGrp="1"/>
          </p:cNvSpPr>
          <p:nvPr/>
        </p:nvSpPr>
        <p:spPr>
          <a:xfrm>
            <a:off x="8829675" y="1809750"/>
            <a:ext cx="20574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>
              <a:defRPr sz="900" b="1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866C6"/>
                </a:solidFill>
                <a:latin typeface="Aptos"/>
                <a:ea typeface="Aptos"/>
                <a:cs typeface="Aptos"/>
              </a:rPr>
              <a:t>POSTERIOR / CONDICIONAL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C3FD9E1F-CA89-477E-A2A2-1D2863399EED}"/>
              </a:ext>
            </a:extLst>
          </p:cNvPr>
          <p:cNvSpPr>
            <a:spLocks noGrp="1"/>
          </p:cNvSpPr>
          <p:nvPr/>
        </p:nvSpPr>
        <p:spPr>
          <a:xfrm>
            <a:off x="571500" y="2714625"/>
            <a:ext cx="1476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00" b="1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RESPONSABILIDAD DE PRODUCTO</a:t>
            </a:r>
          </a:p>
        </p:txBody>
      </p:sp>
      <p:sp>
        <p:nvSpPr>
          <p:cNvPr id="20" name="Conector recto 19">
            <a:extLst>
              <a:ext uri="{FF2B5EF4-FFF2-40B4-BE49-F238E27FC236}">
                <a16:creationId xmlns:a16="http://schemas.microsoft.com/office/drawing/2014/main" id="{B8518F62-E22D-4E42-BEB0-2E32F9E38CC5}"/>
              </a:ext>
            </a:extLst>
          </p:cNvPr>
          <p:cNvSpPr>
            <a:spLocks noGrp="1"/>
          </p:cNvSpPr>
          <p:nvPr/>
        </p:nvSpPr>
        <p:spPr>
          <a:xfrm>
            <a:off x="2076450" y="3152775"/>
            <a:ext cx="9048750" cy="0"/>
          </a:xfrm>
          <a:prstGeom prst="line">
            <a:avLst/>
          </a:prstGeom>
          <a:noFill/>
          <a:ln w="9525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783497A-8E63-4995-BF29-AA3F3FAB7716}"/>
              </a:ext>
            </a:extLst>
          </p:cNvPr>
          <p:cNvSpPr>
            <a:spLocks noGrp="1"/>
          </p:cNvSpPr>
          <p:nvPr/>
        </p:nvSpPr>
        <p:spPr>
          <a:xfrm>
            <a:off x="571500" y="3543300"/>
            <a:ext cx="1476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00" b="1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OUTCOMES Y DESPLIEGUE</a:t>
            </a:r>
          </a:p>
        </p:txBody>
      </p:sp>
      <p:sp>
        <p:nvSpPr>
          <p:cNvPr id="22" name="Conector recto 21">
            <a:extLst>
              <a:ext uri="{FF2B5EF4-FFF2-40B4-BE49-F238E27FC236}">
                <a16:creationId xmlns:a16="http://schemas.microsoft.com/office/drawing/2014/main" id="{0C8EFA0A-4ED4-4B7D-ACF9-6AFD7105E12D}"/>
              </a:ext>
            </a:extLst>
          </p:cNvPr>
          <p:cNvSpPr>
            <a:spLocks noGrp="1"/>
          </p:cNvSpPr>
          <p:nvPr/>
        </p:nvSpPr>
        <p:spPr>
          <a:xfrm>
            <a:off x="2076450" y="3981450"/>
            <a:ext cx="9048750" cy="0"/>
          </a:xfrm>
          <a:prstGeom prst="line">
            <a:avLst/>
          </a:prstGeom>
          <a:noFill/>
          <a:ln w="9525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59F36BC-50C1-4B6F-AB1A-8D5513A5CFAE}"/>
              </a:ext>
            </a:extLst>
          </p:cNvPr>
          <p:cNvSpPr>
            <a:spLocks noGrp="1"/>
          </p:cNvSpPr>
          <p:nvPr/>
        </p:nvSpPr>
        <p:spPr>
          <a:xfrm>
            <a:off x="571500" y="4371975"/>
            <a:ext cx="1476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00" b="1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ORGANIZACIÓN Y EQUIPO</a:t>
            </a:r>
          </a:p>
        </p:txBody>
      </p:sp>
      <p:sp>
        <p:nvSpPr>
          <p:cNvPr id="24" name="Conector recto 23">
            <a:extLst>
              <a:ext uri="{FF2B5EF4-FFF2-40B4-BE49-F238E27FC236}">
                <a16:creationId xmlns:a16="http://schemas.microsoft.com/office/drawing/2014/main" id="{B235F5E4-89B3-45A9-A919-DB0D6598518E}"/>
              </a:ext>
            </a:extLst>
          </p:cNvPr>
          <p:cNvSpPr>
            <a:spLocks noGrp="1"/>
          </p:cNvSpPr>
          <p:nvPr/>
        </p:nvSpPr>
        <p:spPr>
          <a:xfrm>
            <a:off x="2076450" y="4810125"/>
            <a:ext cx="9048750" cy="0"/>
          </a:xfrm>
          <a:prstGeom prst="line">
            <a:avLst/>
          </a:prstGeom>
          <a:noFill/>
          <a:ln w="9525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D30EABE-DF6B-4FFD-A8D7-74092E9BED01}"/>
              </a:ext>
            </a:extLst>
          </p:cNvPr>
          <p:cNvSpPr>
            <a:spLocks noGrp="1"/>
          </p:cNvSpPr>
          <p:nvPr/>
        </p:nvSpPr>
        <p:spPr>
          <a:xfrm>
            <a:off x="571500" y="5200650"/>
            <a:ext cx="14763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00" b="1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CONOCIMIENTO Y MEJORA</a:t>
            </a:r>
          </a:p>
        </p:txBody>
      </p:sp>
      <p:sp>
        <p:nvSpPr>
          <p:cNvPr id="26" name="Conector recto 25">
            <a:extLst>
              <a:ext uri="{FF2B5EF4-FFF2-40B4-BE49-F238E27FC236}">
                <a16:creationId xmlns:a16="http://schemas.microsoft.com/office/drawing/2014/main" id="{B7B457CD-DD93-4876-8929-3F29A9AA2BBA}"/>
              </a:ext>
            </a:extLst>
          </p:cNvPr>
          <p:cNvSpPr>
            <a:spLocks noGrp="1"/>
          </p:cNvSpPr>
          <p:nvPr/>
        </p:nvSpPr>
        <p:spPr>
          <a:xfrm>
            <a:off x="2076450" y="5638800"/>
            <a:ext cx="9048750" cy="0"/>
          </a:xfrm>
          <a:prstGeom prst="line">
            <a:avLst/>
          </a:prstGeom>
          <a:noFill/>
          <a:ln w="9525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D8A38381-5538-4770-BFCE-AFCB7F8F1F33}"/>
              </a:ext>
            </a:extLst>
          </p:cNvPr>
          <p:cNvSpPr>
            <a:spLocks noGrp="1"/>
          </p:cNvSpPr>
          <p:nvPr/>
        </p:nvSpPr>
        <p:spPr>
          <a:xfrm>
            <a:off x="2095500" y="2647950"/>
            <a:ext cx="1476375" cy="400050"/>
          </a:xfrm>
          <a:prstGeom prst="roundRect">
            <a:avLst>
              <a:gd name="adj" fmla="val 50000"/>
            </a:avLst>
          </a:prstGeom>
          <a:solidFill>
            <a:srgbClr val="E9E7EF"/>
          </a:solidFill>
          <a:ln w="0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B943F1E-60E6-4669-A58C-19D6CF6CFCA0}"/>
              </a:ext>
            </a:extLst>
          </p:cNvPr>
          <p:cNvSpPr>
            <a:spLocks noGrp="1"/>
          </p:cNvSpPr>
          <p:nvPr/>
        </p:nvSpPr>
        <p:spPr>
          <a:xfrm>
            <a:off x="2171700" y="2676525"/>
            <a:ext cx="1323975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F1B30"/>
                </a:solidFill>
                <a:latin typeface="Aptos"/>
                <a:ea typeface="Aptos"/>
                <a:cs typeface="Aptos"/>
              </a:rPr>
              <a:t>R0 · cerrar la base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38C9BB83-4152-424D-ADA6-5C67CC086B09}"/>
              </a:ext>
            </a:extLst>
          </p:cNvPr>
          <p:cNvSpPr>
            <a:spLocks noGrp="1"/>
          </p:cNvSpPr>
          <p:nvPr/>
        </p:nvSpPr>
        <p:spPr>
          <a:xfrm>
            <a:off x="3695700" y="2647950"/>
            <a:ext cx="2571750" cy="400050"/>
          </a:xfrm>
          <a:prstGeom prst="roundRect">
            <a:avLst>
              <a:gd name="adj" fmla="val 50000"/>
            </a:avLst>
          </a:prstGeom>
          <a:solidFill>
            <a:srgbClr val="009566"/>
          </a:solidFill>
          <a:ln w="0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8009DEEB-54A4-4608-89E6-65AEE6816A5B}"/>
              </a:ext>
            </a:extLst>
          </p:cNvPr>
          <p:cNvSpPr>
            <a:spLocks noGrp="1"/>
          </p:cNvSpPr>
          <p:nvPr/>
        </p:nvSpPr>
        <p:spPr>
          <a:xfrm>
            <a:off x="3771900" y="2676525"/>
            <a:ext cx="24193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R1 · Relationship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80B872AB-B4A6-4286-BBC8-7338043454E5}"/>
              </a:ext>
            </a:extLst>
          </p:cNvPr>
          <p:cNvSpPr>
            <a:spLocks noGrp="1"/>
          </p:cNvSpPr>
          <p:nvPr/>
        </p:nvSpPr>
        <p:spPr>
          <a:xfrm>
            <a:off x="6591300" y="2647950"/>
            <a:ext cx="2143125" cy="400050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1E285E9-7A32-42B0-9CC1-AA5D98A8763D}"/>
              </a:ext>
            </a:extLst>
          </p:cNvPr>
          <p:cNvSpPr>
            <a:spLocks noGrp="1"/>
          </p:cNvSpPr>
          <p:nvPr/>
        </p:nvSpPr>
        <p:spPr>
          <a:xfrm>
            <a:off x="6667500" y="2676525"/>
            <a:ext cx="1990725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R4 · Demand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CED23629-C1A0-4637-97B2-B40D67B9FE08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1666875" cy="400050"/>
          </a:xfrm>
          <a:prstGeom prst="roundRect">
            <a:avLst>
              <a:gd name="adj" fmla="val 50000"/>
            </a:avLst>
          </a:prstGeom>
          <a:solidFill>
            <a:srgbClr val="4866C6"/>
          </a:solidFill>
          <a:ln w="0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A69B876A-22BF-424E-8756-4324C24FDC64}"/>
              </a:ext>
            </a:extLst>
          </p:cNvPr>
          <p:cNvSpPr>
            <a:spLocks noGrp="1"/>
          </p:cNvSpPr>
          <p:nvPr/>
        </p:nvSpPr>
        <p:spPr>
          <a:xfrm>
            <a:off x="8934450" y="2676525"/>
            <a:ext cx="1514475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R6 · Transaction</a:t>
            </a:r>
          </a:p>
        </p:txBody>
      </p:sp>
      <p:sp>
        <p:nvSpPr>
          <p:cNvPr id="35" name="Rectángulo: esquinas redondeadas 34">
            <a:extLst>
              <a:ext uri="{FF2B5EF4-FFF2-40B4-BE49-F238E27FC236}">
                <a16:creationId xmlns:a16="http://schemas.microsoft.com/office/drawing/2014/main" id="{A806BAE4-EC9D-4A6E-A708-3098057462B9}"/>
              </a:ext>
            </a:extLst>
          </p:cNvPr>
          <p:cNvSpPr>
            <a:spLocks noGrp="1"/>
          </p:cNvSpPr>
          <p:nvPr/>
        </p:nvSpPr>
        <p:spPr>
          <a:xfrm>
            <a:off x="10620375" y="2647950"/>
            <a:ext cx="809625" cy="400050"/>
          </a:xfrm>
          <a:prstGeom prst="roundRect">
            <a:avLst>
              <a:gd name="adj" fmla="val 50000"/>
            </a:avLst>
          </a:prstGeom>
          <a:solidFill>
            <a:srgbClr val="7B45EA"/>
          </a:solidFill>
          <a:ln w="0">
            <a:solidFill>
              <a:srgbClr val="7B45E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062C31F2-3D0C-4D89-8889-A038EAABB9A0}"/>
              </a:ext>
            </a:extLst>
          </p:cNvPr>
          <p:cNvSpPr>
            <a:spLocks noGrp="1"/>
          </p:cNvSpPr>
          <p:nvPr/>
        </p:nvSpPr>
        <p:spPr>
          <a:xfrm>
            <a:off x="10696575" y="2676525"/>
            <a:ext cx="657225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R7 / R8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616159CE-B240-4B53-AD84-8284DB61F4DE}"/>
              </a:ext>
            </a:extLst>
          </p:cNvPr>
          <p:cNvSpPr>
            <a:spLocks noGrp="1"/>
          </p:cNvSpPr>
          <p:nvPr/>
        </p:nvSpPr>
        <p:spPr>
          <a:xfrm>
            <a:off x="3695700" y="3476625"/>
            <a:ext cx="5048250" cy="400050"/>
          </a:xfrm>
          <a:prstGeom prst="roundRect">
            <a:avLst>
              <a:gd name="adj" fmla="val 50000"/>
            </a:avLst>
          </a:prstGeom>
          <a:solidFill>
            <a:srgbClr val="F39A24"/>
          </a:solidFill>
          <a:ln w="0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6FBA13CE-BD18-44FC-9886-D50CE7E39C7E}"/>
              </a:ext>
            </a:extLst>
          </p:cNvPr>
          <p:cNvSpPr>
            <a:spLocks noGrp="1"/>
          </p:cNvSpPr>
          <p:nvPr/>
        </p:nvSpPr>
        <p:spPr>
          <a:xfrm>
            <a:off x="3771900" y="3505200"/>
            <a:ext cx="489585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R2 · </a:t>
            </a:r>
            <a:r>
              <a:rPr sz="9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medir</a:t>
            </a: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desde</a:t>
            </a: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R1 y </a:t>
            </a:r>
            <a:r>
              <a:rPr sz="9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demostrar</a:t>
            </a: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despliegue</a:t>
            </a: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repetible</a:t>
            </a:r>
            <a:endParaRPr sz="975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87BB0843-C924-42F2-97AF-6B73AA9A57A9}"/>
              </a:ext>
            </a:extLst>
          </p:cNvPr>
          <p:cNvSpPr>
            <a:spLocks noGrp="1"/>
          </p:cNvSpPr>
          <p:nvPr/>
        </p:nvSpPr>
        <p:spPr>
          <a:xfrm>
            <a:off x="3695700" y="4305300"/>
            <a:ext cx="2333625" cy="400050"/>
          </a:xfrm>
          <a:prstGeom prst="roundRect">
            <a:avLst>
              <a:gd name="adj" fmla="val 50000"/>
            </a:avLst>
          </a:prstGeom>
          <a:solidFill>
            <a:srgbClr val="F39A24"/>
          </a:solidFill>
          <a:ln w="0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7F2665F-4701-453A-861C-5CDD10BC69ED}"/>
              </a:ext>
            </a:extLst>
          </p:cNvPr>
          <p:cNvSpPr>
            <a:spLocks noGrp="1"/>
          </p:cNvSpPr>
          <p:nvPr/>
        </p:nvSpPr>
        <p:spPr>
          <a:xfrm>
            <a:off x="3771900" y="4333875"/>
            <a:ext cx="2181225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R3 </a:t>
            </a:r>
            <a:r>
              <a:rPr sz="9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mínimo</a:t>
            </a: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requerido</a:t>
            </a: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975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por</a:t>
            </a: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R1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D7AE383D-A024-469D-A513-BE04C5124430}"/>
              </a:ext>
            </a:extLst>
          </p:cNvPr>
          <p:cNvSpPr>
            <a:spLocks noGrp="1"/>
          </p:cNvSpPr>
          <p:nvPr/>
        </p:nvSpPr>
        <p:spPr>
          <a:xfrm>
            <a:off x="6591300" y="4305300"/>
            <a:ext cx="3857625" cy="400050"/>
          </a:xfrm>
          <a:prstGeom prst="roundRect">
            <a:avLst>
              <a:gd name="adj" fmla="val 50000"/>
            </a:avLst>
          </a:prstGeom>
          <a:solidFill>
            <a:srgbClr val="FFF0D7"/>
          </a:solidFill>
          <a:ln w="14288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42F0F141-529B-4ECF-82B6-66F1082DD7BE}"/>
              </a:ext>
            </a:extLst>
          </p:cNvPr>
          <p:cNvSpPr>
            <a:spLocks noGrp="1"/>
          </p:cNvSpPr>
          <p:nvPr/>
        </p:nvSpPr>
        <p:spPr>
          <a:xfrm>
            <a:off x="6743700" y="4381500"/>
            <a:ext cx="3552825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39A24"/>
                </a:solidFill>
                <a:latin typeface="Aptos"/>
                <a:ea typeface="Aptos"/>
                <a:cs typeface="Aptos"/>
              </a:rPr>
              <a:t>R3 · </a:t>
            </a:r>
            <a:r>
              <a:rPr sz="975" b="1" dirty="0" err="1">
                <a:solidFill>
                  <a:srgbClr val="F39A24"/>
                </a:solidFill>
                <a:latin typeface="Aptos"/>
                <a:ea typeface="Aptos"/>
                <a:cs typeface="Aptos"/>
              </a:rPr>
              <a:t>madurez</a:t>
            </a:r>
            <a:r>
              <a:rPr sz="975" b="1" dirty="0">
                <a:solidFill>
                  <a:srgbClr val="F39A24"/>
                </a:solidFill>
                <a:latin typeface="Aptos"/>
                <a:ea typeface="Aptos"/>
                <a:cs typeface="Aptos"/>
              </a:rPr>
              <a:t> de </a:t>
            </a:r>
            <a:r>
              <a:rPr sz="975" b="1" dirty="0" err="1">
                <a:solidFill>
                  <a:srgbClr val="F39A24"/>
                </a:solidFill>
                <a:latin typeface="Aptos"/>
                <a:ea typeface="Aptos"/>
                <a:cs typeface="Aptos"/>
              </a:rPr>
              <a:t>organización</a:t>
            </a:r>
            <a:r>
              <a:rPr sz="975" b="1" dirty="0">
                <a:solidFill>
                  <a:srgbClr val="F39A24"/>
                </a:solidFill>
                <a:latin typeface="Aptos"/>
                <a:ea typeface="Aptos"/>
                <a:cs typeface="Aptos"/>
              </a:rPr>
              <a:t> y </a:t>
            </a:r>
            <a:r>
              <a:rPr sz="975" b="1" dirty="0" err="1">
                <a:solidFill>
                  <a:srgbClr val="F39A24"/>
                </a:solidFill>
                <a:latin typeface="Aptos"/>
                <a:ea typeface="Aptos"/>
                <a:cs typeface="Aptos"/>
              </a:rPr>
              <a:t>equipo</a:t>
            </a:r>
            <a:endParaRPr sz="975" b="1" dirty="0">
              <a:solidFill>
                <a:srgbClr val="F39A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3" name="Conector recto 42">
            <a:extLst>
              <a:ext uri="{FF2B5EF4-FFF2-40B4-BE49-F238E27FC236}">
                <a16:creationId xmlns:a16="http://schemas.microsoft.com/office/drawing/2014/main" id="{4DB905C8-94F3-4EB0-92EF-835B972E6E5C}"/>
              </a:ext>
            </a:extLst>
          </p:cNvPr>
          <p:cNvSpPr>
            <a:spLocks noGrp="1"/>
          </p:cNvSpPr>
          <p:nvPr/>
        </p:nvSpPr>
        <p:spPr>
          <a:xfrm>
            <a:off x="6048375" y="4505325"/>
            <a:ext cx="523875" cy="0"/>
          </a:xfrm>
          <a:prstGeom prst="line">
            <a:avLst/>
          </a:prstGeom>
          <a:noFill/>
          <a:ln w="19050">
            <a:solidFill>
              <a:srgbClr val="F39A24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C7E64E13-E8EC-4C74-AD89-40277890926E}"/>
              </a:ext>
            </a:extLst>
          </p:cNvPr>
          <p:cNvSpPr>
            <a:spLocks noGrp="1"/>
          </p:cNvSpPr>
          <p:nvPr/>
        </p:nvSpPr>
        <p:spPr>
          <a:xfrm>
            <a:off x="6572250" y="5133975"/>
            <a:ext cx="8572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01B6E7AB-6962-430E-A2DA-33775F80CF2B}"/>
              </a:ext>
            </a:extLst>
          </p:cNvPr>
          <p:cNvSpPr>
            <a:spLocks noGrp="1"/>
          </p:cNvSpPr>
          <p:nvPr/>
        </p:nvSpPr>
        <p:spPr>
          <a:xfrm>
            <a:off x="6648450" y="5162550"/>
            <a:ext cx="7048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675" b="1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98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TRIGGER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BD40D830-080B-46C5-9FFC-9A998FB86AD3}"/>
              </a:ext>
            </a:extLst>
          </p:cNvPr>
          <p:cNvSpPr>
            <a:spLocks noGrp="1"/>
          </p:cNvSpPr>
          <p:nvPr/>
        </p:nvSpPr>
        <p:spPr>
          <a:xfrm>
            <a:off x="7524750" y="5095875"/>
            <a:ext cx="2667000" cy="400050"/>
          </a:xfrm>
          <a:prstGeom prst="roundRect">
            <a:avLst>
              <a:gd name="adj" fmla="val 50000"/>
            </a:avLst>
          </a:prstGeom>
          <a:solidFill>
            <a:srgbClr val="B8497C"/>
          </a:solidFill>
          <a:ln w="0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4F028537-532A-45A1-8CAA-919A1A636AD3}"/>
              </a:ext>
            </a:extLst>
          </p:cNvPr>
          <p:cNvSpPr>
            <a:spLocks noGrp="1"/>
          </p:cNvSpPr>
          <p:nvPr/>
        </p:nvSpPr>
        <p:spPr>
          <a:xfrm>
            <a:off x="7600950" y="5124450"/>
            <a:ext cx="25146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8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R5 · </a:t>
            </a:r>
            <a:r>
              <a:rPr sz="98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primera</a:t>
            </a:r>
            <a:r>
              <a:rPr sz="98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Slice del Business Brain</a:t>
            </a:r>
          </a:p>
        </p:txBody>
      </p:sp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CFED6791-7E19-4F7D-B2E5-18045497526E}"/>
              </a:ext>
            </a:extLst>
          </p:cNvPr>
          <p:cNvSpPr>
            <a:spLocks noGrp="1"/>
          </p:cNvSpPr>
          <p:nvPr/>
        </p:nvSpPr>
        <p:spPr>
          <a:xfrm>
            <a:off x="10287000" y="5095875"/>
            <a:ext cx="1143000" cy="400050"/>
          </a:xfrm>
          <a:prstGeom prst="roundRect">
            <a:avLst>
              <a:gd name="adj" fmla="val 50000"/>
            </a:avLst>
          </a:prstGeom>
          <a:solidFill>
            <a:srgbClr val="4866C6"/>
          </a:solidFill>
          <a:ln w="0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A4042D97-8D6E-4B71-A609-CC5B17E612D9}"/>
              </a:ext>
            </a:extLst>
          </p:cNvPr>
          <p:cNvSpPr>
            <a:spLocks noGrp="1"/>
          </p:cNvSpPr>
          <p:nvPr/>
        </p:nvSpPr>
        <p:spPr>
          <a:xfrm>
            <a:off x="10363200" y="5124450"/>
            <a:ext cx="9906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8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R9 · </a:t>
            </a:r>
            <a:r>
              <a:rPr sz="98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mejora</a:t>
            </a:r>
            <a:r>
              <a:rPr sz="98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98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gobernada</a:t>
            </a:r>
            <a:endParaRPr sz="98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0" name="Rectángulo: esquinas redondeadas 49">
            <a:extLst>
              <a:ext uri="{FF2B5EF4-FFF2-40B4-BE49-F238E27FC236}">
                <a16:creationId xmlns:a16="http://schemas.microsoft.com/office/drawing/2014/main" id="{99AD573B-6175-4854-802E-1D85ED9E451B}"/>
              </a:ext>
            </a:extLst>
          </p:cNvPr>
          <p:cNvSpPr>
            <a:spLocks noGrp="1"/>
          </p:cNvSpPr>
          <p:nvPr/>
        </p:nvSpPr>
        <p:spPr>
          <a:xfrm>
            <a:off x="571500" y="5867400"/>
            <a:ext cx="10858500" cy="361950"/>
          </a:xfrm>
          <a:prstGeom prst="roundRect">
            <a:avLst>
              <a:gd name="adj" fmla="val 26316"/>
            </a:avLst>
          </a:prstGeom>
          <a:solidFill>
            <a:srgbClr val="1F1B30"/>
          </a:solidFill>
          <a:ln w="0">
            <a:solidFill>
              <a:srgbClr val="1F1B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1BF0B36B-DE03-4D65-8C9F-CCCE20E8B020}"/>
              </a:ext>
            </a:extLst>
          </p:cNvPr>
          <p:cNvSpPr>
            <a:spLocks noGrp="1"/>
          </p:cNvSpPr>
          <p:nvPr/>
        </p:nvSpPr>
        <p:spPr>
          <a:xfrm>
            <a:off x="762000" y="5899210"/>
            <a:ext cx="10477500" cy="302948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Horizonte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relativo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=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orden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y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 Un release plan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separado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convierte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Slices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elegidas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en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fechas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y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compromisos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E442D904-B27C-40DA-AC15-63868C5FC870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167" lnSpcReduction="20000"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docs/roadmap/gu-os-evolution-roadmap.md v1.1</a:t>
            </a:r>
          </a:p>
        </p:txBody>
      </p:sp>
      <p:sp>
        <p:nvSpPr>
          <p:cNvPr id="54" name="Rectángulo: esquinas redondeadas 53">
            <a:extLst>
              <a:ext uri="{FF2B5EF4-FFF2-40B4-BE49-F238E27FC236}">
                <a16:creationId xmlns:a16="http://schemas.microsoft.com/office/drawing/2014/main" id="{3073732A-AF77-ED3E-7151-157131AEDBE4}"/>
              </a:ext>
            </a:extLst>
          </p:cNvPr>
          <p:cNvSpPr>
            <a:spLocks noGrp="1"/>
          </p:cNvSpPr>
          <p:nvPr/>
        </p:nvSpPr>
        <p:spPr>
          <a:xfrm>
            <a:off x="1898110" y="387453"/>
            <a:ext cx="1285875" cy="190501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D88CB94D-A58E-8528-1891-BFCDCC560BEB}"/>
              </a:ext>
            </a:extLst>
          </p:cNvPr>
          <p:cNvSpPr>
            <a:spLocks noGrp="1"/>
          </p:cNvSpPr>
          <p:nvPr/>
        </p:nvSpPr>
        <p:spPr>
          <a:xfrm>
            <a:off x="1974310" y="398197"/>
            <a:ext cx="1134251" cy="19050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 CANÓNICO</a:t>
            </a:r>
          </a:p>
        </p:txBody>
      </p:sp>
    </p:spTree>
    <p:extLst>
      <p:ext uri="{BB962C8B-B14F-4D97-AF65-F5344CB8AC3E}">
        <p14:creationId xmlns:p14="http://schemas.microsoft.com/office/powerpoint/2010/main" val="707038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ángulo 48">
            <a:extLst>
              <a:ext uri="{FF2B5EF4-FFF2-40B4-BE49-F238E27FC236}">
                <a16:creationId xmlns:a16="http://schemas.microsoft.com/office/drawing/2014/main" id="{210341D6-DB45-4ADD-B273-F8725EEFD7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C5BB48F-9B32-406C-8A50-3477C37D119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>
              <a:defRPr sz="975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DEPENDENCIAS Y GATES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3E3BC58-BB46-4205-9D31-3D1AA8B5277C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101441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B30"/>
                </a:solidFill>
                <a:latin typeface="Aptos"/>
                <a:ea typeface="Aptos"/>
                <a:cs typeface="Aptos"/>
              </a:rPr>
              <a:t>Qué permite avanzar de un incremento al siguiente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19FDC0A-B669-443B-84C3-EAC7FE41C3D9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10497326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2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Las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dependencias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obligatorias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forman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la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ruta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principal. Los triggers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activan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trabajo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que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permanece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deliberadamente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condicionado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pic>
        <p:nvPicPr>
          <p:cNvPr id="53" name="Imagen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91172918-72E2-4F79-B0BE-B4D7D23F4631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 lnSpcReduction="20000"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607BC3B-34AF-458C-B465-E6BA276B8C79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 lnSpcReduction="20000"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FCFAD73E-6EE8-4810-B38D-E7714BA164F2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1809750" cy="1066800"/>
          </a:xfrm>
          <a:prstGeom prst="roundRect">
            <a:avLst>
              <a:gd name="adj" fmla="val 10714"/>
            </a:avLst>
          </a:prstGeom>
          <a:solidFill>
            <a:srgbClr val="F1F0F5"/>
          </a:solidFill>
          <a:ln w="11430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D37AC91-CFAB-44DC-85FE-9E8C76303445}"/>
              </a:ext>
            </a:extLst>
          </p:cNvPr>
          <p:cNvSpPr>
            <a:spLocks noGrp="1"/>
          </p:cNvSpPr>
          <p:nvPr/>
        </p:nvSpPr>
        <p:spPr>
          <a:xfrm>
            <a:off x="704850" y="2524125"/>
            <a:ext cx="15430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625" lnSpcReduction="10000"/>
          </a:bodyPr>
          <a:lstStyle/>
          <a:p>
            <a:pPr>
              <a:defRPr sz="1200" b="1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1B30"/>
                </a:solidFill>
                <a:latin typeface="Aptos"/>
                <a:ea typeface="Aptos"/>
                <a:cs typeface="Aptos"/>
              </a:rPr>
              <a:t>R0 · BASE PILOTO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C66FE38-ED25-4600-9281-BEC467AEF4FE}"/>
              </a:ext>
            </a:extLst>
          </p:cNvPr>
          <p:cNvSpPr>
            <a:spLocks noGrp="1"/>
          </p:cNvSpPr>
          <p:nvPr/>
        </p:nvSpPr>
        <p:spPr>
          <a:xfrm>
            <a:off x="704850" y="2828925"/>
            <a:ext cx="1543050" cy="5810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435" lnSpcReduction="20000"/>
          </a:bodyPr>
          <a:lstStyle/>
          <a:p>
            <a:pPr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Cerrar Studio, Durable Tasks, attachments y Property Optioning con evidencia E2E.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4FCD58B-170E-46E4-B44E-60608F7F0A38}"/>
              </a:ext>
            </a:extLst>
          </p:cNvPr>
          <p:cNvSpPr>
            <a:spLocks noGrp="1"/>
          </p:cNvSpPr>
          <p:nvPr/>
        </p:nvSpPr>
        <p:spPr>
          <a:xfrm>
            <a:off x="2762250" y="2543175"/>
            <a:ext cx="152400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9F2E1EB2-9516-4424-A2FA-61476E6094B8}"/>
              </a:ext>
            </a:extLst>
          </p:cNvPr>
          <p:cNvSpPr>
            <a:spLocks noGrp="1"/>
          </p:cNvSpPr>
          <p:nvPr/>
        </p:nvSpPr>
        <p:spPr>
          <a:xfrm>
            <a:off x="2895600" y="2638425"/>
            <a:ext cx="12573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625" lnSpcReduction="10000"/>
          </a:bodyPr>
          <a:lstStyle/>
          <a:p>
            <a:pPr>
              <a:defRPr sz="1200" b="1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566"/>
                </a:solidFill>
                <a:latin typeface="Aptos"/>
                <a:ea typeface="Aptos"/>
                <a:cs typeface="Aptos"/>
              </a:rPr>
              <a:t>GATE 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3AE634B-70D7-4374-AB5E-CE04F486C407}"/>
              </a:ext>
            </a:extLst>
          </p:cNvPr>
          <p:cNvSpPr>
            <a:spLocks noGrp="1"/>
          </p:cNvSpPr>
          <p:nvPr/>
        </p:nvSpPr>
        <p:spPr>
          <a:xfrm>
            <a:off x="2895600" y="2943225"/>
            <a:ext cx="125730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139" lnSpcReduction="10000"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Runtime, tenancy y authority confiables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27BE2CEA-80C2-4F6D-A94B-648879963771}"/>
              </a:ext>
            </a:extLst>
          </p:cNvPr>
          <p:cNvSpPr>
            <a:spLocks noGrp="1"/>
          </p:cNvSpPr>
          <p:nvPr/>
        </p:nvSpPr>
        <p:spPr>
          <a:xfrm>
            <a:off x="4667250" y="2238375"/>
            <a:ext cx="2286000" cy="1447800"/>
          </a:xfrm>
          <a:prstGeom prst="roundRect">
            <a:avLst>
              <a:gd name="adj" fmla="val 7895"/>
            </a:avLst>
          </a:prstGeom>
          <a:solidFill>
            <a:srgbClr val="E3F5ED"/>
          </a:solidFill>
          <a:ln w="11430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E4DDB4DF-9756-431B-BCCC-7453148394BF}"/>
              </a:ext>
            </a:extLst>
          </p:cNvPr>
          <p:cNvSpPr>
            <a:spLocks noGrp="1"/>
          </p:cNvSpPr>
          <p:nvPr/>
        </p:nvSpPr>
        <p:spPr>
          <a:xfrm>
            <a:off x="4800600" y="2333625"/>
            <a:ext cx="20193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625" lnSpcReduction="10000"/>
          </a:bodyPr>
          <a:lstStyle/>
          <a:p>
            <a:pPr>
              <a:defRPr sz="1200" b="1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566"/>
                </a:solidFill>
                <a:latin typeface="Aptos"/>
                <a:ea typeface="Aptos"/>
                <a:cs typeface="Aptos"/>
              </a:rPr>
              <a:t>R1 · RELATIONSHIP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B4AE3BF-0C52-4E70-B5F4-5A2B63690EF4}"/>
              </a:ext>
            </a:extLst>
          </p:cNvPr>
          <p:cNvSpPr>
            <a:spLocks noGrp="1"/>
          </p:cNvSpPr>
          <p:nvPr/>
        </p:nvSpPr>
        <p:spPr>
          <a:xfrm>
            <a:off x="4800600" y="2638425"/>
            <a:ext cx="2019300" cy="9620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Mantener una oportunidad viable en movimiento. La visita es el primer hito comercial medible.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EB6D088-F6D6-4FCD-8CBE-565BF553363F}"/>
              </a:ext>
            </a:extLst>
          </p:cNvPr>
          <p:cNvSpPr>
            <a:spLocks noGrp="1"/>
          </p:cNvSpPr>
          <p:nvPr/>
        </p:nvSpPr>
        <p:spPr>
          <a:xfrm>
            <a:off x="7334250" y="2543175"/>
            <a:ext cx="1619250" cy="8382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143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451437B-7903-42A0-81FE-9D734F95C090}"/>
              </a:ext>
            </a:extLst>
          </p:cNvPr>
          <p:cNvSpPr>
            <a:spLocks noGrp="1"/>
          </p:cNvSpPr>
          <p:nvPr/>
        </p:nvSpPr>
        <p:spPr>
          <a:xfrm>
            <a:off x="7467600" y="2638425"/>
            <a:ext cx="13525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625" lnSpcReduction="10000"/>
          </a:bodyPr>
          <a:lstStyle/>
          <a:p>
            <a:pPr>
              <a:defRPr sz="1200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GATE B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BCA6B2D-4AB1-41B3-BA27-5BE19D11F65A}"/>
              </a:ext>
            </a:extLst>
          </p:cNvPr>
          <p:cNvSpPr>
            <a:spLocks noGrp="1"/>
          </p:cNvSpPr>
          <p:nvPr/>
        </p:nvSpPr>
        <p:spPr>
          <a:xfrm>
            <a:off x="7467600" y="2943225"/>
            <a:ext cx="1352550" cy="352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139" lnSpcReduction="10000"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Outcomes Relationship confiables y atribuibles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7077AF13-AF9F-4797-9C8D-1E156DD16642}"/>
              </a:ext>
            </a:extLst>
          </p:cNvPr>
          <p:cNvSpPr>
            <a:spLocks noGrp="1"/>
          </p:cNvSpPr>
          <p:nvPr/>
        </p:nvSpPr>
        <p:spPr>
          <a:xfrm>
            <a:off x="9334500" y="2428875"/>
            <a:ext cx="2190750" cy="1066800"/>
          </a:xfrm>
          <a:prstGeom prst="roundRect">
            <a:avLst>
              <a:gd name="adj" fmla="val 10714"/>
            </a:avLst>
          </a:prstGeom>
          <a:solidFill>
            <a:srgbClr val="EEE8FF"/>
          </a:solidFill>
          <a:ln w="1143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77C35C57-6BD9-4798-BD7A-062FD8ED6CE1}"/>
              </a:ext>
            </a:extLst>
          </p:cNvPr>
          <p:cNvSpPr>
            <a:spLocks noGrp="1"/>
          </p:cNvSpPr>
          <p:nvPr/>
        </p:nvSpPr>
        <p:spPr>
          <a:xfrm>
            <a:off x="9467850" y="2524125"/>
            <a:ext cx="19240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625" lnSpcReduction="10000"/>
          </a:bodyPr>
          <a:lstStyle/>
          <a:p>
            <a:pPr>
              <a:defRPr sz="1200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R4 · DEMAND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1ECE5B3-244C-42D5-B011-4B19F3051902}"/>
              </a:ext>
            </a:extLst>
          </p:cNvPr>
          <p:cNvSpPr>
            <a:spLocks noGrp="1"/>
          </p:cNvSpPr>
          <p:nvPr/>
        </p:nvSpPr>
        <p:spPr>
          <a:xfrm>
            <a:off x="9467850" y="2828925"/>
            <a:ext cx="1924050" cy="5810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Optimizar adquisición con evidencia de oportunidades y visitas.</a:t>
            </a:r>
          </a:p>
        </p:txBody>
      </p:sp>
      <p:cxnSp>
        <p:nvCxnSpPr>
          <p:cNvPr id="73" name="Conector recto de flecha 72"/>
          <p:cNvCxnSpPr>
            <a:stCxn id="10" idx="3"/>
            <a:endCxn id="13" idx="1"/>
          </p:cNvCxnSpPr>
          <p:nvPr/>
        </p:nvCxnSpPr>
        <p:spPr>
          <a:xfrm>
            <a:off x="2381250" y="2962275"/>
            <a:ext cx="3810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cxnSp>
        <p:nvCxnSpPr>
          <p:cNvPr id="74" name="Conector recto de flecha 73"/>
          <p:cNvCxnSpPr>
            <a:stCxn id="13" idx="3"/>
            <a:endCxn id="16" idx="1"/>
          </p:cNvCxnSpPr>
          <p:nvPr/>
        </p:nvCxnSpPr>
        <p:spPr>
          <a:xfrm>
            <a:off x="4286250" y="2962275"/>
            <a:ext cx="3810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cxnSp>
        <p:nvCxnSpPr>
          <p:cNvPr id="75" name="Conector recto de flecha 74"/>
          <p:cNvCxnSpPr>
            <a:stCxn id="16" idx="3"/>
            <a:endCxn id="19" idx="1"/>
          </p:cNvCxnSpPr>
          <p:nvPr/>
        </p:nvCxnSpPr>
        <p:spPr>
          <a:xfrm>
            <a:off x="6953250" y="2962275"/>
            <a:ext cx="3810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cxnSp>
        <p:nvCxnSpPr>
          <p:cNvPr id="76" name="Conector recto de flecha 75"/>
          <p:cNvCxnSpPr>
            <a:stCxn id="19" idx="3"/>
            <a:endCxn id="22" idx="1"/>
          </p:cNvCxnSpPr>
          <p:nvPr/>
        </p:nvCxnSpPr>
        <p:spPr>
          <a:xfrm>
            <a:off x="8953500" y="2962275"/>
            <a:ext cx="381000" cy="0"/>
          </a:xfrm>
          <a:prstGeom prst="straightConnector1">
            <a:avLst/>
          </a:prstGeom>
          <a:ln w="19050">
            <a:solidFill>
              <a:srgbClr val="5C2DD2"/>
            </a:solidFill>
            <a:prstDash val="solid"/>
            <a:tailEnd type="arrow" w="med" len="med"/>
          </a:ln>
        </p:spPr>
      </p:cxn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141B2017-1B90-4D48-A95E-EDB81981D434}"/>
              </a:ext>
            </a:extLst>
          </p:cNvPr>
          <p:cNvSpPr>
            <a:spLocks noGrp="1"/>
          </p:cNvSpPr>
          <p:nvPr/>
        </p:nvSpPr>
        <p:spPr>
          <a:xfrm>
            <a:off x="4667250" y="4171950"/>
            <a:ext cx="2286000" cy="971550"/>
          </a:xfrm>
          <a:prstGeom prst="roundRect">
            <a:avLst>
              <a:gd name="adj" fmla="val 11765"/>
            </a:avLst>
          </a:prstGeom>
          <a:solidFill>
            <a:srgbClr val="FFF0D7"/>
          </a:solidFill>
          <a:ln w="11430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CF594F31-5ABF-4A5A-BCD4-AA14A51CDD7B}"/>
              </a:ext>
            </a:extLst>
          </p:cNvPr>
          <p:cNvSpPr>
            <a:spLocks noGrp="1"/>
          </p:cNvSpPr>
          <p:nvPr/>
        </p:nvSpPr>
        <p:spPr>
          <a:xfrm>
            <a:off x="4800600" y="4267200"/>
            <a:ext cx="20193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778" lnSpcReduction="10000"/>
          </a:bodyPr>
          <a:lstStyle/>
          <a:p>
            <a:pPr>
              <a:defRPr sz="1200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9A24"/>
                </a:solidFill>
                <a:latin typeface="Aptos"/>
                <a:ea typeface="Aptos"/>
                <a:cs typeface="Aptos"/>
              </a:rPr>
              <a:t>PARTE DE R3 DENTRO DE R1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F79224E-FEE0-4CFD-A88C-F8B91235645A}"/>
              </a:ext>
            </a:extLst>
          </p:cNvPr>
          <p:cNvSpPr>
            <a:spLocks noGrp="1"/>
          </p:cNvSpPr>
          <p:nvPr/>
        </p:nvSpPr>
        <p:spPr>
          <a:xfrm>
            <a:off x="4800600" y="4572000"/>
            <a:ext cx="2019300" cy="485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62" lnSpcReduction="10000"/>
          </a:bodyPr>
          <a:lstStyle/>
          <a:p>
            <a:pPr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Organization + membership + assignment + visibilidad y routing por rol.</a:t>
            </a:r>
          </a:p>
        </p:txBody>
      </p:sp>
      <p:cxnSp>
        <p:nvCxnSpPr>
          <p:cNvPr id="80" name="Conector recto de flecha 79"/>
          <p:cNvCxnSpPr>
            <a:stCxn id="29" idx="0"/>
            <a:endCxn id="16" idx="2"/>
          </p:cNvCxnSpPr>
          <p:nvPr/>
        </p:nvCxnSpPr>
        <p:spPr>
          <a:xfrm flipV="1">
            <a:off x="5810250" y="3686175"/>
            <a:ext cx="0" cy="485775"/>
          </a:xfrm>
          <a:prstGeom prst="straightConnector1">
            <a:avLst/>
          </a:prstGeom>
          <a:ln w="19050">
            <a:solidFill>
              <a:srgbClr val="F39A24"/>
            </a:solidFill>
            <a:prstDash val="solid"/>
            <a:tailEnd type="arrow" w="med" len="med"/>
          </a:ln>
        </p:spPr>
      </p:cxn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015EF4DA-C6C7-4444-83FE-26E3B9D53107}"/>
              </a:ext>
            </a:extLst>
          </p:cNvPr>
          <p:cNvSpPr>
            <a:spLocks noGrp="1"/>
          </p:cNvSpPr>
          <p:nvPr/>
        </p:nvSpPr>
        <p:spPr>
          <a:xfrm>
            <a:off x="7334250" y="4171950"/>
            <a:ext cx="2381250" cy="971550"/>
          </a:xfrm>
          <a:prstGeom prst="roundRect">
            <a:avLst>
              <a:gd name="adj" fmla="val 11765"/>
            </a:avLst>
          </a:prstGeom>
          <a:solidFill>
            <a:srgbClr val="FFF0D7"/>
          </a:solidFill>
          <a:ln w="11430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19D71E9-A788-4551-9781-6D2625756DAB}"/>
              </a:ext>
            </a:extLst>
          </p:cNvPr>
          <p:cNvSpPr>
            <a:spLocks noGrp="1"/>
          </p:cNvSpPr>
          <p:nvPr/>
        </p:nvSpPr>
        <p:spPr>
          <a:xfrm>
            <a:off x="7467600" y="4267200"/>
            <a:ext cx="211455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625" lnSpcReduction="10000"/>
          </a:bodyPr>
          <a:lstStyle/>
          <a:p>
            <a:pPr>
              <a:defRPr sz="1200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9A24"/>
                </a:solidFill>
                <a:latin typeface="Aptos"/>
                <a:ea typeface="Aptos"/>
                <a:cs typeface="Aptos"/>
              </a:rPr>
              <a:t>R2 COMIENZA CON R1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406363D-732A-4DFF-BCD9-980E99DE1B7E}"/>
              </a:ext>
            </a:extLst>
          </p:cNvPr>
          <p:cNvSpPr>
            <a:spLocks noGrp="1"/>
          </p:cNvSpPr>
          <p:nvPr/>
        </p:nvSpPr>
        <p:spPr>
          <a:xfrm>
            <a:off x="7467600" y="4572000"/>
            <a:ext cx="2114550" cy="4857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462" lnSpcReduction="10000"/>
          </a:bodyPr>
          <a:lstStyle/>
          <a:p>
            <a:pPr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Instrumenta outcomes y prueba despliegue repetible en clientes distintos.</a:t>
            </a:r>
          </a:p>
        </p:txBody>
      </p:sp>
      <p:cxnSp>
        <p:nvCxnSpPr>
          <p:cNvPr id="84" name="Conector: angular 83"/>
          <p:cNvCxnSpPr>
            <a:stCxn id="16" idx="2"/>
            <a:endCxn id="33" idx="1"/>
          </p:cNvCxnSpPr>
          <p:nvPr/>
        </p:nvCxnSpPr>
        <p:spPr>
          <a:xfrm>
            <a:off x="5810250" y="3686175"/>
            <a:ext cx="1524000" cy="971550"/>
          </a:xfrm>
          <a:prstGeom prst="bentConnector5">
            <a:avLst>
              <a:gd name="adj1" fmla="val 0"/>
              <a:gd name="adj2" fmla="val 23529"/>
              <a:gd name="adj3" fmla="val 85000"/>
            </a:avLst>
          </a:prstGeom>
          <a:ln w="19050">
            <a:solidFill>
              <a:srgbClr val="F39A24"/>
            </a:solidFill>
            <a:prstDash val="solid"/>
            <a:tailEnd type="arrow" w="med" len="med"/>
          </a:ln>
        </p:spPr>
      </p:cxn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537A4415-5EC5-45C9-A851-02844F997D06}"/>
              </a:ext>
            </a:extLst>
          </p:cNvPr>
          <p:cNvSpPr>
            <a:spLocks noGrp="1"/>
          </p:cNvSpPr>
          <p:nvPr/>
        </p:nvSpPr>
        <p:spPr>
          <a:xfrm>
            <a:off x="10001250" y="4143375"/>
            <a:ext cx="1524000" cy="104775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1430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BBC4E694-D5C7-404E-8F81-D0141F113822}"/>
              </a:ext>
            </a:extLst>
          </p:cNvPr>
          <p:cNvSpPr>
            <a:spLocks noGrp="1"/>
          </p:cNvSpPr>
          <p:nvPr/>
        </p:nvSpPr>
        <p:spPr>
          <a:xfrm>
            <a:off x="10134600" y="4238625"/>
            <a:ext cx="1257300" cy="2571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0625" lnSpcReduction="10000"/>
          </a:bodyPr>
          <a:lstStyle/>
          <a:p>
            <a:pPr>
              <a:defRPr sz="1200" b="1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97C"/>
                </a:solidFill>
                <a:latin typeface="Aptos"/>
                <a:ea typeface="Aptos"/>
                <a:cs typeface="Aptos"/>
              </a:rPr>
              <a:t>TRIGGER R5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193E8E6B-C0F3-4A87-842F-42037FAF6A3C}"/>
              </a:ext>
            </a:extLst>
          </p:cNvPr>
          <p:cNvSpPr>
            <a:spLocks noGrp="1"/>
          </p:cNvSpPr>
          <p:nvPr/>
        </p:nvSpPr>
        <p:spPr>
          <a:xfrm>
            <a:off x="10134600" y="4543425"/>
            <a:ext cx="1257300" cy="5619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79"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Problema o pregunta cross-Case repetida, con evidencia y owner.</a:t>
            </a:r>
          </a:p>
        </p:txBody>
      </p:sp>
      <p:cxnSp>
        <p:nvCxnSpPr>
          <p:cNvPr id="88" name="Conector: angular 87"/>
          <p:cNvCxnSpPr>
            <a:stCxn id="33" idx="3"/>
            <a:endCxn id="37" idx="1"/>
          </p:cNvCxnSpPr>
          <p:nvPr/>
        </p:nvCxnSpPr>
        <p:spPr>
          <a:xfrm>
            <a:off x="9715500" y="4657725"/>
            <a:ext cx="285750" cy="9525"/>
          </a:xfrm>
          <a:prstGeom prst="bentConnector3">
            <a:avLst>
              <a:gd name="adj1" fmla="val 50000"/>
            </a:avLst>
          </a:prstGeom>
          <a:ln w="19050">
            <a:solidFill>
              <a:srgbClr val="B8497C"/>
            </a:solidFill>
            <a:prstDash val="dash"/>
            <a:tailEnd type="arrow" w="med" len="med"/>
          </a:ln>
        </p:spPr>
      </p:cxnSp>
      <p:sp>
        <p:nvSpPr>
          <p:cNvPr id="41" name="Rectángulo 40">
            <a:extLst>
              <a:ext uri="{FF2B5EF4-FFF2-40B4-BE49-F238E27FC236}">
                <a16:creationId xmlns:a16="http://schemas.microsoft.com/office/drawing/2014/main" id="{19B59330-CE43-4C44-B4A6-08E7927B1E5D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2381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>
              <a:defRPr sz="975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RUTA PRINCIPAL DE PRODUCTO</a:t>
            </a:r>
          </a:p>
        </p:txBody>
      </p:sp>
      <p:sp>
        <p:nvSpPr>
          <p:cNvPr id="42" name="Conector recto 41">
            <a:extLst>
              <a:ext uri="{FF2B5EF4-FFF2-40B4-BE49-F238E27FC236}">
                <a16:creationId xmlns:a16="http://schemas.microsoft.com/office/drawing/2014/main" id="{465FA6C3-656B-4302-8156-20C0F5C2DB77}"/>
              </a:ext>
            </a:extLst>
          </p:cNvPr>
          <p:cNvSpPr>
            <a:spLocks noGrp="1"/>
          </p:cNvSpPr>
          <p:nvPr/>
        </p:nvSpPr>
        <p:spPr>
          <a:xfrm>
            <a:off x="571500" y="5448300"/>
            <a:ext cx="171450" cy="0"/>
          </a:xfrm>
          <a:prstGeom prst="line">
            <a:avLst/>
          </a:prstGeom>
          <a:noFill/>
          <a:ln w="2857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5654E3A-81E9-44F5-81BA-83F53FA018F9}"/>
              </a:ext>
            </a:extLst>
          </p:cNvPr>
          <p:cNvSpPr>
            <a:spLocks noGrp="1"/>
          </p:cNvSpPr>
          <p:nvPr/>
        </p:nvSpPr>
        <p:spPr>
          <a:xfrm>
            <a:off x="828675" y="536257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Dependencia o prerequisito</a:t>
            </a:r>
          </a:p>
        </p:txBody>
      </p:sp>
      <p:sp>
        <p:nvSpPr>
          <p:cNvPr id="44" name="Conector recto 43">
            <a:extLst>
              <a:ext uri="{FF2B5EF4-FFF2-40B4-BE49-F238E27FC236}">
                <a16:creationId xmlns:a16="http://schemas.microsoft.com/office/drawing/2014/main" id="{222633B0-0D12-4DE4-AD8F-49EB74159661}"/>
              </a:ext>
            </a:extLst>
          </p:cNvPr>
          <p:cNvSpPr>
            <a:spLocks noGrp="1"/>
          </p:cNvSpPr>
          <p:nvPr/>
        </p:nvSpPr>
        <p:spPr>
          <a:xfrm>
            <a:off x="2592280" y="5448300"/>
            <a:ext cx="218797" cy="0"/>
          </a:xfrm>
          <a:prstGeom prst="line">
            <a:avLst/>
          </a:prstGeom>
          <a:noFill/>
          <a:ln w="28575">
            <a:solidFill>
              <a:srgbClr val="B8497C"/>
            </a:solidFill>
            <a:prstDash val="dash"/>
          </a:ln>
        </p:spPr>
        <p:txBody>
          <a:bodyPr/>
          <a:lstStyle/>
          <a:p>
            <a:endParaRPr lang="es-MX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099609A-0146-426B-A448-6963708BA6D1}"/>
              </a:ext>
            </a:extLst>
          </p:cNvPr>
          <p:cNvSpPr>
            <a:spLocks noGrp="1"/>
          </p:cNvSpPr>
          <p:nvPr/>
        </p:nvSpPr>
        <p:spPr>
          <a:xfrm>
            <a:off x="2896802" y="5362575"/>
            <a:ext cx="2095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Trigger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basado</a:t>
            </a:r>
            <a:r>
              <a:rPr sz="9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en </a:t>
            </a:r>
            <a:r>
              <a:rPr sz="9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evidencia</a:t>
            </a:r>
            <a:endParaRPr sz="900" b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4160FD0D-DD7A-42AB-9E5B-D00265E6C186}"/>
              </a:ext>
            </a:extLst>
          </p:cNvPr>
          <p:cNvSpPr>
            <a:spLocks noGrp="1"/>
          </p:cNvSpPr>
          <p:nvPr/>
        </p:nvSpPr>
        <p:spPr>
          <a:xfrm>
            <a:off x="571500" y="5781675"/>
            <a:ext cx="10953750" cy="400050"/>
          </a:xfrm>
          <a:prstGeom prst="roundRect">
            <a:avLst>
              <a:gd name="adj" fmla="val 23810"/>
            </a:avLst>
          </a:prstGeom>
          <a:solidFill>
            <a:srgbClr val="1F1B30"/>
          </a:solidFill>
          <a:ln w="0">
            <a:solidFill>
              <a:srgbClr val="1F1B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FAB0175D-1FE2-4C4C-A621-E70EE0887654}"/>
              </a:ext>
            </a:extLst>
          </p:cNvPr>
          <p:cNvSpPr>
            <a:spLocks noGrp="1"/>
          </p:cNvSpPr>
          <p:nvPr/>
        </p:nvSpPr>
        <p:spPr>
          <a:xfrm>
            <a:off x="762000" y="5831888"/>
            <a:ext cx="10572750" cy="322556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R2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convierte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operación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en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 R3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habilita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colaboración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segura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 R5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espera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necesidad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empresarial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demostrada</a:t>
            </a:r>
            <a:r>
              <a:rPr sz="14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2073D3E5-673F-4416-BCBF-79FA3FB5ECFB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4167" lnSpcReduction="20000"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docs/roadmap/gu-os-evolution-roadmap.md v1.1 · §§3–5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F3B6C3AD-7010-AB16-F7D2-698EE4FF0E7D}"/>
              </a:ext>
            </a:extLst>
          </p:cNvPr>
          <p:cNvSpPr>
            <a:spLocks noGrp="1"/>
          </p:cNvSpPr>
          <p:nvPr/>
        </p:nvSpPr>
        <p:spPr>
          <a:xfrm>
            <a:off x="2047195" y="387453"/>
            <a:ext cx="1285875" cy="190501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77D47C4-7AA1-24D3-F677-289B034D5750}"/>
              </a:ext>
            </a:extLst>
          </p:cNvPr>
          <p:cNvSpPr>
            <a:spLocks noGrp="1"/>
          </p:cNvSpPr>
          <p:nvPr/>
        </p:nvSpPr>
        <p:spPr>
          <a:xfrm>
            <a:off x="2123395" y="398197"/>
            <a:ext cx="1134251" cy="19050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 CANÓNICO</a:t>
            </a:r>
          </a:p>
        </p:txBody>
      </p:sp>
    </p:spTree>
    <p:extLst>
      <p:ext uri="{BB962C8B-B14F-4D97-AF65-F5344CB8AC3E}">
        <p14:creationId xmlns:p14="http://schemas.microsoft.com/office/powerpoint/2010/main" val="4283869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ángulo 34">
            <a:extLst>
              <a:ext uri="{FF2B5EF4-FFF2-40B4-BE49-F238E27FC236}">
                <a16:creationId xmlns:a16="http://schemas.microsoft.com/office/drawing/2014/main" id="{BEB78E48-0E1A-41F7-B6FA-2C5EF3EBF6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BE4012E3-E954-44C7-AC6D-5A6A7EFBED0C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987" lnSpcReduction="10000"/>
          </a:bodyPr>
          <a:lstStyle/>
          <a:p>
            <a:pPr>
              <a:defRPr sz="975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EXPANSIÓN CON EVIDENCIA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7118FBA-DB5E-41B1-882E-7DE1277F8D57}"/>
              </a:ext>
            </a:extLst>
          </p:cNvPr>
          <p:cNvSpPr>
            <a:spLocks noGrp="1"/>
          </p:cNvSpPr>
          <p:nvPr/>
        </p:nvSpPr>
        <p:spPr>
          <a:xfrm>
            <a:off x="571500" y="742950"/>
            <a:ext cx="101441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2325" b="1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F1B30"/>
                </a:solidFill>
                <a:latin typeface="Aptos"/>
                <a:ea typeface="Aptos"/>
                <a:cs typeface="Aptos"/>
              </a:rPr>
              <a:t>R3 y R5 entran en momentos distintos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23C6020-D4D7-4868-BB1D-09C15D56696B}"/>
              </a:ext>
            </a:extLst>
          </p:cNvPr>
          <p:cNvSpPr>
            <a:spLocks noGrp="1"/>
          </p:cNvSpPr>
          <p:nvPr/>
        </p:nvSpPr>
        <p:spPr>
          <a:xfrm>
            <a:off x="571500" y="1390650"/>
            <a:ext cx="8953500" cy="4381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R3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amplía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la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colaboración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organizacional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 R5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compila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conocimiento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empresarial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entre Cases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autorizados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pic>
        <p:nvPicPr>
          <p:cNvPr id="39" name="Imagen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0B7589E-64D4-4C6C-B335-3961476E55CE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 lnSpcReduction="20000"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7B60971-B41E-41E5-A583-47D7FE500FD8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53333" lnSpcReduction="20000"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377A9E3-D71E-49CF-9E9C-7760BF671556}"/>
              </a:ext>
            </a:extLst>
          </p:cNvPr>
          <p:cNvSpPr>
            <a:spLocks noGrp="1"/>
          </p:cNvSpPr>
          <p:nvPr/>
        </p:nvSpPr>
        <p:spPr>
          <a:xfrm>
            <a:off x="571500" y="2019300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39A24"/>
                </a:solidFill>
                <a:latin typeface="Aptos"/>
                <a:ea typeface="Aptos"/>
                <a:cs typeface="Aptos"/>
              </a:rPr>
              <a:t>R3 · ORGANIZATION / TEAM MATURITY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F2188BC-EE7C-482D-B43A-80A8FF1BD869}"/>
              </a:ext>
            </a:extLst>
          </p:cNvPr>
          <p:cNvSpPr>
            <a:spLocks noGrp="1"/>
          </p:cNvSpPr>
          <p:nvPr/>
        </p:nvSpPr>
        <p:spPr>
          <a:xfrm>
            <a:off x="6334125" y="2019300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R5 · MINIMUM VALUABLE BUSINESS BRAIN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35652D6-08D6-4A57-9B5B-95AA0DAE155D}"/>
              </a:ext>
            </a:extLst>
          </p:cNvPr>
          <p:cNvSpPr>
            <a:spLocks noGrp="1"/>
          </p:cNvSpPr>
          <p:nvPr/>
        </p:nvSpPr>
        <p:spPr>
          <a:xfrm>
            <a:off x="571500" y="2305050"/>
            <a:ext cx="5286375" cy="3000375"/>
          </a:xfrm>
          <a:prstGeom prst="roundRect">
            <a:avLst>
              <a:gd name="adj" fmla="val 4444"/>
            </a:avLst>
          </a:prstGeom>
          <a:solidFill>
            <a:srgbClr val="FFF0D7"/>
          </a:solidFill>
          <a:ln w="13335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F664D6F6-A61B-4ABA-9F35-8A0A6D43F4B9}"/>
              </a:ext>
            </a:extLst>
          </p:cNvPr>
          <p:cNvSpPr>
            <a:spLocks noGrp="1"/>
          </p:cNvSpPr>
          <p:nvPr/>
        </p:nvSpPr>
        <p:spPr>
          <a:xfrm>
            <a:off x="781050" y="2476500"/>
            <a:ext cx="1381125" cy="266700"/>
          </a:xfrm>
          <a:prstGeom prst="roundRect">
            <a:avLst>
              <a:gd name="adj" fmla="val 50000"/>
            </a:avLst>
          </a:prstGeom>
          <a:solidFill>
            <a:srgbClr val="F39A24"/>
          </a:solidFill>
          <a:ln w="0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 sz="10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BD6AD47-AAA5-4B8B-B243-869D07499153}"/>
              </a:ext>
            </a:extLst>
          </p:cNvPr>
          <p:cNvSpPr>
            <a:spLocks noGrp="1"/>
          </p:cNvSpPr>
          <p:nvPr/>
        </p:nvSpPr>
        <p:spPr>
          <a:xfrm>
            <a:off x="857250" y="2505075"/>
            <a:ext cx="12287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ENTRA EN R1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65616A3-19A1-43CF-AA1D-A37A64CC74D1}"/>
              </a:ext>
            </a:extLst>
          </p:cNvPr>
          <p:cNvSpPr>
            <a:spLocks noGrp="1"/>
          </p:cNvSpPr>
          <p:nvPr/>
        </p:nvSpPr>
        <p:spPr>
          <a:xfrm>
            <a:off x="781050" y="2867025"/>
            <a:ext cx="2000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990" lnSpcReduction="20000"/>
          </a:bodyPr>
          <a:lstStyle/>
          <a:p>
            <a:pPr>
              <a:defRPr sz="1275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lang="es-MX" sz="1275" b="1" dirty="0">
                <a:solidFill>
                  <a:srgbClr val="F39A24"/>
                </a:solidFill>
                <a:latin typeface="Aptos"/>
                <a:ea typeface="Aptos"/>
                <a:cs typeface="Aptos"/>
              </a:rPr>
              <a:t>Base</a:t>
            </a:r>
            <a:r>
              <a:rPr sz="1275" b="1" dirty="0">
                <a:solidFill>
                  <a:srgbClr val="F39A24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F39A24"/>
                </a:solidFill>
                <a:latin typeface="Aptos"/>
                <a:ea typeface="Aptos"/>
                <a:cs typeface="Aptos"/>
              </a:rPr>
              <a:t>mínima</a:t>
            </a:r>
            <a:endParaRPr sz="1275" b="1" dirty="0">
              <a:solidFill>
                <a:srgbClr val="F39A24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CD42ACC-076B-4818-9027-BAF8A208FF38}"/>
              </a:ext>
            </a:extLst>
          </p:cNvPr>
          <p:cNvSpPr>
            <a:spLocks noGrp="1"/>
          </p:cNvSpPr>
          <p:nvPr/>
        </p:nvSpPr>
        <p:spPr>
          <a:xfrm>
            <a:off x="781050" y="3171825"/>
            <a:ext cx="4762500" cy="971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La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organización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es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dueña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del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trabajo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durable</a:t>
            </a:r>
          </a:p>
          <a:p>
            <a:pPr marL="171450" indent="-171450">
              <a:buFont typeface="Arial" panose="020B0604020202020204" pitchFamily="34" charset="0"/>
              <a:buChar char="•"/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Membresía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roles</a:t>
            </a:r>
          </a:p>
          <a:p>
            <a:pPr marL="171450" indent="-171450">
              <a:buFont typeface="Arial" panose="020B0604020202020204" pitchFamily="34" charset="0"/>
              <a:buChar char="•"/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Asignación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visibilidad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routing multi-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asesor</a:t>
            </a:r>
            <a:endParaRPr sz="1050" b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 marL="171450" indent="-171450">
              <a:buFont typeface="Arial" panose="020B0604020202020204" pitchFamily="34" charset="0"/>
              <a:buChar char="•"/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Política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organizacional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necesaria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para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admisión</a:t>
            </a:r>
            <a:endParaRPr sz="1050" b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1A320BF-ACAB-4DF6-91B1-2F5D550F1935}"/>
              </a:ext>
            </a:extLst>
          </p:cNvPr>
          <p:cNvSpPr>
            <a:spLocks noGrp="1"/>
          </p:cNvSpPr>
          <p:nvPr/>
        </p:nvSpPr>
        <p:spPr>
          <a:xfrm>
            <a:off x="781050" y="4276725"/>
            <a:ext cx="30480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100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DDCBF50-7B0F-4709-AF8F-826AC503B36B}"/>
              </a:ext>
            </a:extLst>
          </p:cNvPr>
          <p:cNvSpPr>
            <a:spLocks noGrp="1"/>
          </p:cNvSpPr>
          <p:nvPr/>
        </p:nvSpPr>
        <p:spPr>
          <a:xfrm>
            <a:off x="857250" y="4305300"/>
            <a:ext cx="28956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F39A24"/>
                </a:solidFill>
                <a:latin typeface="Aptos"/>
                <a:ea typeface="Aptos"/>
                <a:cs typeface="Aptos"/>
              </a:rPr>
              <a:t>SE AMPLÍA CUANDO EL DESPLIEGUE LO EXIGE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57024077-3704-4F31-8E5A-E21A937F38CC}"/>
              </a:ext>
            </a:extLst>
          </p:cNvPr>
          <p:cNvSpPr>
            <a:spLocks noGrp="1"/>
          </p:cNvSpPr>
          <p:nvPr/>
        </p:nvSpPr>
        <p:spPr>
          <a:xfrm>
            <a:off x="781050" y="464820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Equipos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scopes de manager ·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administración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más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rica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·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conocimiento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Skills,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integraciones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políticas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organización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·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delegación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aprobaciones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avanzadas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·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retiro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atajos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por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usuario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o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cuenta</a:t>
            </a:r>
            <a:endParaRPr sz="1000" b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D8C480D6-A87B-4974-8B0A-47668A3E8728}"/>
              </a:ext>
            </a:extLst>
          </p:cNvPr>
          <p:cNvSpPr>
            <a:spLocks noGrp="1"/>
          </p:cNvSpPr>
          <p:nvPr/>
        </p:nvSpPr>
        <p:spPr>
          <a:xfrm>
            <a:off x="6334125" y="2305050"/>
            <a:ext cx="5286375" cy="3000375"/>
          </a:xfrm>
          <a:prstGeom prst="roundRect">
            <a:avLst>
              <a:gd name="adj" fmla="val 4444"/>
            </a:avLst>
          </a:prstGeom>
          <a:solidFill>
            <a:srgbClr val="F8E7F0"/>
          </a:solidFill>
          <a:ln w="13335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0EAC200-94AE-4C0D-B6A1-672142C84A74}"/>
              </a:ext>
            </a:extLst>
          </p:cNvPr>
          <p:cNvSpPr>
            <a:spLocks noGrp="1"/>
          </p:cNvSpPr>
          <p:nvPr/>
        </p:nvSpPr>
        <p:spPr>
          <a:xfrm>
            <a:off x="6543675" y="2476500"/>
            <a:ext cx="2143125" cy="266700"/>
          </a:xfrm>
          <a:prstGeom prst="roundRect">
            <a:avLst>
              <a:gd name="adj" fmla="val 50000"/>
            </a:avLst>
          </a:prstGeom>
          <a:solidFill>
            <a:srgbClr val="B8497C"/>
          </a:solidFill>
          <a:ln w="0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 sz="100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C6D87279-DA37-4871-BADA-CF3F2D03A082}"/>
              </a:ext>
            </a:extLst>
          </p:cNvPr>
          <p:cNvSpPr>
            <a:spLocks noGrp="1"/>
          </p:cNvSpPr>
          <p:nvPr/>
        </p:nvSpPr>
        <p:spPr>
          <a:xfrm>
            <a:off x="6619875" y="2505075"/>
            <a:ext cx="19907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ENTRA CON UN TRIGGER REAL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0E9DDA2E-B1BC-4E49-B476-3D602CC35F52}"/>
              </a:ext>
            </a:extLst>
          </p:cNvPr>
          <p:cNvSpPr>
            <a:spLocks noGrp="1"/>
          </p:cNvSpPr>
          <p:nvPr/>
        </p:nvSpPr>
        <p:spPr>
          <a:xfrm>
            <a:off x="6543675" y="2867025"/>
            <a:ext cx="3143250" cy="238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2990" lnSpcReduction="20000"/>
          </a:bodyPr>
          <a:lstStyle/>
          <a:p>
            <a:pPr>
              <a:defRPr sz="1275" b="1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275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Primera Slice </a:t>
            </a:r>
            <a:r>
              <a:rPr sz="1275" b="1" dirty="0" err="1">
                <a:solidFill>
                  <a:srgbClr val="B8497C"/>
                </a:solidFill>
                <a:latin typeface="Aptos"/>
                <a:ea typeface="Aptos"/>
                <a:cs typeface="Aptos"/>
              </a:rPr>
              <a:t>acotada</a:t>
            </a:r>
            <a:r>
              <a:rPr sz="1275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 del Brain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2A3AA7A-FE09-4090-A478-3E20F2B6E5F0}"/>
              </a:ext>
            </a:extLst>
          </p:cNvPr>
          <p:cNvSpPr>
            <a:spLocks noGrp="1"/>
          </p:cNvSpPr>
          <p:nvPr/>
        </p:nvSpPr>
        <p:spPr>
          <a:xfrm>
            <a:off x="6543675" y="3171825"/>
            <a:ext cx="4762500" cy="933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Una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pregunta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o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decisión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repetida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necesita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varios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Cases.</a:t>
            </a:r>
          </a:p>
          <a:p>
            <a:endParaRPr sz="1050" b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  <a:p>
            <a:pPr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Ejemplo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: “¿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Qué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señales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preceden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una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visita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efectiva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qué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oportunidades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debería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priorizar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el </a:t>
            </a:r>
            <a:r>
              <a:rPr sz="105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equipo</a:t>
            </a:r>
            <a:r>
              <a:rPr sz="105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?”</a:t>
            </a:r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29AF473A-1E18-4EC3-B6F5-09C501320E9D}"/>
              </a:ext>
            </a:extLst>
          </p:cNvPr>
          <p:cNvSpPr>
            <a:spLocks noGrp="1"/>
          </p:cNvSpPr>
          <p:nvPr/>
        </p:nvSpPr>
        <p:spPr>
          <a:xfrm>
            <a:off x="6543675" y="4276725"/>
            <a:ext cx="1905000" cy="2857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 sz="10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ABAD8298-57D4-42CD-B929-482FBF994A4E}"/>
              </a:ext>
            </a:extLst>
          </p:cNvPr>
          <p:cNvSpPr>
            <a:spLocks noGrp="1"/>
          </p:cNvSpPr>
          <p:nvPr/>
        </p:nvSpPr>
        <p:spPr>
          <a:xfrm>
            <a:off x="6619875" y="4305300"/>
            <a:ext cx="1752600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1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B8497C"/>
                </a:solidFill>
                <a:latin typeface="Aptos"/>
                <a:ea typeface="Aptos"/>
                <a:cs typeface="Aptos"/>
              </a:rPr>
              <a:t>CON LÍMITES EXPLÍCITOS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39F1356-3ED3-4B58-B936-105A9C2CAFA6}"/>
              </a:ext>
            </a:extLst>
          </p:cNvPr>
          <p:cNvSpPr>
            <a:spLocks noGrp="1"/>
          </p:cNvSpPr>
          <p:nvPr/>
        </p:nvSpPr>
        <p:spPr>
          <a:xfrm>
            <a:off x="6543675" y="464820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97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Ingesta y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conocimiento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compilado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con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alcance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procedencia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vigencia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· consulta y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síntesis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reproducibles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· sin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duplicar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estado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operativo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cola de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acciones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ni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autoridad</a:t>
            </a:r>
            <a:endParaRPr sz="1000" b="0" dirty="0">
              <a:solidFill>
                <a:srgbClr val="756F9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D1F2FD88-41D3-400B-9099-B1770C488F2B}"/>
              </a:ext>
            </a:extLst>
          </p:cNvPr>
          <p:cNvSpPr>
            <a:spLocks noGrp="1"/>
          </p:cNvSpPr>
          <p:nvPr/>
        </p:nvSpPr>
        <p:spPr>
          <a:xfrm>
            <a:off x="571500" y="5495925"/>
            <a:ext cx="5286375" cy="695325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1430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 sz="10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5DAD0EE-3BBD-48B5-A45B-0E88823D2A1F}"/>
              </a:ext>
            </a:extLst>
          </p:cNvPr>
          <p:cNvSpPr>
            <a:spLocks noGrp="1"/>
          </p:cNvSpPr>
          <p:nvPr/>
        </p:nvSpPr>
        <p:spPr>
          <a:xfrm>
            <a:off x="742950" y="5572125"/>
            <a:ext cx="49434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000" b="1" dirty="0">
                <a:solidFill>
                  <a:srgbClr val="F39A24"/>
                </a:solidFill>
                <a:latin typeface="Aptos"/>
                <a:ea typeface="Aptos"/>
                <a:cs typeface="Aptos"/>
              </a:rPr>
              <a:t>R3 GRADÚA CUANDO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7A12251F-CB76-4F55-AC07-B163FC5ABA64}"/>
              </a:ext>
            </a:extLst>
          </p:cNvPr>
          <p:cNvSpPr>
            <a:spLocks noGrp="1"/>
          </p:cNvSpPr>
          <p:nvPr/>
        </p:nvSpPr>
        <p:spPr>
          <a:xfrm>
            <a:off x="742950" y="5781675"/>
            <a:ext cx="49434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Inmobiliarias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diferentes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colaboran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entre roles y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equipos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sin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soluciones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especiales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por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cuenta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ni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fuga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entre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organizaciones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3592C8CB-322F-4758-BF34-C6C8300DD124}"/>
              </a:ext>
            </a:extLst>
          </p:cNvPr>
          <p:cNvSpPr>
            <a:spLocks noGrp="1"/>
          </p:cNvSpPr>
          <p:nvPr/>
        </p:nvSpPr>
        <p:spPr>
          <a:xfrm>
            <a:off x="6334125" y="5495925"/>
            <a:ext cx="5286375" cy="695325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1430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 sz="10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03976BBC-6286-4DAE-A5A0-E69B953E29DF}"/>
              </a:ext>
            </a:extLst>
          </p:cNvPr>
          <p:cNvSpPr>
            <a:spLocks noGrp="1"/>
          </p:cNvSpPr>
          <p:nvPr/>
        </p:nvSpPr>
        <p:spPr>
          <a:xfrm>
            <a:off x="6505575" y="5572125"/>
            <a:ext cx="4943475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1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000" b="1">
                <a:solidFill>
                  <a:srgbClr val="B8497C"/>
                </a:solidFill>
                <a:latin typeface="Aptos"/>
                <a:ea typeface="Aptos"/>
                <a:cs typeface="Aptos"/>
              </a:rPr>
              <a:t>R5 GRADÚA CUANDO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3E96DA9C-9DB0-4363-8E53-2A6EBDCCFF87}"/>
              </a:ext>
            </a:extLst>
          </p:cNvPr>
          <p:cNvSpPr>
            <a:spLocks noGrp="1"/>
          </p:cNvSpPr>
          <p:nvPr/>
        </p:nvSpPr>
        <p:spPr>
          <a:xfrm>
            <a:off x="6505575" y="5781675"/>
            <a:ext cx="4943475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Una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pregunta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repetida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mejora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forma material, reproducible y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autorizada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con </a:t>
            </a:r>
            <a:r>
              <a:rPr sz="10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conocimiento</a:t>
            </a:r>
            <a:r>
              <a:rPr sz="10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cross-Case.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D315D82-F805-4850-A6FE-269E00A7131C}"/>
              </a:ext>
            </a:extLst>
          </p:cNvPr>
          <p:cNvSpPr>
            <a:spLocks noGrp="1"/>
          </p:cNvSpPr>
          <p:nvPr/>
        </p:nvSpPr>
        <p:spPr>
          <a:xfrm>
            <a:off x="666750" y="6286500"/>
            <a:ext cx="10668000" cy="152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8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docs/roadmap/gu-os-evolution-roadmap.md v1.1 · R3 / R5</a:t>
            </a: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078B416A-7B59-2AF3-3BA8-792A9F70F11E}"/>
              </a:ext>
            </a:extLst>
          </p:cNvPr>
          <p:cNvSpPr>
            <a:spLocks noGrp="1"/>
          </p:cNvSpPr>
          <p:nvPr/>
        </p:nvSpPr>
        <p:spPr>
          <a:xfrm>
            <a:off x="2156524" y="387453"/>
            <a:ext cx="1285875" cy="190501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2E1E522-B4E5-4AE5-FCA3-30D25B6ECDD1}"/>
              </a:ext>
            </a:extLst>
          </p:cNvPr>
          <p:cNvSpPr>
            <a:spLocks noGrp="1"/>
          </p:cNvSpPr>
          <p:nvPr/>
        </p:nvSpPr>
        <p:spPr>
          <a:xfrm>
            <a:off x="2232724" y="398197"/>
            <a:ext cx="1134251" cy="19050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 CANÓNICO</a:t>
            </a:r>
          </a:p>
        </p:txBody>
      </p:sp>
    </p:spTree>
    <p:extLst>
      <p:ext uri="{BB962C8B-B14F-4D97-AF65-F5344CB8AC3E}">
        <p14:creationId xmlns:p14="http://schemas.microsoft.com/office/powerpoint/2010/main" val="2131609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ángulo 45">
            <a:extLst>
              <a:ext uri="{FF2B5EF4-FFF2-40B4-BE49-F238E27FC236}">
                <a16:creationId xmlns:a16="http://schemas.microsoft.com/office/drawing/2014/main" id="{8E14066B-18C2-4FBD-A5F5-571A48742E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6675"/>
          </a:xfrm>
          <a:prstGeom prst="rect">
            <a:avLst/>
          </a:prstGeom>
          <a:solidFill>
            <a:srgbClr val="5C2DD2"/>
          </a:solidFill>
          <a:ln w="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994A080-5834-42DF-BFA0-1413F9DAF39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8858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6111" lnSpcReduction="10000"/>
          </a:bodyPr>
          <a:lstStyle/>
          <a:p>
            <a:pPr>
              <a:defRPr sz="900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C2DD2"/>
                </a:solidFill>
                <a:latin typeface="Aptos"/>
                <a:ea typeface="Aptos"/>
                <a:cs typeface="Aptos"/>
              </a:rPr>
              <a:t>CAPACIDADES TRANSVERSALES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0F236AE-9C8F-4E96-B398-87DDC06D3CB0}"/>
              </a:ext>
            </a:extLst>
          </p:cNvPr>
          <p:cNvSpPr>
            <a:spLocks noGrp="1"/>
          </p:cNvSpPr>
          <p:nvPr/>
        </p:nvSpPr>
        <p:spPr>
          <a:xfrm>
            <a:off x="571500" y="725194"/>
            <a:ext cx="10144125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75" b="1">
                <a:solidFill>
                  <a:srgbClr val="1F1B30"/>
                </a:solidFill>
                <a:latin typeface="Aptos"/>
                <a:ea typeface="Aptos"/>
                <a:cs typeface="Aptos"/>
              </a:defRPr>
            </a:pPr>
            <a:r>
              <a:rPr sz="2000" b="1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Las </a:t>
            </a:r>
            <a:r>
              <a:rPr sz="2000" b="1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capacidades</a:t>
            </a:r>
            <a:r>
              <a:rPr sz="2000" b="1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 </a:t>
            </a:r>
            <a:r>
              <a:rPr sz="2000" b="1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transversales</a:t>
            </a:r>
            <a:r>
              <a:rPr sz="2000" b="1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 </a:t>
            </a:r>
            <a:r>
              <a:rPr sz="2000" b="1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entran</a:t>
            </a:r>
            <a:r>
              <a:rPr sz="2000" b="1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 </a:t>
            </a:r>
            <a:r>
              <a:rPr sz="2000" b="1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cuando</a:t>
            </a:r>
            <a:r>
              <a:rPr sz="2000" b="1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 un </a:t>
            </a:r>
            <a:r>
              <a:rPr sz="2000" b="1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incremento</a:t>
            </a:r>
            <a:r>
              <a:rPr lang="es-MX" sz="2000" b="1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 de producto</a:t>
            </a:r>
            <a:r>
              <a:rPr sz="2000" b="1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 </a:t>
            </a:r>
            <a:r>
              <a:rPr sz="2000" b="1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demuestra</a:t>
            </a:r>
            <a:r>
              <a:rPr sz="2000" b="1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 </a:t>
            </a:r>
            <a:r>
              <a:rPr sz="2000" b="1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que</a:t>
            </a:r>
            <a:r>
              <a:rPr sz="2000" b="1" dirty="0">
                <a:solidFill>
                  <a:srgbClr val="1F1B30"/>
                </a:solidFill>
                <a:latin typeface="Aptos"/>
                <a:ea typeface="Aptos"/>
                <a:cs typeface="Aptos"/>
              </a:rPr>
              <a:t> las </a:t>
            </a:r>
            <a:r>
              <a:rPr sz="2000" b="1" dirty="0" err="1">
                <a:solidFill>
                  <a:srgbClr val="1F1B30"/>
                </a:solidFill>
                <a:latin typeface="Aptos"/>
                <a:ea typeface="Aptos"/>
                <a:cs typeface="Aptos"/>
              </a:rPr>
              <a:t>necesita</a:t>
            </a:r>
            <a:endParaRPr sz="2000" b="1" dirty="0">
              <a:solidFill>
                <a:srgbClr val="1F1B3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C755DBE-4019-48BE-90C3-430D95AF3B1B}"/>
              </a:ext>
            </a:extLst>
          </p:cNvPr>
          <p:cNvSpPr>
            <a:spLocks noGrp="1"/>
          </p:cNvSpPr>
          <p:nvPr/>
        </p:nvSpPr>
        <p:spPr>
          <a:xfrm>
            <a:off x="571500" y="1438223"/>
            <a:ext cx="89535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2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No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tienen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calendario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propio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 Cada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una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necesita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un trigger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verificable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un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consumidor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concreto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</a:t>
            </a:r>
            <a:r>
              <a:rPr sz="14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producto</a:t>
            </a:r>
            <a:r>
              <a:rPr sz="14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pic>
        <p:nvPicPr>
          <p:cNvPr id="50" name="Imagen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068826" y="361950"/>
            <a:ext cx="617574" cy="51435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BD159D7C-FCB3-410D-8F94-3894AFA2946E}"/>
              </a:ext>
            </a:extLst>
          </p:cNvPr>
          <p:cNvSpPr>
            <a:spLocks noGrp="1"/>
          </p:cNvSpPr>
          <p:nvPr/>
        </p:nvSpPr>
        <p:spPr>
          <a:xfrm>
            <a:off x="419100" y="6534150"/>
            <a:ext cx="9525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833" lnSpcReduction="20000"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CONFIDENCIAL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2AE5244-81EB-4AAB-9781-22AA642BE95A}"/>
              </a:ext>
            </a:extLst>
          </p:cNvPr>
          <p:cNvSpPr>
            <a:spLocks noGrp="1"/>
          </p:cNvSpPr>
          <p:nvPr/>
        </p:nvSpPr>
        <p:spPr>
          <a:xfrm>
            <a:off x="10982325" y="6534150"/>
            <a:ext cx="762000" cy="1333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60833" lnSpcReduction="20000"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ungga.com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143B7EB-D52D-416B-9FD7-BA46DE840FF8}"/>
              </a:ext>
            </a:extLst>
          </p:cNvPr>
          <p:cNvSpPr>
            <a:spLocks noGrp="1"/>
          </p:cNvSpPr>
          <p:nvPr/>
        </p:nvSpPr>
        <p:spPr>
          <a:xfrm>
            <a:off x="571500" y="1931919"/>
            <a:ext cx="285750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5C2DD2"/>
                </a:solidFill>
                <a:latin typeface="Aptos"/>
                <a:ea typeface="Aptos"/>
                <a:cs typeface="Aptos"/>
              </a:rPr>
              <a:t>CAPACIDAD SIN NÚMERO R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3FBB8B9-288C-4F8A-96E3-E2B9304EED79}"/>
              </a:ext>
            </a:extLst>
          </p:cNvPr>
          <p:cNvSpPr>
            <a:spLocks noGrp="1"/>
          </p:cNvSpPr>
          <p:nvPr/>
        </p:nvSpPr>
        <p:spPr>
          <a:xfrm>
            <a:off x="3143250" y="1931919"/>
            <a:ext cx="4476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9A24"/>
                </a:solidFill>
                <a:latin typeface="Aptos"/>
                <a:ea typeface="Aptos"/>
                <a:cs typeface="Aptos"/>
              </a:rPr>
              <a:t>TRIGGER VERIFICABLE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F081372-3D79-4366-A000-B063D558F00B}"/>
              </a:ext>
            </a:extLst>
          </p:cNvPr>
          <p:cNvSpPr>
            <a:spLocks noGrp="1"/>
          </p:cNvSpPr>
          <p:nvPr/>
        </p:nvSpPr>
        <p:spPr>
          <a:xfrm>
            <a:off x="8810625" y="1931919"/>
            <a:ext cx="27146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1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566"/>
                </a:solidFill>
                <a:latin typeface="Aptos"/>
                <a:ea typeface="Aptos"/>
                <a:cs typeface="Aptos"/>
              </a:rPr>
              <a:t>POSIBLES CONSUMIDORES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12DA7AD4-F3D4-443F-9553-D2EFFC376217}"/>
              </a:ext>
            </a:extLst>
          </p:cNvPr>
          <p:cNvSpPr>
            <a:spLocks noGrp="1"/>
          </p:cNvSpPr>
          <p:nvPr/>
        </p:nvSpPr>
        <p:spPr>
          <a:xfrm>
            <a:off x="571500" y="2266950"/>
            <a:ext cx="10953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6065C577-6DC5-4D40-8B4B-D194066345F4}"/>
              </a:ext>
            </a:extLst>
          </p:cNvPr>
          <p:cNvSpPr>
            <a:spLocks noGrp="1"/>
          </p:cNvSpPr>
          <p:nvPr/>
        </p:nvSpPr>
        <p:spPr>
          <a:xfrm>
            <a:off x="723900" y="2390775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5C2DD2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5C2DD2"/>
                </a:solidFill>
                <a:latin typeface="Aptos"/>
                <a:ea typeface="Aptos"/>
                <a:cs typeface="Aptos"/>
              </a:rPr>
              <a:t>Paquetes</a:t>
            </a:r>
            <a:r>
              <a:rPr sz="1200" b="1" dirty="0">
                <a:solidFill>
                  <a:srgbClr val="5C2DD2"/>
                </a:solidFill>
                <a:latin typeface="Aptos"/>
                <a:ea typeface="Aptos"/>
                <a:cs typeface="Aptos"/>
              </a:rPr>
              <a:t> privados de Skills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B1470DD-868C-40DD-BE20-D7F817F21D38}"/>
              </a:ext>
            </a:extLst>
          </p:cNvPr>
          <p:cNvSpPr>
            <a:spLocks noGrp="1"/>
          </p:cNvSpPr>
          <p:nvPr/>
        </p:nvSpPr>
        <p:spPr>
          <a:xfrm>
            <a:off x="3143250" y="2362200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 workflow real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necesita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paquete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privado,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versionado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o rollback.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0625322-65FA-4386-8BFC-AD8BD0B726E6}"/>
              </a:ext>
            </a:extLst>
          </p:cNvPr>
          <p:cNvSpPr>
            <a:spLocks noGrp="1"/>
          </p:cNvSpPr>
          <p:nvPr/>
        </p:nvSpPr>
        <p:spPr>
          <a:xfrm>
            <a:off x="8810625" y="2400300"/>
            <a:ext cx="2428875" cy="285750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0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 sz="120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1A88F6B-1100-47F6-AA42-0FD18ECCDA74}"/>
              </a:ext>
            </a:extLst>
          </p:cNvPr>
          <p:cNvSpPr>
            <a:spLocks noGrp="1"/>
          </p:cNvSpPr>
          <p:nvPr/>
        </p:nvSpPr>
        <p:spPr>
          <a:xfrm>
            <a:off x="8886825" y="2428875"/>
            <a:ext cx="22764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R1 · R3 · posteriores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007BB91-C62B-4754-ACF4-DEC6596CFB63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10953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48D3EF4-2EA9-45D1-9C65-2516514E1926}"/>
              </a:ext>
            </a:extLst>
          </p:cNvPr>
          <p:cNvSpPr>
            <a:spLocks noGrp="1"/>
          </p:cNvSpPr>
          <p:nvPr/>
        </p:nvSpPr>
        <p:spPr>
          <a:xfrm>
            <a:off x="723900" y="2981325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F39A2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39A24"/>
                </a:solidFill>
                <a:latin typeface="Aptos"/>
                <a:ea typeface="Aptos"/>
                <a:cs typeface="Aptos"/>
              </a:rPr>
              <a:t>Multi-Skill dinámico y subagents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B3E33A1-1395-4676-99E7-E00F69AD06AB}"/>
              </a:ext>
            </a:extLst>
          </p:cNvPr>
          <p:cNvSpPr>
            <a:spLocks noGrp="1"/>
          </p:cNvSpPr>
          <p:nvPr/>
        </p:nvSpPr>
        <p:spPr>
          <a:xfrm>
            <a:off x="3143250" y="2952750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Los logs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muestran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solicitudes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repetidas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que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el routing actual no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resuelve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bien.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A00E909D-C1D7-481B-9BDE-88A1B2470D6B}"/>
              </a:ext>
            </a:extLst>
          </p:cNvPr>
          <p:cNvSpPr>
            <a:spLocks noGrp="1"/>
          </p:cNvSpPr>
          <p:nvPr/>
        </p:nvSpPr>
        <p:spPr>
          <a:xfrm>
            <a:off x="8810625" y="2990850"/>
            <a:ext cx="2428875" cy="285750"/>
          </a:xfrm>
          <a:prstGeom prst="roundRect">
            <a:avLst>
              <a:gd name="adj" fmla="val 50000"/>
            </a:avLst>
          </a:prstGeom>
          <a:solidFill>
            <a:srgbClr val="F39A24"/>
          </a:solidFill>
          <a:ln w="0">
            <a:solidFill>
              <a:srgbClr val="F39A24"/>
            </a:solidFill>
            <a:prstDash val="solid"/>
          </a:ln>
        </p:spPr>
        <p:txBody>
          <a:bodyPr/>
          <a:lstStyle/>
          <a:p>
            <a:endParaRPr lang="es-MX" sz="120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EDDE2653-4F66-4819-B84A-E912BECF9FFC}"/>
              </a:ext>
            </a:extLst>
          </p:cNvPr>
          <p:cNvSpPr>
            <a:spLocks noGrp="1"/>
          </p:cNvSpPr>
          <p:nvPr/>
        </p:nvSpPr>
        <p:spPr>
          <a:xfrm>
            <a:off x="8886825" y="3019425"/>
            <a:ext cx="22764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Cualquier dominio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A154673-6820-4568-9951-FB45069A1450}"/>
              </a:ext>
            </a:extLst>
          </p:cNvPr>
          <p:cNvSpPr>
            <a:spLocks noGrp="1"/>
          </p:cNvSpPr>
          <p:nvPr/>
        </p:nvSpPr>
        <p:spPr>
          <a:xfrm>
            <a:off x="571500" y="3448050"/>
            <a:ext cx="10953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CA26B503-02E0-4A9E-9112-08429C2C3811}"/>
              </a:ext>
            </a:extLst>
          </p:cNvPr>
          <p:cNvSpPr>
            <a:spLocks noGrp="1"/>
          </p:cNvSpPr>
          <p:nvPr/>
        </p:nvSpPr>
        <p:spPr>
          <a:xfrm>
            <a:off x="723900" y="3571875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125" b="1">
                <a:solidFill>
                  <a:srgbClr val="00956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9566"/>
                </a:solidFill>
                <a:latin typeface="Aptos"/>
                <a:ea typeface="Aptos"/>
                <a:cs typeface="Aptos"/>
              </a:rPr>
              <a:t>Continuidad de voz y canal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632BB01-A351-4534-87E6-03693886B7E5}"/>
              </a:ext>
            </a:extLst>
          </p:cNvPr>
          <p:cNvSpPr>
            <a:spLocks noGrp="1"/>
          </p:cNvSpPr>
          <p:nvPr/>
        </p:nvSpPr>
        <p:spPr>
          <a:xfrm>
            <a:off x="3143250" y="3543300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Cambiar de canal o usar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artefactos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voz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mejora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materialmente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el workflow.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EDF51BAF-E0F2-42D3-B344-4C478CC87C23}"/>
              </a:ext>
            </a:extLst>
          </p:cNvPr>
          <p:cNvSpPr>
            <a:spLocks noGrp="1"/>
          </p:cNvSpPr>
          <p:nvPr/>
        </p:nvSpPr>
        <p:spPr>
          <a:xfrm>
            <a:off x="8810625" y="3581400"/>
            <a:ext cx="2428875" cy="285750"/>
          </a:xfrm>
          <a:prstGeom prst="roundRect">
            <a:avLst>
              <a:gd name="adj" fmla="val 50000"/>
            </a:avLst>
          </a:prstGeom>
          <a:solidFill>
            <a:srgbClr val="009566"/>
          </a:solidFill>
          <a:ln w="0">
            <a:solidFill>
              <a:srgbClr val="009566"/>
            </a:solidFill>
            <a:prstDash val="solid"/>
          </a:ln>
        </p:spPr>
        <p:txBody>
          <a:bodyPr/>
          <a:lstStyle/>
          <a:p>
            <a:endParaRPr lang="es-MX" sz="12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B0F9ABD4-4B65-4703-BBED-7B2A6F07B237}"/>
              </a:ext>
            </a:extLst>
          </p:cNvPr>
          <p:cNvSpPr>
            <a:spLocks noGrp="1"/>
          </p:cNvSpPr>
          <p:nvPr/>
        </p:nvSpPr>
        <p:spPr>
          <a:xfrm>
            <a:off x="8886825" y="3609975"/>
            <a:ext cx="22764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R1 · posteriores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6B1E23EE-A924-45FE-A777-71B4892399ED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10953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E9E7E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615D795-4648-4E55-B7E9-03F71C7A6FF9}"/>
              </a:ext>
            </a:extLst>
          </p:cNvPr>
          <p:cNvSpPr>
            <a:spLocks noGrp="1"/>
          </p:cNvSpPr>
          <p:nvPr/>
        </p:nvSpPr>
        <p:spPr>
          <a:xfrm>
            <a:off x="723900" y="4126913"/>
            <a:ext cx="2238375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4866C6"/>
                </a:solidFill>
                <a:latin typeface="Aptos"/>
                <a:ea typeface="Aptos"/>
                <a:cs typeface="Aptos"/>
              </a:rPr>
              <a:t>Sandbox y </a:t>
            </a:r>
            <a:r>
              <a:rPr sz="1200" b="1" dirty="0" err="1">
                <a:solidFill>
                  <a:srgbClr val="4866C6"/>
                </a:solidFill>
                <a:latin typeface="Aptos"/>
                <a:ea typeface="Aptos"/>
                <a:cs typeface="Aptos"/>
              </a:rPr>
              <a:t>artefactos</a:t>
            </a:r>
            <a:r>
              <a:rPr sz="1200" b="1" dirty="0">
                <a:solidFill>
                  <a:srgbClr val="4866C6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4866C6"/>
                </a:solidFill>
                <a:latin typeface="Aptos"/>
                <a:ea typeface="Aptos"/>
                <a:cs typeface="Aptos"/>
              </a:rPr>
              <a:t>ejecutables</a:t>
            </a:r>
            <a:endParaRPr sz="1200" b="1" dirty="0">
              <a:solidFill>
                <a:srgbClr val="4866C6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F49B1F4-020D-42BA-8C27-C4C01597C6D5}"/>
              </a:ext>
            </a:extLst>
          </p:cNvPr>
          <p:cNvSpPr>
            <a:spLocks noGrp="1"/>
          </p:cNvSpPr>
          <p:nvPr/>
        </p:nvSpPr>
        <p:spPr>
          <a:xfrm>
            <a:off x="3143250" y="4133850"/>
            <a:ext cx="5286375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05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Una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capacidad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producto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requiere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ejecutar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código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generado</a:t>
            </a:r>
            <a:r>
              <a:rPr sz="12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bajo control.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0CDD3CAD-33C0-4439-8DE3-0C86AF0CE85E}"/>
              </a:ext>
            </a:extLst>
          </p:cNvPr>
          <p:cNvSpPr>
            <a:spLocks noGrp="1"/>
          </p:cNvSpPr>
          <p:nvPr/>
        </p:nvSpPr>
        <p:spPr>
          <a:xfrm>
            <a:off x="8810625" y="4171950"/>
            <a:ext cx="2428875" cy="285750"/>
          </a:xfrm>
          <a:prstGeom prst="roundRect">
            <a:avLst>
              <a:gd name="adj" fmla="val 50000"/>
            </a:avLst>
          </a:prstGeom>
          <a:solidFill>
            <a:srgbClr val="4866C6"/>
          </a:solidFill>
          <a:ln w="0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 sz="12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8B89F0D4-ED91-4912-B06D-2B94D22F6950}"/>
              </a:ext>
            </a:extLst>
          </p:cNvPr>
          <p:cNvSpPr>
            <a:spLocks noGrp="1"/>
          </p:cNvSpPr>
          <p:nvPr/>
        </p:nvSpPr>
        <p:spPr>
          <a:xfrm>
            <a:off x="8886825" y="4200525"/>
            <a:ext cx="2276475" cy="228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Studio · futuro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D1E7737-6D49-45FD-B254-7BEECC15122F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63817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1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EXPANSIONES DEL ROADMAP QUE TAMBIÉN ESPERAN EVIDENCIA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544EE22C-831D-43CE-BFE3-B9BB29C34DF3}"/>
              </a:ext>
            </a:extLst>
          </p:cNvPr>
          <p:cNvSpPr>
            <a:spLocks noGrp="1"/>
          </p:cNvSpPr>
          <p:nvPr/>
        </p:nvSpPr>
        <p:spPr>
          <a:xfrm>
            <a:off x="571500" y="5029199"/>
            <a:ext cx="3476625" cy="950559"/>
          </a:xfrm>
          <a:prstGeom prst="roundRect">
            <a:avLst>
              <a:gd name="adj" fmla="val 13043"/>
            </a:avLst>
          </a:prstGeom>
          <a:solidFill>
            <a:srgbClr val="F8E7F0"/>
          </a:solidFill>
          <a:ln w="11430">
            <a:solidFill>
              <a:srgbClr val="B8497C"/>
            </a:solidFill>
            <a:prstDash val="solid"/>
          </a:ln>
        </p:spPr>
        <p:txBody>
          <a:bodyPr/>
          <a:lstStyle/>
          <a:p>
            <a:endParaRPr lang="es-MX" sz="11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1D03F1B5-DF1B-46F8-8FD5-5261AB102379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31718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B8497C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B8497C"/>
                </a:solidFill>
                <a:latin typeface="Aptos"/>
                <a:ea typeface="Aptos"/>
                <a:cs typeface="Aptos"/>
              </a:rPr>
              <a:t>R5 · Brain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6332745D-89E7-4B5D-B447-A78675A38AD4}"/>
              </a:ext>
            </a:extLst>
          </p:cNvPr>
          <p:cNvSpPr>
            <a:spLocks noGrp="1"/>
          </p:cNvSpPr>
          <p:nvPr/>
        </p:nvSpPr>
        <p:spPr>
          <a:xfrm>
            <a:off x="723900" y="5392444"/>
            <a:ext cx="317182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La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primera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Slice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nace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una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necesidad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cross-Case. La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capa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completa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crece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sólo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con valor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probado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37" name="Rectángulo: esquinas redondeadas 36">
            <a:extLst>
              <a:ext uri="{FF2B5EF4-FFF2-40B4-BE49-F238E27FC236}">
                <a16:creationId xmlns:a16="http://schemas.microsoft.com/office/drawing/2014/main" id="{40395D74-841B-4804-B0D5-350327AD66BF}"/>
              </a:ext>
            </a:extLst>
          </p:cNvPr>
          <p:cNvSpPr>
            <a:spLocks noGrp="1"/>
          </p:cNvSpPr>
          <p:nvPr/>
        </p:nvSpPr>
        <p:spPr>
          <a:xfrm>
            <a:off x="4305300" y="5029199"/>
            <a:ext cx="3476625" cy="942975"/>
          </a:xfrm>
          <a:prstGeom prst="roundRect">
            <a:avLst>
              <a:gd name="adj" fmla="val 13043"/>
            </a:avLst>
          </a:prstGeom>
          <a:solidFill>
            <a:srgbClr val="EEE8FF"/>
          </a:solidFill>
          <a:ln w="11430">
            <a:solidFill>
              <a:srgbClr val="7B45EA"/>
            </a:solidFill>
            <a:prstDash val="solid"/>
          </a:ln>
        </p:spPr>
        <p:txBody>
          <a:bodyPr/>
          <a:lstStyle/>
          <a:p>
            <a:endParaRPr lang="es-MX" sz="11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023A1615-C666-4700-AE6A-2DD8C082B172}"/>
              </a:ext>
            </a:extLst>
          </p:cNvPr>
          <p:cNvSpPr>
            <a:spLocks noGrp="1"/>
          </p:cNvSpPr>
          <p:nvPr/>
        </p:nvSpPr>
        <p:spPr>
          <a:xfrm>
            <a:off x="4457700" y="5143500"/>
            <a:ext cx="31718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7B45EA"/>
                </a:solidFill>
                <a:latin typeface="Aptos"/>
                <a:ea typeface="Aptos"/>
                <a:cs typeface="Aptos"/>
              </a:defRPr>
            </a:pPr>
            <a:r>
              <a:rPr sz="1100" b="1" dirty="0">
                <a:solidFill>
                  <a:srgbClr val="7B45EA"/>
                </a:solidFill>
                <a:latin typeface="Aptos"/>
                <a:ea typeface="Aptos"/>
                <a:cs typeface="Aptos"/>
              </a:rPr>
              <a:t>R8 · Consumer</a:t>
            </a:r>
            <a:r>
              <a:rPr lang="es-MX" sz="1100" b="1" dirty="0">
                <a:solidFill>
                  <a:srgbClr val="7B45EA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100" b="1" dirty="0" err="1">
                <a:solidFill>
                  <a:srgbClr val="7B45EA"/>
                </a:solidFill>
                <a:latin typeface="Aptos"/>
                <a:ea typeface="Aptos"/>
                <a:cs typeface="Aptos"/>
              </a:rPr>
              <a:t>discovery</a:t>
            </a:r>
            <a:endParaRPr sz="1100" b="1" dirty="0">
              <a:solidFill>
                <a:srgbClr val="7B45E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40C74A1A-6F49-4BD9-8323-15E36EE013A8}"/>
              </a:ext>
            </a:extLst>
          </p:cNvPr>
          <p:cNvSpPr>
            <a:spLocks noGrp="1"/>
          </p:cNvSpPr>
          <p:nvPr/>
        </p:nvSpPr>
        <p:spPr>
          <a:xfrm>
            <a:off x="4457700" y="5392444"/>
            <a:ext cx="317182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Densidad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vigencia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del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inventario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routing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alineado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con brokers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vuelven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creíble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la</a:t>
            </a:r>
            <a:r>
              <a:rPr lang="es-MX"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experiencia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40" name="Rectángulo: esquinas redondeadas 39">
            <a:extLst>
              <a:ext uri="{FF2B5EF4-FFF2-40B4-BE49-F238E27FC236}">
                <a16:creationId xmlns:a16="http://schemas.microsoft.com/office/drawing/2014/main" id="{44F28BF1-96C2-4E2C-9B73-55E37B621B18}"/>
              </a:ext>
            </a:extLst>
          </p:cNvPr>
          <p:cNvSpPr>
            <a:spLocks noGrp="1"/>
          </p:cNvSpPr>
          <p:nvPr/>
        </p:nvSpPr>
        <p:spPr>
          <a:xfrm>
            <a:off x="8039100" y="5029200"/>
            <a:ext cx="3476625" cy="942974"/>
          </a:xfrm>
          <a:prstGeom prst="roundRect">
            <a:avLst>
              <a:gd name="adj" fmla="val 13043"/>
            </a:avLst>
          </a:prstGeom>
          <a:solidFill>
            <a:srgbClr val="E7ECFB"/>
          </a:solidFill>
          <a:ln w="11430">
            <a:solidFill>
              <a:srgbClr val="4866C6"/>
            </a:solidFill>
            <a:prstDash val="solid"/>
          </a:ln>
        </p:spPr>
        <p:txBody>
          <a:bodyPr/>
          <a:lstStyle/>
          <a:p>
            <a:endParaRPr lang="es-MX" sz="11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8784AB66-2947-48BD-8487-C703118798E5}"/>
              </a:ext>
            </a:extLst>
          </p:cNvPr>
          <p:cNvSpPr>
            <a:spLocks noGrp="1"/>
          </p:cNvSpPr>
          <p:nvPr/>
        </p:nvSpPr>
        <p:spPr>
          <a:xfrm>
            <a:off x="8191500" y="5143500"/>
            <a:ext cx="3171825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1125" b="1">
                <a:solidFill>
                  <a:srgbClr val="4866C6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4866C6"/>
                </a:solidFill>
                <a:latin typeface="Aptos"/>
                <a:ea typeface="Aptos"/>
                <a:cs typeface="Aptos"/>
              </a:rPr>
              <a:t>R9 · Mejora gobernada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36211CED-DF06-4F7A-B00B-915E94D56215}"/>
              </a:ext>
            </a:extLst>
          </p:cNvPr>
          <p:cNvSpPr>
            <a:spLocks noGrp="1"/>
          </p:cNvSpPr>
          <p:nvPr/>
        </p:nvSpPr>
        <p:spPr>
          <a:xfrm>
            <a:off x="8191500" y="5392444"/>
            <a:ext cx="3171825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Resultados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y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fallas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observadas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alimentan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propuestas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evaluación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</a:t>
            </a:r>
            <a:r>
              <a:rPr sz="1100" b="0" dirty="0" err="1">
                <a:solidFill>
                  <a:srgbClr val="756F91"/>
                </a:solidFill>
                <a:latin typeface="Aptos"/>
                <a:ea typeface="Aptos"/>
                <a:cs typeface="Aptos"/>
              </a:rPr>
              <a:t>aprobación</a:t>
            </a:r>
            <a:r>
              <a:rPr sz="11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, canary y rollback.</a:t>
            </a:r>
          </a:p>
        </p:txBody>
      </p:sp>
      <p:sp>
        <p:nvSpPr>
          <p:cNvPr id="43" name="Rectángulo: esquinas redondeadas 42">
            <a:extLst>
              <a:ext uri="{FF2B5EF4-FFF2-40B4-BE49-F238E27FC236}">
                <a16:creationId xmlns:a16="http://schemas.microsoft.com/office/drawing/2014/main" id="{59D8F95A-5799-4183-9CB5-F1D8F845FAB2}"/>
              </a:ext>
            </a:extLst>
          </p:cNvPr>
          <p:cNvSpPr>
            <a:spLocks noGrp="1"/>
          </p:cNvSpPr>
          <p:nvPr/>
        </p:nvSpPr>
        <p:spPr>
          <a:xfrm>
            <a:off x="571500" y="6046434"/>
            <a:ext cx="10953750" cy="323850"/>
          </a:xfrm>
          <a:prstGeom prst="roundRect">
            <a:avLst>
              <a:gd name="adj" fmla="val 26471"/>
            </a:avLst>
          </a:prstGeom>
          <a:solidFill>
            <a:srgbClr val="1F1B30"/>
          </a:solidFill>
          <a:ln w="0">
            <a:solidFill>
              <a:srgbClr val="1F1B3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909085BE-5E1D-4EFD-B60F-55D138B34FE6}"/>
              </a:ext>
            </a:extLst>
          </p:cNvPr>
          <p:cNvSpPr>
            <a:spLocks noGrp="1"/>
          </p:cNvSpPr>
          <p:nvPr/>
        </p:nvSpPr>
        <p:spPr>
          <a:xfrm>
            <a:off x="742950" y="6082593"/>
            <a:ext cx="10610850" cy="2476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La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exploración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puede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adelantarse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 La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implementación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entra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cuando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una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necesidad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real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bloquea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o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mejora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materialmente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un </a:t>
            </a:r>
            <a:r>
              <a:rPr sz="1200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incremento</a:t>
            </a:r>
            <a:r>
              <a:rPr sz="12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EF52EED2-92AC-40F6-8322-13FBDDA2E084}"/>
              </a:ext>
            </a:extLst>
          </p:cNvPr>
          <p:cNvSpPr>
            <a:spLocks noGrp="1"/>
          </p:cNvSpPr>
          <p:nvPr/>
        </p:nvSpPr>
        <p:spPr>
          <a:xfrm>
            <a:off x="666750" y="6398859"/>
            <a:ext cx="10668000" cy="114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600" b="0">
                <a:solidFill>
                  <a:srgbClr val="756F91"/>
                </a:solidFill>
                <a:latin typeface="Aptos"/>
                <a:ea typeface="Aptos"/>
                <a:cs typeface="Aptos"/>
              </a:defRPr>
            </a:pPr>
            <a:r>
              <a:rPr sz="600" b="0" dirty="0">
                <a:solidFill>
                  <a:srgbClr val="756F91"/>
                </a:solidFill>
                <a:latin typeface="Aptos"/>
                <a:ea typeface="Aptos"/>
                <a:cs typeface="Aptos"/>
              </a:rPr>
              <a:t>Fuente: docs/roadmap/gu-os-evolution-roadmap.md v1.1 · §§4, 5 y 8</a:t>
            </a:r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6BDD4BFD-12E5-5F23-058D-8250B0C4DC72}"/>
              </a:ext>
            </a:extLst>
          </p:cNvPr>
          <p:cNvSpPr>
            <a:spLocks noGrp="1"/>
          </p:cNvSpPr>
          <p:nvPr/>
        </p:nvSpPr>
        <p:spPr>
          <a:xfrm>
            <a:off x="2365038" y="397392"/>
            <a:ext cx="1285875" cy="190501"/>
          </a:xfrm>
          <a:prstGeom prst="roundRect">
            <a:avLst>
              <a:gd name="adj" fmla="val 50000"/>
            </a:avLst>
          </a:prstGeom>
          <a:solidFill>
            <a:srgbClr val="5C2DD2"/>
          </a:solidFill>
          <a:ln w="9525">
            <a:solidFill>
              <a:srgbClr val="5C2DD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BB98A44F-2EA7-98DD-1915-7614E2F21976}"/>
              </a:ext>
            </a:extLst>
          </p:cNvPr>
          <p:cNvSpPr>
            <a:spLocks noGrp="1"/>
          </p:cNvSpPr>
          <p:nvPr/>
        </p:nvSpPr>
        <p:spPr>
          <a:xfrm>
            <a:off x="2441238" y="408136"/>
            <a:ext cx="1134251" cy="19050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79722" lnSpcReduction="10000"/>
          </a:bodyPr>
          <a:lstStyle/>
          <a:p>
            <a:pPr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 i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 CANÓNICO</a:t>
            </a:r>
          </a:p>
        </p:txBody>
      </p:sp>
    </p:spTree>
    <p:extLst>
      <p:ext uri="{BB962C8B-B14F-4D97-AF65-F5344CB8AC3E}">
        <p14:creationId xmlns:p14="http://schemas.microsoft.com/office/powerpoint/2010/main" val="5135376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1F7D5630-4180-44BF-955F-FE310FCC20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BA09C650-B711-47F6-A10F-6E52700EF6AD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EL RECORRIDO DE ALINEACIÓN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0E6BF70E-FA24-4048-9B9F-07865EB9427E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Esta sesión fija la tesis; las siguientes construyen el modelo, la arquitectura y la forma de construir.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DFB90059-76BC-49CA-BFA6-DE606E641B52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sesión tiene una pregunta distinta; el detalle durable vive en los documentos de equipo y la autoridad en el repo.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7E8112CF-0C1A-4EBD-AF7A-292DE2D2B5E4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0693C868-D6E2-4D5E-873D-C8A2C9C94EFE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24FC9BA7-D426-4D38-8C0C-B24968508E04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16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409D891B-1207-44D5-B8E1-69F7CDDA6695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9B1A95F0-E1BC-4B03-8DE8-14B839D72FAA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B5D471D3-4181-435D-A39B-D1E1AC6C1890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3836B2F3-ABD8-4EC8-B2AB-F3EB51C37361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Sesión 2 · Sistemas agénticos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E0BEBB7C-5999-4EF3-B097-3EFD079A17D5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146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Modelo, harness, memoria, herramientas, estado y gobernanza: la referencia general.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590BA07C-899A-4E95-8D3E-56B0C4A1BBE0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65469EDF-FE85-40E7-BA4C-A62820EB72EB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C4112386-0D50-44F1-9E2D-9158548E076B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A15B17CD-8368-454D-9B29-B1F0FDF0769E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Sesión 3 + 3B · Dentro de Gu 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4111F04D-03CB-4801-A1C0-A3DAB1A83F6A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Arquitectura top-down y runtime/harness: componentes, relaciones, código y gaps.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2F699AB8-CA5B-4709-A4EA-43CAFA45CE25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6D482C7E-9C0D-46B9-AE9B-5B54197E614A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FA015DBD-7225-4898-9B02-A62CAC267B93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5484DF44-27E1-4792-A976-90FE743E585D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Sesión 4 · Cómo construimos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9625D2B8-B4BB-4E08-8C81-C0240C19F901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 intención a evidencia: Slice contracts, READY Horizon, JIT Tasks, Cycles, release y learning.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FAC23E87-D39A-4E7A-B35A-97A0DB944921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100730AD-9D24-441E-9E3E-C165DC720EBE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¿Qué trabajo delegar a Gu y qué evidencia demostraría el resultado?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927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4AF2C63D-73E9-410F-BEC1-D0FE60A2BE1A}"/>
              </a:ext>
            </a:extLst>
          </p:cNvPr>
          <p:cNvSpPr>
            <a:spLocks noGrp="1"/>
          </p:cNvSpPr>
          <p:nvPr/>
        </p:nvSpPr>
        <p:spPr>
          <a:xfrm>
            <a:off x="676656" y="2331720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59211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La visión orienta.</a:t>
            </a:r>
            <a:endParaRPr sz="3800"/>
          </a:p>
          <a:p>
            <a:pPr marL="0" indent="0" algn="l">
              <a:lnSpc>
                <a:spcPct val="100000"/>
              </a:lnSpc>
              <a:buNone/>
            </a:pPr>
            <a:r>
              <a:rPr sz="3800" b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La evidencia decide.</a:t>
            </a:r>
            <a:endParaRPr sz="380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DA17DBB5-A21F-47D9-A6A0-E2F56125EA60}"/>
              </a:ext>
            </a:extLst>
          </p:cNvPr>
          <p:cNvSpPr>
            <a:spLocks noGrp="1"/>
          </p:cNvSpPr>
          <p:nvPr/>
        </p:nvSpPr>
        <p:spPr>
          <a:xfrm>
            <a:off x="694944" y="3072384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>
                <a:solidFill>
                  <a:srgbClr val="D8CFEA"/>
                </a:solidFill>
                <a:latin typeface="Inter"/>
                <a:ea typeface="Inter"/>
                <a:cs typeface="Inter"/>
              </a:rPr>
              <a:t>Humanos lideran. Gu hace el trabajo.</a:t>
            </a:r>
            <a:endParaRPr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6172"/>
            <a:ext cx="4151376" cy="4151376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17717EE-2539-4688-A59D-09B71A4C5FA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7" y="6490252"/>
            <a:ext cx="315668" cy="203156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800" kern="12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90F7333B-44AC-F7E9-D49D-FE92F45E0477}" type="slidenum">
              <a:rPr/>
              <a:t>21</a:t>
            </a:fld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349" y="432161"/>
            <a:ext cx="713798" cy="5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065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1097</TotalTime>
  <Words>7130</Words>
  <Application>Microsoft Office PowerPoint</Application>
  <DocSecurity>0</DocSecurity>
  <PresentationFormat>Panorámica</PresentationFormat>
  <Paragraphs>784</Paragraphs>
  <Slides>21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Inter</vt:lpstr>
      <vt:lpstr>Inter Display</vt:lpstr>
      <vt:lpstr>Symbol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Alejandro Torres</cp:lastModifiedBy>
  <cp:revision>14</cp:revision>
  <dcterms:created xsi:type="dcterms:W3CDTF">2026-09-08T13:15:56Z</dcterms:created>
  <dcterms:modified xsi:type="dcterms:W3CDTF">2026-09-11T17:38:29Z</dcterms:modified>
</cp:coreProperties>
</file>