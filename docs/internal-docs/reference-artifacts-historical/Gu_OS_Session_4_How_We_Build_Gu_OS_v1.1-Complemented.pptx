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76" r:id="rId6"/>
    <p:sldId id="277" r:id="rId7"/>
    <p:sldId id="260" r:id="rId8"/>
    <p:sldId id="261" r:id="rId9"/>
    <p:sldId id="262" r:id="rId10"/>
    <p:sldId id="263" r:id="rId11"/>
    <p:sldId id="264" r:id="rId12"/>
    <p:sldId id="278" r:id="rId13"/>
    <p:sldId id="265" r:id="rId14"/>
    <p:sldId id="266" r:id="rId15"/>
    <p:sldId id="267" r:id="rId16"/>
    <p:sldId id="268" r:id="rId17"/>
    <p:sldId id="269" r:id="rId18"/>
    <p:sldId id="270" r:id="rId19"/>
    <p:sldId id="279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7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 (v0.4.4)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 (v0.4.4)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 (v0.4.4)</a:t>
            </a:r>
          </a:p>
          <a:p>
            <a:r>
              <a:t>- docs/development/release-path-playbook.md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[Insertion]</a:t>
            </a:r>
          </a:p>
          <a:p>
            <a:r>
              <a:t>Session 4 · after original slide 4</a:t>
            </a:r>
          </a:p>
          <a:p>
            <a:endParaRPr/>
          </a:p>
          <a:p>
            <a:r>
              <a:t>[Sources]</a:t>
            </a:r>
          </a:p>
          <a:p>
            <a:r>
              <a:t>- AGENTS.md</a:t>
            </a:r>
          </a:p>
          <a:p>
            <a:r>
              <a:t>- docs/README.md</a:t>
            </a:r>
          </a:p>
          <a:p>
            <a:r>
              <a:t>- docs/development/agentic-product-software-development-methodology.md §4, §19.1</a:t>
            </a:r>
          </a:p>
          <a:p>
            <a:r>
              <a:t>- Baseline: janotowers/Gu-OS main @ 5a6fbb05117042e1f7c47c911e0e2bc14d068340 · verified 10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[Insertion]</a:t>
            </a:r>
          </a:p>
          <a:p>
            <a:r>
              <a:t>Session 4 · immediately after insert 06</a:t>
            </a:r>
          </a:p>
          <a:p>
            <a:endParaRPr/>
          </a:p>
          <a:p>
            <a:r>
              <a:t>[Sources]</a:t>
            </a:r>
          </a:p>
          <a:p>
            <a:r>
              <a:t>- AGENTS.md §3</a:t>
            </a:r>
          </a:p>
          <a:p>
            <a:r>
              <a:t>- docs/development/agentic-product-software-development-methodology.md §3–§17</a:t>
            </a:r>
          </a:p>
          <a:p>
            <a:r>
              <a:t>- Baseline: janotowers/Gu-OS main @ 5a6fbb05117042e1f7c47c911e0e2bc14d068340 · verified 10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 (v0.4.4)</a:t>
            </a:r>
          </a:p>
          <a:p>
            <a:r>
              <a:t>- docs/development/release-path-playbook.md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</a:t>
            </a:r>
          </a:p>
          <a:p>
            <a:r>
              <a:t>- docs/product/initiatives/relationship-operations/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 (v0.4.4)</a:t>
            </a:r>
          </a:p>
          <a:p>
            <a:r>
              <a:t>- docs/development/release-path-playbook.md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Canonical baseline: main @ a172040149fbd4263eaa0e78b554e88861c10fae (verified 2026-09-02).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 (v0.4.4)</a:t>
            </a:r>
          </a:p>
          <a:p>
            <a:r>
              <a:t>- docs/development/release-path-playbook.md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[Insertion]</a:t>
            </a:r>
          </a:p>
          <a:p>
            <a:r>
              <a:t>Session 4 · after original slide 9</a:t>
            </a:r>
          </a:p>
          <a:p>
            <a:endParaRPr/>
          </a:p>
          <a:p>
            <a:r>
              <a:t>[Sources]</a:t>
            </a:r>
          </a:p>
          <a:p>
            <a:r>
              <a:t>- docs/development/agentic-product-software-development-methodology.md §10, §12.1–§12.2</a:t>
            </a:r>
          </a:p>
          <a:p>
            <a:r>
              <a:t>- AGENTS.md §3, §9</a:t>
            </a:r>
          </a:p>
          <a:p>
            <a:r>
              <a:t>- Baseline: janotowers/Gu-OS main @ 5a6fbb05117042e1f7c47c911e0e2bc14d068340 · verified 10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</a:t>
            </a:r>
          </a:p>
          <a:p>
            <a:r>
              <a:t>- docs/principles/gu-os-principles-and-design-doctrine.md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</a:t>
            </a:r>
          </a:p>
          <a:p>
            <a:r>
              <a:t>- docs/development/release-path-playbook.md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 (v0.4.4)</a:t>
            </a:r>
          </a:p>
          <a:p>
            <a:r>
              <a:t>- docs/development/release-path-playbook.md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</a:t>
            </a:r>
          </a:p>
          <a:p>
            <a:r>
              <a:t>- docs/development/release-path-playbook.md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 (v0.4.4)</a:t>
            </a:r>
          </a:p>
          <a:p>
            <a:r>
              <a:t>- docs/development/release-path-playbook.md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 (v0.4.4)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[Insertion]</a:t>
            </a:r>
          </a:p>
          <a:p>
            <a:r>
              <a:t>Session 4 · after original slide 15</a:t>
            </a:r>
          </a:p>
          <a:p>
            <a:endParaRPr/>
          </a:p>
          <a:p>
            <a:r>
              <a:t>[Sources]</a:t>
            </a:r>
          </a:p>
          <a:p>
            <a:r>
              <a:t>- .github/pull_request_template.md</a:t>
            </a:r>
          </a:p>
          <a:p>
            <a:r>
              <a:t>- .github/workflows/ci.yml</a:t>
            </a:r>
          </a:p>
          <a:p>
            <a:r>
              <a:t>- .github/workflows/deliver-staging.yml</a:t>
            </a:r>
          </a:p>
          <a:p>
            <a:r>
              <a:t>- docs/development/release-path-playbook.md</a:t>
            </a:r>
          </a:p>
          <a:p>
            <a:r>
              <a:t>- docs/development/agentic-product-software-development-methodology.md §14.2, §19.1</a:t>
            </a:r>
          </a:p>
          <a:p>
            <a:r>
              <a:t>- Baseline: janotowers/Gu-OS main @ 5a6fbb05117042e1f7c47c911e0e2bc14d068340 · verified 10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 (v0.4.4)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</a:t>
            </a:r>
          </a:p>
          <a:p>
            <a:r>
              <a:t>- docs/operational-cases/architecture.md</a:t>
            </a:r>
          </a:p>
          <a:p>
            <a:r>
              <a:t>- docs/manuals/ai-native-loops.md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 (v0.4.4)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 (v0.4.4)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docs/development/agentic-product-software-development-methodology.md</a:t>
            </a:r>
          </a:p>
          <a:p>
            <a:r>
              <a:t>- docs/development/release-path-playbook.md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BC63B25C-670F-4488-879E-F0CD51EB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6F1E4D1A-2F7E-4AC1-8FDC-6AE75379CE7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EB944373-EEE6-46B4-A364-E8B53D22F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2ADF579C-3EBB-4BD2-868C-F69FC5ADC2E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LIGHT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F23614-6F64-47D1-8F12-1E80D64B23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2DB6"/>
          </a:solidFill>
          <a:ln w="12700">
            <a:solidFill>
              <a:srgbClr val="5B2D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9BE1BB-E906-472C-B8CB-9381EFFCC413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8D86A0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321E42-F19C-49B4-AC84-466C948DAD38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8D86A0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2FE9AFF-8959-4C75-A2D0-48965FB9B7A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F42D48-45F2-484B-BB55-10A2E45A61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10/09/2026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4585A-970F-462F-8C0C-20118D55C4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A5FA4-7045-4A81-9481-11A4BF5A4C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BLANK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AE492B-2527-4DDE-AFC2-164475CD77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0">
            <a:solidFill>
              <a:srgbClr val="5E2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CCBB3D-80E3-4D2A-8E1A-E0AEE2152102}"/>
              </a:ext>
            </a:extLst>
          </p:cNvPr>
          <p:cNvSpPr>
            <a:spLocks noGrp="1"/>
          </p:cNvSpPr>
          <p:nvPr/>
        </p:nvSpPr>
        <p:spPr>
          <a:xfrm>
            <a:off x="420624" y="6601968"/>
            <a:ext cx="109728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CONFIDENTIAL</a:t>
            </a:r>
            <a:endParaRPr sz="6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2D3471-2705-4854-88E7-32A1E08C4864}"/>
              </a:ext>
            </a:extLst>
          </p:cNvPr>
          <p:cNvSpPr>
            <a:spLocks noGrp="1"/>
          </p:cNvSpPr>
          <p:nvPr/>
        </p:nvSpPr>
        <p:spPr>
          <a:xfrm>
            <a:off x="10927080" y="6601968"/>
            <a:ext cx="68580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ungga.com</a:t>
            </a:r>
            <a:endParaRPr sz="6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947B6B-C519-4A36-BA79-A3B5AAB632EB}"/>
              </a:ext>
            </a:extLst>
          </p:cNvPr>
          <p:cNvSpPr>
            <a:spLocks noGrp="1"/>
          </p:cNvSpPr>
          <p:nvPr/>
        </p:nvSpPr>
        <p:spPr>
          <a:xfrm>
            <a:off x="11503152" y="6601968"/>
            <a:ext cx="384048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16</a:t>
            </a:r>
            <a:endParaRPr sz="6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DARK">
    <p:bg>
      <p:bgPr>
        <a:solidFill>
          <a:srgbClr val="1A12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9198CB-776F-4A59-A56D-12D7B118D6F9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BFB5D8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0C3F6D-279A-46C0-A651-5293336125C2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BFB5D8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094EC15-AE83-49E6-87CE-94F10DD7F04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BFB5D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407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15224E59-A114-EF97-9AD5-4F714DE083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20143D"/>
          </a:solidFill>
          <a:ln w="12700">
            <a:solidFill>
              <a:srgbClr val="20143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965042D-42A4-D40C-B362-56D62F2B4A66}"/>
              </a:ext>
            </a:extLst>
          </p:cNvPr>
          <p:cNvSpPr>
            <a:spLocks noGrp="1"/>
          </p:cNvSpPr>
          <p:nvPr/>
        </p:nvSpPr>
        <p:spPr>
          <a:xfrm>
            <a:off x="567000" y="502920"/>
            <a:ext cx="4114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CAB9FF"/>
                </a:solidFill>
                <a:latin typeface="Aptos"/>
                <a:ea typeface="Aptos"/>
                <a:cs typeface="Aptos"/>
              </a:rPr>
              <a:t>UNGGA | INTERNAL SESSION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0316C7E0-8E26-4A2B-880B-6FEF8F6163B9}"/>
              </a:ext>
            </a:extLst>
          </p:cNvPr>
          <p:cNvSpPr>
            <a:spLocks noGrp="1"/>
          </p:cNvSpPr>
          <p:nvPr/>
        </p:nvSpPr>
        <p:spPr>
          <a:xfrm>
            <a:off x="567000" y="1492856"/>
            <a:ext cx="5943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500" b="1" u="none">
                <a:solidFill>
                  <a:srgbClr val="FFFFFF"/>
                </a:solidFill>
              </a:rPr>
              <a:t>Cómo construimos Gu OS</a:t>
            </a:r>
            <a:endParaRPr sz="3500" b="0" u="none">
              <a:solidFill>
                <a:srgbClr val="FFFFFF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F476939-C89E-34BC-BFF7-E9DA39ED9558}"/>
              </a:ext>
            </a:extLst>
          </p:cNvPr>
          <p:cNvSpPr>
            <a:spLocks noGrp="1"/>
          </p:cNvSpPr>
          <p:nvPr/>
        </p:nvSpPr>
        <p:spPr>
          <a:xfrm>
            <a:off x="567000" y="2235832"/>
            <a:ext cx="7589160" cy="639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E9E2FF"/>
                </a:solidFill>
                <a:latin typeface="Aptos"/>
                <a:ea typeface="Aptos"/>
                <a:cs typeface="Aptos"/>
              </a:rPr>
              <a:t>De intención a evidencia</a:t>
            </a:r>
            <a:endParaRPr sz="30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880D93C-3FD0-A8BD-A47F-30288E4BE158}"/>
              </a:ext>
            </a:extLst>
          </p:cNvPr>
          <p:cNvSpPr>
            <a:spLocks noGrp="1"/>
          </p:cNvSpPr>
          <p:nvPr/>
        </p:nvSpPr>
        <p:spPr>
          <a:xfrm>
            <a:off x="567000" y="3139243"/>
            <a:ext cx="5943240" cy="6510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0" u="none" dirty="0" err="1">
                <a:solidFill>
                  <a:srgbClr val="CFC3F4"/>
                </a:solidFill>
                <a:latin typeface="Aptos"/>
                <a:ea typeface="Aptos"/>
                <a:cs typeface="Aptos"/>
              </a:rPr>
              <a:t>Sesión</a:t>
            </a:r>
            <a:r>
              <a:rPr sz="1900" b="0" u="none" dirty="0">
                <a:solidFill>
                  <a:srgbClr val="CFC3F4"/>
                </a:solidFill>
                <a:latin typeface="Aptos"/>
                <a:ea typeface="Aptos"/>
                <a:cs typeface="Aptos"/>
              </a:rPr>
              <a:t> 4 · </a:t>
            </a:r>
            <a:r>
              <a:rPr sz="1900" b="0" u="none" dirty="0" err="1">
                <a:solidFill>
                  <a:srgbClr val="CFC3F4"/>
                </a:solidFill>
                <a:latin typeface="Aptos"/>
                <a:ea typeface="Aptos"/>
                <a:cs typeface="Aptos"/>
              </a:rPr>
              <a:t>Metodología</a:t>
            </a:r>
            <a:r>
              <a:rPr sz="1900" b="0" u="none" dirty="0">
                <a:solidFill>
                  <a:srgbClr val="CFC3F4"/>
                </a:solidFill>
                <a:latin typeface="Aptos"/>
                <a:ea typeface="Aptos"/>
                <a:cs typeface="Aptos"/>
              </a:rPr>
              <a:t> de </a:t>
            </a:r>
            <a:r>
              <a:rPr sz="1900" b="0" u="none" dirty="0" err="1">
                <a:solidFill>
                  <a:srgbClr val="CFC3F4"/>
                </a:solidFill>
                <a:latin typeface="Aptos"/>
                <a:ea typeface="Aptos"/>
                <a:cs typeface="Aptos"/>
              </a:rPr>
              <a:t>desarrollo</a:t>
            </a:r>
            <a:r>
              <a:rPr sz="1900" b="0" u="none" dirty="0">
                <a:solidFill>
                  <a:srgbClr val="CFC3F4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sz="1900" b="0" u="none" dirty="0">
                <a:solidFill>
                  <a:srgbClr val="CFC3F4"/>
                </a:solidFill>
                <a:latin typeface="Aptos"/>
                <a:ea typeface="Aptos"/>
                <a:cs typeface="Aptos"/>
              </a:rPr>
              <a:t>de sistema </a:t>
            </a:r>
            <a:r>
              <a:rPr lang="es-MX" sz="1900" b="0" u="none" dirty="0" err="1">
                <a:solidFill>
                  <a:srgbClr val="CFC3F4"/>
                </a:solidFill>
                <a:latin typeface="Aptos"/>
                <a:ea typeface="Aptos"/>
                <a:cs typeface="Aptos"/>
              </a:rPr>
              <a:t>agéntico</a:t>
            </a:r>
            <a:endParaRPr sz="1900" b="0" u="none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A6164349-3215-A4F6-3FBF-8BE60EEECA6B}"/>
              </a:ext>
            </a:extLst>
          </p:cNvPr>
          <p:cNvSpPr>
            <a:spLocks noGrp="1"/>
          </p:cNvSpPr>
          <p:nvPr/>
        </p:nvSpPr>
        <p:spPr>
          <a:xfrm>
            <a:off x="567000" y="5053773"/>
            <a:ext cx="6300939" cy="894741"/>
          </a:xfrm>
          <a:prstGeom prst="roundRect">
            <a:avLst>
              <a:gd name="adj" fmla="val 187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B49E6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3000" b="0" u="none">
              <a:solidFill>
                <a:srgbClr val="000000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D36FB87-AC9C-401E-792E-E0B9300034F1}"/>
              </a:ext>
            </a:extLst>
          </p:cNvPr>
          <p:cNvSpPr>
            <a:spLocks noGrp="1"/>
          </p:cNvSpPr>
          <p:nvPr/>
        </p:nvSpPr>
        <p:spPr>
          <a:xfrm>
            <a:off x="765792" y="5188987"/>
            <a:ext cx="5886382" cy="616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Objetivo: entender cómo convertimos una responsabilidad de negocio en cambios pequeños, verificables, liberables y capaces de producir aprendizaje.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AA47739-366C-D04A-0CA4-C2554390AD0D}"/>
              </a:ext>
            </a:extLst>
          </p:cNvPr>
          <p:cNvSpPr>
            <a:spLocks noGrp="1"/>
          </p:cNvSpPr>
          <p:nvPr/>
        </p:nvSpPr>
        <p:spPr>
          <a:xfrm>
            <a:off x="7675580" y="1100947"/>
            <a:ext cx="3328274" cy="3205734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BFFEF0A-570F-33D2-136B-839BCE005F9E}"/>
              </a:ext>
            </a:extLst>
          </p:cNvPr>
          <p:cNvSpPr>
            <a:spLocks noGrp="1"/>
          </p:cNvSpPr>
          <p:nvPr/>
        </p:nvSpPr>
        <p:spPr>
          <a:xfrm>
            <a:off x="8507788" y="3702852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4580023E-1CF3-E90A-C87B-06232376F2D5}"/>
              </a:ext>
            </a:extLst>
          </p:cNvPr>
          <p:cNvSpPr>
            <a:spLocks noGrp="1"/>
          </p:cNvSpPr>
          <p:nvPr/>
        </p:nvSpPr>
        <p:spPr>
          <a:xfrm>
            <a:off x="9374254" y="4370760"/>
            <a:ext cx="360" cy="622080"/>
          </a:xfrm>
          <a:prstGeom prst="line">
            <a:avLst/>
          </a:prstGeom>
          <a:ln w="22860">
            <a:solidFill>
              <a:srgbClr val="CAB9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680639FB-D27D-D3DB-D44B-45166BA776E1}"/>
              </a:ext>
            </a:extLst>
          </p:cNvPr>
          <p:cNvSpPr>
            <a:spLocks noGrp="1"/>
          </p:cNvSpPr>
          <p:nvPr/>
        </p:nvSpPr>
        <p:spPr>
          <a:xfrm>
            <a:off x="7956934" y="5084280"/>
            <a:ext cx="2880000" cy="840960"/>
          </a:xfrm>
          <a:prstGeom prst="roundRect">
            <a:avLst>
              <a:gd name="adj" fmla="val 14130"/>
            </a:avLst>
          </a:prstGeom>
          <a:solidFill>
            <a:srgbClr val="7B49E6"/>
          </a:solidFill>
          <a:ln w="1270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D89F9FD-33CD-3FDC-D2A2-120B1544279E}"/>
              </a:ext>
            </a:extLst>
          </p:cNvPr>
          <p:cNvSpPr>
            <a:spLocks noGrp="1"/>
          </p:cNvSpPr>
          <p:nvPr/>
        </p:nvSpPr>
        <p:spPr>
          <a:xfrm>
            <a:off x="8459854" y="5374032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 OS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A392EEC-8670-C71D-F5B6-133FE9D865A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A0D1D728-2877-56A1-C3AA-A5A762FE2D61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EC56527-DFE0-0B6D-1A22-25AA8DCC0C0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</a:t>
            </a:r>
            <a:endParaRPr sz="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16" y="1275732"/>
            <a:ext cx="2454948" cy="2454948"/>
          </a:xfrm>
          <a:prstGeom prst="rect">
            <a:avLst/>
          </a:prstGeom>
        </p:spPr>
      </p:pic>
      <p:pic>
        <p:nvPicPr>
          <p:cNvPr id="44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7587" y="396427"/>
            <a:ext cx="791013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4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8A6FB232-29C7-4148-A318-D6D37027B4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B656D5D7-5F56-4C48-B355-26CB3853B2EA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QUÉ RESUELVE LA METODOLOGÍA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7FC0CD6F-5E97-4B6A-B2CA-51F418519531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4058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OS es ag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é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ntic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producto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en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su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desarrollo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pero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responsabilidad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no se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delega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al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modelo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E5AC0352-BA88-4ADA-9660-CD1313D12700}"/>
              </a:ext>
            </a:extLst>
          </p:cNvPr>
          <p:cNvSpPr>
            <a:spLocks noGrp="1"/>
          </p:cNvSpPr>
          <p:nvPr/>
        </p:nvSpPr>
        <p:spPr>
          <a:xfrm>
            <a:off x="567000" y="170053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La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metodología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hace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explícita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la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artefacto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el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trabajo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humanos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agentes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la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exigida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CC814270-2D41-4CE0-BCB5-AAF97BF72825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2FD7BBD5-2BD3-474B-8F23-EE1DF3168EE9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B9E9BABF-B8BA-4327-AFAF-80C36E4CEEA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DB5131BC-B514-4FCE-B245-F6A4736B6361}"/>
              </a:ext>
            </a:extLst>
          </p:cNvPr>
          <p:cNvSpPr>
            <a:spLocks noGrp="1"/>
          </p:cNvSpPr>
          <p:nvPr/>
        </p:nvSpPr>
        <p:spPr>
          <a:xfrm>
            <a:off x="685800" y="2462911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Trazabilidad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665FA2CF-4526-4CF5-A5DF-C2A118EDE11F}"/>
              </a:ext>
            </a:extLst>
          </p:cNvPr>
          <p:cNvSpPr>
            <a:spLocks noGrp="1"/>
          </p:cNvSpPr>
          <p:nvPr/>
        </p:nvSpPr>
        <p:spPr>
          <a:xfrm>
            <a:off x="68580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AAEEDB45-9CC4-464E-B1AA-8DEB915C75E5}"/>
              </a:ext>
            </a:extLst>
          </p:cNvPr>
          <p:cNvSpPr>
            <a:spLocks noGrp="1"/>
          </p:cNvSpPr>
          <p:nvPr/>
        </p:nvSpPr>
        <p:spPr>
          <a:xfrm>
            <a:off x="88704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Intención → implementación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5544A2D3-5818-497B-B11C-6F90D3649BB8}"/>
              </a:ext>
            </a:extLst>
          </p:cNvPr>
          <p:cNvSpPr>
            <a:spLocks noGrp="1"/>
          </p:cNvSpPr>
          <p:nvPr/>
        </p:nvSpPr>
        <p:spPr>
          <a:xfrm>
            <a:off x="941760" y="3510975"/>
            <a:ext cx="2725779" cy="3846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 decisión importante tiene un dueño, un artefacto y una evidencia.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FC4AB4AB-8A0D-4675-8B3B-1A670A926D22}"/>
              </a:ext>
            </a:extLst>
          </p:cNvPr>
          <p:cNvSpPr>
            <a:spLocks noGrp="1"/>
          </p:cNvSpPr>
          <p:nvPr/>
        </p:nvSpPr>
        <p:spPr>
          <a:xfrm>
            <a:off x="443484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9B91866C-0D65-4CF5-B9AE-83546FAD5F88}"/>
              </a:ext>
            </a:extLst>
          </p:cNvPr>
          <p:cNvSpPr>
            <a:spLocks noGrp="1"/>
          </p:cNvSpPr>
          <p:nvPr/>
        </p:nvSpPr>
        <p:spPr>
          <a:xfrm>
            <a:off x="463608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Flujo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3E1770D2-F4A4-46AC-9E53-366F0B501AE8}"/>
              </a:ext>
            </a:extLst>
          </p:cNvPr>
          <p:cNvSpPr>
            <a:spLocks noGrp="1"/>
          </p:cNvSpPr>
          <p:nvPr/>
        </p:nvSpPr>
        <p:spPr>
          <a:xfrm>
            <a:off x="4705920" y="3471967"/>
            <a:ext cx="2779560" cy="4384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Slices pequeños que pueden revisarse, verificarse, liberarse y aprender.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FFE74B19-D367-4C38-99A4-6820C1D08276}"/>
              </a:ext>
            </a:extLst>
          </p:cNvPr>
          <p:cNvSpPr>
            <a:spLocks noGrp="1"/>
          </p:cNvSpPr>
          <p:nvPr/>
        </p:nvSpPr>
        <p:spPr>
          <a:xfrm>
            <a:off x="818388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13304863-5231-4072-B83B-78C7C184C7AC}"/>
              </a:ext>
            </a:extLst>
          </p:cNvPr>
          <p:cNvSpPr>
            <a:spLocks noGrp="1"/>
          </p:cNvSpPr>
          <p:nvPr/>
        </p:nvSpPr>
        <p:spPr>
          <a:xfrm>
            <a:off x="838512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Gobernanza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000F244F-8DD5-4EDB-9F29-FAE5060E87E6}"/>
              </a:ext>
            </a:extLst>
          </p:cNvPr>
          <p:cNvSpPr>
            <a:spLocks noGrp="1"/>
          </p:cNvSpPr>
          <p:nvPr/>
        </p:nvSpPr>
        <p:spPr>
          <a:xfrm>
            <a:off x="8439840" y="3533986"/>
            <a:ext cx="2779560" cy="3764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modelo propone; los contratos, checks y reviewers deciden.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8F09E838-7508-4DBB-878D-9E6461CF1859}"/>
              </a:ext>
            </a:extLst>
          </p:cNvPr>
          <p:cNvSpPr>
            <a:spLocks noGrp="1"/>
          </p:cNvSpPr>
          <p:nvPr/>
        </p:nvSpPr>
        <p:spPr>
          <a:xfrm>
            <a:off x="685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PREVIO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870E1DDA-56CA-4E99-B8AA-5DD8540CD368}"/>
              </a:ext>
            </a:extLst>
          </p:cNvPr>
          <p:cNvSpPr>
            <a:spLocks noGrp="1"/>
          </p:cNvSpPr>
          <p:nvPr/>
        </p:nvSpPr>
        <p:spPr>
          <a:xfrm>
            <a:off x="731520" y="486771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87EF43EB-2B9A-43B3-ADBA-DCDAAD22980B}"/>
              </a:ext>
            </a:extLst>
          </p:cNvPr>
          <p:cNvSpPr>
            <a:spLocks noGrp="1"/>
          </p:cNvSpPr>
          <p:nvPr/>
        </p:nvSpPr>
        <p:spPr>
          <a:xfrm>
            <a:off x="896040" y="479463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Sessions 3 + 3B: arquitectura y runtime.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0EE7AE17-FCAA-499A-8E9A-4F7DFCF59FB1}"/>
              </a:ext>
            </a:extLst>
          </p:cNvPr>
          <p:cNvSpPr>
            <a:spLocks noGrp="1"/>
          </p:cNvSpPr>
          <p:nvPr/>
        </p:nvSpPr>
        <p:spPr>
          <a:xfrm>
            <a:off x="731520" y="528855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2044C36A-B23A-44A4-AF9D-018739D3C4C1}"/>
              </a:ext>
            </a:extLst>
          </p:cNvPr>
          <p:cNvSpPr>
            <a:spLocks noGrp="1"/>
          </p:cNvSpPr>
          <p:nvPr/>
        </p:nvSpPr>
        <p:spPr>
          <a:xfrm>
            <a:off x="896040" y="521511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Lectura: Methodology Guide v0.2 (derivada de v0.4.4).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2AB794F0-1FC0-4702-8D39-5F03EAA67754}"/>
              </a:ext>
            </a:extLst>
          </p:cNvPr>
          <p:cNvSpPr>
            <a:spLocks noGrp="1"/>
          </p:cNvSpPr>
          <p:nvPr/>
        </p:nvSpPr>
        <p:spPr>
          <a:xfrm>
            <a:off x="731520" y="570903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4F045B93-12C9-4CD6-B523-566CF0E35B46}"/>
              </a:ext>
            </a:extLst>
          </p:cNvPr>
          <p:cNvSpPr>
            <a:spLocks noGrp="1"/>
          </p:cNvSpPr>
          <p:nvPr/>
        </p:nvSpPr>
        <p:spPr>
          <a:xfrm>
            <a:off x="896040" y="563595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Repo actual como evidencia.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F0379311-C9D2-4A7B-A47A-68E51AEB351F}"/>
              </a:ext>
            </a:extLst>
          </p:cNvPr>
          <p:cNvSpPr>
            <a:spLocks noGrp="1"/>
          </p:cNvSpPr>
          <p:nvPr/>
        </p:nvSpPr>
        <p:spPr>
          <a:xfrm>
            <a:off x="6400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RESULTADO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3AF30DE7-5E7C-41D2-9536-92A874763C47}"/>
              </a:ext>
            </a:extLst>
          </p:cNvPr>
          <p:cNvSpPr>
            <a:spLocks noGrp="1"/>
          </p:cNvSpPr>
          <p:nvPr/>
        </p:nvSpPr>
        <p:spPr>
          <a:xfrm>
            <a:off x="6446520" y="486771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BED7AF87-63AE-456D-AED5-98C999802EA6}"/>
              </a:ext>
            </a:extLst>
          </p:cNvPr>
          <p:cNvSpPr>
            <a:spLocks noGrp="1"/>
          </p:cNvSpPr>
          <p:nvPr/>
        </p:nvSpPr>
        <p:spPr>
          <a:xfrm>
            <a:off x="6611040" y="479463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 proceso compartido.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01B96AF5-0887-43EE-825B-4C38F6317C64}"/>
              </a:ext>
            </a:extLst>
          </p:cNvPr>
          <p:cNvSpPr>
            <a:spLocks noGrp="1"/>
          </p:cNvSpPr>
          <p:nvPr/>
        </p:nvSpPr>
        <p:spPr>
          <a:xfrm>
            <a:off x="6446520" y="528855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97078734-4A17-498D-89D1-3E562987F525}"/>
              </a:ext>
            </a:extLst>
          </p:cNvPr>
          <p:cNvSpPr>
            <a:spLocks noGrp="1"/>
          </p:cNvSpPr>
          <p:nvPr/>
        </p:nvSpPr>
        <p:spPr>
          <a:xfrm>
            <a:off x="6611040" y="521511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Gates explícitos.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48880A06-C8F4-404C-8041-DA0806D34E2B}"/>
              </a:ext>
            </a:extLst>
          </p:cNvPr>
          <p:cNvSpPr>
            <a:spLocks noGrp="1"/>
          </p:cNvSpPr>
          <p:nvPr/>
        </p:nvSpPr>
        <p:spPr>
          <a:xfrm>
            <a:off x="6446520" y="570903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FD33A5F3-A21E-44ED-A50E-76D6739901EF}"/>
              </a:ext>
            </a:extLst>
          </p:cNvPr>
          <p:cNvSpPr>
            <a:spLocks noGrp="1"/>
          </p:cNvSpPr>
          <p:nvPr/>
        </p:nvSpPr>
        <p:spPr>
          <a:xfrm>
            <a:off x="6611040" y="563595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Feedback cerrado.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28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>
            <a:extLst>
              <a:ext uri="{FF2B5EF4-FFF2-40B4-BE49-F238E27FC236}">
                <a16:creationId xmlns:a16="http://schemas.microsoft.com/office/drawing/2014/main" id="{A882DA7A-3DA1-1A55-4EBA-9C75BDA6F6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 1">
            <a:extLst>
              <a:ext uri="{FF2B5EF4-FFF2-40B4-BE49-F238E27FC236}">
                <a16:creationId xmlns:a16="http://schemas.microsoft.com/office/drawing/2014/main" id="{DD354175-608D-1A71-E390-4A51460BF4E4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LA CADENA DE ARTEFACTOS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Text 2">
            <a:extLst>
              <a:ext uri="{FF2B5EF4-FFF2-40B4-BE49-F238E27FC236}">
                <a16:creationId xmlns:a16="http://schemas.microsoft.com/office/drawing/2014/main" id="{1F0F9BBB-715B-CCD0-D86A-82CE0AFC0591}"/>
              </a:ext>
            </a:extLst>
          </p:cNvPr>
          <p:cNvSpPr>
            <a:spLocks noGrp="1"/>
          </p:cNvSpPr>
          <p:nvPr/>
        </p:nvSpPr>
        <p:spPr>
          <a:xfrm>
            <a:off x="567000" y="715820"/>
            <a:ext cx="10195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3902"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 artefacto posee una clase de verdad; ninguno debe intentar poseerlas todas.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 3">
            <a:extLst>
              <a:ext uri="{FF2B5EF4-FFF2-40B4-BE49-F238E27FC236}">
                <a16:creationId xmlns:a16="http://schemas.microsoft.com/office/drawing/2014/main" id="{582BD880-1DE5-1431-DDC0-428E681E3EE3}"/>
              </a:ext>
            </a:extLst>
          </p:cNvPr>
          <p:cNvSpPr>
            <a:spLocks noGrp="1"/>
          </p:cNvSpPr>
          <p:nvPr/>
        </p:nvSpPr>
        <p:spPr>
          <a:xfrm>
            <a:off x="567000" y="1416923"/>
            <a:ext cx="10698120" cy="5559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flujo reduce ambigüedad progresivamente sin convertir documentos explicativos en autoridad.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 5">
            <a:extLst>
              <a:ext uri="{FF2B5EF4-FFF2-40B4-BE49-F238E27FC236}">
                <a16:creationId xmlns:a16="http://schemas.microsoft.com/office/drawing/2014/main" id="{D2D2F6A2-EC10-697E-7210-5676009B135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Text 6">
            <a:extLst>
              <a:ext uri="{FF2B5EF4-FFF2-40B4-BE49-F238E27FC236}">
                <a16:creationId xmlns:a16="http://schemas.microsoft.com/office/drawing/2014/main" id="{C8E8C1CA-69BD-676C-6D51-0F12A7F90997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Text 7">
            <a:extLst>
              <a:ext uri="{FF2B5EF4-FFF2-40B4-BE49-F238E27FC236}">
                <a16:creationId xmlns:a16="http://schemas.microsoft.com/office/drawing/2014/main" id="{782E3E29-A04F-D32C-CB78-16E7FAB75028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3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Shape 8">
            <a:extLst>
              <a:ext uri="{FF2B5EF4-FFF2-40B4-BE49-F238E27FC236}">
                <a16:creationId xmlns:a16="http://schemas.microsoft.com/office/drawing/2014/main" id="{9FDD9B24-9FEF-8229-883C-80F5E3ED9CB3}"/>
              </a:ext>
            </a:extLst>
          </p:cNvPr>
          <p:cNvSpPr>
            <a:spLocks noGrp="1"/>
          </p:cNvSpPr>
          <p:nvPr/>
        </p:nvSpPr>
        <p:spPr>
          <a:xfrm>
            <a:off x="9362660" y="3067601"/>
            <a:ext cx="2246243" cy="2150444"/>
          </a:xfrm>
          <a:prstGeom prst="roundRect">
            <a:avLst>
              <a:gd name="adj" fmla="val 7143"/>
            </a:avLst>
          </a:prstGeom>
          <a:solidFill>
            <a:srgbClr val="CC99FF">
              <a:alpha val="50000"/>
            </a:srgbClr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Text 9">
            <a:extLst>
              <a:ext uri="{FF2B5EF4-FFF2-40B4-BE49-F238E27FC236}">
                <a16:creationId xmlns:a16="http://schemas.microsoft.com/office/drawing/2014/main" id="{95D2BA50-8761-62A4-6805-2AC02C8CC3CE}"/>
              </a:ext>
            </a:extLst>
          </p:cNvPr>
          <p:cNvSpPr>
            <a:spLocks noGrp="1"/>
          </p:cNvSpPr>
          <p:nvPr/>
        </p:nvSpPr>
        <p:spPr>
          <a:xfrm>
            <a:off x="9556552" y="3244229"/>
            <a:ext cx="1892341" cy="5781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8698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Tasks</a:t>
            </a:r>
            <a:r>
              <a:rPr lang="es-MX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Code </a:t>
            </a:r>
            <a:r>
              <a:rPr lang="es-MX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&amp;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Evidence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Text 10">
            <a:extLst>
              <a:ext uri="{FF2B5EF4-FFF2-40B4-BE49-F238E27FC236}">
                <a16:creationId xmlns:a16="http://schemas.microsoft.com/office/drawing/2014/main" id="{62EF2D04-2D08-2831-76B6-C735FB76BBFC}"/>
              </a:ext>
            </a:extLst>
          </p:cNvPr>
          <p:cNvSpPr>
            <a:spLocks noGrp="1"/>
          </p:cNvSpPr>
          <p:nvPr/>
        </p:nvSpPr>
        <p:spPr>
          <a:xfrm>
            <a:off x="9434072" y="3913819"/>
            <a:ext cx="2107309" cy="1145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está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implementado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verificado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operando.</a:t>
            </a:r>
            <a:endParaRPr sz="12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Shape 12">
            <a:extLst>
              <a:ext uri="{FF2B5EF4-FFF2-40B4-BE49-F238E27FC236}">
                <a16:creationId xmlns:a16="http://schemas.microsoft.com/office/drawing/2014/main" id="{11D88C58-7E48-2E2C-33DF-5C4665E241AF}"/>
              </a:ext>
            </a:extLst>
          </p:cNvPr>
          <p:cNvSpPr>
            <a:spLocks noGrp="1"/>
          </p:cNvSpPr>
          <p:nvPr/>
        </p:nvSpPr>
        <p:spPr>
          <a:xfrm>
            <a:off x="6399652" y="2752257"/>
            <a:ext cx="2078085" cy="2257065"/>
          </a:xfrm>
          <a:prstGeom prst="roundRect">
            <a:avLst>
              <a:gd name="adj" fmla="val 7143"/>
            </a:avLst>
          </a:prstGeom>
          <a:solidFill>
            <a:srgbClr val="99FFCC">
              <a:alpha val="50000"/>
            </a:srgbClr>
          </a:solidFill>
          <a:ln w="12700">
            <a:solidFill>
              <a:srgbClr val="546080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Text 13">
            <a:extLst>
              <a:ext uri="{FF2B5EF4-FFF2-40B4-BE49-F238E27FC236}">
                <a16:creationId xmlns:a16="http://schemas.microsoft.com/office/drawing/2014/main" id="{3B491646-BE3F-253A-DC8F-525F168F7CF2}"/>
              </a:ext>
            </a:extLst>
          </p:cNvPr>
          <p:cNvSpPr>
            <a:spLocks noGrp="1"/>
          </p:cNvSpPr>
          <p:nvPr/>
        </p:nvSpPr>
        <p:spPr>
          <a:xfrm>
            <a:off x="6497266" y="2894243"/>
            <a:ext cx="1902542" cy="6986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ADR</a:t>
            </a:r>
            <a:r>
              <a:rPr lang="es-MX"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s,</a:t>
            </a:r>
            <a:r>
              <a:rPr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Plan</a:t>
            </a:r>
            <a:r>
              <a:rPr lang="es-MX"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Técnico &amp; Slice Plan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Text 14">
            <a:extLst>
              <a:ext uri="{FF2B5EF4-FFF2-40B4-BE49-F238E27FC236}">
                <a16:creationId xmlns:a16="http://schemas.microsoft.com/office/drawing/2014/main" id="{2F3F53C4-89BC-D87A-20F4-EDBD2E790419}"/>
              </a:ext>
            </a:extLst>
          </p:cNvPr>
          <p:cNvSpPr>
            <a:spLocks noGrp="1"/>
          </p:cNvSpPr>
          <p:nvPr/>
        </p:nvSpPr>
        <p:spPr>
          <a:xfrm>
            <a:off x="6530255" y="3699376"/>
            <a:ext cx="1869553" cy="9986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decisi</a:t>
            </a:r>
            <a:r>
              <a:rPr lang="es-MX"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ones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técnica</a:t>
            </a:r>
            <a:r>
              <a:rPr lang="es-MX"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s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secuencia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e</a:t>
            </a:r>
            <a:r>
              <a:rPr lang="es-MX"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j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ecutable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se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eligen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2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Shape 16">
            <a:extLst>
              <a:ext uri="{FF2B5EF4-FFF2-40B4-BE49-F238E27FC236}">
                <a16:creationId xmlns:a16="http://schemas.microsoft.com/office/drawing/2014/main" id="{A855A8B1-4B3B-1033-08E7-E229B114997E}"/>
              </a:ext>
            </a:extLst>
          </p:cNvPr>
          <p:cNvSpPr>
            <a:spLocks noGrp="1"/>
          </p:cNvSpPr>
          <p:nvPr/>
        </p:nvSpPr>
        <p:spPr>
          <a:xfrm>
            <a:off x="3366780" y="2484561"/>
            <a:ext cx="2078085" cy="2216647"/>
          </a:xfrm>
          <a:prstGeom prst="roundRect">
            <a:avLst>
              <a:gd name="adj" fmla="val 714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Text 17">
            <a:extLst>
              <a:ext uri="{FF2B5EF4-FFF2-40B4-BE49-F238E27FC236}">
                <a16:creationId xmlns:a16="http://schemas.microsoft.com/office/drawing/2014/main" id="{1E4DFB1D-5C00-DAF8-1D3B-742BCF11A11B}"/>
              </a:ext>
            </a:extLst>
          </p:cNvPr>
          <p:cNvSpPr>
            <a:spLocks noGrp="1"/>
          </p:cNvSpPr>
          <p:nvPr/>
        </p:nvSpPr>
        <p:spPr>
          <a:xfrm>
            <a:off x="3546158" y="2697970"/>
            <a:ext cx="1719329" cy="5866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Spec </a:t>
            </a:r>
            <a:r>
              <a:rPr lang="es-MX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&amp;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optional Initiative Brief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Text 18">
            <a:extLst>
              <a:ext uri="{FF2B5EF4-FFF2-40B4-BE49-F238E27FC236}">
                <a16:creationId xmlns:a16="http://schemas.microsoft.com/office/drawing/2014/main" id="{479BCBCE-C877-5D81-254B-824FAEA9E464}"/>
              </a:ext>
            </a:extLst>
          </p:cNvPr>
          <p:cNvSpPr>
            <a:spLocks noGrp="1"/>
          </p:cNvSpPr>
          <p:nvPr/>
        </p:nvSpPr>
        <p:spPr>
          <a:xfrm>
            <a:off x="3497382" y="3414925"/>
            <a:ext cx="1849869" cy="11654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responsabilidad y comportamiento deben existir.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Shape 20">
            <a:extLst>
              <a:ext uri="{FF2B5EF4-FFF2-40B4-BE49-F238E27FC236}">
                <a16:creationId xmlns:a16="http://schemas.microsoft.com/office/drawing/2014/main" id="{767E9E23-87D6-D399-C628-63AB925920D2}"/>
              </a:ext>
            </a:extLst>
          </p:cNvPr>
          <p:cNvSpPr>
            <a:spLocks noGrp="1"/>
          </p:cNvSpPr>
          <p:nvPr/>
        </p:nvSpPr>
        <p:spPr>
          <a:xfrm>
            <a:off x="566906" y="2246082"/>
            <a:ext cx="1907915" cy="2125076"/>
          </a:xfrm>
          <a:prstGeom prst="roundRect">
            <a:avLst>
              <a:gd name="adj" fmla="val 714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Text 21">
            <a:extLst>
              <a:ext uri="{FF2B5EF4-FFF2-40B4-BE49-F238E27FC236}">
                <a16:creationId xmlns:a16="http://schemas.microsoft.com/office/drawing/2014/main" id="{2843F256-14CC-937F-7108-B04F725DAD56}"/>
              </a:ext>
            </a:extLst>
          </p:cNvPr>
          <p:cNvSpPr>
            <a:spLocks noGrp="1"/>
          </p:cNvSpPr>
          <p:nvPr/>
        </p:nvSpPr>
        <p:spPr>
          <a:xfrm>
            <a:off x="731595" y="2473462"/>
            <a:ext cx="1578537" cy="5625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Producto</a:t>
            </a:r>
            <a:r>
              <a:rPr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es-MX"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&amp;</a:t>
            </a:r>
            <a:r>
              <a:rPr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Roadmap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Text 22">
            <a:extLst>
              <a:ext uri="{FF2B5EF4-FFF2-40B4-BE49-F238E27FC236}">
                <a16:creationId xmlns:a16="http://schemas.microsoft.com/office/drawing/2014/main" id="{63669163-2472-2609-3BF1-16ED831BAC0A}"/>
              </a:ext>
            </a:extLst>
          </p:cNvPr>
          <p:cNvSpPr>
            <a:spLocks noGrp="1"/>
          </p:cNvSpPr>
          <p:nvPr/>
        </p:nvSpPr>
        <p:spPr>
          <a:xfrm>
            <a:off x="613726" y="2960766"/>
            <a:ext cx="1815468" cy="12163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problema, outcome y principios gobiernan.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cxnSp>
        <p:nvCxnSpPr>
          <p:cNvPr id="361" name="Conector: angular 9"/>
          <p:cNvCxnSpPr>
            <a:stCxn id="265" idx="3"/>
            <a:endCxn id="261" idx="1"/>
          </p:cNvCxnSpPr>
          <p:nvPr/>
        </p:nvCxnSpPr>
        <p:spPr>
          <a:xfrm>
            <a:off x="2474821" y="3308620"/>
            <a:ext cx="891959" cy="28426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ctor: angular 14"/>
          <p:cNvCxnSpPr>
            <a:stCxn id="261" idx="3"/>
            <a:endCxn id="257" idx="1"/>
          </p:cNvCxnSpPr>
          <p:nvPr/>
        </p:nvCxnSpPr>
        <p:spPr>
          <a:xfrm>
            <a:off x="5444865" y="3592885"/>
            <a:ext cx="954787" cy="287905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: angular 18"/>
          <p:cNvCxnSpPr>
            <a:stCxn id="257" idx="3"/>
            <a:endCxn id="253" idx="1"/>
          </p:cNvCxnSpPr>
          <p:nvPr/>
        </p:nvCxnSpPr>
        <p:spPr>
          <a:xfrm>
            <a:off x="8477737" y="3880790"/>
            <a:ext cx="884923" cy="262033"/>
          </a:xfrm>
          <a:prstGeom prst="bentConnector3">
            <a:avLst>
              <a:gd name="adj1" fmla="val 50000"/>
            </a:avLst>
          </a:prstGeom>
          <a:ln>
            <a:solidFill>
              <a:srgbClr val="746F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22">
            <a:extLst>
              <a:ext uri="{FF2B5EF4-FFF2-40B4-BE49-F238E27FC236}">
                <a16:creationId xmlns:a16="http://schemas.microsoft.com/office/drawing/2014/main" id="{206A407A-8804-81B3-C1A6-9FC84EF2D345}"/>
              </a:ext>
            </a:extLst>
          </p:cNvPr>
          <p:cNvSpPr>
            <a:spLocks noGrp="1"/>
          </p:cNvSpPr>
          <p:nvPr/>
        </p:nvSpPr>
        <p:spPr>
          <a:xfrm>
            <a:off x="2481118" y="2866403"/>
            <a:ext cx="865783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encuadra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8B156619-183E-3AC1-6407-70F99B2544E4}"/>
              </a:ext>
            </a:extLst>
          </p:cNvPr>
          <p:cNvSpPr>
            <a:spLocks noGrp="1"/>
          </p:cNvSpPr>
          <p:nvPr/>
        </p:nvSpPr>
        <p:spPr>
          <a:xfrm>
            <a:off x="5468385" y="3082162"/>
            <a:ext cx="899687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especifica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10CED-1BA2-055D-3949-FC59D07DFA14}"/>
              </a:ext>
            </a:extLst>
          </p:cNvPr>
          <p:cNvSpPr>
            <a:spLocks noGrp="1"/>
          </p:cNvSpPr>
          <p:nvPr/>
        </p:nvSpPr>
        <p:spPr>
          <a:xfrm>
            <a:off x="8521133" y="3387276"/>
            <a:ext cx="783476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realiza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07243253-56A4-A7BE-B07C-C4B42B326592}"/>
              </a:ext>
            </a:extLst>
          </p:cNvPr>
          <p:cNvSpPr>
            <a:spLocks noGrp="1"/>
          </p:cNvSpPr>
          <p:nvPr/>
        </p:nvSpPr>
        <p:spPr>
          <a:xfrm>
            <a:off x="6184693" y="5035085"/>
            <a:ext cx="2651194" cy="7341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Decisiones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slices</a:t>
            </a: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F57873A9-E077-9E17-5EF8-0464E041EEE4}"/>
              </a:ext>
            </a:extLst>
          </p:cNvPr>
          <p:cNvSpPr>
            <a:spLocks noGrp="1"/>
          </p:cNvSpPr>
          <p:nvPr/>
        </p:nvSpPr>
        <p:spPr>
          <a:xfrm>
            <a:off x="3226456" y="4709097"/>
            <a:ext cx="2401654" cy="795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Acceptance criteria</a:t>
            </a: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90B284CB-E804-3A65-2AC1-66D52252ECC3}"/>
              </a:ext>
            </a:extLst>
          </p:cNvPr>
          <p:cNvSpPr>
            <a:spLocks noGrp="1"/>
          </p:cNvSpPr>
          <p:nvPr/>
        </p:nvSpPr>
        <p:spPr>
          <a:xfrm>
            <a:off x="547028" y="4395828"/>
            <a:ext cx="2303978" cy="9216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Producto y principios</a:t>
            </a:r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6CE8AE74-6110-CE00-E83B-64D0ABA3678A}"/>
              </a:ext>
            </a:extLst>
          </p:cNvPr>
          <p:cNvSpPr>
            <a:spLocks noGrp="1"/>
          </p:cNvSpPr>
          <p:nvPr/>
        </p:nvSpPr>
        <p:spPr>
          <a:xfrm>
            <a:off x="9084619" y="5241384"/>
            <a:ext cx="2951667" cy="8370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Repo, CI, runtime, feedback</a:t>
            </a: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F6BA2A2C-7CD9-4DCB-56F0-137CA2F3165C}"/>
              </a:ext>
            </a:extLst>
          </p:cNvPr>
          <p:cNvSpPr>
            <a:spLocks noGrp="1"/>
          </p:cNvSpPr>
          <p:nvPr/>
        </p:nvSpPr>
        <p:spPr>
          <a:xfrm>
            <a:off x="545821" y="5823380"/>
            <a:ext cx="5340703" cy="614028"/>
          </a:xfrm>
          <a:prstGeom prst="roundRect">
            <a:avLst>
              <a:gd name="adj" fmla="val 8621"/>
            </a:avLst>
          </a:prstGeom>
          <a:solidFill>
            <a:srgbClr val="F0E9FF"/>
          </a:solidFill>
          <a:ln w="1524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C37FAC06-5F26-8642-35A3-B350DC24DDCB}"/>
              </a:ext>
            </a:extLst>
          </p:cNvPr>
          <p:cNvSpPr>
            <a:spLocks noGrp="1"/>
          </p:cNvSpPr>
          <p:nvPr/>
        </p:nvSpPr>
        <p:spPr>
          <a:xfrm>
            <a:off x="715991" y="5951396"/>
            <a:ext cx="5054241" cy="3573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La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comunicación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deriva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de la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cadena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; no la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reemplaza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533581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252DBD7B-D3A0-4DB1-BE25-168CE5C3AD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80D883B1-BDEB-469B-BCB0-0A1DE25BBA5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AUTORIDAD POR TIPO DE VERDAD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01AA6E1E-4766-4DB5-A53B-335839B04BF1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coherencia depende de saber qué documento gobierna cada pregunta.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50B8E248-F25C-45A0-97C1-3488B1B387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Cuando dos artefactos divergen, reconciliamos según ownership; no elegimos el texto más reciente por intuición.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FDAD2FBB-01BC-4588-B45D-CB4B3A182F6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D3B354FB-C4E5-4F6D-9EAF-216A890B8390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B9F7EE63-BA30-4FE6-BA95-DFE85B9CC25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4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2CA55D01-8F05-41AB-B280-B355EB4F6C75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CCE403DE-AA8D-4374-91D9-6D32EF411B3E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GOBIERNA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26206E4F-4CA6-4966-AF91-A1CF9B2ECA42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Fuentes canónicas: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2E0DD706-2F6D-4F7C-84C5-0477BDD03438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PRD → producto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Doctrine → principios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Architecture/ADRs → diseño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Roadmap → secuencia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Specs → comportamiento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Code/tests → realidad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DACC0191-C847-4B0A-B08D-4CEBD7EEFC46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F664B46C-4D12-4642-B557-080839F85413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EXPLICA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2658972-2980-423C-825C-01C769192818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Capa de equipo: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131138BE-DAE1-40D0-8C27-D13D6A44729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Team Guide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Architecture Primer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Architecture Guide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Runtime &amp; Harness Guide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Methodology Guide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Sessions 1–4 + 3B</a:t>
            </a:r>
            <a:endParaRPr sz="1400" b="0" u="none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Derivada y fechada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25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7D09BBDC-F729-411B-AA82-2DA4E317CF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C2DD2"/>
          </a:solidFill>
          <a:ln w="0">
            <a:solidFill>
              <a:srgbClr val="5C2DD2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6C419CD-7BB9-4A46-A976-1C1A8AB970E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858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AUTORIDAD DE DESARROLLO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DAEB994-09FD-4D86-B6CD-E55332473A34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00" b="1" i="0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F1B30"/>
                </a:solidFill>
                <a:latin typeface="Aptos"/>
                <a:ea typeface="Aptos"/>
                <a:cs typeface="Aptos"/>
              </a:rPr>
              <a:t>Cuatro sistemas poseen verdades diferentes de desarrollo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C6FBA5C-2FB5-4D4A-B55D-5AB42969D7F9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3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AGENTS.md conduce al mapa de autoridad. Cada sistema downstream responde una pregunta distinta.</a:t>
            </a:r>
          </a:p>
        </p:txBody>
      </p:sp>
      <p:pic>
        <p:nvPicPr>
          <p:cNvPr id="37" name="Imagen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826" y="361950"/>
            <a:ext cx="617574" cy="514350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CA27293-8444-451C-B9E3-84513F872042}"/>
              </a:ext>
            </a:extLst>
          </p:cNvPr>
          <p:cNvSpPr>
            <a:spLocks noGrp="1"/>
          </p:cNvSpPr>
          <p:nvPr/>
        </p:nvSpPr>
        <p:spPr>
          <a:xfrm>
            <a:off x="9858375" y="1581150"/>
            <a:ext cx="1619250" cy="266700"/>
          </a:xfrm>
          <a:prstGeom prst="roundRect">
            <a:avLst>
              <a:gd name="adj" fmla="val 50000"/>
            </a:avLst>
          </a:prstGeom>
          <a:solidFill>
            <a:srgbClr val="5C2DD2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344862-FA19-4650-BE87-3E9EA34B70B2}"/>
              </a:ext>
            </a:extLst>
          </p:cNvPr>
          <p:cNvSpPr>
            <a:spLocks noGrp="1"/>
          </p:cNvSpPr>
          <p:nvPr/>
        </p:nvSpPr>
        <p:spPr>
          <a:xfrm>
            <a:off x="9934575" y="1609725"/>
            <a:ext cx="14668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 CANÓNICO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E55F959-BB1C-4CC9-BC19-EBCFA2F57F82}"/>
              </a:ext>
            </a:extLst>
          </p:cNvPr>
          <p:cNvSpPr>
            <a:spLocks noGrp="1"/>
          </p:cNvSpPr>
          <p:nvPr/>
        </p:nvSpPr>
        <p:spPr>
          <a:xfrm>
            <a:off x="419100" y="6534150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 lnSpcReduction="20000"/>
          </a:bodyPr>
          <a:lstStyle/>
          <a:p>
            <a:pPr>
              <a:defRPr sz="6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CONFIDENCIAL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95F497E-7CF1-4F21-8F5A-C7E378289869}"/>
              </a:ext>
            </a:extLst>
          </p:cNvPr>
          <p:cNvSpPr>
            <a:spLocks noGrp="1"/>
          </p:cNvSpPr>
          <p:nvPr/>
        </p:nvSpPr>
        <p:spPr>
          <a:xfrm>
            <a:off x="10982325" y="6534150"/>
            <a:ext cx="7620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 lnSpcReduction="20000"/>
          </a:bodyPr>
          <a:lstStyle/>
          <a:p>
            <a:pPr>
              <a:defRPr sz="6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ungga.com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B9583DF-813B-464F-9EA4-DD5EB84011D9}"/>
              </a:ext>
            </a:extLst>
          </p:cNvPr>
          <p:cNvSpPr>
            <a:spLocks noGrp="1"/>
          </p:cNvSpPr>
          <p:nvPr/>
        </p:nvSpPr>
        <p:spPr>
          <a:xfrm>
            <a:off x="590550" y="2114550"/>
            <a:ext cx="2000250" cy="857250"/>
          </a:xfrm>
          <a:prstGeom prst="roundRect">
            <a:avLst>
              <a:gd name="adj" fmla="val 13333"/>
            </a:avLst>
          </a:prstGeom>
          <a:solidFill>
            <a:srgbClr val="EEE8FF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3F56082-B1F4-4E45-AC3A-A1034D2825DC}"/>
              </a:ext>
            </a:extLst>
          </p:cNvPr>
          <p:cNvSpPr>
            <a:spLocks noGrp="1"/>
          </p:cNvSpPr>
          <p:nvPr/>
        </p:nvSpPr>
        <p:spPr>
          <a:xfrm>
            <a:off x="742950" y="2238375"/>
            <a:ext cx="16954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AGENTS.md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56EA84B-EFDE-4FF3-910D-4D8D7F7C1681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16954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4167" lnSpcReduction="20000"/>
          </a:bodyPr>
          <a:lstStyle/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Contrato operativo y routing obligatorio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53C2449-4E69-4B6A-A42D-1994DA97CFC8}"/>
              </a:ext>
            </a:extLst>
          </p:cNvPr>
          <p:cNvSpPr>
            <a:spLocks noGrp="1"/>
          </p:cNvSpPr>
          <p:nvPr/>
        </p:nvSpPr>
        <p:spPr>
          <a:xfrm>
            <a:off x="3000375" y="2114550"/>
            <a:ext cx="2000250" cy="857250"/>
          </a:xfrm>
          <a:prstGeom prst="roundRect">
            <a:avLst>
              <a:gd name="adj" fmla="val 13333"/>
            </a:avLst>
          </a:prstGeom>
          <a:solidFill>
            <a:srgbClr val="FFF0D7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B1DC47E-860B-40BE-B7F8-2FA01A89C491}"/>
              </a:ext>
            </a:extLst>
          </p:cNvPr>
          <p:cNvSpPr>
            <a:spLocks noGrp="1"/>
          </p:cNvSpPr>
          <p:nvPr/>
        </p:nvSpPr>
        <p:spPr>
          <a:xfrm>
            <a:off x="3152775" y="2238375"/>
            <a:ext cx="16954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 i="0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39A24"/>
                </a:solidFill>
                <a:latin typeface="Aptos"/>
                <a:ea typeface="Aptos"/>
                <a:cs typeface="Aptos"/>
              </a:rPr>
              <a:t>docs/README.md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C7E5EC3-B1EE-45B2-9668-E98B6C773D70}"/>
              </a:ext>
            </a:extLst>
          </p:cNvPr>
          <p:cNvSpPr>
            <a:spLocks noGrp="1"/>
          </p:cNvSpPr>
          <p:nvPr/>
        </p:nvSpPr>
        <p:spPr>
          <a:xfrm>
            <a:off x="3152775" y="2571750"/>
            <a:ext cx="16954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375" lnSpcReduction="20000"/>
          </a:bodyPr>
          <a:lstStyle/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¿Qué artefacto posee esta verdad?</a:t>
            </a:r>
          </a:p>
        </p:txBody>
      </p:sp>
      <p:cxnSp>
        <p:nvCxnSpPr>
          <p:cNvPr id="48" name="Conector recto de flecha 47"/>
          <p:cNvCxnSpPr>
            <a:stCxn id="10" idx="3"/>
            <a:endCxn id="13" idx="1"/>
          </p:cNvCxnSpPr>
          <p:nvPr/>
        </p:nvCxnSpPr>
        <p:spPr>
          <a:xfrm>
            <a:off x="2590800" y="2543175"/>
            <a:ext cx="409575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3A4F7F4E-7778-47AE-8B68-5C19853655D4}"/>
              </a:ext>
            </a:extLst>
          </p:cNvPr>
          <p:cNvSpPr>
            <a:spLocks noGrp="1"/>
          </p:cNvSpPr>
          <p:nvPr/>
        </p:nvSpPr>
        <p:spPr>
          <a:xfrm>
            <a:off x="590550" y="3524250"/>
            <a:ext cx="2571750" cy="1714500"/>
          </a:xfrm>
          <a:prstGeom prst="roundRect">
            <a:avLst>
              <a:gd name="adj" fmla="val 6667"/>
            </a:avLst>
          </a:prstGeom>
          <a:solidFill>
            <a:srgbClr val="EEE8FF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5DF3045-B5B5-4A9E-BE48-27643D39150A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2669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DOCUMENTOS CANÓNICOS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47F4EA-7895-41CE-8E2B-4389CC2A8EC1}"/>
              </a:ext>
            </a:extLst>
          </p:cNvPr>
          <p:cNvSpPr>
            <a:spLocks noGrp="1"/>
          </p:cNvSpPr>
          <p:nvPr/>
        </p:nvSpPr>
        <p:spPr>
          <a:xfrm>
            <a:off x="742950" y="3981450"/>
            <a:ext cx="2266950" cy="1162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Intención y contratos durables</a:t>
            </a:r>
          </a:p>
          <a:p>
            <a:pPr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PRD · Roadmap · Specs · ADRs</a:t>
            </a:r>
          </a:p>
          <a:p>
            <a:pPr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Technical Plan · Slice Plan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92DB33AA-FE86-4597-944E-6C31EC512147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2571750" cy="1714500"/>
          </a:xfrm>
          <a:prstGeom prst="roundRect">
            <a:avLst>
              <a:gd name="adj" fmla="val 6667"/>
            </a:avLst>
          </a:prstGeom>
          <a:solidFill>
            <a:srgbClr val="FFF0D7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68394BE-19B2-4705-AE08-03F8FC389598}"/>
              </a:ext>
            </a:extLst>
          </p:cNvPr>
          <p:cNvSpPr>
            <a:spLocks noGrp="1"/>
          </p:cNvSpPr>
          <p:nvPr/>
        </p:nvSpPr>
        <p:spPr>
          <a:xfrm>
            <a:off x="3524250" y="3648075"/>
            <a:ext cx="22669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810"/>
          </a:bodyPr>
          <a:lstStyle/>
          <a:p>
            <a:pPr>
              <a:defRPr sz="1125" b="1" i="0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39A24"/>
                </a:solidFill>
                <a:latin typeface="Aptos"/>
                <a:ea typeface="Aptos"/>
                <a:cs typeface="Aptos"/>
              </a:rPr>
              <a:t>RUNTIME DEL CODING AGENT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1983E43-DACB-486A-9299-6FA47E4DA0FB}"/>
              </a:ext>
            </a:extLst>
          </p:cNvPr>
          <p:cNvSpPr>
            <a:spLocks noGrp="1"/>
          </p:cNvSpPr>
          <p:nvPr/>
        </p:nvSpPr>
        <p:spPr>
          <a:xfrm>
            <a:off x="3524250" y="3981450"/>
            <a:ext cx="2266950" cy="1162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JIT Tasks</a:t>
            </a:r>
          </a:p>
          <a:p>
            <a:pPr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Implementación aún sin push</a:t>
            </a:r>
          </a:p>
          <a:p>
            <a:pPr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Contexto de verificación local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C705EED3-1002-4FED-A5EC-3075158A4297}"/>
              </a:ext>
            </a:extLst>
          </p:cNvPr>
          <p:cNvSpPr>
            <a:spLocks noGrp="1"/>
          </p:cNvSpPr>
          <p:nvPr/>
        </p:nvSpPr>
        <p:spPr>
          <a:xfrm>
            <a:off x="6153150" y="3524250"/>
            <a:ext cx="2571750" cy="1714500"/>
          </a:xfrm>
          <a:prstGeom prst="roundRect">
            <a:avLst>
              <a:gd name="adj" fmla="val 6667"/>
            </a:avLst>
          </a:prstGeom>
          <a:solidFill>
            <a:srgbClr val="E3F5ED"/>
          </a:solidFill>
          <a:ln w="9525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183C370-DC89-4BE3-B7D0-75D183E95953}"/>
              </a:ext>
            </a:extLst>
          </p:cNvPr>
          <p:cNvSpPr>
            <a:spLocks noGrp="1"/>
          </p:cNvSpPr>
          <p:nvPr/>
        </p:nvSpPr>
        <p:spPr>
          <a:xfrm>
            <a:off x="6305550" y="3648075"/>
            <a:ext cx="22669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 i="0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9566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2757AD3-BEC2-4A70-85EC-7B579ADE7DCD}"/>
              </a:ext>
            </a:extLst>
          </p:cNvPr>
          <p:cNvSpPr>
            <a:spLocks noGrp="1"/>
          </p:cNvSpPr>
          <p:nvPr/>
        </p:nvSpPr>
        <p:spPr>
          <a:xfrm>
            <a:off x="6305550" y="3981450"/>
            <a:ext cx="2266950" cy="1162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Branch · commits · PR</a:t>
            </a:r>
          </a:p>
          <a:p>
            <a:pPr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CI / RLS · merge</a:t>
            </a:r>
          </a:p>
          <a:p>
            <a:pPr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Actions y aprobaciones de entorno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E4E1D8EE-FA8F-48A2-A362-F18A5B4D2A0C}"/>
              </a:ext>
            </a:extLst>
          </p:cNvPr>
          <p:cNvSpPr>
            <a:spLocks noGrp="1"/>
          </p:cNvSpPr>
          <p:nvPr/>
        </p:nvSpPr>
        <p:spPr>
          <a:xfrm>
            <a:off x="8934450" y="3524250"/>
            <a:ext cx="2571750" cy="1714500"/>
          </a:xfrm>
          <a:prstGeom prst="roundRect">
            <a:avLst>
              <a:gd name="adj" fmla="val 6667"/>
            </a:avLst>
          </a:prstGeom>
          <a:solidFill>
            <a:srgbClr val="E7ECFB"/>
          </a:solidFill>
          <a:ln w="9525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2483B9A-1435-4028-A682-62557A50A2B1}"/>
              </a:ext>
            </a:extLst>
          </p:cNvPr>
          <p:cNvSpPr>
            <a:spLocks noGrp="1"/>
          </p:cNvSpPr>
          <p:nvPr/>
        </p:nvSpPr>
        <p:spPr>
          <a:xfrm>
            <a:off x="9086850" y="3648075"/>
            <a:ext cx="22669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 i="0">
                <a:solidFill>
                  <a:srgbClr val="4866C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866C6"/>
                </a:solidFill>
                <a:latin typeface="Aptos"/>
                <a:ea typeface="Aptos"/>
                <a:cs typeface="Aptos"/>
              </a:rPr>
              <a:t>CONTROL PLANE FUTURO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3F852B0-F35E-4091-AB61-5CC3C9CC77D3}"/>
              </a:ext>
            </a:extLst>
          </p:cNvPr>
          <p:cNvSpPr>
            <a:spLocks noGrp="1"/>
          </p:cNvSpPr>
          <p:nvPr/>
        </p:nvSpPr>
        <p:spPr>
          <a:xfrm>
            <a:off x="9086850" y="3981450"/>
            <a:ext cx="2266950" cy="1162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Proyección entre dueños</a:t>
            </a:r>
          </a:p>
          <a:p>
            <a:pPr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Visibilidad de Cycle / DRI</a:t>
            </a:r>
          </a:p>
          <a:p>
            <a:pPr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Atención y aprendizaje</a:t>
            </a:r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805906CB-5E25-41A5-A363-FFD61FF01695}"/>
              </a:ext>
            </a:extLst>
          </p:cNvPr>
          <p:cNvSpPr>
            <a:spLocks noGrp="1"/>
          </p:cNvSpPr>
          <p:nvPr/>
        </p:nvSpPr>
        <p:spPr>
          <a:xfrm>
            <a:off x="4000500" y="3009900"/>
            <a:ext cx="0" cy="361950"/>
          </a:xfrm>
          <a:prstGeom prst="line">
            <a:avLst/>
          </a:prstGeom>
          <a:noFill/>
          <a:ln w="19050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4A383C6-C23E-4ECE-9A59-41C47CCD7DEB}"/>
              </a:ext>
            </a:extLst>
          </p:cNvPr>
          <p:cNvSpPr>
            <a:spLocks noGrp="1"/>
          </p:cNvSpPr>
          <p:nvPr/>
        </p:nvSpPr>
        <p:spPr>
          <a:xfrm>
            <a:off x="3190875" y="3048000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 i="0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39A24"/>
                </a:solidFill>
                <a:latin typeface="Aptos"/>
                <a:ea typeface="Aptos"/>
                <a:cs typeface="Aptos"/>
              </a:rPr>
              <a:t>ir al artefacto dueño antes de trabajo consecuencial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C8560B94-12BC-45F0-92BB-E09C6D2BF693}"/>
              </a:ext>
            </a:extLst>
          </p:cNvPr>
          <p:cNvSpPr>
            <a:spLocks noGrp="1"/>
          </p:cNvSpPr>
          <p:nvPr/>
        </p:nvSpPr>
        <p:spPr>
          <a:xfrm>
            <a:off x="590550" y="5619750"/>
            <a:ext cx="10915650" cy="457200"/>
          </a:xfrm>
          <a:prstGeom prst="roundRect">
            <a:avLst>
              <a:gd name="adj" fmla="val 20833"/>
            </a:avLst>
          </a:prstGeom>
          <a:solidFill>
            <a:srgbClr val="1F1B30"/>
          </a:solidFill>
          <a:ln w="9525">
            <a:solidFill>
              <a:srgbClr val="1F1B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68CFE0B-E7EE-4A21-BDC2-570A72CE1576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104965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20000"/>
          </a:bodyPr>
          <a:lstStyle/>
          <a:p>
            <a:pPr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Ningún sistema posee por sí solo “dónde está el trabajo”. La respuesta cambia antes y después de un push.</a:t>
            </a:r>
          </a:p>
        </p:txBody>
      </p:sp>
    </p:spTree>
    <p:extLst>
      <p:ext uri="{BB962C8B-B14F-4D97-AF65-F5344CB8AC3E}">
        <p14:creationId xmlns:p14="http://schemas.microsoft.com/office/powerpoint/2010/main" val="878648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ángulo 68">
            <a:extLst>
              <a:ext uri="{FF2B5EF4-FFF2-40B4-BE49-F238E27FC236}">
                <a16:creationId xmlns:a16="http://schemas.microsoft.com/office/drawing/2014/main" id="{44F2795B-81FF-4A40-B34B-704FE542B7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C2DD2"/>
          </a:solidFill>
          <a:ln w="0">
            <a:solidFill>
              <a:srgbClr val="5C2DD2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0D6A320-1EB4-4307-8870-CC5A2FB73C1A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858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CICLO CONTINUO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F8AEAB-A778-454E-B8E2-D29A25F5B14A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00" b="1" i="0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F1B30"/>
                </a:solidFill>
                <a:latin typeface="Aptos"/>
                <a:ea typeface="Aptos"/>
                <a:cs typeface="Aptos"/>
              </a:rPr>
              <a:t>Lifecycle de desarrollo: de intención a aprendizaje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52548C-E189-445F-80F9-EDEB00AF367F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3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La cadena reduce ambigüedad, crea evidencia independiente y repara el artefacto dueño de cada defecto.</a:t>
            </a:r>
          </a:p>
        </p:txBody>
      </p:sp>
      <p:pic>
        <p:nvPicPr>
          <p:cNvPr id="73" name="Imagen 7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826" y="361950"/>
            <a:ext cx="617574" cy="514350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A770E4B-19EA-4190-9624-38A102B77CB9}"/>
              </a:ext>
            </a:extLst>
          </p:cNvPr>
          <p:cNvSpPr>
            <a:spLocks noGrp="1"/>
          </p:cNvSpPr>
          <p:nvPr/>
        </p:nvSpPr>
        <p:spPr>
          <a:xfrm>
            <a:off x="9858375" y="1581150"/>
            <a:ext cx="1619250" cy="266700"/>
          </a:xfrm>
          <a:prstGeom prst="roundRect">
            <a:avLst>
              <a:gd name="adj" fmla="val 50000"/>
            </a:avLst>
          </a:prstGeom>
          <a:solidFill>
            <a:srgbClr val="5C2DD2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2126D96-D671-4160-9654-9F5E9E385128}"/>
              </a:ext>
            </a:extLst>
          </p:cNvPr>
          <p:cNvSpPr>
            <a:spLocks noGrp="1"/>
          </p:cNvSpPr>
          <p:nvPr/>
        </p:nvSpPr>
        <p:spPr>
          <a:xfrm>
            <a:off x="9934575" y="1609725"/>
            <a:ext cx="14668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MÉTODO CANÓNICO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B8C506-74A9-4B8B-870F-0723EBE5941A}"/>
              </a:ext>
            </a:extLst>
          </p:cNvPr>
          <p:cNvSpPr>
            <a:spLocks noGrp="1"/>
          </p:cNvSpPr>
          <p:nvPr/>
        </p:nvSpPr>
        <p:spPr>
          <a:xfrm>
            <a:off x="419100" y="6534150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833" lnSpcReduction="20000"/>
          </a:bodyPr>
          <a:lstStyle/>
          <a:p>
            <a:pPr>
              <a:defRPr sz="6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CONFIDENCIAL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00918DE-8B60-4592-8088-6465E4AEAFD7}"/>
              </a:ext>
            </a:extLst>
          </p:cNvPr>
          <p:cNvSpPr>
            <a:spLocks noGrp="1"/>
          </p:cNvSpPr>
          <p:nvPr/>
        </p:nvSpPr>
        <p:spPr>
          <a:xfrm>
            <a:off x="10982325" y="6534150"/>
            <a:ext cx="7620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833" lnSpcReduction="20000"/>
          </a:bodyPr>
          <a:lstStyle/>
          <a:p>
            <a:pPr>
              <a:defRPr sz="6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ungga.com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B94AA8F-33F1-41F2-BA22-2C48D30F2946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756F9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EC60224-1B16-4901-9198-E7A2FB61D3DA}"/>
              </a:ext>
            </a:extLst>
          </p:cNvPr>
          <p:cNvSpPr>
            <a:spLocks noGrp="1"/>
          </p:cNvSpPr>
          <p:nvPr/>
        </p:nvSpPr>
        <p:spPr>
          <a:xfrm>
            <a:off x="647700" y="25050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Descubrir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1115F8D-4B03-4656-87D0-E7AA4D994912}"/>
              </a:ext>
            </a:extLst>
          </p:cNvPr>
          <p:cNvSpPr>
            <a:spLocks noGrp="1"/>
          </p:cNvSpPr>
          <p:nvPr/>
        </p:nvSpPr>
        <p:spPr>
          <a:xfrm>
            <a:off x="647700" y="28384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4B37827-A65F-4FB8-8C12-C83A094B346F}"/>
              </a:ext>
            </a:extLst>
          </p:cNvPr>
          <p:cNvSpPr>
            <a:spLocks noGrp="1"/>
          </p:cNvSpPr>
          <p:nvPr/>
        </p:nvSpPr>
        <p:spPr>
          <a:xfrm>
            <a:off x="2095500" y="23812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AB9CBC8-9CCD-40C0-BA47-981E4632C13B}"/>
              </a:ext>
            </a:extLst>
          </p:cNvPr>
          <p:cNvSpPr>
            <a:spLocks noGrp="1"/>
          </p:cNvSpPr>
          <p:nvPr/>
        </p:nvSpPr>
        <p:spPr>
          <a:xfrm>
            <a:off x="2247900" y="25050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PRD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8DDDA21-AE95-457B-A607-7D5EE3DAF0DB}"/>
              </a:ext>
            </a:extLst>
          </p:cNvPr>
          <p:cNvSpPr>
            <a:spLocks noGrp="1"/>
          </p:cNvSpPr>
          <p:nvPr/>
        </p:nvSpPr>
        <p:spPr>
          <a:xfrm>
            <a:off x="2247900" y="28384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05" lnSpcReduction="10000"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intención de producto</a:t>
            </a:r>
          </a:p>
        </p:txBody>
      </p:sp>
      <p:cxnSp>
        <p:nvCxnSpPr>
          <p:cNvPr id="84" name="Conector recto de flecha 83"/>
          <p:cNvCxnSpPr>
            <a:stCxn id="10" idx="3"/>
            <a:endCxn id="13" idx="1"/>
          </p:cNvCxnSpPr>
          <p:nvPr/>
        </p:nvCxnSpPr>
        <p:spPr>
          <a:xfrm>
            <a:off x="1828800" y="2819400"/>
            <a:ext cx="2667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7790C543-6EA1-49D0-87BA-A47733EB2404}"/>
              </a:ext>
            </a:extLst>
          </p:cNvPr>
          <p:cNvSpPr>
            <a:spLocks noGrp="1"/>
          </p:cNvSpPr>
          <p:nvPr/>
        </p:nvSpPr>
        <p:spPr>
          <a:xfrm>
            <a:off x="3695700" y="23812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819A7AD-362B-4D30-8553-8AD47C2240C1}"/>
              </a:ext>
            </a:extLst>
          </p:cNvPr>
          <p:cNvSpPr>
            <a:spLocks noGrp="1"/>
          </p:cNvSpPr>
          <p:nvPr/>
        </p:nvSpPr>
        <p:spPr>
          <a:xfrm>
            <a:off x="3848100" y="25050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D3358B3-B52F-4D85-A49F-FC805DA94581}"/>
              </a:ext>
            </a:extLst>
          </p:cNvPr>
          <p:cNvSpPr>
            <a:spLocks noGrp="1"/>
          </p:cNvSpPr>
          <p:nvPr/>
        </p:nvSpPr>
        <p:spPr>
          <a:xfrm>
            <a:off x="3848100" y="28384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qué demostrar</a:t>
            </a:r>
          </a:p>
        </p:txBody>
      </p:sp>
      <p:cxnSp>
        <p:nvCxnSpPr>
          <p:cNvPr id="88" name="Conector recto de flecha 87"/>
          <p:cNvCxnSpPr>
            <a:stCxn id="13" idx="3"/>
            <a:endCxn id="17" idx="1"/>
          </p:cNvCxnSpPr>
          <p:nvPr/>
        </p:nvCxnSpPr>
        <p:spPr>
          <a:xfrm>
            <a:off x="3429000" y="2819400"/>
            <a:ext cx="2667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44FD50E4-1FDC-4F2B-9693-7F1CB2A2D426}"/>
              </a:ext>
            </a:extLst>
          </p:cNvPr>
          <p:cNvSpPr>
            <a:spLocks noGrp="1"/>
          </p:cNvSpPr>
          <p:nvPr/>
        </p:nvSpPr>
        <p:spPr>
          <a:xfrm>
            <a:off x="5295900" y="23812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B560ADA-65EE-4C48-BB72-387D8A016C7D}"/>
              </a:ext>
            </a:extLst>
          </p:cNvPr>
          <p:cNvSpPr>
            <a:spLocks noGrp="1"/>
          </p:cNvSpPr>
          <p:nvPr/>
        </p:nvSpPr>
        <p:spPr>
          <a:xfrm>
            <a:off x="5448300" y="25050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 i="0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39A24"/>
                </a:solidFill>
                <a:latin typeface="Aptos"/>
                <a:ea typeface="Aptos"/>
                <a:cs typeface="Aptos"/>
              </a:rPr>
              <a:t>Spec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0B1332E-234B-47E5-9808-53DBD16E7A17}"/>
              </a:ext>
            </a:extLst>
          </p:cNvPr>
          <p:cNvSpPr>
            <a:spLocks noGrp="1"/>
          </p:cNvSpPr>
          <p:nvPr/>
        </p:nvSpPr>
        <p:spPr>
          <a:xfrm>
            <a:off x="5448300" y="28384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673"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comportamiento</a:t>
            </a:r>
          </a:p>
        </p:txBody>
      </p:sp>
      <p:cxnSp>
        <p:nvCxnSpPr>
          <p:cNvPr id="92" name="Conector recto de flecha 91"/>
          <p:cNvCxnSpPr>
            <a:stCxn id="17" idx="3"/>
            <a:endCxn id="21" idx="1"/>
          </p:cNvCxnSpPr>
          <p:nvPr/>
        </p:nvCxnSpPr>
        <p:spPr>
          <a:xfrm>
            <a:off x="5029200" y="2819400"/>
            <a:ext cx="2667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35FD34EA-2EDE-4D30-94B0-1F1D8644B5B5}"/>
              </a:ext>
            </a:extLst>
          </p:cNvPr>
          <p:cNvSpPr>
            <a:spLocks noGrp="1"/>
          </p:cNvSpPr>
          <p:nvPr/>
        </p:nvSpPr>
        <p:spPr>
          <a:xfrm>
            <a:off x="6896100" y="23812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7063A26-0735-4AAD-A121-79A503F30C24}"/>
              </a:ext>
            </a:extLst>
          </p:cNvPr>
          <p:cNvSpPr>
            <a:spLocks noGrp="1"/>
          </p:cNvSpPr>
          <p:nvPr/>
        </p:nvSpPr>
        <p:spPr>
          <a:xfrm>
            <a:off x="7048500" y="25050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 i="0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39A24"/>
                </a:solidFill>
                <a:latin typeface="Aptos"/>
                <a:ea typeface="Aptos"/>
                <a:cs typeface="Aptos"/>
              </a:rPr>
              <a:t>ADR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2D1F6C7-1CEA-40A7-82E7-AE5436718925}"/>
              </a:ext>
            </a:extLst>
          </p:cNvPr>
          <p:cNvSpPr>
            <a:spLocks noGrp="1"/>
          </p:cNvSpPr>
          <p:nvPr/>
        </p:nvSpPr>
        <p:spPr>
          <a:xfrm>
            <a:off x="7048500" y="28384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cxnSp>
        <p:nvCxnSpPr>
          <p:cNvPr id="96" name="Conector recto de flecha 95"/>
          <p:cNvCxnSpPr>
            <a:stCxn id="21" idx="3"/>
            <a:endCxn id="25" idx="1"/>
          </p:cNvCxnSpPr>
          <p:nvPr/>
        </p:nvCxnSpPr>
        <p:spPr>
          <a:xfrm>
            <a:off x="6629400" y="2819400"/>
            <a:ext cx="2667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24CC7C7A-C9B2-4F3F-AC5E-854A2C2B3A90}"/>
              </a:ext>
            </a:extLst>
          </p:cNvPr>
          <p:cNvSpPr>
            <a:spLocks noGrp="1"/>
          </p:cNvSpPr>
          <p:nvPr/>
        </p:nvSpPr>
        <p:spPr>
          <a:xfrm>
            <a:off x="8496300" y="23812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B182048-6A88-42F3-8B57-106FCB4D171E}"/>
              </a:ext>
            </a:extLst>
          </p:cNvPr>
          <p:cNvSpPr>
            <a:spLocks noGrp="1"/>
          </p:cNvSpPr>
          <p:nvPr/>
        </p:nvSpPr>
        <p:spPr>
          <a:xfrm>
            <a:off x="8648700" y="25050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 i="0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39A24"/>
                </a:solidFill>
                <a:latin typeface="Aptos"/>
                <a:ea typeface="Aptos"/>
                <a:cs typeface="Aptos"/>
              </a:rPr>
              <a:t>Tech Plan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A1B4ADC-084D-44E6-9C23-61B87A0C8413}"/>
              </a:ext>
            </a:extLst>
          </p:cNvPr>
          <p:cNvSpPr>
            <a:spLocks noGrp="1"/>
          </p:cNvSpPr>
          <p:nvPr/>
        </p:nvSpPr>
        <p:spPr>
          <a:xfrm>
            <a:off x="8648700" y="28384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realización</a:t>
            </a:r>
          </a:p>
        </p:txBody>
      </p:sp>
      <p:cxnSp>
        <p:nvCxnSpPr>
          <p:cNvPr id="100" name="Conector recto de flecha 99"/>
          <p:cNvCxnSpPr>
            <a:stCxn id="25" idx="3"/>
            <a:endCxn id="29" idx="1"/>
          </p:cNvCxnSpPr>
          <p:nvPr/>
        </p:nvCxnSpPr>
        <p:spPr>
          <a:xfrm>
            <a:off x="8229600" y="2819400"/>
            <a:ext cx="2667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9CF4E3C3-6062-4EF3-94F2-D6BB0AEA153D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6C653BD-A93E-41EA-BCA3-DDD46789EC30}"/>
              </a:ext>
            </a:extLst>
          </p:cNvPr>
          <p:cNvSpPr>
            <a:spLocks noGrp="1"/>
          </p:cNvSpPr>
          <p:nvPr/>
        </p:nvSpPr>
        <p:spPr>
          <a:xfrm>
            <a:off x="10248900" y="25050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 i="0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09566"/>
                </a:solidFill>
                <a:latin typeface="Aptos"/>
                <a:ea typeface="Aptos"/>
                <a:cs typeface="Aptos"/>
              </a:rPr>
              <a:t>Slice Plan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52CDA4E-1E7B-4851-BFBC-888EB6B284B7}"/>
              </a:ext>
            </a:extLst>
          </p:cNvPr>
          <p:cNvSpPr>
            <a:spLocks noGrp="1"/>
          </p:cNvSpPr>
          <p:nvPr/>
        </p:nvSpPr>
        <p:spPr>
          <a:xfrm>
            <a:off x="10248900" y="28384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contrato</a:t>
            </a:r>
          </a:p>
        </p:txBody>
      </p:sp>
      <p:cxnSp>
        <p:nvCxnSpPr>
          <p:cNvPr id="104" name="Conector recto de flecha 103"/>
          <p:cNvCxnSpPr>
            <a:stCxn id="29" idx="3"/>
            <a:endCxn id="33" idx="1"/>
          </p:cNvCxnSpPr>
          <p:nvPr/>
        </p:nvCxnSpPr>
        <p:spPr>
          <a:xfrm>
            <a:off x="9829800" y="2819400"/>
            <a:ext cx="2667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C883F4B8-E94F-4470-BC9B-7DC4B39BC69D}"/>
              </a:ext>
            </a:extLst>
          </p:cNvPr>
          <p:cNvSpPr>
            <a:spLocks noGrp="1"/>
          </p:cNvSpPr>
          <p:nvPr/>
        </p:nvSpPr>
        <p:spPr>
          <a:xfrm>
            <a:off x="10096500" y="40957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BF682C8F-B5E2-4622-8240-808A37260C91}"/>
              </a:ext>
            </a:extLst>
          </p:cNvPr>
          <p:cNvSpPr>
            <a:spLocks noGrp="1"/>
          </p:cNvSpPr>
          <p:nvPr/>
        </p:nvSpPr>
        <p:spPr>
          <a:xfrm>
            <a:off x="10248900" y="42195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 i="0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09566"/>
                </a:solidFill>
                <a:latin typeface="Aptos"/>
                <a:ea typeface="Aptos"/>
                <a:cs typeface="Aptos"/>
              </a:rPr>
              <a:t>JIT Tasks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0D6A077-EE0C-4E05-AC77-646FCA9FDE3D}"/>
              </a:ext>
            </a:extLst>
          </p:cNvPr>
          <p:cNvSpPr>
            <a:spLocks noGrp="1"/>
          </p:cNvSpPr>
          <p:nvPr/>
        </p:nvSpPr>
        <p:spPr>
          <a:xfrm>
            <a:off x="10248900" y="45529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ejecución</a:t>
            </a:r>
          </a:p>
        </p:txBody>
      </p:sp>
      <p:cxnSp>
        <p:nvCxnSpPr>
          <p:cNvPr id="108" name="Conector recto de flecha 107"/>
          <p:cNvCxnSpPr>
            <a:stCxn id="33" idx="2"/>
            <a:endCxn id="37" idx="0"/>
          </p:cNvCxnSpPr>
          <p:nvPr/>
        </p:nvCxnSpPr>
        <p:spPr>
          <a:xfrm>
            <a:off x="10763250" y="3257550"/>
            <a:ext cx="0" cy="83820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B2577564-7E2C-474D-B10E-9DD785122E40}"/>
              </a:ext>
            </a:extLst>
          </p:cNvPr>
          <p:cNvSpPr>
            <a:spLocks noGrp="1"/>
          </p:cNvSpPr>
          <p:nvPr/>
        </p:nvSpPr>
        <p:spPr>
          <a:xfrm>
            <a:off x="8496300" y="40957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E594C4C1-549A-4600-9881-CC78162B3267}"/>
              </a:ext>
            </a:extLst>
          </p:cNvPr>
          <p:cNvSpPr>
            <a:spLocks noGrp="1"/>
          </p:cNvSpPr>
          <p:nvPr/>
        </p:nvSpPr>
        <p:spPr>
          <a:xfrm>
            <a:off x="8648700" y="42195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966"/>
          </a:bodyPr>
          <a:lstStyle/>
          <a:p>
            <a:pPr>
              <a:defRPr sz="1200" b="1" i="0">
                <a:solidFill>
                  <a:srgbClr val="4866C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866C6"/>
                </a:solidFill>
                <a:latin typeface="Aptos"/>
                <a:ea typeface="Aptos"/>
                <a:cs typeface="Aptos"/>
              </a:rPr>
              <a:t>Implementar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DEABA5A9-CF8C-4159-8467-78C94376718C}"/>
              </a:ext>
            </a:extLst>
          </p:cNvPr>
          <p:cNvSpPr>
            <a:spLocks noGrp="1"/>
          </p:cNvSpPr>
          <p:nvPr/>
        </p:nvSpPr>
        <p:spPr>
          <a:xfrm>
            <a:off x="8648700" y="45529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código</a:t>
            </a:r>
          </a:p>
        </p:txBody>
      </p:sp>
      <p:cxnSp>
        <p:nvCxnSpPr>
          <p:cNvPr id="112" name="Conector recto de flecha 111"/>
          <p:cNvCxnSpPr>
            <a:stCxn id="37" idx="1"/>
            <a:endCxn id="41" idx="3"/>
          </p:cNvCxnSpPr>
          <p:nvPr/>
        </p:nvCxnSpPr>
        <p:spPr>
          <a:xfrm flipH="1">
            <a:off x="9829800" y="4533900"/>
            <a:ext cx="2667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9F05CE6B-F3C3-47B8-800F-5DB66C519AC0}"/>
              </a:ext>
            </a:extLst>
          </p:cNvPr>
          <p:cNvSpPr>
            <a:spLocks noGrp="1"/>
          </p:cNvSpPr>
          <p:nvPr/>
        </p:nvSpPr>
        <p:spPr>
          <a:xfrm>
            <a:off x="6896100" y="40957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499908BD-7A54-4115-BFB6-19CE78D8EFF0}"/>
              </a:ext>
            </a:extLst>
          </p:cNvPr>
          <p:cNvSpPr>
            <a:spLocks noGrp="1"/>
          </p:cNvSpPr>
          <p:nvPr/>
        </p:nvSpPr>
        <p:spPr>
          <a:xfrm>
            <a:off x="7048500" y="42195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 i="0">
                <a:solidFill>
                  <a:srgbClr val="4866C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866C6"/>
                </a:solidFill>
                <a:latin typeface="Aptos"/>
                <a:ea typeface="Aptos"/>
                <a:cs typeface="Aptos"/>
              </a:rPr>
              <a:t>Verificar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5BC8765D-8A18-42B6-9735-ED8FD827924B}"/>
              </a:ext>
            </a:extLst>
          </p:cNvPr>
          <p:cNvSpPr>
            <a:spLocks noGrp="1"/>
          </p:cNvSpPr>
          <p:nvPr/>
        </p:nvSpPr>
        <p:spPr>
          <a:xfrm>
            <a:off x="7048500" y="45529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cxnSp>
        <p:nvCxnSpPr>
          <p:cNvPr id="116" name="Conector recto de flecha 115"/>
          <p:cNvCxnSpPr>
            <a:stCxn id="41" idx="1"/>
            <a:endCxn id="45" idx="3"/>
          </p:cNvCxnSpPr>
          <p:nvPr/>
        </p:nvCxnSpPr>
        <p:spPr>
          <a:xfrm flipH="1">
            <a:off x="8229600" y="4533900"/>
            <a:ext cx="2667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69266DFA-B288-42BE-B2C3-88F4A56AB6C5}"/>
              </a:ext>
            </a:extLst>
          </p:cNvPr>
          <p:cNvSpPr>
            <a:spLocks noGrp="1"/>
          </p:cNvSpPr>
          <p:nvPr/>
        </p:nvSpPr>
        <p:spPr>
          <a:xfrm>
            <a:off x="5295900" y="40957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F2D5A3DF-1E52-4A63-B5D0-2462B442E0FA}"/>
              </a:ext>
            </a:extLst>
          </p:cNvPr>
          <p:cNvSpPr>
            <a:spLocks noGrp="1"/>
          </p:cNvSpPr>
          <p:nvPr/>
        </p:nvSpPr>
        <p:spPr>
          <a:xfrm>
            <a:off x="5448300" y="42195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 i="0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8497C"/>
                </a:solidFill>
                <a:latin typeface="Aptos"/>
                <a:ea typeface="Aptos"/>
                <a:cs typeface="Aptos"/>
              </a:rPr>
              <a:t>PR / CI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C1E2CCDA-FD8E-4441-8422-A6A0018E1D0F}"/>
              </a:ext>
            </a:extLst>
          </p:cNvPr>
          <p:cNvSpPr>
            <a:spLocks noGrp="1"/>
          </p:cNvSpPr>
          <p:nvPr/>
        </p:nvSpPr>
        <p:spPr>
          <a:xfrm>
            <a:off x="5448300" y="45529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05" lnSpcReduction="10000"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control independiente</a:t>
            </a:r>
          </a:p>
        </p:txBody>
      </p:sp>
      <p:cxnSp>
        <p:nvCxnSpPr>
          <p:cNvPr id="120" name="Conector recto de flecha 119"/>
          <p:cNvCxnSpPr>
            <a:stCxn id="45" idx="1"/>
            <a:endCxn id="49" idx="3"/>
          </p:cNvCxnSpPr>
          <p:nvPr/>
        </p:nvCxnSpPr>
        <p:spPr>
          <a:xfrm flipH="1">
            <a:off x="6629400" y="4533900"/>
            <a:ext cx="2667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6AE1EB31-01DA-4AD1-B42B-9EC15E99494A}"/>
              </a:ext>
            </a:extLst>
          </p:cNvPr>
          <p:cNvSpPr>
            <a:spLocks noGrp="1"/>
          </p:cNvSpPr>
          <p:nvPr/>
        </p:nvSpPr>
        <p:spPr>
          <a:xfrm>
            <a:off x="3695700" y="40957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089B0CBA-D812-4EA5-B714-6C3174FEFB96}"/>
              </a:ext>
            </a:extLst>
          </p:cNvPr>
          <p:cNvSpPr>
            <a:spLocks noGrp="1"/>
          </p:cNvSpPr>
          <p:nvPr/>
        </p:nvSpPr>
        <p:spPr>
          <a:xfrm>
            <a:off x="3848100" y="42195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 i="0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8497C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E5B7A0E9-F71F-4421-9A42-F9CBA6C225CD}"/>
              </a:ext>
            </a:extLst>
          </p:cNvPr>
          <p:cNvSpPr>
            <a:spLocks noGrp="1"/>
          </p:cNvSpPr>
          <p:nvPr/>
        </p:nvSpPr>
        <p:spPr>
          <a:xfrm>
            <a:off x="3848100" y="45529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88"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scope declarado</a:t>
            </a:r>
          </a:p>
        </p:txBody>
      </p:sp>
      <p:cxnSp>
        <p:nvCxnSpPr>
          <p:cNvPr id="124" name="Conector recto de flecha 123"/>
          <p:cNvCxnSpPr>
            <a:stCxn id="49" idx="1"/>
            <a:endCxn id="53" idx="3"/>
          </p:cNvCxnSpPr>
          <p:nvPr/>
        </p:nvCxnSpPr>
        <p:spPr>
          <a:xfrm flipH="1">
            <a:off x="5029200" y="4533900"/>
            <a:ext cx="2667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8E28FDA5-1904-4C54-9EF1-C8B03165E443}"/>
              </a:ext>
            </a:extLst>
          </p:cNvPr>
          <p:cNvSpPr>
            <a:spLocks noGrp="1"/>
          </p:cNvSpPr>
          <p:nvPr/>
        </p:nvSpPr>
        <p:spPr>
          <a:xfrm>
            <a:off x="2095500" y="40957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96820B4F-D8F3-4647-8F65-7D0907C74549}"/>
              </a:ext>
            </a:extLst>
          </p:cNvPr>
          <p:cNvSpPr>
            <a:spLocks noGrp="1"/>
          </p:cNvSpPr>
          <p:nvPr/>
        </p:nvSpPr>
        <p:spPr>
          <a:xfrm>
            <a:off x="2247900" y="42195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Observar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7FE672F-5709-4B08-AF95-4CB90A04CE67}"/>
              </a:ext>
            </a:extLst>
          </p:cNvPr>
          <p:cNvSpPr>
            <a:spLocks noGrp="1"/>
          </p:cNvSpPr>
          <p:nvPr/>
        </p:nvSpPr>
        <p:spPr>
          <a:xfrm>
            <a:off x="2247900" y="45529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cxnSp>
        <p:nvCxnSpPr>
          <p:cNvPr id="128" name="Conector recto de flecha 127"/>
          <p:cNvCxnSpPr>
            <a:stCxn id="53" idx="1"/>
            <a:endCxn id="57" idx="3"/>
          </p:cNvCxnSpPr>
          <p:nvPr/>
        </p:nvCxnSpPr>
        <p:spPr>
          <a:xfrm flipH="1">
            <a:off x="3429000" y="4533900"/>
            <a:ext cx="2667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B7DA0B52-A1CC-47E6-A9F4-C80ABC6F3521}"/>
              </a:ext>
            </a:extLst>
          </p:cNvPr>
          <p:cNvSpPr>
            <a:spLocks noGrp="1"/>
          </p:cNvSpPr>
          <p:nvPr/>
        </p:nvSpPr>
        <p:spPr>
          <a:xfrm>
            <a:off x="495300" y="4095750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57B333D5-1023-485F-A3C7-21953FB6C63A}"/>
              </a:ext>
            </a:extLst>
          </p:cNvPr>
          <p:cNvSpPr>
            <a:spLocks noGrp="1"/>
          </p:cNvSpPr>
          <p:nvPr/>
        </p:nvSpPr>
        <p:spPr>
          <a:xfrm>
            <a:off x="647700" y="421957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578"/>
          </a:bodyPr>
          <a:lstStyle/>
          <a:p>
            <a:pPr>
              <a:defRPr sz="1200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Evolucionar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EBF5E2FB-D6C1-4D13-870A-2CB656D31DFF}"/>
              </a:ext>
            </a:extLst>
          </p:cNvPr>
          <p:cNvSpPr>
            <a:spLocks noGrp="1"/>
          </p:cNvSpPr>
          <p:nvPr/>
        </p:nvSpPr>
        <p:spPr>
          <a:xfrm>
            <a:off x="647700" y="45529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573"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artefacto dueño</a:t>
            </a:r>
          </a:p>
        </p:txBody>
      </p:sp>
      <p:cxnSp>
        <p:nvCxnSpPr>
          <p:cNvPr id="132" name="Conector recto de flecha 131"/>
          <p:cNvCxnSpPr>
            <a:stCxn id="57" idx="1"/>
            <a:endCxn id="61" idx="3"/>
          </p:cNvCxnSpPr>
          <p:nvPr/>
        </p:nvCxnSpPr>
        <p:spPr>
          <a:xfrm flipH="1">
            <a:off x="1828800" y="4533900"/>
            <a:ext cx="2667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DBDBB272-5FD4-4FEF-AA61-E0A29725B080}"/>
              </a:ext>
            </a:extLst>
          </p:cNvPr>
          <p:cNvSpPr>
            <a:spLocks noGrp="1"/>
          </p:cNvSpPr>
          <p:nvPr/>
        </p:nvSpPr>
        <p:spPr>
          <a:xfrm>
            <a:off x="3619500" y="3543300"/>
            <a:ext cx="4953000" cy="266700"/>
          </a:xfrm>
          <a:prstGeom prst="roundRect">
            <a:avLst>
              <a:gd name="adj" fmla="val 50000"/>
            </a:avLst>
          </a:prstGeom>
          <a:solidFill>
            <a:srgbClr val="5C2DD2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B2E109E3-3924-4F0D-8EA7-DE191F33C28D}"/>
              </a:ext>
            </a:extLst>
          </p:cNvPr>
          <p:cNvSpPr>
            <a:spLocks noGrp="1"/>
          </p:cNvSpPr>
          <p:nvPr/>
        </p:nvSpPr>
        <p:spPr>
          <a:xfrm>
            <a:off x="3695700" y="3571875"/>
            <a:ext cx="48006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 EVIDENCIA PUEDE REGRESAR EL DEFECTO A SU ARTEFACTO DUEÑO</a:t>
            </a: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76F5F59E-4F4F-4224-8127-F034CC6A5C74}"/>
              </a:ext>
            </a:extLst>
          </p:cNvPr>
          <p:cNvSpPr>
            <a:spLocks noGrp="1"/>
          </p:cNvSpPr>
          <p:nvPr/>
        </p:nvSpPr>
        <p:spPr>
          <a:xfrm>
            <a:off x="1952625" y="5381625"/>
            <a:ext cx="8286750" cy="514350"/>
          </a:xfrm>
          <a:prstGeom prst="roundRect">
            <a:avLst>
              <a:gd name="adj" fmla="val 18519"/>
            </a:avLst>
          </a:prstGeom>
          <a:solidFill>
            <a:srgbClr val="1F1B30"/>
          </a:solidFill>
          <a:ln w="9525">
            <a:solidFill>
              <a:srgbClr val="1F1B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4E94D3E0-7AE3-4CC7-AFFE-19D6796326F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79248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708" lnSpcReduction="20000"/>
          </a:bodyPr>
          <a:lstStyle/>
          <a:p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El lifecycle es continuo. Terminar una Task, PR, Slice o Cycle no detiene automáticamente el trabajo.</a:t>
            </a:r>
          </a:p>
        </p:txBody>
      </p:sp>
    </p:spTree>
    <p:extLst>
      <p:ext uri="{BB962C8B-B14F-4D97-AF65-F5344CB8AC3E}">
        <p14:creationId xmlns:p14="http://schemas.microsoft.com/office/powerpoint/2010/main" val="1128534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PRODUCT INTENT Y ROADMAP DEFINEN EL OUTCOME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desarrollo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comienza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con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responsabilidad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o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problema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negocio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no con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capa</a:t>
            </a:r>
            <a:r>
              <a:rPr lang="es-MX"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técnica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interesante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El Roadmap Increment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declara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resultado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debe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probarse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; un Brief es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opcional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cuando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ese frame no basta.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5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200" b="1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PRODUCT REQS DOCUMENT (</a:t>
            </a:r>
            <a:r>
              <a:rPr sz="1200" b="1" u="none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PRD</a:t>
            </a:r>
            <a:r>
              <a:rPr lang="es-MX" sz="1200" b="1" u="none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)</a:t>
            </a:r>
            <a:endParaRPr sz="12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Por qué y para quién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Problema, usuario, outcomes, límites y métricas de producto.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ROADMAP INCREMENT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cambio perseguimos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Secuencia estratégica, prerequisites y evidence para graduar el incremento.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OPTIONAL BRIEF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Cuándo hace falta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Sólo si hace falta un frame de coordinación que el incremento no aporta.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Roadmap no equivale a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diseño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aprobado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ni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a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trabajo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ej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ecutable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LA SPEC CONVIERTE INTENCIÓN EN CONTRATO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buena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spec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hace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visible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comportamiento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datos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fallos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autoridad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antes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implementar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Debe ser suficientemente precisa para que diferentes agentes y reviewers converjan.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6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BEHAVIOR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observa el usuario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Flujos, estados, transiciones, mensajes y criterios de finalización.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CONTRACTS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integra el sistema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Schemas, interfaces,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eventos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invariant</a:t>
            </a:r>
            <a:r>
              <a:rPr lang="es-MX"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e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s,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permis</a:t>
            </a:r>
            <a:r>
              <a:rPr lang="es-MX"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os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compatibili</a:t>
            </a:r>
            <a:r>
              <a:rPr lang="es-MX"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dad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4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VERIFICATION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3044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Cómo sabremos que funciona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Tests, scenarios, checks, evidence y métricas.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9323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La spec reduce grados de libertad; no reemplaza juicio ni descubrimiento.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PLAN, SLICE CONTRACT Y JIT TASKS NO SON LO MISMO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Technical Plan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realiza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behavior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aprobado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el Slice Plan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conserva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contratos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el agent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deriva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Tasks al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ejecutar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Programar un slice no lo aprueba: la autoridad debe estar explícita antes de ejecutar.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7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TECHNICAL PLAN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Diseño de realización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Componentes, contratos, secuencia técnica, flags y rollback.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SLICE PLAN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Contrato durable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Outcome, acceptance, DoD, Release Scope, estimate y readiness.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A84A7A"/>
                </a:solidFill>
                <a:latin typeface="Aptos"/>
                <a:ea typeface="Aptos"/>
                <a:cs typeface="Aptos"/>
              </a:rPr>
              <a:t>JIT TASKS</a:t>
            </a:r>
            <a:endParaRPr sz="12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Plan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operativo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del agent</a:t>
            </a:r>
            <a:r>
              <a:rPr lang="es-MX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Investigar, cambiar y verificar ahora; no Markdown canonical.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6756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READY → Planned → Executable; Cycle planning no re-aprueba el diseño.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D673AD65-218B-46BA-B9E8-7269B0F4BF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13F09029-38F3-42B0-A307-5DC38B7B45B2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VERTICAL SLICES PRODUCEN EVIDENCIA ANTES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BADB5B0E-6D95-48EB-B4EC-B3D090A7AAD3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 slice cruza las capas mínimas necesarias para demostrar comportamiento real.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176600AA-1B63-45F9-871A-6AD1C4E6A128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Evita acumular foundations sin feedback y reduce el costo de encontrar decisiones equivocadas.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159929BB-DB75-4E07-B671-CD48ABFC1BCC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CBF423FC-1CBB-49FD-8FF3-75873061ECBA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9F70A1A1-32E8-4233-BA47-6C2EC12FD1C4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8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41CC1EC6-334D-4038-92EF-6255EFFFA9FE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A0ABFAC3-3559-4628-A586-41ACD4A3808A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SLICE HORIZONTAL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75F4AE5E-E80B-45E4-BADD-2BFAD6021DE9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Completa una capa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78244901-84EA-4405-A882-45E8BF84EE99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Muchas tablas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Muchos endpoints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Muchos componentes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Poca validación end-to-end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9B266D8D-6C44-4646-8069-FD46DF89C4DD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4FEF65FE-ACC4-4CFA-8081-45CB5720246C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SLICE VERTICAL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FD9326D0-A3D0-4E98-91F3-46A353B0094A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Demuestra un outcome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F88ADD56-6AB7-4BE1-A11D-BABFF45967F0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 flujo real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Datos mínimos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Policy relevante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UI/canal necesario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Test y evidencia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313DD324-EC61-4C94-805F-7B7BB2F2A219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82900152-8B5C-43E2-A09D-9EEE8FA7564C}"/>
              </a:ext>
            </a:extLst>
          </p:cNvPr>
          <p:cNvSpPr>
            <a:spLocks noGrp="1"/>
          </p:cNvSpPr>
          <p:nvPr/>
        </p:nvSpPr>
        <p:spPr>
          <a:xfrm>
            <a:off x="2468880" y="5713479"/>
            <a:ext cx="722340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77AF808D-1372-4727-8F65-4489B5397ED6}"/>
              </a:ext>
            </a:extLst>
          </p:cNvPr>
          <p:cNvSpPr>
            <a:spLocks noGrp="1"/>
          </p:cNvSpPr>
          <p:nvPr/>
        </p:nvSpPr>
        <p:spPr>
          <a:xfrm>
            <a:off x="2514600" y="5768199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600" b="1" dirty="0" err="1">
                <a:solidFill>
                  <a:srgbClr val="5F2CCB"/>
                </a:solidFill>
              </a:rPr>
              <a:t>Pequeño</a:t>
            </a:r>
            <a:r>
              <a:rPr sz="1600" b="1" dirty="0">
                <a:solidFill>
                  <a:srgbClr val="5F2CCB"/>
                </a:solidFill>
              </a:rPr>
              <a:t> no </a:t>
            </a:r>
            <a:r>
              <a:rPr sz="1600" b="1" dirty="0" err="1">
                <a:solidFill>
                  <a:srgbClr val="5F2CCB"/>
                </a:solidFill>
              </a:rPr>
              <a:t>significa</a:t>
            </a:r>
            <a:r>
              <a:rPr sz="1600" b="1" dirty="0">
                <a:solidFill>
                  <a:srgbClr val="5F2CCB"/>
                </a:solidFill>
              </a:rPr>
              <a:t> superficial: </a:t>
            </a:r>
            <a:r>
              <a:rPr sz="1600" b="1" dirty="0" err="1">
                <a:solidFill>
                  <a:srgbClr val="5F2CCB"/>
                </a:solidFill>
              </a:rPr>
              <a:t>significa</a:t>
            </a:r>
            <a:r>
              <a:rPr sz="1600" b="1" dirty="0">
                <a:solidFill>
                  <a:srgbClr val="5F2CCB"/>
                </a:solidFill>
              </a:rPr>
              <a:t> </a:t>
            </a:r>
            <a:r>
              <a:rPr sz="1600" b="1" dirty="0" err="1">
                <a:solidFill>
                  <a:srgbClr val="5F2CCB"/>
                </a:solidFill>
              </a:rPr>
              <a:t>alcance</a:t>
            </a:r>
            <a:r>
              <a:rPr sz="1600" b="1" dirty="0">
                <a:solidFill>
                  <a:srgbClr val="5F2CCB"/>
                </a:solidFill>
              </a:rPr>
              <a:t> </a:t>
            </a:r>
            <a:r>
              <a:rPr sz="1600" b="1" dirty="0" err="1">
                <a:solidFill>
                  <a:srgbClr val="5F2CCB"/>
                </a:solidFill>
              </a:rPr>
              <a:t>cerrado</a:t>
            </a:r>
            <a:r>
              <a:rPr sz="1600" b="1" dirty="0">
                <a:solidFill>
                  <a:srgbClr val="5F2CCB"/>
                </a:solidFill>
              </a:rPr>
              <a:t> y </a:t>
            </a:r>
            <a:r>
              <a:rPr sz="1600" b="1" dirty="0" err="1">
                <a:solidFill>
                  <a:srgbClr val="5F2CCB"/>
                </a:solidFill>
              </a:rPr>
              <a:t>verificable</a:t>
            </a:r>
            <a:r>
              <a:rPr sz="1600" b="1" dirty="0">
                <a:solidFill>
                  <a:srgbClr val="5F2CCB"/>
                </a:solidFill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preferir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5376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252DBD7B-D3A0-4DB1-BE25-168CE5C3AD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80D883B1-BDEB-469B-BCB0-0A1DE25BBA5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READY ≠ PLANNED ≠ EXECUTABLE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01AA6E1E-4766-4DB5-A53B-335839B04BF1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Tres preguntas separan calidad del contract, scheduling humano y posibilidad real de empezar.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50B8E248-F25C-45A0-97C1-3488B1B387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READY no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requiere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DRI; Planned lo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confirma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; Executable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exige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prerequis</a:t>
            </a:r>
            <a:r>
              <a:rPr lang="es-MX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itos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satisfechos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capaci</a:t>
            </a:r>
            <a:r>
              <a:rPr lang="es-MX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dad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FDAD2FBB-01BC-4588-B45D-CB4B3A182F6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D3B354FB-C4E5-4F6D-9EAF-216A890B8390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B9F7EE63-BA30-4FE6-BA95-DFE85B9CC25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9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2CA55D01-8F05-41AB-B280-B355EB4F6C75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CCE403DE-AA8D-4374-91D9-6D32EF411B3E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READY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26206E4F-4CA6-4966-AF91-A1CF9B2ECA42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Calidad del contrato: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2E0DD706-2F6D-4F7C-84C5-0477BDD03438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Behavior gobernado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Acceptance verificable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Release Scope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Estimate + confidence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Dependencies clasificadas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DACC0191-C847-4B0A-B08D-4CEBD7EEFC46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F664B46C-4D12-4642-B557-080839F85413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PLANNED / EXECUTABLE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2658972-2980-423C-825C-01C769192818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Scheduling y posibilidad real: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131138BE-DAE1-40D0-8C27-D13D6A44729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 dirty="0">
                <a:solidFill>
                  <a:srgbClr val="6F6888"/>
                </a:solidFill>
              </a:rPr>
              <a:t>Planned: Cycle </a:t>
            </a:r>
            <a:r>
              <a:rPr sz="1400" dirty="0" err="1">
                <a:solidFill>
                  <a:srgbClr val="6F6888"/>
                </a:solidFill>
              </a:rPr>
              <a:t>confirmado</a:t>
            </a:r>
            <a:endParaRPr sz="1400" dirty="0">
              <a:solidFill>
                <a:srgbClr val="6F6888"/>
              </a:solidFill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 dirty="0">
                <a:solidFill>
                  <a:srgbClr val="6F6888"/>
                </a:solidFill>
              </a:rPr>
              <a:t>Accountable / DRI </a:t>
            </a:r>
            <a:r>
              <a:rPr sz="1400" dirty="0" err="1">
                <a:solidFill>
                  <a:srgbClr val="6F6888"/>
                </a:solidFill>
              </a:rPr>
              <a:t>humano</a:t>
            </a:r>
            <a:endParaRPr sz="1400" dirty="0">
              <a:solidFill>
                <a:srgbClr val="6F6888"/>
              </a:solidFill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 dirty="0">
                <a:solidFill>
                  <a:srgbClr val="6F6888"/>
                </a:solidFill>
              </a:rPr>
              <a:t>Executable: </a:t>
            </a:r>
            <a:r>
              <a:rPr sz="1400" dirty="0" err="1">
                <a:solidFill>
                  <a:srgbClr val="6F6888"/>
                </a:solidFill>
              </a:rPr>
              <a:t>prerequisit</a:t>
            </a:r>
            <a:r>
              <a:rPr lang="es-MX" sz="1400" dirty="0">
                <a:solidFill>
                  <a:srgbClr val="6F6888"/>
                </a:solidFill>
              </a:rPr>
              <a:t>os</a:t>
            </a:r>
            <a:r>
              <a:rPr sz="1400" dirty="0">
                <a:solidFill>
                  <a:srgbClr val="6F6888"/>
                </a:solidFill>
              </a:rPr>
              <a:t> reales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 dirty="0">
                <a:solidFill>
                  <a:srgbClr val="6F6888"/>
                </a:solidFill>
              </a:rPr>
              <a:t>Capaci</a:t>
            </a:r>
            <a:r>
              <a:rPr lang="es-MX" sz="1400" dirty="0">
                <a:solidFill>
                  <a:srgbClr val="6F6888"/>
                </a:solidFill>
              </a:rPr>
              <a:t>dad</a:t>
            </a:r>
            <a:r>
              <a:rPr sz="1400" dirty="0">
                <a:solidFill>
                  <a:srgbClr val="6F6888"/>
                </a:solidFill>
              </a:rPr>
              <a:t> disponible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 dirty="0" err="1">
                <a:solidFill>
                  <a:srgbClr val="6F6888"/>
                </a:solidFill>
              </a:rPr>
              <a:t>Entonces</a:t>
            </a:r>
            <a:r>
              <a:rPr sz="1400" dirty="0">
                <a:solidFill>
                  <a:srgbClr val="6F6888"/>
                </a:solidFill>
              </a:rPr>
              <a:t>: JIT Tasks</a:t>
            </a: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25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 37">
            <a:extLst>
              <a:ext uri="{FF2B5EF4-FFF2-40B4-BE49-F238E27FC236}">
                <a16:creationId xmlns:a16="http://schemas.microsoft.com/office/drawing/2014/main" id="{3558B636-2550-49D0-965F-962B86ED24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C2DD2"/>
          </a:solidFill>
          <a:ln w="0">
            <a:solidFill>
              <a:srgbClr val="5C2DD2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720041B-29C3-46E8-B864-C90586456D16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858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MODELO DE EJECUCIÓN DE SLICES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52647E3-2516-4B28-8730-6ADF0CAF2443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00" b="1" i="0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F1B30"/>
                </a:solidFill>
                <a:latin typeface="Aptos"/>
                <a:ea typeface="Aptos"/>
                <a:cs typeface="Aptos"/>
              </a:rPr>
              <a:t>Slice planning separa readiness, scheduling y ejecución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93DB8A2-91A6-4F39-B344-9A365F4A5987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3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Cada transición responde una pregunta diferente. Las JIT Tasks aparecen sólo cuando el trabajo puede comenzar.</a:t>
            </a:r>
          </a:p>
        </p:txBody>
      </p:sp>
      <p:pic>
        <p:nvPicPr>
          <p:cNvPr id="42" name="Imagen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826" y="361950"/>
            <a:ext cx="617574" cy="514350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5CC8444-8ECB-4713-B3C7-CB135289F51E}"/>
              </a:ext>
            </a:extLst>
          </p:cNvPr>
          <p:cNvSpPr>
            <a:spLocks noGrp="1"/>
          </p:cNvSpPr>
          <p:nvPr/>
        </p:nvSpPr>
        <p:spPr>
          <a:xfrm>
            <a:off x="9858375" y="1581150"/>
            <a:ext cx="1619250" cy="266700"/>
          </a:xfrm>
          <a:prstGeom prst="roundRect">
            <a:avLst>
              <a:gd name="adj" fmla="val 50000"/>
            </a:avLst>
          </a:prstGeom>
          <a:solidFill>
            <a:srgbClr val="5C2DD2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5ECB785-3A7C-46B0-98E7-FE834A4104E1}"/>
              </a:ext>
            </a:extLst>
          </p:cNvPr>
          <p:cNvSpPr>
            <a:spLocks noGrp="1"/>
          </p:cNvSpPr>
          <p:nvPr/>
        </p:nvSpPr>
        <p:spPr>
          <a:xfrm>
            <a:off x="9934575" y="1609725"/>
            <a:ext cx="14668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MÉTODO CANÓNICO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3B72082-9FE2-4DBD-B74A-755B5BF9893F}"/>
              </a:ext>
            </a:extLst>
          </p:cNvPr>
          <p:cNvSpPr>
            <a:spLocks noGrp="1"/>
          </p:cNvSpPr>
          <p:nvPr/>
        </p:nvSpPr>
        <p:spPr>
          <a:xfrm>
            <a:off x="419100" y="6534150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833" lnSpcReduction="20000"/>
          </a:bodyPr>
          <a:lstStyle/>
          <a:p>
            <a:pPr>
              <a:defRPr sz="6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CONFIDENCIAL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18B6D4F-B884-48FB-8ABF-BCE9E724D204}"/>
              </a:ext>
            </a:extLst>
          </p:cNvPr>
          <p:cNvSpPr>
            <a:spLocks noGrp="1"/>
          </p:cNvSpPr>
          <p:nvPr/>
        </p:nvSpPr>
        <p:spPr>
          <a:xfrm>
            <a:off x="10982325" y="6534150"/>
            <a:ext cx="7620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833" lnSpcReduction="20000"/>
          </a:bodyPr>
          <a:lstStyle/>
          <a:p>
            <a:pPr>
              <a:defRPr sz="6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ungga.com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99407F2-F123-4B0D-B190-957FAC5870F9}"/>
              </a:ext>
            </a:extLst>
          </p:cNvPr>
          <p:cNvSpPr>
            <a:spLocks noGrp="1"/>
          </p:cNvSpPr>
          <p:nvPr/>
        </p:nvSpPr>
        <p:spPr>
          <a:xfrm>
            <a:off x="400050" y="2524125"/>
            <a:ext cx="1762125" cy="1619250"/>
          </a:xfrm>
          <a:prstGeom prst="roundRect">
            <a:avLst>
              <a:gd name="adj" fmla="val 7059"/>
            </a:avLst>
          </a:prstGeom>
          <a:solidFill>
            <a:srgbClr val="E9E7EF"/>
          </a:solidFill>
          <a:ln w="9525">
            <a:solidFill>
              <a:srgbClr val="1F1B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69F23AC-65C3-473F-BA2C-F847BC764D4A}"/>
              </a:ext>
            </a:extLst>
          </p:cNvPr>
          <p:cNvSpPr>
            <a:spLocks noGrp="1"/>
          </p:cNvSpPr>
          <p:nvPr/>
        </p:nvSpPr>
        <p:spPr>
          <a:xfrm>
            <a:off x="552450" y="2647950"/>
            <a:ext cx="14573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 i="0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1B30"/>
                </a:solidFill>
                <a:latin typeface="Aptos"/>
                <a:ea typeface="Aptos"/>
                <a:cs typeface="Aptos"/>
              </a:rPr>
              <a:t>PROPUESTA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6DA4A42-516A-4487-A589-A5F4845FAEC5}"/>
              </a:ext>
            </a:extLst>
          </p:cNvPr>
          <p:cNvSpPr>
            <a:spLocks noGrp="1"/>
          </p:cNvSpPr>
          <p:nvPr/>
        </p:nvSpPr>
        <p:spPr>
          <a:xfrm>
            <a:off x="552450" y="2981325"/>
            <a:ext cx="1457325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¿Vale la pena elaborar el candidato?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F1DD220-0170-4B21-8946-FF9A9E2A6DE6}"/>
              </a:ext>
            </a:extLst>
          </p:cNvPr>
          <p:cNvSpPr>
            <a:spLocks noGrp="1"/>
          </p:cNvSpPr>
          <p:nvPr/>
        </p:nvSpPr>
        <p:spPr>
          <a:xfrm>
            <a:off x="2352675" y="2524125"/>
            <a:ext cx="1762125" cy="1619250"/>
          </a:xfrm>
          <a:prstGeom prst="roundRect">
            <a:avLst>
              <a:gd name="adj" fmla="val 7059"/>
            </a:avLst>
          </a:prstGeom>
          <a:solidFill>
            <a:srgbClr val="EEE8FF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F597AFE-3012-4CC3-B2EF-4BCD6C1D54B6}"/>
              </a:ext>
            </a:extLst>
          </p:cNvPr>
          <p:cNvSpPr>
            <a:spLocks noGrp="1"/>
          </p:cNvSpPr>
          <p:nvPr/>
        </p:nvSpPr>
        <p:spPr>
          <a:xfrm>
            <a:off x="2505075" y="2647950"/>
            <a:ext cx="14573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A75550D-1CD4-403D-8EBE-B117A5F5A775}"/>
              </a:ext>
            </a:extLst>
          </p:cNvPr>
          <p:cNvSpPr>
            <a:spLocks noGrp="1"/>
          </p:cNvSpPr>
          <p:nvPr/>
        </p:nvSpPr>
        <p:spPr>
          <a:xfrm>
            <a:off x="2505075" y="2981325"/>
            <a:ext cx="1457325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¿El contrato durable está completo y es verificable?</a:t>
            </a:r>
          </a:p>
        </p:txBody>
      </p:sp>
      <p:cxnSp>
        <p:nvCxnSpPr>
          <p:cNvPr id="53" name="Conector recto de flecha 52"/>
          <p:cNvCxnSpPr>
            <a:stCxn id="10" idx="3"/>
            <a:endCxn id="13" idx="1"/>
          </p:cNvCxnSpPr>
          <p:nvPr/>
        </p:nvCxnSpPr>
        <p:spPr>
          <a:xfrm>
            <a:off x="2162175" y="3333750"/>
            <a:ext cx="1905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2496046-07DE-4197-99AC-88435F377387}"/>
              </a:ext>
            </a:extLst>
          </p:cNvPr>
          <p:cNvSpPr>
            <a:spLocks noGrp="1"/>
          </p:cNvSpPr>
          <p:nvPr/>
        </p:nvSpPr>
        <p:spPr>
          <a:xfrm>
            <a:off x="4305300" y="2524125"/>
            <a:ext cx="1762125" cy="1619250"/>
          </a:xfrm>
          <a:prstGeom prst="roundRect">
            <a:avLst>
              <a:gd name="adj" fmla="val 7059"/>
            </a:avLst>
          </a:prstGeom>
          <a:solidFill>
            <a:srgbClr val="FFF0D7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E7A74DD-7404-4E8E-BC77-9948054A3920}"/>
              </a:ext>
            </a:extLst>
          </p:cNvPr>
          <p:cNvSpPr>
            <a:spLocks noGrp="1"/>
          </p:cNvSpPr>
          <p:nvPr/>
        </p:nvSpPr>
        <p:spPr>
          <a:xfrm>
            <a:off x="4457700" y="2647950"/>
            <a:ext cx="14573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 i="0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39A24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9A10D60-ED9D-4ED1-8F90-C7FE35570386}"/>
              </a:ext>
            </a:extLst>
          </p:cNvPr>
          <p:cNvSpPr>
            <a:spLocks noGrp="1"/>
          </p:cNvSpPr>
          <p:nvPr/>
        </p:nvSpPr>
        <p:spPr>
          <a:xfrm>
            <a:off x="4457700" y="2981325"/>
            <a:ext cx="1457325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¿Un humano confirmó Cycle y Accountable / DRI?</a:t>
            </a:r>
          </a:p>
        </p:txBody>
      </p:sp>
      <p:cxnSp>
        <p:nvCxnSpPr>
          <p:cNvPr id="57" name="Conector recto de flecha 56"/>
          <p:cNvCxnSpPr>
            <a:stCxn id="13" idx="3"/>
            <a:endCxn id="17" idx="1"/>
          </p:cNvCxnSpPr>
          <p:nvPr/>
        </p:nvCxnSpPr>
        <p:spPr>
          <a:xfrm>
            <a:off x="4114800" y="3333750"/>
            <a:ext cx="1905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9BE3690E-0367-4E47-B806-36ECDBABEDAB}"/>
              </a:ext>
            </a:extLst>
          </p:cNvPr>
          <p:cNvSpPr>
            <a:spLocks noGrp="1"/>
          </p:cNvSpPr>
          <p:nvPr/>
        </p:nvSpPr>
        <p:spPr>
          <a:xfrm>
            <a:off x="6257925" y="2524125"/>
            <a:ext cx="1762125" cy="1619250"/>
          </a:xfrm>
          <a:prstGeom prst="roundRect">
            <a:avLst>
              <a:gd name="adj" fmla="val 7059"/>
            </a:avLst>
          </a:prstGeom>
          <a:solidFill>
            <a:srgbClr val="E3F5ED"/>
          </a:solidFill>
          <a:ln w="9525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7D11284-DA03-4FC5-95A3-117892791176}"/>
              </a:ext>
            </a:extLst>
          </p:cNvPr>
          <p:cNvSpPr>
            <a:spLocks noGrp="1"/>
          </p:cNvSpPr>
          <p:nvPr/>
        </p:nvSpPr>
        <p:spPr>
          <a:xfrm>
            <a:off x="6410325" y="2647950"/>
            <a:ext cx="14573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 i="0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09566"/>
                </a:solidFill>
                <a:latin typeface="Aptos"/>
                <a:ea typeface="Aptos"/>
                <a:cs typeface="Aptos"/>
              </a:rPr>
              <a:t>EXECUTABLE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FDBEB6B-82F6-452A-BFE2-70031758998C}"/>
              </a:ext>
            </a:extLst>
          </p:cNvPr>
          <p:cNvSpPr>
            <a:spLocks noGrp="1"/>
          </p:cNvSpPr>
          <p:nvPr/>
        </p:nvSpPr>
        <p:spPr>
          <a:xfrm>
            <a:off x="6410325" y="2981325"/>
            <a:ext cx="1457325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¿Prerequisites cumplidos y capacity disponible?</a:t>
            </a:r>
          </a:p>
        </p:txBody>
      </p:sp>
      <p:cxnSp>
        <p:nvCxnSpPr>
          <p:cNvPr id="61" name="Conector recto de flecha 60"/>
          <p:cNvCxnSpPr>
            <a:stCxn id="17" idx="3"/>
            <a:endCxn id="21" idx="1"/>
          </p:cNvCxnSpPr>
          <p:nvPr/>
        </p:nvCxnSpPr>
        <p:spPr>
          <a:xfrm>
            <a:off x="6067425" y="3333750"/>
            <a:ext cx="1905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2839FD57-7A93-4B6E-BEBD-B22ABBED9524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1762125" cy="1619250"/>
          </a:xfrm>
          <a:prstGeom prst="roundRect">
            <a:avLst>
              <a:gd name="adj" fmla="val 7059"/>
            </a:avLst>
          </a:prstGeom>
          <a:solidFill>
            <a:srgbClr val="E7ECFB"/>
          </a:solidFill>
          <a:ln w="9525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7956575-170E-4B38-B47B-F84765562B37}"/>
              </a:ext>
            </a:extLst>
          </p:cNvPr>
          <p:cNvSpPr>
            <a:spLocks noGrp="1"/>
          </p:cNvSpPr>
          <p:nvPr/>
        </p:nvSpPr>
        <p:spPr>
          <a:xfrm>
            <a:off x="8362950" y="2647950"/>
            <a:ext cx="14573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89" lnSpcReduction="20000"/>
          </a:bodyPr>
          <a:lstStyle/>
          <a:p>
            <a:pPr>
              <a:defRPr sz="1050" b="1" i="0">
                <a:solidFill>
                  <a:srgbClr val="4866C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866C6"/>
                </a:solidFill>
                <a:latin typeface="Aptos"/>
                <a:ea typeface="Aptos"/>
                <a:cs typeface="Aptos"/>
              </a:rPr>
              <a:t>EJECUCIÓN DEL AGENTE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B692437-F7E9-4FA8-96AD-EDB03B1F4CA3}"/>
              </a:ext>
            </a:extLst>
          </p:cNvPr>
          <p:cNvSpPr>
            <a:spLocks noGrp="1"/>
          </p:cNvSpPr>
          <p:nvPr/>
        </p:nvSpPr>
        <p:spPr>
          <a:xfrm>
            <a:off x="8362950" y="2981325"/>
            <a:ext cx="1457325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Derivar JIT Tasks · implementar · verificar local · reparar</a:t>
            </a:r>
          </a:p>
        </p:txBody>
      </p:sp>
      <p:cxnSp>
        <p:nvCxnSpPr>
          <p:cNvPr id="65" name="Conector recto de flecha 64"/>
          <p:cNvCxnSpPr>
            <a:stCxn id="21" idx="3"/>
            <a:endCxn id="25" idx="1"/>
          </p:cNvCxnSpPr>
          <p:nvPr/>
        </p:nvCxnSpPr>
        <p:spPr>
          <a:xfrm>
            <a:off x="8020050" y="3333750"/>
            <a:ext cx="1905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77CC7F2A-15A9-499C-90EA-E9202F17F958}"/>
              </a:ext>
            </a:extLst>
          </p:cNvPr>
          <p:cNvSpPr>
            <a:spLocks noGrp="1"/>
          </p:cNvSpPr>
          <p:nvPr/>
        </p:nvSpPr>
        <p:spPr>
          <a:xfrm>
            <a:off x="10163175" y="2524125"/>
            <a:ext cx="1762125" cy="1619250"/>
          </a:xfrm>
          <a:prstGeom prst="roundRect">
            <a:avLst>
              <a:gd name="adj" fmla="val 7059"/>
            </a:avLst>
          </a:prstGeom>
          <a:solidFill>
            <a:srgbClr val="F8E7F0"/>
          </a:solidFill>
          <a:ln w="9525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D82136D-4EE4-42BD-A9C1-B5537610365F}"/>
              </a:ext>
            </a:extLst>
          </p:cNvPr>
          <p:cNvSpPr>
            <a:spLocks noGrp="1"/>
          </p:cNvSpPr>
          <p:nvPr/>
        </p:nvSpPr>
        <p:spPr>
          <a:xfrm>
            <a:off x="10315575" y="2647950"/>
            <a:ext cx="14573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439"/>
          </a:bodyPr>
          <a:lstStyle/>
          <a:p>
            <a:pPr>
              <a:defRPr sz="1050" b="1" i="0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8497C"/>
                </a:solidFill>
                <a:latin typeface="Aptos"/>
                <a:ea typeface="Aptos"/>
                <a:cs typeface="Aptos"/>
              </a:rPr>
              <a:t>GITHUB + RELEASE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1CCAF67-D083-4312-A7BE-611ED1A87AF4}"/>
              </a:ext>
            </a:extLst>
          </p:cNvPr>
          <p:cNvSpPr>
            <a:spLocks noGrp="1"/>
          </p:cNvSpPr>
          <p:nvPr/>
        </p:nvSpPr>
        <p:spPr>
          <a:xfrm>
            <a:off x="10315575" y="2981325"/>
            <a:ext cx="1457325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PR · CI · merge · Release Scope declarado · evidencia</a:t>
            </a:r>
          </a:p>
        </p:txBody>
      </p:sp>
      <p:cxnSp>
        <p:nvCxnSpPr>
          <p:cNvPr id="69" name="Conector recto de flecha 68"/>
          <p:cNvCxnSpPr>
            <a:stCxn id="25" idx="3"/>
            <a:endCxn id="29" idx="1"/>
          </p:cNvCxnSpPr>
          <p:nvPr/>
        </p:nvCxnSpPr>
        <p:spPr>
          <a:xfrm>
            <a:off x="9972675" y="3333750"/>
            <a:ext cx="1905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AC2EF283-6A0A-4093-B074-2138906F60F2}"/>
              </a:ext>
            </a:extLst>
          </p:cNvPr>
          <p:cNvSpPr>
            <a:spLocks noGrp="1"/>
          </p:cNvSpPr>
          <p:nvPr/>
        </p:nvSpPr>
        <p:spPr>
          <a:xfrm>
            <a:off x="704850" y="4619625"/>
            <a:ext cx="1571625" cy="266700"/>
          </a:xfrm>
          <a:prstGeom prst="roundRect">
            <a:avLst>
              <a:gd name="adj" fmla="val 50000"/>
            </a:avLst>
          </a:prstGeom>
          <a:solidFill>
            <a:srgbClr val="5C2DD2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F03D6ED-D165-4EFC-AEB1-B083856DE1F9}"/>
              </a:ext>
            </a:extLst>
          </p:cNvPr>
          <p:cNvSpPr>
            <a:spLocks noGrp="1"/>
          </p:cNvSpPr>
          <p:nvPr/>
        </p:nvSpPr>
        <p:spPr>
          <a:xfrm>
            <a:off x="781050" y="4648200"/>
            <a:ext cx="14192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READY HORIZON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73017AB-B7E5-44D5-BF67-C910E9022768}"/>
              </a:ext>
            </a:extLst>
          </p:cNvPr>
          <p:cNvSpPr>
            <a:spLocks noGrp="1"/>
          </p:cNvSpPr>
          <p:nvPr/>
        </p:nvSpPr>
        <p:spPr>
          <a:xfrm>
            <a:off x="2428875" y="4638675"/>
            <a:ext cx="8763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297"/>
          </a:bodyPr>
          <a:lstStyle/>
          <a:p>
            <a:pPr>
              <a:defRPr sz="1275" b="1" i="0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F1B30"/>
                </a:solidFill>
                <a:latin typeface="Aptos"/>
                <a:ea typeface="Aptos"/>
                <a:cs typeface="Aptos"/>
              </a:rPr>
              <a:t>Mantener aproximadamente 1–2 Cycles de capacity genuinamente READY. El horizonte nunca reduce la Definition of Ready.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BF0502D6-8C10-4409-9C6A-6CC256E07EAB}"/>
              </a:ext>
            </a:extLst>
          </p:cNvPr>
          <p:cNvSpPr>
            <a:spLocks noGrp="1"/>
          </p:cNvSpPr>
          <p:nvPr/>
        </p:nvSpPr>
        <p:spPr>
          <a:xfrm>
            <a:off x="704850" y="5286375"/>
            <a:ext cx="10477500" cy="590550"/>
          </a:xfrm>
          <a:prstGeom prst="roundRect">
            <a:avLst>
              <a:gd name="adj" fmla="val 16129"/>
            </a:avLst>
          </a:prstGeom>
          <a:solidFill>
            <a:srgbClr val="1F1B30"/>
          </a:solidFill>
          <a:ln w="9525">
            <a:solidFill>
              <a:srgbClr val="1F1B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FFA360B-F910-4C24-B79D-82DF56A01500}"/>
              </a:ext>
            </a:extLst>
          </p:cNvPr>
          <p:cNvSpPr>
            <a:spLocks noGrp="1"/>
          </p:cNvSpPr>
          <p:nvPr/>
        </p:nvSpPr>
        <p:spPr>
          <a:xfrm>
            <a:off x="904875" y="5429250"/>
            <a:ext cx="100774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Cycle planning programa trabajo aprobado; no vuelve a aprobar behavior, arquitectura, scope de Slice ni Tasks.</a:t>
            </a:r>
          </a:p>
        </p:txBody>
      </p:sp>
    </p:spTree>
    <p:extLst>
      <p:ext uri="{BB962C8B-B14F-4D97-AF65-F5344CB8AC3E}">
        <p14:creationId xmlns:p14="http://schemas.microsoft.com/office/powerpoint/2010/main" val="1849885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HUMANOS Y AGENTES TIENEN RESPONSABILIDADES DISTINTAS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velocidad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viene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delegar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trabajo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dentro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contratos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no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delegar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ownership.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Las personas </a:t>
            </a:r>
            <a:r>
              <a:rPr lang="es-MX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poseen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intención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aceptación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;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los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agentes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amplifican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exploración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implementación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verificación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10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HUMANO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Posee la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decisión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Outcome, prioridades, tradeoffs, aprobación, release y responsabilidad.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AGENTE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4335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Ejecuta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dentro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del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contrato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Investiga, propone, implementa, prueba, documenta y prepara evidencia.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SISTEMA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Aplica gates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Scopes, checks, CI, policies, permisos, auditabilidad y feedback.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Delegar ejecución no delega accountability.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252DBD7B-D3A0-4DB1-BE25-168CE5C3AD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80D883B1-BDEB-469B-BCB0-0A1DE25BBA5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MODELO PARA VARIACIÓN; CHECKS PARA INVARIANTES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01AA6E1E-4766-4DB5-A53B-335839B04BF1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67116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modelos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son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excelentes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para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explorar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sintetizar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gates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deterministas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protegen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propiedades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no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pueden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quedar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interpretación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50B8E248-F25C-45A0-97C1-3488B1B387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Las evaluaciones del modelo complementan —no sustituyen— tests, schemas, policies y reviewers.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FDAD2FBB-01BC-4588-B45D-CB4B3A182F6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D3B354FB-C4E5-4F6D-9EAF-216A890B8390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B9F7EE63-BA30-4FE6-BA95-DFE85B9CC25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11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2CA55D01-8F05-41AB-B280-B355EB4F6C75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CCE403DE-AA8D-4374-91D9-6D32EF411B3E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MODEL-MEDIATED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26206E4F-4CA6-4966-AF91-A1CF9B2ECA42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Úsalo para: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2E0DD706-2F6D-4F7C-84C5-0477BDD03438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Investigación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Alternativas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Generación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Revisión semántica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Síntesis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Diagnóstico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DACC0191-C847-4B0A-B08D-4CEBD7EEFC46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F664B46C-4D12-4642-B557-080839F85413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DETERMINISTA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2658972-2980-423C-825C-01C769192818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Exígelo para: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131138BE-DAE1-40D0-8C27-D13D6A44729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Schemas y types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Tests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Linters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Migrations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Permissions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CI/release gates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25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EL READY HORIZON EVITA PARADAS SIN BAJAR </a:t>
            </a:r>
            <a:r>
              <a:rPr lang="es-MX" sz="12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LA BARRA</a:t>
            </a:r>
            <a:endParaRPr sz="12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Mantenemos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capacidad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genuinamente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READY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delante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trabajo más lejano con un enfoque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rolling-wave.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Default: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capacidad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para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aproximadamente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1–2 </a:t>
            </a:r>
            <a:r>
              <a:rPr lang="es-MX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ciclos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no un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número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fijo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Slices.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12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ELABORAR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3752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Próximo trabajo gobernado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Precisar outcome, acceptance, evidence, riesgos, estimate y dependencies.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EVALUAR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6031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Aplicar Definition of Ready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No resolver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ambigüedad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producto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dentro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Tasks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ni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bajar</a:t>
            </a:r>
            <a:r>
              <a:rPr lang="es-MX" sz="1400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la barra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4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REPLENISH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7644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Mantener capacidad por delante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Anticipar agotamiento y blockers; actualizar contratos sin inventar decisiones.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i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Readiness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no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confirma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b="1" i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Cycle inclusion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ni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concede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autoridad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VERIFICACIÓN ES PARTE DEL DISEÑO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se define antes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implementar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se produce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durante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slice.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“El agente dice que terminó” nunca es un criterio de aceptación.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13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STATIC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Consistencia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Types, schemas, lint, dependency rules y contract validation.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BEHAVIORAL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Comportamiento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Unit, integration, scenario, UI y migration tests.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OPERATIONAL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Realidad del sistema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Telemetry, evidence, rollout checks, incident signals y outcomes.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combinación correcta depende del riesgo y del tipo de verdad.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CONTINUITY LOOP: AVANZAR SIN AMPLIAR AUTORIDAD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sistema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avanza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ejecución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prerequisit</a:t>
            </a:r>
            <a:r>
              <a:rPr lang="es-MX" sz="2600"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s, 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reaprovisionamiento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planeación de ciclo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gradua</a:t>
            </a:r>
            <a:r>
              <a:rPr lang="es-MX"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ción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o 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siguiente 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increment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Un re</a:t>
            </a:r>
            <a:r>
              <a:rPr lang="es-MX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intento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sin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nueva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sólo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repite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incertidumbre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14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EJECUTAR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Avanzar dentro del scope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Trabajo Planned + Executable; verificar, reparar y cerrar con evidencia.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PREPARAR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Mantener continuidad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Prerequisites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gobernados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endParaRPr lang="es-MX" sz="1400" b="0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READY Horizon,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propuesta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</a:t>
            </a:r>
            <a:r>
              <a:rPr lang="es-MX"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ciclo 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o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gradua</a:t>
            </a:r>
            <a:r>
              <a:rPr lang="es-MX"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ció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n.</a:t>
            </a:r>
            <a:endParaRPr sz="14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ESCALAR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Frontera humana real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Declarar bloqueo, owner y mínima decisión necesaria; nunca ampliar autoridad.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9285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Terminar un PR o Cycle no es por sí solo una condición de parada.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36B0772C-8F1F-4B7E-BF10-800CDAA8B1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9A148F58-91C0-475D-8DCA-74610B0268E8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RELEASE SCOPE DECLARA LA EVIDENCIA EXIGIDA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97DF39FD-3B96-4A25-A3B3-61AE87E495D1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 Slice declara hasta dónde debe llegar y qué evidencia debe producir.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122AEC7D-9A0B-4EB5-BCE0-82D4E25DC4D9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Review y release son gates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distintos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; el scope no concede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producción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A15DE90B-3496-4997-AE64-9835FD8DADE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789DAE4A-8055-4543-950B-B67405472D63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78BF3187-271F-4D56-B9C2-F36D4C56C0B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15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9ECAF1EB-4DE1-4F26-BF01-9BF26494B787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6E40DA7E-FB13-47F6-95A4-DB1C17ED706F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64EAE850-3BAE-4972-A4CB-CC2664AA5891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CAF9C5D2-2C24-4BE6-A97F-4430AEBB31F2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1 · RS1 — Repo / CI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FF6BB28E-B61B-4AC2-A22E-34E2F59ED23E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146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Verificación local determinista, CI y merge; no afirma validación hosted.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569B9495-D8C3-4150-94CC-FE8922DA58C2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B2C2B3EE-AB4F-4A94-9349-36A9CD4965EA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BA2EF85C-87A7-428A-99FC-8CE9BF6D55D9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3EFE570F-B7BA-4AA0-99E3-09B5E2E04255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2 · RS2 — Hosted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0E67F4AC-A2E6-4634-9222-B3E4DBEE81BF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Añade evidencia del comportamiento en el entorno hosted definido por el contrato.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F7D1620E-3F66-4042-AAC3-4097F5280664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38AA9811-FA92-4230-B6BC-366660D0F9E5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2381B0E5-1ECE-440D-9867-4430DBE6C714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C86291F8-E6EB-4EA6-A207-AEB32A9EC923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3 · RS3 — Production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9ED1E821-5702-41FD-BF7D-ADEE57A0DE3D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Exige autoridad de producción, rollout controlado y verificación post-release.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60CE112A-4E78-4E62-A405-62245F821D07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91FDCC19-B47A-45F8-9579-0AEBDBC3B94B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Shadow mode no es Release Scope. Done no equivale a graduation.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5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ángulo 52">
            <a:extLst>
              <a:ext uri="{FF2B5EF4-FFF2-40B4-BE49-F238E27FC236}">
                <a16:creationId xmlns:a16="http://schemas.microsoft.com/office/drawing/2014/main" id="{0066216D-4418-497D-9E90-E13B7FFAD5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C2DD2"/>
          </a:solidFill>
          <a:ln w="0">
            <a:solidFill>
              <a:srgbClr val="5C2DD2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874AC4E-1D28-418B-B9DA-AC846A5BEA02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858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CONFIGURADO EN GITHUB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268A0B6-3C04-4134-915B-D82B83E4E03B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00" b="1" i="0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F1B30"/>
                </a:solidFill>
                <a:latin typeface="Aptos"/>
                <a:ea typeface="Aptos"/>
                <a:cs typeface="Aptos"/>
              </a:rPr>
              <a:t>GitHub convierte cambios en evidencia independiente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C82CD0F-7558-45A9-AF3C-1F977C9CB2E2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3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Los controles del repo mantienen implementación, merge y entrega hosted como afirmaciones separadas.</a:t>
            </a:r>
          </a:p>
        </p:txBody>
      </p:sp>
      <p:pic>
        <p:nvPicPr>
          <p:cNvPr id="57" name="Imagen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826" y="361950"/>
            <a:ext cx="617574" cy="514350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1283853-9E86-4485-8CF0-83BE029705AC}"/>
              </a:ext>
            </a:extLst>
          </p:cNvPr>
          <p:cNvSpPr>
            <a:spLocks noGrp="1"/>
          </p:cNvSpPr>
          <p:nvPr/>
        </p:nvSpPr>
        <p:spPr>
          <a:xfrm>
            <a:off x="9858375" y="1581150"/>
            <a:ext cx="1619250" cy="266700"/>
          </a:xfrm>
          <a:prstGeom prst="roundRect">
            <a:avLst>
              <a:gd name="adj" fmla="val 50000"/>
            </a:avLst>
          </a:prstGeom>
          <a:solidFill>
            <a:srgbClr val="009566"/>
          </a:solidFill>
          <a:ln w="9525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78AEB80-F833-45FC-B9E6-729705A85CCA}"/>
              </a:ext>
            </a:extLst>
          </p:cNvPr>
          <p:cNvSpPr>
            <a:spLocks noGrp="1"/>
          </p:cNvSpPr>
          <p:nvPr/>
        </p:nvSpPr>
        <p:spPr>
          <a:xfrm>
            <a:off x="9934575" y="1609725"/>
            <a:ext cx="14668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ACTUAL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5AB8C8-4D9E-4242-A168-D0A9A0256F2E}"/>
              </a:ext>
            </a:extLst>
          </p:cNvPr>
          <p:cNvSpPr>
            <a:spLocks noGrp="1"/>
          </p:cNvSpPr>
          <p:nvPr/>
        </p:nvSpPr>
        <p:spPr>
          <a:xfrm>
            <a:off x="419100" y="6534150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5833" lnSpcReduction="10000"/>
          </a:bodyPr>
          <a:lstStyle/>
          <a:p>
            <a:pPr>
              <a:defRPr sz="6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CONFIDENCIAL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7919EE6-0EBB-49FA-9815-950D11BA3056}"/>
              </a:ext>
            </a:extLst>
          </p:cNvPr>
          <p:cNvSpPr>
            <a:spLocks noGrp="1"/>
          </p:cNvSpPr>
          <p:nvPr/>
        </p:nvSpPr>
        <p:spPr>
          <a:xfrm>
            <a:off x="10982325" y="6534150"/>
            <a:ext cx="7620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5833" lnSpcReduction="10000"/>
          </a:bodyPr>
          <a:lstStyle/>
          <a:p>
            <a:pPr>
              <a:defRPr sz="6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ungga.com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B3567D5-E526-4EB5-8DA3-2A1009ED9829}"/>
              </a:ext>
            </a:extLst>
          </p:cNvPr>
          <p:cNvSpPr>
            <a:spLocks noGrp="1"/>
          </p:cNvSpPr>
          <p:nvPr/>
        </p:nvSpPr>
        <p:spPr>
          <a:xfrm>
            <a:off x="428625" y="2143125"/>
            <a:ext cx="20955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DCC4127-A6A4-464B-AA5B-A5B3C751245A}"/>
              </a:ext>
            </a:extLst>
          </p:cNvPr>
          <p:cNvSpPr>
            <a:spLocks noGrp="1"/>
          </p:cNvSpPr>
          <p:nvPr/>
        </p:nvSpPr>
        <p:spPr>
          <a:xfrm>
            <a:off x="581025" y="226695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BRANCH + COMMIT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E3A76C9-79B6-4F29-8901-6C6724F0583D}"/>
              </a:ext>
            </a:extLst>
          </p:cNvPr>
          <p:cNvSpPr>
            <a:spLocks noGrp="1"/>
          </p:cNvSpPr>
          <p:nvPr/>
        </p:nvSpPr>
        <p:spPr>
          <a:xfrm>
            <a:off x="581025" y="2600325"/>
            <a:ext cx="17907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Agent/runtime posee el estado pre-push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F45C3996-5D37-42D9-9897-E1D3ED5F8284}"/>
              </a:ext>
            </a:extLst>
          </p:cNvPr>
          <p:cNvSpPr>
            <a:spLocks noGrp="1"/>
          </p:cNvSpPr>
          <p:nvPr/>
        </p:nvSpPr>
        <p:spPr>
          <a:xfrm>
            <a:off x="2762250" y="2143125"/>
            <a:ext cx="20955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937CAC1-CD8D-4FE4-9E0A-798721276FD4}"/>
              </a:ext>
            </a:extLst>
          </p:cNvPr>
          <p:cNvSpPr>
            <a:spLocks noGrp="1"/>
          </p:cNvSpPr>
          <p:nvPr/>
        </p:nvSpPr>
        <p:spPr>
          <a:xfrm>
            <a:off x="2914650" y="226695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 i="0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39A24"/>
                </a:solidFill>
                <a:latin typeface="Aptos"/>
                <a:ea typeface="Aptos"/>
                <a:cs typeface="Aptos"/>
              </a:rPr>
              <a:t>PULL REQUEST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BA7AEE9-CE4C-4CDF-92A2-7A9941271325}"/>
              </a:ext>
            </a:extLst>
          </p:cNvPr>
          <p:cNvSpPr>
            <a:spLocks noGrp="1"/>
          </p:cNvSpPr>
          <p:nvPr/>
        </p:nvSpPr>
        <p:spPr>
          <a:xfrm>
            <a:off x="2914650" y="2600325"/>
            <a:ext cx="17907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El template exige impacto arquitectónico + verificación</a:t>
            </a:r>
          </a:p>
        </p:txBody>
      </p:sp>
      <p:cxnSp>
        <p:nvCxnSpPr>
          <p:cNvPr id="68" name="Conector recto de flecha 67"/>
          <p:cNvCxnSpPr>
            <a:stCxn id="10" idx="3"/>
            <a:endCxn id="13" idx="1"/>
          </p:cNvCxnSpPr>
          <p:nvPr/>
        </p:nvCxnSpPr>
        <p:spPr>
          <a:xfrm>
            <a:off x="2524125" y="2800350"/>
            <a:ext cx="238125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F6C2592-1004-4962-963E-5031FA1A1CA2}"/>
              </a:ext>
            </a:extLst>
          </p:cNvPr>
          <p:cNvSpPr>
            <a:spLocks noGrp="1"/>
          </p:cNvSpPr>
          <p:nvPr/>
        </p:nvSpPr>
        <p:spPr>
          <a:xfrm>
            <a:off x="5095875" y="2143125"/>
            <a:ext cx="20955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88C0AB0-7FB2-4E39-8021-51A3407C953C}"/>
              </a:ext>
            </a:extLst>
          </p:cNvPr>
          <p:cNvSpPr>
            <a:spLocks noGrp="1"/>
          </p:cNvSpPr>
          <p:nvPr/>
        </p:nvSpPr>
        <p:spPr>
          <a:xfrm>
            <a:off x="5248275" y="226695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 i="0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09566"/>
                </a:solidFill>
                <a:latin typeface="Aptos"/>
                <a:ea typeface="Aptos"/>
                <a:cs typeface="Aptos"/>
              </a:rPr>
              <a:t>CI + RLS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63581FA-D567-4437-980F-FD47EA6F6C39}"/>
              </a:ext>
            </a:extLst>
          </p:cNvPr>
          <p:cNvSpPr>
            <a:spLocks noGrp="1"/>
          </p:cNvSpPr>
          <p:nvPr/>
        </p:nvSpPr>
        <p:spPr>
          <a:xfrm>
            <a:off x="5248275" y="2600325"/>
            <a:ext cx="17907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Skills, migrations, docs, precios, tipos, selftests y checks cross-tenant</a:t>
            </a:r>
          </a:p>
        </p:txBody>
      </p:sp>
      <p:cxnSp>
        <p:nvCxnSpPr>
          <p:cNvPr id="72" name="Conector recto de flecha 71"/>
          <p:cNvCxnSpPr>
            <a:stCxn id="13" idx="3"/>
            <a:endCxn id="17" idx="1"/>
          </p:cNvCxnSpPr>
          <p:nvPr/>
        </p:nvCxnSpPr>
        <p:spPr>
          <a:xfrm>
            <a:off x="4857750" y="2800350"/>
            <a:ext cx="238125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FBE069C-DA5D-4DD2-A67C-B449AD6887F8}"/>
              </a:ext>
            </a:extLst>
          </p:cNvPr>
          <p:cNvSpPr>
            <a:spLocks noGrp="1"/>
          </p:cNvSpPr>
          <p:nvPr/>
        </p:nvSpPr>
        <p:spPr>
          <a:xfrm>
            <a:off x="7429500" y="2143125"/>
            <a:ext cx="20955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365D21F-E482-49FC-8836-DAACEF7ACD84}"/>
              </a:ext>
            </a:extLst>
          </p:cNvPr>
          <p:cNvSpPr>
            <a:spLocks noGrp="1"/>
          </p:cNvSpPr>
          <p:nvPr/>
        </p:nvSpPr>
        <p:spPr>
          <a:xfrm>
            <a:off x="7581900" y="226695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 i="0">
                <a:solidFill>
                  <a:srgbClr val="4866C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866C6"/>
                </a:solidFill>
                <a:latin typeface="Aptos"/>
                <a:ea typeface="Aptos"/>
                <a:cs typeface="Aptos"/>
              </a:rPr>
              <a:t>PROTECT MAIN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48EFB15-6001-41C0-A0F9-8F428E6E5C1A}"/>
              </a:ext>
            </a:extLst>
          </p:cNvPr>
          <p:cNvSpPr>
            <a:spLocks noGrp="1"/>
          </p:cNvSpPr>
          <p:nvPr/>
        </p:nvSpPr>
        <p:spPr>
          <a:xfrm>
            <a:off x="7581900" y="2600325"/>
            <a:ext cx="17907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PR obligatorio · ci + rls estrictos · sin force push ni bypass</a:t>
            </a:r>
          </a:p>
        </p:txBody>
      </p:sp>
      <p:cxnSp>
        <p:nvCxnSpPr>
          <p:cNvPr id="76" name="Conector recto de flecha 75"/>
          <p:cNvCxnSpPr>
            <a:stCxn id="17" idx="3"/>
            <a:endCxn id="21" idx="1"/>
          </p:cNvCxnSpPr>
          <p:nvPr/>
        </p:nvCxnSpPr>
        <p:spPr>
          <a:xfrm>
            <a:off x="7191375" y="2800350"/>
            <a:ext cx="238125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F6EF6651-2DFE-4F0E-BB21-3A640CDC800A}"/>
              </a:ext>
            </a:extLst>
          </p:cNvPr>
          <p:cNvSpPr>
            <a:spLocks noGrp="1"/>
          </p:cNvSpPr>
          <p:nvPr/>
        </p:nvSpPr>
        <p:spPr>
          <a:xfrm>
            <a:off x="9763125" y="2143125"/>
            <a:ext cx="20955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469EAF2-DF1D-4CDE-AE8B-74EF1C47A24E}"/>
              </a:ext>
            </a:extLst>
          </p:cNvPr>
          <p:cNvSpPr>
            <a:spLocks noGrp="1"/>
          </p:cNvSpPr>
          <p:nvPr/>
        </p:nvSpPr>
        <p:spPr>
          <a:xfrm>
            <a:off x="9915525" y="226695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 i="0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8497C"/>
                </a:solidFill>
                <a:latin typeface="Aptos"/>
                <a:ea typeface="Aptos"/>
                <a:cs typeface="Aptos"/>
              </a:rPr>
              <a:t>MERGE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27AEE5F-1965-41E4-92B8-0665BA31BADF}"/>
              </a:ext>
            </a:extLst>
          </p:cNvPr>
          <p:cNvSpPr>
            <a:spLocks noGrp="1"/>
          </p:cNvSpPr>
          <p:nvPr/>
        </p:nvSpPr>
        <p:spPr>
          <a:xfrm>
            <a:off x="9915525" y="2600325"/>
            <a:ext cx="17907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GitHub registra el estado aceptado del repo</a:t>
            </a:r>
          </a:p>
        </p:txBody>
      </p:sp>
      <p:cxnSp>
        <p:nvCxnSpPr>
          <p:cNvPr id="80" name="Conector recto de flecha 79"/>
          <p:cNvCxnSpPr>
            <a:stCxn id="21" idx="3"/>
            <a:endCxn id="25" idx="1"/>
          </p:cNvCxnSpPr>
          <p:nvPr/>
        </p:nvCxnSpPr>
        <p:spPr>
          <a:xfrm>
            <a:off x="9525000" y="2800350"/>
            <a:ext cx="238125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C51D69C5-2319-4EB0-A364-A1A1EBAF2A11}"/>
              </a:ext>
            </a:extLst>
          </p:cNvPr>
          <p:cNvSpPr>
            <a:spLocks noGrp="1"/>
          </p:cNvSpPr>
          <p:nvPr/>
        </p:nvSpPr>
        <p:spPr>
          <a:xfrm>
            <a:off x="1066800" y="4238625"/>
            <a:ext cx="2286000" cy="1047750"/>
          </a:xfrm>
          <a:prstGeom prst="roundRect">
            <a:avLst>
              <a:gd name="adj" fmla="val 10909"/>
            </a:avLst>
          </a:prstGeom>
          <a:solidFill>
            <a:srgbClr val="FFF0D7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236A056-9751-4ED5-B8A5-DE98A4832AE1}"/>
              </a:ext>
            </a:extLst>
          </p:cNvPr>
          <p:cNvSpPr>
            <a:spLocks noGrp="1"/>
          </p:cNvSpPr>
          <p:nvPr/>
        </p:nvSpPr>
        <p:spPr>
          <a:xfrm>
            <a:off x="1219200" y="4362450"/>
            <a:ext cx="19812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821" lnSpcReduction="10000"/>
          </a:bodyPr>
          <a:lstStyle/>
          <a:p>
            <a:pPr>
              <a:defRPr sz="1275" b="1" i="0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39A24"/>
                </a:solidFill>
                <a:latin typeface="Aptos"/>
                <a:ea typeface="Aptos"/>
                <a:cs typeface="Aptos"/>
              </a:rPr>
              <a:t>DISPATCH MANUAL A STAGING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72F5082-4186-446F-83BE-307B69BC6184}"/>
              </a:ext>
            </a:extLst>
          </p:cNvPr>
          <p:cNvSpPr>
            <a:spLocks noGrp="1"/>
          </p:cNvSpPr>
          <p:nvPr/>
        </p:nvSpPr>
        <p:spPr>
          <a:xfrm>
            <a:off x="1219200" y="4695825"/>
            <a:ext cx="19812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27" lnSpcReduction="10000"/>
          </a:bodyPr>
          <a:lstStyle/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SHA exacto de 40 caracteres</a:t>
            </a:r>
          </a:p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apply false por default</a:t>
            </a:r>
          </a:p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verify true por default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2D0376E9-C0E5-45F3-9709-FC2B0162319E}"/>
              </a:ext>
            </a:extLst>
          </p:cNvPr>
          <p:cNvSpPr>
            <a:spLocks noGrp="1"/>
          </p:cNvSpPr>
          <p:nvPr/>
        </p:nvSpPr>
        <p:spPr>
          <a:xfrm>
            <a:off x="3886200" y="4238625"/>
            <a:ext cx="2286000" cy="1047750"/>
          </a:xfrm>
          <a:prstGeom prst="roundRect">
            <a:avLst>
              <a:gd name="adj" fmla="val 10909"/>
            </a:avLst>
          </a:prstGeom>
          <a:solidFill>
            <a:srgbClr val="E3F5ED"/>
          </a:solidFill>
          <a:ln w="9525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36ECD5F-F4B2-4CD8-B791-307343C2E1FE}"/>
              </a:ext>
            </a:extLst>
          </p:cNvPr>
          <p:cNvSpPr>
            <a:spLocks noGrp="1"/>
          </p:cNvSpPr>
          <p:nvPr/>
        </p:nvSpPr>
        <p:spPr>
          <a:xfrm>
            <a:off x="4038600" y="4362450"/>
            <a:ext cx="19812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591" lnSpcReduction="20000"/>
          </a:bodyPr>
          <a:lstStyle/>
          <a:p>
            <a:pPr>
              <a:defRPr sz="1275" b="1" i="0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9566"/>
                </a:solidFill>
                <a:latin typeface="Aptos"/>
                <a:ea typeface="Aptos"/>
                <a:cs typeface="Aptos"/>
              </a:rPr>
              <a:t>ELEGIBILIDAD + ENV GATE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13F5E67-DF01-4799-B182-88BDD7A42967}"/>
              </a:ext>
            </a:extLst>
          </p:cNvPr>
          <p:cNvSpPr>
            <a:spLocks noGrp="1"/>
          </p:cNvSpPr>
          <p:nvPr/>
        </p:nvSpPr>
        <p:spPr>
          <a:xfrm>
            <a:off x="4038600" y="4695825"/>
            <a:ext cx="19812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27" lnSpcReduction="10000"/>
          </a:bodyPr>
          <a:lstStyle/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HEAD actual de main</a:t>
            </a:r>
          </a:p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CI verde para el SHA exacto</a:t>
            </a:r>
          </a:p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Reviewer obligatorio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B4EB79AE-2E4C-417A-BBB3-71A07A21A278}"/>
              </a:ext>
            </a:extLst>
          </p:cNvPr>
          <p:cNvSpPr>
            <a:spLocks noGrp="1"/>
          </p:cNvSpPr>
          <p:nvPr/>
        </p:nvSpPr>
        <p:spPr>
          <a:xfrm>
            <a:off x="6705600" y="4238625"/>
            <a:ext cx="2095500" cy="1047750"/>
          </a:xfrm>
          <a:prstGeom prst="roundRect">
            <a:avLst>
              <a:gd name="adj" fmla="val 10909"/>
            </a:avLst>
          </a:prstGeom>
          <a:solidFill>
            <a:srgbClr val="E7ECFB"/>
          </a:solidFill>
          <a:ln w="9525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843FFFE-9ED6-4C50-870C-1FF7EBB823C9}"/>
              </a:ext>
            </a:extLst>
          </p:cNvPr>
          <p:cNvSpPr>
            <a:spLocks noGrp="1"/>
          </p:cNvSpPr>
          <p:nvPr/>
        </p:nvSpPr>
        <p:spPr>
          <a:xfrm>
            <a:off x="6858000" y="436245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 i="0">
                <a:solidFill>
                  <a:srgbClr val="4866C6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866C6"/>
                </a:solidFill>
                <a:latin typeface="Aptos"/>
                <a:ea typeface="Aptos"/>
                <a:cs typeface="Aptos"/>
              </a:rPr>
              <a:t>ENTREGAR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6D76DD67-6B26-4968-8D22-30D76421323F}"/>
              </a:ext>
            </a:extLst>
          </p:cNvPr>
          <p:cNvSpPr>
            <a:spLocks noGrp="1"/>
          </p:cNvSpPr>
          <p:nvPr/>
        </p:nvSpPr>
        <p:spPr>
          <a:xfrm>
            <a:off x="6858000" y="4695825"/>
            <a:ext cx="17907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27" lnSpcReduction="10000"/>
          </a:bodyPr>
          <a:lstStyle/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Migrations hacia adelante</a:t>
            </a:r>
          </a:p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Escritura serializada</a:t>
            </a:r>
          </a:p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Recheck antes de mutar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7CDC57B5-9F72-46AC-81FD-8721C66CB582}"/>
              </a:ext>
            </a:extLst>
          </p:cNvPr>
          <p:cNvSpPr>
            <a:spLocks noGrp="1"/>
          </p:cNvSpPr>
          <p:nvPr/>
        </p:nvSpPr>
        <p:spPr>
          <a:xfrm>
            <a:off x="9334500" y="4238625"/>
            <a:ext cx="2095500" cy="1047750"/>
          </a:xfrm>
          <a:prstGeom prst="roundRect">
            <a:avLst>
              <a:gd name="adj" fmla="val 10909"/>
            </a:avLst>
          </a:prstGeom>
          <a:solidFill>
            <a:srgbClr val="EEE8FF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2D61040-C0C4-4C79-A9A9-E68901AC3D02}"/>
              </a:ext>
            </a:extLst>
          </p:cNvPr>
          <p:cNvSpPr>
            <a:spLocks noGrp="1"/>
          </p:cNvSpPr>
          <p:nvPr/>
        </p:nvSpPr>
        <p:spPr>
          <a:xfrm>
            <a:off x="9486900" y="436245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VERIFICAR HOSTED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D1475A43-FECB-4AA4-A2D9-4CE80173C698}"/>
              </a:ext>
            </a:extLst>
          </p:cNvPr>
          <p:cNvSpPr>
            <a:spLocks noGrp="1"/>
          </p:cNvSpPr>
          <p:nvPr/>
        </p:nvSpPr>
        <p:spPr>
          <a:xfrm>
            <a:off x="9486900" y="4695825"/>
            <a:ext cx="17907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27" lnSpcReduction="10000"/>
          </a:bodyPr>
          <a:lstStyle/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Verificación read-only</a:t>
            </a:r>
          </a:p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Artefacto de evidencia</a:t>
            </a:r>
          </a:p>
          <a:p>
            <a:pPr>
              <a:defRPr sz="10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Afirmación del entorno real</a:t>
            </a:r>
          </a:p>
        </p:txBody>
      </p:sp>
      <p:cxnSp>
        <p:nvCxnSpPr>
          <p:cNvPr id="93" name="Conector recto de flecha 92"/>
          <p:cNvCxnSpPr>
            <a:stCxn id="29" idx="3"/>
            <a:endCxn id="32" idx="1"/>
          </p:cNvCxnSpPr>
          <p:nvPr/>
        </p:nvCxnSpPr>
        <p:spPr>
          <a:xfrm>
            <a:off x="3352800" y="4762500"/>
            <a:ext cx="5334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cxnSp>
        <p:nvCxnSpPr>
          <p:cNvPr id="94" name="Conector recto de flecha 93"/>
          <p:cNvCxnSpPr>
            <a:stCxn id="32" idx="3"/>
            <a:endCxn id="35" idx="1"/>
          </p:cNvCxnSpPr>
          <p:nvPr/>
        </p:nvCxnSpPr>
        <p:spPr>
          <a:xfrm>
            <a:off x="6172200" y="4762500"/>
            <a:ext cx="5334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cxnSp>
        <p:nvCxnSpPr>
          <p:cNvPr id="95" name="Conector recto de flecha 94"/>
          <p:cNvCxnSpPr>
            <a:stCxn id="35" idx="3"/>
            <a:endCxn id="38" idx="1"/>
          </p:cNvCxnSpPr>
          <p:nvPr/>
        </p:nvCxnSpPr>
        <p:spPr>
          <a:xfrm>
            <a:off x="8801100" y="4762500"/>
            <a:ext cx="5334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88FBE6CB-CFA1-434A-AE3C-38EA0115B52E}"/>
              </a:ext>
            </a:extLst>
          </p:cNvPr>
          <p:cNvSpPr>
            <a:spLocks noGrp="1"/>
          </p:cNvSpPr>
          <p:nvPr/>
        </p:nvSpPr>
        <p:spPr>
          <a:xfrm>
            <a:off x="1066800" y="563880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009566"/>
          </a:solidFill>
          <a:ln w="9525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9F0E5586-A9A9-46B8-849A-2AC5880DE0FD}"/>
              </a:ext>
            </a:extLst>
          </p:cNvPr>
          <p:cNvSpPr>
            <a:spLocks noGrp="1"/>
          </p:cNvSpPr>
          <p:nvPr/>
        </p:nvSpPr>
        <p:spPr>
          <a:xfrm>
            <a:off x="1143000" y="5667375"/>
            <a:ext cx="7048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RS-1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BB6B8BF4-63D2-42F9-A87E-7F1AFB1A0733}"/>
              </a:ext>
            </a:extLst>
          </p:cNvPr>
          <p:cNvSpPr>
            <a:spLocks noGrp="1"/>
          </p:cNvSpPr>
          <p:nvPr/>
        </p:nvSpPr>
        <p:spPr>
          <a:xfrm>
            <a:off x="2000250" y="5676900"/>
            <a:ext cx="1524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809" lnSpcReduction="10000"/>
          </a:bodyPr>
          <a:lstStyle/>
          <a:p>
            <a:pPr>
              <a:defRPr sz="1050" b="1" i="0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1B30"/>
                </a:solidFill>
                <a:latin typeface="Aptos"/>
                <a:ea typeface="Aptos"/>
                <a:cs typeface="Aptos"/>
              </a:rPr>
              <a:t>local + CI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C89F3B93-423E-4F97-8CEB-30ADEF0C4F95}"/>
              </a:ext>
            </a:extLst>
          </p:cNvPr>
          <p:cNvSpPr>
            <a:spLocks noGrp="1"/>
          </p:cNvSpPr>
          <p:nvPr/>
        </p:nvSpPr>
        <p:spPr>
          <a:xfrm>
            <a:off x="3762375" y="563880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39A24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3775F0A1-A9EC-453E-A863-A49943845896}"/>
              </a:ext>
            </a:extLst>
          </p:cNvPr>
          <p:cNvSpPr>
            <a:spLocks noGrp="1"/>
          </p:cNvSpPr>
          <p:nvPr/>
        </p:nvSpPr>
        <p:spPr>
          <a:xfrm>
            <a:off x="3838575" y="5667375"/>
            <a:ext cx="7048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RS-2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62CD377-0C42-43F1-889F-72E44210957C}"/>
              </a:ext>
            </a:extLst>
          </p:cNvPr>
          <p:cNvSpPr>
            <a:spLocks noGrp="1"/>
          </p:cNvSpPr>
          <p:nvPr/>
        </p:nvSpPr>
        <p:spPr>
          <a:xfrm>
            <a:off x="4695825" y="5676900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809" lnSpcReduction="10000"/>
          </a:bodyPr>
          <a:lstStyle/>
          <a:p>
            <a:pPr>
              <a:defRPr sz="1050" b="1" i="0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1B30"/>
                </a:solidFill>
                <a:latin typeface="Aptos"/>
                <a:ea typeface="Aptos"/>
                <a:cs typeface="Aptos"/>
              </a:rPr>
              <a:t>RS-1 + hosted</a:t>
            </a: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114B010E-4069-4127-8AC9-65FF040A9C20}"/>
              </a:ext>
            </a:extLst>
          </p:cNvPr>
          <p:cNvSpPr>
            <a:spLocks noGrp="1"/>
          </p:cNvSpPr>
          <p:nvPr/>
        </p:nvSpPr>
        <p:spPr>
          <a:xfrm>
            <a:off x="6715125" y="563880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B8497C"/>
          </a:solidFill>
          <a:ln w="9525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43440EDA-C0F0-4614-89BA-A17024692892}"/>
              </a:ext>
            </a:extLst>
          </p:cNvPr>
          <p:cNvSpPr>
            <a:spLocks noGrp="1"/>
          </p:cNvSpPr>
          <p:nvPr/>
        </p:nvSpPr>
        <p:spPr>
          <a:xfrm>
            <a:off x="6791325" y="5667375"/>
            <a:ext cx="7048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RS-3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6D14912E-55AA-4994-9BFC-3E9129CC198F}"/>
              </a:ext>
            </a:extLst>
          </p:cNvPr>
          <p:cNvSpPr>
            <a:spLocks noGrp="1"/>
          </p:cNvSpPr>
          <p:nvPr/>
        </p:nvSpPr>
        <p:spPr>
          <a:xfrm>
            <a:off x="7648575" y="567690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809" lnSpcReduction="10000"/>
          </a:bodyPr>
          <a:lstStyle/>
          <a:p>
            <a:pPr>
              <a:defRPr sz="1050" b="1" i="0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1B30"/>
                </a:solidFill>
                <a:latin typeface="Aptos"/>
                <a:ea typeface="Aptos"/>
                <a:cs typeface="Aptos"/>
              </a:rPr>
              <a:t>RS-2 + ruta a producción autorizada por humano</a:t>
            </a:r>
          </a:p>
        </p:txBody>
      </p:sp>
    </p:spTree>
    <p:extLst>
      <p:ext uri="{BB962C8B-B14F-4D97-AF65-F5344CB8AC3E}">
        <p14:creationId xmlns:p14="http://schemas.microsoft.com/office/powerpoint/2010/main" val="1593251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D673AD65-218B-46BA-B9E8-7269B0F4BF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13F09029-38F3-42B0-A307-5DC38B7B45B2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SLICE DONE Y ROADMAP GRADUATED SON CLAIMS DISTINTOS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BADB5B0E-6D95-48EB-B4EC-B3D090A7AAD3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Done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satisface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el Slice contract; graduation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evalúa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</a:t>
            </a:r>
            <a:r>
              <a:rPr lang="es-MX"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declarada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el Roadmap.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176600AA-1B63-45F9-871A-6AD1C4E6A128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Telemetry, feedback y outcomes deben regresar a producto, specs, arquitectura y prioridades.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159929BB-DB75-4E07-B671-CD48ABFC1BCC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CBF423FC-1CBB-49FD-8FF3-75873061ECBA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9F70A1A1-32E8-4233-BA47-6C2EC12FD1C4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16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41CC1EC6-334D-4038-92EF-6255EFFFA9FE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A0ABFAC3-3559-4628-A586-41ACD4A3808A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SLICE DONE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75F4AE5E-E80B-45E4-BADD-2BFAD6021DE9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¿Construimos lo especificado?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78244901-84EA-4405-A882-45E8BF84EE99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5532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Acceptance del Slice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Definition of Done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Release Scope declarado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Evidence verificable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Límites y rollout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9B266D8D-6C44-4646-8069-FD46DF89C4DD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4FEF65FE-ACC4-4CFA-8081-45CB5720246C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INCREMENT GRADUATED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FD9326D0-A3D0-4E98-91F3-46A353B0094A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¿Cambió el resultado?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F88ADD56-6AB7-4BE1-A11D-BABFF45967F0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Uso y calidad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Tiempo/costo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Outcome de negocio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Feedback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Incidentes y gaps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313DD324-EC61-4C94-805F-7B7BB2F2A219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82900152-8B5C-43E2-A09D-9EEE8FA7564C}"/>
              </a:ext>
            </a:extLst>
          </p:cNvPr>
          <p:cNvSpPr>
            <a:spLocks noGrp="1"/>
          </p:cNvSpPr>
          <p:nvPr/>
        </p:nvSpPr>
        <p:spPr>
          <a:xfrm>
            <a:off x="1429967" y="5713479"/>
            <a:ext cx="892999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77AF808D-1372-4727-8F65-4489B5397ED6}"/>
              </a:ext>
            </a:extLst>
          </p:cNvPr>
          <p:cNvSpPr>
            <a:spLocks noGrp="1"/>
          </p:cNvSpPr>
          <p:nvPr/>
        </p:nvSpPr>
        <p:spPr>
          <a:xfrm>
            <a:off x="1832043" y="5768199"/>
            <a:ext cx="809017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600" b="1" dirty="0">
                <a:solidFill>
                  <a:srgbClr val="5F2CCB"/>
                </a:solidFill>
              </a:rPr>
              <a:t>Todos </a:t>
            </a:r>
            <a:r>
              <a:rPr sz="1600" b="1" dirty="0" err="1">
                <a:solidFill>
                  <a:srgbClr val="5F2CCB"/>
                </a:solidFill>
              </a:rPr>
              <a:t>los</a:t>
            </a:r>
            <a:r>
              <a:rPr sz="1600" b="1" dirty="0">
                <a:solidFill>
                  <a:srgbClr val="5F2CCB"/>
                </a:solidFill>
              </a:rPr>
              <a:t> Slices Done no </a:t>
            </a:r>
            <a:r>
              <a:rPr sz="1600" b="1" dirty="0" err="1">
                <a:solidFill>
                  <a:srgbClr val="5F2CCB"/>
                </a:solidFill>
              </a:rPr>
              <a:t>prueban</a:t>
            </a:r>
            <a:r>
              <a:rPr sz="1600" b="1" dirty="0">
                <a:solidFill>
                  <a:srgbClr val="5F2CCB"/>
                </a:solidFill>
              </a:rPr>
              <a:t> </a:t>
            </a:r>
            <a:r>
              <a:rPr sz="1600" b="1" dirty="0" err="1">
                <a:solidFill>
                  <a:srgbClr val="5F2CCB"/>
                </a:solidFill>
              </a:rPr>
              <a:t>automáticamente</a:t>
            </a:r>
            <a:r>
              <a:rPr sz="1600" b="1" dirty="0">
                <a:solidFill>
                  <a:srgbClr val="5F2CCB"/>
                </a:solidFill>
              </a:rPr>
              <a:t> la </a:t>
            </a:r>
            <a:r>
              <a:rPr sz="1600" b="1" dirty="0" err="1">
                <a:solidFill>
                  <a:srgbClr val="5F2CCB"/>
                </a:solidFill>
              </a:rPr>
              <a:t>graduación</a:t>
            </a:r>
            <a:r>
              <a:rPr sz="1600" b="1" dirty="0">
                <a:solidFill>
                  <a:srgbClr val="5F2CCB"/>
                </a:solidFill>
              </a:rPr>
              <a:t> del </a:t>
            </a:r>
            <a:r>
              <a:rPr sz="1600" b="1" dirty="0" err="1">
                <a:solidFill>
                  <a:srgbClr val="5F2CCB"/>
                </a:solidFill>
              </a:rPr>
              <a:t>incremento</a:t>
            </a:r>
            <a:r>
              <a:rPr sz="1600" b="1" dirty="0">
                <a:solidFill>
                  <a:srgbClr val="5F2CCB"/>
                </a:solidFill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habilita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5376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252DBD7B-D3A0-4DB1-BE25-168CE5C3AD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80D883B1-BDEB-469B-BCB0-0A1DE25BBA5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CONSTRUIMOS DOS SISTEMAS SPEC-DRIVEN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01AA6E1E-4766-4DB5-A53B-335839B04BF1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OS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coordina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trabajo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usuarios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nuestra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metodología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coordina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trabajo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desarrollo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50B8E248-F25C-45A0-97C1-3488B1B387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Ambos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necesitan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intención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explícita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unidades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durables,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ejecución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verificación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aprendizaje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FDAD2FBB-01BC-4588-B45D-CB4B3A182F6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D3B354FB-C4E5-4F6D-9EAF-216A890B8390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B9F7EE63-BA30-4FE6-BA95-DFE85B9CC25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17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2CA55D01-8F05-41AB-B280-B355EB4F6C75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CCE403DE-AA8D-4374-91D9-6D32EF411B3E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GU OS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26206E4F-4CA6-4966-AF91-A1CF9B2ECA42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Sistema de producto: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2E0DD706-2F6D-4F7C-84C5-0477BDD03438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Work items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Capabilities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Policies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Impact loops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DACC0191-C847-4B0A-B08D-4CEBD7EEFC46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F664B46C-4D12-4642-B557-080839F85413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DESARROLLO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2658972-2980-423C-825C-01C769192818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Sistema de construcción: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131138BE-DAE1-40D0-8C27-D13D6A44729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Briefs/specs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Slices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Agents/tools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Review gates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Release evidence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Learning loops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25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36B0772C-8F1F-4B7E-BF10-800CDAA8B1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9A148F58-91C0-475D-8DCA-74610B0268E8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R1 MUESTRA LA CADENA COMPLETA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97DF39FD-3B96-4A25-A3B3-61AE87E495D1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Relationship Operations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ya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produce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</a:t>
            </a:r>
            <a:r>
              <a:rPr lang="es-MX"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real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expone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siguiente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planning/authority boundary.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122AEC7D-9A0B-4EB5-BCE0-82D4E25DC4D9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SL-0…SL-3 están Done; SL-4 es READY pero aún no Planned ni tiene DRI confirmado.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A15DE90B-3496-4997-AE64-9835FD8DADE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789DAE4A-8055-4543-950B-B67405472D63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78BF3187-271F-4D56-B9C2-F36D4C56C0B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18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9ECAF1EB-4DE1-4F26-BF01-9BF26494B787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6E40DA7E-FB13-47F6-95A4-DB1C17ED706F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64EAE850-3BAE-4972-A4CB-CC2664AA5891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CAF9C5D2-2C24-4BE6-A97F-4430AEBB31F2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1 · Define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FF6BB28E-B61B-4AC2-A22E-34E2F59ED23E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146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PRD + Roadmap + Specs + AC-1…AC-10 establecen responsibility, behavior y graduation evidence.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569B9495-D8C3-4150-94CC-FE8922DA58C2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B2C2B3EE-AB4F-4A94-9349-36A9CD4965EA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BA2EF85C-87A7-428A-99FC-8CE9BF6D55D9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3EFE570F-B7BA-4AA0-99E3-09B5E2E04255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2 · Decide y slice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0E67F4AC-A2E6-4634-9222-B3E4DBEE81BF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Arquitectura/ADRs/plan seleccionan límites, datos, policies y secuencia executable.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F7D1620E-3F66-4042-AAC3-4097F5280664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38AA9811-FA92-4230-B6BC-366660D0F9E5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2381B0E5-1ECE-440D-9867-4430DBE6C714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C86291F8-E6EB-4EA6-A207-AEB32A9EC923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3 · Implementa y demuestra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9ED1E821-5702-41FD-BF7D-ADEE57A0DE3D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Código, migrations, tests y validación de producto aportan evidencia y aprendizaje.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60CE112A-4E78-4E62-A405-62245F821D07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91FDCC19-B47A-45F8-9579-0AEBDBC3B94B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La aceptación documental no sustituye la validación operativa.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5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0">
            <a:extLst>
              <a:ext uri="{FF2B5EF4-FFF2-40B4-BE49-F238E27FC236}">
                <a16:creationId xmlns:a16="http://schemas.microsoft.com/office/drawing/2014/main" id="{2FB8E6D6-4AAE-429B-AE83-0C5323AB8C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8" name="Text 1">
            <a:extLst>
              <a:ext uri="{FF2B5EF4-FFF2-40B4-BE49-F238E27FC236}">
                <a16:creationId xmlns:a16="http://schemas.microsoft.com/office/drawing/2014/main" id="{F9C10B8D-A635-4D6F-8E96-F7006C5308E2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CHECKLIST ANTES DE LLAMAR “DONE”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9" name="Text 2">
            <a:extLst>
              <a:ext uri="{FF2B5EF4-FFF2-40B4-BE49-F238E27FC236}">
                <a16:creationId xmlns:a16="http://schemas.microsoft.com/office/drawing/2014/main" id="{0C26F4B9-F13F-4D82-A9DF-8CCA71EC3CE7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195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3902"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Diez preguntas mantienen intención, autoridad, implementación y evidencia alineadas.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0" name="Text 3">
            <a:extLst>
              <a:ext uri="{FF2B5EF4-FFF2-40B4-BE49-F238E27FC236}">
                <a16:creationId xmlns:a16="http://schemas.microsoft.com/office/drawing/2014/main" id="{0A3C6B46-059D-45D7-835B-3B0842D2B56A}"/>
              </a:ext>
            </a:extLst>
          </p:cNvPr>
          <p:cNvSpPr>
            <a:spLocks noGrp="1"/>
          </p:cNvSpPr>
          <p:nvPr/>
        </p:nvSpPr>
        <p:spPr>
          <a:xfrm>
            <a:off x="567000" y="1552734"/>
            <a:ext cx="9682786" cy="5075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Si una respuesta no es verificable, todavía existe trabajo o una decisión pendiente.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2" name="Text 5">
            <a:extLst>
              <a:ext uri="{FF2B5EF4-FFF2-40B4-BE49-F238E27FC236}">
                <a16:creationId xmlns:a16="http://schemas.microsoft.com/office/drawing/2014/main" id="{EE876D90-43AC-42A5-99EB-FF72CAF0C28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3" name="Text 6">
            <a:extLst>
              <a:ext uri="{FF2B5EF4-FFF2-40B4-BE49-F238E27FC236}">
                <a16:creationId xmlns:a16="http://schemas.microsoft.com/office/drawing/2014/main" id="{0C847BC2-4A38-403E-B93E-724AB469E2DD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4" name="Text 7">
            <a:extLst>
              <a:ext uri="{FF2B5EF4-FFF2-40B4-BE49-F238E27FC236}">
                <a16:creationId xmlns:a16="http://schemas.microsoft.com/office/drawing/2014/main" id="{94BC95D0-FF9C-4740-9D86-77C5B773F9B9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19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5" name="Shape 8">
            <a:extLst>
              <a:ext uri="{FF2B5EF4-FFF2-40B4-BE49-F238E27FC236}">
                <a16:creationId xmlns:a16="http://schemas.microsoft.com/office/drawing/2014/main" id="{1039685A-2B8E-404C-A2D2-0FDB692FEA72}"/>
              </a:ext>
            </a:extLst>
          </p:cNvPr>
          <p:cNvSpPr>
            <a:spLocks noGrp="1"/>
          </p:cNvSpPr>
          <p:nvPr/>
        </p:nvSpPr>
        <p:spPr>
          <a:xfrm>
            <a:off x="649647" y="25539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6" name="Text 9">
            <a:extLst>
              <a:ext uri="{FF2B5EF4-FFF2-40B4-BE49-F238E27FC236}">
                <a16:creationId xmlns:a16="http://schemas.microsoft.com/office/drawing/2014/main" id="{DB544F2D-224B-4C17-AA22-308394ADA88C}"/>
              </a:ext>
            </a:extLst>
          </p:cNvPr>
          <p:cNvSpPr>
            <a:spLocks noGrp="1"/>
          </p:cNvSpPr>
          <p:nvPr/>
        </p:nvSpPr>
        <p:spPr>
          <a:xfrm>
            <a:off x="649647" y="26180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7" name="Text 10">
            <a:extLst>
              <a:ext uri="{FF2B5EF4-FFF2-40B4-BE49-F238E27FC236}">
                <a16:creationId xmlns:a16="http://schemas.microsoft.com/office/drawing/2014/main" id="{EF8412A2-9E0B-495E-B22F-F064087A424D}"/>
              </a:ext>
            </a:extLst>
          </p:cNvPr>
          <p:cNvSpPr>
            <a:spLocks noGrp="1"/>
          </p:cNvSpPr>
          <p:nvPr/>
        </p:nvSpPr>
        <p:spPr>
          <a:xfrm>
            <a:off x="1061127" y="25172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¿Outcome y usuario están claros?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8" name="Shape 11">
            <a:extLst>
              <a:ext uri="{FF2B5EF4-FFF2-40B4-BE49-F238E27FC236}">
                <a16:creationId xmlns:a16="http://schemas.microsoft.com/office/drawing/2014/main" id="{E8699C85-722F-4291-8272-B6200F2D06CF}"/>
              </a:ext>
            </a:extLst>
          </p:cNvPr>
          <p:cNvSpPr>
            <a:spLocks noGrp="1"/>
          </p:cNvSpPr>
          <p:nvPr/>
        </p:nvSpPr>
        <p:spPr>
          <a:xfrm>
            <a:off x="649647" y="32397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9" name="Text 12">
            <a:extLst>
              <a:ext uri="{FF2B5EF4-FFF2-40B4-BE49-F238E27FC236}">
                <a16:creationId xmlns:a16="http://schemas.microsoft.com/office/drawing/2014/main" id="{878D2009-F939-4096-8BE8-AA662D3F1F15}"/>
              </a:ext>
            </a:extLst>
          </p:cNvPr>
          <p:cNvSpPr>
            <a:spLocks noGrp="1"/>
          </p:cNvSpPr>
          <p:nvPr/>
        </p:nvSpPr>
        <p:spPr>
          <a:xfrm>
            <a:off x="649647" y="33038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0" name="Text 13">
            <a:extLst>
              <a:ext uri="{FF2B5EF4-FFF2-40B4-BE49-F238E27FC236}">
                <a16:creationId xmlns:a16="http://schemas.microsoft.com/office/drawing/2014/main" id="{B11FA310-DF78-4B98-B5C5-294701A349DE}"/>
              </a:ext>
            </a:extLst>
          </p:cNvPr>
          <p:cNvSpPr>
            <a:spLocks noGrp="1"/>
          </p:cNvSpPr>
          <p:nvPr/>
        </p:nvSpPr>
        <p:spPr>
          <a:xfrm>
            <a:off x="1061127" y="32030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¿La fuente de autoridad es correcta?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1" name="Shape 14">
            <a:extLst>
              <a:ext uri="{FF2B5EF4-FFF2-40B4-BE49-F238E27FC236}">
                <a16:creationId xmlns:a16="http://schemas.microsoft.com/office/drawing/2014/main" id="{DDDE5CCE-7C78-4A30-859D-D95550B7FCDA}"/>
              </a:ext>
            </a:extLst>
          </p:cNvPr>
          <p:cNvSpPr>
            <a:spLocks noGrp="1"/>
          </p:cNvSpPr>
          <p:nvPr/>
        </p:nvSpPr>
        <p:spPr>
          <a:xfrm>
            <a:off x="649647" y="39255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2" name="Text 15">
            <a:extLst>
              <a:ext uri="{FF2B5EF4-FFF2-40B4-BE49-F238E27FC236}">
                <a16:creationId xmlns:a16="http://schemas.microsoft.com/office/drawing/2014/main" id="{F138A06A-3D00-492A-BA01-FC090AA8BEEA}"/>
              </a:ext>
            </a:extLst>
          </p:cNvPr>
          <p:cNvSpPr>
            <a:spLocks noGrp="1"/>
          </p:cNvSpPr>
          <p:nvPr/>
        </p:nvSpPr>
        <p:spPr>
          <a:xfrm>
            <a:off x="649647" y="39896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3" name="Text 16">
            <a:extLst>
              <a:ext uri="{FF2B5EF4-FFF2-40B4-BE49-F238E27FC236}">
                <a16:creationId xmlns:a16="http://schemas.microsoft.com/office/drawing/2014/main" id="{6089318C-B276-47FB-92D4-FF7D0DB176D9}"/>
              </a:ext>
            </a:extLst>
          </p:cNvPr>
          <p:cNvSpPr>
            <a:spLocks noGrp="1"/>
          </p:cNvSpPr>
          <p:nvPr/>
        </p:nvSpPr>
        <p:spPr>
          <a:xfrm>
            <a:off x="1061127" y="38888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t>¿Acceptance criteria observables?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4" name="Shape 17">
            <a:extLst>
              <a:ext uri="{FF2B5EF4-FFF2-40B4-BE49-F238E27FC236}">
                <a16:creationId xmlns:a16="http://schemas.microsoft.com/office/drawing/2014/main" id="{57A18003-9A83-4E3E-8324-697474564594}"/>
              </a:ext>
            </a:extLst>
          </p:cNvPr>
          <p:cNvSpPr>
            <a:spLocks noGrp="1"/>
          </p:cNvSpPr>
          <p:nvPr/>
        </p:nvSpPr>
        <p:spPr>
          <a:xfrm>
            <a:off x="649647" y="46113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5" name="Text 18">
            <a:extLst>
              <a:ext uri="{FF2B5EF4-FFF2-40B4-BE49-F238E27FC236}">
                <a16:creationId xmlns:a16="http://schemas.microsoft.com/office/drawing/2014/main" id="{8D7A4332-3E31-4933-95FD-D3E42DEA4A71}"/>
              </a:ext>
            </a:extLst>
          </p:cNvPr>
          <p:cNvSpPr>
            <a:spLocks noGrp="1"/>
          </p:cNvSpPr>
          <p:nvPr/>
        </p:nvSpPr>
        <p:spPr>
          <a:xfrm>
            <a:off x="649647" y="46754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6" name="Text 19">
            <a:extLst>
              <a:ext uri="{FF2B5EF4-FFF2-40B4-BE49-F238E27FC236}">
                <a16:creationId xmlns:a16="http://schemas.microsoft.com/office/drawing/2014/main" id="{2093E537-5F68-43F6-994E-1A839208A84B}"/>
              </a:ext>
            </a:extLst>
          </p:cNvPr>
          <p:cNvSpPr>
            <a:spLocks noGrp="1"/>
          </p:cNvSpPr>
          <p:nvPr/>
        </p:nvSpPr>
        <p:spPr>
          <a:xfrm>
            <a:off x="1061127" y="45746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¿Contratos, datos y fallos explícitos?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7" name="Shape 20">
            <a:extLst>
              <a:ext uri="{FF2B5EF4-FFF2-40B4-BE49-F238E27FC236}">
                <a16:creationId xmlns:a16="http://schemas.microsoft.com/office/drawing/2014/main" id="{4DF35F95-9B56-4C21-9BE3-96EAFD065B67}"/>
              </a:ext>
            </a:extLst>
          </p:cNvPr>
          <p:cNvSpPr>
            <a:spLocks noGrp="1"/>
          </p:cNvSpPr>
          <p:nvPr/>
        </p:nvSpPr>
        <p:spPr>
          <a:xfrm>
            <a:off x="649647" y="52971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8" name="Text 21">
            <a:extLst>
              <a:ext uri="{FF2B5EF4-FFF2-40B4-BE49-F238E27FC236}">
                <a16:creationId xmlns:a16="http://schemas.microsoft.com/office/drawing/2014/main" id="{C6267B67-615B-4B51-AED2-B5BF61D4C389}"/>
              </a:ext>
            </a:extLst>
          </p:cNvPr>
          <p:cNvSpPr>
            <a:spLocks noGrp="1"/>
          </p:cNvSpPr>
          <p:nvPr/>
        </p:nvSpPr>
        <p:spPr>
          <a:xfrm>
            <a:off x="649647" y="53612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9" name="Text 22">
            <a:extLst>
              <a:ext uri="{FF2B5EF4-FFF2-40B4-BE49-F238E27FC236}">
                <a16:creationId xmlns:a16="http://schemas.microsoft.com/office/drawing/2014/main" id="{9A39BA69-27E5-4B49-B52D-A1C7A3006EE7}"/>
              </a:ext>
            </a:extLst>
          </p:cNvPr>
          <p:cNvSpPr>
            <a:spLocks noGrp="1"/>
          </p:cNvSpPr>
          <p:nvPr/>
        </p:nvSpPr>
        <p:spPr>
          <a:xfrm>
            <a:off x="1061127" y="5370154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¿Slice READY y end-to-end?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0" name="Shape 23">
            <a:extLst>
              <a:ext uri="{FF2B5EF4-FFF2-40B4-BE49-F238E27FC236}">
                <a16:creationId xmlns:a16="http://schemas.microsoft.com/office/drawing/2014/main" id="{7293D0D0-98BA-4ABC-85D0-0E2CBE028B47}"/>
              </a:ext>
            </a:extLst>
          </p:cNvPr>
          <p:cNvSpPr>
            <a:spLocks noGrp="1"/>
          </p:cNvSpPr>
          <p:nvPr/>
        </p:nvSpPr>
        <p:spPr>
          <a:xfrm>
            <a:off x="6273207" y="25539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1" name="Text 24">
            <a:extLst>
              <a:ext uri="{FF2B5EF4-FFF2-40B4-BE49-F238E27FC236}">
                <a16:creationId xmlns:a16="http://schemas.microsoft.com/office/drawing/2014/main" id="{715A0225-6B41-4DFC-A20F-E9C8F5EA7F20}"/>
              </a:ext>
            </a:extLst>
          </p:cNvPr>
          <p:cNvSpPr>
            <a:spLocks noGrp="1"/>
          </p:cNvSpPr>
          <p:nvPr/>
        </p:nvSpPr>
        <p:spPr>
          <a:xfrm>
            <a:off x="6273207" y="26180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2" name="Text 25">
            <a:extLst>
              <a:ext uri="{FF2B5EF4-FFF2-40B4-BE49-F238E27FC236}">
                <a16:creationId xmlns:a16="http://schemas.microsoft.com/office/drawing/2014/main" id="{AECAC420-F5C0-4591-8FF0-489E5306E71F}"/>
              </a:ext>
            </a:extLst>
          </p:cNvPr>
          <p:cNvSpPr>
            <a:spLocks noGrp="1"/>
          </p:cNvSpPr>
          <p:nvPr/>
        </p:nvSpPr>
        <p:spPr>
          <a:xfrm>
            <a:off x="6684687" y="2644819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¿Cycle + Accountable/DRI confirmados?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3" name="Shape 26">
            <a:extLst>
              <a:ext uri="{FF2B5EF4-FFF2-40B4-BE49-F238E27FC236}">
                <a16:creationId xmlns:a16="http://schemas.microsoft.com/office/drawing/2014/main" id="{FE086162-6CBC-4BD3-9D2E-DE7993C99D93}"/>
              </a:ext>
            </a:extLst>
          </p:cNvPr>
          <p:cNvSpPr>
            <a:spLocks noGrp="1"/>
          </p:cNvSpPr>
          <p:nvPr/>
        </p:nvSpPr>
        <p:spPr>
          <a:xfrm>
            <a:off x="6273207" y="32397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4" name="Text 27">
            <a:extLst>
              <a:ext uri="{FF2B5EF4-FFF2-40B4-BE49-F238E27FC236}">
                <a16:creationId xmlns:a16="http://schemas.microsoft.com/office/drawing/2014/main" id="{6786D939-B45A-4B38-B79D-84EB960E48E1}"/>
              </a:ext>
            </a:extLst>
          </p:cNvPr>
          <p:cNvSpPr>
            <a:spLocks noGrp="1"/>
          </p:cNvSpPr>
          <p:nvPr/>
        </p:nvSpPr>
        <p:spPr>
          <a:xfrm>
            <a:off x="6273207" y="33038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5" name="Text 28">
            <a:extLst>
              <a:ext uri="{FF2B5EF4-FFF2-40B4-BE49-F238E27FC236}">
                <a16:creationId xmlns:a16="http://schemas.microsoft.com/office/drawing/2014/main" id="{FD43B344-BB30-4E0C-8D51-50770E25948E}"/>
              </a:ext>
            </a:extLst>
          </p:cNvPr>
          <p:cNvSpPr>
            <a:spLocks noGrp="1"/>
          </p:cNvSpPr>
          <p:nvPr/>
        </p:nvSpPr>
        <p:spPr>
          <a:xfrm>
            <a:off x="6684687" y="32030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¿Prerequisites + capacity → Executable?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6" name="Shape 29">
            <a:extLst>
              <a:ext uri="{FF2B5EF4-FFF2-40B4-BE49-F238E27FC236}">
                <a16:creationId xmlns:a16="http://schemas.microsoft.com/office/drawing/2014/main" id="{D9DA9ACC-A9D3-4574-AE7C-E6F65B8B5DE0}"/>
              </a:ext>
            </a:extLst>
          </p:cNvPr>
          <p:cNvSpPr>
            <a:spLocks noGrp="1"/>
          </p:cNvSpPr>
          <p:nvPr/>
        </p:nvSpPr>
        <p:spPr>
          <a:xfrm>
            <a:off x="6273207" y="39255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7" name="Text 30">
            <a:extLst>
              <a:ext uri="{FF2B5EF4-FFF2-40B4-BE49-F238E27FC236}">
                <a16:creationId xmlns:a16="http://schemas.microsoft.com/office/drawing/2014/main" id="{F40C6C6D-60E0-44C9-BC7E-6FBE01A33FF7}"/>
              </a:ext>
            </a:extLst>
          </p:cNvPr>
          <p:cNvSpPr>
            <a:spLocks noGrp="1"/>
          </p:cNvSpPr>
          <p:nvPr/>
        </p:nvSpPr>
        <p:spPr>
          <a:xfrm>
            <a:off x="6273207" y="39896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8" name="Text 31">
            <a:extLst>
              <a:ext uri="{FF2B5EF4-FFF2-40B4-BE49-F238E27FC236}">
                <a16:creationId xmlns:a16="http://schemas.microsoft.com/office/drawing/2014/main" id="{F1C44F7F-24F8-4CCE-80F2-3101A9293472}"/>
              </a:ext>
            </a:extLst>
          </p:cNvPr>
          <p:cNvSpPr>
            <a:spLocks noGrp="1"/>
          </p:cNvSpPr>
          <p:nvPr/>
        </p:nvSpPr>
        <p:spPr>
          <a:xfrm>
            <a:off x="6684687" y="3889050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¿Release Scope y evidence </a:t>
            </a:r>
            <a:r>
              <a:rPr b="0" u="none" dirty="0" err="1">
                <a:solidFill>
                  <a:srgbClr val="151327"/>
                </a:solidFill>
                <a:latin typeface="Aptos"/>
                <a:ea typeface="Aptos"/>
                <a:cs typeface="Aptos"/>
              </a:rPr>
              <a:t>satisfechos</a:t>
            </a:r>
            <a:r>
              <a:rPr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?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9" name="Shape 32">
            <a:extLst>
              <a:ext uri="{FF2B5EF4-FFF2-40B4-BE49-F238E27FC236}">
                <a16:creationId xmlns:a16="http://schemas.microsoft.com/office/drawing/2014/main" id="{691FFD09-6CBB-4950-A369-2124360170F2}"/>
              </a:ext>
            </a:extLst>
          </p:cNvPr>
          <p:cNvSpPr>
            <a:spLocks noGrp="1"/>
          </p:cNvSpPr>
          <p:nvPr/>
        </p:nvSpPr>
        <p:spPr>
          <a:xfrm>
            <a:off x="6273207" y="46113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0" name="Text 33">
            <a:extLst>
              <a:ext uri="{FF2B5EF4-FFF2-40B4-BE49-F238E27FC236}">
                <a16:creationId xmlns:a16="http://schemas.microsoft.com/office/drawing/2014/main" id="{C487218E-B3E3-40A2-AD88-10D1CD243A12}"/>
              </a:ext>
            </a:extLst>
          </p:cNvPr>
          <p:cNvSpPr>
            <a:spLocks noGrp="1"/>
          </p:cNvSpPr>
          <p:nvPr/>
        </p:nvSpPr>
        <p:spPr>
          <a:xfrm>
            <a:off x="6273207" y="46754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1" name="Text 34">
            <a:extLst>
              <a:ext uri="{FF2B5EF4-FFF2-40B4-BE49-F238E27FC236}">
                <a16:creationId xmlns:a16="http://schemas.microsoft.com/office/drawing/2014/main" id="{728EAC79-592E-43C2-A918-30191AAECBE6}"/>
              </a:ext>
            </a:extLst>
          </p:cNvPr>
          <p:cNvSpPr>
            <a:spLocks noGrp="1"/>
          </p:cNvSpPr>
          <p:nvPr/>
        </p:nvSpPr>
        <p:spPr>
          <a:xfrm>
            <a:off x="6684687" y="45746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¿Release y rollback preparados?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2" name="Shape 35">
            <a:extLst>
              <a:ext uri="{FF2B5EF4-FFF2-40B4-BE49-F238E27FC236}">
                <a16:creationId xmlns:a16="http://schemas.microsoft.com/office/drawing/2014/main" id="{42D2CC6D-C32A-4553-A687-A20DF9D1DAD9}"/>
              </a:ext>
            </a:extLst>
          </p:cNvPr>
          <p:cNvSpPr>
            <a:spLocks noGrp="1"/>
          </p:cNvSpPr>
          <p:nvPr/>
        </p:nvSpPr>
        <p:spPr>
          <a:xfrm>
            <a:off x="6273207" y="52971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3" name="Text 36">
            <a:extLst>
              <a:ext uri="{FF2B5EF4-FFF2-40B4-BE49-F238E27FC236}">
                <a16:creationId xmlns:a16="http://schemas.microsoft.com/office/drawing/2014/main" id="{C1500A42-A9D1-46DA-8A8B-948840C2B5C2}"/>
              </a:ext>
            </a:extLst>
          </p:cNvPr>
          <p:cNvSpPr>
            <a:spLocks noGrp="1"/>
          </p:cNvSpPr>
          <p:nvPr/>
        </p:nvSpPr>
        <p:spPr>
          <a:xfrm>
            <a:off x="6273207" y="53612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4" name="Text 37">
            <a:extLst>
              <a:ext uri="{FF2B5EF4-FFF2-40B4-BE49-F238E27FC236}">
                <a16:creationId xmlns:a16="http://schemas.microsoft.com/office/drawing/2014/main" id="{AF8B3305-2D9C-4378-AE71-AD0F07AE92CF}"/>
              </a:ext>
            </a:extLst>
          </p:cNvPr>
          <p:cNvSpPr>
            <a:spLocks noGrp="1"/>
          </p:cNvSpPr>
          <p:nvPr/>
        </p:nvSpPr>
        <p:spPr>
          <a:xfrm>
            <a:off x="6684687" y="52604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¿El feedback actualiza la siguiente decisión?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7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86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7F4DE37-20C0-41FF-A469-24214E4626BB}"/>
              </a:ext>
            </a:extLst>
          </p:cNvPr>
          <p:cNvSpPr>
            <a:spLocks noGrp="1"/>
          </p:cNvSpPr>
          <p:nvPr/>
        </p:nvSpPr>
        <p:spPr>
          <a:xfrm>
            <a:off x="676656" y="2331720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6711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3800" b="1" dirty="0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La </a:t>
            </a:r>
            <a:r>
              <a:rPr sz="3800" b="1" dirty="0" err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velocidad</a:t>
            </a:r>
            <a:r>
              <a:rPr sz="3800" b="1" dirty="0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sostenible</a:t>
            </a:r>
            <a:endParaRPr sz="3800" dirty="0"/>
          </a:p>
          <a:p>
            <a:pPr marL="0" indent="0" algn="l">
              <a:lnSpc>
                <a:spcPct val="100000"/>
              </a:lnSpc>
              <a:buNone/>
            </a:pPr>
            <a:r>
              <a:rPr sz="3800" b="1" dirty="0" err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viene</a:t>
            </a:r>
            <a:r>
              <a:rPr sz="3800" b="1" dirty="0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 de la </a:t>
            </a:r>
            <a:r>
              <a:rPr sz="3800" b="1" dirty="0" err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evidencia</a:t>
            </a:r>
            <a:r>
              <a:rPr sz="3800" b="1" dirty="0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.</a:t>
            </a:r>
            <a:endParaRPr sz="3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2B17B00-208E-4093-AA43-175782358350}"/>
              </a:ext>
            </a:extLst>
          </p:cNvPr>
          <p:cNvSpPr>
            <a:spLocks noGrp="1"/>
          </p:cNvSpPr>
          <p:nvPr/>
        </p:nvSpPr>
        <p:spPr>
          <a:xfrm>
            <a:off x="694944" y="3072384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dirty="0" err="1">
                <a:solidFill>
                  <a:srgbClr val="D8CFEA"/>
                </a:solidFill>
                <a:latin typeface="Inter"/>
                <a:ea typeface="Inter"/>
                <a:cs typeface="Inter"/>
              </a:rPr>
              <a:t>Intención</a:t>
            </a:r>
            <a:r>
              <a:rPr dirty="0">
                <a:solidFill>
                  <a:srgbClr val="D8CFEA"/>
                </a:solidFill>
                <a:latin typeface="Inter"/>
                <a:ea typeface="Inter"/>
                <a:cs typeface="Inter"/>
              </a:rPr>
              <a:t> </a:t>
            </a:r>
            <a:r>
              <a:rPr dirty="0" err="1">
                <a:solidFill>
                  <a:srgbClr val="D8CFEA"/>
                </a:solidFill>
                <a:latin typeface="Inter"/>
                <a:ea typeface="Inter"/>
                <a:cs typeface="Inter"/>
              </a:rPr>
              <a:t>explícita</a:t>
            </a:r>
            <a:r>
              <a:rPr dirty="0">
                <a:solidFill>
                  <a:srgbClr val="D8CFEA"/>
                </a:solidFill>
                <a:latin typeface="Inter"/>
                <a:ea typeface="Inter"/>
                <a:cs typeface="Inter"/>
              </a:rPr>
              <a:t>. Slices </a:t>
            </a:r>
            <a:r>
              <a:rPr dirty="0" err="1">
                <a:solidFill>
                  <a:srgbClr val="D8CFEA"/>
                </a:solidFill>
                <a:latin typeface="Inter"/>
                <a:ea typeface="Inter"/>
                <a:cs typeface="Inter"/>
              </a:rPr>
              <a:t>pequeños</a:t>
            </a:r>
            <a:r>
              <a:rPr dirty="0">
                <a:solidFill>
                  <a:srgbClr val="D8CFEA"/>
                </a:solidFill>
                <a:latin typeface="Inter"/>
                <a:ea typeface="Inter"/>
                <a:cs typeface="Inter"/>
              </a:rPr>
              <a:t>. Loops </a:t>
            </a:r>
            <a:r>
              <a:rPr dirty="0" err="1">
                <a:solidFill>
                  <a:srgbClr val="D8CFEA"/>
                </a:solidFill>
                <a:latin typeface="Inter"/>
                <a:ea typeface="Inter"/>
                <a:cs typeface="Inter"/>
              </a:rPr>
              <a:t>cerrados</a:t>
            </a:r>
            <a:r>
              <a:rPr dirty="0">
                <a:solidFill>
                  <a:srgbClr val="D8CFEA"/>
                </a:solidFill>
                <a:latin typeface="Inter"/>
                <a:ea typeface="Inter"/>
                <a:cs typeface="Inter"/>
              </a:rPr>
              <a:t>.</a:t>
            </a:r>
            <a:endParaRPr dirty="0"/>
          </a:p>
        </p:txBody>
      </p:sp>
      <p:pic>
        <p:nvPicPr>
          <p:cNvPr id="30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6172"/>
            <a:ext cx="4151376" cy="4151376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F4517B7-1930-416E-8BF2-373DAAD801D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7" y="6490252"/>
            <a:ext cx="315668" cy="203156"/>
          </a:xfrm>
          <a:prstGeom prst="rect">
            <a:avLst/>
          </a:prstGeom>
        </p:spPr>
        <p:txBody>
          <a:bodyPr/>
          <a:lstStyle>
            <a:lvl1pPr marL="0" algn="l" defTabSz="914400">
              <a:buNone/>
              <a:defRPr sz="800" kern="12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fld id="{844E025A-983C-6D44-79C6-4612AACD43FC}" type="slidenum">
              <a:rPr/>
              <a:t>24</a:t>
            </a:fld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349" y="432161"/>
            <a:ext cx="713798" cy="59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82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3495</Words>
  <Application>Microsoft Office PowerPoint</Application>
  <DocSecurity>0</DocSecurity>
  <PresentationFormat>Panorámica</PresentationFormat>
  <Paragraphs>606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Inter</vt:lpstr>
      <vt:lpstr>Inter Display</vt:lpstr>
      <vt:lpstr>Symbol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Alejandro Torres</cp:lastModifiedBy>
  <cp:revision>16</cp:revision>
  <dcterms:created xsi:type="dcterms:W3CDTF">2026-09-08T13:16:15Z</dcterms:created>
  <dcterms:modified xsi:type="dcterms:W3CDTF">2026-09-10T23:54:09Z</dcterms:modified>
</cp:coreProperties>
</file>