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docs/manuals/gu-os-experience-architecture.md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/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docs/manuals/architecture-manual.md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docs/manuals/gu-os-experience-architecture.md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docs/manuals/gu-os-experience-architecture.md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docs/operational-cases/architecture.md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docs/roadmap/gu-os-evolution-roadmap.md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docs/operational-cases/architecture.md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docs/product/initiatives/relationship-operations/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docs/manuals/gu-os-experience-architecture.md</a:t>
            </a:r>
          </a:p>
          <a:p>
            <a:r>
              <a:t>- docs/principles/gu-os-principles-and-design-doctrine.md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docs/brain/business-and-platform-brain-boundary.md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docs/README.md</a:t>
            </a:r>
          </a:p>
          <a:p>
            <a:r>
              <a:t>- docs/roadmap/gu-os-evolution-roadmap.md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8E565C02-9957-473D-BEB7-88F64553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DFE3C57-5C36-42CE-8AB3-CDF849C6EC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89C5E31-94D2-4981-83E8-B7837F4E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945E6AC-9B1B-4840-9EB5-31B55865B10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908DEE-C351-4DF7-8A97-DD3F8AFB40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7A50AE-6992-4800-AF38-FEF0F410B3E1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1B6E31-CF7C-4536-962F-E9FE55A7BB58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F04D0F6-4231-41D7-9B03-E5D98F2E03B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31F60-77E9-4EA4-898D-525F7C8B93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C24C1-F49F-444D-A9C1-6DAC517E19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48D10-A1EE-4E54-81B2-00E7973058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1E059B-5D89-4C2F-85D3-F172B82EE2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B3DFBC-1EDC-40A3-AB5E-8FFAB711C184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5916FF-7B68-4B00-8FFE-AA7D49C7FD19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3E99DA-3665-414E-8136-D4DCED67EB57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0CF514-CC77-421E-B18F-9D23D5E7E2FB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B43C01-9012-4D9D-80AD-AAE6BBFC4C81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6BDB945-C654-4497-9711-67141FA23DA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Dentro de Gu OS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Arquitectura y modelo operativo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5943240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CFC3F4"/>
                </a:solidFill>
                <a:latin typeface="Aptos"/>
                <a:ea typeface="Aptos"/>
                <a:cs typeface="Aptos"/>
              </a:rPr>
              <a:t>Sesión 3 · De la experiencia al runtime y los resultados</a:t>
            </a:r>
            <a:endParaRPr sz="19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300939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2" y="5188987"/>
            <a:ext cx="5886382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Objetivo: entender los subsistemas de Gu OS, sus relaciones, las raíces durables y la diferencia entre current, target y vision.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F2508170-6902-4679-8A92-266306B2AE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7332D3D-3EE4-41CF-BDC3-AAB035F9196C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CÓMO USAR ESTE DEEP DIVE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82CF6AB2-B398-47B9-9E69-9055E2D15EA2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No es un inventario de servicios. Es un recorrido causal desde la experiencia hasta el resultado.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42D46DB0-46EA-487E-99C7-4D66B2D10DBE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433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Usaremos tres zooms: mapa del sistema, responsabilidades de cada subsistema y un caso operativo completo.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B6DB45B-D0B2-42E0-8E49-818BD32C23F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A5E0EC3E-D744-45B1-8E5E-CFB6149E736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E031F503-036F-4D77-89B1-9E42D837BB4F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59491718-31D8-4F8B-9BF5-35E181B13AF5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Mapa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A2B71149-88D1-4535-B7D3-AA441C48216A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69DEF6B1-0971-44A7-BC01-88ECBDF91B0A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7411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Dónde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vive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9841991-2A88-4DF9-B8F2-98499172397D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Experience, Brain, Kernel, Work, Trust, External Systems y Outcomes.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00497F1A-2942-439D-BDFC-65738128E117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9865C3E-B231-42DD-AEAA-2F09EEDB235A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Relaciones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9F8408F2-A2D8-46AA-8B6B-3F90DC47CBFE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información, autoridad y evidencia cruza cada frontera.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F3CE728F-1C33-4920-8BE5-B14173E4C940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B6D89AED-2573-44FE-9C82-3EE800462790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C6823D01-F790-4B97-8DC3-11740302C7BB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existe hoy, qué está aprobado y qué sigue siendo visión.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A78C666-AD8B-4E72-9E5F-D0B47DF7A20A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PREVIO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28C99166-A2FA-44FE-8A51-A2FCDB45AF47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2C395589-3324-40FD-99A6-ED1A4509FC3E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 1: tesis de Gu 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802F9BCD-8B7E-4A1E-9A54-8E54C1BFA9F6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4496AE81-EA61-4B4F-B862-6EE557BB1C82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 2: sistema agéntico.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2184DF60-5F5E-49CC-9D16-950351136A20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2177604C-F596-462F-B009-0635542C399A}"/>
              </a:ext>
            </a:extLst>
          </p:cNvPr>
          <p:cNvSpPr>
            <a:spLocks noGrp="1"/>
          </p:cNvSpPr>
          <p:nvPr/>
        </p:nvSpPr>
        <p:spPr>
          <a:xfrm>
            <a:off x="896040" y="563595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3641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Lectura: Architecture Guide v0.2; runtime queda para Session 3B.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B84384E7-F892-4AD2-8B57-53CDF96FF0AB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RESULTADO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96E59D21-6A68-4A3B-8390-C31851542D49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EB64CAC7-8CA6-4FA1-BD44-6D162BD5CD2B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 mapa compartido.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0EABC60E-F0C6-4B15-9BD9-A4E4C296277D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D3CD3330-586D-41D6-9AF8-96E1E83C7AC5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Límites explícitos.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AC19D197-C0A2-4F85-BAF0-C3A05D996A96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C37D8BC6-F1DA-4C11-8F32-1AD72A567A0D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Preguntas verificables.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0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TRES ZOOMS PARA ENTENDER GU 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 zoom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pregunta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distinta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mezclarlos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hace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producto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arquitectura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código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parezcan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mismo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recorrido de hoy baja de responsabilidades sistémicas a un caso verificable.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SISTEMA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960120" y="3124984"/>
            <a:ext cx="2925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responsabilidades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existen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?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Capas, límites, fuentes de verdad y flujos de autoridad.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SUBSISTEMA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8673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colabora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parte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?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Contratos, estado, datos, tools, eventos, verificación y fallos.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CASO OPERATIVO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28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se produce valor?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Una responsabilidad de negocio avanza de intención a evidencia y aprendizaje.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Arquitectura útil = responsabilidades + relaciones + evidencia.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 END-TO-END · CURRENT Y TARGET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6446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convierte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intención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durable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resultado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alimenta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siguiente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6556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experiencia nunca sustituye al estado operacional y el razonamiento nunca sustituye a la autoridad.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4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Outcomes + Brain target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Registra evidencia, impacto, señales y conocimiento reutilizable.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579030" y="2894243"/>
            <a:ext cx="1719329" cy="597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+ Trust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Mantiene estado, aplica políticas, espera, reintenta y verifica.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Intelligence + Kernel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Compila contexto, razona, planea y selecciona capabilities.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31595" y="2288630"/>
            <a:ext cx="1578537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Experience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Capta intención, muestra contexto y solicita participación.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informa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propone / ejecuta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gobierna / mide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44814"/>
            <a:ext cx="2651194" cy="726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Cases, tasks, policies</a:t>
            </a: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28553"/>
            <a:ext cx="240165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 + harness + tools</a:t>
            </a: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Canales y vistas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contextuales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51112"/>
            <a:ext cx="2951667" cy="750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Impact, memory, learning</a:t>
            </a: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1" y="5823380"/>
            <a:ext cx="5638872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291317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El loop se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cierra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sólo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cuando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el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cambia la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siguiente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decisión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A817DA4F-DB1F-4053-8754-F1D4CFDFC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7A90F06F-2B18-4F68-83FF-5EC5338288D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EXPERIENCE ARCHITECTURE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678D4C66-B876-4799-9FF3-08BA655BB48B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sol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Gu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aparecer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múltiples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superficies sin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fragmentar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identidad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ni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8C7BB146-C019-4B5C-BB80-951AE18FFCC7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superficie muestra una vista del mismo trabajo durable y compila el contexto apropiado para esa interacción.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F082754F-15EE-42BE-818B-70F500D15DB8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B0317141-05F2-47B8-AA47-FBD598A3BC3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0020EC90-31BF-4CF9-8A71-CA1023D5AA2D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930EB09-226A-450A-9E4C-F54D7D8C5653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5760E981-6E5A-4F82-A1A6-543A31B0AFF2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SUPERFICIES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BB5316A1-3DFB-4503-BE20-86C920064540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Dónde participa la persona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6E399C0-E999-44EE-AD43-426E8EBB52A7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Conversación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Studio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Notificaciones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Aprobaciones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Vistas de Case y trabajo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88B1376-0D18-4AAC-BC41-4ECCC3371078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01868E28-8CAA-43E2-A1B1-92F80D054765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CONTINUIDAD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C4A0F452-F334-4083-9D93-86309AEE149D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debe permanecer igual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D072C582-6D94-4523-B346-31E50CB8524A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Identidad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y 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Siguiente acción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F01AA34F-99D4-4761-9702-3B8AE79A1B5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C2DEDAEE-D9BB-401A-B51B-E22ABE657A4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C0E9B66A-0E3A-455B-8D5D-6DE00B5876BE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>
                <a:solidFill>
                  <a:srgbClr val="5F2CCB"/>
                </a:solidFill>
              </a:rPr>
              <a:t>La </a:t>
            </a:r>
            <a:r>
              <a:rPr sz="1600" b="1" dirty="0" err="1">
                <a:solidFill>
                  <a:srgbClr val="5F2CCB"/>
                </a:solidFill>
              </a:rPr>
              <a:t>conversación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guía</a:t>
            </a:r>
            <a:r>
              <a:rPr sz="1600" b="1" dirty="0">
                <a:solidFill>
                  <a:srgbClr val="5F2CCB"/>
                </a:solidFill>
              </a:rPr>
              <a:t>; Gu OS </a:t>
            </a:r>
            <a:r>
              <a:rPr sz="1600" b="1" dirty="0" err="1">
                <a:solidFill>
                  <a:srgbClr val="5F2CCB"/>
                </a:solidFill>
              </a:rPr>
              <a:t>conserva</a:t>
            </a:r>
            <a:r>
              <a:rPr sz="1600" b="1" dirty="0">
                <a:solidFill>
                  <a:srgbClr val="5F2CCB"/>
                </a:solidFill>
              </a:rPr>
              <a:t> la </a:t>
            </a:r>
            <a:r>
              <a:rPr sz="1600" b="1" dirty="0" err="1">
                <a:solidFill>
                  <a:srgbClr val="5F2CCB"/>
                </a:solidFill>
              </a:rPr>
              <a:t>verdad</a:t>
            </a:r>
            <a:r>
              <a:rPr sz="1600" b="1" dirty="0">
                <a:solidFill>
                  <a:srgbClr val="5F2CCB"/>
                </a:solidFill>
              </a:rPr>
              <a:t> durable.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proyectan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69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CROSS-CHANNEL NO ES COPIAR HISTORIAL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Continuidad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significa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reconstruir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situación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correcta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canal, no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repetir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toda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conversación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sistema decide qué mostrar, qué ocultar y qué acción es apropiada para la superficie.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IDENTIDAD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Quién participa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Persona, organización, rol, relación y bindings externos.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SITUACIÓN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importa ahora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Objetivo, estado, bloqueos, evidencia y decisiones relevantes.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AFFORDANCE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puede hacerse aquí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Responder, aprobar, aportar, revisar, observar o retomar.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 Gu;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múltiples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vistas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contextuales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del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mismo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trabajo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472D9C23-ECBC-468A-B9D4-8D9D61D97F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2EB80E64-26A0-4FF4-B0B4-84A712B9786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INTELLIGENCE &amp; KNOWLEDGE COMPILA CONTEXTO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14D48756-81F6-4D1A-B8C4-F7D9FA321D78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 trabajo no es almacenar todo en un vector database; es entregar evidencia útil, autorizada y explicable al momento correcto.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36223886-4B72-4F1B-BE55-7A5C3CDA02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95408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Combina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memoria personal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operacional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i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retrieval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contexto de cuenta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i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target Brain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política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BCFED5-BEA4-4799-8A1A-531AB08B75F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EF5DF071-16B4-457F-A6BB-D133EB955A2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0CBE0D8-972D-4A6F-8647-0C399F5C810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43020682-F9A0-4A9D-9575-109025E22FAD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6DBF4E1A-003C-44D0-8161-A4731CCCACF0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ENTRADAS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35323983-30BE-4138-8CDD-51EA44EFE9F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Señales con procedencia: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10679477-166C-41E1-94EE-00D337E2702D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operacional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Interacciones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Artefactos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Relaciones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Conocimiento externo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B2290763-F10F-44C2-9E83-D3F8B4616970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C10289C6-D218-4E13-A8D9-AA643DDB28D6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SALIDAS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880D5D3-95B4-45A6-9DDA-B3401343A2F9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 listo para decidir: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2050C298-2CB1-41BD-999D-45537D24FABE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Evidencia recuperada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Resumen situacional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Señales derivadas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Instrucciones/políticas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Citas y límites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4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TIPOS DE MEMORIA · MARCO CONCEPTUAL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Persistir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basta: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memoria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necesita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propósito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procedencia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scope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autoridad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En Gu OS, los tres tipos existen en memoria personal; el alcance organizacional es target.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EPISÓDICA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Historia observable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pasó, cuándo, con quién y con qué resultado.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SEMÁNTICA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Conocimiento mantenido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Hechos, entidades, relaciones y señales derivadas.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PROCEDURAL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Maneras de operar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Marco general: skills y playbooks. Memoria personal: preferencias de colaboración.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No todo lo recordado debe convertirse en verdad autorizada.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472D9C23-ECBC-468A-B9D4-8D9D61D97F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2EB80E64-26A0-4FF4-B0B4-84A712B9786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RETRIEVAL CONSTRUYE EVIDENCIA, NO RESPUESTAS MÁGICAS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14D48756-81F6-4D1A-B8C4-F7D9FA321D78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Embeddings generan candidatos; la política de recuperación decide cuáles merecen entrar al contexto.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36223886-4B72-4F1B-BE55-7A5C3CDA02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Diseño target: contexto scoped y gobernado. Retrieval personal actual: detalle en Session 3B.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BCFED5-BEA4-4799-8A1A-531AB08B75F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EF5DF071-16B4-457F-A6BB-D133EB955A2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0CBE0D8-972D-4A6F-8647-0C399F5C810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9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43020682-F9A0-4A9D-9575-109025E22FAD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6DBF4E1A-003C-44D0-8161-A4731CCCACF0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BUSCAR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35323983-30BE-4138-8CDD-51EA44EFE9F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Encontrar candidatos: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10679477-166C-41E1-94EE-00D337E2702D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Embeddings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Texto/keyword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Relaciones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Filtros estructurados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Eventos recientes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B2290763-F10F-44C2-9E83-D3F8B4616970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C10289C6-D218-4E13-A8D9-AA643DDB28D6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COMPILAR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880D5D3-95B4-45A6-9DDA-B3401343A2F9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Construir contexto: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2050C298-2CB1-41BD-999D-45537D24FABE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Filtrar y rerankear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Resolver conflictos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Resumir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Citar procedencia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Aplicar permisos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Controlar tokens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4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BUSINESS BRAIN ES UNA CAPA TARGET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función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target es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convertir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señales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cross-Case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autorizadas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conocimiento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organizacional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reutilizable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No posee el runtime de agentes ni reemplaza las fuentes de verdad operacional.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10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OBSERVA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Recibe señales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Casos, interacciones, artefactos, resultados, feedback y relaciones.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DERIVA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Construye conocimiento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Entidades, señales, patrones, contexto y explicaciones con procedencia.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APLICA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Mejora decisiones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 compilado, recomendaciones, routing y aprendizaje organizacional.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1517515" y="5730953"/>
            <a:ext cx="9358008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1760706" y="5868472"/>
            <a:ext cx="8913779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Memoria personal 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 </a:t>
            </a: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contexto de cuenta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existen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hoy; </a:t>
            </a: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 enfoque amplio de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Business Brain </a:t>
            </a:r>
            <a:r>
              <a:rPr sz="1600"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sigue</a:t>
            </a: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siendo target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CUATRO RAÍCES DURABLES, CUATRO PREGUNTAS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1582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0867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Cases, Work, Durable Tasks e Impact no son nombres intercambiables.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1692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raíz mantiene una dimensión distinta del trabajo y permite evolución sin convertir todo en un mega-objeto.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Impact Plane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resultado, evidencia o cambio produjo el trabajo?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579030" y="2894243"/>
            <a:ext cx="1719329" cy="597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Durable Task Runtime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ejecución puede esperar, reintentar o recuperarse?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Plane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trabajo debe avanzar y en qué estado está?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31595" y="2288630"/>
            <a:ext cx="1578537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responsabilidad operacional perseguimos?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da propósito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coordina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mide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35085"/>
            <a:ext cx="265119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Leases, attempts, recovery</a:t>
            </a: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28553"/>
            <a:ext cx="240165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Ítems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dependencias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asignación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políticas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41384"/>
            <a:ext cx="2951667" cy="8228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</a:t>
            </a:r>
            <a:r>
              <a:rPr lang="es-MX"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ia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m</a:t>
            </a:r>
            <a:r>
              <a:rPr lang="es-MX"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é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tric</a:t>
            </a:r>
            <a:r>
              <a:rPr lang="es-MX"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a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s, </a:t>
            </a:r>
            <a:r>
              <a:rPr lang="es-MX"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resultados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1" y="5823380"/>
            <a:ext cx="5638872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276247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Separar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raíces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aclara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lifecycle, ownership y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verificación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A817DA4F-DB1F-4053-8754-F1D4CFDFC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7A90F06F-2B18-4F68-83FF-5EC5338288D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CASES SON CONTENEDORES OPERACIONALES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678D4C66-B876-4799-9FF3-08BA655BB48B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Case da identidad y continuidad a una responsabilidad de negocio; no es sólo un chat ni un workflow.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8C7BB146-C019-4B5C-BB80-951AE18FFCC7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Su </a:t>
            </a:r>
            <a:r>
              <a:rPr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tipo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define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semántica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su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instancia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conserva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políticas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finalización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F082754F-15EE-42BE-818B-70F500D15DB8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B0317141-05F2-47B8-AA47-FBD598A3BC3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0020EC90-31BF-4CF9-8A71-CA1023D5AA2D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930EB09-226A-450A-9E4C-F54D7D8C5653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5760E981-6E5A-4F82-A1A6-543A31B0AFF2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DEFINI</a:t>
            </a:r>
            <a:r>
              <a:rPr lang="es-MX"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CIÓN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BB5316A1-3DFB-4503-BE20-86C920064540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clase de responsabilidad 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6E399C0-E999-44EE-AD43-426E8EBB52A7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Schema y semántica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Estados permitidos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Policies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Criterios de éxito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Capacidades aplicables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88B1376-0D18-4AAC-BC41-4ECCC3371078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01868E28-8CAA-43E2-A1B1-92F80D054765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INSTANC</a:t>
            </a:r>
            <a:r>
              <a:rPr lang="es-MX"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IA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C4A0F452-F334-4083-9D93-86309AEE149D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está ocurriendo ahora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D072C582-6D94-4523-B346-31E50CB8524A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concreto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 items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F01AA34F-99D4-4761-9702-3B8AE79A1B5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C2DEDAEE-D9BB-401A-B51B-E22ABE657A4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C0E9B66A-0E3A-455B-8D5D-6DE00B5876BE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>
                <a:solidFill>
                  <a:srgbClr val="5F2CCB"/>
                </a:solidFill>
              </a:rPr>
              <a:t>El Case organiza la responsabilidad; no necesita contener toda la ejecución.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instancia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69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A817DA4F-DB1F-4053-8754-F1D4CFDFC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7A90F06F-2B18-4F68-83FF-5EC5338288D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WORK Y DURABLE TASKS SE COMPLEMENTAN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678D4C66-B876-4799-9FF3-08BA655BB48B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representa la coordinación operacional; Durable Tasks asegura la ejecución recuperable.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8C7BB146-C019-4B5C-BB80-951AE18FFCC7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Una tarea runtime no debe convertirse en la fuente de verdad del objetivo de negocio.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F082754F-15EE-42BE-818B-70F500D15DB8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B0317141-05F2-47B8-AA47-FBD598A3BC3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0020EC90-31BF-4CF9-8A71-CA1023D5AA2D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930EB09-226A-450A-9E4C-F54D7D8C5653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5760E981-6E5A-4F82-A1A6-543A31B0AFF2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WORK PLANE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BB5316A1-3DFB-4503-BE20-86C920064540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Coordinación visible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6E399C0-E999-44EE-AD43-426E8EBB52A7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961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 items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Asignación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Bloqueos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Participación humana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 requirements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88B1376-0D18-4AAC-BC41-4ECCC3371078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01868E28-8CAA-43E2-A1B1-92F80D054765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DURABLE TASK RUNTIME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C4A0F452-F334-4083-9D93-86309AEE149D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Ejecución recuperable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D072C582-6D94-4523-B346-31E50CB8524A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Attempts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Leases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Retries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Wait/resume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Idempotency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Failure handling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F01AA34F-99D4-4761-9702-3B8AE79A1B5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C2DEDAEE-D9BB-401A-B51B-E22ABE657A4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C0E9B66A-0E3A-455B-8D5D-6DE00B5876BE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>
                <a:solidFill>
                  <a:srgbClr val="5F2CCB"/>
                </a:solidFill>
              </a:rPr>
              <a:t>Work coordina; el runtime aporta mecanismos de recuperación.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63447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 ejecuta mediante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69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WORKFLOWS, ROUTINES Y LOOPS NO SON SINÓNIMOS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difieren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disparador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horizonte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adaptación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arquitectura debe elegir la abstracción mínima que preserve responsabilidad y control.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WORKFLOW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433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Secuencia para un objetivo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Pasos, dependencias, ramas, esperas y criterios de finalización.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ROUTINE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64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 recurrente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Cadencia, políticas, señales y ejecución repetible.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LOOP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Feedback continuo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Observar → decidir → actuar → medir → actualizar el siguiente ciclo.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Dynamic significa adaptación dentro de límites.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CAPABILITIES SEPARAN INTENCIÓN DE PROVEEDOR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pide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selecciona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ejecutarla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según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política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disponibilidad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OWN u ORCHESTRATE es una decisión de frontera, no una diferencia para la responsabilidad del usuario.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CAPABILITY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8698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resultado se necesita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Nombre estable, inputs/outputs, permisos, evidencia y semántica.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EXECUTOR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 se realiza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Skill, tool, servicio, agente especializado o humano como ejecutor.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POLICY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Cuándo y con qué límites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Selección, fallback, autoridad, costo, riesgo y verificación.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capability debe sobrevivir a la sustitución del proveedor.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07D394-2EA9-4028-8652-4051DF5F9C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2BD9"/>
          </a:solidFill>
          <a:ln w="12700">
            <a:solidFill>
              <a:srgbClr val="5C2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3FCA4C-8064-4968-9CF5-8B5A5B0214DC}"/>
              </a:ext>
            </a:extLst>
          </p:cNvPr>
          <p:cNvSpPr>
            <a:spLocks noGrp="1"/>
          </p:cNvSpPr>
          <p:nvPr/>
        </p:nvSpPr>
        <p:spPr>
          <a:xfrm>
            <a:off x="429768" y="6565392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50" b="1">
                <a:solidFill>
                  <a:srgbClr val="8B849D"/>
                </a:solidFill>
                <a:latin typeface="Aptos"/>
                <a:ea typeface="Aptos"/>
                <a:cs typeface="Aptos"/>
              </a:rPr>
              <a:t>CONFIDENTIAL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FD0953-0F53-4A42-AB4F-093F6DBFD8C8}"/>
              </a:ext>
            </a:extLst>
          </p:cNvPr>
          <p:cNvSpPr>
            <a:spLocks noGrp="1"/>
          </p:cNvSpPr>
          <p:nvPr/>
        </p:nvSpPr>
        <p:spPr>
          <a:xfrm>
            <a:off x="11155680" y="6565392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650">
                <a:solidFill>
                  <a:srgbClr val="8B849D"/>
                </a:solidFill>
                <a:latin typeface="Aptos"/>
                <a:ea typeface="Aptos"/>
                <a:cs typeface="Aptos"/>
              </a:rPr>
              <a:t>ungga.com</a:t>
            </a:r>
            <a:endParaRPr sz="6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D65D2C-5B94-409F-8E85-94085BE527CF}"/>
              </a:ext>
            </a:extLst>
          </p:cNvPr>
          <p:cNvSpPr>
            <a:spLocks noGrp="1"/>
          </p:cNvSpPr>
          <p:nvPr/>
        </p:nvSpPr>
        <p:spPr>
          <a:xfrm>
            <a:off x="11823192" y="6565392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650">
                <a:solidFill>
                  <a:srgbClr val="8B849D"/>
                </a:solidFill>
                <a:latin typeface="Aptos"/>
                <a:ea typeface="Aptos"/>
                <a:cs typeface="Aptos"/>
              </a:rPr>
              <a:t>16</a:t>
            </a:r>
            <a:endParaRPr sz="6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0EFCE3-A3A8-4EEB-99ED-F7BBA65A5D43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AUTORIDAD Y PARTICIPACIÓN HUMANA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5F250C-9CC3-401E-A391-5014D93CA7D7}"/>
              </a:ext>
            </a:extLst>
          </p:cNvPr>
          <p:cNvSpPr>
            <a:spLocks noGrp="1"/>
          </p:cNvSpPr>
          <p:nvPr/>
        </p:nvSpPr>
        <p:spPr>
          <a:xfrm>
            <a:off x="566928" y="9144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1126"/>
                </a:solidFill>
                <a:latin typeface="Aptos Display"/>
                <a:ea typeface="Aptos Display"/>
                <a:cs typeface="Aptos Display"/>
              </a:rPr>
              <a:t>Gu OS distingue por qué se necesita una persona y cómo participa.</a:t>
            </a:r>
            <a:endParaRPr sz="2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A63F67-79E6-49F2-9089-E77B3878EA72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>
                <a:solidFill>
                  <a:srgbClr val="6F6886"/>
                </a:solidFill>
                <a:latin typeface="Aptos"/>
                <a:ea typeface="Aptos"/>
                <a:cs typeface="Aptos"/>
              </a:rPr>
              <a:t>El diseño evita tanto la aprobación constante como la autonomía sin límites.</a:t>
            </a:r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CB45D0-3E9B-4BFB-A492-4877C9DCC648}"/>
              </a:ext>
            </a:extLst>
          </p:cNvPr>
          <p:cNvSpPr>
            <a:spLocks noGrp="1"/>
          </p:cNvSpPr>
          <p:nvPr/>
        </p:nvSpPr>
        <p:spPr>
          <a:xfrm>
            <a:off x="667512" y="2487168"/>
            <a:ext cx="10863072" cy="502920"/>
          </a:xfrm>
          <a:prstGeom prst="rect">
            <a:avLst/>
          </a:prstGeom>
          <a:solidFill>
            <a:srgbClr val="E7F7EF"/>
          </a:solidFill>
          <a:ln w="12700">
            <a:solidFill>
              <a:srgbClr val="008C5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80" b="1">
                <a:solidFill>
                  <a:srgbClr val="008C51"/>
                </a:solidFill>
                <a:latin typeface="Aptos"/>
                <a:ea typeface="Aptos"/>
                <a:cs typeface="Aptos"/>
              </a:rPr>
              <a:t>SIN PARTICIPACIÓN</a:t>
            </a:r>
            <a:endParaRPr sz="1280"/>
          </a:p>
          <a:p>
            <a:pPr marL="0" indent="0" algn="ctr">
              <a:buNone/>
            </a:pPr>
            <a:r>
              <a:rPr sz="1280">
                <a:solidFill>
                  <a:srgbClr val="6F6886"/>
                </a:solidFill>
                <a:latin typeface="Aptos"/>
                <a:ea typeface="Aptos"/>
                <a:cs typeface="Aptos"/>
              </a:rPr>
              <a:t>Gu ejecuta cuando políticas, permisos, reversibilidad y evidencia lo permiten.</a:t>
            </a:r>
            <a:endParaRPr sz="128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175AF3-F557-40C0-994F-AD93244BEE9F}"/>
              </a:ext>
            </a:extLst>
          </p:cNvPr>
          <p:cNvSpPr>
            <a:spLocks noGrp="1"/>
          </p:cNvSpPr>
          <p:nvPr/>
        </p:nvSpPr>
        <p:spPr>
          <a:xfrm>
            <a:off x="658368" y="3163824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QUÉ SE NECESITA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EFD848-4C4F-47E8-A8CF-606A7BE615A4}"/>
              </a:ext>
            </a:extLst>
          </p:cNvPr>
          <p:cNvSpPr>
            <a:spLocks noGrp="1"/>
          </p:cNvSpPr>
          <p:nvPr/>
        </p:nvSpPr>
        <p:spPr>
          <a:xfrm>
            <a:off x="6588202" y="3163824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MODO DE PARTICIPACIÓN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96F0A8-E334-4A01-AB52-C1DC5656EB2D}"/>
              </a:ext>
            </a:extLst>
          </p:cNvPr>
          <p:cNvSpPr>
            <a:spLocks noGrp="1"/>
          </p:cNvSpPr>
          <p:nvPr/>
        </p:nvSpPr>
        <p:spPr>
          <a:xfrm>
            <a:off x="658368" y="3429000"/>
            <a:ext cx="2615184" cy="1033272"/>
          </a:xfrm>
          <a:prstGeom prst="rect">
            <a:avLst/>
          </a:prstGeom>
          <a:solidFill>
            <a:srgbClr val="F6F1FF"/>
          </a:solidFill>
          <a:ln w="13970">
            <a:solidFill>
              <a:srgbClr val="5C2BD9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 lnSpcReduction="20000"/>
          </a:bodyPr>
          <a:lstStyle/>
          <a:p>
            <a:pPr marL="0" indent="0">
              <a:buNone/>
            </a:pPr>
            <a:r>
              <a:rPr sz="125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A. AUTORIZACIÓN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¿Puede ejecutarse este efecto?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publicar · enviar · comprometer</a:t>
            </a:r>
            <a:endParaRPr sz="12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54579A-FE80-4698-A6CE-19F619A4D511}"/>
              </a:ext>
            </a:extLst>
          </p:cNvPr>
          <p:cNvSpPr>
            <a:spLocks noGrp="1"/>
          </p:cNvSpPr>
          <p:nvPr/>
        </p:nvSpPr>
        <p:spPr>
          <a:xfrm>
            <a:off x="3493008" y="3429000"/>
            <a:ext cx="2615184" cy="1033272"/>
          </a:xfrm>
          <a:prstGeom prst="rect">
            <a:avLst/>
          </a:prstGeom>
          <a:solidFill>
            <a:srgbClr val="FFF2DF"/>
          </a:solidFill>
          <a:ln w="13970">
            <a:solidFill>
              <a:srgbClr val="F28A16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 lnSpcReduction="20000"/>
          </a:bodyPr>
          <a:lstStyle/>
          <a:p>
            <a:pPr marL="0" indent="0">
              <a:buNone/>
            </a:pPr>
            <a:r>
              <a:rPr sz="1250" b="1">
                <a:solidFill>
                  <a:srgbClr val="F28A16"/>
                </a:solidFill>
                <a:latin typeface="Aptos"/>
                <a:ea typeface="Aptos"/>
                <a:cs typeface="Aptos"/>
              </a:rPr>
              <a:t>B. DECISIÓN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¿Qué resultado o excepción se elige?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precio · contrato · estrategia</a:t>
            </a:r>
            <a:endParaRPr sz="12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BD8BDE-B487-4008-9932-8C9AE11C416B}"/>
              </a:ext>
            </a:extLst>
          </p:cNvPr>
          <p:cNvSpPr>
            <a:spLocks noGrp="1"/>
          </p:cNvSpPr>
          <p:nvPr/>
        </p:nvSpPr>
        <p:spPr>
          <a:xfrm>
            <a:off x="658368" y="4617720"/>
            <a:ext cx="2615184" cy="1033272"/>
          </a:xfrm>
          <a:prstGeom prst="rect">
            <a:avLst/>
          </a:prstGeom>
          <a:solidFill>
            <a:srgbClr val="EEF2F7"/>
          </a:solidFill>
          <a:ln w="13970">
            <a:solidFill>
              <a:srgbClr val="485879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 lnSpcReduction="20000"/>
          </a:bodyPr>
          <a:lstStyle/>
          <a:p>
            <a:pPr marL="0" indent="0">
              <a:buNone/>
            </a:pPr>
            <a:r>
              <a:rPr sz="1250" b="1">
                <a:solidFill>
                  <a:srgbClr val="485879"/>
                </a:solidFill>
                <a:latin typeface="Aptos"/>
                <a:ea typeface="Aptos"/>
                <a:cs typeface="Aptos"/>
              </a:rPr>
              <a:t>C. CONTRIBUCIÓN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¿Qué dato o acción falta?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documentos · fotos · OTP</a:t>
            </a:r>
            <a:endParaRPr sz="12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20EBB86-5443-4C21-8A31-5783AF07CBD5}"/>
              </a:ext>
            </a:extLst>
          </p:cNvPr>
          <p:cNvSpPr>
            <a:spLocks noGrp="1"/>
          </p:cNvSpPr>
          <p:nvPr/>
        </p:nvSpPr>
        <p:spPr>
          <a:xfrm>
            <a:off x="3493008" y="4617720"/>
            <a:ext cx="2615184" cy="1033272"/>
          </a:xfrm>
          <a:prstGeom prst="rect">
            <a:avLst/>
          </a:prstGeom>
          <a:solidFill>
            <a:srgbClr val="F8EAF1"/>
          </a:solidFill>
          <a:ln w="13970">
            <a:solidFill>
              <a:srgbClr val="B24779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 lnSpcReduction="20000"/>
          </a:bodyPr>
          <a:lstStyle/>
          <a:p>
            <a:pPr marL="0" indent="0">
              <a:buNone/>
            </a:pPr>
            <a:r>
              <a:rPr sz="125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D. REVISIÓN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¿Cómo resolver fallo o ambigüedad?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verificación · incidente · conflicto</a:t>
            </a:r>
            <a:endParaRPr sz="12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C5478EC-A628-4076-8D45-158E16FE2252}"/>
              </a:ext>
            </a:extLst>
          </p:cNvPr>
          <p:cNvSpPr>
            <a:spLocks noGrp="1"/>
          </p:cNvSpPr>
          <p:nvPr/>
        </p:nvSpPr>
        <p:spPr>
          <a:xfrm>
            <a:off x="6328443" y="3246120"/>
            <a:ext cx="0" cy="2542032"/>
          </a:xfrm>
          <a:prstGeom prst="line">
            <a:avLst/>
          </a:prstGeom>
          <a:noFill/>
          <a:ln w="12700">
            <a:solidFill>
              <a:srgbClr val="DAD2F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2EE567C-0456-4B9C-A4C1-B0CB64D1712C}"/>
              </a:ext>
            </a:extLst>
          </p:cNvPr>
          <p:cNvSpPr>
            <a:spLocks noGrp="1"/>
          </p:cNvSpPr>
          <p:nvPr/>
        </p:nvSpPr>
        <p:spPr>
          <a:xfrm>
            <a:off x="6569914" y="3429000"/>
            <a:ext cx="1600200" cy="950976"/>
          </a:xfrm>
          <a:prstGeom prst="rect">
            <a:avLst/>
          </a:prstGeom>
          <a:solidFill>
            <a:srgbClr val="F6F1FF"/>
          </a:solidFill>
          <a:ln w="12700">
            <a:solidFill>
              <a:srgbClr val="5C2BD9"/>
            </a:solidFill>
          </a:ln>
          <a:effectLst>
            <a:outerShdw blurRad="12700" dist="50800" dir="2700000" algn="bl" rotWithShape="0">
              <a:srgbClr val="CFCAD8">
                <a:alpha val="18000"/>
              </a:srgbClr>
            </a:outerShdw>
          </a:effectLst>
        </p:spPr>
        <p:txBody>
          <a:bodyPr wrap="square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HITL bloqueante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6F6886"/>
                </a:solidFill>
                <a:latin typeface="Aptos"/>
                <a:ea typeface="Aptos"/>
                <a:cs typeface="Aptos"/>
              </a:rPr>
              <a:t>Pausa y espera una decisión.</a:t>
            </a:r>
            <a:endParaRPr sz="11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41B1A1A-4658-4D18-97FF-07CEB0681AE0}"/>
              </a:ext>
            </a:extLst>
          </p:cNvPr>
          <p:cNvSpPr>
            <a:spLocks noGrp="1"/>
          </p:cNvSpPr>
          <p:nvPr/>
        </p:nvSpPr>
        <p:spPr>
          <a:xfrm>
            <a:off x="8307274" y="3429000"/>
            <a:ext cx="1600200" cy="950976"/>
          </a:xfrm>
          <a:prstGeom prst="rect">
            <a:avLst/>
          </a:prstGeom>
          <a:solidFill>
            <a:srgbClr val="FFF2DF"/>
          </a:solidFill>
          <a:ln w="12700">
            <a:solidFill>
              <a:srgbClr val="F28A16"/>
            </a:solidFill>
          </a:ln>
          <a:effectLst>
            <a:outerShdw blurRad="12700" dist="50800" dir="2700000" algn="bl" rotWithShape="0">
              <a:srgbClr val="CFCAD8">
                <a:alpha val="18000"/>
              </a:srgbClr>
            </a:outerShdw>
          </a:effectLst>
        </p:spPr>
        <p:txBody>
          <a:bodyPr wrap="square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28A16"/>
                </a:solidFill>
                <a:latin typeface="Aptos"/>
                <a:ea typeface="Aptos"/>
                <a:cs typeface="Aptos"/>
              </a:rPr>
              <a:t>Humano como executor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6F6886"/>
                </a:solidFill>
                <a:latin typeface="Aptos"/>
                <a:ea typeface="Aptos"/>
                <a:cs typeface="Aptos"/>
              </a:rPr>
              <a:t>La persona realiza un work item.</a:t>
            </a:r>
            <a:endParaRPr sz="112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CA48981-1C5B-4BE7-81BC-98D6C70EAFE3}"/>
              </a:ext>
            </a:extLst>
          </p:cNvPr>
          <p:cNvSpPr>
            <a:spLocks noGrp="1"/>
          </p:cNvSpPr>
          <p:nvPr/>
        </p:nvSpPr>
        <p:spPr>
          <a:xfrm>
            <a:off x="10044634" y="3429000"/>
            <a:ext cx="1600200" cy="950976"/>
          </a:xfrm>
          <a:prstGeom prst="rect">
            <a:avLst/>
          </a:prstGeom>
          <a:solidFill>
            <a:srgbClr val="E7F7EF"/>
          </a:solidFill>
          <a:ln w="12700">
            <a:solidFill>
              <a:srgbClr val="008C51"/>
            </a:solidFill>
          </a:ln>
          <a:effectLst>
            <a:outerShdw blurRad="12700" dist="50800" dir="2700000" algn="bl" rotWithShape="0">
              <a:srgbClr val="CFCAD8">
                <a:alpha val="18000"/>
              </a:srgbClr>
            </a:outerShdw>
          </a:effectLst>
        </p:spPr>
        <p:txBody>
          <a:bodyPr wrap="square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8C51"/>
                </a:solidFill>
                <a:latin typeface="Aptos"/>
                <a:ea typeface="Aptos"/>
                <a:cs typeface="Aptos"/>
              </a:rPr>
              <a:t>HOTL / supervisión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6F6886"/>
                </a:solidFill>
                <a:latin typeface="Aptos"/>
                <a:ea typeface="Aptos"/>
                <a:cs typeface="Aptos"/>
              </a:rPr>
              <a:t>Observa e interviene sin bloquear cada paso.</a:t>
            </a:r>
            <a:endParaRPr sz="112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E57BF3B-8D9A-46B9-9660-B8F1945B45D0}"/>
              </a:ext>
            </a:extLst>
          </p:cNvPr>
          <p:cNvSpPr>
            <a:spLocks noGrp="1"/>
          </p:cNvSpPr>
          <p:nvPr/>
        </p:nvSpPr>
        <p:spPr>
          <a:xfrm>
            <a:off x="6569914" y="4681728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La participación se decide por riesgo y responsabilidad: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3CDA79-DD79-4761-984E-1A5E20538D0D}"/>
              </a:ext>
            </a:extLst>
          </p:cNvPr>
          <p:cNvSpPr>
            <a:spLocks noGrp="1"/>
          </p:cNvSpPr>
          <p:nvPr/>
        </p:nvSpPr>
        <p:spPr>
          <a:xfrm>
            <a:off x="6569914" y="4919472"/>
            <a:ext cx="5106973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Autorizar no es ejecutar.</a:t>
            </a:r>
          </a:p>
          <a:p>
            <a:r>
              <a:rPr sz="120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Aportar no es aprobar.</a:t>
            </a:r>
          </a:p>
          <a:p>
            <a:r>
              <a:rPr sz="120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Supervisar no es bloquear.</a:t>
            </a:r>
          </a:p>
          <a:p>
            <a:r>
              <a:rPr sz="120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La respuesta humana reanuda el mismo trabajo durable.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87463A5-16AC-4157-B0A1-A84B5F826D11}"/>
              </a:ext>
            </a:extLst>
          </p:cNvPr>
          <p:cNvSpPr>
            <a:spLocks noGrp="1"/>
          </p:cNvSpPr>
          <p:nvPr/>
        </p:nvSpPr>
        <p:spPr>
          <a:xfrm>
            <a:off x="1051560" y="5925312"/>
            <a:ext cx="10085832" cy="402336"/>
          </a:xfrm>
          <a:prstGeom prst="rect">
            <a:avLst/>
          </a:prstGeom>
          <a:solidFill>
            <a:srgbClr val="EFE8FF"/>
          </a:solidFill>
          <a:ln>
            <a:solidFill>
              <a:srgbClr val="EFE8F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1" dirty="0" err="1">
                <a:solidFill>
                  <a:srgbClr val="5C2BD9"/>
                </a:solidFill>
                <a:latin typeface="Aptos"/>
                <a:ea typeface="Aptos"/>
                <a:cs typeface="Aptos"/>
              </a:rPr>
              <a:t>interacción</a:t>
            </a: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 humana es </a:t>
            </a:r>
            <a:r>
              <a:rPr sz="1600" b="1" dirty="0" err="1">
                <a:solidFill>
                  <a:srgbClr val="5C2BD9"/>
                </a:solidFill>
                <a:latin typeface="Aptos"/>
                <a:ea typeface="Aptos"/>
                <a:cs typeface="Aptos"/>
              </a:rPr>
              <a:t>parte</a:t>
            </a: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 del </a:t>
            </a:r>
            <a:r>
              <a:rPr lang="es-MX"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modelo operativo</a:t>
            </a: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, no un escape informal.</a:t>
            </a:r>
            <a:endParaRPr sz="1600" dirty="0"/>
          </a:p>
        </p:txBody>
      </p:sp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73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472D9C23-ECBC-468A-B9D4-8D9D61D97F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2EB80E64-26A0-4FF4-B0B4-84A712B9786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ORGANIZATIONS DEFINE OWNERSHIP Y CONTEXTO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14D48756-81F6-4D1A-B8C4-F7D9FA321D78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organización no es sólo tenancy: determina quién posee Cases, conocimiento, políticas, identidades y resultados.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36223886-4B72-4F1B-BE55-7A5C3CDA02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88100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Identity bindings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conectan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personas y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sistemas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externos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sin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convertirlos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en la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del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interno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BCFED5-BEA4-4799-8A1A-531AB08B75F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EF5DF071-16B4-457F-A6BB-D133EB955A2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0CBE0D8-972D-4A6F-8647-0C399F5C810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43020682-F9A0-4A9D-9575-109025E22FAD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6DBF4E1A-003C-44D0-8161-A4731CCCACF0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ORGANIZATION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35323983-30BE-4138-8CDD-51EA44EFE9F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Frontera durable: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10679477-166C-41E1-94EE-00D337E2702D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 ownership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Membership y roles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Policies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Knowledge scope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Provenance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Impact attribution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B2290763-F10F-44C2-9E83-D3F8B4616970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C10289C6-D218-4E13-A8D9-AA643DDB28D6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IDENTITY BINDINGS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880D5D3-95B4-45A6-9DDA-B3401343A2F9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Conexiones externas: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2050C298-2CB1-41BD-999D-45537D24FABE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Personas y canales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CRM/portals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Provider identities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Integraciones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Scopes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Audit trail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41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C89338D-EB91-4990-9E24-3C9214582D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6888577F-52E1-49B1-AD34-16C9E9BDD60C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R1 YA PRUEBA PARTE DEL MODELO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B2765532-D61B-4C58-A6AF-CF5645623544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R1 convierte responsabilidad de Relationship Operations en Slices end-to-end y evidence hosted.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94027DCF-0E57-4D03-B40A-85FA23E45F7B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SL-0…SL-3 están Done; SL-4 es READY y aún requiere Cycle inclusion + DRI.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624535B1-AAE3-430D-B5CC-05142BD1071B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DF5D835F-89B7-4660-9953-E7F130B92566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428AFC47-AC3C-4CCD-83FF-EA2CC9DBBCD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70552981-371C-47F3-972D-FAEA4DCBAB1A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75990350-5E5B-4BA3-BE83-4697B712ABB7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11C79341-77C6-4F39-BA69-EC0E03556396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97DFCDBE-0612-4FD5-91A5-4C8335739806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Intake y contexto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E891B213-3FE0-4AA4-A790-1F45393EE792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3428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Org substrate, legacy reads, admission y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duplicate/supersession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ya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están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implementados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3338A5ED-3739-4EC8-8CF3-52403552566D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B05C18D6-98B9-408D-9FC2-6C8D012E1299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DB8A99BC-E1ED-42A8-BE66-8DD82C6E9B4B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044BA637-081C-4EF7-99FC-AD26B1425534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Trabajo situacional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76C1E69-B0BC-4CCB-B602-5B62C20F0E6C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SL-4 debe probar posture history, commitments y supervisor loop en shadow.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11AFA0C-5083-4B27-8801-28B9C4D24CD1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C3A801E9-7480-44D1-80D4-CC4EE8CDFB20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A049D4FE-065E-4144-BA7F-14830D87A67E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6321C124-75FB-4AA7-B242-FDD7A02077AF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Outcome y aprendizaje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A0934D25-D87A-4C44-A50B-373EA2E3C4B3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 e impacto actualizan estado y alimentan señales para futuras decisiones.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2AC59E66-FC10-4D1C-9F2D-DBFD000F496C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63CC8621-FE33-47B9-8AC3-AF71BAA2A830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R1 no “demuestra toda la visión”; demuestra que el núcleo puede sostener una responsabilidad real.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6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>
            <a:extLst>
              <a:ext uri="{FF2B5EF4-FFF2-40B4-BE49-F238E27FC236}">
                <a16:creationId xmlns:a16="http://schemas.microsoft.com/office/drawing/2014/main" id="{D5F80151-20F7-4336-A75B-6DED6AC650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Text 1">
            <a:extLst>
              <a:ext uri="{FF2B5EF4-FFF2-40B4-BE49-F238E27FC236}">
                <a16:creationId xmlns:a16="http://schemas.microsoft.com/office/drawing/2014/main" id="{8785DACC-BE8D-4364-80DF-64DC2E18A831}"/>
              </a:ext>
            </a:extLst>
          </p:cNvPr>
          <p:cNvSpPr>
            <a:spLocks noGrp="1"/>
          </p:cNvSpPr>
          <p:nvPr/>
        </p:nvSpPr>
        <p:spPr>
          <a:xfrm>
            <a:off x="567000" y="3810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CURRENT → TARGET → VISION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Text 2">
            <a:extLst>
              <a:ext uri="{FF2B5EF4-FFF2-40B4-BE49-F238E27FC236}">
                <a16:creationId xmlns:a16="http://schemas.microsoft.com/office/drawing/2014/main" id="{6D403B3F-3AA0-4CB4-BC79-0560864E2E87}"/>
              </a:ext>
            </a:extLst>
          </p:cNvPr>
          <p:cNvSpPr>
            <a:spLocks noGrp="1"/>
          </p:cNvSpPr>
          <p:nvPr/>
        </p:nvSpPr>
        <p:spPr>
          <a:xfrm>
            <a:off x="567000" y="650597"/>
            <a:ext cx="10195200" cy="521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768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repo actual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ya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contiene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foundations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blueprint histórico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trataba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como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futuras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 3">
            <a:extLst>
              <a:ext uri="{FF2B5EF4-FFF2-40B4-BE49-F238E27FC236}">
                <a16:creationId xmlns:a16="http://schemas.microsoft.com/office/drawing/2014/main" id="{1B361237-EA2A-452F-B9CF-E83D3BBCA32C}"/>
              </a:ext>
            </a:extLst>
          </p:cNvPr>
          <p:cNvSpPr>
            <a:spLocks noGrp="1"/>
          </p:cNvSpPr>
          <p:nvPr/>
        </p:nvSpPr>
        <p:spPr>
          <a:xfrm>
            <a:off x="567000" y="1219952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tabla resume responsabilidad, no sustituye la evidencia de código, ADRs, specs y roadmap.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Text 5">
            <a:extLst>
              <a:ext uri="{FF2B5EF4-FFF2-40B4-BE49-F238E27FC236}">
                <a16:creationId xmlns:a16="http://schemas.microsoft.com/office/drawing/2014/main" id="{0E53BDB3-6FAD-4F33-A250-FF7D9AD11D2F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Text 6">
            <a:extLst>
              <a:ext uri="{FF2B5EF4-FFF2-40B4-BE49-F238E27FC236}">
                <a16:creationId xmlns:a16="http://schemas.microsoft.com/office/drawing/2014/main" id="{76D56528-347E-49EF-9C82-5A846433147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Text 7">
            <a:extLst>
              <a:ext uri="{FF2B5EF4-FFF2-40B4-BE49-F238E27FC236}">
                <a16:creationId xmlns:a16="http://schemas.microsoft.com/office/drawing/2014/main" id="{834F72C6-EE71-4B0D-A355-5E0D358C1189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19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Shape 8">
            <a:extLst>
              <a:ext uri="{FF2B5EF4-FFF2-40B4-BE49-F238E27FC236}">
                <a16:creationId xmlns:a16="http://schemas.microsoft.com/office/drawing/2014/main" id="{B05FD1CE-B217-4D54-B83B-FDC0470240D3}"/>
              </a:ext>
            </a:extLst>
          </p:cNvPr>
          <p:cNvSpPr>
            <a:spLocks noGrp="1"/>
          </p:cNvSpPr>
          <p:nvPr/>
        </p:nvSpPr>
        <p:spPr>
          <a:xfrm>
            <a:off x="594360" y="1674567"/>
            <a:ext cx="1892520" cy="347040"/>
          </a:xfrm>
          <a:prstGeom prst="roundRect">
            <a:avLst>
              <a:gd name="adj" fmla="val 21053"/>
            </a:avLst>
          </a:prstGeom>
          <a:solidFill>
            <a:srgbClr val="E8E3F7"/>
          </a:solidFill>
          <a:ln w="12700">
            <a:solidFill>
              <a:srgbClr val="E8E3F7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Text 9">
            <a:extLst>
              <a:ext uri="{FF2B5EF4-FFF2-40B4-BE49-F238E27FC236}">
                <a16:creationId xmlns:a16="http://schemas.microsoft.com/office/drawing/2014/main" id="{6B7A3C11-93D6-4C7A-AA51-A23D712FCBD9}"/>
              </a:ext>
            </a:extLst>
          </p:cNvPr>
          <p:cNvSpPr>
            <a:spLocks noGrp="1"/>
          </p:cNvSpPr>
          <p:nvPr/>
        </p:nvSpPr>
        <p:spPr>
          <a:xfrm>
            <a:off x="640080" y="1729647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Subsistema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Shape 10">
            <a:extLst>
              <a:ext uri="{FF2B5EF4-FFF2-40B4-BE49-F238E27FC236}">
                <a16:creationId xmlns:a16="http://schemas.microsoft.com/office/drawing/2014/main" id="{097B2517-4B4A-4D70-B99A-C6728C942573}"/>
              </a:ext>
            </a:extLst>
          </p:cNvPr>
          <p:cNvSpPr>
            <a:spLocks noGrp="1"/>
          </p:cNvSpPr>
          <p:nvPr/>
        </p:nvSpPr>
        <p:spPr>
          <a:xfrm>
            <a:off x="2560320" y="1674567"/>
            <a:ext cx="276120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Text 11">
            <a:extLst>
              <a:ext uri="{FF2B5EF4-FFF2-40B4-BE49-F238E27FC236}">
                <a16:creationId xmlns:a16="http://schemas.microsoft.com/office/drawing/2014/main" id="{BC694FD8-00D2-4FEB-B501-6D8970EEC490}"/>
              </a:ext>
            </a:extLst>
          </p:cNvPr>
          <p:cNvSpPr>
            <a:spLocks noGrp="1"/>
          </p:cNvSpPr>
          <p:nvPr/>
        </p:nvSpPr>
        <p:spPr>
          <a:xfrm>
            <a:off x="2606040" y="1729647"/>
            <a:ext cx="266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Shape 12">
            <a:extLst>
              <a:ext uri="{FF2B5EF4-FFF2-40B4-BE49-F238E27FC236}">
                <a16:creationId xmlns:a16="http://schemas.microsoft.com/office/drawing/2014/main" id="{E557ADEF-1C8B-4516-8B33-57A6ED429D0C}"/>
              </a:ext>
            </a:extLst>
          </p:cNvPr>
          <p:cNvSpPr>
            <a:spLocks noGrp="1"/>
          </p:cNvSpPr>
          <p:nvPr/>
        </p:nvSpPr>
        <p:spPr>
          <a:xfrm>
            <a:off x="539496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Text 13">
            <a:extLst>
              <a:ext uri="{FF2B5EF4-FFF2-40B4-BE49-F238E27FC236}">
                <a16:creationId xmlns:a16="http://schemas.microsoft.com/office/drawing/2014/main" id="{CF86ECEE-A637-4007-AC17-B74ECD4CDE41}"/>
              </a:ext>
            </a:extLst>
          </p:cNvPr>
          <p:cNvSpPr>
            <a:spLocks noGrp="1"/>
          </p:cNvSpPr>
          <p:nvPr/>
        </p:nvSpPr>
        <p:spPr>
          <a:xfrm>
            <a:off x="544068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Shape 14">
            <a:extLst>
              <a:ext uri="{FF2B5EF4-FFF2-40B4-BE49-F238E27FC236}">
                <a16:creationId xmlns:a16="http://schemas.microsoft.com/office/drawing/2014/main" id="{8EF020D7-E999-4AB0-A052-AB09D8B4268F}"/>
              </a:ext>
            </a:extLst>
          </p:cNvPr>
          <p:cNvSpPr>
            <a:spLocks noGrp="1"/>
          </p:cNvSpPr>
          <p:nvPr/>
        </p:nvSpPr>
        <p:spPr>
          <a:xfrm>
            <a:off x="854964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Text 15">
            <a:extLst>
              <a:ext uri="{FF2B5EF4-FFF2-40B4-BE49-F238E27FC236}">
                <a16:creationId xmlns:a16="http://schemas.microsoft.com/office/drawing/2014/main" id="{A746357C-23E7-4B16-B1CB-B28FD9B4250C}"/>
              </a:ext>
            </a:extLst>
          </p:cNvPr>
          <p:cNvSpPr>
            <a:spLocks noGrp="1"/>
          </p:cNvSpPr>
          <p:nvPr/>
        </p:nvSpPr>
        <p:spPr>
          <a:xfrm>
            <a:off x="859536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Shape 16">
            <a:extLst>
              <a:ext uri="{FF2B5EF4-FFF2-40B4-BE49-F238E27FC236}">
                <a16:creationId xmlns:a16="http://schemas.microsoft.com/office/drawing/2014/main" id="{4B178656-C8C8-4200-ABEF-1A618497AED0}"/>
              </a:ext>
            </a:extLst>
          </p:cNvPr>
          <p:cNvSpPr>
            <a:spLocks noGrp="1"/>
          </p:cNvSpPr>
          <p:nvPr/>
        </p:nvSpPr>
        <p:spPr>
          <a:xfrm>
            <a:off x="594360" y="2122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Text 17">
            <a:extLst>
              <a:ext uri="{FF2B5EF4-FFF2-40B4-BE49-F238E27FC236}">
                <a16:creationId xmlns:a16="http://schemas.microsoft.com/office/drawing/2014/main" id="{524185E9-627F-4B6E-A103-28CA274B4EE1}"/>
              </a:ext>
            </a:extLst>
          </p:cNvPr>
          <p:cNvSpPr>
            <a:spLocks noGrp="1"/>
          </p:cNvSpPr>
          <p:nvPr/>
        </p:nvSpPr>
        <p:spPr>
          <a:xfrm>
            <a:off x="667440" y="2195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Operational roots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Shape 18">
            <a:extLst>
              <a:ext uri="{FF2B5EF4-FFF2-40B4-BE49-F238E27FC236}">
                <a16:creationId xmlns:a16="http://schemas.microsoft.com/office/drawing/2014/main" id="{42CA9811-C13D-4898-8790-CEDEADC10AB0}"/>
              </a:ext>
            </a:extLst>
          </p:cNvPr>
          <p:cNvSpPr>
            <a:spLocks noGrp="1"/>
          </p:cNvSpPr>
          <p:nvPr/>
        </p:nvSpPr>
        <p:spPr>
          <a:xfrm>
            <a:off x="2560320" y="2122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Text 19">
            <a:extLst>
              <a:ext uri="{FF2B5EF4-FFF2-40B4-BE49-F238E27FC236}">
                <a16:creationId xmlns:a16="http://schemas.microsoft.com/office/drawing/2014/main" id="{3ABBBFAD-12C3-4A77-9CF5-1A2A83B0C94D}"/>
              </a:ext>
            </a:extLst>
          </p:cNvPr>
          <p:cNvSpPr>
            <a:spLocks noGrp="1"/>
          </p:cNvSpPr>
          <p:nvPr/>
        </p:nvSpPr>
        <p:spPr>
          <a:xfrm>
            <a:off x="2633400" y="2216667"/>
            <a:ext cx="261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 + Work/Impact Planes + Durable Task runtime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Shape 20">
            <a:extLst>
              <a:ext uri="{FF2B5EF4-FFF2-40B4-BE49-F238E27FC236}">
                <a16:creationId xmlns:a16="http://schemas.microsoft.com/office/drawing/2014/main" id="{2C9D0454-7CE5-4DCB-A90B-3E495D222766}"/>
              </a:ext>
            </a:extLst>
          </p:cNvPr>
          <p:cNvSpPr>
            <a:spLocks noGrp="1"/>
          </p:cNvSpPr>
          <p:nvPr/>
        </p:nvSpPr>
        <p:spPr>
          <a:xfrm>
            <a:off x="539496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 21">
            <a:extLst>
              <a:ext uri="{FF2B5EF4-FFF2-40B4-BE49-F238E27FC236}">
                <a16:creationId xmlns:a16="http://schemas.microsoft.com/office/drawing/2014/main" id="{26D45E33-E73F-4E34-8163-40140076E2C2}"/>
              </a:ext>
            </a:extLst>
          </p:cNvPr>
          <p:cNvSpPr>
            <a:spLocks noGrp="1"/>
          </p:cNvSpPr>
          <p:nvPr/>
        </p:nvSpPr>
        <p:spPr>
          <a:xfrm>
            <a:off x="5468040" y="2156901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Supervisión y workflows flexibles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Shape 22">
            <a:extLst>
              <a:ext uri="{FF2B5EF4-FFF2-40B4-BE49-F238E27FC236}">
                <a16:creationId xmlns:a16="http://schemas.microsoft.com/office/drawing/2014/main" id="{67149420-5B7E-4F4F-A607-40B0635A7836}"/>
              </a:ext>
            </a:extLst>
          </p:cNvPr>
          <p:cNvSpPr>
            <a:spLocks noGrp="1"/>
          </p:cNvSpPr>
          <p:nvPr/>
        </p:nvSpPr>
        <p:spPr>
          <a:xfrm>
            <a:off x="854964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Text 23">
            <a:extLst>
              <a:ext uri="{FF2B5EF4-FFF2-40B4-BE49-F238E27FC236}">
                <a16:creationId xmlns:a16="http://schemas.microsoft.com/office/drawing/2014/main" id="{D0274DA0-2315-4184-8FCB-0E874BE2783F}"/>
              </a:ext>
            </a:extLst>
          </p:cNvPr>
          <p:cNvSpPr>
            <a:spLocks noGrp="1"/>
          </p:cNvSpPr>
          <p:nvPr/>
        </p:nvSpPr>
        <p:spPr>
          <a:xfrm>
            <a:off x="8622720" y="2166526"/>
            <a:ext cx="293472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Responsabilidades cross-domain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Shape 24">
            <a:extLst>
              <a:ext uri="{FF2B5EF4-FFF2-40B4-BE49-F238E27FC236}">
                <a16:creationId xmlns:a16="http://schemas.microsoft.com/office/drawing/2014/main" id="{9A029766-2DDA-426F-BCEE-9A2D3B7D8623}"/>
              </a:ext>
            </a:extLst>
          </p:cNvPr>
          <p:cNvSpPr>
            <a:spLocks noGrp="1"/>
          </p:cNvSpPr>
          <p:nvPr/>
        </p:nvSpPr>
        <p:spPr>
          <a:xfrm>
            <a:off x="594360" y="2689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Text 25">
            <a:extLst>
              <a:ext uri="{FF2B5EF4-FFF2-40B4-BE49-F238E27FC236}">
                <a16:creationId xmlns:a16="http://schemas.microsoft.com/office/drawing/2014/main" id="{BAFBE73F-658A-4C8C-A3DC-BB5F60868997}"/>
              </a:ext>
            </a:extLst>
          </p:cNvPr>
          <p:cNvSpPr>
            <a:spLocks noGrp="1"/>
          </p:cNvSpPr>
          <p:nvPr/>
        </p:nvSpPr>
        <p:spPr>
          <a:xfrm>
            <a:off x="667440" y="2762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Organizations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Shape 26">
            <a:extLst>
              <a:ext uri="{FF2B5EF4-FFF2-40B4-BE49-F238E27FC236}">
                <a16:creationId xmlns:a16="http://schemas.microsoft.com/office/drawing/2014/main" id="{5228B458-FD30-417A-ADFC-CAE6C35F60E5}"/>
              </a:ext>
            </a:extLst>
          </p:cNvPr>
          <p:cNvSpPr>
            <a:spLocks noGrp="1"/>
          </p:cNvSpPr>
          <p:nvPr/>
        </p:nvSpPr>
        <p:spPr>
          <a:xfrm>
            <a:off x="2560320" y="2689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Text 27">
            <a:extLst>
              <a:ext uri="{FF2B5EF4-FFF2-40B4-BE49-F238E27FC236}">
                <a16:creationId xmlns:a16="http://schemas.microsoft.com/office/drawing/2014/main" id="{ACAAFBF4-6985-4433-8B78-64D717B41F3F}"/>
              </a:ext>
            </a:extLst>
          </p:cNvPr>
          <p:cNvSpPr>
            <a:spLocks noGrp="1"/>
          </p:cNvSpPr>
          <p:nvPr/>
        </p:nvSpPr>
        <p:spPr>
          <a:xfrm>
            <a:off x="2633400" y="2775049"/>
            <a:ext cx="2642400" cy="295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Org schema, bindings y RLS; runtime parcial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Shape 28">
            <a:extLst>
              <a:ext uri="{FF2B5EF4-FFF2-40B4-BE49-F238E27FC236}">
                <a16:creationId xmlns:a16="http://schemas.microsoft.com/office/drawing/2014/main" id="{218CBAED-B80A-4328-8797-89F77F2E697B}"/>
              </a:ext>
            </a:extLst>
          </p:cNvPr>
          <p:cNvSpPr>
            <a:spLocks noGrp="1"/>
          </p:cNvSpPr>
          <p:nvPr/>
        </p:nvSpPr>
        <p:spPr>
          <a:xfrm>
            <a:off x="539496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Text 29">
            <a:extLst>
              <a:ext uri="{FF2B5EF4-FFF2-40B4-BE49-F238E27FC236}">
                <a16:creationId xmlns:a16="http://schemas.microsoft.com/office/drawing/2014/main" id="{B686484F-7434-4A6C-8DC9-77AB344F57A0}"/>
              </a:ext>
            </a:extLst>
          </p:cNvPr>
          <p:cNvSpPr>
            <a:spLocks noGrp="1"/>
          </p:cNvSpPr>
          <p:nvPr/>
        </p:nvSpPr>
        <p:spPr>
          <a:xfrm>
            <a:off x="5468039" y="2714276"/>
            <a:ext cx="3007005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2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Scopes/authority/knowledge más profundos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Shape 30">
            <a:extLst>
              <a:ext uri="{FF2B5EF4-FFF2-40B4-BE49-F238E27FC236}">
                <a16:creationId xmlns:a16="http://schemas.microsoft.com/office/drawing/2014/main" id="{33586482-7BD4-4BAA-854A-D7FAB9A600E1}"/>
              </a:ext>
            </a:extLst>
          </p:cNvPr>
          <p:cNvSpPr>
            <a:spLocks noGrp="1"/>
          </p:cNvSpPr>
          <p:nvPr/>
        </p:nvSpPr>
        <p:spPr>
          <a:xfrm>
            <a:off x="854964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 31">
            <a:extLst>
              <a:ext uri="{FF2B5EF4-FFF2-40B4-BE49-F238E27FC236}">
                <a16:creationId xmlns:a16="http://schemas.microsoft.com/office/drawing/2014/main" id="{2F66C91A-61A3-4CC2-AEA7-6C74C742F72F}"/>
              </a:ext>
            </a:extLst>
          </p:cNvPr>
          <p:cNvSpPr>
            <a:spLocks noGrp="1"/>
          </p:cNvSpPr>
          <p:nvPr/>
        </p:nvSpPr>
        <p:spPr>
          <a:xfrm>
            <a:off x="8622720" y="2744102"/>
            <a:ext cx="2934720" cy="326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Cognición multi-org gobernada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Shape 32">
            <a:extLst>
              <a:ext uri="{FF2B5EF4-FFF2-40B4-BE49-F238E27FC236}">
                <a16:creationId xmlns:a16="http://schemas.microsoft.com/office/drawing/2014/main" id="{4F0AD46F-7547-42B4-9FD5-995140418682}"/>
              </a:ext>
            </a:extLst>
          </p:cNvPr>
          <p:cNvSpPr>
            <a:spLocks noGrp="1"/>
          </p:cNvSpPr>
          <p:nvPr/>
        </p:nvSpPr>
        <p:spPr>
          <a:xfrm>
            <a:off x="594360" y="3256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Text 33">
            <a:extLst>
              <a:ext uri="{FF2B5EF4-FFF2-40B4-BE49-F238E27FC236}">
                <a16:creationId xmlns:a16="http://schemas.microsoft.com/office/drawing/2014/main" id="{45C35739-2E7B-4547-B37A-A9D9F6D311FE}"/>
              </a:ext>
            </a:extLst>
          </p:cNvPr>
          <p:cNvSpPr>
            <a:spLocks noGrp="1"/>
          </p:cNvSpPr>
          <p:nvPr/>
        </p:nvSpPr>
        <p:spPr>
          <a:xfrm>
            <a:off x="667440" y="3329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Experience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Shape 34">
            <a:extLst>
              <a:ext uri="{FF2B5EF4-FFF2-40B4-BE49-F238E27FC236}">
                <a16:creationId xmlns:a16="http://schemas.microsoft.com/office/drawing/2014/main" id="{92A9ED9A-8B81-4B94-A8D8-C819EE6D52C9}"/>
              </a:ext>
            </a:extLst>
          </p:cNvPr>
          <p:cNvSpPr>
            <a:spLocks noGrp="1"/>
          </p:cNvSpPr>
          <p:nvPr/>
        </p:nvSpPr>
        <p:spPr>
          <a:xfrm>
            <a:off x="2560320" y="3256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Text 35">
            <a:extLst>
              <a:ext uri="{FF2B5EF4-FFF2-40B4-BE49-F238E27FC236}">
                <a16:creationId xmlns:a16="http://schemas.microsoft.com/office/drawing/2014/main" id="{ED7CB0C7-F212-4473-BEBC-5C504977B7FF}"/>
              </a:ext>
            </a:extLst>
          </p:cNvPr>
          <p:cNvSpPr>
            <a:spLocks noGrp="1"/>
          </p:cNvSpPr>
          <p:nvPr/>
        </p:nvSpPr>
        <p:spPr>
          <a:xfrm>
            <a:off x="2633400" y="3281276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85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Chat, Studio, notifications y vistas existentes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Shape 36">
            <a:extLst>
              <a:ext uri="{FF2B5EF4-FFF2-40B4-BE49-F238E27FC236}">
                <a16:creationId xmlns:a16="http://schemas.microsoft.com/office/drawing/2014/main" id="{E938C31A-D2EE-4443-88B8-52B83223E1A6}"/>
              </a:ext>
            </a:extLst>
          </p:cNvPr>
          <p:cNvSpPr>
            <a:spLocks noGrp="1"/>
          </p:cNvSpPr>
          <p:nvPr/>
        </p:nvSpPr>
        <p:spPr>
          <a:xfrm>
            <a:off x="539496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 37">
            <a:extLst>
              <a:ext uri="{FF2B5EF4-FFF2-40B4-BE49-F238E27FC236}">
                <a16:creationId xmlns:a16="http://schemas.microsoft.com/office/drawing/2014/main" id="{9B986AC4-D4F6-4E14-91C0-FFDE9B0BE5DD}"/>
              </a:ext>
            </a:extLst>
          </p:cNvPr>
          <p:cNvSpPr>
            <a:spLocks noGrp="1"/>
          </p:cNvSpPr>
          <p:nvPr/>
        </p:nvSpPr>
        <p:spPr>
          <a:xfrm>
            <a:off x="5468040" y="3300525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 cross-channel aprobada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Shape 38">
            <a:extLst>
              <a:ext uri="{FF2B5EF4-FFF2-40B4-BE49-F238E27FC236}">
                <a16:creationId xmlns:a16="http://schemas.microsoft.com/office/drawing/2014/main" id="{493583ED-FE34-4E27-8B16-317519BE5CD3}"/>
              </a:ext>
            </a:extLst>
          </p:cNvPr>
          <p:cNvSpPr>
            <a:spLocks noGrp="1"/>
          </p:cNvSpPr>
          <p:nvPr/>
        </p:nvSpPr>
        <p:spPr>
          <a:xfrm>
            <a:off x="854964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Text 39">
            <a:extLst>
              <a:ext uri="{FF2B5EF4-FFF2-40B4-BE49-F238E27FC236}">
                <a16:creationId xmlns:a16="http://schemas.microsoft.com/office/drawing/2014/main" id="{E21500AB-B61A-4393-B75C-D7368957EEAA}"/>
              </a:ext>
            </a:extLst>
          </p:cNvPr>
          <p:cNvSpPr>
            <a:spLocks noGrp="1"/>
          </p:cNvSpPr>
          <p:nvPr/>
        </p:nvSpPr>
        <p:spPr>
          <a:xfrm>
            <a:off x="8622720" y="3291750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Un Gu, </a:t>
            </a:r>
            <a:r>
              <a:rPr sz="13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cualquier</a:t>
            </a:r>
            <a:r>
              <a:rPr sz="13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superficie</a:t>
            </a:r>
            <a:endParaRPr sz="13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Shape 40">
            <a:extLst>
              <a:ext uri="{FF2B5EF4-FFF2-40B4-BE49-F238E27FC236}">
                <a16:creationId xmlns:a16="http://schemas.microsoft.com/office/drawing/2014/main" id="{EF653297-8466-4645-A738-3AB52DB945A5}"/>
              </a:ext>
            </a:extLst>
          </p:cNvPr>
          <p:cNvSpPr>
            <a:spLocks noGrp="1"/>
          </p:cNvSpPr>
          <p:nvPr/>
        </p:nvSpPr>
        <p:spPr>
          <a:xfrm>
            <a:off x="594360" y="382296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Text 41">
            <a:extLst>
              <a:ext uri="{FF2B5EF4-FFF2-40B4-BE49-F238E27FC236}">
                <a16:creationId xmlns:a16="http://schemas.microsoft.com/office/drawing/2014/main" id="{A1319E94-9567-4FF4-B240-43D38E12E9F5}"/>
              </a:ext>
            </a:extLst>
          </p:cNvPr>
          <p:cNvSpPr>
            <a:spLocks noGrp="1"/>
          </p:cNvSpPr>
          <p:nvPr/>
        </p:nvSpPr>
        <p:spPr>
          <a:xfrm>
            <a:off x="667440" y="3896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Brain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Shape 42">
            <a:extLst>
              <a:ext uri="{FF2B5EF4-FFF2-40B4-BE49-F238E27FC236}">
                <a16:creationId xmlns:a16="http://schemas.microsoft.com/office/drawing/2014/main" id="{85B075EC-0A5B-43BE-B252-6763C6A38A1C}"/>
              </a:ext>
            </a:extLst>
          </p:cNvPr>
          <p:cNvSpPr>
            <a:spLocks noGrp="1"/>
          </p:cNvSpPr>
          <p:nvPr/>
        </p:nvSpPr>
        <p:spPr>
          <a:xfrm>
            <a:off x="2560320" y="382296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Text 43">
            <a:extLst>
              <a:ext uri="{FF2B5EF4-FFF2-40B4-BE49-F238E27FC236}">
                <a16:creationId xmlns:a16="http://schemas.microsoft.com/office/drawing/2014/main" id="{3C639751-C0D9-4676-A2AA-892516808090}"/>
              </a:ext>
            </a:extLst>
          </p:cNvPr>
          <p:cNvSpPr>
            <a:spLocks noGrp="1"/>
          </p:cNvSpPr>
          <p:nvPr/>
        </p:nvSpPr>
        <p:spPr>
          <a:xfrm>
            <a:off x="2633400" y="3838651"/>
            <a:ext cx="2614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Personal memory + account context; broad Brain target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Shape 44">
            <a:extLst>
              <a:ext uri="{FF2B5EF4-FFF2-40B4-BE49-F238E27FC236}">
                <a16:creationId xmlns:a16="http://schemas.microsoft.com/office/drawing/2014/main" id="{136F659A-BCFC-4EF6-911F-345D8E68ED0E}"/>
              </a:ext>
            </a:extLst>
          </p:cNvPr>
          <p:cNvSpPr>
            <a:spLocks noGrp="1"/>
          </p:cNvSpPr>
          <p:nvPr/>
        </p:nvSpPr>
        <p:spPr>
          <a:xfrm>
            <a:off x="539496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Text 45">
            <a:extLst>
              <a:ext uri="{FF2B5EF4-FFF2-40B4-BE49-F238E27FC236}">
                <a16:creationId xmlns:a16="http://schemas.microsoft.com/office/drawing/2014/main" id="{231E503D-92F1-403C-A27D-9A0055D762BF}"/>
              </a:ext>
            </a:extLst>
          </p:cNvPr>
          <p:cNvSpPr>
            <a:spLocks noGrp="1"/>
          </p:cNvSpPr>
          <p:nvPr/>
        </p:nvSpPr>
        <p:spPr>
          <a:xfrm>
            <a:off x="5468040" y="3857901"/>
            <a:ext cx="29347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 compilado y conocimiento organizacional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Shape 46">
            <a:extLst>
              <a:ext uri="{FF2B5EF4-FFF2-40B4-BE49-F238E27FC236}">
                <a16:creationId xmlns:a16="http://schemas.microsoft.com/office/drawing/2014/main" id="{F8EA5453-8DF3-4FC5-8243-5255071D2B7F}"/>
              </a:ext>
            </a:extLst>
          </p:cNvPr>
          <p:cNvSpPr>
            <a:spLocks noGrp="1"/>
          </p:cNvSpPr>
          <p:nvPr/>
        </p:nvSpPr>
        <p:spPr>
          <a:xfrm>
            <a:off x="854964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Text 47">
            <a:extLst>
              <a:ext uri="{FF2B5EF4-FFF2-40B4-BE49-F238E27FC236}">
                <a16:creationId xmlns:a16="http://schemas.microsoft.com/office/drawing/2014/main" id="{18527E10-40F8-473A-9094-73B3BF2D4159}"/>
              </a:ext>
            </a:extLst>
          </p:cNvPr>
          <p:cNvSpPr>
            <a:spLocks noGrp="1"/>
          </p:cNvSpPr>
          <p:nvPr/>
        </p:nvSpPr>
        <p:spPr>
          <a:xfrm>
            <a:off x="8622720" y="3896401"/>
            <a:ext cx="2934720" cy="316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Cognición acumulativa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Shape 48">
            <a:extLst>
              <a:ext uri="{FF2B5EF4-FFF2-40B4-BE49-F238E27FC236}">
                <a16:creationId xmlns:a16="http://schemas.microsoft.com/office/drawing/2014/main" id="{C2DEAB30-7668-4505-A3FD-2A680F9EF974}"/>
              </a:ext>
            </a:extLst>
          </p:cNvPr>
          <p:cNvSpPr>
            <a:spLocks noGrp="1"/>
          </p:cNvSpPr>
          <p:nvPr/>
        </p:nvSpPr>
        <p:spPr>
          <a:xfrm>
            <a:off x="594360" y="496747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Text 49">
            <a:extLst>
              <a:ext uri="{FF2B5EF4-FFF2-40B4-BE49-F238E27FC236}">
                <a16:creationId xmlns:a16="http://schemas.microsoft.com/office/drawing/2014/main" id="{9E9D6500-7360-4F7D-BF5A-700D04AB1C86}"/>
              </a:ext>
            </a:extLst>
          </p:cNvPr>
          <p:cNvSpPr>
            <a:spLocks noGrp="1"/>
          </p:cNvSpPr>
          <p:nvPr/>
        </p:nvSpPr>
        <p:spPr>
          <a:xfrm>
            <a:off x="667440" y="5040552"/>
            <a:ext cx="177372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Capabilities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Shape 50">
            <a:extLst>
              <a:ext uri="{FF2B5EF4-FFF2-40B4-BE49-F238E27FC236}">
                <a16:creationId xmlns:a16="http://schemas.microsoft.com/office/drawing/2014/main" id="{3860499E-D924-4869-B594-8B7BC62FCEE0}"/>
              </a:ext>
            </a:extLst>
          </p:cNvPr>
          <p:cNvSpPr>
            <a:spLocks noGrp="1"/>
          </p:cNvSpPr>
          <p:nvPr/>
        </p:nvSpPr>
        <p:spPr>
          <a:xfrm>
            <a:off x="2560320" y="496747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Text 51">
            <a:extLst>
              <a:ext uri="{FF2B5EF4-FFF2-40B4-BE49-F238E27FC236}">
                <a16:creationId xmlns:a16="http://schemas.microsoft.com/office/drawing/2014/main" id="{5804A5D2-081C-446A-8591-32DB262BF3D1}"/>
              </a:ext>
            </a:extLst>
          </p:cNvPr>
          <p:cNvSpPr>
            <a:spLocks noGrp="1"/>
          </p:cNvSpPr>
          <p:nvPr/>
        </p:nvSpPr>
        <p:spPr>
          <a:xfrm>
            <a:off x="2633400" y="502130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Skills/tools/workers/executor modes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Shape 52">
            <a:extLst>
              <a:ext uri="{FF2B5EF4-FFF2-40B4-BE49-F238E27FC236}">
                <a16:creationId xmlns:a16="http://schemas.microsoft.com/office/drawing/2014/main" id="{707B908F-A420-4B42-B83A-F3CBFBC118E6}"/>
              </a:ext>
            </a:extLst>
          </p:cNvPr>
          <p:cNvSpPr>
            <a:spLocks noGrp="1"/>
          </p:cNvSpPr>
          <p:nvPr/>
        </p:nvSpPr>
        <p:spPr>
          <a:xfrm>
            <a:off x="539496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Text 53">
            <a:extLst>
              <a:ext uri="{FF2B5EF4-FFF2-40B4-BE49-F238E27FC236}">
                <a16:creationId xmlns:a16="http://schemas.microsoft.com/office/drawing/2014/main" id="{7CDB8FE8-4AFE-4552-B2C1-95555BFA23C1}"/>
              </a:ext>
            </a:extLst>
          </p:cNvPr>
          <p:cNvSpPr>
            <a:spLocks noGrp="1"/>
          </p:cNvSpPr>
          <p:nvPr/>
        </p:nvSpPr>
        <p:spPr>
          <a:xfrm>
            <a:off x="5468040" y="500205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Selección, fallback y policies reutilizables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Shape 54">
            <a:extLst>
              <a:ext uri="{FF2B5EF4-FFF2-40B4-BE49-F238E27FC236}">
                <a16:creationId xmlns:a16="http://schemas.microsoft.com/office/drawing/2014/main" id="{1DFFC778-C8D5-466A-B6ED-CB4CE961FBF3}"/>
              </a:ext>
            </a:extLst>
          </p:cNvPr>
          <p:cNvSpPr>
            <a:spLocks noGrp="1"/>
          </p:cNvSpPr>
          <p:nvPr/>
        </p:nvSpPr>
        <p:spPr>
          <a:xfrm>
            <a:off x="854964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Text 55">
            <a:extLst>
              <a:ext uri="{FF2B5EF4-FFF2-40B4-BE49-F238E27FC236}">
                <a16:creationId xmlns:a16="http://schemas.microsoft.com/office/drawing/2014/main" id="{6F459401-1548-442F-AF59-FBD483AEE6D0}"/>
              </a:ext>
            </a:extLst>
          </p:cNvPr>
          <p:cNvSpPr>
            <a:spLocks noGrp="1"/>
          </p:cNvSpPr>
          <p:nvPr/>
        </p:nvSpPr>
        <p:spPr>
          <a:xfrm>
            <a:off x="8622720" y="502130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Ecosistema sustituible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Shape 56">
            <a:extLst>
              <a:ext uri="{FF2B5EF4-FFF2-40B4-BE49-F238E27FC236}">
                <a16:creationId xmlns:a16="http://schemas.microsoft.com/office/drawing/2014/main" id="{0045D20E-512A-4061-9B57-0CD4E8B858BC}"/>
              </a:ext>
            </a:extLst>
          </p:cNvPr>
          <p:cNvSpPr>
            <a:spLocks noGrp="1"/>
          </p:cNvSpPr>
          <p:nvPr/>
        </p:nvSpPr>
        <p:spPr>
          <a:xfrm>
            <a:off x="749881" y="6047070"/>
            <a:ext cx="10698120" cy="467980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Text 57">
            <a:extLst>
              <a:ext uri="{FF2B5EF4-FFF2-40B4-BE49-F238E27FC236}">
                <a16:creationId xmlns:a16="http://schemas.microsoft.com/office/drawing/2014/main" id="{52F33E52-9D11-419F-9D31-B7010885A4DB}"/>
              </a:ext>
            </a:extLst>
          </p:cNvPr>
          <p:cNvSpPr>
            <a:spLocks noGrp="1"/>
          </p:cNvSpPr>
          <p:nvPr/>
        </p:nvSpPr>
        <p:spPr>
          <a:xfrm>
            <a:off x="904775" y="6120775"/>
            <a:ext cx="10433785" cy="340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Cuando el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estado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cambie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,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debe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cambiar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primero la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autoridad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canónica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—luego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esta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capa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explicativa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2">
            <a:extLst>
              <a:ext uri="{FF2B5EF4-FFF2-40B4-BE49-F238E27FC236}">
                <a16:creationId xmlns:a16="http://schemas.microsoft.com/office/drawing/2014/main" id="{6CDD65E2-D57C-2940-19CE-840EAF8ED1D2}"/>
              </a:ext>
            </a:extLst>
          </p:cNvPr>
          <p:cNvSpPr>
            <a:spLocks noGrp="1"/>
          </p:cNvSpPr>
          <p:nvPr/>
        </p:nvSpPr>
        <p:spPr>
          <a:xfrm>
            <a:off x="593205" y="4383388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47C1A929-D052-8CB2-F735-84A7665A369F}"/>
              </a:ext>
            </a:extLst>
          </p:cNvPr>
          <p:cNvSpPr>
            <a:spLocks noGrp="1"/>
          </p:cNvSpPr>
          <p:nvPr/>
        </p:nvSpPr>
        <p:spPr>
          <a:xfrm>
            <a:off x="666285" y="4456468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Roadmap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hape 34">
            <a:extLst>
              <a:ext uri="{FF2B5EF4-FFF2-40B4-BE49-F238E27FC236}">
                <a16:creationId xmlns:a16="http://schemas.microsoft.com/office/drawing/2014/main" id="{FA83087B-39B5-79CE-FD09-A69FA233008B}"/>
              </a:ext>
            </a:extLst>
          </p:cNvPr>
          <p:cNvSpPr>
            <a:spLocks noGrp="1"/>
          </p:cNvSpPr>
          <p:nvPr/>
        </p:nvSpPr>
        <p:spPr>
          <a:xfrm>
            <a:off x="2559165" y="4383388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35">
            <a:extLst>
              <a:ext uri="{FF2B5EF4-FFF2-40B4-BE49-F238E27FC236}">
                <a16:creationId xmlns:a16="http://schemas.microsoft.com/office/drawing/2014/main" id="{ED8B8A4B-FE37-187B-C07F-641FC5763B86}"/>
              </a:ext>
            </a:extLst>
          </p:cNvPr>
          <p:cNvSpPr>
            <a:spLocks noGrp="1"/>
          </p:cNvSpPr>
          <p:nvPr/>
        </p:nvSpPr>
        <p:spPr>
          <a:xfrm>
            <a:off x="2632245" y="4456468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838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R0 closure; R1 SL-0…SL-3 Done y SL-4 READY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675C81C6-8213-95D3-5C96-314EC4340ECF}"/>
              </a:ext>
            </a:extLst>
          </p:cNvPr>
          <p:cNvSpPr>
            <a:spLocks noGrp="1"/>
          </p:cNvSpPr>
          <p:nvPr/>
        </p:nvSpPr>
        <p:spPr>
          <a:xfrm>
            <a:off x="539380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A8AAB8DA-E110-8BED-70B5-3EC8832149E1}"/>
              </a:ext>
            </a:extLst>
          </p:cNvPr>
          <p:cNvSpPr>
            <a:spLocks noGrp="1"/>
          </p:cNvSpPr>
          <p:nvPr/>
        </p:nvSpPr>
        <p:spPr>
          <a:xfrm>
            <a:off x="5466885" y="4427592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SL-4 supervisor loop; horizon bloqueado detrás por contracts/Q5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0C50F44A-B478-4A45-0729-02EB4FE0DC6B}"/>
              </a:ext>
            </a:extLst>
          </p:cNvPr>
          <p:cNvSpPr>
            <a:spLocks noGrp="1"/>
          </p:cNvSpPr>
          <p:nvPr/>
        </p:nvSpPr>
        <p:spPr>
          <a:xfrm>
            <a:off x="854848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8435773F-923F-DB57-B244-59932C6AC154}"/>
              </a:ext>
            </a:extLst>
          </p:cNvPr>
          <p:cNvSpPr>
            <a:spLocks noGrp="1"/>
          </p:cNvSpPr>
          <p:nvPr/>
        </p:nvSpPr>
        <p:spPr>
          <a:xfrm>
            <a:off x="8621565" y="4418817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R2+ expansión y loops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48">
            <a:extLst>
              <a:ext uri="{FF2B5EF4-FFF2-40B4-BE49-F238E27FC236}">
                <a16:creationId xmlns:a16="http://schemas.microsoft.com/office/drawing/2014/main" id="{676ABF06-2372-0EA0-8A46-65414BA12BC3}"/>
              </a:ext>
            </a:extLst>
          </p:cNvPr>
          <p:cNvSpPr>
            <a:spLocks noGrp="1"/>
          </p:cNvSpPr>
          <p:nvPr/>
        </p:nvSpPr>
        <p:spPr>
          <a:xfrm>
            <a:off x="593205" y="553536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49">
            <a:extLst>
              <a:ext uri="{FF2B5EF4-FFF2-40B4-BE49-F238E27FC236}">
                <a16:creationId xmlns:a16="http://schemas.microsoft.com/office/drawing/2014/main" id="{A981233E-689F-7D2B-A549-89F66BF724A6}"/>
              </a:ext>
            </a:extLst>
          </p:cNvPr>
          <p:cNvSpPr>
            <a:spLocks noGrp="1"/>
          </p:cNvSpPr>
          <p:nvPr/>
        </p:nvSpPr>
        <p:spPr>
          <a:xfrm>
            <a:off x="666285" y="5608442"/>
            <a:ext cx="1773720" cy="2750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Evidence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hape 50">
            <a:extLst>
              <a:ext uri="{FF2B5EF4-FFF2-40B4-BE49-F238E27FC236}">
                <a16:creationId xmlns:a16="http://schemas.microsoft.com/office/drawing/2014/main" id="{302A7A4C-6BEA-886B-3467-2B587EC7CAB0}"/>
              </a:ext>
            </a:extLst>
          </p:cNvPr>
          <p:cNvSpPr>
            <a:spLocks noGrp="1"/>
          </p:cNvSpPr>
          <p:nvPr/>
        </p:nvSpPr>
        <p:spPr>
          <a:xfrm>
            <a:off x="2559165" y="553536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51">
            <a:extLst>
              <a:ext uri="{FF2B5EF4-FFF2-40B4-BE49-F238E27FC236}">
                <a16:creationId xmlns:a16="http://schemas.microsoft.com/office/drawing/2014/main" id="{FA9CB9FD-3FBA-0E32-D061-97B6D373357F}"/>
              </a:ext>
            </a:extLst>
          </p:cNvPr>
          <p:cNvSpPr>
            <a:spLocks noGrp="1"/>
          </p:cNvSpPr>
          <p:nvPr/>
        </p:nvSpPr>
        <p:spPr>
          <a:xfrm>
            <a:off x="2632245" y="558919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Migrations 00069–00084 + código/specs/ADRs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52">
            <a:extLst>
              <a:ext uri="{FF2B5EF4-FFF2-40B4-BE49-F238E27FC236}">
                <a16:creationId xmlns:a16="http://schemas.microsoft.com/office/drawing/2014/main" id="{3C1B59BB-05BF-ED2D-5988-973645E7CC31}"/>
              </a:ext>
            </a:extLst>
          </p:cNvPr>
          <p:cNvSpPr>
            <a:spLocks noGrp="1"/>
          </p:cNvSpPr>
          <p:nvPr/>
        </p:nvSpPr>
        <p:spPr>
          <a:xfrm>
            <a:off x="539380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53">
            <a:extLst>
              <a:ext uri="{FF2B5EF4-FFF2-40B4-BE49-F238E27FC236}">
                <a16:creationId xmlns:a16="http://schemas.microsoft.com/office/drawing/2014/main" id="{1B29F206-F3C4-5AC2-A781-9F3CE5EEF86A}"/>
              </a:ext>
            </a:extLst>
          </p:cNvPr>
          <p:cNvSpPr>
            <a:spLocks noGrp="1"/>
          </p:cNvSpPr>
          <p:nvPr/>
        </p:nvSpPr>
        <p:spPr>
          <a:xfrm>
            <a:off x="5466885" y="556994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Validación de producto y operación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hape 54">
            <a:extLst>
              <a:ext uri="{FF2B5EF4-FFF2-40B4-BE49-F238E27FC236}">
                <a16:creationId xmlns:a16="http://schemas.microsoft.com/office/drawing/2014/main" id="{149BB92A-CBEE-0B8A-91F5-CDD4CED12FA2}"/>
              </a:ext>
            </a:extLst>
          </p:cNvPr>
          <p:cNvSpPr>
            <a:spLocks noGrp="1"/>
          </p:cNvSpPr>
          <p:nvPr/>
        </p:nvSpPr>
        <p:spPr>
          <a:xfrm>
            <a:off x="854848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55">
            <a:extLst>
              <a:ext uri="{FF2B5EF4-FFF2-40B4-BE49-F238E27FC236}">
                <a16:creationId xmlns:a16="http://schemas.microsoft.com/office/drawing/2014/main" id="{4C06AB27-26DB-5BBF-1B7B-E7DBEA234548}"/>
              </a:ext>
            </a:extLst>
          </p:cNvPr>
          <p:cNvSpPr>
            <a:spLocks noGrp="1"/>
          </p:cNvSpPr>
          <p:nvPr/>
        </p:nvSpPr>
        <p:spPr>
          <a:xfrm>
            <a:off x="8621565" y="558919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Resultados acumulativos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182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62A7664-79DA-468A-A0F8-DE5D3402E4B9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9211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Arquitectura es responsabilidad</a:t>
            </a:r>
            <a:endParaRPr sz="3800"/>
          </a:p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hecha explícita.</a:t>
            </a:r>
            <a:endParaRPr sz="3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55DC414-56D6-4149-B1EC-32E03F2131FD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9285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D8CFEA"/>
                </a:solidFill>
                <a:latin typeface="Inter"/>
                <a:ea typeface="Inter"/>
                <a:cs typeface="Inter"/>
              </a:rPr>
              <a:t>Current se demuestra. Target se aprueba. Vision orienta.</a:t>
            </a:r>
            <a:endParaRPr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6DB901A-BB01-4C6C-B2DA-05291CE8760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844E025A-983C-6D44-79C6-4612AACD43FC}" type="slidenum">
              <a:rPr/>
              <a:t>20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1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2790</Words>
  <Application>Microsoft Office PowerPoint</Application>
  <DocSecurity>0</DocSecurity>
  <PresentationFormat>Panorámica</PresentationFormat>
  <Paragraphs>495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7</cp:revision>
  <dcterms:created xsi:type="dcterms:W3CDTF">2026-09-08T13:16:08Z</dcterms:created>
  <dcterms:modified xsi:type="dcterms:W3CDTF">2026-09-11T00:02:18Z</dcterms:modified>
</cp:coreProperties>
</file>