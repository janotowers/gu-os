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80" r:id="rId21"/>
    <p:sldId id="281" r:id="rId22"/>
    <p:sldId id="274" r:id="rId23"/>
    <p:sldId id="275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73" autoAdjust="0"/>
  </p:normalViewPr>
  <p:slideViewPr>
    <p:cSldViewPr snapToGrid="0">
      <p:cViewPr varScale="1">
        <p:scale>
          <a:sx n="87" d="100"/>
          <a:sy n="87" d="100"/>
        </p:scale>
        <p:origin x="6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docs/manuals/gu-os-experience-architecture.md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/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docs/manuals/architecture-manual.md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docs/manuals/gu-os-experience-architecture.md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docs/manuals/gu-os-experience-architecture.md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docs/roadmap/gu-os-evolution-roadmap.md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docs/product/initiatives/relationship-operations/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docs/manuals/architecture-manual.md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docs/manuals/gu-os-experience-architecture.md</a:t>
            </a:r>
          </a:p>
          <a:p>
            <a:r>
              <a:t>- docs/principles/gu-os-principles-and-design-doctrine.md</a:t>
            </a:r>
          </a:p>
          <a:p>
            <a:r>
              <a:t>- docs/architecture.md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docs/architecture.md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de R1 Relationship Operations. Debe </a:t>
            </a:r>
            <a:r>
              <a:rPr dirty="0" err="1"/>
              <a:t>entenderse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</a:t>
            </a:r>
            <a:r>
              <a:rPr dirty="0" err="1"/>
              <a:t>mapa</a:t>
            </a:r>
            <a:r>
              <a:rPr dirty="0"/>
              <a:t> </a:t>
            </a:r>
            <a:r>
              <a:rPr dirty="0" err="1"/>
              <a:t>integrado</a:t>
            </a:r>
            <a:r>
              <a:rPr dirty="0"/>
              <a:t> de </a:t>
            </a:r>
            <a:r>
              <a:rPr dirty="0" err="1"/>
              <a:t>responsabilidades</a:t>
            </a:r>
            <a:r>
              <a:rPr dirty="0"/>
              <a:t> y </a:t>
            </a:r>
            <a:r>
              <a:rPr dirty="0" err="1"/>
              <a:t>relaciones</a:t>
            </a:r>
            <a:r>
              <a:rPr dirty="0"/>
              <a:t>, no </a:t>
            </a:r>
            <a:r>
              <a:rPr dirty="0" err="1"/>
              <a:t>como</a:t>
            </a:r>
            <a:r>
              <a:rPr dirty="0"/>
              <a:t> un </a:t>
            </a: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exacto</a:t>
            </a:r>
            <a:r>
              <a:rPr dirty="0"/>
              <a:t> de </a:t>
            </a:r>
            <a:r>
              <a:rPr dirty="0" err="1"/>
              <a:t>clases</a:t>
            </a:r>
            <a:r>
              <a:rPr dirty="0"/>
              <a:t>, </a:t>
            </a:r>
            <a:r>
              <a:rPr dirty="0" err="1"/>
              <a:t>servicios</a:t>
            </a:r>
            <a:r>
              <a:rPr dirty="0"/>
              <a:t>, </a:t>
            </a:r>
            <a:r>
              <a:rPr dirty="0" err="1"/>
              <a:t>tablas</a:t>
            </a:r>
            <a:r>
              <a:rPr dirty="0"/>
              <a:t> o </a:t>
            </a:r>
            <a:r>
              <a:rPr dirty="0" err="1"/>
              <a:t>nodos</a:t>
            </a:r>
            <a:r>
              <a:rPr dirty="0"/>
              <a:t> </a:t>
            </a:r>
            <a:r>
              <a:rPr dirty="0" err="1"/>
              <a:t>actualmente</a:t>
            </a:r>
            <a:r>
              <a:rPr dirty="0"/>
              <a:t> </a:t>
            </a:r>
            <a:r>
              <a:rPr dirty="0" err="1"/>
              <a:t>desplegados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CORRECCIONES RESPECTO DE LA VERSIÓN ANTERIOR</a:t>
            </a:r>
          </a:p>
          <a:p>
            <a:r>
              <a:rPr dirty="0"/>
              <a:t>La </a:t>
            </a:r>
            <a:r>
              <a:rPr dirty="0" err="1"/>
              <a:t>versión</a:t>
            </a:r>
            <a:r>
              <a:rPr dirty="0"/>
              <a:t> anterior </a:t>
            </a:r>
            <a:r>
              <a:rPr dirty="0" err="1"/>
              <a:t>contenía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centrales</a:t>
            </a:r>
            <a:r>
              <a:rPr dirty="0"/>
              <a:t> </a:t>
            </a:r>
            <a:r>
              <a:rPr dirty="0" err="1"/>
              <a:t>correctos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se </a:t>
            </a:r>
            <a:r>
              <a:rPr dirty="0" err="1"/>
              <a:t>leía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un pipeline lineal: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entraban</a:t>
            </a:r>
            <a:r>
              <a:rPr dirty="0"/>
              <a:t> al Case y el Case </a:t>
            </a:r>
            <a:r>
              <a:rPr dirty="0" err="1"/>
              <a:t>producía</a:t>
            </a:r>
            <a:r>
              <a:rPr dirty="0"/>
              <a:t> Work, </a:t>
            </a:r>
            <a:r>
              <a:rPr dirty="0" err="1"/>
              <a:t>participación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. </a:t>
            </a:r>
            <a:r>
              <a:rPr dirty="0" err="1"/>
              <a:t>Faltaban</a:t>
            </a:r>
            <a:r>
              <a:rPr dirty="0"/>
              <a:t> cuatro </a:t>
            </a:r>
            <a:r>
              <a:rPr dirty="0" err="1"/>
              <a:t>relaciones</a:t>
            </a:r>
            <a:r>
              <a:rPr dirty="0"/>
              <a:t> </a:t>
            </a:r>
            <a:r>
              <a:rPr dirty="0" err="1"/>
              <a:t>esenciales</a:t>
            </a:r>
            <a:r>
              <a:rPr dirty="0"/>
              <a:t>. Primero, no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interacción</a:t>
            </a:r>
            <a:r>
              <a:rPr dirty="0"/>
              <a:t> se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en </a:t>
            </a:r>
            <a:r>
              <a:rPr dirty="0" err="1"/>
              <a:t>una</a:t>
            </a:r>
            <a:r>
              <a:rPr dirty="0"/>
              <a:t> Lead Opportunity;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existir</a:t>
            </a:r>
            <a:r>
              <a:rPr dirty="0"/>
              <a:t> </a:t>
            </a:r>
            <a:r>
              <a:rPr dirty="0" err="1"/>
              <a:t>admisión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. Segundo, Organization, </a:t>
            </a:r>
            <a:r>
              <a:rPr dirty="0" err="1"/>
              <a:t>identidad</a:t>
            </a:r>
            <a:r>
              <a:rPr dirty="0"/>
              <a:t>, tenancy y policy son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previo</a:t>
            </a:r>
            <a:r>
              <a:rPr dirty="0"/>
              <a:t> a la </a:t>
            </a:r>
            <a:r>
              <a:rPr dirty="0" err="1"/>
              <a:t>responsabilidad</a:t>
            </a:r>
            <a:r>
              <a:rPr dirty="0"/>
              <a:t>. Tercero, </a:t>
            </a:r>
            <a:r>
              <a:rPr dirty="0" err="1"/>
              <a:t>eventos</a:t>
            </a:r>
            <a:r>
              <a:rPr dirty="0"/>
              <a:t> y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despiertan</a:t>
            </a:r>
            <a:r>
              <a:rPr dirty="0"/>
              <a:t> </a:t>
            </a:r>
            <a:r>
              <a:rPr dirty="0" err="1"/>
              <a:t>reconsideración</a:t>
            </a:r>
            <a:r>
              <a:rPr dirty="0"/>
              <a:t>. Cuarto,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y outcomes </a:t>
            </a:r>
            <a:r>
              <a:rPr dirty="0" err="1"/>
              <a:t>regresan</a:t>
            </a:r>
            <a:r>
              <a:rPr dirty="0"/>
              <a:t> al Case y </a:t>
            </a:r>
            <a:r>
              <a:rPr dirty="0" err="1"/>
              <a:t>cierran</a:t>
            </a:r>
            <a:r>
              <a:rPr dirty="0"/>
              <a:t> el loop.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</a:t>
            </a:r>
            <a:r>
              <a:rPr dirty="0" err="1"/>
              <a:t>Comience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. R1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Gu </a:t>
            </a:r>
            <a:r>
              <a:rPr dirty="0" err="1"/>
              <a:t>mantenga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viable de </a:t>
            </a:r>
            <a:r>
              <a:rPr dirty="0" err="1"/>
              <a:t>compra</a:t>
            </a:r>
            <a:r>
              <a:rPr dirty="0"/>
              <a:t> o </a:t>
            </a:r>
            <a:r>
              <a:rPr dirty="0" err="1"/>
              <a:t>renta</a:t>
            </a:r>
            <a:r>
              <a:rPr dirty="0"/>
              <a:t> en </a:t>
            </a:r>
            <a:r>
              <a:rPr dirty="0" err="1"/>
              <a:t>movimiento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alcanzable</a:t>
            </a:r>
            <a:r>
              <a:rPr dirty="0"/>
              <a:t>. La visita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primer </a:t>
            </a:r>
            <a:r>
              <a:rPr dirty="0" err="1"/>
              <a:t>hito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medible</a:t>
            </a:r>
            <a:r>
              <a:rPr dirty="0"/>
              <a:t>. El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delega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continua, en </a:t>
            </a:r>
            <a:r>
              <a:rPr dirty="0" err="1"/>
              <a:t>lugar</a:t>
            </a:r>
            <a:r>
              <a:rPr dirty="0"/>
              <a:t> de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un pipeline o </a:t>
            </a:r>
            <a:r>
              <a:rPr dirty="0" err="1"/>
              <a:t>programar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follow-up.</a:t>
            </a:r>
          </a:p>
          <a:p>
            <a:endParaRPr dirty="0"/>
          </a:p>
          <a:p>
            <a:r>
              <a:rPr dirty="0"/>
              <a:t>2. La columna </a:t>
            </a:r>
            <a:r>
              <a:rPr dirty="0" err="1"/>
              <a:t>izquierda</a:t>
            </a:r>
            <a:r>
              <a:rPr dirty="0"/>
              <a:t> </a:t>
            </a:r>
            <a:r>
              <a:rPr dirty="0" err="1"/>
              <a:t>reúne</a:t>
            </a:r>
            <a:r>
              <a:rPr dirty="0"/>
              <a:t> </a:t>
            </a:r>
            <a:r>
              <a:rPr dirty="0" err="1"/>
              <a:t>señales</a:t>
            </a:r>
            <a:r>
              <a:rPr dirty="0"/>
              <a:t> y </a:t>
            </a:r>
            <a:r>
              <a:rPr dirty="0" err="1"/>
              <a:t>fuentes</a:t>
            </a:r>
            <a:r>
              <a:rPr dirty="0"/>
              <a:t> frescas. Durante la </a:t>
            </a:r>
            <a:r>
              <a:rPr dirty="0" err="1"/>
              <a:t>migración</a:t>
            </a:r>
            <a:r>
              <a:rPr dirty="0"/>
              <a:t> brownfield, Traditional Gu y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</a:t>
            </a:r>
            <a:r>
              <a:rPr dirty="0" err="1"/>
              <a:t>poseyendo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 lead, </a:t>
            </a:r>
            <a:r>
              <a:rPr dirty="0" err="1"/>
              <a:t>mensajes</a:t>
            </a:r>
            <a:r>
              <a:rPr dirty="0"/>
              <a:t>, </a:t>
            </a:r>
            <a:r>
              <a:rPr dirty="0" err="1"/>
              <a:t>propiedades</a:t>
            </a:r>
            <a:r>
              <a:rPr dirty="0"/>
              <a:t>, appointments, </a:t>
            </a:r>
            <a:r>
              <a:rPr dirty="0" err="1"/>
              <a:t>asignaciones</a:t>
            </a:r>
            <a:r>
              <a:rPr dirty="0"/>
              <a:t> y </a:t>
            </a:r>
            <a:r>
              <a:rPr dirty="0" err="1"/>
              <a:t>señales</a:t>
            </a:r>
            <a:r>
              <a:rPr dirty="0"/>
              <a:t> de </a:t>
            </a:r>
            <a:r>
              <a:rPr dirty="0" err="1"/>
              <a:t>intervención</a:t>
            </a:r>
            <a:r>
              <a:rPr dirty="0"/>
              <a:t> humana. El Case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copiar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el CRM, </a:t>
            </a:r>
            <a:r>
              <a:rPr dirty="0" err="1"/>
              <a:t>inventario</a:t>
            </a:r>
            <a:r>
              <a:rPr dirty="0"/>
              <a:t> o transcript.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referencias</a:t>
            </a:r>
            <a:r>
              <a:rPr dirty="0"/>
              <a:t>, </a:t>
            </a:r>
            <a:r>
              <a:rPr dirty="0" err="1"/>
              <a:t>hechos</a:t>
            </a:r>
            <a:r>
              <a:rPr dirty="0"/>
              <a:t> </a:t>
            </a:r>
            <a:r>
              <a:rPr dirty="0" err="1"/>
              <a:t>necesarios</a:t>
            </a:r>
            <a:r>
              <a:rPr dirty="0"/>
              <a:t>, </a:t>
            </a:r>
            <a:r>
              <a:rPr dirty="0" err="1"/>
              <a:t>procedencia</a:t>
            </a:r>
            <a:r>
              <a:rPr dirty="0"/>
              <a:t> y </a:t>
            </a:r>
            <a:r>
              <a:rPr dirty="0" err="1"/>
              <a:t>decisiones</a:t>
            </a:r>
            <a:r>
              <a:rPr dirty="0"/>
              <a:t> durables.</a:t>
            </a:r>
          </a:p>
          <a:p>
            <a:endParaRPr dirty="0"/>
          </a:p>
          <a:p>
            <a:r>
              <a:rPr dirty="0"/>
              <a:t>3. Antes de </a:t>
            </a:r>
            <a:r>
              <a:rPr dirty="0" err="1"/>
              <a:t>crear</a:t>
            </a:r>
            <a:r>
              <a:rPr dirty="0"/>
              <a:t> o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Opportunity </a:t>
            </a:r>
            <a:r>
              <a:rPr dirty="0" err="1"/>
              <a:t>ocurre</a:t>
            </a:r>
            <a:r>
              <a:rPr dirty="0"/>
              <a:t> la </a:t>
            </a:r>
            <a:r>
              <a:rPr dirty="0" err="1"/>
              <a:t>admisión</a:t>
            </a:r>
            <a:r>
              <a:rPr dirty="0"/>
              <a:t>. La </a:t>
            </a:r>
            <a:r>
              <a:rPr dirty="0" err="1"/>
              <a:t>admisión</a:t>
            </a:r>
            <a:r>
              <a:rPr dirty="0"/>
              <a:t>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juicio</a:t>
            </a:r>
            <a:r>
              <a:rPr dirty="0"/>
              <a:t> </a:t>
            </a:r>
            <a:r>
              <a:rPr dirty="0" err="1"/>
              <a:t>semántico</a:t>
            </a:r>
            <a:r>
              <a:rPr dirty="0"/>
              <a:t> con </a:t>
            </a:r>
            <a:r>
              <a:rPr dirty="0" err="1"/>
              <a:t>controles</a:t>
            </a:r>
            <a:r>
              <a:rPr dirty="0"/>
              <a:t> </a:t>
            </a:r>
            <a:r>
              <a:rPr dirty="0" err="1"/>
              <a:t>gobernados</a:t>
            </a:r>
            <a:r>
              <a:rPr dirty="0"/>
              <a:t>.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interpretar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un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y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continúa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Opportunity anterior. Los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plataforma</a:t>
            </a:r>
            <a:r>
              <a:rPr dirty="0"/>
              <a:t>, la policy </a:t>
            </a:r>
            <a:r>
              <a:rPr dirty="0" err="1"/>
              <a:t>publicada</a:t>
            </a:r>
            <a:r>
              <a:rPr dirty="0"/>
              <a:t> de la Organization, la </a:t>
            </a:r>
            <a:r>
              <a:rPr dirty="0" err="1"/>
              <a:t>autorización</a:t>
            </a:r>
            <a:r>
              <a:rPr dirty="0"/>
              <a:t> y la </a:t>
            </a:r>
            <a:r>
              <a:rPr dirty="0" err="1"/>
              <a:t>idempotencia</a:t>
            </a:r>
            <a:r>
              <a:rPr dirty="0"/>
              <a:t> </a:t>
            </a:r>
            <a:r>
              <a:rPr dirty="0" err="1"/>
              <a:t>determinan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permitida</a:t>
            </a:r>
            <a:r>
              <a:rPr dirty="0"/>
              <a:t>. Los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mínimos</a:t>
            </a:r>
            <a:r>
              <a:rPr dirty="0"/>
              <a:t> son CREATE, ATTACH, CLARIFY y DO NOT ADMIT. Un “Hola”, un </a:t>
            </a:r>
            <a:r>
              <a:rPr dirty="0" err="1"/>
              <a:t>registro</a:t>
            </a:r>
            <a:r>
              <a:rPr dirty="0"/>
              <a:t> de lead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aislada</a:t>
            </a:r>
            <a:r>
              <a:rPr dirty="0"/>
              <a:t> no </a:t>
            </a:r>
            <a:r>
              <a:rPr dirty="0" err="1"/>
              <a:t>crean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un Case.</a:t>
            </a:r>
          </a:p>
          <a:p>
            <a:endParaRPr dirty="0"/>
          </a:p>
          <a:p>
            <a:r>
              <a:rPr dirty="0"/>
              <a:t>4. Organization y Opportunity identity son </a:t>
            </a:r>
            <a:r>
              <a:rPr dirty="0" err="1"/>
              <a:t>distintos</a:t>
            </a:r>
            <a:r>
              <a:rPr dirty="0"/>
              <a:t> de la persona </a:t>
            </a:r>
            <a:r>
              <a:rPr dirty="0" err="1"/>
              <a:t>asignada</a:t>
            </a:r>
            <a:r>
              <a:rPr dirty="0"/>
              <a:t>. La Organization es </a:t>
            </a:r>
            <a:r>
              <a:rPr dirty="0" err="1"/>
              <a:t>dueña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durable. Membership vincula al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autenticado</a:t>
            </a:r>
            <a:r>
              <a:rPr dirty="0"/>
              <a:t> con la </a:t>
            </a:r>
            <a:r>
              <a:rPr dirty="0" err="1"/>
              <a:t>organización</a:t>
            </a:r>
            <a:r>
              <a:rPr dirty="0"/>
              <a:t>. Assignment y DRI indican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Opportunity. </a:t>
            </a:r>
            <a:r>
              <a:rPr dirty="0" err="1"/>
              <a:t>Reasignar</a:t>
            </a:r>
            <a:r>
              <a:rPr dirty="0"/>
              <a:t> a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asesor</a:t>
            </a:r>
            <a:r>
              <a:rPr dirty="0"/>
              <a:t> no cambia de </a:t>
            </a:r>
            <a:r>
              <a:rPr dirty="0" err="1"/>
              <a:t>organización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transfiere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authority.</a:t>
            </a:r>
          </a:p>
          <a:p>
            <a:endParaRPr dirty="0"/>
          </a:p>
          <a:p>
            <a:r>
              <a:rPr dirty="0"/>
              <a:t>5. El Lead Opportunity Case </a:t>
            </a:r>
            <a:r>
              <a:rPr dirty="0" err="1"/>
              <a:t>constituye</a:t>
            </a:r>
            <a:r>
              <a:rPr dirty="0"/>
              <a:t> la </a:t>
            </a:r>
            <a:r>
              <a:rPr dirty="0" err="1"/>
              <a:t>raíz</a:t>
            </a:r>
            <a:r>
              <a:rPr dirty="0"/>
              <a:t> durable. </a:t>
            </a:r>
            <a:r>
              <a:rPr dirty="0" err="1"/>
              <a:t>Conserva</a:t>
            </a:r>
            <a:r>
              <a:rPr dirty="0"/>
              <a:t> el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, </a:t>
            </a:r>
            <a:r>
              <a:rPr dirty="0" err="1"/>
              <a:t>identidad</a:t>
            </a:r>
            <a:r>
              <a:rPr dirty="0"/>
              <a:t> y </a:t>
            </a:r>
            <a:r>
              <a:rPr dirty="0" err="1"/>
              <a:t>continuidad</a:t>
            </a:r>
            <a:r>
              <a:rPr dirty="0"/>
              <a:t>, </a:t>
            </a:r>
            <a:r>
              <a:rPr dirty="0" err="1"/>
              <a:t>intención</a:t>
            </a:r>
            <a:r>
              <a:rPr dirty="0"/>
              <a:t> y </a:t>
            </a:r>
            <a:r>
              <a:rPr dirty="0" err="1"/>
              <a:t>requisitos</a:t>
            </a:r>
            <a:r>
              <a:rPr dirty="0"/>
              <a:t> </a:t>
            </a:r>
            <a:r>
              <a:rPr dirty="0" err="1"/>
              <a:t>actuales</a:t>
            </a:r>
            <a:r>
              <a:rPr dirty="0"/>
              <a:t>, </a:t>
            </a:r>
            <a:r>
              <a:rPr dirty="0" err="1"/>
              <a:t>propiedades</a:t>
            </a:r>
            <a:r>
              <a:rPr dirty="0"/>
              <a:t> </a:t>
            </a:r>
            <a:r>
              <a:rPr dirty="0" err="1"/>
              <a:t>presentadas</a:t>
            </a:r>
            <a:r>
              <a:rPr dirty="0"/>
              <a:t> y </a:t>
            </a:r>
            <a:r>
              <a:rPr dirty="0" err="1"/>
              <a:t>reacciones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, </a:t>
            </a:r>
            <a:r>
              <a:rPr dirty="0" err="1"/>
              <a:t>compromisos</a:t>
            </a:r>
            <a:r>
              <a:rPr dirty="0"/>
              <a:t>, evidence gaps,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humanas</a:t>
            </a:r>
            <a:r>
              <a:rPr dirty="0"/>
              <a:t>, approvals, lineage, </a:t>
            </a:r>
            <a:r>
              <a:rPr dirty="0" err="1"/>
              <a:t>razones</a:t>
            </a:r>
            <a:r>
              <a:rPr dirty="0"/>
              <a:t> de wake-up y closure outcome. Debe </a:t>
            </a:r>
            <a:r>
              <a:rPr dirty="0" err="1"/>
              <a:t>sobrevivir</a:t>
            </a:r>
            <a:r>
              <a:rPr dirty="0"/>
              <a:t> </a:t>
            </a:r>
            <a:r>
              <a:rPr dirty="0" err="1"/>
              <a:t>sesiones</a:t>
            </a:r>
            <a:r>
              <a:rPr dirty="0"/>
              <a:t>, </a:t>
            </a:r>
            <a:r>
              <a:rPr dirty="0" err="1"/>
              <a:t>cambios</a:t>
            </a:r>
            <a:r>
              <a:rPr dirty="0"/>
              <a:t> de canal, </a:t>
            </a:r>
            <a:r>
              <a:rPr dirty="0" err="1"/>
              <a:t>periodos</a:t>
            </a:r>
            <a:r>
              <a:rPr dirty="0"/>
              <a:t> de </a:t>
            </a:r>
            <a:r>
              <a:rPr dirty="0" err="1"/>
              <a:t>espera</a:t>
            </a:r>
            <a:r>
              <a:rPr dirty="0"/>
              <a:t>, </a:t>
            </a:r>
            <a:r>
              <a:rPr dirty="0" err="1"/>
              <a:t>cambios</a:t>
            </a:r>
            <a:r>
              <a:rPr dirty="0"/>
              <a:t> de </a:t>
            </a:r>
            <a:r>
              <a:rPr dirty="0" err="1"/>
              <a:t>criterios</a:t>
            </a:r>
            <a:r>
              <a:rPr dirty="0"/>
              <a:t> y </a:t>
            </a:r>
            <a:r>
              <a:rPr dirty="0" err="1"/>
              <a:t>múltiples</a:t>
            </a:r>
            <a:r>
              <a:rPr dirty="0"/>
              <a:t> visitas.</a:t>
            </a:r>
          </a:p>
          <a:p>
            <a:endParaRPr dirty="0"/>
          </a:p>
          <a:p>
            <a:r>
              <a:rPr dirty="0"/>
              <a:t>6. La </a:t>
            </a:r>
            <a:r>
              <a:rPr dirty="0" err="1"/>
              <a:t>lista</a:t>
            </a:r>
            <a:r>
              <a:rPr dirty="0"/>
              <a:t> central no </a:t>
            </a:r>
            <a:r>
              <a:rPr dirty="0" err="1"/>
              <a:t>pretende</a:t>
            </a:r>
            <a:r>
              <a:rPr dirty="0"/>
              <a:t>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. </a:t>
            </a: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vivir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Case Facts con </a:t>
            </a:r>
            <a:r>
              <a:rPr dirty="0" err="1"/>
              <a:t>procedencia</a:t>
            </a:r>
            <a:r>
              <a:rPr dirty="0"/>
              <a:t>; </a:t>
            </a:r>
            <a:r>
              <a:rPr dirty="0" err="1"/>
              <a:t>otros</a:t>
            </a:r>
            <a:r>
              <a:rPr dirty="0"/>
              <a:t> son </a:t>
            </a:r>
            <a:r>
              <a:rPr dirty="0" err="1"/>
              <a:t>relaciones</a:t>
            </a:r>
            <a:r>
              <a:rPr dirty="0"/>
              <a:t>, Work Items, approvals o </a:t>
            </a:r>
            <a:r>
              <a:rPr dirty="0" err="1"/>
              <a:t>proyecciones</a:t>
            </a:r>
            <a:r>
              <a:rPr dirty="0"/>
              <a:t>. El punto es el ownership </a:t>
            </a:r>
            <a:r>
              <a:rPr dirty="0" err="1"/>
              <a:t>semántico</a:t>
            </a:r>
            <a:r>
              <a:rPr dirty="0"/>
              <a:t>: el Case </a:t>
            </a:r>
            <a:r>
              <a:rPr dirty="0" err="1"/>
              <a:t>posee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durable, </a:t>
            </a:r>
            <a:r>
              <a:rPr dirty="0" err="1"/>
              <a:t>mientras</a:t>
            </a:r>
            <a:r>
              <a:rPr dirty="0"/>
              <a:t> las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 </a:t>
            </a:r>
            <a:r>
              <a:rPr dirty="0" err="1"/>
              <a:t>conservan</a:t>
            </a:r>
            <a:r>
              <a:rPr dirty="0"/>
              <a:t> la </a:t>
            </a:r>
            <a:r>
              <a:rPr dirty="0" err="1"/>
              <a:t>autoridad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sus </a:t>
            </a:r>
            <a:r>
              <a:rPr dirty="0" err="1"/>
              <a:t>propios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 </a:t>
            </a:r>
            <a:r>
              <a:rPr dirty="0" err="1"/>
              <a:t>operativos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7. El Case Supervisor es un </a:t>
            </a:r>
            <a:r>
              <a:rPr dirty="0" err="1"/>
              <a:t>rol</a:t>
            </a:r>
            <a:r>
              <a:rPr dirty="0"/>
              <a:t> conceptual del runtime. Cuando el Case </a:t>
            </a:r>
            <a:r>
              <a:rPr dirty="0" err="1"/>
              <a:t>despierta</a:t>
            </a:r>
            <a:r>
              <a:rPr dirty="0"/>
              <a:t>, </a:t>
            </a:r>
            <a:r>
              <a:rPr dirty="0" err="1"/>
              <a:t>comprende</a:t>
            </a:r>
            <a:r>
              <a:rPr dirty="0"/>
              <a:t> la </a:t>
            </a:r>
            <a:r>
              <a:rPr dirty="0" err="1"/>
              <a:t>realidad</a:t>
            </a:r>
            <a:r>
              <a:rPr dirty="0"/>
              <a:t> actual, </a:t>
            </a:r>
            <a:r>
              <a:rPr dirty="0" err="1"/>
              <a:t>diagnostica</a:t>
            </a:r>
            <a:r>
              <a:rPr dirty="0"/>
              <a:t> la principal </a:t>
            </a:r>
            <a:r>
              <a:rPr dirty="0" err="1"/>
              <a:t>restricción</a:t>
            </a:r>
            <a:r>
              <a:rPr dirty="0"/>
              <a:t> o </a:t>
            </a:r>
            <a:r>
              <a:rPr dirty="0" err="1"/>
              <a:t>posibilidad</a:t>
            </a:r>
            <a:r>
              <a:rPr dirty="0"/>
              <a:t> de </a:t>
            </a:r>
            <a:r>
              <a:rPr dirty="0" err="1"/>
              <a:t>avance</a:t>
            </a:r>
            <a:r>
              <a:rPr dirty="0"/>
              <a:t> y </a:t>
            </a:r>
            <a:r>
              <a:rPr dirty="0" err="1"/>
              <a:t>elige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sería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.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investigar</a:t>
            </a:r>
            <a:r>
              <a:rPr dirty="0"/>
              <a:t>,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frescos, usar </a:t>
            </a:r>
            <a:r>
              <a:rPr dirty="0" err="1"/>
              <a:t>una</a:t>
            </a:r>
            <a:r>
              <a:rPr dirty="0"/>
              <a:t> capability, </a:t>
            </a:r>
            <a:r>
              <a:rPr dirty="0" err="1"/>
              <a:t>crear</a:t>
            </a:r>
            <a:r>
              <a:rPr dirty="0"/>
              <a:t> un </a:t>
            </a:r>
            <a:r>
              <a:rPr dirty="0" err="1"/>
              <a:t>artefacto</a:t>
            </a:r>
            <a:r>
              <a:rPr dirty="0"/>
              <a:t>, </a:t>
            </a:r>
            <a:r>
              <a:rPr dirty="0" err="1"/>
              <a:t>solicitar</a:t>
            </a:r>
            <a:r>
              <a:rPr dirty="0"/>
              <a:t> </a:t>
            </a:r>
            <a:r>
              <a:rPr dirty="0" err="1"/>
              <a:t>participación</a:t>
            </a:r>
            <a:r>
              <a:rPr dirty="0"/>
              <a:t> humana, </a:t>
            </a:r>
            <a:r>
              <a:rPr dirty="0" err="1"/>
              <a:t>preparar</a:t>
            </a:r>
            <a:r>
              <a:rPr dirty="0"/>
              <a:t> un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protegido</a:t>
            </a:r>
            <a:r>
              <a:rPr dirty="0"/>
              <a:t>,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</a:t>
            </a:r>
            <a:r>
              <a:rPr dirty="0" err="1"/>
              <a:t>autorizada</a:t>
            </a:r>
            <a:r>
              <a:rPr dirty="0"/>
              <a:t>, </a:t>
            </a:r>
            <a:r>
              <a:rPr dirty="0" err="1"/>
              <a:t>esperar</a:t>
            </a:r>
            <a:r>
              <a:rPr dirty="0"/>
              <a:t> o </a:t>
            </a:r>
            <a:r>
              <a:rPr dirty="0" err="1"/>
              <a:t>hacer</a:t>
            </a:r>
            <a:r>
              <a:rPr dirty="0"/>
              <a:t> no-op </a:t>
            </a:r>
            <a:r>
              <a:rPr dirty="0" err="1"/>
              <a:t>deliberadamente</a:t>
            </a:r>
            <a:r>
              <a:rPr dirty="0"/>
              <a:t>. El wake-up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ordena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enviar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8. Los wake-ups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provenir</a:t>
            </a:r>
            <a:r>
              <a:rPr dirty="0"/>
              <a:t> de un </a:t>
            </a:r>
            <a:r>
              <a:rPr dirty="0" err="1"/>
              <a:t>mensaje</a:t>
            </a:r>
            <a:r>
              <a:rPr dirty="0"/>
              <a:t> nuevo, un </a:t>
            </a:r>
            <a:r>
              <a:rPr dirty="0" err="1"/>
              <a:t>cambio</a:t>
            </a:r>
            <a:r>
              <a:rPr dirty="0"/>
              <a:t> de appointment, un </a:t>
            </a:r>
            <a:r>
              <a:rPr dirty="0" err="1"/>
              <a:t>resultado</a:t>
            </a:r>
            <a:r>
              <a:rPr dirty="0"/>
              <a:t> de Work,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intervención</a:t>
            </a:r>
            <a:r>
              <a:rPr dirty="0"/>
              <a:t> humana,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propiedad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cambia, un </a:t>
            </a:r>
            <a:r>
              <a:rPr dirty="0" err="1"/>
              <a:t>compromiso</a:t>
            </a:r>
            <a:r>
              <a:rPr dirty="0"/>
              <a:t> </a:t>
            </a:r>
            <a:r>
              <a:rPr dirty="0" err="1"/>
              <a:t>vencido</a:t>
            </a:r>
            <a:r>
              <a:rPr dirty="0"/>
              <a:t>, </a:t>
            </a:r>
            <a:r>
              <a:rPr dirty="0" err="1"/>
              <a:t>next_action_at</a:t>
            </a:r>
            <a:r>
              <a:rPr dirty="0"/>
              <a:t>, un </a:t>
            </a:r>
            <a:r>
              <a:rPr dirty="0" err="1"/>
              <a:t>cambio</a:t>
            </a:r>
            <a:r>
              <a:rPr dirty="0"/>
              <a:t> de assignment,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 de </a:t>
            </a:r>
            <a:r>
              <a:rPr dirty="0" err="1"/>
              <a:t>entrega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policy/authority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reconsideración</a:t>
            </a:r>
            <a:r>
              <a:rPr dirty="0"/>
              <a:t>. Los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despiertan</a:t>
            </a:r>
            <a:r>
              <a:rPr dirty="0"/>
              <a:t> </a:t>
            </a:r>
            <a:r>
              <a:rPr dirty="0" err="1"/>
              <a:t>juicio</a:t>
            </a:r>
            <a:r>
              <a:rPr dirty="0"/>
              <a:t> </a:t>
            </a:r>
            <a:r>
              <a:rPr dirty="0" err="1"/>
              <a:t>situacional</a:t>
            </a:r>
            <a:r>
              <a:rPr dirty="0"/>
              <a:t>; no </a:t>
            </a:r>
            <a:r>
              <a:rPr dirty="0" err="1"/>
              <a:t>codifican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</a:t>
            </a:r>
            <a:r>
              <a:rPr dirty="0" err="1"/>
              <a:t>predeterminada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9. Work Items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durable </a:t>
            </a:r>
            <a:r>
              <a:rPr dirty="0" err="1"/>
              <a:t>dentro</a:t>
            </a:r>
            <a:r>
              <a:rPr dirty="0"/>
              <a:t> de la Opportunity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, </a:t>
            </a:r>
            <a:r>
              <a:rPr dirty="0" err="1"/>
              <a:t>reintentar</a:t>
            </a:r>
            <a:r>
              <a:rPr dirty="0"/>
              <a:t>, </a:t>
            </a:r>
            <a:r>
              <a:rPr dirty="0" err="1"/>
              <a:t>depender</a:t>
            </a:r>
            <a:r>
              <a:rPr dirty="0"/>
              <a:t> de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, </a:t>
            </a:r>
            <a:r>
              <a:rPr dirty="0" err="1"/>
              <a:t>involucrar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persona, </a:t>
            </a:r>
            <a:r>
              <a:rPr dirty="0" err="1"/>
              <a:t>crear</a:t>
            </a:r>
            <a:r>
              <a:rPr dirty="0"/>
              <a:t> un </a:t>
            </a:r>
            <a:r>
              <a:rPr dirty="0" err="1"/>
              <a:t>efecto</a:t>
            </a:r>
            <a:r>
              <a:rPr dirty="0"/>
              <a:t> material o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. Un </a:t>
            </a:r>
            <a:r>
              <a:rPr dirty="0" err="1"/>
              <a:t>pensamiento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breve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lectura</a:t>
            </a:r>
            <a:r>
              <a:rPr dirty="0"/>
              <a:t> </a:t>
            </a:r>
            <a:r>
              <a:rPr dirty="0" err="1"/>
              <a:t>inmediata</a:t>
            </a:r>
            <a:r>
              <a:rPr dirty="0"/>
              <a:t> no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convertirse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en Work Item. Durable Tasks y Work Runs </a:t>
            </a:r>
            <a:r>
              <a:rPr dirty="0" err="1"/>
              <a:t>quedan</a:t>
            </a:r>
            <a:r>
              <a:rPr dirty="0"/>
              <a:t> para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independiente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pertenece</a:t>
            </a:r>
            <a:r>
              <a:rPr dirty="0"/>
              <a:t> </a:t>
            </a:r>
            <a:r>
              <a:rPr dirty="0" err="1"/>
              <a:t>naturalmente</a:t>
            </a:r>
            <a:r>
              <a:rPr dirty="0"/>
              <a:t> a un Case.</a:t>
            </a:r>
          </a:p>
          <a:p>
            <a:endParaRPr dirty="0"/>
          </a:p>
          <a:p>
            <a:r>
              <a:rPr dirty="0"/>
              <a:t>10. Las capabilities </a:t>
            </a:r>
            <a:r>
              <a:rPr dirty="0" err="1"/>
              <a:t>ofrecen</a:t>
            </a:r>
            <a:r>
              <a:rPr dirty="0"/>
              <a:t> </a:t>
            </a:r>
            <a:r>
              <a:rPr dirty="0" err="1"/>
              <a:t>operaciones</a:t>
            </a:r>
            <a:r>
              <a:rPr dirty="0"/>
              <a:t> </a:t>
            </a:r>
            <a:r>
              <a:rPr dirty="0" err="1"/>
              <a:t>acotadas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retrieve, match, research, message o appointment.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o </a:t>
            </a:r>
            <a:r>
              <a:rPr dirty="0" err="1"/>
              <a:t>proponer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capability, </a:t>
            </a:r>
            <a:r>
              <a:rPr dirty="0" err="1"/>
              <a:t>pero</a:t>
            </a:r>
            <a:r>
              <a:rPr dirty="0"/>
              <a:t> el executor </a:t>
            </a:r>
            <a:r>
              <a:rPr dirty="0" err="1"/>
              <a:t>aplica</a:t>
            </a:r>
            <a:r>
              <a:rPr dirty="0"/>
              <a:t> tenant checks, policy, authority, </a:t>
            </a:r>
            <a:r>
              <a:rPr dirty="0" err="1"/>
              <a:t>riesgo</a:t>
            </a:r>
            <a:r>
              <a:rPr dirty="0"/>
              <a:t>, </a:t>
            </a:r>
            <a:r>
              <a:rPr dirty="0" err="1"/>
              <a:t>idempotencia</a:t>
            </a:r>
            <a:r>
              <a:rPr dirty="0"/>
              <a:t> y </a:t>
            </a:r>
            <a:r>
              <a:rPr dirty="0" err="1"/>
              <a:t>verificación</a:t>
            </a:r>
            <a:r>
              <a:rPr dirty="0"/>
              <a:t>. Una </a:t>
            </a:r>
            <a:r>
              <a:rPr dirty="0" err="1"/>
              <a:t>respuesta</a:t>
            </a:r>
            <a:r>
              <a:rPr dirty="0"/>
              <a:t> del </a:t>
            </a:r>
            <a:r>
              <a:rPr dirty="0" err="1"/>
              <a:t>proveedor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afirmar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11. La </a:t>
            </a:r>
            <a:r>
              <a:rPr dirty="0" err="1"/>
              <a:t>participación</a:t>
            </a:r>
            <a:r>
              <a:rPr dirty="0"/>
              <a:t> humana se </a:t>
            </a:r>
            <a:r>
              <a:rPr dirty="0" err="1"/>
              <a:t>selecciona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la </a:t>
            </a:r>
            <a:r>
              <a:rPr dirty="0" err="1"/>
              <a:t>contribución</a:t>
            </a:r>
            <a:r>
              <a:rPr dirty="0"/>
              <a:t> </a:t>
            </a:r>
            <a:r>
              <a:rPr dirty="0" err="1"/>
              <a:t>necesaria</a:t>
            </a:r>
            <a:r>
              <a:rPr dirty="0"/>
              <a:t>. S2 distingue Autonomous, Act + inform, Targeted human input, Prepare + approval, Human-as-executor y Human takeover. Takeover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 </a:t>
            </a:r>
            <a:r>
              <a:rPr dirty="0" err="1"/>
              <a:t>lidera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Gu </a:t>
            </a:r>
            <a:r>
              <a:rPr dirty="0" err="1"/>
              <a:t>suprime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competidores</a:t>
            </a:r>
            <a:r>
              <a:rPr dirty="0"/>
              <a:t>; el Case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observando</a:t>
            </a:r>
            <a:r>
              <a:rPr dirty="0"/>
              <a:t>, </a:t>
            </a:r>
            <a:r>
              <a:rPr dirty="0" err="1"/>
              <a:t>actualizando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 y </a:t>
            </a:r>
            <a:r>
              <a:rPr dirty="0" err="1"/>
              <a:t>preparando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permitido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12.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, </a:t>
            </a:r>
            <a:r>
              <a:rPr dirty="0" err="1"/>
              <a:t>resultado</a:t>
            </a:r>
            <a:r>
              <a:rPr dirty="0"/>
              <a:t> del </a:t>
            </a:r>
            <a:r>
              <a:rPr dirty="0" err="1"/>
              <a:t>proveedor</a:t>
            </a:r>
            <a:r>
              <a:rPr dirty="0"/>
              <a:t> y outcome de </a:t>
            </a:r>
            <a:r>
              <a:rPr dirty="0" err="1"/>
              <a:t>negocio</a:t>
            </a:r>
            <a:r>
              <a:rPr dirty="0"/>
              <a:t> son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 </a:t>
            </a:r>
            <a:r>
              <a:rPr dirty="0" err="1"/>
              <a:t>Que</a:t>
            </a:r>
            <a:r>
              <a:rPr dirty="0"/>
              <a:t> un endpoint </a:t>
            </a:r>
            <a:r>
              <a:rPr dirty="0" err="1"/>
              <a:t>acepte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no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.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exista</a:t>
            </a:r>
            <a:r>
              <a:rPr dirty="0"/>
              <a:t> un Calendar event no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visita </a:t>
            </a:r>
            <a:r>
              <a:rPr dirty="0" err="1"/>
              <a:t>ocurrió</a:t>
            </a:r>
            <a:r>
              <a:rPr dirty="0"/>
              <a:t>. Si las </a:t>
            </a:r>
            <a:r>
              <a:rPr dirty="0" err="1"/>
              <a:t>fuentes</a:t>
            </a:r>
            <a:r>
              <a:rPr dirty="0"/>
              <a:t> </a:t>
            </a:r>
            <a:r>
              <a:rPr dirty="0" err="1"/>
              <a:t>faltan</a:t>
            </a:r>
            <a:r>
              <a:rPr dirty="0"/>
              <a:t> o se </a:t>
            </a:r>
            <a:r>
              <a:rPr dirty="0" err="1"/>
              <a:t>contradicen</a:t>
            </a:r>
            <a:r>
              <a:rPr dirty="0"/>
              <a:t>, Gu </a:t>
            </a:r>
            <a:r>
              <a:rPr dirty="0" err="1"/>
              <a:t>conserva</a:t>
            </a:r>
            <a:r>
              <a:rPr dirty="0"/>
              <a:t> unknown o </a:t>
            </a:r>
            <a:r>
              <a:rPr dirty="0" err="1"/>
              <a:t>conflicto</a:t>
            </a:r>
            <a:r>
              <a:rPr dirty="0"/>
              <a:t>, y </a:t>
            </a:r>
            <a:r>
              <a:rPr dirty="0" err="1"/>
              <a:t>crea</a:t>
            </a:r>
            <a:r>
              <a:rPr dirty="0"/>
              <a:t> reconciliation work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valor lo </a:t>
            </a:r>
            <a:r>
              <a:rPr dirty="0" err="1"/>
              <a:t>justifica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13. La </a:t>
            </a:r>
            <a:r>
              <a:rPr dirty="0" err="1"/>
              <a:t>flecha</a:t>
            </a:r>
            <a:r>
              <a:rPr dirty="0"/>
              <a:t> de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el loop central. La </a:t>
            </a:r>
            <a:r>
              <a:rPr dirty="0" err="1"/>
              <a:t>ejecución</a:t>
            </a:r>
            <a:r>
              <a:rPr dirty="0"/>
              <a:t> produce </a:t>
            </a:r>
            <a:r>
              <a:rPr dirty="0" err="1"/>
              <a:t>evidencia</a:t>
            </a:r>
            <a:r>
              <a:rPr dirty="0"/>
              <a:t>.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actualiza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, </a:t>
            </a:r>
            <a:r>
              <a:rPr dirty="0" err="1"/>
              <a:t>compromisos</a:t>
            </a:r>
            <a:r>
              <a:rPr dirty="0"/>
              <a:t> u outcomes del Case y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despertar</a:t>
            </a:r>
            <a:r>
              <a:rPr dirty="0"/>
              <a:t>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reconsideración</a:t>
            </a:r>
            <a:r>
              <a:rPr dirty="0"/>
              <a:t>. El Supervisor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entonces</a:t>
            </a:r>
            <a:r>
              <a:rPr dirty="0"/>
              <a:t> </a:t>
            </a:r>
            <a:r>
              <a:rPr dirty="0" err="1"/>
              <a:t>continuar</a:t>
            </a:r>
            <a:r>
              <a:rPr dirty="0"/>
              <a:t>, </a:t>
            </a:r>
            <a:r>
              <a:rPr dirty="0" err="1"/>
              <a:t>modificar</a:t>
            </a:r>
            <a:r>
              <a:rPr dirty="0"/>
              <a:t> el plan, </a:t>
            </a:r>
            <a:r>
              <a:rPr dirty="0" err="1"/>
              <a:t>involucrar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persona, </a:t>
            </a:r>
            <a:r>
              <a:rPr dirty="0" err="1"/>
              <a:t>esperar</a:t>
            </a:r>
            <a:r>
              <a:rPr dirty="0"/>
              <a:t> o </a:t>
            </a:r>
            <a:r>
              <a:rPr dirty="0" err="1"/>
              <a:t>cerrar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. 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deja</a:t>
            </a:r>
            <a:r>
              <a:rPr dirty="0"/>
              <a:t> de ser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secuencia</a:t>
            </a:r>
            <a:r>
              <a:rPr dirty="0"/>
              <a:t> de follow-ups y se </a:t>
            </a:r>
            <a:r>
              <a:rPr dirty="0" err="1"/>
              <a:t>convierte</a:t>
            </a:r>
            <a:r>
              <a:rPr dirty="0"/>
              <a:t> en </a:t>
            </a:r>
            <a:r>
              <a:rPr dirty="0" err="1"/>
              <a:t>responsabilidad</a:t>
            </a:r>
            <a:r>
              <a:rPr dirty="0"/>
              <a:t> durable </a:t>
            </a:r>
            <a:r>
              <a:rPr dirty="0" err="1"/>
              <a:t>basada</a:t>
            </a:r>
            <a:r>
              <a:rPr dirty="0"/>
              <a:t> en </a:t>
            </a:r>
            <a:r>
              <a:rPr dirty="0" err="1"/>
              <a:t>realidad</a:t>
            </a:r>
            <a:r>
              <a:rPr dirty="0"/>
              <a:t> observable.</a:t>
            </a:r>
          </a:p>
          <a:p>
            <a:endParaRPr dirty="0"/>
          </a:p>
          <a:p>
            <a:r>
              <a:rPr dirty="0"/>
              <a:t>14. Work Portfolio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proyección</a:t>
            </a:r>
            <a:r>
              <a:rPr dirty="0"/>
              <a:t> para </a:t>
            </a:r>
            <a:r>
              <a:rPr dirty="0" err="1"/>
              <a:t>supervisión</a:t>
            </a:r>
            <a:r>
              <a:rPr dirty="0"/>
              <a:t> humana. </a:t>
            </a:r>
            <a:r>
              <a:rPr dirty="0" err="1"/>
              <a:t>Combina</a:t>
            </a:r>
            <a:r>
              <a:rPr dirty="0"/>
              <a:t> Cases, Work, approvals, evidence gaps y outcomes para </a:t>
            </a:r>
            <a:r>
              <a:rPr dirty="0" err="1"/>
              <a:t>mostrar</a:t>
            </a:r>
            <a:r>
              <a:rPr dirty="0"/>
              <a:t> Needs Attention e In Motion. No es </a:t>
            </a:r>
            <a:r>
              <a:rPr dirty="0" err="1"/>
              <a:t>otro</a:t>
            </a:r>
            <a:r>
              <a:rPr dirty="0"/>
              <a:t> CRM, </a:t>
            </a:r>
            <a:r>
              <a:rPr dirty="0" err="1"/>
              <a:t>una</a:t>
            </a:r>
            <a:r>
              <a:rPr dirty="0"/>
              <a:t> cola universal de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de </a:t>
            </a:r>
            <a:r>
              <a:rPr dirty="0" err="1"/>
              <a:t>verdad</a:t>
            </a:r>
            <a:r>
              <a:rPr dirty="0"/>
              <a:t>. Su </a:t>
            </a:r>
            <a:r>
              <a:rPr dirty="0" err="1"/>
              <a:t>función</a:t>
            </a:r>
            <a:r>
              <a:rPr dirty="0"/>
              <a:t> es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asesores</a:t>
            </a:r>
            <a:r>
              <a:rPr dirty="0"/>
              <a:t> y managers </a:t>
            </a:r>
            <a:r>
              <a:rPr dirty="0" err="1"/>
              <a:t>entiendan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participación</a:t>
            </a:r>
            <a:r>
              <a:rPr dirty="0"/>
              <a:t> </a:t>
            </a:r>
            <a:r>
              <a:rPr dirty="0" err="1"/>
              <a:t>aporta</a:t>
            </a:r>
            <a:r>
              <a:rPr dirty="0"/>
              <a:t> valor.</a:t>
            </a:r>
          </a:p>
          <a:p>
            <a:endParaRPr dirty="0"/>
          </a:p>
          <a:p>
            <a:r>
              <a:rPr dirty="0"/>
              <a:t>VISITA Y FRONTERA DE TRANSACCIÓN</a:t>
            </a:r>
          </a:p>
          <a:p>
            <a:r>
              <a:rPr dirty="0"/>
              <a:t>Una Visit es un </a:t>
            </a:r>
            <a:r>
              <a:rPr dirty="0" err="1"/>
              <a:t>evento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identificable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la Lead Opportunity. </a:t>
            </a:r>
            <a:r>
              <a:rPr dirty="0" err="1"/>
              <a:t>visit_requested</a:t>
            </a:r>
            <a:r>
              <a:rPr dirty="0"/>
              <a:t>, </a:t>
            </a:r>
            <a:r>
              <a:rPr dirty="0" err="1"/>
              <a:t>visit_scheduled</a:t>
            </a:r>
            <a:r>
              <a:rPr dirty="0"/>
              <a:t> y </a:t>
            </a:r>
            <a:r>
              <a:rPr dirty="0" err="1"/>
              <a:t>visit_attended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adecuada</a:t>
            </a:r>
            <a:r>
              <a:rPr dirty="0"/>
              <a:t> y no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inferirse</a:t>
            </a:r>
            <a:r>
              <a:rPr dirty="0"/>
              <a:t> de un </a:t>
            </a:r>
            <a:r>
              <a:rPr dirty="0" err="1"/>
              <a:t>único</a:t>
            </a:r>
            <a:r>
              <a:rPr dirty="0"/>
              <a:t> appointment mutable. Reschedule no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necesariamente</a:t>
            </a:r>
            <a:r>
              <a:rPr dirty="0"/>
              <a:t> </a:t>
            </a:r>
            <a:r>
              <a:rPr dirty="0" err="1"/>
              <a:t>otra</a:t>
            </a:r>
            <a:r>
              <a:rPr dirty="0"/>
              <a:t> Visit. </a:t>
            </a:r>
            <a:r>
              <a:rPr dirty="0" err="1"/>
              <a:t>Ausencia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ocurrencia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unknown;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convertirse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en no-show.</a:t>
            </a:r>
          </a:p>
          <a:p>
            <a:endParaRPr dirty="0"/>
          </a:p>
          <a:p>
            <a:r>
              <a:rPr dirty="0"/>
              <a:t>La visita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marca</a:t>
            </a:r>
            <a:r>
              <a:rPr dirty="0"/>
              <a:t> la </a:t>
            </a:r>
            <a:r>
              <a:rPr dirty="0" err="1"/>
              <a:t>frontera</a:t>
            </a:r>
            <a:r>
              <a:rPr dirty="0"/>
              <a:t> de Transaction Operations. Esa </a:t>
            </a:r>
            <a:r>
              <a:rPr dirty="0" err="1"/>
              <a:t>frontera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atribuible</a:t>
            </a:r>
            <a:r>
              <a:rPr dirty="0"/>
              <a:t> </a:t>
            </a:r>
            <a:r>
              <a:rPr dirty="0" err="1"/>
              <a:t>establece</a:t>
            </a:r>
            <a:r>
              <a:rPr dirty="0"/>
              <a:t> un </a:t>
            </a:r>
            <a:r>
              <a:rPr dirty="0" err="1"/>
              <a:t>objetivo</a:t>
            </a:r>
            <a:r>
              <a:rPr dirty="0"/>
              <a:t> de deal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concreto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lifecycle durable. </a:t>
            </a:r>
            <a:r>
              <a:rPr dirty="0" err="1"/>
              <a:t>Entonces</a:t>
            </a:r>
            <a:r>
              <a:rPr dirty="0"/>
              <a:t> se </a:t>
            </a:r>
            <a:r>
              <a:rPr dirty="0" err="1"/>
              <a:t>crea</a:t>
            </a:r>
            <a:r>
              <a:rPr dirty="0"/>
              <a:t> o </a:t>
            </a:r>
            <a:r>
              <a:rPr dirty="0" err="1"/>
              <a:t>relaciona</a:t>
            </a:r>
            <a:r>
              <a:rPr dirty="0"/>
              <a:t> un Transaction Case </a:t>
            </a:r>
            <a:r>
              <a:rPr dirty="0" err="1"/>
              <a:t>mediante</a:t>
            </a:r>
            <a:r>
              <a:rPr dirty="0"/>
              <a:t> la </a:t>
            </a:r>
            <a:r>
              <a:rPr dirty="0" err="1"/>
              <a:t>relación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 entre Cases. La Lead Opportunity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vinculada</a:t>
            </a:r>
            <a:r>
              <a:rPr dirty="0"/>
              <a:t> y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abierta</a:t>
            </a:r>
            <a:r>
              <a:rPr dirty="0"/>
              <a:t>. Si la </a:t>
            </a:r>
            <a:r>
              <a:rPr dirty="0" err="1"/>
              <a:t>transacción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, Relationship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retomar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. El lifecycle </a:t>
            </a:r>
            <a:r>
              <a:rPr dirty="0" err="1"/>
              <a:t>interno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de Transaction Operations </a:t>
            </a:r>
            <a:r>
              <a:rPr dirty="0" err="1"/>
              <a:t>pertenece</a:t>
            </a:r>
            <a:r>
              <a:rPr dirty="0"/>
              <a:t> a R6 y 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de </a:t>
            </a:r>
            <a:r>
              <a:rPr dirty="0" err="1"/>
              <a:t>dominio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MODELO VS CONTROLES DETERMINÍSTICOS</a:t>
            </a:r>
          </a:p>
          <a:p>
            <a:r>
              <a:rPr dirty="0"/>
              <a:t>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aporta</a:t>
            </a:r>
            <a:r>
              <a:rPr dirty="0"/>
              <a:t> </a:t>
            </a:r>
            <a:r>
              <a:rPr dirty="0" err="1"/>
              <a:t>interpretación</a:t>
            </a:r>
            <a:r>
              <a:rPr dirty="0"/>
              <a:t> </a:t>
            </a:r>
            <a:r>
              <a:rPr dirty="0" err="1"/>
              <a:t>semántica</a:t>
            </a:r>
            <a:r>
              <a:rPr dirty="0"/>
              <a:t> y </a:t>
            </a:r>
            <a:r>
              <a:rPr dirty="0" err="1"/>
              <a:t>juicio</a:t>
            </a:r>
            <a:r>
              <a:rPr dirty="0"/>
              <a:t> contextual: </a:t>
            </a:r>
            <a:r>
              <a:rPr dirty="0" err="1"/>
              <a:t>intención</a:t>
            </a:r>
            <a:r>
              <a:rPr dirty="0"/>
              <a:t>, </a:t>
            </a:r>
            <a:r>
              <a:rPr dirty="0" err="1"/>
              <a:t>continuidad</a:t>
            </a:r>
            <a:r>
              <a:rPr dirty="0"/>
              <a:t>, </a:t>
            </a:r>
            <a:r>
              <a:rPr dirty="0" err="1"/>
              <a:t>posible</a:t>
            </a:r>
            <a:r>
              <a:rPr dirty="0"/>
              <a:t> next work, </a:t>
            </a:r>
            <a:r>
              <a:rPr dirty="0" err="1"/>
              <a:t>valoración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o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intervención</a:t>
            </a:r>
            <a:r>
              <a:rPr dirty="0"/>
              <a:t> humana. Los </a:t>
            </a:r>
            <a:r>
              <a:rPr dirty="0" err="1"/>
              <a:t>controles</a:t>
            </a:r>
            <a:r>
              <a:rPr dirty="0"/>
              <a:t> </a:t>
            </a:r>
            <a:r>
              <a:rPr dirty="0" err="1"/>
              <a:t>determinísticos</a:t>
            </a:r>
            <a:r>
              <a:rPr dirty="0"/>
              <a:t> </a:t>
            </a:r>
            <a:r>
              <a:rPr dirty="0" err="1"/>
              <a:t>gobiernan</a:t>
            </a:r>
            <a:r>
              <a:rPr dirty="0"/>
              <a:t> tenant isolation, policy </a:t>
            </a:r>
            <a:r>
              <a:rPr dirty="0" err="1"/>
              <a:t>publicada</a:t>
            </a:r>
            <a:r>
              <a:rPr dirty="0"/>
              <a:t>, permissions, authority, </a:t>
            </a:r>
            <a:r>
              <a:rPr dirty="0" err="1"/>
              <a:t>idempotencia</a:t>
            </a:r>
            <a:r>
              <a:rPr dirty="0"/>
              <a:t>, </a:t>
            </a:r>
            <a:r>
              <a:rPr dirty="0" err="1"/>
              <a:t>transiciones</a:t>
            </a:r>
            <a:r>
              <a:rPr dirty="0"/>
              <a:t> </a:t>
            </a:r>
            <a:r>
              <a:rPr dirty="0" err="1"/>
              <a:t>válidas</a:t>
            </a:r>
            <a:r>
              <a:rPr dirty="0"/>
              <a:t>,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costo</a:t>
            </a:r>
            <a:r>
              <a:rPr dirty="0"/>
              <a:t>, </a:t>
            </a:r>
            <a:r>
              <a:rPr dirty="0" err="1"/>
              <a:t>ejecución</a:t>
            </a:r>
            <a:r>
              <a:rPr dirty="0"/>
              <a:t> de effects y </a:t>
            </a:r>
            <a:r>
              <a:rPr dirty="0" err="1"/>
              <a:t>registro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. Una confianza </a:t>
            </a:r>
            <a:r>
              <a:rPr dirty="0" err="1"/>
              <a:t>alta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amplía</a:t>
            </a:r>
            <a:r>
              <a:rPr dirty="0"/>
              <a:t> authority.</a:t>
            </a:r>
          </a:p>
          <a:p>
            <a:endParaRPr dirty="0"/>
          </a:p>
          <a:p>
            <a:r>
              <a:rPr dirty="0"/>
              <a:t>QUÉ NO DEBE CONVERTIRSE EN R1</a:t>
            </a:r>
          </a:p>
          <a:p>
            <a:r>
              <a:rPr dirty="0"/>
              <a:t>R1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un </a:t>
            </a:r>
            <a:r>
              <a:rPr dirty="0" err="1"/>
              <a:t>segundo</a:t>
            </a:r>
            <a:r>
              <a:rPr dirty="0"/>
              <a:t> CRM, </a:t>
            </a:r>
            <a:r>
              <a:rPr dirty="0" err="1"/>
              <a:t>guardar</a:t>
            </a:r>
            <a:r>
              <a:rPr dirty="0"/>
              <a:t> transcripts </a:t>
            </a:r>
            <a:r>
              <a:rPr dirty="0" err="1"/>
              <a:t>completos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verdad</a:t>
            </a:r>
            <a:r>
              <a:rPr dirty="0"/>
              <a:t> durable, </a:t>
            </a:r>
            <a:r>
              <a:rPr dirty="0" err="1"/>
              <a:t>forzar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Opportunity a un funnel lineal, </a:t>
            </a:r>
            <a:r>
              <a:rPr dirty="0" err="1"/>
              <a:t>duplicar</a:t>
            </a:r>
            <a:r>
              <a:rPr dirty="0"/>
              <a:t> </a:t>
            </a:r>
            <a:r>
              <a:rPr dirty="0" err="1"/>
              <a:t>inventario</a:t>
            </a:r>
            <a:r>
              <a:rPr dirty="0"/>
              <a:t> o appointments,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un runtime Relationship </a:t>
            </a:r>
            <a:r>
              <a:rPr dirty="0" err="1"/>
              <a:t>paralelo</a:t>
            </a:r>
            <a:r>
              <a:rPr dirty="0"/>
              <a:t> al kernel </a:t>
            </a:r>
            <a:r>
              <a:rPr dirty="0" err="1"/>
              <a:t>compartido</a:t>
            </a:r>
            <a:r>
              <a:rPr dirty="0"/>
              <a:t>. Relationship </a:t>
            </a:r>
            <a:r>
              <a:rPr dirty="0" err="1"/>
              <a:t>aporta</a:t>
            </a:r>
            <a:r>
              <a:rPr dirty="0"/>
              <a:t> </a:t>
            </a:r>
            <a:r>
              <a:rPr dirty="0" err="1"/>
              <a:t>semántica</a:t>
            </a:r>
            <a:r>
              <a:rPr dirty="0"/>
              <a:t> de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Cases, Facts, Work, approvals, capabilities y governance </a:t>
            </a:r>
            <a:r>
              <a:rPr dirty="0" err="1"/>
              <a:t>existentes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ESTADO ACTUAL FRENTE AL OBJETIVO</a:t>
            </a:r>
          </a:p>
          <a:p>
            <a:r>
              <a:rPr dirty="0"/>
              <a:t>La insignia “</a:t>
            </a:r>
            <a:r>
              <a:rPr dirty="0" err="1"/>
              <a:t>Objetivo</a:t>
            </a:r>
            <a:r>
              <a:rPr dirty="0"/>
              <a:t> · en </a:t>
            </a:r>
            <a:r>
              <a:rPr dirty="0" err="1"/>
              <a:t>construcción</a:t>
            </a:r>
            <a:r>
              <a:rPr dirty="0"/>
              <a:t>” es </a:t>
            </a:r>
            <a:r>
              <a:rPr dirty="0" err="1"/>
              <a:t>importante</a:t>
            </a:r>
            <a:r>
              <a:rPr dirty="0"/>
              <a:t>. </a:t>
            </a:r>
            <a:r>
              <a:rPr dirty="0" err="1"/>
              <a:t>Según</a:t>
            </a:r>
            <a:r>
              <a:rPr dirty="0"/>
              <a:t> el Slice Plan v1.19, SL-0 Organization substrate, SL-1 gateway reads, SL-2 admission shadow y SL-3 duplicate/supersession </a:t>
            </a:r>
            <a:r>
              <a:rPr dirty="0" err="1"/>
              <a:t>están</a:t>
            </a:r>
            <a:r>
              <a:rPr dirty="0"/>
              <a:t> Done. SL-4 Supervisor loop </a:t>
            </a:r>
            <a:r>
              <a:rPr dirty="0" err="1"/>
              <a:t>está</a:t>
            </a:r>
            <a:r>
              <a:rPr dirty="0"/>
              <a:t> READY </a:t>
            </a:r>
            <a:r>
              <a:rPr dirty="0" err="1"/>
              <a:t>pero</a:t>
            </a:r>
            <a:r>
              <a:rPr dirty="0"/>
              <a:t> no Planned en un Execution Cycle </a:t>
            </a:r>
            <a:r>
              <a:rPr dirty="0" err="1"/>
              <a:t>confirmado</a:t>
            </a:r>
            <a:r>
              <a:rPr dirty="0"/>
              <a:t>. SL-5 a SL-13 </a:t>
            </a:r>
            <a:r>
              <a:rPr dirty="0" err="1"/>
              <a:t>siguen</a:t>
            </a:r>
            <a:r>
              <a:rPr dirty="0"/>
              <a:t> NOT READY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dependencias</a:t>
            </a:r>
            <a:r>
              <a:rPr dirty="0"/>
              <a:t> </a:t>
            </a:r>
            <a:r>
              <a:rPr dirty="0" err="1"/>
              <a:t>externas</a:t>
            </a:r>
            <a:r>
              <a:rPr dirty="0"/>
              <a:t> o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pendientes</a:t>
            </a:r>
            <a:r>
              <a:rPr dirty="0"/>
              <a:t>. GitHub </a:t>
            </a:r>
            <a:r>
              <a:rPr dirty="0" err="1"/>
              <a:t>posee</a:t>
            </a:r>
            <a:r>
              <a:rPr dirty="0"/>
              <a:t> la </a:t>
            </a:r>
            <a:r>
              <a:rPr dirty="0" err="1"/>
              <a:t>verdad</a:t>
            </a:r>
            <a:r>
              <a:rPr dirty="0"/>
              <a:t> de </a:t>
            </a:r>
            <a:r>
              <a:rPr dirty="0" err="1"/>
              <a:t>ejecución</a:t>
            </a:r>
            <a:r>
              <a:rPr dirty="0"/>
              <a:t> posterior a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; </a:t>
            </a:r>
            <a:r>
              <a:rPr dirty="0" err="1"/>
              <a:t>esta</a:t>
            </a:r>
            <a:r>
              <a:rPr dirty="0"/>
              <a:t> nota </a:t>
            </a:r>
            <a:r>
              <a:rPr dirty="0" err="1"/>
              <a:t>refleja</a:t>
            </a:r>
            <a:r>
              <a:rPr dirty="0"/>
              <a:t> el baseline </a:t>
            </a:r>
            <a:r>
              <a:rPr dirty="0" err="1"/>
              <a:t>indicado</a:t>
            </a:r>
            <a:r>
              <a:rPr dirty="0"/>
              <a:t> en las </a:t>
            </a:r>
            <a:r>
              <a:rPr dirty="0" err="1"/>
              <a:t>fuentes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EJEMPLO INMOBILIARIO</a:t>
            </a:r>
          </a:p>
          <a:p>
            <a:r>
              <a:rPr dirty="0"/>
              <a:t>Una persona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WhatsApp </a:t>
            </a:r>
            <a:r>
              <a:rPr dirty="0" err="1"/>
              <a:t>por</a:t>
            </a:r>
            <a:r>
              <a:rPr dirty="0"/>
              <a:t> un </a:t>
            </a:r>
            <a:r>
              <a:rPr dirty="0" err="1"/>
              <a:t>departamento</a:t>
            </a:r>
            <a:r>
              <a:rPr dirty="0"/>
              <a:t> en </a:t>
            </a:r>
            <a:r>
              <a:rPr dirty="0" err="1"/>
              <a:t>renta</a:t>
            </a:r>
            <a:r>
              <a:rPr dirty="0"/>
              <a:t>. El gateway </a:t>
            </a:r>
            <a:r>
              <a:rPr dirty="0" err="1"/>
              <a:t>recupera</a:t>
            </a:r>
            <a:r>
              <a:rPr dirty="0"/>
              <a:t> lead, </a:t>
            </a:r>
            <a:r>
              <a:rPr dirty="0" err="1"/>
              <a:t>mensajes</a:t>
            </a:r>
            <a:r>
              <a:rPr dirty="0"/>
              <a:t>, Organization, advisor y </a:t>
            </a:r>
            <a:r>
              <a:rPr dirty="0" err="1"/>
              <a:t>propiedad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. Admission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un </a:t>
            </a:r>
            <a:r>
              <a:rPr dirty="0" err="1"/>
              <a:t>objetivo</a:t>
            </a:r>
            <a:r>
              <a:rPr dirty="0"/>
              <a:t> de </a:t>
            </a:r>
            <a:r>
              <a:rPr dirty="0" err="1"/>
              <a:t>renta</a:t>
            </a:r>
            <a:r>
              <a:rPr dirty="0"/>
              <a:t> y decide CREATE o ATTACH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continuidad</a:t>
            </a:r>
            <a:r>
              <a:rPr dirty="0"/>
              <a:t>. El Supervisor </a:t>
            </a:r>
            <a:r>
              <a:rPr dirty="0" err="1"/>
              <a:t>detecta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faltan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de </a:t>
            </a:r>
            <a:r>
              <a:rPr dirty="0" err="1"/>
              <a:t>mudanza</a:t>
            </a:r>
            <a:r>
              <a:rPr dirty="0"/>
              <a:t> y </a:t>
            </a:r>
            <a:r>
              <a:rPr dirty="0" err="1"/>
              <a:t>presupuesto</a:t>
            </a:r>
            <a:r>
              <a:rPr dirty="0"/>
              <a:t> </a:t>
            </a:r>
            <a:r>
              <a:rPr dirty="0" err="1"/>
              <a:t>confirmado</a:t>
            </a:r>
            <a:r>
              <a:rPr dirty="0"/>
              <a:t>;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solicitar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aclaración</a:t>
            </a:r>
            <a:r>
              <a:rPr dirty="0"/>
              <a:t> </a:t>
            </a:r>
            <a:r>
              <a:rPr dirty="0" err="1"/>
              <a:t>permitida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utiliza</a:t>
            </a:r>
            <a:r>
              <a:rPr dirty="0"/>
              <a:t> matching y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opciones</a:t>
            </a:r>
            <a:r>
              <a:rPr dirty="0"/>
              <a:t>. La persona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visitar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propiedad</a:t>
            </a:r>
            <a:r>
              <a:rPr dirty="0"/>
              <a:t>. Gu </a:t>
            </a:r>
            <a:r>
              <a:rPr dirty="0" err="1"/>
              <a:t>coordina</a:t>
            </a:r>
            <a:r>
              <a:rPr dirty="0"/>
              <a:t> el appointment bajo policy y </a:t>
            </a:r>
            <a:r>
              <a:rPr dirty="0" err="1"/>
              <a:t>autoridad</a:t>
            </a:r>
            <a:r>
              <a:rPr dirty="0"/>
              <a:t>. El </a:t>
            </a:r>
            <a:r>
              <a:rPr dirty="0" err="1"/>
              <a:t>proveedor</a:t>
            </a:r>
            <a:r>
              <a:rPr dirty="0"/>
              <a:t> </a:t>
            </a:r>
            <a:r>
              <a:rPr dirty="0" err="1"/>
              <a:t>confirma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reserva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el Case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visit_scheduled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satisface</a:t>
            </a:r>
            <a:r>
              <a:rPr dirty="0"/>
              <a:t> el </a:t>
            </a:r>
            <a:r>
              <a:rPr dirty="0" err="1"/>
              <a:t>contrato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de la </a:t>
            </a:r>
            <a:r>
              <a:rPr dirty="0" err="1"/>
              <a:t>fecha</a:t>
            </a:r>
            <a:r>
              <a:rPr dirty="0"/>
              <a:t>, la </a:t>
            </a:r>
            <a:r>
              <a:rPr dirty="0" err="1"/>
              <a:t>ausencia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no se </a:t>
            </a:r>
            <a:r>
              <a:rPr dirty="0" err="1"/>
              <a:t>convierte</a:t>
            </a:r>
            <a:r>
              <a:rPr dirty="0"/>
              <a:t> en no-show.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reconciliar</a:t>
            </a:r>
            <a:r>
              <a:rPr dirty="0"/>
              <a:t> con el advisor o </a:t>
            </a:r>
            <a:r>
              <a:rPr dirty="0" err="1"/>
              <a:t>prospecto</a:t>
            </a:r>
            <a:r>
              <a:rPr dirty="0"/>
              <a:t>. La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visita </a:t>
            </a:r>
            <a:r>
              <a:rPr dirty="0" err="1"/>
              <a:t>efectiva</a:t>
            </a:r>
            <a:r>
              <a:rPr dirty="0"/>
              <a:t> </a:t>
            </a:r>
            <a:r>
              <a:rPr dirty="0" err="1"/>
              <a:t>actualiza</a:t>
            </a:r>
            <a:r>
              <a:rPr dirty="0"/>
              <a:t> la Opportunity y </a:t>
            </a:r>
            <a:r>
              <a:rPr dirty="0" err="1"/>
              <a:t>despierta</a:t>
            </a:r>
            <a:r>
              <a:rPr dirty="0"/>
              <a:t>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reconsideración</a:t>
            </a:r>
            <a:r>
              <a:rPr dirty="0"/>
              <a:t>. Si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 o </a:t>
            </a:r>
            <a:r>
              <a:rPr dirty="0" err="1"/>
              <a:t>negociación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, se </a:t>
            </a:r>
            <a:r>
              <a:rPr dirty="0" err="1"/>
              <a:t>relaciona</a:t>
            </a:r>
            <a:r>
              <a:rPr dirty="0"/>
              <a:t> un Transaction Case sin </a:t>
            </a:r>
            <a:r>
              <a:rPr dirty="0" err="1"/>
              <a:t>cerrar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la Lead Opportunity.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Lead Opportunity: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comercial</a:t>
            </a:r>
            <a:r>
              <a:rPr lang="es-MX" dirty="0"/>
              <a:t>/de negocio</a:t>
            </a:r>
            <a:r>
              <a:rPr dirty="0"/>
              <a:t> durable </a:t>
            </a:r>
            <a:r>
              <a:rPr dirty="0" err="1"/>
              <a:t>aceptado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Gu en </a:t>
            </a:r>
            <a:r>
              <a:rPr dirty="0" err="1"/>
              <a:t>nombre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inmobiliaria</a:t>
            </a:r>
            <a:r>
              <a:rPr dirty="0"/>
              <a:t> para un </a:t>
            </a:r>
            <a:r>
              <a:rPr dirty="0" err="1"/>
              <a:t>prospecto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Operational Case: </a:t>
            </a:r>
            <a:r>
              <a:rPr dirty="0" err="1"/>
              <a:t>raíz</a:t>
            </a:r>
            <a:r>
              <a:rPr dirty="0"/>
              <a:t> durable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,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, </a:t>
            </a:r>
            <a:r>
              <a:rPr dirty="0" err="1"/>
              <a:t>hechos</a:t>
            </a:r>
            <a:r>
              <a:rPr dirty="0"/>
              <a:t>, Work y </a:t>
            </a:r>
            <a:r>
              <a:rPr dirty="0" err="1"/>
              <a:t>evidencia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del </a:t>
            </a:r>
            <a:r>
              <a:rPr dirty="0" err="1"/>
              <a:t>tiempo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Admission: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Opportunity, se vincula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se </a:t>
            </a:r>
            <a:r>
              <a:rPr dirty="0" err="1"/>
              <a:t>aclara</a:t>
            </a:r>
            <a:r>
              <a:rPr dirty="0"/>
              <a:t> antes de </a:t>
            </a:r>
            <a:r>
              <a:rPr dirty="0" err="1"/>
              <a:t>decidir</a:t>
            </a:r>
            <a:r>
              <a:rPr dirty="0"/>
              <a:t> o no se </a:t>
            </a:r>
            <a:r>
              <a:rPr dirty="0" err="1"/>
              <a:t>admite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Source of Record o SOR: </a:t>
            </a:r>
            <a:r>
              <a:rPr dirty="0" err="1"/>
              <a:t>sistema</a:t>
            </a:r>
            <a:r>
              <a:rPr dirty="0"/>
              <a:t> con </a:t>
            </a:r>
            <a:r>
              <a:rPr dirty="0" err="1"/>
              <a:t>autoridad</a:t>
            </a:r>
            <a:r>
              <a:rPr dirty="0"/>
              <a:t> para un </a:t>
            </a:r>
            <a:r>
              <a:rPr dirty="0" err="1"/>
              <a:t>hecho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</a:t>
            </a:r>
            <a:r>
              <a:rPr dirty="0" err="1"/>
              <a:t>específico</a:t>
            </a:r>
            <a:r>
              <a:rPr dirty="0"/>
              <a:t>; la </a:t>
            </a:r>
            <a:r>
              <a:rPr dirty="0" err="1"/>
              <a:t>autoridad</a:t>
            </a:r>
            <a:r>
              <a:rPr dirty="0"/>
              <a:t> se define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hecho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Freshness: </a:t>
            </a:r>
            <a:r>
              <a:rPr dirty="0" err="1"/>
              <a:t>vigencia</a:t>
            </a:r>
            <a:r>
              <a:rPr dirty="0"/>
              <a:t> temporal </a:t>
            </a:r>
            <a:r>
              <a:rPr dirty="0" err="1"/>
              <a:t>necesaria</a:t>
            </a:r>
            <a:r>
              <a:rPr dirty="0"/>
              <a:t> para </a:t>
            </a: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en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Provenance: </a:t>
            </a:r>
            <a:r>
              <a:rPr dirty="0" err="1"/>
              <a:t>registro</a:t>
            </a:r>
            <a:r>
              <a:rPr dirty="0"/>
              <a:t> de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proviene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afirmación</a:t>
            </a:r>
            <a:r>
              <a:rPr dirty="0"/>
              <a:t> o </a:t>
            </a:r>
            <a:r>
              <a:rPr dirty="0" err="1"/>
              <a:t>evidencia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Organization: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canónica</a:t>
            </a:r>
            <a:r>
              <a:rPr dirty="0"/>
              <a:t> </a:t>
            </a:r>
            <a:r>
              <a:rPr dirty="0" err="1"/>
              <a:t>dueña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de la </a:t>
            </a:r>
            <a:r>
              <a:rPr dirty="0" err="1"/>
              <a:t>inmobiliaria</a:t>
            </a:r>
            <a:r>
              <a:rPr dirty="0"/>
              <a:t> y </a:t>
            </a:r>
            <a:r>
              <a:rPr dirty="0" err="1"/>
              <a:t>límite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de tenancy.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Tenancy: </a:t>
            </a:r>
            <a:r>
              <a:rPr dirty="0" err="1"/>
              <a:t>aislamiento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y </a:t>
            </a:r>
            <a:r>
              <a:rPr dirty="0" err="1"/>
              <a:t>actores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acceder a </a:t>
            </a:r>
            <a:r>
              <a:rPr dirty="0" err="1"/>
              <a:t>datos</a:t>
            </a:r>
            <a:r>
              <a:rPr dirty="0"/>
              <a:t> o </a:t>
            </a:r>
            <a:r>
              <a:rPr dirty="0" err="1"/>
              <a:t>acciones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Membership: </a:t>
            </a:r>
            <a:r>
              <a:rPr dirty="0" err="1"/>
              <a:t>vínculo</a:t>
            </a:r>
            <a:r>
              <a:rPr dirty="0"/>
              <a:t> de un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autenticado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Organization y sus grants </a:t>
            </a:r>
            <a:r>
              <a:rPr dirty="0" err="1"/>
              <a:t>aplicables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Assignment: </a:t>
            </a:r>
            <a:r>
              <a:rPr dirty="0" err="1"/>
              <a:t>asignación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Opportunity a </a:t>
            </a:r>
            <a:r>
              <a:rPr dirty="0" err="1"/>
              <a:t>una</a:t>
            </a:r>
            <a:r>
              <a:rPr dirty="0"/>
              <a:t> persona o </a:t>
            </a:r>
            <a:r>
              <a:rPr dirty="0" err="1"/>
              <a:t>equipo</a:t>
            </a:r>
            <a:r>
              <a:rPr dirty="0"/>
              <a:t>; no </a:t>
            </a:r>
            <a:r>
              <a:rPr dirty="0" err="1"/>
              <a:t>transfiere</a:t>
            </a:r>
            <a:r>
              <a:rPr dirty="0"/>
              <a:t> Organization ownership.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DRI: persona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de un </a:t>
            </a:r>
            <a:r>
              <a:rPr dirty="0" err="1"/>
              <a:t>resultado</a:t>
            </a:r>
            <a:r>
              <a:rPr dirty="0"/>
              <a:t> o </a:t>
            </a:r>
            <a:r>
              <a:rPr dirty="0" err="1"/>
              <a:t>intervención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Case Supervisor: </a:t>
            </a:r>
            <a:r>
              <a:rPr dirty="0" err="1"/>
              <a:t>rol</a:t>
            </a:r>
            <a:r>
              <a:rPr dirty="0"/>
              <a:t> agentic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reconsidera</a:t>
            </a:r>
            <a:r>
              <a:rPr dirty="0"/>
              <a:t> un Case y </a:t>
            </a:r>
            <a:r>
              <a:rPr dirty="0" err="1"/>
              <a:t>elige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límites</a:t>
            </a:r>
            <a:r>
              <a:rPr dirty="0"/>
              <a:t> </a:t>
            </a:r>
            <a:r>
              <a:rPr dirty="0" err="1"/>
              <a:t>gobernados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Wake-up o reconsideration: </a:t>
            </a:r>
            <a:r>
              <a:rPr dirty="0" err="1"/>
              <a:t>evento</a:t>
            </a:r>
            <a:r>
              <a:rPr dirty="0"/>
              <a:t> o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provoca</a:t>
            </a:r>
            <a:r>
              <a:rPr dirty="0"/>
              <a:t> </a:t>
            </a:r>
            <a:r>
              <a:rPr dirty="0" err="1"/>
              <a:t>reevaluar</a:t>
            </a:r>
            <a:r>
              <a:rPr dirty="0"/>
              <a:t> el Case; no </a:t>
            </a:r>
            <a:r>
              <a:rPr dirty="0" err="1"/>
              <a:t>ordena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</a:t>
            </a:r>
            <a:r>
              <a:rPr dirty="0" err="1"/>
              <a:t>predeterminada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 err="1"/>
              <a:t>next_action_at</a:t>
            </a:r>
            <a:r>
              <a:rPr dirty="0"/>
              <a:t>: </a:t>
            </a:r>
            <a:r>
              <a:rPr dirty="0" err="1"/>
              <a:t>momento</a:t>
            </a:r>
            <a:r>
              <a:rPr dirty="0"/>
              <a:t> durable en </a:t>
            </a:r>
            <a:r>
              <a:rPr dirty="0" err="1"/>
              <a:t>que</a:t>
            </a:r>
            <a:r>
              <a:rPr dirty="0"/>
              <a:t> el Case </a:t>
            </a:r>
            <a:r>
              <a:rPr dirty="0" err="1"/>
              <a:t>debería</a:t>
            </a:r>
            <a:r>
              <a:rPr dirty="0"/>
              <a:t> </a:t>
            </a:r>
            <a:r>
              <a:rPr dirty="0" err="1"/>
              <a:t>despertar</a:t>
            </a:r>
            <a:r>
              <a:rPr dirty="0"/>
              <a:t> y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entonces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Work Item: </a:t>
            </a:r>
            <a:r>
              <a:rPr dirty="0" err="1"/>
              <a:t>trabajo</a:t>
            </a:r>
            <a:r>
              <a:rPr dirty="0"/>
              <a:t> durable </a:t>
            </a:r>
            <a:r>
              <a:rPr dirty="0" err="1"/>
              <a:t>perteneciente</a:t>
            </a:r>
            <a:r>
              <a:rPr dirty="0"/>
              <a:t> al Case, con </a:t>
            </a:r>
            <a:r>
              <a:rPr dirty="0" err="1"/>
              <a:t>espera</a:t>
            </a:r>
            <a:r>
              <a:rPr dirty="0"/>
              <a:t>, </a:t>
            </a:r>
            <a:r>
              <a:rPr dirty="0" err="1"/>
              <a:t>dependencias</a:t>
            </a:r>
            <a:r>
              <a:rPr dirty="0"/>
              <a:t>, </a:t>
            </a:r>
            <a:r>
              <a:rPr dirty="0" err="1"/>
              <a:t>intentos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Capability: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invocar</a:t>
            </a:r>
            <a:r>
              <a:rPr dirty="0"/>
              <a:t> bajo policy y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Human takeover: </a:t>
            </a:r>
            <a:r>
              <a:rPr dirty="0" err="1"/>
              <a:t>periodo</a:t>
            </a:r>
            <a:r>
              <a:rPr dirty="0"/>
              <a:t> en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 </a:t>
            </a:r>
            <a:r>
              <a:rPr dirty="0" err="1"/>
              <a:t>lidera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y Gu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hablar</a:t>
            </a:r>
            <a:r>
              <a:rPr dirty="0"/>
              <a:t> en </a:t>
            </a:r>
            <a:r>
              <a:rPr dirty="0" err="1"/>
              <a:t>competencia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permitido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Evidence gap: outcome </a:t>
            </a:r>
            <a:r>
              <a:rPr dirty="0" err="1"/>
              <a:t>esperado</a:t>
            </a:r>
            <a:r>
              <a:rPr dirty="0"/>
              <a:t> </a:t>
            </a:r>
            <a:r>
              <a:rPr dirty="0" err="1"/>
              <a:t>cuyo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materialmente</a:t>
            </a:r>
            <a:r>
              <a:rPr dirty="0"/>
              <a:t> </a:t>
            </a:r>
            <a:r>
              <a:rPr dirty="0" err="1"/>
              <a:t>desconocido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del </a:t>
            </a:r>
            <a:r>
              <a:rPr dirty="0" err="1"/>
              <a:t>momento</a:t>
            </a:r>
            <a:r>
              <a:rPr dirty="0"/>
              <a:t> </a:t>
            </a:r>
            <a:r>
              <a:rPr dirty="0" err="1"/>
              <a:t>relevante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Outcome: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o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respaldado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, </a:t>
            </a:r>
            <a:r>
              <a:rPr dirty="0" err="1"/>
              <a:t>distinto</a:t>
            </a:r>
            <a:r>
              <a:rPr dirty="0"/>
              <a:t> de </a:t>
            </a:r>
            <a:r>
              <a:rPr dirty="0" err="1"/>
              <a:t>actividad</a:t>
            </a:r>
            <a:r>
              <a:rPr dirty="0"/>
              <a:t> o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Unknown preserved: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explícita</a:t>
            </a:r>
            <a:r>
              <a:rPr dirty="0"/>
              <a:t> de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incertidumbre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evidencia</a:t>
            </a:r>
            <a:r>
              <a:rPr dirty="0"/>
              <a:t> no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afirmación</a:t>
            </a:r>
            <a:r>
              <a:rPr dirty="0"/>
              <a:t> defensible.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Lineage: </a:t>
            </a:r>
            <a:r>
              <a:rPr dirty="0" err="1"/>
              <a:t>relación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continuidad</a:t>
            </a:r>
            <a:r>
              <a:rPr dirty="0"/>
              <a:t>, duplicate, merge, split, supersession o </a:t>
            </a:r>
            <a:r>
              <a:rPr dirty="0" err="1"/>
              <a:t>asociación</a:t>
            </a:r>
            <a:r>
              <a:rPr dirty="0"/>
              <a:t> entre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Work Portfolio: </a:t>
            </a:r>
            <a:r>
              <a:rPr dirty="0" err="1"/>
              <a:t>proyección</a:t>
            </a:r>
            <a:r>
              <a:rPr dirty="0"/>
              <a:t> </a:t>
            </a:r>
            <a:r>
              <a:rPr dirty="0" err="1"/>
              <a:t>supervisora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y </a:t>
            </a:r>
            <a:r>
              <a:rPr dirty="0" err="1"/>
              <a:t>atención</a:t>
            </a:r>
            <a:r>
              <a:rPr dirty="0"/>
              <a:t> humana sin </a:t>
            </a:r>
            <a:r>
              <a:rPr dirty="0" err="1"/>
              <a:t>convertirse</a:t>
            </a:r>
            <a:r>
              <a:rPr dirty="0"/>
              <a:t> en </a:t>
            </a:r>
            <a:r>
              <a:rPr dirty="0" err="1"/>
              <a:t>fuente</a:t>
            </a:r>
            <a:r>
              <a:rPr dirty="0"/>
              <a:t> de </a:t>
            </a:r>
            <a:r>
              <a:rPr dirty="0" err="1"/>
              <a:t>verdad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Transaction Case: Case </a:t>
            </a:r>
            <a:r>
              <a:rPr dirty="0" err="1"/>
              <a:t>relacionado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posee</a:t>
            </a:r>
            <a:r>
              <a:rPr dirty="0"/>
              <a:t> un </a:t>
            </a:r>
            <a:r>
              <a:rPr dirty="0" err="1"/>
              <a:t>objetivo</a:t>
            </a:r>
            <a:r>
              <a:rPr dirty="0"/>
              <a:t> de </a:t>
            </a:r>
            <a:r>
              <a:rPr dirty="0" err="1"/>
              <a:t>ejecución</a:t>
            </a:r>
            <a:r>
              <a:rPr dirty="0"/>
              <a:t> de deal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concreto</a:t>
            </a:r>
            <a:r>
              <a:rPr dirty="0"/>
              <a:t>; </a:t>
            </a:r>
            <a:r>
              <a:rPr dirty="0" err="1"/>
              <a:t>su</a:t>
            </a:r>
            <a:r>
              <a:rPr dirty="0"/>
              <a:t> lifecycle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pertenece</a:t>
            </a:r>
            <a:r>
              <a:rPr dirty="0"/>
              <a:t> a Transaction Operations.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docs/product/operating-domains/relationship-operations/specs/lead-opportunity-lifecycle.md v0.3</a:t>
            </a:r>
          </a:p>
          <a:p>
            <a:r>
              <a:rPr dirty="0"/>
              <a:t>- docs/product/operating-domains/relationship-operations/specs/situational-progression-next-work-human-authority.md v0.3</a:t>
            </a:r>
          </a:p>
          <a:p>
            <a:r>
              <a:rPr dirty="0"/>
              <a:t>- docs/product/operating-domains/relationship-operations/specs/visit-progression-outcome-evidence-reconciliation.md v0.2</a:t>
            </a:r>
          </a:p>
          <a:p>
            <a:r>
              <a:rPr dirty="0"/>
              <a:t>- docs/product/operating-domains/relationship-operations/specs/work-portfolio-supervisory-experience.md v0.1</a:t>
            </a:r>
          </a:p>
          <a:p>
            <a:r>
              <a:rPr dirty="0"/>
              <a:t>- docs/product/roadmap-increments/r1-relationship-operations-v1/technical-plan.md v1.9</a:t>
            </a:r>
          </a:p>
          <a:p>
            <a:r>
              <a:rPr dirty="0"/>
              <a:t>- docs/product/roadmap-increments/r1-relationship-operations-v1/slice-plan.md v1.19</a:t>
            </a:r>
          </a:p>
          <a:p>
            <a:r>
              <a:rPr dirty="0"/>
              <a:t>- docs/adr/ADR-106-organization-native-multiseat-tenancy.md</a:t>
            </a:r>
          </a:p>
          <a:p>
            <a:r>
              <a:rPr dirty="0"/>
              <a:t>- docs/adr/ADR-107-runtime-conversation-authority.md</a:t>
            </a:r>
          </a:p>
          <a:p>
            <a:r>
              <a:rPr dirty="0"/>
              <a:t>- docs/adr/ADR-108-versioned-organization-policy.md</a:t>
            </a:r>
          </a:p>
          <a:p>
            <a:r>
              <a:rPr dirty="0"/>
              <a:t>- docs/adr/ADR-109-generic-case-relationships-lineage.md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dos </a:t>
            </a:r>
            <a:r>
              <a:rPr dirty="0" err="1"/>
              <a:t>dimensiones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leerse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separado</a:t>
            </a:r>
            <a:r>
              <a:rPr dirty="0"/>
              <a:t>. La </a:t>
            </a:r>
            <a:r>
              <a:rPr dirty="0" err="1"/>
              <a:t>primera</a:t>
            </a:r>
            <a:r>
              <a:rPr dirty="0"/>
              <a:t> es la </a:t>
            </a:r>
            <a:r>
              <a:rPr dirty="0" err="1"/>
              <a:t>progresión</a:t>
            </a:r>
            <a:r>
              <a:rPr dirty="0"/>
              <a:t> de </a:t>
            </a:r>
            <a:r>
              <a:rPr dirty="0" err="1"/>
              <a:t>autoridad</a:t>
            </a:r>
            <a:r>
              <a:rPr dirty="0"/>
              <a:t> del rollout: shadow, </a:t>
            </a:r>
            <a:r>
              <a:rPr dirty="0" err="1"/>
              <a:t>asistido</a:t>
            </a:r>
            <a:r>
              <a:rPr dirty="0"/>
              <a:t> y live </a:t>
            </a:r>
            <a:r>
              <a:rPr dirty="0" err="1"/>
              <a:t>selectivo</a:t>
            </a:r>
            <a:r>
              <a:rPr dirty="0"/>
              <a:t>. La </a:t>
            </a:r>
            <a:r>
              <a:rPr dirty="0" err="1"/>
              <a:t>segunda</a:t>
            </a:r>
            <a:r>
              <a:rPr dirty="0"/>
              <a:t> es el </a:t>
            </a:r>
            <a:r>
              <a:rPr dirty="0" err="1"/>
              <a:t>estado</a:t>
            </a:r>
            <a:r>
              <a:rPr dirty="0"/>
              <a:t> de </a:t>
            </a:r>
            <a:r>
              <a:rPr dirty="0" err="1"/>
              <a:t>preparación</a:t>
            </a:r>
            <a:r>
              <a:rPr dirty="0"/>
              <a:t> y </a:t>
            </a:r>
            <a:r>
              <a:rPr dirty="0" err="1"/>
              <a:t>ejecución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Slice: READY, Proposed, Planned, Executable, </a:t>
            </a:r>
            <a:r>
              <a:rPr dirty="0" err="1"/>
              <a:t>ejecución</a:t>
            </a:r>
            <a:r>
              <a:rPr dirty="0"/>
              <a:t> y Done. </a:t>
            </a:r>
            <a:r>
              <a:rPr dirty="0" err="1"/>
              <a:t>Confundir</a:t>
            </a:r>
            <a:r>
              <a:rPr dirty="0"/>
              <a:t> ambas </a:t>
            </a:r>
            <a:r>
              <a:rPr dirty="0" err="1"/>
              <a:t>dimensiones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parecer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Slice </a:t>
            </a:r>
            <a:r>
              <a:rPr dirty="0" err="1"/>
              <a:t>futura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programada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de rollout </a:t>
            </a:r>
            <a:r>
              <a:rPr dirty="0" err="1"/>
              <a:t>constituye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aprobación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. </a:t>
            </a:r>
            <a:r>
              <a:rPr dirty="0" err="1"/>
              <a:t>Ninguna</a:t>
            </a:r>
            <a:r>
              <a:rPr dirty="0"/>
              <a:t> de las dos </a:t>
            </a:r>
            <a:r>
              <a:rPr dirty="0" err="1"/>
              <a:t>inferencias</a:t>
            </a:r>
            <a:r>
              <a:rPr dirty="0"/>
              <a:t> es </a:t>
            </a:r>
            <a:r>
              <a:rPr dirty="0" err="1"/>
              <a:t>correcta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CORRECCIONES RESPECTO DE LA VERSIÓN ANTERIOR</a:t>
            </a:r>
          </a:p>
          <a:p>
            <a:r>
              <a:rPr dirty="0"/>
              <a:t>La </a:t>
            </a:r>
            <a:r>
              <a:rPr dirty="0" err="1"/>
              <a:t>estructura</a:t>
            </a:r>
            <a:r>
              <a:rPr dirty="0"/>
              <a:t> de cuatro </a:t>
            </a:r>
            <a:r>
              <a:rPr dirty="0" err="1"/>
              <a:t>bloques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de SL-0 a SL-13 </a:t>
            </a:r>
            <a:r>
              <a:rPr dirty="0" err="1"/>
              <a:t>eran</a:t>
            </a:r>
            <a:r>
              <a:rPr dirty="0"/>
              <a:t> </a:t>
            </a:r>
            <a:r>
              <a:rPr dirty="0" err="1"/>
              <a:t>sustancialmente</a:t>
            </a:r>
            <a:r>
              <a:rPr dirty="0"/>
              <a:t> </a:t>
            </a:r>
            <a:r>
              <a:rPr dirty="0" err="1"/>
              <a:t>correctos</a:t>
            </a:r>
            <a:r>
              <a:rPr dirty="0"/>
              <a:t> para el corte del 7 de </a:t>
            </a:r>
            <a:r>
              <a:rPr dirty="0" err="1"/>
              <a:t>septiembre</a:t>
            </a:r>
            <a:r>
              <a:rPr dirty="0"/>
              <a:t> de 2026. Se </a:t>
            </a:r>
            <a:r>
              <a:rPr dirty="0" err="1"/>
              <a:t>hicieron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precisiones</a:t>
            </a:r>
            <a:r>
              <a:rPr dirty="0"/>
              <a:t>. Primero, la insignia “Actual + </a:t>
            </a:r>
            <a:r>
              <a:rPr dirty="0" err="1"/>
              <a:t>planeado</a:t>
            </a:r>
            <a:r>
              <a:rPr dirty="0"/>
              <a:t>” se </a:t>
            </a:r>
            <a:r>
              <a:rPr dirty="0" err="1"/>
              <a:t>reemplazó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snapshot </a:t>
            </a:r>
            <a:r>
              <a:rPr dirty="0" err="1"/>
              <a:t>fechado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las Slices NOT READY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secuenciadas</a:t>
            </a:r>
            <a:r>
              <a:rPr dirty="0"/>
              <a:t> en el Technical Plan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están</a:t>
            </a:r>
            <a:r>
              <a:rPr dirty="0"/>
              <a:t> Planned en un Execution Cycle. Segundo, el </a:t>
            </a:r>
            <a:r>
              <a:rPr dirty="0" err="1"/>
              <a:t>subtítulo</a:t>
            </a:r>
            <a:r>
              <a:rPr dirty="0"/>
              <a:t> </a:t>
            </a:r>
            <a:r>
              <a:rPr dirty="0" err="1"/>
              <a:t>separa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stage gates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estados</a:t>
            </a:r>
            <a:r>
              <a:rPr dirty="0"/>
              <a:t> de Slice. Tercero, el </a:t>
            </a:r>
            <a:r>
              <a:rPr dirty="0" err="1"/>
              <a:t>resumen</a:t>
            </a:r>
            <a:r>
              <a:rPr dirty="0"/>
              <a:t> de </a:t>
            </a:r>
            <a:r>
              <a:rPr dirty="0" err="1"/>
              <a:t>bloqueos</a:t>
            </a:r>
            <a:r>
              <a:rPr dirty="0"/>
              <a:t> </a:t>
            </a:r>
            <a:r>
              <a:rPr dirty="0" err="1"/>
              <a:t>incorpora</a:t>
            </a:r>
            <a:r>
              <a:rPr dirty="0"/>
              <a:t> C3 y C7, </a:t>
            </a:r>
            <a:r>
              <a:rPr dirty="0" err="1"/>
              <a:t>además</a:t>
            </a:r>
            <a:r>
              <a:rPr dirty="0"/>
              <a:t> de C1, C2 y C6.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</a:t>
            </a:r>
            <a:r>
              <a:rPr dirty="0" err="1"/>
              <a:t>Comience</a:t>
            </a:r>
            <a:r>
              <a:rPr dirty="0"/>
              <a:t> </a:t>
            </a:r>
            <a:r>
              <a:rPr dirty="0" err="1"/>
              <a:t>explicando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el </a:t>
            </a:r>
            <a:r>
              <a:rPr dirty="0" err="1"/>
              <a:t>eje</a:t>
            </a:r>
            <a:r>
              <a:rPr dirty="0"/>
              <a:t> horizontal. No es un </a:t>
            </a:r>
            <a:r>
              <a:rPr dirty="0" err="1"/>
              <a:t>calendario</a:t>
            </a:r>
            <a:r>
              <a:rPr dirty="0"/>
              <a:t> con </a:t>
            </a:r>
            <a:r>
              <a:rPr dirty="0" err="1"/>
              <a:t>fechas</a:t>
            </a:r>
            <a:r>
              <a:rPr dirty="0"/>
              <a:t> </a:t>
            </a:r>
            <a:r>
              <a:rPr dirty="0" err="1"/>
              <a:t>comprometidas</a:t>
            </a:r>
            <a:r>
              <a:rPr dirty="0"/>
              <a:t>.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secuencia</a:t>
            </a:r>
            <a:r>
              <a:rPr dirty="0"/>
              <a:t> de </a:t>
            </a:r>
            <a:r>
              <a:rPr dirty="0" err="1"/>
              <a:t>expansión</a:t>
            </a:r>
            <a:r>
              <a:rPr dirty="0"/>
              <a:t> de </a:t>
            </a:r>
            <a:r>
              <a:rPr dirty="0" err="1"/>
              <a:t>capacidad</a:t>
            </a:r>
            <a:r>
              <a:rPr dirty="0"/>
              <a:t> y </a:t>
            </a:r>
            <a:r>
              <a:rPr dirty="0" err="1"/>
              <a:t>autoridad</a:t>
            </a:r>
            <a:r>
              <a:rPr dirty="0"/>
              <a:t>. R1 primero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representar</a:t>
            </a:r>
            <a:r>
              <a:rPr dirty="0"/>
              <a:t> </a:t>
            </a:r>
            <a:r>
              <a:rPr dirty="0" err="1"/>
              <a:t>correctamente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y </a:t>
            </a:r>
            <a:r>
              <a:rPr dirty="0" err="1"/>
              <a:t>razonar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ella</a:t>
            </a:r>
            <a:r>
              <a:rPr dirty="0"/>
              <a:t> sin </a:t>
            </a:r>
            <a:r>
              <a:rPr dirty="0" err="1"/>
              <a:t>hablar</a:t>
            </a:r>
            <a:r>
              <a:rPr dirty="0"/>
              <a:t> con el </a:t>
            </a:r>
            <a:r>
              <a:rPr dirty="0" err="1"/>
              <a:t>prospecto</a:t>
            </a:r>
            <a:r>
              <a:rPr dirty="0"/>
              <a:t>. </a:t>
            </a:r>
            <a:r>
              <a:rPr dirty="0" err="1"/>
              <a:t>Después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aprobados</a:t>
            </a:r>
            <a:r>
              <a:rPr dirty="0"/>
              <a:t>. </a:t>
            </a:r>
            <a:r>
              <a:rPr dirty="0" err="1"/>
              <a:t>Finalmente</a:t>
            </a:r>
            <a:r>
              <a:rPr dirty="0"/>
              <a:t> </a:t>
            </a:r>
            <a:r>
              <a:rPr dirty="0" err="1"/>
              <a:t>transfiere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 a Gu OS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selectiva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Opportunity.</a:t>
            </a:r>
          </a:p>
          <a:p>
            <a:endParaRPr dirty="0"/>
          </a:p>
          <a:p>
            <a:r>
              <a:rPr dirty="0"/>
              <a:t>2. El primer </a:t>
            </a:r>
            <a:r>
              <a:rPr dirty="0" err="1"/>
              <a:t>bloque</a:t>
            </a:r>
            <a:r>
              <a:rPr dirty="0"/>
              <a:t> </a:t>
            </a:r>
            <a:r>
              <a:rPr dirty="0" err="1"/>
              <a:t>reúne</a:t>
            </a:r>
            <a:r>
              <a:rPr dirty="0"/>
              <a:t> foundation y el </a:t>
            </a:r>
            <a:r>
              <a:rPr dirty="0" err="1"/>
              <a:t>trabajo</a:t>
            </a:r>
            <a:r>
              <a:rPr dirty="0"/>
              <a:t> shadow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completado</a:t>
            </a:r>
            <a:r>
              <a:rPr dirty="0"/>
              <a:t> o </a:t>
            </a:r>
            <a:r>
              <a:rPr dirty="0" err="1"/>
              <a:t>listo</a:t>
            </a:r>
            <a:r>
              <a:rPr dirty="0"/>
              <a:t>. SL-0 </a:t>
            </a:r>
            <a:r>
              <a:rPr dirty="0" err="1"/>
              <a:t>creó</a:t>
            </a:r>
            <a:r>
              <a:rPr dirty="0"/>
              <a:t> la base de Organization, memberships, </a:t>
            </a:r>
            <a:r>
              <a:rPr dirty="0" err="1"/>
              <a:t>aislamiento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tenant y bindings de </a:t>
            </a:r>
            <a:r>
              <a:rPr dirty="0" err="1"/>
              <a:t>identidad</a:t>
            </a:r>
            <a:r>
              <a:rPr dirty="0"/>
              <a:t> </a:t>
            </a:r>
            <a:r>
              <a:rPr dirty="0" err="1"/>
              <a:t>necesarios</a:t>
            </a:r>
            <a:r>
              <a:rPr dirty="0"/>
              <a:t> para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inmobiliaria</a:t>
            </a:r>
            <a:r>
              <a:rPr dirty="0"/>
              <a:t> sea </a:t>
            </a:r>
            <a:r>
              <a:rPr dirty="0" err="1"/>
              <a:t>dueña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. SL-1 </a:t>
            </a:r>
            <a:r>
              <a:rPr dirty="0" err="1"/>
              <a:t>incorporó</a:t>
            </a:r>
            <a:r>
              <a:rPr dirty="0"/>
              <a:t> </a:t>
            </a:r>
            <a:r>
              <a:rPr dirty="0" err="1"/>
              <a:t>lecturas</a:t>
            </a:r>
            <a:r>
              <a:rPr dirty="0"/>
              <a:t> </a:t>
            </a:r>
            <a:r>
              <a:rPr dirty="0" err="1"/>
              <a:t>acotadas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frescos de Traditional Gu con </a:t>
            </a:r>
            <a:r>
              <a:rPr dirty="0" err="1"/>
              <a:t>procedencia</a:t>
            </a:r>
            <a:r>
              <a:rPr dirty="0"/>
              <a:t> y </a:t>
            </a:r>
            <a:r>
              <a:rPr dirty="0" err="1"/>
              <a:t>verificación</a:t>
            </a:r>
            <a:r>
              <a:rPr dirty="0"/>
              <a:t> hosted. SL-2 </a:t>
            </a:r>
            <a:r>
              <a:rPr dirty="0" err="1"/>
              <a:t>implementó</a:t>
            </a:r>
            <a:r>
              <a:rPr dirty="0"/>
              <a:t> admission en shadow: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decidir</a:t>
            </a:r>
            <a:r>
              <a:rPr dirty="0"/>
              <a:t> CREATE, ATTACH, CLARIFY o DO NOT ADMIT y </a:t>
            </a:r>
            <a:r>
              <a:rPr dirty="0" err="1"/>
              <a:t>crear</a:t>
            </a:r>
            <a:r>
              <a:rPr dirty="0"/>
              <a:t> Cases sin </a:t>
            </a:r>
            <a:r>
              <a:rPr dirty="0" err="1"/>
              <a:t>tomar</a:t>
            </a:r>
            <a:r>
              <a:rPr dirty="0"/>
              <a:t> control de la </a:t>
            </a:r>
            <a:r>
              <a:rPr dirty="0" err="1"/>
              <a:t>relación</a:t>
            </a:r>
            <a:r>
              <a:rPr dirty="0"/>
              <a:t>. SL-3 </a:t>
            </a:r>
            <a:r>
              <a:rPr dirty="0" err="1"/>
              <a:t>agregó</a:t>
            </a:r>
            <a:r>
              <a:rPr dirty="0"/>
              <a:t> duplicate y supersession con lineage consultable. </a:t>
            </a:r>
            <a:r>
              <a:rPr dirty="0" err="1"/>
              <a:t>Estas</a:t>
            </a:r>
            <a:r>
              <a:rPr dirty="0"/>
              <a:t> cuatro Slices </a:t>
            </a:r>
            <a:r>
              <a:rPr dirty="0" err="1"/>
              <a:t>están</a:t>
            </a:r>
            <a:r>
              <a:rPr dirty="0"/>
              <a:t> Done </a:t>
            </a:r>
            <a:r>
              <a:rPr dirty="0" err="1"/>
              <a:t>conforme</a:t>
            </a:r>
            <a:r>
              <a:rPr dirty="0"/>
              <a:t> a sus </a:t>
            </a:r>
            <a:r>
              <a:rPr dirty="0" err="1"/>
              <a:t>contratos</a:t>
            </a:r>
            <a:r>
              <a:rPr dirty="0"/>
              <a:t> y Release Scope.</a:t>
            </a:r>
          </a:p>
          <a:p>
            <a:endParaRPr dirty="0"/>
          </a:p>
          <a:p>
            <a:r>
              <a:rPr dirty="0"/>
              <a:t>3. SL-4, Supervisor loop en shadow, es </a:t>
            </a:r>
            <a:r>
              <a:rPr dirty="0" err="1"/>
              <a:t>distinta</a:t>
            </a:r>
            <a:r>
              <a:rPr dirty="0"/>
              <a:t>. </a:t>
            </a:r>
            <a:r>
              <a:rPr dirty="0" err="1"/>
              <a:t>Está</a:t>
            </a:r>
            <a:r>
              <a:rPr dirty="0"/>
              <a:t> READY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SL-2 </a:t>
            </a:r>
            <a:r>
              <a:rPr dirty="0" err="1"/>
              <a:t>ya</a:t>
            </a:r>
            <a:r>
              <a:rPr dirty="0"/>
              <a:t> se </a:t>
            </a:r>
            <a:r>
              <a:rPr dirty="0" err="1"/>
              <a:t>satisfizo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Planned en un Execution Cycle </a:t>
            </a:r>
            <a:r>
              <a:rPr dirty="0" err="1"/>
              <a:t>confirmado</a:t>
            </a:r>
            <a:r>
              <a:rPr dirty="0"/>
              <a:t> y no </a:t>
            </a:r>
            <a:r>
              <a:rPr dirty="0" err="1"/>
              <a:t>tiene</a:t>
            </a:r>
            <a:r>
              <a:rPr dirty="0"/>
              <a:t> Accountable o DRI </a:t>
            </a:r>
            <a:r>
              <a:rPr dirty="0" err="1"/>
              <a:t>confirmado</a:t>
            </a:r>
            <a:r>
              <a:rPr dirty="0"/>
              <a:t>. READY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contrato</a:t>
            </a:r>
            <a:r>
              <a:rPr dirty="0"/>
              <a:t> de la Slice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definido</a:t>
            </a:r>
            <a:r>
              <a:rPr dirty="0"/>
              <a:t> para ser </a:t>
            </a:r>
            <a:r>
              <a:rPr dirty="0" err="1"/>
              <a:t>considerado</a:t>
            </a:r>
            <a:r>
              <a:rPr dirty="0"/>
              <a:t> en </a:t>
            </a:r>
            <a:r>
              <a:rPr dirty="0" err="1"/>
              <a:t>planificación</a:t>
            </a:r>
            <a:r>
              <a:rPr dirty="0"/>
              <a:t>. No </a:t>
            </a:r>
            <a:r>
              <a:rPr dirty="0" err="1"/>
              <a:t>autoriza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inicio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. El Slice Plan </a:t>
            </a:r>
            <a:r>
              <a:rPr dirty="0" err="1"/>
              <a:t>registra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preparada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 para </a:t>
            </a:r>
            <a:r>
              <a:rPr dirty="0" err="1"/>
              <a:t>admitir</a:t>
            </a:r>
            <a:r>
              <a:rPr dirty="0"/>
              <a:t> SL-4 en el </a:t>
            </a:r>
            <a:r>
              <a:rPr dirty="0" err="1"/>
              <a:t>remanente</a:t>
            </a:r>
            <a:r>
              <a:rPr dirty="0"/>
              <a:t> de Cycle 2,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no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confirmada</a:t>
            </a:r>
            <a:r>
              <a:rPr dirty="0"/>
              <a:t> en el snapshot.</a:t>
            </a:r>
          </a:p>
          <a:p>
            <a:endParaRPr dirty="0"/>
          </a:p>
          <a:p>
            <a:r>
              <a:rPr dirty="0"/>
              <a:t>4. El </a:t>
            </a:r>
            <a:r>
              <a:rPr dirty="0" err="1"/>
              <a:t>segundo</a:t>
            </a:r>
            <a:r>
              <a:rPr dirty="0"/>
              <a:t> </a:t>
            </a:r>
            <a:r>
              <a:rPr dirty="0" err="1"/>
              <a:t>bloque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la </a:t>
            </a:r>
            <a:r>
              <a:rPr dirty="0" err="1"/>
              <a:t>etapa</a:t>
            </a:r>
            <a:r>
              <a:rPr dirty="0"/>
              <a:t> shadow. SL-5 </a:t>
            </a:r>
            <a:r>
              <a:rPr dirty="0" err="1"/>
              <a:t>agrega</a:t>
            </a:r>
            <a:r>
              <a:rPr dirty="0"/>
              <a:t> wake-ups de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de Traditional Gu. SL-6 introduce </a:t>
            </a:r>
            <a:r>
              <a:rPr dirty="0" err="1"/>
              <a:t>resolución</a:t>
            </a:r>
            <a:r>
              <a:rPr dirty="0"/>
              <a:t> advisory de authority. SL-7 </a:t>
            </a:r>
            <a:r>
              <a:rPr dirty="0" err="1"/>
              <a:t>presenta</a:t>
            </a:r>
            <a:r>
              <a:rPr dirty="0"/>
              <a:t> Work Portfolio v1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proyección</a:t>
            </a:r>
            <a:r>
              <a:rPr dirty="0"/>
              <a:t> </a:t>
            </a:r>
            <a:r>
              <a:rPr dirty="0" err="1"/>
              <a:t>determinística</a:t>
            </a:r>
            <a:r>
              <a:rPr dirty="0"/>
              <a:t> para </a:t>
            </a:r>
            <a:r>
              <a:rPr dirty="0" err="1"/>
              <a:t>asesores</a:t>
            </a:r>
            <a:r>
              <a:rPr dirty="0"/>
              <a:t>. SL-8 </a:t>
            </a:r>
            <a:r>
              <a:rPr dirty="0" err="1"/>
              <a:t>incorpora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visita </a:t>
            </a:r>
            <a:r>
              <a:rPr dirty="0" err="1"/>
              <a:t>preservando</a:t>
            </a:r>
            <a:r>
              <a:rPr dirty="0"/>
              <a:t> unknown y </a:t>
            </a:r>
            <a:r>
              <a:rPr dirty="0" err="1"/>
              <a:t>conflictos</a:t>
            </a:r>
            <a:r>
              <a:rPr dirty="0"/>
              <a:t>. SL-8b </a:t>
            </a:r>
            <a:r>
              <a:rPr dirty="0" err="1"/>
              <a:t>crea</a:t>
            </a:r>
            <a:r>
              <a:rPr dirty="0"/>
              <a:t> la </a:t>
            </a:r>
            <a:r>
              <a:rPr dirty="0" err="1"/>
              <a:t>frontera</a:t>
            </a:r>
            <a:r>
              <a:rPr dirty="0"/>
              <a:t> </a:t>
            </a:r>
            <a:r>
              <a:rPr dirty="0" err="1"/>
              <a:t>mínima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un Transaction Case. </a:t>
            </a:r>
            <a:r>
              <a:rPr dirty="0" err="1"/>
              <a:t>Todas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NOT READY en el corte </a:t>
            </a:r>
            <a:r>
              <a:rPr dirty="0" err="1"/>
              <a:t>mostrado</a:t>
            </a:r>
            <a:r>
              <a:rPr dirty="0"/>
              <a:t>. Esto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estén</a:t>
            </a:r>
            <a:r>
              <a:rPr dirty="0"/>
              <a:t> </a:t>
            </a:r>
            <a:r>
              <a:rPr dirty="0" err="1"/>
              <a:t>rechazadas</a:t>
            </a:r>
            <a:r>
              <a:rPr dirty="0"/>
              <a:t> o fuera de R1.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todavía</a:t>
            </a:r>
            <a:r>
              <a:rPr dirty="0"/>
              <a:t> no </a:t>
            </a:r>
            <a:r>
              <a:rPr dirty="0" err="1"/>
              <a:t>cumplen</a:t>
            </a:r>
            <a:r>
              <a:rPr dirty="0"/>
              <a:t> la Definition of Ready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dependen</a:t>
            </a:r>
            <a:r>
              <a:rPr dirty="0"/>
              <a:t> de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o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5. Shadow describe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restricción</a:t>
            </a:r>
            <a:r>
              <a:rPr dirty="0"/>
              <a:t> de </a:t>
            </a:r>
            <a:r>
              <a:rPr dirty="0" err="1"/>
              <a:t>autoridad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simulación</a:t>
            </a:r>
            <a:r>
              <a:rPr dirty="0"/>
              <a:t> superficial.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Cases, Facts, Work,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propuestas</a:t>
            </a:r>
            <a:r>
              <a:rPr dirty="0"/>
              <a:t>, </a:t>
            </a:r>
            <a:r>
              <a:rPr dirty="0" err="1"/>
              <a:t>posturas</a:t>
            </a:r>
            <a:r>
              <a:rPr dirty="0"/>
              <a:t>, lineage y </a:t>
            </a:r>
            <a:r>
              <a:rPr dirty="0" err="1"/>
              <a:t>evidencia</a:t>
            </a:r>
            <a:r>
              <a:rPr dirty="0"/>
              <a:t>. También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capacidades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o no </a:t>
            </a:r>
            <a:r>
              <a:rPr dirty="0" err="1"/>
              <a:t>orientadas</a:t>
            </a:r>
            <a:r>
              <a:rPr dirty="0"/>
              <a:t> al </a:t>
            </a:r>
            <a:r>
              <a:rPr dirty="0" err="1"/>
              <a:t>prospecto</a:t>
            </a:r>
            <a:r>
              <a:rPr dirty="0"/>
              <a:t>.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inalcanzable</a:t>
            </a:r>
            <a:r>
              <a:rPr dirty="0"/>
              <a:t> son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 </a:t>
            </a:r>
            <a:r>
              <a:rPr dirty="0" err="1"/>
              <a:t>dirigidos</a:t>
            </a:r>
            <a:r>
              <a:rPr dirty="0"/>
              <a:t> al </a:t>
            </a:r>
            <a:r>
              <a:rPr dirty="0" err="1"/>
              <a:t>prospecto</a:t>
            </a:r>
            <a:r>
              <a:rPr dirty="0"/>
              <a:t>. Las </a:t>
            </a:r>
            <a:r>
              <a:rPr dirty="0" err="1"/>
              <a:t>decisiones</a:t>
            </a:r>
            <a:r>
              <a:rPr dirty="0"/>
              <a:t> del Supervisor se </a:t>
            </a:r>
            <a:r>
              <a:rPr dirty="0" err="1"/>
              <a:t>registran</a:t>
            </a:r>
            <a:r>
              <a:rPr dirty="0"/>
              <a:t> y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compararse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replay antes de </a:t>
            </a:r>
            <a:r>
              <a:rPr dirty="0" err="1"/>
              <a:t>ampliar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6. El </a:t>
            </a:r>
            <a:r>
              <a:rPr dirty="0" err="1"/>
              <a:t>tercer</a:t>
            </a:r>
            <a:r>
              <a:rPr dirty="0"/>
              <a:t> </a:t>
            </a:r>
            <a:r>
              <a:rPr dirty="0" err="1"/>
              <a:t>bloque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SL-9 y SL-10, la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asistida</a:t>
            </a:r>
            <a:r>
              <a:rPr dirty="0"/>
              <a:t>. SL-9 </a:t>
            </a:r>
            <a:r>
              <a:rPr dirty="0" err="1"/>
              <a:t>incorpora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un effect ledger, operation keys, </a:t>
            </a:r>
            <a:r>
              <a:rPr dirty="0" err="1"/>
              <a:t>correlación</a:t>
            </a:r>
            <a:r>
              <a:rPr dirty="0"/>
              <a:t> de </a:t>
            </a:r>
            <a:r>
              <a:rPr dirty="0" err="1"/>
              <a:t>proveedor</a:t>
            </a:r>
            <a:r>
              <a:rPr dirty="0"/>
              <a:t> y </a:t>
            </a:r>
            <a:r>
              <a:rPr dirty="0" err="1"/>
              <a:t>reconciliación</a:t>
            </a:r>
            <a:r>
              <a:rPr dirty="0"/>
              <a:t>. SL-10 </a:t>
            </a:r>
            <a:r>
              <a:rPr dirty="0" err="1"/>
              <a:t>incorpora</a:t>
            </a:r>
            <a:r>
              <a:rPr dirty="0"/>
              <a:t> create, reschedule y cancel de appointments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</a:t>
            </a:r>
            <a:r>
              <a:rPr dirty="0" err="1"/>
              <a:t>protegido</a:t>
            </a:r>
            <a:r>
              <a:rPr dirty="0"/>
              <a:t>. En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efecto</a:t>
            </a:r>
            <a:r>
              <a:rPr dirty="0"/>
              <a:t> de </a:t>
            </a:r>
            <a:r>
              <a:rPr dirty="0" err="1"/>
              <a:t>mensaje</a:t>
            </a:r>
            <a:r>
              <a:rPr dirty="0"/>
              <a:t> o appointment </a:t>
            </a:r>
            <a:r>
              <a:rPr dirty="0" err="1"/>
              <a:t>sigue</a:t>
            </a:r>
            <a:r>
              <a:rPr dirty="0"/>
              <a:t> el modo prepare + approval.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proponer</a:t>
            </a:r>
            <a:r>
              <a:rPr dirty="0"/>
              <a:t> y </a:t>
            </a:r>
            <a:r>
              <a:rPr dirty="0" err="1"/>
              <a:t>preparar</a:t>
            </a:r>
            <a:r>
              <a:rPr dirty="0"/>
              <a:t> el </a:t>
            </a:r>
            <a:r>
              <a:rPr dirty="0" err="1"/>
              <a:t>efecto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autorizado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aprobarlo</a:t>
            </a:r>
            <a:r>
              <a:rPr dirty="0"/>
              <a:t> antes de la </a:t>
            </a:r>
            <a:r>
              <a:rPr dirty="0" err="1"/>
              <a:t>ejecución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7. Assisted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tenga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el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Traditional Gu conserve </a:t>
            </a:r>
            <a:r>
              <a:rPr dirty="0" err="1"/>
              <a:t>necesariamente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.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protegido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un gate </a:t>
            </a:r>
            <a:r>
              <a:rPr dirty="0" err="1"/>
              <a:t>humano</a:t>
            </a:r>
            <a:r>
              <a:rPr dirty="0"/>
              <a:t>. La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rodeada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comprobaciones</a:t>
            </a:r>
            <a:r>
              <a:rPr dirty="0"/>
              <a:t> </a:t>
            </a:r>
            <a:r>
              <a:rPr dirty="0" err="1"/>
              <a:t>determinísticas</a:t>
            </a:r>
            <a:r>
              <a:rPr dirty="0"/>
              <a:t> de tenant, policy, runtime authority, conversation authority, </a:t>
            </a:r>
            <a:r>
              <a:rPr dirty="0" err="1"/>
              <a:t>frescura</a:t>
            </a:r>
            <a:r>
              <a:rPr dirty="0"/>
              <a:t>, </a:t>
            </a:r>
            <a:r>
              <a:rPr dirty="0" err="1"/>
              <a:t>idempotencia</a:t>
            </a:r>
            <a:r>
              <a:rPr dirty="0"/>
              <a:t> y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. Una </a:t>
            </a:r>
            <a:r>
              <a:rPr dirty="0" err="1"/>
              <a:t>aprobación</a:t>
            </a:r>
            <a:r>
              <a:rPr dirty="0"/>
              <a:t> humana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convierte</a:t>
            </a:r>
            <a:r>
              <a:rPr dirty="0"/>
              <a:t> la </a:t>
            </a:r>
            <a:r>
              <a:rPr dirty="0" err="1"/>
              <a:t>respuesta</a:t>
            </a:r>
            <a:r>
              <a:rPr dirty="0"/>
              <a:t> del </a:t>
            </a:r>
            <a:r>
              <a:rPr dirty="0" err="1"/>
              <a:t>proveedor</a:t>
            </a:r>
            <a:r>
              <a:rPr dirty="0"/>
              <a:t> en un outcome de </a:t>
            </a:r>
            <a:r>
              <a:rPr dirty="0" err="1"/>
              <a:t>negocio</a:t>
            </a:r>
            <a:r>
              <a:rPr dirty="0"/>
              <a:t>. La </a:t>
            </a:r>
            <a:r>
              <a:rPr dirty="0" err="1"/>
              <a:t>entrega</a:t>
            </a:r>
            <a:r>
              <a:rPr dirty="0"/>
              <a:t>, la visita </a:t>
            </a:r>
            <a:r>
              <a:rPr dirty="0" err="1"/>
              <a:t>efectiva</a:t>
            </a:r>
            <a:r>
              <a:rPr dirty="0"/>
              <a:t> y el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separada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8. El </a:t>
            </a:r>
            <a:r>
              <a:rPr dirty="0" err="1"/>
              <a:t>cuarto</a:t>
            </a:r>
            <a:r>
              <a:rPr dirty="0"/>
              <a:t> </a:t>
            </a:r>
            <a:r>
              <a:rPr dirty="0" err="1"/>
              <a:t>bloque</a:t>
            </a:r>
            <a:r>
              <a:rPr dirty="0"/>
              <a:t> </a:t>
            </a:r>
            <a:r>
              <a:rPr dirty="0" err="1"/>
              <a:t>comienza</a:t>
            </a:r>
            <a:r>
              <a:rPr dirty="0"/>
              <a:t> con SL-11, selective live. </a:t>
            </a:r>
            <a:r>
              <a:rPr dirty="0" err="1"/>
              <a:t>Aquí</a:t>
            </a:r>
            <a:r>
              <a:rPr dirty="0"/>
              <a:t> la runtime decision authority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transferirse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Opportunity a Gu OS bajo enforcement de C2. Traditional Gu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suprimir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competidoras</a:t>
            </a:r>
            <a:r>
              <a:rPr dirty="0"/>
              <a:t> para ese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. Human takeover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transferir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persona sin </a:t>
            </a:r>
            <a:r>
              <a:rPr dirty="0" err="1"/>
              <a:t>eliminar</a:t>
            </a:r>
            <a:r>
              <a:rPr dirty="0"/>
              <a:t> el Case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durable. SL-12 </a:t>
            </a:r>
            <a:r>
              <a:rPr dirty="0" err="1"/>
              <a:t>mejora</a:t>
            </a:r>
            <a:r>
              <a:rPr dirty="0"/>
              <a:t> el Work Portfolio con ranking contextual model-mediated y fallback </a:t>
            </a:r>
            <a:r>
              <a:rPr dirty="0" err="1"/>
              <a:t>determinístico</a:t>
            </a:r>
            <a:r>
              <a:rPr dirty="0"/>
              <a:t>. SL-13 </a:t>
            </a:r>
            <a:r>
              <a:rPr dirty="0" err="1"/>
              <a:t>agrega</a:t>
            </a:r>
            <a:r>
              <a:rPr dirty="0"/>
              <a:t> economics y </a:t>
            </a:r>
            <a:r>
              <a:rPr dirty="0" err="1"/>
              <a:t>atribución</a:t>
            </a:r>
            <a:r>
              <a:rPr dirty="0"/>
              <a:t> </a:t>
            </a:r>
            <a:r>
              <a:rPr dirty="0" err="1"/>
              <a:t>honesta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y </a:t>
            </a:r>
            <a:r>
              <a:rPr dirty="0" err="1"/>
              <a:t>costo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9. Selective live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lanzamiento</a:t>
            </a:r>
            <a:r>
              <a:rPr dirty="0"/>
              <a:t> general. La </a:t>
            </a:r>
            <a:r>
              <a:rPr dirty="0" err="1"/>
              <a:t>ampliación</a:t>
            </a:r>
            <a:r>
              <a:rPr dirty="0"/>
              <a:t> </a:t>
            </a: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Organization y </a:t>
            </a:r>
            <a:r>
              <a:rPr dirty="0" err="1"/>
              <a:t>por</a:t>
            </a:r>
            <a:r>
              <a:rPr dirty="0"/>
              <a:t> Opportunity, con flags, canary, rollback, </a:t>
            </a:r>
            <a:r>
              <a:rPr dirty="0" err="1"/>
              <a:t>observabilidad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. 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demostrar</a:t>
            </a:r>
            <a:r>
              <a:rPr dirty="0"/>
              <a:t> cero </a:t>
            </a:r>
            <a:r>
              <a:rPr dirty="0" err="1"/>
              <a:t>conflictos</a:t>
            </a:r>
            <a:r>
              <a:rPr dirty="0"/>
              <a:t> de </a:t>
            </a:r>
            <a:r>
              <a:rPr dirty="0" err="1"/>
              <a:t>autoridad</a:t>
            </a:r>
            <a:r>
              <a:rPr dirty="0"/>
              <a:t>, </a:t>
            </a:r>
            <a:r>
              <a:rPr dirty="0" err="1"/>
              <a:t>comportamiento</a:t>
            </a:r>
            <a:r>
              <a:rPr dirty="0"/>
              <a:t> </a:t>
            </a:r>
            <a:r>
              <a:rPr dirty="0" err="1"/>
              <a:t>reconciliable</a:t>
            </a:r>
            <a:r>
              <a:rPr dirty="0"/>
              <a:t> y outcomes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defensibles</a:t>
            </a:r>
            <a:r>
              <a:rPr dirty="0"/>
              <a:t> antes de </a:t>
            </a:r>
            <a:r>
              <a:rPr dirty="0" err="1"/>
              <a:t>ampliar</a:t>
            </a:r>
            <a:r>
              <a:rPr dirty="0"/>
              <a:t> la </a:t>
            </a:r>
            <a:r>
              <a:rPr dirty="0" err="1"/>
              <a:t>cobertura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10.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la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dimensión</a:t>
            </a:r>
            <a:r>
              <a:rPr dirty="0"/>
              <a:t>. READY es un </a:t>
            </a:r>
            <a:r>
              <a:rPr dirty="0" err="1"/>
              <a:t>atributo</a:t>
            </a:r>
            <a:r>
              <a:rPr dirty="0"/>
              <a:t> del </a:t>
            </a:r>
            <a:r>
              <a:rPr dirty="0" err="1"/>
              <a:t>contrato</a:t>
            </a:r>
            <a:r>
              <a:rPr dirty="0"/>
              <a:t> de Slice. Proposed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 la </a:t>
            </a:r>
            <a:r>
              <a:rPr dirty="0" err="1"/>
              <a:t>sugiere</a:t>
            </a:r>
            <a:r>
              <a:rPr dirty="0"/>
              <a:t> para un Cycle. Planned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confirmó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inclusión</a:t>
            </a:r>
            <a:r>
              <a:rPr dirty="0"/>
              <a:t> y un Accountable o DRI. Executable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 </a:t>
            </a:r>
            <a:r>
              <a:rPr dirty="0" err="1"/>
              <a:t>derivada</a:t>
            </a:r>
            <a:r>
              <a:rPr dirty="0"/>
              <a:t>: la Slice </a:t>
            </a:r>
            <a:r>
              <a:rPr dirty="0" err="1"/>
              <a:t>está</a:t>
            </a:r>
            <a:r>
              <a:rPr dirty="0"/>
              <a:t> Planned, sus </a:t>
            </a:r>
            <a:r>
              <a:rPr dirty="0" err="1"/>
              <a:t>prerequisitos</a:t>
            </a:r>
            <a:r>
              <a:rPr dirty="0"/>
              <a:t> se </a:t>
            </a:r>
            <a:r>
              <a:rPr dirty="0" err="1"/>
              <a:t>cumplieron</a:t>
            </a:r>
            <a:r>
              <a:rPr dirty="0"/>
              <a:t> y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. Done </a:t>
            </a:r>
            <a:r>
              <a:rPr dirty="0" err="1"/>
              <a:t>requiere</a:t>
            </a:r>
            <a:r>
              <a:rPr dirty="0"/>
              <a:t>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aceptación</a:t>
            </a:r>
            <a:r>
              <a:rPr dirty="0"/>
              <a:t>, Definition of Done y Release Scope. Merge o CI </a:t>
            </a:r>
            <a:r>
              <a:rPr dirty="0" err="1"/>
              <a:t>verde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formar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de la </a:t>
            </a:r>
            <a:r>
              <a:rPr dirty="0" err="1"/>
              <a:t>evidencia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equivalen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solos a Done.</a:t>
            </a:r>
          </a:p>
          <a:p>
            <a:endParaRPr dirty="0"/>
          </a:p>
          <a:p>
            <a:r>
              <a:rPr dirty="0"/>
              <a:t>11. El </a:t>
            </a:r>
            <a:r>
              <a:rPr dirty="0" err="1"/>
              <a:t>horizonte</a:t>
            </a:r>
            <a:r>
              <a:rPr dirty="0"/>
              <a:t> READY es la </a:t>
            </a:r>
            <a:r>
              <a:rPr dirty="0" err="1"/>
              <a:t>cantidad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genuinamente</a:t>
            </a:r>
            <a:r>
              <a:rPr dirty="0"/>
              <a:t> </a:t>
            </a:r>
            <a:r>
              <a:rPr dirty="0" err="1"/>
              <a:t>listo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delante</a:t>
            </a:r>
            <a:r>
              <a:rPr dirty="0"/>
              <a:t>. Se </a:t>
            </a:r>
            <a:r>
              <a:rPr dirty="0" err="1"/>
              <a:t>mide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, no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</a:t>
            </a:r>
            <a:r>
              <a:rPr dirty="0" err="1"/>
              <a:t>fijo</a:t>
            </a:r>
            <a:r>
              <a:rPr dirty="0"/>
              <a:t> de Slices. En </a:t>
            </a:r>
            <a:r>
              <a:rPr dirty="0" err="1"/>
              <a:t>este</a:t>
            </a:r>
            <a:r>
              <a:rPr dirty="0"/>
              <a:t> snapshot </a:t>
            </a:r>
            <a:r>
              <a:rPr dirty="0" err="1"/>
              <a:t>sólo</a:t>
            </a:r>
            <a:r>
              <a:rPr dirty="0"/>
              <a:t> SL-4 </a:t>
            </a:r>
            <a:r>
              <a:rPr dirty="0" err="1"/>
              <a:t>está</a:t>
            </a:r>
            <a:r>
              <a:rPr dirty="0"/>
              <a:t> READY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estimación</a:t>
            </a:r>
            <a:r>
              <a:rPr dirty="0"/>
              <a:t> </a:t>
            </a:r>
            <a:r>
              <a:rPr dirty="0" err="1"/>
              <a:t>congelada</a:t>
            </a:r>
            <a:r>
              <a:rPr dirty="0"/>
              <a:t> es de </a:t>
            </a:r>
            <a:r>
              <a:rPr dirty="0" err="1"/>
              <a:t>tres</a:t>
            </a:r>
            <a:r>
              <a:rPr dirty="0"/>
              <a:t> a </a:t>
            </a:r>
            <a:r>
              <a:rPr dirty="0" err="1"/>
              <a:t>cinco</a:t>
            </a:r>
            <a:r>
              <a:rPr dirty="0"/>
              <a:t> días con confianza Low. Por </a:t>
            </a:r>
            <a:r>
              <a:rPr dirty="0" err="1"/>
              <a:t>ello</a:t>
            </a:r>
            <a:r>
              <a:rPr dirty="0"/>
              <a:t> el </a:t>
            </a:r>
            <a:r>
              <a:rPr dirty="0" err="1"/>
              <a:t>horizonte</a:t>
            </a:r>
            <a:r>
              <a:rPr dirty="0"/>
              <a:t> es </a:t>
            </a:r>
            <a:r>
              <a:rPr dirty="0" err="1"/>
              <a:t>delgado</a:t>
            </a:r>
            <a:r>
              <a:rPr dirty="0"/>
              <a:t>. </a:t>
            </a:r>
            <a:r>
              <a:rPr dirty="0" err="1"/>
              <a:t>Rebajar</a:t>
            </a:r>
            <a:r>
              <a:rPr dirty="0"/>
              <a:t> la Definition of Ready para </a:t>
            </a:r>
            <a:r>
              <a:rPr dirty="0" err="1"/>
              <a:t>llenarlo</a:t>
            </a:r>
            <a:r>
              <a:rPr dirty="0"/>
              <a:t> </a:t>
            </a:r>
            <a:r>
              <a:rPr dirty="0" err="1"/>
              <a:t>destruiría</a:t>
            </a:r>
            <a:r>
              <a:rPr dirty="0"/>
              <a:t> la </a:t>
            </a:r>
            <a:r>
              <a:rPr dirty="0" err="1"/>
              <a:t>función</a:t>
            </a:r>
            <a:r>
              <a:rPr dirty="0"/>
              <a:t> del control.</a:t>
            </a:r>
          </a:p>
          <a:p>
            <a:endParaRPr dirty="0"/>
          </a:p>
          <a:p>
            <a:r>
              <a:rPr dirty="0"/>
              <a:t>12. La </a:t>
            </a:r>
            <a:r>
              <a:rPr dirty="0" err="1"/>
              <a:t>razón</a:t>
            </a:r>
            <a:r>
              <a:rPr dirty="0"/>
              <a:t> del </a:t>
            </a:r>
            <a:r>
              <a:rPr dirty="0" err="1"/>
              <a:t>horizonte</a:t>
            </a:r>
            <a:r>
              <a:rPr dirty="0"/>
              <a:t> </a:t>
            </a:r>
            <a:r>
              <a:rPr dirty="0" err="1"/>
              <a:t>delgado</a:t>
            </a:r>
            <a:r>
              <a:rPr dirty="0"/>
              <a:t> es </a:t>
            </a:r>
            <a:r>
              <a:rPr dirty="0" err="1"/>
              <a:t>concreta</a:t>
            </a:r>
            <a:r>
              <a:rPr dirty="0"/>
              <a:t>. SL-5 </a:t>
            </a:r>
            <a:r>
              <a:rPr dirty="0" err="1"/>
              <a:t>depende</a:t>
            </a:r>
            <a:r>
              <a:rPr dirty="0"/>
              <a:t> de C1 para event forwarding. SL-6 </a:t>
            </a:r>
            <a:r>
              <a:rPr dirty="0" err="1"/>
              <a:t>depende</a:t>
            </a:r>
            <a:r>
              <a:rPr dirty="0"/>
              <a:t> de C2 en modo advisory. SL-9 </a:t>
            </a:r>
            <a:r>
              <a:rPr dirty="0" err="1"/>
              <a:t>necesita</a:t>
            </a:r>
            <a:r>
              <a:rPr dirty="0"/>
              <a:t> C3 para </a:t>
            </a:r>
            <a:r>
              <a:rPr dirty="0" err="1"/>
              <a:t>transporte</a:t>
            </a:r>
            <a:r>
              <a:rPr dirty="0"/>
              <a:t> de </a:t>
            </a:r>
            <a:r>
              <a:rPr dirty="0" err="1"/>
              <a:t>mensajes</a:t>
            </a:r>
            <a:r>
              <a:rPr dirty="0"/>
              <a:t> y C6 </a:t>
            </a:r>
            <a:r>
              <a:rPr dirty="0" err="1"/>
              <a:t>como</a:t>
            </a:r>
            <a:r>
              <a:rPr dirty="0"/>
              <a:t> hard gate para </a:t>
            </a:r>
            <a:r>
              <a:rPr dirty="0" err="1"/>
              <a:t>lecturas</a:t>
            </a:r>
            <a:r>
              <a:rPr dirty="0"/>
              <a:t> frescas </a:t>
            </a:r>
            <a:r>
              <a:rPr dirty="0" err="1"/>
              <a:t>acotadas</a:t>
            </a:r>
            <a:r>
              <a:rPr dirty="0"/>
              <a:t>. SL-10 </a:t>
            </a:r>
            <a:r>
              <a:rPr dirty="0" err="1"/>
              <a:t>necesita</a:t>
            </a:r>
            <a:r>
              <a:rPr dirty="0"/>
              <a:t> C7 para </a:t>
            </a:r>
            <a:r>
              <a:rPr dirty="0" err="1"/>
              <a:t>proteger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de appointments y también </a:t>
            </a:r>
            <a:r>
              <a:rPr dirty="0" err="1"/>
              <a:t>depende</a:t>
            </a:r>
            <a:r>
              <a:rPr dirty="0"/>
              <a:t> de SL-8 y SL-9. SL-11 </a:t>
            </a:r>
            <a:r>
              <a:rPr dirty="0" err="1"/>
              <a:t>necesita</a:t>
            </a:r>
            <a:r>
              <a:rPr dirty="0"/>
              <a:t> C2 enforcing </a:t>
            </a:r>
            <a:r>
              <a:rPr dirty="0" err="1"/>
              <a:t>además</a:t>
            </a:r>
            <a:r>
              <a:rPr dirty="0"/>
              <a:t> de SL-6, SL-9 y SL-10. SL-7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ruta</a:t>
            </a:r>
            <a:r>
              <a:rPr dirty="0"/>
              <a:t> interna </a:t>
            </a:r>
            <a:r>
              <a:rPr dirty="0" err="1"/>
              <a:t>distinta</a:t>
            </a:r>
            <a:r>
              <a:rPr dirty="0"/>
              <a:t>: </a:t>
            </a:r>
            <a:r>
              <a:rPr dirty="0" err="1"/>
              <a:t>necesita</a:t>
            </a:r>
            <a:r>
              <a:rPr dirty="0"/>
              <a:t> resolver Q5 </a:t>
            </a:r>
            <a:r>
              <a:rPr dirty="0" err="1"/>
              <a:t>sobre</a:t>
            </a:r>
            <a:r>
              <a:rPr dirty="0"/>
              <a:t> el runtime hosted y </a:t>
            </a:r>
            <a:r>
              <a:rPr dirty="0" err="1"/>
              <a:t>su</a:t>
            </a:r>
            <a:r>
              <a:rPr dirty="0"/>
              <a:t> Release Scope.</a:t>
            </a:r>
          </a:p>
          <a:p>
            <a:endParaRPr dirty="0"/>
          </a:p>
          <a:p>
            <a:r>
              <a:rPr dirty="0"/>
              <a:t>13. C1, C2, C3, C6 y C7 son </a:t>
            </a:r>
            <a:r>
              <a:rPr dirty="0" err="1"/>
              <a:t>contratos</a:t>
            </a:r>
            <a:r>
              <a:rPr dirty="0"/>
              <a:t> cross-repo. El Slice Plan de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y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verificará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declarar</a:t>
            </a:r>
            <a:r>
              <a:rPr dirty="0"/>
              <a:t> READY </a:t>
            </a:r>
            <a:r>
              <a:rPr dirty="0" err="1"/>
              <a:t>una</a:t>
            </a:r>
            <a:r>
              <a:rPr dirty="0"/>
              <a:t> Slice </a:t>
            </a:r>
            <a:r>
              <a:rPr dirty="0" err="1"/>
              <a:t>mientras</a:t>
            </a:r>
            <a:r>
              <a:rPr dirty="0"/>
              <a:t> el </a:t>
            </a: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 </a:t>
            </a:r>
            <a:r>
              <a:rPr dirty="0" err="1"/>
              <a:t>siga</a:t>
            </a:r>
            <a:r>
              <a:rPr dirty="0"/>
              <a:t> sin </a:t>
            </a:r>
            <a:r>
              <a:rPr dirty="0" err="1"/>
              <a:t>dueño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, sin </a:t>
            </a:r>
            <a:r>
              <a:rPr dirty="0" err="1"/>
              <a:t>disponibilidad</a:t>
            </a:r>
            <a:r>
              <a:rPr dirty="0"/>
              <a:t> o sin </a:t>
            </a:r>
            <a:r>
              <a:rPr dirty="0" err="1"/>
              <a:t>evidencia</a:t>
            </a:r>
            <a:r>
              <a:rPr dirty="0"/>
              <a:t>. </a:t>
            </a:r>
            <a:r>
              <a:rPr dirty="0" err="1"/>
              <a:t>Ésta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de </a:t>
            </a:r>
            <a:r>
              <a:rPr dirty="0" err="1"/>
              <a:t>coordinación</a:t>
            </a:r>
            <a:r>
              <a:rPr dirty="0"/>
              <a:t> y </a:t>
            </a:r>
            <a:r>
              <a:rPr dirty="0" err="1"/>
              <a:t>autoridad</a:t>
            </a:r>
            <a:r>
              <a:rPr dirty="0"/>
              <a:t>, no un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 de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pueda</a:t>
            </a:r>
            <a:r>
              <a:rPr dirty="0"/>
              <a:t> </a:t>
            </a:r>
            <a:r>
              <a:rPr dirty="0" err="1"/>
              <a:t>disolver</a:t>
            </a:r>
            <a:r>
              <a:rPr dirty="0"/>
              <a:t> </a:t>
            </a:r>
            <a:r>
              <a:rPr dirty="0" err="1"/>
              <a:t>inventando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integración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14. La </a:t>
            </a:r>
            <a:r>
              <a:rPr dirty="0" err="1"/>
              <a:t>secuencia</a:t>
            </a:r>
            <a:r>
              <a:rPr dirty="0"/>
              <a:t> no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en </a:t>
            </a:r>
            <a:r>
              <a:rPr dirty="0" err="1"/>
              <a:t>serie</a:t>
            </a:r>
            <a:r>
              <a:rPr dirty="0"/>
              <a:t>. El Technical Plan </a:t>
            </a:r>
            <a:r>
              <a:rPr dirty="0" err="1"/>
              <a:t>permite</a:t>
            </a:r>
            <a:r>
              <a:rPr dirty="0"/>
              <a:t> tracks </a:t>
            </a:r>
            <a:r>
              <a:rPr dirty="0" err="1"/>
              <a:t>paralelos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las </a:t>
            </a:r>
            <a:r>
              <a:rPr dirty="0" err="1"/>
              <a:t>dependencias</a:t>
            </a:r>
            <a:r>
              <a:rPr dirty="0"/>
              <a:t> lo </a:t>
            </a:r>
            <a:r>
              <a:rPr dirty="0" err="1"/>
              <a:t>permiten</a:t>
            </a:r>
            <a:r>
              <a:rPr dirty="0"/>
              <a:t>: SL-7 junto con SL-5 y SL-6, SL-8b junto con SL-9, y SL-12 o SL-13 junto con SL-10 o SL-11. La </a:t>
            </a:r>
            <a:r>
              <a:rPr dirty="0" err="1"/>
              <a:t>condición</a:t>
            </a:r>
            <a:r>
              <a:rPr dirty="0"/>
              <a:t> 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Slice conserve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y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ninguna</a:t>
            </a:r>
            <a:r>
              <a:rPr dirty="0"/>
              <a:t> entre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de mayor </a:t>
            </a:r>
            <a:r>
              <a:rPr dirty="0" err="1"/>
              <a:t>autoridad</a:t>
            </a:r>
            <a:r>
              <a:rPr dirty="0"/>
              <a:t> antes de </a:t>
            </a:r>
            <a:r>
              <a:rPr dirty="0" err="1"/>
              <a:t>satisfacer</a:t>
            </a:r>
            <a:r>
              <a:rPr dirty="0"/>
              <a:t> el stage gate </a:t>
            </a:r>
            <a:r>
              <a:rPr dirty="0" err="1"/>
              <a:t>correspondiente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15. Cierre con la </a:t>
            </a:r>
            <a:r>
              <a:rPr dirty="0" err="1"/>
              <a:t>lectura</a:t>
            </a:r>
            <a:r>
              <a:rPr dirty="0"/>
              <a:t> </a:t>
            </a:r>
            <a:r>
              <a:rPr dirty="0" err="1"/>
              <a:t>correcta</a:t>
            </a:r>
            <a:r>
              <a:rPr dirty="0"/>
              <a:t> del snapshot. Al 7 de </a:t>
            </a:r>
            <a:r>
              <a:rPr dirty="0" err="1"/>
              <a:t>septiembre</a:t>
            </a:r>
            <a:r>
              <a:rPr dirty="0"/>
              <a:t> de 2026, SL-0 a SL-3 </a:t>
            </a:r>
            <a:r>
              <a:rPr dirty="0" err="1"/>
              <a:t>estaban</a:t>
            </a:r>
            <a:r>
              <a:rPr dirty="0"/>
              <a:t> Done. SL-4 era la </a:t>
            </a:r>
            <a:r>
              <a:rPr dirty="0" err="1"/>
              <a:t>única</a:t>
            </a:r>
            <a:r>
              <a:rPr dirty="0"/>
              <a:t> Slice READY, no </a:t>
            </a:r>
            <a:r>
              <a:rPr dirty="0" err="1"/>
              <a:t>estaba</a:t>
            </a:r>
            <a:r>
              <a:rPr dirty="0"/>
              <a:t> Planned y no </a:t>
            </a:r>
            <a:r>
              <a:rPr dirty="0" err="1"/>
              <a:t>tenía</a:t>
            </a:r>
            <a:r>
              <a:rPr dirty="0"/>
              <a:t> DRI </a:t>
            </a:r>
            <a:r>
              <a:rPr dirty="0" err="1"/>
              <a:t>confirmado</a:t>
            </a:r>
            <a:r>
              <a:rPr dirty="0"/>
              <a:t>. SL-5 a SL-13 </a:t>
            </a:r>
            <a:r>
              <a:rPr dirty="0" err="1"/>
              <a:t>seguían</a:t>
            </a:r>
            <a:r>
              <a:rPr dirty="0"/>
              <a:t> NOT READY. El Slice Plan </a:t>
            </a:r>
            <a:r>
              <a:rPr dirty="0" err="1"/>
              <a:t>posee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corte de readiness. GitHub </a:t>
            </a:r>
            <a:r>
              <a:rPr dirty="0" err="1"/>
              <a:t>posee</a:t>
            </a:r>
            <a:r>
              <a:rPr dirty="0"/>
              <a:t> la </a:t>
            </a:r>
            <a:r>
              <a:rPr dirty="0" err="1"/>
              <a:t>verdad</a:t>
            </a:r>
            <a:r>
              <a:rPr dirty="0"/>
              <a:t> posterior de </a:t>
            </a:r>
            <a:r>
              <a:rPr dirty="0" err="1"/>
              <a:t>ramas</a:t>
            </a:r>
            <a:r>
              <a:rPr dirty="0"/>
              <a:t>, PR, CI, merge, Actions y approvals de </a:t>
            </a:r>
            <a:r>
              <a:rPr dirty="0" err="1"/>
              <a:t>entorno</a:t>
            </a:r>
            <a:r>
              <a:rPr dirty="0"/>
              <a:t>. Si GitHub </a:t>
            </a:r>
            <a:r>
              <a:rPr dirty="0" err="1"/>
              <a:t>avanzó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,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actualizarse</a:t>
            </a:r>
            <a:r>
              <a:rPr dirty="0"/>
              <a:t> el snapshot antes de </a:t>
            </a:r>
            <a:r>
              <a:rPr dirty="0" err="1"/>
              <a:t>presentarlo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actual.</a:t>
            </a:r>
          </a:p>
          <a:p>
            <a:endParaRPr dirty="0"/>
          </a:p>
          <a:p>
            <a:r>
              <a:rPr dirty="0"/>
              <a:t>EJEMPLO INMOBILIARIO</a:t>
            </a:r>
          </a:p>
          <a:p>
            <a:r>
              <a:rPr dirty="0"/>
              <a:t>Imagine </a:t>
            </a:r>
            <a:r>
              <a:rPr dirty="0" err="1"/>
              <a:t>una</a:t>
            </a:r>
            <a:r>
              <a:rPr dirty="0"/>
              <a:t> Lead Opportunity de </a:t>
            </a:r>
            <a:r>
              <a:rPr dirty="0" err="1"/>
              <a:t>renta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WhatsApp. En las Slices </a:t>
            </a:r>
            <a:r>
              <a:rPr dirty="0" err="1"/>
              <a:t>ya</a:t>
            </a:r>
            <a:r>
              <a:rPr dirty="0"/>
              <a:t> Done, Gu OS </a:t>
            </a:r>
            <a:r>
              <a:rPr dirty="0" err="1"/>
              <a:t>puede</a:t>
            </a:r>
            <a:r>
              <a:rPr dirty="0"/>
              <a:t> resolver la Organization, leer lead, </a:t>
            </a:r>
            <a:r>
              <a:rPr dirty="0" err="1"/>
              <a:t>mensajes</a:t>
            </a:r>
            <a:r>
              <a:rPr dirty="0"/>
              <a:t> y </a:t>
            </a:r>
            <a:r>
              <a:rPr dirty="0" err="1"/>
              <a:t>propiedad</a:t>
            </a:r>
            <a:r>
              <a:rPr dirty="0"/>
              <a:t>, </a:t>
            </a:r>
            <a:r>
              <a:rPr dirty="0" err="1"/>
              <a:t>admitir</a:t>
            </a:r>
            <a:r>
              <a:rPr dirty="0"/>
              <a:t> o </a:t>
            </a:r>
            <a:r>
              <a:rPr dirty="0" err="1"/>
              <a:t>vincular</a:t>
            </a:r>
            <a:r>
              <a:rPr dirty="0"/>
              <a:t> la Opportunity y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. Con SL-4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observar</a:t>
            </a:r>
            <a:r>
              <a:rPr dirty="0"/>
              <a:t> </a:t>
            </a:r>
            <a:r>
              <a:rPr dirty="0" err="1"/>
              <a:t>varios</a:t>
            </a:r>
            <a:r>
              <a:rPr dirty="0"/>
              <a:t> días de </a:t>
            </a:r>
            <a:r>
              <a:rPr dirty="0" err="1"/>
              <a:t>cambios</a:t>
            </a:r>
            <a:r>
              <a:rPr dirty="0"/>
              <a:t> y </a:t>
            </a:r>
            <a:r>
              <a:rPr dirty="0" err="1"/>
              <a:t>proponer</a:t>
            </a:r>
            <a:r>
              <a:rPr dirty="0"/>
              <a:t> el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sin </a:t>
            </a:r>
            <a:r>
              <a:rPr dirty="0" err="1"/>
              <a:t>enviar</a:t>
            </a:r>
            <a:r>
              <a:rPr dirty="0"/>
              <a:t> nada. SL-5 la </a:t>
            </a:r>
            <a:r>
              <a:rPr dirty="0" err="1"/>
              <a:t>despierta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o cambia un appointment. SL-8 </a:t>
            </a:r>
            <a:r>
              <a:rPr dirty="0" err="1"/>
              <a:t>reconcilia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 visita se </a:t>
            </a:r>
            <a:r>
              <a:rPr dirty="0" err="1"/>
              <a:t>solicitó</a:t>
            </a:r>
            <a:r>
              <a:rPr dirty="0"/>
              <a:t>, </a:t>
            </a:r>
            <a:r>
              <a:rPr dirty="0" err="1"/>
              <a:t>programó</a:t>
            </a:r>
            <a:r>
              <a:rPr dirty="0"/>
              <a:t> o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ocurrió</a:t>
            </a:r>
            <a:r>
              <a:rPr dirty="0"/>
              <a:t>. SL-9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preparar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y </a:t>
            </a:r>
            <a:r>
              <a:rPr dirty="0" err="1"/>
              <a:t>enviarlo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con </a:t>
            </a:r>
            <a:r>
              <a:rPr dirty="0" err="1"/>
              <a:t>aprobación</a:t>
            </a:r>
            <a:r>
              <a:rPr dirty="0"/>
              <a:t>. SL-10 </a:t>
            </a:r>
            <a:r>
              <a:rPr dirty="0" err="1"/>
              <a:t>hace</a:t>
            </a:r>
            <a:r>
              <a:rPr dirty="0"/>
              <a:t> lo </a:t>
            </a:r>
            <a:r>
              <a:rPr dirty="0" err="1"/>
              <a:t>mismo</a:t>
            </a:r>
            <a:r>
              <a:rPr dirty="0"/>
              <a:t> para un appointment. SL-11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Gu OS </a:t>
            </a:r>
            <a:r>
              <a:rPr dirty="0" err="1"/>
              <a:t>decida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live para Opportunities </a:t>
            </a:r>
            <a:r>
              <a:rPr dirty="0" err="1"/>
              <a:t>seleccionadas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Traditional Gu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suprimido</a:t>
            </a:r>
            <a:r>
              <a:rPr dirty="0"/>
              <a:t> para ese </a:t>
            </a:r>
            <a:r>
              <a:rPr dirty="0" err="1"/>
              <a:t>alcance</a:t>
            </a:r>
            <a:r>
              <a:rPr dirty="0"/>
              <a:t>. Esta </a:t>
            </a:r>
            <a:r>
              <a:rPr dirty="0" err="1"/>
              <a:t>progresión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sin </a:t>
            </a:r>
            <a:r>
              <a:rPr dirty="0" err="1"/>
              <a:t>confundir</a:t>
            </a:r>
            <a:r>
              <a:rPr dirty="0"/>
              <a:t> </a:t>
            </a:r>
            <a:r>
              <a:rPr dirty="0" err="1"/>
              <a:t>aprendizaje</a:t>
            </a:r>
            <a:r>
              <a:rPr dirty="0"/>
              <a:t> con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R1: primer Roadmap Increment de Gu OS, </a:t>
            </a:r>
            <a:r>
              <a:rPr dirty="0" err="1"/>
              <a:t>enfocado</a:t>
            </a:r>
            <a:r>
              <a:rPr dirty="0"/>
              <a:t> en Relationship Operations v1.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Slice: </a:t>
            </a:r>
            <a:r>
              <a:rPr dirty="0" err="1"/>
              <a:t>incremento</a:t>
            </a:r>
            <a:r>
              <a:rPr dirty="0"/>
              <a:t> vertical </a:t>
            </a:r>
            <a:r>
              <a:rPr dirty="0" err="1"/>
              <a:t>verificable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 </a:t>
            </a:r>
            <a:r>
              <a:rPr dirty="0" err="1"/>
              <a:t>conducta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habilitadora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Stage gate: </a:t>
            </a:r>
            <a:r>
              <a:rPr dirty="0" err="1"/>
              <a:t>frontera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y </a:t>
            </a:r>
            <a:r>
              <a:rPr dirty="0" err="1"/>
              <a:t>autoridad</a:t>
            </a:r>
            <a:r>
              <a:rPr dirty="0"/>
              <a:t> para pasar de shadow a </a:t>
            </a:r>
            <a:r>
              <a:rPr dirty="0" err="1"/>
              <a:t>asistido</a:t>
            </a:r>
            <a:r>
              <a:rPr dirty="0"/>
              <a:t> o de </a:t>
            </a:r>
            <a:r>
              <a:rPr dirty="0" err="1"/>
              <a:t>asistido</a:t>
            </a:r>
            <a:r>
              <a:rPr dirty="0"/>
              <a:t> a live </a:t>
            </a:r>
            <a:r>
              <a:rPr dirty="0" err="1"/>
              <a:t>selectivo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Shadow: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Gu OS </a:t>
            </a:r>
            <a:r>
              <a:rPr dirty="0" err="1"/>
              <a:t>observa</a:t>
            </a:r>
            <a:r>
              <a:rPr dirty="0"/>
              <a:t>, </a:t>
            </a:r>
            <a:r>
              <a:rPr dirty="0" err="1"/>
              <a:t>representa</a:t>
            </a:r>
            <a:r>
              <a:rPr dirty="0"/>
              <a:t>, </a:t>
            </a:r>
            <a:r>
              <a:rPr dirty="0" err="1"/>
              <a:t>razona</a:t>
            </a:r>
            <a:r>
              <a:rPr dirty="0"/>
              <a:t> y </a:t>
            </a:r>
            <a:r>
              <a:rPr dirty="0" err="1"/>
              <a:t>registra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producir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Assisted o </a:t>
            </a:r>
            <a:r>
              <a:rPr dirty="0" err="1"/>
              <a:t>asistido</a:t>
            </a:r>
            <a:r>
              <a:rPr dirty="0"/>
              <a:t>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efecto</a:t>
            </a:r>
            <a:r>
              <a:rPr dirty="0"/>
              <a:t> de </a:t>
            </a:r>
            <a:r>
              <a:rPr dirty="0" err="1"/>
              <a:t>mensaje</a:t>
            </a:r>
            <a:r>
              <a:rPr dirty="0"/>
              <a:t> o appointment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preparación</a:t>
            </a:r>
            <a:r>
              <a:rPr dirty="0"/>
              <a:t> y </a:t>
            </a:r>
            <a:r>
              <a:rPr dirty="0" err="1"/>
              <a:t>aprobación</a:t>
            </a:r>
            <a:r>
              <a:rPr dirty="0"/>
              <a:t> humana.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Selective live: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Opportunities </a:t>
            </a:r>
            <a:r>
              <a:rPr dirty="0" err="1"/>
              <a:t>seleccionadas</a:t>
            </a:r>
            <a:r>
              <a:rPr dirty="0"/>
              <a:t> </a:t>
            </a:r>
            <a:r>
              <a:rPr dirty="0" err="1"/>
              <a:t>transfieren</a:t>
            </a:r>
            <a:r>
              <a:rPr dirty="0"/>
              <a:t> runtime decision authority a Gu OS bajo </a:t>
            </a:r>
            <a:r>
              <a:rPr dirty="0" err="1"/>
              <a:t>controles</a:t>
            </a:r>
            <a:r>
              <a:rPr dirty="0"/>
              <a:t> de </a:t>
            </a:r>
            <a:r>
              <a:rPr dirty="0" err="1"/>
              <a:t>migración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READY: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confirma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Slice </a:t>
            </a:r>
            <a:r>
              <a:rPr dirty="0" err="1"/>
              <a:t>cumple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Definition of Ready. No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calendarización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asignación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Proposed: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inclusión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Slice READY en un Execution Cycle.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Planned: Slice </a:t>
            </a:r>
            <a:r>
              <a:rPr dirty="0" err="1"/>
              <a:t>confirmada</a:t>
            </a:r>
            <a:r>
              <a:rPr dirty="0"/>
              <a:t> en un Execution Cycle con Accountable o DRI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confirmado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Executable: </a:t>
            </a:r>
            <a:r>
              <a:rPr dirty="0" err="1"/>
              <a:t>condición</a:t>
            </a:r>
            <a:r>
              <a:rPr dirty="0"/>
              <a:t> </a:t>
            </a:r>
            <a:r>
              <a:rPr dirty="0" err="1"/>
              <a:t>derivada</a:t>
            </a:r>
            <a:r>
              <a:rPr dirty="0"/>
              <a:t> de Planned, </a:t>
            </a:r>
            <a:r>
              <a:rPr dirty="0" err="1"/>
              <a:t>prerequisitos</a:t>
            </a:r>
            <a:r>
              <a:rPr dirty="0"/>
              <a:t> </a:t>
            </a:r>
            <a:r>
              <a:rPr dirty="0" err="1"/>
              <a:t>satisfechos</a:t>
            </a:r>
            <a:r>
              <a:rPr dirty="0"/>
              <a:t> y </a:t>
            </a:r>
            <a:r>
              <a:rPr dirty="0" err="1"/>
              <a:t>capacidad</a:t>
            </a:r>
            <a:r>
              <a:rPr dirty="0"/>
              <a:t> disponible.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Done: </a:t>
            </a:r>
            <a:r>
              <a:rPr dirty="0" err="1"/>
              <a:t>cierre</a:t>
            </a:r>
            <a:r>
              <a:rPr dirty="0"/>
              <a:t> </a:t>
            </a:r>
            <a:r>
              <a:rPr dirty="0" err="1"/>
              <a:t>demostrado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aceptación</a:t>
            </a:r>
            <a:r>
              <a:rPr dirty="0"/>
              <a:t>, Definition of Done y Release Scope de la Slice.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Execution Cycle: </a:t>
            </a:r>
            <a:r>
              <a:rPr dirty="0" err="1"/>
              <a:t>contenedor</a:t>
            </a:r>
            <a:r>
              <a:rPr dirty="0"/>
              <a:t> de </a:t>
            </a:r>
            <a:r>
              <a:rPr dirty="0" err="1"/>
              <a:t>planificación</a:t>
            </a:r>
            <a:r>
              <a:rPr dirty="0"/>
              <a:t> de corto </a:t>
            </a:r>
            <a:r>
              <a:rPr dirty="0" err="1"/>
              <a:t>horizonte</a:t>
            </a:r>
            <a:r>
              <a:rPr dirty="0"/>
              <a:t>. No </a:t>
            </a:r>
            <a:r>
              <a:rPr dirty="0" err="1"/>
              <a:t>sustituye</a:t>
            </a:r>
            <a:r>
              <a:rPr dirty="0"/>
              <a:t> el roadmap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reabre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aprobadas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Accountable o DRI: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de responder </a:t>
            </a:r>
            <a:r>
              <a:rPr dirty="0" err="1"/>
              <a:t>escalaciones</a:t>
            </a:r>
            <a:r>
              <a:rPr dirty="0"/>
              <a:t>, </a:t>
            </a:r>
            <a:r>
              <a:rPr dirty="0" err="1"/>
              <a:t>coordinar</a:t>
            </a:r>
            <a:r>
              <a:rPr dirty="0"/>
              <a:t> </a:t>
            </a:r>
            <a:r>
              <a:rPr dirty="0" err="1"/>
              <a:t>dependencias</a:t>
            </a:r>
            <a:r>
              <a:rPr dirty="0"/>
              <a:t> y </a:t>
            </a:r>
            <a:r>
              <a:rPr dirty="0" err="1"/>
              <a:t>llevar</a:t>
            </a:r>
            <a:r>
              <a:rPr dirty="0"/>
              <a:t> la Slice hasta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frontera</a:t>
            </a:r>
            <a:r>
              <a:rPr dirty="0"/>
              <a:t> de Done.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READY Horizon: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genuinamente</a:t>
            </a:r>
            <a:r>
              <a:rPr dirty="0"/>
              <a:t> READY </a:t>
            </a:r>
            <a:r>
              <a:rPr dirty="0" err="1"/>
              <a:t>mantenida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delante</a:t>
            </a:r>
            <a:r>
              <a:rPr dirty="0"/>
              <a:t> de la </a:t>
            </a:r>
            <a:r>
              <a:rPr dirty="0" err="1"/>
              <a:t>ejecución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Release Scope: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Slice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alcanzar</a:t>
            </a:r>
            <a:r>
              <a:rPr dirty="0"/>
              <a:t> para </a:t>
            </a:r>
            <a:r>
              <a:rPr dirty="0" err="1"/>
              <a:t>poder</a:t>
            </a:r>
            <a:r>
              <a:rPr dirty="0"/>
              <a:t> </a:t>
            </a:r>
            <a:r>
              <a:rPr dirty="0" err="1"/>
              <a:t>cerrar</a:t>
            </a:r>
            <a:r>
              <a:rPr dirty="0"/>
              <a:t>, </a:t>
            </a:r>
            <a:r>
              <a:rPr dirty="0" err="1"/>
              <a:t>desde</a:t>
            </a:r>
            <a:r>
              <a:rPr dirty="0"/>
              <a:t> repo/CI hasta hosted o </a:t>
            </a:r>
            <a:r>
              <a:rPr dirty="0" err="1"/>
              <a:t>producción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Cross-repo contract: </a:t>
            </a:r>
            <a:r>
              <a:rPr dirty="0" err="1"/>
              <a:t>contrato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otra</a:t>
            </a:r>
            <a:r>
              <a:rPr dirty="0"/>
              <a:t> base de </a:t>
            </a:r>
            <a:r>
              <a:rPr dirty="0" err="1"/>
              <a:t>código</a:t>
            </a:r>
            <a:r>
              <a:rPr dirty="0"/>
              <a:t> o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entregar</a:t>
            </a:r>
            <a:r>
              <a:rPr dirty="0"/>
              <a:t> para </a:t>
            </a:r>
            <a:r>
              <a:rPr dirty="0" err="1"/>
              <a:t>habilitar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Slice de Gu 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C1: forwarding </a:t>
            </a:r>
            <a:r>
              <a:rPr dirty="0" err="1"/>
              <a:t>firmado</a:t>
            </a:r>
            <a:r>
              <a:rPr dirty="0"/>
              <a:t> y </a:t>
            </a:r>
            <a:r>
              <a:rPr dirty="0" err="1"/>
              <a:t>deduplicable</a:t>
            </a:r>
            <a:r>
              <a:rPr dirty="0"/>
              <a:t> de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Traditional Gu.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C2: </a:t>
            </a:r>
            <a:r>
              <a:rPr dirty="0" err="1"/>
              <a:t>contrato</a:t>
            </a:r>
            <a:r>
              <a:rPr dirty="0"/>
              <a:t> de consulta y enforcement de runtime y conversation authority entre Gu OS y Traditional Gu.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C3: </a:t>
            </a:r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envuelto</a:t>
            </a:r>
            <a:r>
              <a:rPr dirty="0"/>
              <a:t> e </a:t>
            </a:r>
            <a:r>
              <a:rPr dirty="0" err="1"/>
              <a:t>idempotente</a:t>
            </a:r>
            <a:r>
              <a:rPr dirty="0"/>
              <a:t> para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salientes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C6: APIs </a:t>
            </a:r>
            <a:r>
              <a:rPr dirty="0" err="1"/>
              <a:t>acotadas</a:t>
            </a:r>
            <a:r>
              <a:rPr dirty="0"/>
              <a:t> de </a:t>
            </a:r>
            <a:r>
              <a:rPr dirty="0" err="1"/>
              <a:t>lectura</a:t>
            </a:r>
            <a:r>
              <a:rPr dirty="0"/>
              <a:t> fresca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reemplazan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adapters </a:t>
            </a:r>
            <a:r>
              <a:rPr dirty="0" err="1"/>
              <a:t>directos</a:t>
            </a:r>
            <a:r>
              <a:rPr dirty="0"/>
              <a:t> antes de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efecto</a:t>
            </a:r>
            <a:r>
              <a:rPr dirty="0"/>
              <a:t> prospect-facing.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C7: endpoint </a:t>
            </a:r>
            <a:r>
              <a:rPr dirty="0" err="1"/>
              <a:t>envuelto</a:t>
            </a:r>
            <a:r>
              <a:rPr dirty="0"/>
              <a:t> para create, reschedule y cancel de appointments </a:t>
            </a:r>
            <a:r>
              <a:rPr dirty="0" err="1"/>
              <a:t>preservando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Q5: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pendiente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runtime hosted y Release Scope </a:t>
            </a:r>
            <a:r>
              <a:rPr dirty="0" err="1"/>
              <a:t>necesario</a:t>
            </a:r>
            <a:r>
              <a:rPr dirty="0"/>
              <a:t> para la </a:t>
            </a:r>
            <a:r>
              <a:rPr dirty="0" err="1"/>
              <a:t>experiencia</a:t>
            </a:r>
            <a:r>
              <a:rPr dirty="0"/>
              <a:t> advisor-facing de Work Portfolio v1.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Replay: </a:t>
            </a:r>
            <a:r>
              <a:rPr dirty="0" err="1"/>
              <a:t>reconstrucción</a:t>
            </a:r>
            <a:r>
              <a:rPr dirty="0"/>
              <a:t> o </a:t>
            </a:r>
            <a:r>
              <a:rPr dirty="0" err="1"/>
              <a:t>reevaluación</a:t>
            </a:r>
            <a:r>
              <a:rPr dirty="0"/>
              <a:t> reproducible de </a:t>
            </a:r>
            <a:r>
              <a:rPr dirty="0" err="1"/>
              <a:t>decisiones</a:t>
            </a:r>
            <a:r>
              <a:rPr dirty="0"/>
              <a:t> con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registrada</a:t>
            </a:r>
            <a:r>
              <a:rPr dirty="0"/>
              <a:t>, sin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Roadmap Increment graduation: </a:t>
            </a:r>
            <a:r>
              <a:rPr dirty="0" err="1"/>
              <a:t>evaluación</a:t>
            </a:r>
            <a:r>
              <a:rPr dirty="0"/>
              <a:t> del </a:t>
            </a:r>
            <a:r>
              <a:rPr dirty="0" err="1"/>
              <a:t>incremento</a:t>
            </a:r>
            <a:r>
              <a:rPr dirty="0"/>
              <a:t> contra la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graduación</a:t>
            </a:r>
            <a:r>
              <a:rPr dirty="0"/>
              <a:t> </a:t>
            </a:r>
            <a:r>
              <a:rPr dirty="0" err="1"/>
              <a:t>definida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Roadmap. </a:t>
            </a:r>
            <a:r>
              <a:rPr dirty="0" err="1"/>
              <a:t>Cerrar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Slices no lo </a:t>
            </a:r>
            <a:r>
              <a:rPr dirty="0" err="1"/>
              <a:t>sustituye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docs/product/roadmap-increments/r1-relationship-operations-v1/slice-plan.md v1.19</a:t>
            </a:r>
          </a:p>
          <a:p>
            <a:r>
              <a:rPr dirty="0"/>
              <a:t>- docs/product/roadmap-increments/r1-relationship-operations-v1/technical-plan.md v1.9, </a:t>
            </a:r>
            <a:r>
              <a:rPr dirty="0" err="1"/>
              <a:t>especialmente</a:t>
            </a:r>
            <a:r>
              <a:rPr dirty="0"/>
              <a:t> §§4, 5 y 9</a:t>
            </a:r>
          </a:p>
          <a:p>
            <a:r>
              <a:rPr dirty="0"/>
              <a:t>- docs/development/agentic-product-software-development-methodology.md v0.4.4, </a:t>
            </a:r>
            <a:r>
              <a:rPr dirty="0" err="1"/>
              <a:t>especialmente</a:t>
            </a:r>
            <a:r>
              <a:rPr dirty="0"/>
              <a:t> §§10, 12, 14 y 19</a:t>
            </a:r>
          </a:p>
          <a:p>
            <a:r>
              <a:rPr dirty="0"/>
              <a:t>- docs/development/release-path-playbook.md v1.2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R1 </a:t>
            </a:r>
            <a:r>
              <a:rPr dirty="0" err="1"/>
              <a:t>migra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observación</a:t>
            </a:r>
            <a:r>
              <a:rPr dirty="0"/>
              <a:t> shadow hasta </a:t>
            </a:r>
            <a:r>
              <a:rPr dirty="0" err="1"/>
              <a:t>operación</a:t>
            </a:r>
            <a:r>
              <a:rPr dirty="0"/>
              <a:t> live sin </a:t>
            </a:r>
            <a:r>
              <a:rPr dirty="0" err="1"/>
              <a:t>colapsar</a:t>
            </a:r>
            <a:r>
              <a:rPr dirty="0"/>
              <a:t> cuatro </a:t>
            </a: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: </a:t>
            </a:r>
            <a:r>
              <a:rPr dirty="0" err="1"/>
              <a:t>responsabilidad</a:t>
            </a:r>
            <a:r>
              <a:rPr dirty="0"/>
              <a:t> durable,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 del runtime,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conversación</a:t>
            </a:r>
            <a:r>
              <a:rPr dirty="0"/>
              <a:t> y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aprobación</a:t>
            </a:r>
            <a:r>
              <a:rPr dirty="0"/>
              <a:t>. La </a:t>
            </a:r>
            <a:r>
              <a:rPr dirty="0" err="1"/>
              <a:t>separación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dos </a:t>
            </a:r>
            <a:r>
              <a:rPr dirty="0" err="1"/>
              <a:t>fallas</a:t>
            </a:r>
            <a:r>
              <a:rPr dirty="0"/>
              <a:t> graves: </a:t>
            </a:r>
            <a:r>
              <a:rPr dirty="0" err="1"/>
              <a:t>que</a:t>
            </a:r>
            <a:r>
              <a:rPr dirty="0"/>
              <a:t> Traditional Gu y Gu OS </a:t>
            </a:r>
            <a:r>
              <a:rPr dirty="0" err="1"/>
              <a:t>decidan</a:t>
            </a:r>
            <a:r>
              <a:rPr dirty="0"/>
              <a:t> en </a:t>
            </a:r>
            <a:r>
              <a:rPr dirty="0" err="1"/>
              <a:t>paralelo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, o </a:t>
            </a:r>
            <a:r>
              <a:rPr dirty="0" err="1"/>
              <a:t>que</a:t>
            </a:r>
            <a:r>
              <a:rPr dirty="0"/>
              <a:t> Gu </a:t>
            </a:r>
            <a:r>
              <a:rPr dirty="0" err="1"/>
              <a:t>siga</a:t>
            </a:r>
            <a:r>
              <a:rPr dirty="0"/>
              <a:t> </a:t>
            </a:r>
            <a:r>
              <a:rPr dirty="0" err="1"/>
              <a:t>hablando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un </a:t>
            </a:r>
            <a:r>
              <a:rPr dirty="0" err="1"/>
              <a:t>asesor</a:t>
            </a:r>
            <a:r>
              <a:rPr dirty="0"/>
              <a:t>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tomó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CORRECCIONES RESPECTO DE LA VERSIÓN ANTERIOR</a:t>
            </a:r>
          </a:p>
          <a:p>
            <a:r>
              <a:rPr dirty="0"/>
              <a:t>Las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 y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asignación</a:t>
            </a:r>
            <a:r>
              <a:rPr dirty="0"/>
              <a:t> a Slices </a:t>
            </a:r>
            <a:r>
              <a:rPr dirty="0" err="1"/>
              <a:t>eran</a:t>
            </a:r>
            <a:r>
              <a:rPr dirty="0"/>
              <a:t> </a:t>
            </a:r>
            <a:r>
              <a:rPr dirty="0" err="1"/>
              <a:t>correctas</a:t>
            </a:r>
            <a:r>
              <a:rPr dirty="0"/>
              <a:t>. Se </a:t>
            </a:r>
            <a:r>
              <a:rPr dirty="0" err="1"/>
              <a:t>hicieron</a:t>
            </a:r>
            <a:r>
              <a:rPr dirty="0"/>
              <a:t> cuatro </a:t>
            </a:r>
            <a:r>
              <a:rPr dirty="0" err="1"/>
              <a:t>ajustes</a:t>
            </a:r>
            <a:r>
              <a:rPr dirty="0"/>
              <a:t> de </a:t>
            </a:r>
            <a:r>
              <a:rPr dirty="0" err="1"/>
              <a:t>precisión</a:t>
            </a:r>
            <a:r>
              <a:rPr dirty="0"/>
              <a:t>. El </a:t>
            </a:r>
            <a:r>
              <a:rPr dirty="0" err="1"/>
              <a:t>título</a:t>
            </a:r>
            <a:r>
              <a:rPr dirty="0"/>
              <a:t>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nombra</a:t>
            </a:r>
            <a:r>
              <a:rPr dirty="0"/>
              <a:t> las cuatro </a:t>
            </a:r>
            <a:r>
              <a:rPr dirty="0" err="1"/>
              <a:t>dimensiones</a:t>
            </a:r>
            <a:r>
              <a:rPr dirty="0"/>
              <a:t> y no reduce la </a:t>
            </a:r>
            <a:r>
              <a:rPr dirty="0" err="1"/>
              <a:t>arquitectura</a:t>
            </a:r>
            <a:r>
              <a:rPr dirty="0"/>
              <a:t> a “</a:t>
            </a:r>
            <a:r>
              <a:rPr dirty="0" err="1"/>
              <a:t>autoridad</a:t>
            </a:r>
            <a:r>
              <a:rPr dirty="0"/>
              <a:t> para </a:t>
            </a:r>
            <a:r>
              <a:rPr dirty="0" err="1"/>
              <a:t>hablar</a:t>
            </a:r>
            <a:r>
              <a:rPr dirty="0"/>
              <a:t>”. El </a:t>
            </a:r>
            <a:r>
              <a:rPr dirty="0" err="1"/>
              <a:t>subtítulo</a:t>
            </a:r>
            <a:r>
              <a:rPr dirty="0"/>
              <a:t> </a:t>
            </a:r>
            <a:r>
              <a:rPr dirty="0" err="1"/>
              <a:t>expresa</a:t>
            </a:r>
            <a:r>
              <a:rPr dirty="0"/>
              <a:t> el principio </a:t>
            </a:r>
            <a:r>
              <a:rPr dirty="0" err="1"/>
              <a:t>canónico</a:t>
            </a:r>
            <a:r>
              <a:rPr dirty="0"/>
              <a:t> de ADR-107: </a:t>
            </a:r>
            <a:r>
              <a:rPr dirty="0" err="1"/>
              <a:t>crear</a:t>
            </a:r>
            <a:r>
              <a:rPr dirty="0"/>
              <a:t> un Case no </a:t>
            </a:r>
            <a:r>
              <a:rPr dirty="0" err="1"/>
              <a:t>transfiere</a:t>
            </a:r>
            <a:r>
              <a:rPr dirty="0"/>
              <a:t> runtime authority. La </a:t>
            </a:r>
            <a:r>
              <a:rPr dirty="0" err="1"/>
              <a:t>cuarta</a:t>
            </a:r>
            <a:r>
              <a:rPr dirty="0"/>
              <a:t> </a:t>
            </a:r>
            <a:r>
              <a:rPr dirty="0" err="1"/>
              <a:t>dimensión</a:t>
            </a:r>
            <a:r>
              <a:rPr dirty="0"/>
              <a:t> se llama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aprobación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aprobar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protegida</a:t>
            </a:r>
            <a:r>
              <a:rPr dirty="0"/>
              <a:t> y </a:t>
            </a:r>
            <a:r>
              <a:rPr dirty="0" err="1"/>
              <a:t>ejecutar</a:t>
            </a:r>
            <a:r>
              <a:rPr dirty="0"/>
              <a:t> un </a:t>
            </a:r>
            <a:r>
              <a:rPr dirty="0" err="1"/>
              <a:t>efecto</a:t>
            </a:r>
            <a:r>
              <a:rPr dirty="0"/>
              <a:t> son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. </a:t>
            </a:r>
            <a:r>
              <a:rPr dirty="0" err="1"/>
              <a:t>Finalmente</a:t>
            </a:r>
            <a:r>
              <a:rPr dirty="0"/>
              <a:t>, el </a:t>
            </a:r>
            <a:r>
              <a:rPr dirty="0" err="1"/>
              <a:t>invariante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no dice “</a:t>
            </a:r>
            <a:r>
              <a:rPr dirty="0" err="1"/>
              <a:t>exactamente</a:t>
            </a:r>
            <a:r>
              <a:rPr dirty="0"/>
              <a:t> un </a:t>
            </a:r>
            <a:r>
              <a:rPr dirty="0" err="1"/>
              <a:t>decisor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interacción</a:t>
            </a:r>
            <a:r>
              <a:rPr dirty="0"/>
              <a:t>”; </a:t>
            </a:r>
            <a:r>
              <a:rPr dirty="0" err="1"/>
              <a:t>ahora</a:t>
            </a:r>
            <a:r>
              <a:rPr dirty="0"/>
              <a:t> </a:t>
            </a:r>
            <a:r>
              <a:rPr dirty="0" err="1"/>
              <a:t>adopta</a:t>
            </a:r>
            <a:r>
              <a:rPr dirty="0"/>
              <a:t> la </a:t>
            </a:r>
            <a:r>
              <a:rPr dirty="0" err="1"/>
              <a:t>regla</a:t>
            </a:r>
            <a:r>
              <a:rPr dirty="0"/>
              <a:t> </a:t>
            </a:r>
            <a:r>
              <a:rPr dirty="0" err="1"/>
              <a:t>canónica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Legacy y Gu OS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deciden</a:t>
            </a:r>
            <a:r>
              <a:rPr dirty="0"/>
              <a:t> en </a:t>
            </a:r>
            <a:r>
              <a:rPr dirty="0" err="1"/>
              <a:t>paralelo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gobernado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</a:t>
            </a:r>
            <a:r>
              <a:rPr dirty="0" err="1"/>
              <a:t>Comience</a:t>
            </a:r>
            <a:r>
              <a:rPr dirty="0"/>
              <a:t> con 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motiva</a:t>
            </a:r>
            <a:r>
              <a:rPr dirty="0"/>
              <a:t> el </a:t>
            </a:r>
            <a:r>
              <a:rPr dirty="0" err="1"/>
              <a:t>diseño</a:t>
            </a:r>
            <a:r>
              <a:rPr dirty="0"/>
              <a:t>. R1 </a:t>
            </a:r>
            <a:r>
              <a:rPr dirty="0" err="1"/>
              <a:t>evoluciona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operación</a:t>
            </a:r>
            <a:r>
              <a:rPr dirty="0"/>
              <a:t> brownfield: Traditional Gu </a:t>
            </a:r>
            <a:r>
              <a:rPr dirty="0" err="1"/>
              <a:t>atiende</a:t>
            </a:r>
            <a:r>
              <a:rPr dirty="0"/>
              <a:t> </a:t>
            </a:r>
            <a:r>
              <a:rPr dirty="0" err="1"/>
              <a:t>conversaciones</a:t>
            </a:r>
            <a:r>
              <a:rPr dirty="0"/>
              <a:t> reales y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integraciones</a:t>
            </a:r>
            <a:r>
              <a:rPr dirty="0"/>
              <a:t> </a:t>
            </a:r>
            <a:r>
              <a:rPr dirty="0" err="1"/>
              <a:t>existentes</a:t>
            </a:r>
            <a:r>
              <a:rPr dirty="0"/>
              <a:t>, </a:t>
            </a:r>
            <a:r>
              <a:rPr dirty="0" err="1"/>
              <a:t>mientras</a:t>
            </a:r>
            <a:r>
              <a:rPr dirty="0"/>
              <a:t> Gu OS </a:t>
            </a:r>
            <a:r>
              <a:rPr dirty="0" err="1"/>
              <a:t>empieza</a:t>
            </a:r>
            <a:r>
              <a:rPr dirty="0"/>
              <a:t> a </a:t>
            </a:r>
            <a:r>
              <a:rPr dirty="0" err="1"/>
              <a:t>poseer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representación</a:t>
            </a:r>
            <a:r>
              <a:rPr dirty="0"/>
              <a:t> durable de la Opportunity. Un corte </a:t>
            </a:r>
            <a:r>
              <a:rPr dirty="0" err="1"/>
              <a:t>instantáneo</a:t>
            </a:r>
            <a:r>
              <a:rPr dirty="0"/>
              <a:t> </a:t>
            </a:r>
            <a:r>
              <a:rPr dirty="0" err="1"/>
              <a:t>sería</a:t>
            </a:r>
            <a:r>
              <a:rPr dirty="0"/>
              <a:t> </a:t>
            </a:r>
            <a:r>
              <a:rPr dirty="0" err="1"/>
              <a:t>innecesariamente</a:t>
            </a:r>
            <a:r>
              <a:rPr dirty="0"/>
              <a:t> </a:t>
            </a:r>
            <a:r>
              <a:rPr dirty="0" err="1"/>
              <a:t>riesgoso</a:t>
            </a:r>
            <a:r>
              <a:rPr dirty="0"/>
              <a:t>. </a:t>
            </a:r>
            <a:r>
              <a:rPr dirty="0" err="1"/>
              <a:t>Mantener</a:t>
            </a:r>
            <a:r>
              <a:rPr dirty="0"/>
              <a:t> dos </a:t>
            </a:r>
            <a:r>
              <a:rPr dirty="0" err="1"/>
              <a:t>sistemas</a:t>
            </a:r>
            <a:r>
              <a:rPr dirty="0"/>
              <a:t> con </a:t>
            </a:r>
            <a:r>
              <a:rPr dirty="0" err="1"/>
              <a:t>autoridad</a:t>
            </a:r>
            <a:r>
              <a:rPr dirty="0"/>
              <a:t> </a:t>
            </a:r>
            <a:r>
              <a:rPr dirty="0" err="1"/>
              <a:t>simultánea</a:t>
            </a:r>
            <a:r>
              <a:rPr dirty="0"/>
              <a:t> </a:t>
            </a:r>
            <a:r>
              <a:rPr dirty="0" err="1"/>
              <a:t>sería</a:t>
            </a:r>
            <a:r>
              <a:rPr dirty="0"/>
              <a:t> </a:t>
            </a:r>
            <a:r>
              <a:rPr dirty="0" err="1"/>
              <a:t>todavía</a:t>
            </a:r>
            <a:r>
              <a:rPr dirty="0"/>
              <a:t> </a:t>
            </a:r>
            <a:r>
              <a:rPr dirty="0" err="1"/>
              <a:t>peor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la </a:t>
            </a:r>
            <a:r>
              <a:rPr dirty="0" err="1"/>
              <a:t>migración</a:t>
            </a:r>
            <a:r>
              <a:rPr dirty="0"/>
              <a:t> </a:t>
            </a:r>
            <a:r>
              <a:rPr dirty="0" err="1"/>
              <a:t>separa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, </a:t>
            </a:r>
            <a:r>
              <a:rPr dirty="0" err="1"/>
              <a:t>decisión</a:t>
            </a:r>
            <a:r>
              <a:rPr dirty="0"/>
              <a:t>, </a:t>
            </a:r>
            <a:r>
              <a:rPr dirty="0" err="1"/>
              <a:t>conversación</a:t>
            </a:r>
            <a:r>
              <a:rPr dirty="0"/>
              <a:t> y </a:t>
            </a:r>
            <a:r>
              <a:rPr dirty="0" err="1"/>
              <a:t>aprobación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Responsabilidad</a:t>
            </a:r>
            <a:r>
              <a:rPr dirty="0"/>
              <a:t> durable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Case </a:t>
            </a:r>
            <a:r>
              <a:rPr dirty="0" err="1"/>
              <a:t>conserva</a:t>
            </a:r>
            <a:r>
              <a:rPr dirty="0"/>
              <a:t> el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, </a:t>
            </a:r>
            <a:r>
              <a:rPr dirty="0" err="1"/>
              <a:t>continuidad</a:t>
            </a:r>
            <a:r>
              <a:rPr dirty="0"/>
              <a:t>, </a:t>
            </a:r>
            <a:r>
              <a:rPr dirty="0" err="1"/>
              <a:t>hechos</a:t>
            </a:r>
            <a:r>
              <a:rPr dirty="0"/>
              <a:t>, </a:t>
            </a:r>
            <a:r>
              <a:rPr dirty="0" err="1"/>
              <a:t>compromisos</a:t>
            </a:r>
            <a:r>
              <a:rPr dirty="0"/>
              <a:t>, </a:t>
            </a:r>
            <a:r>
              <a:rPr dirty="0" err="1"/>
              <a:t>trabajo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del </a:t>
            </a:r>
            <a:r>
              <a:rPr dirty="0" err="1"/>
              <a:t>tiempo</a:t>
            </a:r>
            <a:r>
              <a:rPr dirty="0"/>
              <a:t>. Una Lead Opportunity Case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existir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shadow. Su </a:t>
            </a:r>
            <a:r>
              <a:rPr dirty="0" err="1"/>
              <a:t>existencia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aprender</a:t>
            </a:r>
            <a:r>
              <a:rPr dirty="0"/>
              <a:t>, </a:t>
            </a:r>
            <a:r>
              <a:rPr dirty="0" err="1"/>
              <a:t>reconstruir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y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pérdida</a:t>
            </a:r>
            <a:r>
              <a:rPr dirty="0"/>
              <a:t> de </a:t>
            </a:r>
            <a:r>
              <a:rPr dirty="0" err="1"/>
              <a:t>continuidad</a:t>
            </a:r>
            <a:r>
              <a:rPr dirty="0"/>
              <a:t>. No </a:t>
            </a:r>
            <a:r>
              <a:rPr dirty="0" err="1"/>
              <a:t>autoriza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sola a Gu OS a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a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3. Runtime decision authority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decidir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autónoma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de Relationship para un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gobernado</a:t>
            </a:r>
            <a:r>
              <a:rPr dirty="0"/>
              <a:t>. Durante la </a:t>
            </a:r>
            <a:r>
              <a:rPr dirty="0" err="1"/>
              <a:t>migración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valor conceptual es LEGACY o GU_OS y la </a:t>
            </a:r>
            <a:r>
              <a:rPr dirty="0" err="1"/>
              <a:t>verdad</a:t>
            </a:r>
            <a:r>
              <a:rPr dirty="0"/>
              <a:t> </a:t>
            </a:r>
            <a:r>
              <a:rPr dirty="0" err="1"/>
              <a:t>vive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Opportunity. El </a:t>
            </a:r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físico</a:t>
            </a:r>
            <a:r>
              <a:rPr dirty="0"/>
              <a:t> no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. Traditional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transportando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un endpoint </a:t>
            </a:r>
            <a:r>
              <a:rPr dirty="0" err="1"/>
              <a:t>envuelto</a:t>
            </a:r>
            <a:r>
              <a:rPr dirty="0"/>
              <a:t> </a:t>
            </a:r>
            <a:r>
              <a:rPr dirty="0" err="1"/>
              <a:t>aun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Gu OS </a:t>
            </a:r>
            <a:r>
              <a:rPr dirty="0" err="1"/>
              <a:t>posea</a:t>
            </a:r>
            <a:r>
              <a:rPr dirty="0"/>
              <a:t> la </a:t>
            </a:r>
            <a:r>
              <a:rPr dirty="0" err="1"/>
              <a:t>decisión</a:t>
            </a:r>
            <a:r>
              <a:rPr dirty="0"/>
              <a:t>. Del </a:t>
            </a:r>
            <a:r>
              <a:rPr dirty="0" err="1"/>
              <a:t>mismo</a:t>
            </a:r>
            <a:r>
              <a:rPr dirty="0"/>
              <a:t> modo, un Case shadow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existir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runtime authority </a:t>
            </a:r>
            <a:r>
              <a:rPr dirty="0" err="1"/>
              <a:t>permanece</a:t>
            </a:r>
            <a:r>
              <a:rPr dirty="0"/>
              <a:t> en Legacy.</a:t>
            </a:r>
          </a:p>
          <a:p>
            <a:endParaRPr dirty="0"/>
          </a:p>
          <a:p>
            <a:r>
              <a:rPr dirty="0"/>
              <a:t>4. Conversation authority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el </a:t>
            </a:r>
            <a:r>
              <a:rPr dirty="0" err="1"/>
              <a:t>liderazgo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 </a:t>
            </a:r>
            <a:r>
              <a:rPr dirty="0" err="1"/>
              <a:t>Puede</a:t>
            </a:r>
            <a:r>
              <a:rPr dirty="0"/>
              <a:t> ser Gu o </a:t>
            </a:r>
            <a:r>
              <a:rPr dirty="0" err="1"/>
              <a:t>human_active</a:t>
            </a:r>
            <a:r>
              <a:rPr dirty="0"/>
              <a:t>. Cuando se </a:t>
            </a:r>
            <a:r>
              <a:rPr dirty="0" err="1"/>
              <a:t>observa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intervención</a:t>
            </a:r>
            <a:r>
              <a:rPr dirty="0"/>
              <a:t> humana en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hilo</a:t>
            </a:r>
            <a:r>
              <a:rPr dirty="0"/>
              <a:t>, Gu </a:t>
            </a:r>
            <a:r>
              <a:rPr dirty="0" err="1"/>
              <a:t>deja</a:t>
            </a:r>
            <a:r>
              <a:rPr dirty="0"/>
              <a:t> de </a:t>
            </a:r>
            <a:r>
              <a:rPr dirty="0" err="1"/>
              <a:t>hablar</a:t>
            </a:r>
            <a:r>
              <a:rPr dirty="0"/>
              <a:t> para no </a:t>
            </a:r>
            <a:r>
              <a:rPr dirty="0" err="1"/>
              <a:t>competir</a:t>
            </a:r>
            <a:r>
              <a:rPr dirty="0"/>
              <a:t>. El Case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seguir</a:t>
            </a:r>
            <a:r>
              <a:rPr dirty="0"/>
              <a:t> </a:t>
            </a:r>
            <a:r>
              <a:rPr dirty="0" err="1"/>
              <a:t>leyendo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, </a:t>
            </a:r>
            <a:r>
              <a:rPr dirty="0" err="1"/>
              <a:t>actualizando</a:t>
            </a:r>
            <a:r>
              <a:rPr dirty="0"/>
              <a:t> </a:t>
            </a:r>
            <a:r>
              <a:rPr dirty="0" err="1"/>
              <a:t>hechos</a:t>
            </a:r>
            <a:r>
              <a:rPr dirty="0"/>
              <a:t>, </a:t>
            </a:r>
            <a:r>
              <a:rPr dirty="0" err="1"/>
              <a:t>monitoreando</a:t>
            </a:r>
            <a:r>
              <a:rPr dirty="0"/>
              <a:t> </a:t>
            </a:r>
            <a:r>
              <a:rPr dirty="0" err="1"/>
              <a:t>compromisos</a:t>
            </a:r>
            <a:r>
              <a:rPr dirty="0"/>
              <a:t> o </a:t>
            </a:r>
            <a:r>
              <a:rPr dirty="0" err="1"/>
              <a:t>preparando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interfiera</a:t>
            </a:r>
            <a:r>
              <a:rPr dirty="0"/>
              <a:t>. Human takeover no </a:t>
            </a:r>
            <a:r>
              <a:rPr dirty="0" err="1"/>
              <a:t>transfiere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durable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cierra</a:t>
            </a:r>
            <a:r>
              <a:rPr dirty="0"/>
              <a:t> la Opportunity.</a:t>
            </a:r>
          </a:p>
          <a:p>
            <a:endParaRPr dirty="0"/>
          </a:p>
          <a:p>
            <a:r>
              <a:rPr dirty="0"/>
              <a:t>5. Business approval authority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aprobar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o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protegido</a:t>
            </a:r>
            <a:r>
              <a:rPr dirty="0"/>
              <a:t>. Esta </a:t>
            </a:r>
            <a:r>
              <a:rPr dirty="0" err="1"/>
              <a:t>autoridad</a:t>
            </a:r>
            <a:r>
              <a:rPr dirty="0"/>
              <a:t> </a:t>
            </a:r>
            <a:r>
              <a:rPr dirty="0" err="1"/>
              <a:t>deriva</a:t>
            </a:r>
            <a:r>
              <a:rPr dirty="0"/>
              <a:t> de roles, grants y policy </a:t>
            </a:r>
            <a:r>
              <a:rPr dirty="0" err="1"/>
              <a:t>publicada</a:t>
            </a:r>
            <a:r>
              <a:rPr dirty="0"/>
              <a:t> de la Organization. Una persona </a:t>
            </a:r>
            <a:r>
              <a:rPr dirty="0" err="1"/>
              <a:t>asignada</a:t>
            </a:r>
            <a:r>
              <a:rPr dirty="0"/>
              <a:t> a la Opportunity no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para </a:t>
            </a:r>
            <a:r>
              <a:rPr dirty="0" err="1"/>
              <a:t>aprobar</a:t>
            </a:r>
            <a:r>
              <a:rPr dirty="0"/>
              <a:t>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. La </a:t>
            </a:r>
            <a:r>
              <a:rPr dirty="0" err="1"/>
              <a:t>aprobación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vinculada</a:t>
            </a:r>
            <a:r>
              <a:rPr dirty="0"/>
              <a:t> al </a:t>
            </a:r>
            <a:r>
              <a:rPr dirty="0" err="1"/>
              <a:t>objeto</a:t>
            </a:r>
            <a:r>
              <a:rPr dirty="0"/>
              <a:t>, </a:t>
            </a:r>
            <a:r>
              <a:rPr dirty="0" err="1"/>
              <a:t>evidencia</a:t>
            </a:r>
            <a:r>
              <a:rPr dirty="0"/>
              <a:t> y </a:t>
            </a:r>
            <a:r>
              <a:rPr dirty="0" err="1"/>
              <a:t>versión</a:t>
            </a:r>
            <a:r>
              <a:rPr dirty="0"/>
              <a:t> de policy </a:t>
            </a:r>
            <a:r>
              <a:rPr dirty="0" err="1"/>
              <a:t>correspondientes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6. La </a:t>
            </a:r>
            <a:r>
              <a:rPr dirty="0" err="1"/>
              <a:t>ejecución</a:t>
            </a:r>
            <a:r>
              <a:rPr dirty="0"/>
              <a:t> del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merece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precisión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 lo </a:t>
            </a:r>
            <a:r>
              <a:rPr dirty="0" err="1"/>
              <a:t>apruebe</a:t>
            </a:r>
            <a:r>
              <a:rPr dirty="0"/>
              <a:t> no basta para </a:t>
            </a:r>
            <a:r>
              <a:rPr dirty="0" err="1"/>
              <a:t>ejecutarlo</a:t>
            </a:r>
            <a:r>
              <a:rPr dirty="0"/>
              <a:t>. Antes de un </a:t>
            </a:r>
            <a:r>
              <a:rPr dirty="0" err="1"/>
              <a:t>efecto</a:t>
            </a:r>
            <a:r>
              <a:rPr dirty="0"/>
              <a:t> consequential, el executor </a:t>
            </a:r>
            <a:r>
              <a:rPr dirty="0" err="1"/>
              <a:t>vuelve</a:t>
            </a:r>
            <a:r>
              <a:rPr dirty="0"/>
              <a:t> a </a:t>
            </a:r>
            <a:r>
              <a:rPr dirty="0" err="1"/>
              <a:t>comprobar</a:t>
            </a:r>
            <a:r>
              <a:rPr dirty="0"/>
              <a:t> Organization y tenancy, runtime authority, conversation authority, policy, </a:t>
            </a:r>
            <a:r>
              <a:rPr dirty="0" err="1"/>
              <a:t>aprobación</a:t>
            </a:r>
            <a:r>
              <a:rPr dirty="0"/>
              <a:t> </a:t>
            </a:r>
            <a:r>
              <a:rPr dirty="0" err="1"/>
              <a:t>aplicable</a:t>
            </a:r>
            <a:r>
              <a:rPr dirty="0"/>
              <a:t>, </a:t>
            </a:r>
            <a:r>
              <a:rPr dirty="0" err="1"/>
              <a:t>estado</a:t>
            </a:r>
            <a:r>
              <a:rPr dirty="0"/>
              <a:t> fresco, </a:t>
            </a:r>
            <a:r>
              <a:rPr dirty="0" err="1"/>
              <a:t>idempotencia</a:t>
            </a:r>
            <a:r>
              <a:rPr dirty="0"/>
              <a:t> y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. Si </a:t>
            </a:r>
            <a:r>
              <a:rPr dirty="0" err="1"/>
              <a:t>alguna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 </a:t>
            </a:r>
            <a:r>
              <a:rPr dirty="0" err="1"/>
              <a:t>cambió</a:t>
            </a:r>
            <a:r>
              <a:rPr dirty="0"/>
              <a:t>, el Work Item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quedar</a:t>
            </a:r>
            <a:r>
              <a:rPr dirty="0"/>
              <a:t> </a:t>
            </a:r>
            <a:r>
              <a:rPr dirty="0" err="1"/>
              <a:t>bloqueado</a:t>
            </a:r>
            <a:r>
              <a:rPr dirty="0"/>
              <a:t> o </a:t>
            </a:r>
            <a:r>
              <a:rPr dirty="0" err="1"/>
              <a:t>regresar</a:t>
            </a:r>
            <a:r>
              <a:rPr dirty="0"/>
              <a:t> a </a:t>
            </a:r>
            <a:r>
              <a:rPr dirty="0" err="1"/>
              <a:t>reconsideración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7. En shadow, SL-0 a SL-8b </a:t>
            </a:r>
            <a:r>
              <a:rPr dirty="0" err="1"/>
              <a:t>construyen</a:t>
            </a:r>
            <a:r>
              <a:rPr dirty="0"/>
              <a:t> la </a:t>
            </a:r>
            <a:r>
              <a:rPr dirty="0" err="1"/>
              <a:t>representación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sin </a:t>
            </a:r>
            <a:r>
              <a:rPr dirty="0" err="1"/>
              <a:t>habilitar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.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Cases, leer </a:t>
            </a:r>
            <a:r>
              <a:rPr dirty="0" err="1"/>
              <a:t>fuentes</a:t>
            </a:r>
            <a:r>
              <a:rPr dirty="0"/>
              <a:t> frescas, registrar </a:t>
            </a:r>
            <a:r>
              <a:rPr dirty="0" err="1"/>
              <a:t>admisión</a:t>
            </a:r>
            <a:r>
              <a:rPr dirty="0"/>
              <a:t> y lineage, </a:t>
            </a:r>
            <a:r>
              <a:rPr dirty="0" err="1"/>
              <a:t>ejecutar</a:t>
            </a:r>
            <a:r>
              <a:rPr dirty="0"/>
              <a:t> el Supervisor en modo shadow, </a:t>
            </a:r>
            <a:r>
              <a:rPr dirty="0" err="1"/>
              <a:t>procesar</a:t>
            </a:r>
            <a:r>
              <a:rPr dirty="0"/>
              <a:t> wake-ups, </a:t>
            </a:r>
            <a:r>
              <a:rPr dirty="0" err="1"/>
              <a:t>mostrar</a:t>
            </a:r>
            <a:r>
              <a:rPr dirty="0"/>
              <a:t> Work Portfolio, </a:t>
            </a:r>
            <a:r>
              <a:rPr dirty="0" err="1"/>
              <a:t>reconciliar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visitas y </a:t>
            </a:r>
            <a:r>
              <a:rPr dirty="0" err="1"/>
              <a:t>reconocer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frontera</a:t>
            </a:r>
            <a:r>
              <a:rPr dirty="0"/>
              <a:t> </a:t>
            </a:r>
            <a:r>
              <a:rPr dirty="0" err="1"/>
              <a:t>mínima</a:t>
            </a:r>
            <a:r>
              <a:rPr dirty="0"/>
              <a:t> de Transaction Case. Las </a:t>
            </a:r>
            <a:r>
              <a:rPr dirty="0" err="1"/>
              <a:t>decisiones</a:t>
            </a:r>
            <a:r>
              <a:rPr dirty="0"/>
              <a:t> del Supervisor se </a:t>
            </a:r>
            <a:r>
              <a:rPr dirty="0" err="1"/>
              <a:t>registran</a:t>
            </a:r>
            <a:r>
              <a:rPr dirty="0"/>
              <a:t> y </a:t>
            </a:r>
            <a:r>
              <a:rPr dirty="0" err="1"/>
              <a:t>comparan</a:t>
            </a:r>
            <a:r>
              <a:rPr dirty="0"/>
              <a:t>. El path de </a:t>
            </a:r>
            <a:r>
              <a:rPr dirty="0" err="1"/>
              <a:t>efectos</a:t>
            </a:r>
            <a:r>
              <a:rPr dirty="0"/>
              <a:t> prospect-facing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inalcanzable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diseño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8. Shadow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Gu OS no </a:t>
            </a:r>
            <a:r>
              <a:rPr dirty="0" err="1"/>
              <a:t>haga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real. Organization tenancy, Case identity, Facts, Work, </a:t>
            </a:r>
            <a:r>
              <a:rPr dirty="0" err="1"/>
              <a:t>posturas</a:t>
            </a:r>
            <a:r>
              <a:rPr dirty="0"/>
              <a:t>, approvals </a:t>
            </a:r>
            <a:r>
              <a:rPr dirty="0" err="1"/>
              <a:t>preparados</a:t>
            </a:r>
            <a:r>
              <a:rPr dirty="0"/>
              <a:t>, evidence gaps y replay son </a:t>
            </a:r>
            <a:r>
              <a:rPr dirty="0" err="1"/>
              <a:t>componentes</a:t>
            </a:r>
            <a:r>
              <a:rPr dirty="0"/>
              <a:t> durables. El </a:t>
            </a:r>
            <a:r>
              <a:rPr dirty="0" err="1"/>
              <a:t>límite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hable</a:t>
            </a:r>
            <a:r>
              <a:rPr dirty="0"/>
              <a:t> o </a:t>
            </a:r>
            <a:r>
              <a:rPr dirty="0" err="1"/>
              <a:t>escriba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 antes de disponer de </a:t>
            </a:r>
            <a:r>
              <a:rPr dirty="0" err="1"/>
              <a:t>contratos</a:t>
            </a:r>
            <a:r>
              <a:rPr dirty="0"/>
              <a:t>, </a:t>
            </a:r>
            <a:r>
              <a:rPr dirty="0" err="1"/>
              <a:t>controles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suficientes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9. En assisted, SL-9 y SL-10 </a:t>
            </a:r>
            <a:r>
              <a:rPr dirty="0" err="1"/>
              <a:t>habilitan</a:t>
            </a:r>
            <a:r>
              <a:rPr dirty="0"/>
              <a:t> dos </a:t>
            </a:r>
            <a:r>
              <a:rPr dirty="0" err="1"/>
              <a:t>clases</a:t>
            </a:r>
            <a:r>
              <a:rPr dirty="0"/>
              <a:t> de </a:t>
            </a:r>
            <a:r>
              <a:rPr dirty="0" err="1"/>
              <a:t>efectos</a:t>
            </a:r>
            <a:r>
              <a:rPr dirty="0"/>
              <a:t>: </a:t>
            </a:r>
            <a:r>
              <a:rPr dirty="0" err="1"/>
              <a:t>mensajes</a:t>
            </a:r>
            <a:r>
              <a:rPr dirty="0"/>
              <a:t> y appointments. Cada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prepare + approval. Gu OS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o </a:t>
            </a:r>
            <a:r>
              <a:rPr dirty="0" err="1"/>
              <a:t>coordinación</a:t>
            </a:r>
            <a:r>
              <a:rPr dirty="0"/>
              <a:t> de visita </a:t>
            </a:r>
            <a:r>
              <a:rPr dirty="0" err="1"/>
              <a:t>sería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,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 y </a:t>
            </a:r>
            <a:r>
              <a:rPr dirty="0" err="1"/>
              <a:t>presentarla</a:t>
            </a:r>
            <a:r>
              <a:rPr dirty="0"/>
              <a:t> 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. 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autorizado</a:t>
            </a:r>
            <a:r>
              <a:rPr dirty="0"/>
              <a:t> </a:t>
            </a:r>
            <a:r>
              <a:rPr dirty="0" err="1"/>
              <a:t>aprueba</a:t>
            </a:r>
            <a:r>
              <a:rPr dirty="0"/>
              <a:t> o </a:t>
            </a:r>
            <a:r>
              <a:rPr dirty="0" err="1"/>
              <a:t>rechaza</a:t>
            </a:r>
            <a:r>
              <a:rPr dirty="0"/>
              <a:t>. El executor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gates y </a:t>
            </a:r>
            <a:r>
              <a:rPr dirty="0" err="1"/>
              <a:t>utiliza</a:t>
            </a:r>
            <a:r>
              <a:rPr dirty="0"/>
              <a:t> el transport seam </a:t>
            </a:r>
            <a:r>
              <a:rPr dirty="0" err="1"/>
              <a:t>correspondiente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10. El </a:t>
            </a:r>
            <a:r>
              <a:rPr dirty="0" err="1"/>
              <a:t>mensaje</a:t>
            </a:r>
            <a:r>
              <a:rPr dirty="0"/>
              <a:t> </a:t>
            </a:r>
            <a:r>
              <a:rPr dirty="0" err="1"/>
              <a:t>saliente</a:t>
            </a:r>
            <a:r>
              <a:rPr dirty="0"/>
              <a:t> </a:t>
            </a:r>
            <a:r>
              <a:rPr dirty="0" err="1"/>
              <a:t>utiliza</a:t>
            </a:r>
            <a:r>
              <a:rPr dirty="0"/>
              <a:t> un operation key para </a:t>
            </a:r>
            <a:r>
              <a:rPr dirty="0" err="1"/>
              <a:t>idempotencia</a:t>
            </a:r>
            <a:r>
              <a:rPr dirty="0"/>
              <a:t>, </a:t>
            </a:r>
            <a:r>
              <a:rPr dirty="0" err="1"/>
              <a:t>conserva</a:t>
            </a:r>
            <a:r>
              <a:rPr dirty="0"/>
              <a:t> la </a:t>
            </a:r>
            <a:r>
              <a:rPr dirty="0" err="1"/>
              <a:t>referencia</a:t>
            </a:r>
            <a:r>
              <a:rPr dirty="0"/>
              <a:t> del </a:t>
            </a:r>
            <a:r>
              <a:rPr dirty="0" err="1"/>
              <a:t>proveedor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wamid</a:t>
            </a:r>
            <a:r>
              <a:rPr dirty="0"/>
              <a:t> y </a:t>
            </a:r>
            <a:r>
              <a:rPr dirty="0" err="1"/>
              <a:t>reconcilia</a:t>
            </a:r>
            <a:r>
              <a:rPr dirty="0"/>
              <a:t> delivered, failed o unknown. No </a:t>
            </a:r>
            <a:r>
              <a:rPr dirty="0" err="1"/>
              <a:t>reintenta</a:t>
            </a:r>
            <a:r>
              <a:rPr dirty="0"/>
              <a:t> a </a:t>
            </a:r>
            <a:r>
              <a:rPr dirty="0" err="1"/>
              <a:t>ciegas</a:t>
            </a:r>
            <a:r>
              <a:rPr dirty="0"/>
              <a:t> un </a:t>
            </a:r>
            <a:r>
              <a:rPr dirty="0" err="1"/>
              <a:t>unknown_outcome</a:t>
            </a:r>
            <a:r>
              <a:rPr dirty="0"/>
              <a:t>. El appointment </a:t>
            </a:r>
            <a:r>
              <a:rPr dirty="0" err="1"/>
              <a:t>utiliza</a:t>
            </a:r>
            <a:r>
              <a:rPr dirty="0"/>
              <a:t> un wrapper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legado</a:t>
            </a:r>
            <a:r>
              <a:rPr dirty="0"/>
              <a:t> para </a:t>
            </a:r>
            <a:r>
              <a:rPr dirty="0" err="1"/>
              <a:t>preservar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 de billing, Google Calendar y la </a:t>
            </a:r>
            <a:r>
              <a:rPr dirty="0" err="1"/>
              <a:t>persistencia</a:t>
            </a:r>
            <a:r>
              <a:rPr dirty="0"/>
              <a:t> </a:t>
            </a:r>
            <a:r>
              <a:rPr dirty="0" err="1"/>
              <a:t>Firestore</a:t>
            </a:r>
            <a:r>
              <a:rPr dirty="0"/>
              <a:t>/Mongo. Si </a:t>
            </a: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 </a:t>
            </a:r>
            <a:r>
              <a:rPr dirty="0" err="1"/>
              <a:t>parcial</a:t>
            </a:r>
            <a:r>
              <a:rPr dirty="0"/>
              <a:t>,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de </a:t>
            </a:r>
            <a:r>
              <a:rPr dirty="0" err="1"/>
              <a:t>reconciliación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11. La </a:t>
            </a:r>
            <a:r>
              <a:rPr dirty="0" err="1"/>
              <a:t>etapa</a:t>
            </a:r>
            <a:r>
              <a:rPr dirty="0"/>
              <a:t> assisted </a:t>
            </a:r>
            <a:r>
              <a:rPr dirty="0" err="1"/>
              <a:t>requiere</a:t>
            </a:r>
            <a:r>
              <a:rPr dirty="0"/>
              <a:t> C6 live </a:t>
            </a:r>
            <a:r>
              <a:rPr dirty="0" err="1"/>
              <a:t>como</a:t>
            </a:r>
            <a:r>
              <a:rPr dirty="0"/>
              <a:t> hard gate. Las </a:t>
            </a:r>
            <a:r>
              <a:rPr dirty="0" err="1"/>
              <a:t>lecturas</a:t>
            </a:r>
            <a:r>
              <a:rPr dirty="0"/>
              <a:t> </a:t>
            </a:r>
            <a:r>
              <a:rPr dirty="0" err="1"/>
              <a:t>directas</a:t>
            </a:r>
            <a:r>
              <a:rPr dirty="0"/>
              <a:t> de </a:t>
            </a:r>
            <a:r>
              <a:rPr dirty="0" err="1"/>
              <a:t>Firestore</a:t>
            </a:r>
            <a:r>
              <a:rPr dirty="0"/>
              <a:t> y Mongo </a:t>
            </a:r>
            <a:r>
              <a:rPr dirty="0" err="1"/>
              <a:t>aceptadas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bootstrap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permitidas</a:t>
            </a:r>
            <a:r>
              <a:rPr dirty="0"/>
              <a:t> en shadow. Antes del primer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, las </a:t>
            </a:r>
            <a:r>
              <a:rPr dirty="0" err="1"/>
              <a:t>comprobaciones</a:t>
            </a:r>
            <a:r>
              <a:rPr dirty="0"/>
              <a:t> de </a:t>
            </a:r>
            <a:r>
              <a:rPr dirty="0" err="1"/>
              <a:t>frescura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usar APIs </a:t>
            </a:r>
            <a:r>
              <a:rPr dirty="0" err="1"/>
              <a:t>acotadas</a:t>
            </a:r>
            <a:r>
              <a:rPr dirty="0"/>
              <a:t> de Traditional Gu. No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exención</a:t>
            </a:r>
            <a:r>
              <a:rPr dirty="0"/>
              <a:t> de </a:t>
            </a:r>
            <a:r>
              <a:rPr dirty="0" err="1"/>
              <a:t>riesgo</a:t>
            </a:r>
            <a:r>
              <a:rPr dirty="0"/>
              <a:t> para </a:t>
            </a:r>
            <a:r>
              <a:rPr dirty="0" err="1"/>
              <a:t>saltarse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frontera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12. En selective live, SL-11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transferir</a:t>
            </a:r>
            <a:r>
              <a:rPr dirty="0"/>
              <a:t> runtime decision authority a Gu OS </a:t>
            </a:r>
            <a:r>
              <a:rPr dirty="0" err="1"/>
              <a:t>por</a:t>
            </a:r>
            <a:r>
              <a:rPr dirty="0"/>
              <a:t> Opportunity. La </a:t>
            </a:r>
            <a:r>
              <a:rPr dirty="0" err="1"/>
              <a:t>operación</a:t>
            </a:r>
            <a:r>
              <a:rPr dirty="0"/>
              <a:t> de </a:t>
            </a:r>
            <a:r>
              <a:rPr dirty="0" err="1"/>
              <a:t>transferencia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ser </a:t>
            </a:r>
            <a:r>
              <a:rPr dirty="0" err="1"/>
              <a:t>explícita</a:t>
            </a:r>
            <a:r>
              <a:rPr dirty="0"/>
              <a:t>, </a:t>
            </a:r>
            <a:r>
              <a:rPr dirty="0" err="1"/>
              <a:t>gobernada</a:t>
            </a:r>
            <a:r>
              <a:rPr dirty="0"/>
              <a:t> y observable. C2 </a:t>
            </a:r>
            <a:r>
              <a:rPr dirty="0" err="1"/>
              <a:t>funciona</a:t>
            </a:r>
            <a:r>
              <a:rPr dirty="0"/>
              <a:t> en enforcement para </a:t>
            </a:r>
            <a:r>
              <a:rPr dirty="0" err="1"/>
              <a:t>que</a:t>
            </a:r>
            <a:r>
              <a:rPr dirty="0"/>
              <a:t> Traditional Gu </a:t>
            </a:r>
            <a:r>
              <a:rPr dirty="0" err="1"/>
              <a:t>suprima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competidoras</a:t>
            </a:r>
            <a:r>
              <a:rPr dirty="0"/>
              <a:t>. El resolver </a:t>
            </a:r>
            <a:r>
              <a:rPr dirty="0" err="1"/>
              <a:t>verifica</a:t>
            </a:r>
            <a:r>
              <a:rPr dirty="0"/>
              <a:t> la </a:t>
            </a:r>
            <a:r>
              <a:rPr dirty="0" err="1"/>
              <a:t>autoridad</a:t>
            </a:r>
            <a:r>
              <a:rPr dirty="0"/>
              <a:t> antes del </a:t>
            </a:r>
            <a:r>
              <a:rPr dirty="0" err="1"/>
              <a:t>efecto</a:t>
            </a:r>
            <a:r>
              <a:rPr dirty="0"/>
              <a:t> y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desconocido</a:t>
            </a:r>
            <a:r>
              <a:rPr dirty="0"/>
              <a:t> o </a:t>
            </a:r>
            <a:r>
              <a:rPr dirty="0" err="1"/>
              <a:t>conflictivo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segura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13. Selective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transferencia</a:t>
            </a:r>
            <a:r>
              <a:rPr dirty="0"/>
              <a:t> no </a:t>
            </a:r>
            <a:r>
              <a:rPr dirty="0" err="1"/>
              <a:t>ocurre</a:t>
            </a:r>
            <a:r>
              <a:rPr dirty="0"/>
              <a:t> para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inmobiliaria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para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prospectos</a:t>
            </a:r>
            <a:r>
              <a:rPr dirty="0"/>
              <a:t> al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. Flags de Organization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habilitar</a:t>
            </a:r>
            <a:r>
              <a:rPr dirty="0"/>
              <a:t> el </a:t>
            </a:r>
            <a:r>
              <a:rPr dirty="0" err="1"/>
              <a:t>subsistema</a:t>
            </a:r>
            <a:r>
              <a:rPr dirty="0"/>
              <a:t> y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modos</a:t>
            </a:r>
            <a:r>
              <a:rPr dirty="0"/>
              <a:t> de admission, send, appointment y authority transfer. El Case </a:t>
            </a:r>
            <a:r>
              <a:rPr dirty="0" err="1"/>
              <a:t>conserva</a:t>
            </a:r>
            <a:r>
              <a:rPr dirty="0"/>
              <a:t> la </a:t>
            </a:r>
            <a:r>
              <a:rPr dirty="0" err="1"/>
              <a:t>verdad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Opportunity. Canary, rollback, </a:t>
            </a:r>
            <a:r>
              <a:rPr dirty="0" err="1"/>
              <a:t>observabilidad</a:t>
            </a:r>
            <a:r>
              <a:rPr dirty="0"/>
              <a:t> y outcome evidence </a:t>
            </a:r>
            <a:r>
              <a:rPr dirty="0" err="1"/>
              <a:t>determinan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ampliarse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14. El </a:t>
            </a:r>
            <a:r>
              <a:rPr dirty="0" err="1"/>
              <a:t>invariante</a:t>
            </a:r>
            <a:r>
              <a:rPr dirty="0"/>
              <a:t> central se formula con </a:t>
            </a:r>
            <a:r>
              <a:rPr dirty="0" err="1"/>
              <a:t>precisión</a:t>
            </a:r>
            <a:r>
              <a:rPr dirty="0"/>
              <a:t>: Legacy y Gu OS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deciden</a:t>
            </a:r>
            <a:r>
              <a:rPr dirty="0"/>
              <a:t> en </a:t>
            </a:r>
            <a:r>
              <a:rPr dirty="0" err="1"/>
              <a:t>paralelo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autónomo</a:t>
            </a:r>
            <a:r>
              <a:rPr dirty="0"/>
              <a:t> </a:t>
            </a:r>
            <a:r>
              <a:rPr dirty="0" err="1"/>
              <a:t>gobernado</a:t>
            </a:r>
            <a:r>
              <a:rPr dirty="0"/>
              <a:t>. Esto no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siempre</a:t>
            </a:r>
            <a:r>
              <a:rPr dirty="0"/>
              <a:t> </a:t>
            </a:r>
            <a:r>
              <a:rPr dirty="0" err="1"/>
              <a:t>exista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Gu </a:t>
            </a:r>
            <a:r>
              <a:rPr dirty="0" err="1"/>
              <a:t>deba</a:t>
            </a:r>
            <a:r>
              <a:rPr dirty="0"/>
              <a:t> </a:t>
            </a:r>
            <a:r>
              <a:rPr dirty="0" err="1"/>
              <a:t>hablar</a:t>
            </a:r>
            <a:r>
              <a:rPr dirty="0"/>
              <a:t>. El Supervisor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 o </a:t>
            </a:r>
            <a:r>
              <a:rPr dirty="0" err="1"/>
              <a:t>hacer</a:t>
            </a:r>
            <a:r>
              <a:rPr dirty="0"/>
              <a:t> no-op. También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lidere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mientras</a:t>
            </a:r>
            <a:r>
              <a:rPr dirty="0"/>
              <a:t> Gu OS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y </a:t>
            </a:r>
            <a:r>
              <a:rPr dirty="0" err="1"/>
              <a:t>realiza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no </a:t>
            </a:r>
            <a:r>
              <a:rPr dirty="0" err="1"/>
              <a:t>conflictivo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15. </a:t>
            </a:r>
            <a:r>
              <a:rPr dirty="0" err="1"/>
              <a:t>Distinga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 de </a:t>
            </a:r>
            <a:r>
              <a:rPr dirty="0" err="1"/>
              <a:t>mecanismo</a:t>
            </a:r>
            <a:r>
              <a:rPr dirty="0"/>
              <a:t> de </a:t>
            </a:r>
            <a:r>
              <a:rPr dirty="0" err="1"/>
              <a:t>transporte</a:t>
            </a:r>
            <a:r>
              <a:rPr dirty="0"/>
              <a:t>. Si Gu OS decide </a:t>
            </a:r>
            <a:r>
              <a:rPr dirty="0" err="1"/>
              <a:t>enviar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y el endpoint de Traditional Gu lo </a:t>
            </a:r>
            <a:r>
              <a:rPr dirty="0" err="1"/>
              <a:t>entrega</a:t>
            </a:r>
            <a:r>
              <a:rPr dirty="0"/>
              <a:t>, Traditional Gu </a:t>
            </a:r>
            <a:r>
              <a:rPr dirty="0" err="1"/>
              <a:t>actúa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transport adapter, no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decisor</a:t>
            </a:r>
            <a:r>
              <a:rPr dirty="0"/>
              <a:t>. Si Legacy decide el follow-up y lo </a:t>
            </a:r>
            <a:r>
              <a:rPr dirty="0" err="1"/>
              <a:t>envía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servicio</a:t>
            </a:r>
            <a:r>
              <a:rPr dirty="0"/>
              <a:t>, </a:t>
            </a:r>
            <a:r>
              <a:rPr dirty="0" err="1"/>
              <a:t>mantiene</a:t>
            </a:r>
            <a:r>
              <a:rPr dirty="0"/>
              <a:t> runtime authority. La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mueve</a:t>
            </a:r>
            <a:r>
              <a:rPr dirty="0"/>
              <a:t> bytes no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decidió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16. </a:t>
            </a:r>
            <a:r>
              <a:rPr dirty="0" err="1"/>
              <a:t>Distinga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de </a:t>
            </a:r>
            <a:r>
              <a:rPr dirty="0" err="1"/>
              <a:t>aprobación</a:t>
            </a:r>
            <a:r>
              <a:rPr dirty="0"/>
              <a:t>. Un </a:t>
            </a:r>
            <a:r>
              <a:rPr dirty="0" err="1"/>
              <a:t>asesor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aprobar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</a:t>
            </a:r>
            <a:r>
              <a:rPr dirty="0" err="1"/>
              <a:t>preparado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Gu sin </a:t>
            </a:r>
            <a:r>
              <a:rPr dirty="0" err="1"/>
              <a:t>tomar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. También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tomar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y </a:t>
            </a:r>
            <a:r>
              <a:rPr dirty="0" err="1"/>
              <a:t>hablar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sin </a:t>
            </a:r>
            <a:r>
              <a:rPr dirty="0" err="1"/>
              <a:t>convertirse</a:t>
            </a:r>
            <a:r>
              <a:rPr dirty="0"/>
              <a:t> en </a:t>
            </a:r>
            <a:r>
              <a:rPr dirty="0" err="1"/>
              <a:t>aprobador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financiera</a:t>
            </a:r>
            <a:r>
              <a:rPr dirty="0"/>
              <a:t> o contractual fuera de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rol</a:t>
            </a:r>
            <a:r>
              <a:rPr dirty="0"/>
              <a:t>. Cada </a:t>
            </a:r>
            <a:r>
              <a:rPr dirty="0" err="1"/>
              <a:t>dimensión</a:t>
            </a:r>
            <a:r>
              <a:rPr dirty="0"/>
              <a:t> cambia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señales</a:t>
            </a:r>
            <a:r>
              <a:rPr dirty="0"/>
              <a:t> y </a:t>
            </a:r>
            <a:r>
              <a:rPr dirty="0" err="1"/>
              <a:t>mecanismos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17. </a:t>
            </a:r>
            <a:r>
              <a:rPr dirty="0" err="1"/>
              <a:t>Distinga</a:t>
            </a:r>
            <a:r>
              <a:rPr dirty="0"/>
              <a:t> </a:t>
            </a:r>
            <a:r>
              <a:rPr dirty="0" err="1"/>
              <a:t>aprobación</a:t>
            </a:r>
            <a:r>
              <a:rPr dirty="0"/>
              <a:t> de outcome. La </a:t>
            </a:r>
            <a:r>
              <a:rPr dirty="0" err="1"/>
              <a:t>aprobación</a:t>
            </a:r>
            <a:r>
              <a:rPr dirty="0"/>
              <a:t> </a:t>
            </a:r>
            <a:r>
              <a:rPr dirty="0" err="1"/>
              <a:t>autoriza</a:t>
            </a:r>
            <a:r>
              <a:rPr dirty="0"/>
              <a:t> </a:t>
            </a:r>
            <a:r>
              <a:rPr dirty="0" err="1"/>
              <a:t>intentar</a:t>
            </a:r>
            <a:r>
              <a:rPr dirty="0"/>
              <a:t> un </a:t>
            </a:r>
            <a:r>
              <a:rPr dirty="0" err="1"/>
              <a:t>efecto</a:t>
            </a:r>
            <a:r>
              <a:rPr dirty="0"/>
              <a:t>. La </a:t>
            </a:r>
            <a:r>
              <a:rPr dirty="0" err="1"/>
              <a:t>respuesta</a:t>
            </a:r>
            <a:r>
              <a:rPr dirty="0"/>
              <a:t> del </a:t>
            </a:r>
            <a:r>
              <a:rPr dirty="0" err="1"/>
              <a:t>proveedor</a:t>
            </a:r>
            <a:r>
              <a:rPr dirty="0"/>
              <a:t> describe un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. El outcome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posterior. Un </a:t>
            </a:r>
            <a:r>
              <a:rPr dirty="0" err="1"/>
              <a:t>wamid</a:t>
            </a:r>
            <a:r>
              <a:rPr dirty="0"/>
              <a:t> no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entrega</a:t>
            </a:r>
            <a:r>
              <a:rPr dirty="0"/>
              <a:t>. Un Calendar event no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visita </a:t>
            </a:r>
            <a:r>
              <a:rPr dirty="0" err="1"/>
              <a:t>ocurrió</a:t>
            </a:r>
            <a:r>
              <a:rPr dirty="0"/>
              <a:t>. La </a:t>
            </a:r>
            <a:r>
              <a:rPr dirty="0" err="1"/>
              <a:t>ausencia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la </a:t>
            </a:r>
            <a:r>
              <a:rPr dirty="0" err="1"/>
              <a:t>fecha</a:t>
            </a:r>
            <a:r>
              <a:rPr dirty="0"/>
              <a:t>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no-show.</a:t>
            </a:r>
          </a:p>
          <a:p>
            <a:endParaRPr dirty="0"/>
          </a:p>
          <a:p>
            <a:r>
              <a:rPr dirty="0"/>
              <a:t>18. Cierre </a:t>
            </a:r>
            <a:r>
              <a:rPr dirty="0" err="1"/>
              <a:t>conectando</a:t>
            </a:r>
            <a:r>
              <a:rPr dirty="0"/>
              <a:t> </a:t>
            </a:r>
            <a:r>
              <a:rPr dirty="0" err="1"/>
              <a:t>seguridad</a:t>
            </a:r>
            <a:r>
              <a:rPr dirty="0"/>
              <a:t> con </a:t>
            </a:r>
            <a:r>
              <a:rPr dirty="0" err="1"/>
              <a:t>experiencia</a:t>
            </a:r>
            <a:r>
              <a:rPr dirty="0"/>
              <a:t>. Esta </a:t>
            </a:r>
            <a:r>
              <a:rPr dirty="0" err="1"/>
              <a:t>separación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, protege el control del </a:t>
            </a:r>
            <a:r>
              <a:rPr dirty="0" err="1"/>
              <a:t>asesor</a:t>
            </a:r>
            <a:r>
              <a:rPr dirty="0"/>
              <a:t> y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vea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Gu propone, </a:t>
            </a:r>
            <a:r>
              <a:rPr dirty="0" err="1"/>
              <a:t>espera</a:t>
            </a:r>
            <a:r>
              <a:rPr dirty="0"/>
              <a:t>, </a:t>
            </a:r>
            <a:r>
              <a:rPr dirty="0" err="1"/>
              <a:t>solicita</a:t>
            </a:r>
            <a:r>
              <a:rPr dirty="0"/>
              <a:t> </a:t>
            </a:r>
            <a:r>
              <a:rPr dirty="0" err="1"/>
              <a:t>aprobación</a:t>
            </a:r>
            <a:r>
              <a:rPr dirty="0"/>
              <a:t> o se </a:t>
            </a:r>
            <a:r>
              <a:rPr dirty="0" err="1"/>
              <a:t>abstiene</a:t>
            </a:r>
            <a:r>
              <a:rPr dirty="0"/>
              <a:t>. El </a:t>
            </a:r>
            <a:r>
              <a:rPr dirty="0" err="1"/>
              <a:t>usuario</a:t>
            </a:r>
            <a:r>
              <a:rPr dirty="0"/>
              <a:t> no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operar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trazabilidad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explicar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poseía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en el </a:t>
            </a:r>
            <a:r>
              <a:rPr dirty="0" err="1"/>
              <a:t>momento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EJEMPLO INMOBILIARIO</a:t>
            </a:r>
          </a:p>
          <a:p>
            <a:r>
              <a:rPr dirty="0"/>
              <a:t>Traditional Gu </a:t>
            </a:r>
            <a:r>
              <a:rPr dirty="0" err="1"/>
              <a:t>atiende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prospecta</a:t>
            </a:r>
            <a:r>
              <a:rPr dirty="0"/>
              <a:t> </a:t>
            </a:r>
            <a:r>
              <a:rPr dirty="0" err="1"/>
              <a:t>interesada</a:t>
            </a:r>
            <a:r>
              <a:rPr dirty="0"/>
              <a:t> en </a:t>
            </a:r>
            <a:r>
              <a:rPr dirty="0" err="1"/>
              <a:t>rentar</a:t>
            </a:r>
            <a:r>
              <a:rPr dirty="0"/>
              <a:t> un </a:t>
            </a:r>
            <a:r>
              <a:rPr dirty="0" err="1"/>
              <a:t>departamento</a:t>
            </a:r>
            <a:r>
              <a:rPr dirty="0"/>
              <a:t>. En shadow, Gu OS </a:t>
            </a:r>
            <a:r>
              <a:rPr dirty="0" err="1"/>
              <a:t>crea</a:t>
            </a:r>
            <a:r>
              <a:rPr dirty="0"/>
              <a:t> la Lead Opportunity Case y </a:t>
            </a:r>
            <a:r>
              <a:rPr dirty="0" err="1"/>
              <a:t>observa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, </a:t>
            </a:r>
            <a:r>
              <a:rPr dirty="0" err="1"/>
              <a:t>propiedades</a:t>
            </a:r>
            <a:r>
              <a:rPr dirty="0"/>
              <a:t> </a:t>
            </a:r>
            <a:r>
              <a:rPr dirty="0" err="1"/>
              <a:t>presentadas</a:t>
            </a:r>
            <a:r>
              <a:rPr dirty="0"/>
              <a:t>, </a:t>
            </a:r>
            <a:r>
              <a:rPr dirty="0" err="1"/>
              <a:t>compromisos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de visita. Runtime authority </a:t>
            </a:r>
            <a:r>
              <a:rPr dirty="0" err="1"/>
              <a:t>sigue</a:t>
            </a:r>
            <a:r>
              <a:rPr dirty="0"/>
              <a:t> en LEGACY, </a:t>
            </a:r>
            <a:r>
              <a:rPr dirty="0" err="1"/>
              <a:t>por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Gu OS no </a:t>
            </a:r>
            <a:r>
              <a:rPr dirty="0" err="1"/>
              <a:t>envía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</a:t>
            </a:r>
            <a:r>
              <a:rPr dirty="0" err="1"/>
              <a:t>aunque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Supervisor </a:t>
            </a:r>
            <a:r>
              <a:rPr dirty="0" err="1"/>
              <a:t>proponga</a:t>
            </a:r>
            <a:r>
              <a:rPr dirty="0"/>
              <a:t> el </a:t>
            </a:r>
            <a:r>
              <a:rPr dirty="0" err="1"/>
              <a:t>siguiente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. En assisted, Gu OS </a:t>
            </a:r>
            <a:r>
              <a:rPr dirty="0" err="1"/>
              <a:t>prepara</a:t>
            </a:r>
            <a:r>
              <a:rPr dirty="0"/>
              <a:t> un </a:t>
            </a:r>
            <a:r>
              <a:rPr dirty="0" err="1"/>
              <a:t>mensaje</a:t>
            </a:r>
            <a:r>
              <a:rPr dirty="0"/>
              <a:t> para </a:t>
            </a:r>
            <a:r>
              <a:rPr dirty="0" err="1"/>
              <a:t>confirmar</a:t>
            </a:r>
            <a:r>
              <a:rPr dirty="0"/>
              <a:t> </a:t>
            </a:r>
            <a:r>
              <a:rPr dirty="0" err="1"/>
              <a:t>disponibilidad</a:t>
            </a:r>
            <a:r>
              <a:rPr dirty="0"/>
              <a:t> y un </a:t>
            </a:r>
            <a:r>
              <a:rPr dirty="0" err="1"/>
              <a:t>humano</a:t>
            </a:r>
            <a:r>
              <a:rPr dirty="0"/>
              <a:t> </a:t>
            </a:r>
            <a:r>
              <a:rPr dirty="0" err="1"/>
              <a:t>autorizado</a:t>
            </a:r>
            <a:r>
              <a:rPr dirty="0"/>
              <a:t> lo </a:t>
            </a:r>
            <a:r>
              <a:rPr dirty="0" err="1"/>
              <a:t>aprueba</a:t>
            </a:r>
            <a:r>
              <a:rPr dirty="0"/>
              <a:t>. El executor </a:t>
            </a:r>
            <a:r>
              <a:rPr dirty="0" err="1"/>
              <a:t>vuelve</a:t>
            </a:r>
            <a:r>
              <a:rPr dirty="0"/>
              <a:t> a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no </a:t>
            </a:r>
            <a:r>
              <a:rPr dirty="0" err="1"/>
              <a:t>esté</a:t>
            </a:r>
            <a:r>
              <a:rPr dirty="0"/>
              <a:t> en </a:t>
            </a:r>
            <a:r>
              <a:rPr dirty="0" err="1"/>
              <a:t>human_active</a:t>
            </a:r>
            <a:r>
              <a:rPr dirty="0"/>
              <a:t>, </a:t>
            </a:r>
            <a:r>
              <a:rPr dirty="0" err="1"/>
              <a:t>que</a:t>
            </a:r>
            <a:r>
              <a:rPr dirty="0"/>
              <a:t> la policy </a:t>
            </a:r>
            <a:r>
              <a:rPr dirty="0" err="1"/>
              <a:t>permita</a:t>
            </a:r>
            <a:r>
              <a:rPr dirty="0"/>
              <a:t> el </a:t>
            </a:r>
            <a:r>
              <a:rPr dirty="0" err="1"/>
              <a:t>contacto</a:t>
            </a:r>
            <a:r>
              <a:rPr dirty="0"/>
              <a:t> y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siga</a:t>
            </a:r>
            <a:r>
              <a:rPr dirty="0"/>
              <a:t> fresca. Traditional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transportar</a:t>
            </a:r>
            <a:r>
              <a:rPr dirty="0"/>
              <a:t> el </a:t>
            </a:r>
            <a:r>
              <a:rPr dirty="0" err="1"/>
              <a:t>mensaje</a:t>
            </a:r>
            <a:r>
              <a:rPr dirty="0"/>
              <a:t> sin </a:t>
            </a:r>
            <a:r>
              <a:rPr dirty="0" err="1"/>
              <a:t>recuperar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. Más </a:t>
            </a:r>
            <a:r>
              <a:rPr dirty="0" err="1"/>
              <a:t>adelante</a:t>
            </a:r>
            <a:r>
              <a:rPr dirty="0"/>
              <a:t> la Opportunity </a:t>
            </a:r>
            <a:r>
              <a:rPr dirty="0" err="1"/>
              <a:t>entra</a:t>
            </a:r>
            <a:r>
              <a:rPr dirty="0"/>
              <a:t> al </a:t>
            </a:r>
            <a:r>
              <a:rPr dirty="0" err="1"/>
              <a:t>piloto</a:t>
            </a:r>
            <a:r>
              <a:rPr dirty="0"/>
              <a:t> live. Una </a:t>
            </a:r>
            <a:r>
              <a:rPr dirty="0" err="1"/>
              <a:t>operación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 cambia runtime authority a GU_OS y Legacy </a:t>
            </a:r>
            <a:r>
              <a:rPr dirty="0" err="1"/>
              <a:t>suprime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follow-up </a:t>
            </a:r>
            <a:r>
              <a:rPr dirty="0" err="1"/>
              <a:t>autónomo</a:t>
            </a:r>
            <a:r>
              <a:rPr dirty="0"/>
              <a:t>. Si el </a:t>
            </a:r>
            <a:r>
              <a:rPr dirty="0" err="1"/>
              <a:t>asesor</a:t>
            </a:r>
            <a:r>
              <a:rPr dirty="0"/>
              <a:t> escribe en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hilo</a:t>
            </a:r>
            <a:r>
              <a:rPr dirty="0"/>
              <a:t>, conversation authority cambia a </a:t>
            </a:r>
            <a:r>
              <a:rPr dirty="0" err="1"/>
              <a:t>human_active</a:t>
            </a:r>
            <a:r>
              <a:rPr dirty="0"/>
              <a:t> y Gu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silencio</a:t>
            </a:r>
            <a:r>
              <a:rPr dirty="0"/>
              <a:t>. El Case </a:t>
            </a:r>
            <a:r>
              <a:rPr dirty="0" err="1"/>
              <a:t>continúa</a:t>
            </a:r>
            <a:r>
              <a:rPr dirty="0"/>
              <a:t> </a:t>
            </a:r>
            <a:r>
              <a:rPr dirty="0" err="1"/>
              <a:t>monitoreando</a:t>
            </a:r>
            <a:r>
              <a:rPr dirty="0"/>
              <a:t> la Opportunity. Cuando el </a:t>
            </a:r>
            <a:r>
              <a:rPr dirty="0" err="1"/>
              <a:t>asesor</a:t>
            </a:r>
            <a:r>
              <a:rPr dirty="0"/>
              <a:t> termina y la resumption policy lo </a:t>
            </a:r>
            <a:r>
              <a:rPr dirty="0" err="1"/>
              <a:t>permite</a:t>
            </a:r>
            <a:r>
              <a:rPr dirty="0"/>
              <a:t>,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la </a:t>
            </a:r>
            <a:r>
              <a:rPr dirty="0" err="1"/>
              <a:t>conversación</a:t>
            </a:r>
            <a:r>
              <a:rPr dirty="0"/>
              <a:t> sin </a:t>
            </a:r>
            <a:r>
              <a:rPr dirty="0" err="1"/>
              <a:t>perder</a:t>
            </a:r>
            <a:r>
              <a:rPr dirty="0"/>
              <a:t> </a:t>
            </a:r>
            <a:r>
              <a:rPr dirty="0" err="1"/>
              <a:t>continuidad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Brownfield migration: </a:t>
            </a:r>
            <a:r>
              <a:rPr dirty="0" err="1"/>
              <a:t>evolución</a:t>
            </a:r>
            <a:r>
              <a:rPr dirty="0"/>
              <a:t> gradual </a:t>
            </a:r>
            <a:r>
              <a:rPr dirty="0" err="1"/>
              <a:t>sobre</a:t>
            </a:r>
            <a:r>
              <a:rPr dirty="0"/>
              <a:t> un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productivo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, </a:t>
            </a:r>
            <a:r>
              <a:rPr dirty="0" err="1"/>
              <a:t>preservando</a:t>
            </a:r>
            <a:r>
              <a:rPr dirty="0"/>
              <a:t> </a:t>
            </a:r>
            <a:r>
              <a:rPr dirty="0" err="1"/>
              <a:t>continuidad</a:t>
            </a:r>
            <a:r>
              <a:rPr dirty="0"/>
              <a:t> y control </a:t>
            </a:r>
            <a:r>
              <a:rPr dirty="0" err="1"/>
              <a:t>durante</a:t>
            </a:r>
            <a:r>
              <a:rPr dirty="0"/>
              <a:t> la </a:t>
            </a:r>
            <a:r>
              <a:rPr dirty="0" err="1"/>
              <a:t>transición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Durable responsibility: </a:t>
            </a:r>
            <a:r>
              <a:rPr dirty="0" err="1"/>
              <a:t>propiedad</a:t>
            </a:r>
            <a:r>
              <a:rPr dirty="0"/>
              <a:t> </a:t>
            </a:r>
            <a:r>
              <a:rPr dirty="0" err="1"/>
              <a:t>persistente</a:t>
            </a:r>
            <a:r>
              <a:rPr dirty="0"/>
              <a:t> del </a:t>
            </a:r>
            <a:r>
              <a:rPr dirty="0" err="1"/>
              <a:t>objetivo</a:t>
            </a:r>
            <a:r>
              <a:rPr dirty="0"/>
              <a:t> y </a:t>
            </a:r>
            <a:r>
              <a:rPr dirty="0" err="1"/>
              <a:t>continuidad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Case.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Runtime decision authority: </a:t>
            </a:r>
            <a:r>
              <a:rPr dirty="0" err="1"/>
              <a:t>autoridad</a:t>
            </a:r>
            <a:r>
              <a:rPr dirty="0"/>
              <a:t> del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decidir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autónomo</a:t>
            </a:r>
            <a:r>
              <a:rPr dirty="0"/>
              <a:t> para un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gobernado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Conversation authority: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liderar</a:t>
            </a:r>
            <a:r>
              <a:rPr dirty="0"/>
              <a:t> y </a:t>
            </a:r>
            <a:r>
              <a:rPr dirty="0" err="1"/>
              <a:t>hablar</a:t>
            </a:r>
            <a:r>
              <a:rPr dirty="0"/>
              <a:t> en un </a:t>
            </a:r>
            <a:r>
              <a:rPr dirty="0" err="1"/>
              <a:t>hilo</a:t>
            </a:r>
            <a:r>
              <a:rPr dirty="0"/>
              <a:t> o canal </a:t>
            </a:r>
            <a:r>
              <a:rPr dirty="0" err="1"/>
              <a:t>concreto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Business approval authority: </a:t>
            </a:r>
            <a:r>
              <a:rPr dirty="0" err="1"/>
              <a:t>autoridad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persona o </a:t>
            </a:r>
            <a:r>
              <a:rPr dirty="0" err="1"/>
              <a:t>rol</a:t>
            </a:r>
            <a:r>
              <a:rPr dirty="0"/>
              <a:t> para </a:t>
            </a:r>
            <a:r>
              <a:rPr dirty="0" err="1"/>
              <a:t>aprobar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o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protegido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Effect execution: </a:t>
            </a:r>
            <a:r>
              <a:rPr dirty="0" err="1"/>
              <a:t>intento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de </a:t>
            </a:r>
            <a:r>
              <a:rPr dirty="0" err="1"/>
              <a:t>producir</a:t>
            </a:r>
            <a:r>
              <a:rPr dirty="0"/>
              <a:t> un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revalidar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aplicables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Shadow: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Gu OS </a:t>
            </a:r>
            <a:r>
              <a:rPr dirty="0" err="1"/>
              <a:t>registra</a:t>
            </a:r>
            <a:r>
              <a:rPr dirty="0"/>
              <a:t> y </a:t>
            </a:r>
            <a:r>
              <a:rPr dirty="0" err="1"/>
              <a:t>evalúa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producir</a:t>
            </a:r>
            <a:r>
              <a:rPr dirty="0"/>
              <a:t> </a:t>
            </a:r>
            <a:r>
              <a:rPr dirty="0" err="1"/>
              <a:t>efectos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Assisted: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y appointments </a:t>
            </a:r>
            <a:r>
              <a:rPr dirty="0" err="1"/>
              <a:t>requieren</a:t>
            </a:r>
            <a:r>
              <a:rPr dirty="0"/>
              <a:t> prepare + approval.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Selective live: </a:t>
            </a:r>
            <a:r>
              <a:rPr dirty="0" err="1"/>
              <a:t>etapa</a:t>
            </a:r>
            <a:r>
              <a:rPr dirty="0"/>
              <a:t> en la </a:t>
            </a:r>
            <a:r>
              <a:rPr dirty="0" err="1"/>
              <a:t>que</a:t>
            </a:r>
            <a:r>
              <a:rPr dirty="0"/>
              <a:t> runtime authority se </a:t>
            </a:r>
            <a:r>
              <a:rPr dirty="0" err="1"/>
              <a:t>transfiere</a:t>
            </a:r>
            <a:r>
              <a:rPr dirty="0"/>
              <a:t> a Gu OS </a:t>
            </a:r>
            <a:r>
              <a:rPr dirty="0" err="1"/>
              <a:t>sólo</a:t>
            </a:r>
            <a:r>
              <a:rPr dirty="0"/>
              <a:t> para Opportunities </a:t>
            </a:r>
            <a:r>
              <a:rPr dirty="0" err="1"/>
              <a:t>seleccionadas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Authority resolver: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determinístico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calcula</a:t>
            </a:r>
            <a:r>
              <a:rPr dirty="0"/>
              <a:t> y </a:t>
            </a:r>
            <a:r>
              <a:rPr dirty="0" err="1"/>
              <a:t>verifica</a:t>
            </a:r>
            <a:r>
              <a:rPr dirty="0"/>
              <a:t> la </a:t>
            </a:r>
            <a:r>
              <a:rPr dirty="0" err="1"/>
              <a:t>autoridad</a:t>
            </a:r>
            <a:r>
              <a:rPr dirty="0"/>
              <a:t> </a:t>
            </a:r>
            <a:r>
              <a:rPr dirty="0" err="1"/>
              <a:t>aplicable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estado</a:t>
            </a:r>
            <a:r>
              <a:rPr dirty="0"/>
              <a:t>, bindings, policy y </a:t>
            </a:r>
            <a:r>
              <a:rPr dirty="0" err="1"/>
              <a:t>señales</a:t>
            </a:r>
            <a:r>
              <a:rPr dirty="0"/>
              <a:t> </a:t>
            </a:r>
            <a:r>
              <a:rPr dirty="0" err="1"/>
              <a:t>vigentes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LEGACY: valor conceptual </a:t>
            </a:r>
            <a:r>
              <a:rPr dirty="0" err="1"/>
              <a:t>que</a:t>
            </a:r>
            <a:r>
              <a:rPr dirty="0"/>
              <a:t> indica </a:t>
            </a:r>
            <a:r>
              <a:rPr dirty="0" err="1"/>
              <a:t>que</a:t>
            </a:r>
            <a:r>
              <a:rPr dirty="0"/>
              <a:t> Traditional Gu </a:t>
            </a:r>
            <a:r>
              <a:rPr dirty="0" err="1"/>
              <a:t>conserva</a:t>
            </a:r>
            <a:r>
              <a:rPr dirty="0"/>
              <a:t> runtime decision authority para el </a:t>
            </a:r>
            <a:r>
              <a:rPr dirty="0" err="1"/>
              <a:t>alcance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GU_OS: valor conceptual </a:t>
            </a:r>
            <a:r>
              <a:rPr dirty="0" err="1"/>
              <a:t>que</a:t>
            </a:r>
            <a:r>
              <a:rPr dirty="0"/>
              <a:t> indica </a:t>
            </a:r>
            <a:r>
              <a:rPr dirty="0" err="1"/>
              <a:t>que</a:t>
            </a:r>
            <a:r>
              <a:rPr dirty="0"/>
              <a:t> Gu OS </a:t>
            </a:r>
            <a:r>
              <a:rPr dirty="0" err="1"/>
              <a:t>posee</a:t>
            </a:r>
            <a:r>
              <a:rPr dirty="0"/>
              <a:t> runtime decision authority para la Opportunity.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Human takeover: </a:t>
            </a:r>
            <a:r>
              <a:rPr dirty="0" err="1"/>
              <a:t>señal</a:t>
            </a:r>
            <a:r>
              <a:rPr dirty="0"/>
              <a:t> observable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 </a:t>
            </a:r>
            <a:r>
              <a:rPr dirty="0" err="1"/>
              <a:t>toma</a:t>
            </a:r>
            <a:r>
              <a:rPr dirty="0"/>
              <a:t> el </a:t>
            </a:r>
            <a:r>
              <a:rPr dirty="0" err="1"/>
              <a:t>liderazgo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y Gu </a:t>
            </a:r>
            <a:r>
              <a:rPr dirty="0" err="1"/>
              <a:t>deja</a:t>
            </a:r>
            <a:r>
              <a:rPr dirty="0"/>
              <a:t> de </a:t>
            </a:r>
            <a:r>
              <a:rPr dirty="0" err="1"/>
              <a:t>hablar</a:t>
            </a:r>
            <a:r>
              <a:rPr dirty="0"/>
              <a:t> en ese </a:t>
            </a:r>
            <a:r>
              <a:rPr dirty="0" err="1"/>
              <a:t>hilo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Resumption: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gobernado</a:t>
            </a:r>
            <a:r>
              <a:rPr dirty="0"/>
              <a:t> de conversation authority a Gu </a:t>
            </a:r>
            <a:r>
              <a:rPr dirty="0" err="1"/>
              <a:t>después</a:t>
            </a:r>
            <a:r>
              <a:rPr dirty="0"/>
              <a:t> de un takeover.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Transport seam: </a:t>
            </a: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físicamente</a:t>
            </a:r>
            <a:r>
              <a:rPr dirty="0"/>
              <a:t> un </a:t>
            </a:r>
            <a:r>
              <a:rPr dirty="0" err="1"/>
              <a:t>efecto</a:t>
            </a:r>
            <a:r>
              <a:rPr dirty="0"/>
              <a:t> sin </a:t>
            </a:r>
            <a:r>
              <a:rPr dirty="0" err="1"/>
              <a:t>poseer</a:t>
            </a:r>
            <a:r>
              <a:rPr dirty="0"/>
              <a:t> </a:t>
            </a:r>
            <a:r>
              <a:rPr dirty="0" err="1"/>
              <a:t>necesariamente</a:t>
            </a:r>
            <a:r>
              <a:rPr dirty="0"/>
              <a:t> la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lo </a:t>
            </a:r>
            <a:r>
              <a:rPr dirty="0" err="1"/>
              <a:t>originó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Prospect-facing effect: </a:t>
            </a:r>
            <a:r>
              <a:rPr dirty="0" err="1"/>
              <a:t>mensaje</a:t>
            </a:r>
            <a:r>
              <a:rPr dirty="0"/>
              <a:t>, appointment u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 externa perceptible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prospecto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Pre-effect gate: conjunto de </a:t>
            </a:r>
            <a:r>
              <a:rPr dirty="0" err="1"/>
              <a:t>comprobaciones</a:t>
            </a:r>
            <a:r>
              <a:rPr dirty="0"/>
              <a:t> </a:t>
            </a:r>
            <a:r>
              <a:rPr dirty="0" err="1"/>
              <a:t>ejecutadas</a:t>
            </a:r>
            <a:r>
              <a:rPr dirty="0"/>
              <a:t> </a:t>
            </a:r>
            <a:r>
              <a:rPr dirty="0" err="1"/>
              <a:t>inmediatamente</a:t>
            </a:r>
            <a:r>
              <a:rPr dirty="0"/>
              <a:t> antes de un </a:t>
            </a:r>
            <a:r>
              <a:rPr dirty="0" err="1"/>
              <a:t>efecto</a:t>
            </a:r>
            <a:r>
              <a:rPr dirty="0"/>
              <a:t> consequential.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Operation key: </a:t>
            </a:r>
            <a:r>
              <a:rPr dirty="0" err="1"/>
              <a:t>identidad</a:t>
            </a:r>
            <a:r>
              <a:rPr dirty="0"/>
              <a:t> </a:t>
            </a:r>
            <a:r>
              <a:rPr dirty="0" err="1"/>
              <a:t>estable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dos </a:t>
            </a:r>
            <a:r>
              <a:rPr dirty="0" err="1"/>
              <a:t>veces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efecto</a:t>
            </a:r>
            <a:r>
              <a:rPr dirty="0"/>
              <a:t> </a:t>
            </a:r>
            <a:r>
              <a:rPr dirty="0" err="1"/>
              <a:t>lógico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Unknown outcome: </a:t>
            </a:r>
            <a:r>
              <a:rPr dirty="0" err="1"/>
              <a:t>estado</a:t>
            </a:r>
            <a:r>
              <a:rPr dirty="0"/>
              <a:t> en el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para </a:t>
            </a:r>
            <a:r>
              <a:rPr dirty="0" err="1"/>
              <a:t>afirmar</a:t>
            </a:r>
            <a:r>
              <a:rPr dirty="0"/>
              <a:t> </a:t>
            </a:r>
            <a:r>
              <a:rPr dirty="0" err="1"/>
              <a:t>éxito</a:t>
            </a:r>
            <a:r>
              <a:rPr dirty="0"/>
              <a:t> o </a:t>
            </a:r>
            <a:r>
              <a:rPr dirty="0" err="1"/>
              <a:t>fracaso</a:t>
            </a:r>
            <a:r>
              <a:rPr dirty="0"/>
              <a:t> y se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reconciliación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Fail safe: </a:t>
            </a:r>
            <a:r>
              <a:rPr dirty="0" err="1"/>
              <a:t>comportamiento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suprime</a:t>
            </a:r>
            <a:r>
              <a:rPr dirty="0"/>
              <a:t> el </a:t>
            </a:r>
            <a:r>
              <a:rPr dirty="0" err="1"/>
              <a:t>efecto</a:t>
            </a:r>
            <a:r>
              <a:rPr dirty="0"/>
              <a:t> y </a:t>
            </a:r>
            <a:r>
              <a:rPr dirty="0" err="1"/>
              <a:t>expone</a:t>
            </a:r>
            <a:r>
              <a:rPr dirty="0"/>
              <a:t> el </a:t>
            </a:r>
            <a:r>
              <a:rPr dirty="0" err="1"/>
              <a:t>conflicto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la </a:t>
            </a:r>
            <a:r>
              <a:rPr dirty="0" err="1"/>
              <a:t>autoridad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resolverse</a:t>
            </a:r>
            <a:r>
              <a:rPr dirty="0"/>
              <a:t> de forma </a:t>
            </a:r>
            <a:r>
              <a:rPr dirty="0" err="1"/>
              <a:t>segura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Organization policy: </a:t>
            </a:r>
            <a:r>
              <a:rPr dirty="0" err="1"/>
              <a:t>configuración</a:t>
            </a:r>
            <a:r>
              <a:rPr dirty="0"/>
              <a:t> </a:t>
            </a:r>
            <a:r>
              <a:rPr dirty="0" err="1"/>
              <a:t>versionada</a:t>
            </a:r>
            <a:r>
              <a:rPr dirty="0"/>
              <a:t> y </a:t>
            </a:r>
            <a:r>
              <a:rPr dirty="0" err="1"/>
              <a:t>publicada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gobierna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autonomía</a:t>
            </a:r>
            <a:r>
              <a:rPr dirty="0"/>
              <a:t> y </a:t>
            </a:r>
            <a:r>
              <a:rPr dirty="0" err="1"/>
              <a:t>participación</a:t>
            </a:r>
            <a:r>
              <a:rPr dirty="0"/>
              <a:t> humana.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Canary: </a:t>
            </a:r>
            <a:r>
              <a:rPr dirty="0" err="1"/>
              <a:t>ampliación</a:t>
            </a:r>
            <a:r>
              <a:rPr dirty="0"/>
              <a:t> </a:t>
            </a:r>
            <a:r>
              <a:rPr dirty="0" err="1"/>
              <a:t>limitada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población </a:t>
            </a:r>
            <a:r>
              <a:rPr dirty="0" err="1"/>
              <a:t>pequeña</a:t>
            </a:r>
            <a:r>
              <a:rPr dirty="0"/>
              <a:t> para </a:t>
            </a:r>
            <a:r>
              <a:rPr dirty="0" err="1"/>
              <a:t>obtener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antes de </a:t>
            </a:r>
            <a:r>
              <a:rPr dirty="0" err="1"/>
              <a:t>escalar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Rollback: </a:t>
            </a:r>
            <a:r>
              <a:rPr dirty="0" err="1"/>
              <a:t>retorno</a:t>
            </a:r>
            <a:r>
              <a:rPr dirty="0"/>
              <a:t> </a:t>
            </a:r>
            <a:r>
              <a:rPr dirty="0" err="1"/>
              <a:t>controlado</a:t>
            </a:r>
            <a:r>
              <a:rPr dirty="0"/>
              <a:t> a un modo de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, </a:t>
            </a:r>
            <a:r>
              <a:rPr dirty="0" err="1"/>
              <a:t>normalmente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flags y </a:t>
            </a:r>
            <a:r>
              <a:rPr dirty="0" err="1"/>
              <a:t>supresión</a:t>
            </a:r>
            <a:r>
              <a:rPr dirty="0"/>
              <a:t> de </a:t>
            </a:r>
            <a:r>
              <a:rPr dirty="0" err="1"/>
              <a:t>efectos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docs/adr/ADR-107-runtime-conversation-authority.md</a:t>
            </a:r>
          </a:p>
          <a:p>
            <a:r>
              <a:rPr dirty="0"/>
              <a:t>- docs/adr/ADR-108-versioned-organization-policy.md</a:t>
            </a:r>
          </a:p>
          <a:p>
            <a:r>
              <a:rPr dirty="0"/>
              <a:t>- docs/product/roadmap-increments/r1-relationship-operations-v1/technical-plan.md v1.9, </a:t>
            </a:r>
            <a:r>
              <a:rPr dirty="0" err="1"/>
              <a:t>especialmente</a:t>
            </a:r>
            <a:r>
              <a:rPr dirty="0"/>
              <a:t> TD-2b, TD-3, TD-5, TD-6 y §5</a:t>
            </a:r>
          </a:p>
          <a:p>
            <a:r>
              <a:rPr dirty="0"/>
              <a:t>- docs/product/roadmap-increments/r1-relationship-operations-v1/slice-plan.md v1.19</a:t>
            </a:r>
          </a:p>
          <a:p>
            <a:r>
              <a:rPr dirty="0"/>
              <a:t>- docs/product/operating-domains/relationship-operations/specs/situational-progression-next-work-human-authority.md v0.3</a:t>
            </a:r>
          </a:p>
          <a:p>
            <a:r>
              <a:rPr dirty="0"/>
              <a:t>- docs/product/operating-domains/relationship-operations/specs/lead-opportunity-lifecycle.md v0.3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docs/manuals/architecture-manual.md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docs/README.md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8E565C02-9957-473D-BEB7-88F64553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DFE3C57-5C36-42CE-8AB3-CDF849C6EC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89C5E31-94D2-4981-83E8-B7837F4ED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7945E6AC-9B1B-4840-9EB5-31B55865B10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908DEE-C351-4DF7-8A97-DD3F8AFB40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7A50AE-6992-4800-AF38-FEF0F410B3E1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1B6E31-CF7C-4536-962F-E9FE55A7BB58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04D0F6-4231-41D7-9B03-E5D98F2E03B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831F60-77E9-4EA4-898D-525F7C8B93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C24C1-F49F-444D-A9C1-6DAC517E19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48D10-A1EE-4E54-81B2-00E7973058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1E059B-5D89-4C2F-85D3-F172B82EE2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B3DFBC-1EDC-40A3-AB5E-8FFAB711C184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5916FF-7B68-4B00-8FFE-AA7D49C7FD19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3E99DA-3665-414E-8136-D4DCED67EB57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0CF514-CC77-421E-B18F-9D23D5E7E2FB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B43C01-9012-4D9D-80AD-AAE6BBFC4C81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6BDB945-C654-4497-9711-67141FA23DA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79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Dentro de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Arquitectura y modelo operativo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 3 · De la experiencia al runtime y los resultados</a:t>
            </a:r>
            <a:endParaRPr sz="1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Objetivo: entender los subsistemas de Gu OS, sus relaciones, las raíces durables y la diferencia entre current, target y vision.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F2508170-6902-4679-8A92-266306B2AE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47332D3D-3EE4-41CF-BDC3-AAB035F9196C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CÓMO USAR ESTE DEEP DIVE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82CF6AB2-B398-47B9-9E69-9055E2D15EA2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No es un inventario de servicios. Es un recorrido causal desde la experiencia hasta el resultado.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2D46DB0-46EA-487E-99C7-4D66B2D10DBE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433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Usaremos tres zooms: mapa del sistema, responsabilidades de cada subsistema y un caso operativo completo.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B6DB45B-D0B2-42E0-8E49-818BD32C23F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A5E0EC3E-D744-45B1-8E5E-CFB6149E736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031F503-036F-4D77-89B1-9E42D837BB4F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9491718-31D8-4F8B-9BF5-35E181B13AF5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Mapa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A2B71149-88D1-4535-B7D3-AA441C48216A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69DEF6B1-0971-44A7-BC01-88ECBDF91B0A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7411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Dónde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vive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9841991-2A88-4DF9-B8F2-98499172397D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Experience, Brain, Kernel, Work, Trust, External Systems y Outcomes.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00497F1A-2942-439D-BDFC-65738128E117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9865C3E-B231-42DD-AEAA-2F09EEDB235A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Relaciones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9F8408F2-A2D8-46AA-8B6B-3F90DC47CBFE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información, autoridad y evidencia cruza cada frontera.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3CE728F-1C33-4920-8BE5-B14173E4C940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B6D89AED-2573-44FE-9C82-3EE800462790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C6823D01-F790-4B97-8DC3-11740302C7BB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existe hoy, qué está aprobado y qué sigue siendo visión.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DA78C666-AD8B-4E72-9E5F-D0B47DF7A20A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28C99166-A2FA-44FE-8A51-A2FCDB45AF47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2C395589-3324-40FD-99A6-ED1A4509FC3E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1: </a:t>
            </a:r>
            <a:r>
              <a:rPr sz="1600"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tesis</a:t>
            </a: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 de Gu OS.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802F9BCD-8B7E-4A1E-9A54-8E54C1BFA9F6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4496AE81-EA61-4B4F-B862-6EE557BB1C82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 2: </a:t>
            </a:r>
            <a:r>
              <a:rPr sz="1600"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agéntico</a:t>
            </a: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184DF60-5F5E-49CC-9D16-950351136A20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2177604C-F596-462F-B009-0635542C399A}"/>
              </a:ext>
            </a:extLst>
          </p:cNvPr>
          <p:cNvSpPr>
            <a:spLocks noGrp="1"/>
          </p:cNvSpPr>
          <p:nvPr/>
        </p:nvSpPr>
        <p:spPr>
          <a:xfrm>
            <a:off x="896040" y="5635950"/>
            <a:ext cx="4955760" cy="4905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8641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Architecture Guide v0.2; runtime </a:t>
            </a:r>
            <a:r>
              <a:rPr sz="1600"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queda</a:t>
            </a:r>
            <a:r>
              <a:rPr sz="1600"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 para Session 3B.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B84384E7-F892-4AD2-8B57-53CDF96FF0AB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96E59D21-6A68-4A3B-8390-C31851542D49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EB64CAC7-8CA6-4FA1-BD44-6D162BD5CD2B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mapa compartido.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0EABC60E-F0C6-4B15-9BD9-A4E4C296277D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D3CD3330-586D-41D6-9AF8-96E1E83C7AC5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Límites explícitos.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AC19D197-C0A2-4F85-BAF0-C3A05D996A96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C37D8BC6-F1DA-4C11-8F32-1AD72A567A0D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Preguntas verificables.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0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TRES ZOOMS PARA ENTENDER GU 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zoom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pregunta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distinta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mezclarlos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arquitectura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código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parezcan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mismo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recorrido de hoy baja de responsabilidades sistémicas a un caso verificable.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960120" y="3124984"/>
            <a:ext cx="2925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responsabilidades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existen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Capas, límites, fuentes de verdad y flujos de autoridad.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SUBSISTEMA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173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colabora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parte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?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Contratos, estado, datos, tools, eventos, verificación y fallos.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CASO OPERATIVO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28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se produce valor?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Una responsabilidad de negocio avanza de intención a evidencia y aprendizaje.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útil = responsabilidades + relaciones +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 END-TO-END · CURRENT Y TARGET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6446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convierte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intención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durable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resultado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alimenta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6556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experiencia nunca sustituye al estado operacional y el razonamiento nunca sustituye a la autoridad.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Outcomes + Brain target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Registra evidencia, impacto, señales y conocimiento reutilizable.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+ Trust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Mantiene estado, aplica políticas, espera, reintenta y verifica.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Intelligence + Kernel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Compila contexto, razona, planea y selecciona capabilities.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288630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Experience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Capta intención, muestra contexto y solicita participación.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informa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propone / ejecuta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gobierna / mide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44814"/>
            <a:ext cx="2651194" cy="7268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Cases, tasks, policies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 + harness + tools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Canales y vistas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contextuales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51112"/>
            <a:ext cx="2951667" cy="750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Impact, memory, learning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0" y="5823380"/>
            <a:ext cx="621057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814264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El loop se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cierra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sólo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cuando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el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cambia la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siguiente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decisión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EXPERIENCE ARCHITECTURE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sol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aparecer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múltiples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superficies sin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fragmentar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identidad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ni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superficie muestra una vista del mismo trabajo durable y compila el contexto apropiado para esa interacción.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SUPERFICIES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Dónde participa la persona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Conversación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Studio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Notificaciones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Aprobaciones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Vistas de Case y trabajo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CONTINUIDAD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debe permanecer igual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y 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Siguiente acción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La </a:t>
            </a:r>
            <a:r>
              <a:rPr sz="1600" b="1" dirty="0" err="1">
                <a:solidFill>
                  <a:srgbClr val="5F2CCB"/>
                </a:solidFill>
              </a:rPr>
              <a:t>conversación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guía</a:t>
            </a:r>
            <a:r>
              <a:rPr sz="1600" b="1" dirty="0">
                <a:solidFill>
                  <a:srgbClr val="5F2CCB"/>
                </a:solidFill>
              </a:rPr>
              <a:t>; Gu OS </a:t>
            </a:r>
            <a:r>
              <a:rPr sz="1600" b="1" dirty="0" err="1">
                <a:solidFill>
                  <a:srgbClr val="5F2CCB"/>
                </a:solidFill>
              </a:rPr>
              <a:t>conserva</a:t>
            </a:r>
            <a:r>
              <a:rPr sz="1600" b="1" dirty="0">
                <a:solidFill>
                  <a:srgbClr val="5F2CCB"/>
                </a:solidFill>
              </a:rPr>
              <a:t> la </a:t>
            </a:r>
            <a:r>
              <a:rPr sz="1600" b="1" dirty="0" err="1">
                <a:solidFill>
                  <a:srgbClr val="5F2CCB"/>
                </a:solidFill>
              </a:rPr>
              <a:t>verdad</a:t>
            </a:r>
            <a:r>
              <a:rPr sz="1600" b="1" dirty="0">
                <a:solidFill>
                  <a:srgbClr val="5F2CCB"/>
                </a:solidFill>
              </a:rPr>
              <a:t> durable.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proyectan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CROSS-CHANNEL NO ES COPIAR HISTORIAL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Continuidad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significa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reconstruir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situación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correcta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canal, 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repetir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toda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conversación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sistema decide qué mostrar, qué ocultar y qué acción es apropiada para la superficie.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IDENTIDAD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Quién participa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Persona, organización, rol, relación y bindings externos.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SITUACIÓN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importa ahora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Objetivo, estado, bloqueos, evidencia y decisiones relevantes.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AFFORDANCE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puede hacerse aquí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Responder, aprobar, aportar, revisar, observar o retomar.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 Gu</a:t>
            </a:r>
            <a:r>
              <a:rPr lang="es-MX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múltiples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vistas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contextuales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del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mismo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trabajo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INTELLIGENCE &amp; KNOWLEDGE COMPILA CONTEXTO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 trabajo no es almacenar todo en un vector database; es entregar evidencia útil, autorizada y explicable al momento correcto.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95408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Combina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memoria personal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operacional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i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retrieval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contexto de cuenta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i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target Brain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política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ENTRADAS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Señales con procedencia: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operacional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Interacciones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Artefactos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Relaciones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Conocimiento externo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SALIDAS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 listo para decidir: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Evidencia recuperada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Resumen situacional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Señales derivadas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Instrucciones/políticas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Citas y límites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TIPOS DE MEMORIA · MARCO CONCEPTUAL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Persistir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basta: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memoria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necesita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propósito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procedencia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scope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En Gu OS, los tres tipos existen en memoria personal; el alcance organizacional es target.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EPISÓDICA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Historia observable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pasó, cuándo, con quién y con qué resultado.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SEMÁNTICA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Conocimiento mantenido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Hechos, entidades, relaciones y señales derivadas.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PROCEDURAL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Maneras de operar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Marco general: skills y playbooks. Memoria personal: preferencias de colaboración.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No todo lo recordado debe convertirse en verdad autorizada.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RETRIEVAL CONSTRUYE EVIDENCIA, NO RESPUESTAS MÁGICAS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Embeddings generan candidatos; la política de recuperación decide cuáles merecen entrar al contexto.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Diseño target: contexto scoped y gobernado. Retrieval personal actual: detalle en Session 3B.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BUSCAR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Encontrar candidatos: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Embeddings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Texto/keyword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Relaciones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Filtros estructurados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Eventos recientes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COMPILAR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Construir contexto: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Filtrar y rerankear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Resolver conflictos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Resumir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Citar procedencia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Aplicar permisos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Controlar tokens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BUSINESS BRAIN ES UNA CAPA TARGET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función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target es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convertir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señales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cross-Case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autorizadas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conocimiento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organizacional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reutilizable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 posee el runtime de agentes ni reemplaza las fuentes de verdad operacional.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OBSERVA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Recibe señales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Casos, interacciones, artefactos, resultados, feedback y relaciones.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DERIVA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Construye conocimiento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Entidades, señales, patrones, contexto y explicaciones con procedencia.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APLICA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Mejora decisiones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compilado, recomendaciones, routing y aprendizaje organizacional.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1517515" y="5730953"/>
            <a:ext cx="9358008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1760706" y="5868472"/>
            <a:ext cx="8913779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Memoria personal 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 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contexto de cuenta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existen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hoy; 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el enfoque amplio de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Business Brain </a:t>
            </a:r>
            <a:r>
              <a:rPr sz="1600"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sigue</a:t>
            </a:r>
            <a:r>
              <a:rPr lang="es-MX"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siendo target</a:t>
            </a:r>
            <a:r>
              <a:rPr sz="1600"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CUATRO RAÍCES DURABLES, CUATRO PREGUNTAS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8367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Cases, Work, Durable Tasks e Impact no son nombres intercambiables.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raíz mantiene una dimensión distinta del trabajo y permite evolución sin convertir todo en un mega-objeto.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Impact Plane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resultado, evidencia o cambio produjo el trabajo?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579030" y="2894243"/>
            <a:ext cx="1719329" cy="5972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Durable Task Runtime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ejecución puede esperar, reintentar o recuperarse?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Plane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trabajo debe avanzar y en qué estado está?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288630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responsabilidad operacional perseguimos?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da propósito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coordina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mide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Leases, attempts, recovery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28553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Ítems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asignación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políticas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228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</a:t>
            </a:r>
            <a:r>
              <a:rPr lang="es-MX"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m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é</a:t>
            </a: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tric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s, </a:t>
            </a:r>
            <a:r>
              <a:rPr lang="es-MX"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</a:t>
            </a:r>
            <a:endParaRPr sz="1200" b="1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638872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276247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Separar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raíces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aclara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lifecycle, ownership y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sz="14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CASES SON CONTENEDORES OPERACIONALES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Case da identidad y continuidad a una responsabilidad de negocio; no es sólo un chat ni un workflow.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Su </a:t>
            </a:r>
            <a:r>
              <a:rPr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tipo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define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semántica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su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instancia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conserva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políticas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finalización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DEFINI</a:t>
            </a:r>
            <a:r>
              <a:rPr lang="es-MX"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CIÓN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clase de responsabilidad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Schema y semántica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Estados permitidos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Criterios de éxito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Capacidades aplicables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INSTANC</a:t>
            </a:r>
            <a:r>
              <a:rPr lang="es-MX"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IA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está ocurriendo ahora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concreto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El Case organiza la responsabilidad; no necesita contener toda la ejecución.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instancia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A817DA4F-DB1F-4053-8754-F1D4CFDFC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7A90F06F-2B18-4F68-83FF-5EC5338288D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 Y DURABLE TASKS SE COMPLEMENTAN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678D4C66-B876-4799-9FF3-08BA655BB48B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Work representa la coordinación operacional; Durable Tasks asegura la ejecución recuperable.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8C7BB146-C019-4B5C-BB80-951AE18FFCC7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Una tarea runtime no debe convertirse en la fuente de verdad del objetivo de negocio.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F082754F-15EE-42BE-818B-70F500D15DB8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B0317141-05F2-47B8-AA47-FBD598A3BC3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0020EC90-31BF-4CF9-8A71-CA1023D5AA2D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930EB09-226A-450A-9E4C-F54D7D8C5653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5760E981-6E5A-4F82-A1A6-543A31B0AFF2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 PLANE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BB5316A1-3DFB-4503-BE20-86C920064540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Coordinación visible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6E399C0-E999-44EE-AD43-426E8EBB52A7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9610"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Asignación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Bloqueos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Participación humana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 requirements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88B1376-0D18-4AAC-BC41-4ECCC3371078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01868E28-8CAA-43E2-A1B1-92F80D054765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DURABLE TASK RUNTIME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C4A0F452-F334-4083-9D93-86309AEE149D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 recuperable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D072C582-6D94-4523-B346-31E50CB8524A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Attempts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Leases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Retries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Wait/resume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Idempotency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Failure handling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F01AA34F-99D4-4761-9702-3B8AE79A1B5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C2DEDAEE-D9BB-401A-B51B-E22ABE657A4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C0E9B66A-0E3A-455B-8D5D-6DE00B5876BE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Work coordina; el runtime aporta mecanismos de recuperación.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63447" lnSpcReduction="1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 ejecuta mediante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969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WORKFLOWS, ROUTINES Y LOOPS NO SON SINÓNIMOS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difieren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disparador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horizonte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adaptación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debe elegir la abstracción mínima que preserve responsabilidad y control.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WORKFLOW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433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Secuencia para un objetivo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Pasos, dependencias, ramas, esperas y criterios de finalización.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ROUTINE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6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 recurrente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Cadencia, políticas, señales y ejecución repetible.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LOOP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Feedback continuo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Observar → decidir → actuar → medir → actualizar el siguiente ciclo.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Dynamic significa adaptación dentro de límites.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0DE09B65-3CD9-4AFA-B451-1ED094EE68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8DDC084E-63F0-4AED-8B75-0D0F99D631B3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CAPABILITIES SEPARAN INTENCIÓN DE PROVEEDOR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3F035440-771C-49FC-ABCF-D7A308FA1A1F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pide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selecciona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ejecutarla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según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política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contexto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disponibilidad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0656D4B3-5435-4318-8384-C65A66CE3C2F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OWN u ORCHESTRATE es una decisión de frontera, no una diferencia para la responsabilidad del usuario.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0519B63E-244D-4644-87EE-BE96A2E5D126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D1AD0647-5148-47C7-BDD3-0DE5E7BC7948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6A09DE3C-7AAA-45AF-AF95-284BCBD6A5A7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397D1A6F-5BC7-4F7F-8E9C-A68C78A1E3A7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8A480265-3D0D-4BDF-A044-F22C66171AD1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CAPABILITY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EA194266-FC1B-40A5-8FAE-C54EA652370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8698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resultado se necesita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C8A6D6A3-1625-4011-9806-B4B9C9095D1E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Nombre estable, inputs/outputs, permisos, evidencia y semántica.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EC5E87FC-E850-4AE8-937D-3E3EC0B03A5C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DD408B5F-FAA2-4C17-9384-D8F862934888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EXECUTOR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BD4BEC42-3438-49CC-B9DE-0E62E87092CA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se realiza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A30A6D1C-F3F4-47FA-A9D6-3342A8964F57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Skill, tool, servicio, agente especializado o humano como ejecutor.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FF837836-7FBF-448C-8178-13A4A5948DE3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D67A5AFB-7B79-4C4C-8EB1-52B5A2A71339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POLICY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DF558E7D-58AE-4D3E-86A0-737394F89183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Cuándo y con qué límites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D2CB30B-DA95-48F0-BCC9-00C543CD1911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Selección, fallback, autoridad, costo, riesgo y verificación.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AE7A65E7-5CDF-4EE9-9307-2AC784CEB121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7A3DEF9C-0CC1-4FB2-8384-5D5918362FB8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capability debe sobrevivir a la sustitución del proveedor.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07D394-2EA9-4028-8652-4051DF5F9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2BD9"/>
          </a:solidFill>
          <a:ln w="12700">
            <a:solidFill>
              <a:srgbClr val="5C2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3FCA4C-8064-4968-9CF5-8B5A5B0214DC}"/>
              </a:ext>
            </a:extLst>
          </p:cNvPr>
          <p:cNvSpPr>
            <a:spLocks noGrp="1"/>
          </p:cNvSpPr>
          <p:nvPr/>
        </p:nvSpPr>
        <p:spPr>
          <a:xfrm>
            <a:off x="429768" y="6565392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50" b="1">
                <a:solidFill>
                  <a:srgbClr val="8B849D"/>
                </a:solidFill>
                <a:latin typeface="Aptos"/>
                <a:ea typeface="Aptos"/>
                <a:cs typeface="Aptos"/>
              </a:rPr>
              <a:t>CONFIDENTIAL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FD0953-0F53-4A42-AB4F-093F6DBFD8C8}"/>
              </a:ext>
            </a:extLst>
          </p:cNvPr>
          <p:cNvSpPr>
            <a:spLocks noGrp="1"/>
          </p:cNvSpPr>
          <p:nvPr/>
        </p:nvSpPr>
        <p:spPr>
          <a:xfrm>
            <a:off x="11155680" y="6565392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650">
                <a:solidFill>
                  <a:srgbClr val="8B849D"/>
                </a:solidFill>
                <a:latin typeface="Aptos"/>
                <a:ea typeface="Aptos"/>
                <a:cs typeface="Aptos"/>
              </a:rPr>
              <a:t>ungga.com</a:t>
            </a:r>
            <a:endParaRPr sz="6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D65D2C-5B94-409F-8E85-94085BE527CF}"/>
              </a:ext>
            </a:extLst>
          </p:cNvPr>
          <p:cNvSpPr>
            <a:spLocks noGrp="1"/>
          </p:cNvSpPr>
          <p:nvPr/>
        </p:nvSpPr>
        <p:spPr>
          <a:xfrm>
            <a:off x="11823192" y="6565392"/>
            <a:ext cx="109728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650">
                <a:solidFill>
                  <a:srgbClr val="8B849D"/>
                </a:solidFill>
                <a:latin typeface="Aptos"/>
                <a:ea typeface="Aptos"/>
                <a:cs typeface="Aptos"/>
              </a:rPr>
              <a:t>16</a:t>
            </a:r>
            <a:endParaRPr sz="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0EFCE3-A3A8-4EEB-99ED-F7BBA65A5D43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42976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AUTORIDAD Y PARTICIPACIÓN HUMANA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25F250C-9CC3-401E-A391-5014D93CA7D7}"/>
              </a:ext>
            </a:extLst>
          </p:cNvPr>
          <p:cNvSpPr>
            <a:spLocks noGrp="1"/>
          </p:cNvSpPr>
          <p:nvPr/>
        </p:nvSpPr>
        <p:spPr>
          <a:xfrm>
            <a:off x="566928" y="9144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600" b="1">
                <a:solidFill>
                  <a:srgbClr val="171126"/>
                </a:solidFill>
                <a:latin typeface="Aptos Display"/>
                <a:ea typeface="Aptos Display"/>
                <a:cs typeface="Aptos Display"/>
              </a:rPr>
              <a:t>Gu OS distingue por qué se necesita una persona y cómo participa.</a:t>
            </a:r>
            <a:endParaRPr sz="2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A63F67-79E6-49F2-9089-E77B3878EA72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>
                <a:solidFill>
                  <a:srgbClr val="6F6886"/>
                </a:solidFill>
                <a:latin typeface="Aptos"/>
                <a:ea typeface="Aptos"/>
                <a:cs typeface="Aptos"/>
              </a:rPr>
              <a:t>El diseño evita tanto la aprobación constante como la autonomía sin límites.</a:t>
            </a:r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CB45D0-3E9B-4BFB-A492-4877C9DCC648}"/>
              </a:ext>
            </a:extLst>
          </p:cNvPr>
          <p:cNvSpPr>
            <a:spLocks noGrp="1"/>
          </p:cNvSpPr>
          <p:nvPr/>
        </p:nvSpPr>
        <p:spPr>
          <a:xfrm>
            <a:off x="667512" y="2487168"/>
            <a:ext cx="10863072" cy="502920"/>
          </a:xfrm>
          <a:prstGeom prst="rect">
            <a:avLst/>
          </a:prstGeom>
          <a:solidFill>
            <a:srgbClr val="E7F7EF"/>
          </a:solidFill>
          <a:ln w="12700">
            <a:solidFill>
              <a:srgbClr val="008C51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80" b="1">
                <a:solidFill>
                  <a:srgbClr val="008C51"/>
                </a:solidFill>
                <a:latin typeface="Aptos"/>
                <a:ea typeface="Aptos"/>
                <a:cs typeface="Aptos"/>
              </a:rPr>
              <a:t>SIN PARTICIPACIÓN</a:t>
            </a:r>
            <a:endParaRPr sz="1280"/>
          </a:p>
          <a:p>
            <a:pPr marL="0" indent="0" algn="ctr">
              <a:buNone/>
            </a:pPr>
            <a:r>
              <a:rPr sz="1280">
                <a:solidFill>
                  <a:srgbClr val="6F6886"/>
                </a:solidFill>
                <a:latin typeface="Aptos"/>
                <a:ea typeface="Aptos"/>
                <a:cs typeface="Aptos"/>
              </a:rPr>
              <a:t>Gu ejecuta cuando políticas, permisos, reversibilidad y evidencia lo permiten.</a:t>
            </a:r>
            <a:endParaRPr sz="128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A175AF3-F557-40C0-994F-AD93244BEE9F}"/>
              </a:ext>
            </a:extLst>
          </p:cNvPr>
          <p:cNvSpPr>
            <a:spLocks noGrp="1"/>
          </p:cNvSpPr>
          <p:nvPr/>
        </p:nvSpPr>
        <p:spPr>
          <a:xfrm>
            <a:off x="658368" y="3163824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QUÉ SE NECESITA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EFD848-4C4F-47E8-A8CF-606A7BE615A4}"/>
              </a:ext>
            </a:extLst>
          </p:cNvPr>
          <p:cNvSpPr>
            <a:spLocks noGrp="1"/>
          </p:cNvSpPr>
          <p:nvPr/>
        </p:nvSpPr>
        <p:spPr>
          <a:xfrm>
            <a:off x="6588202" y="3163824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MODO DE PARTICIPACIÓN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96F0A8-E334-4A01-AB52-C1DC5656EB2D}"/>
              </a:ext>
            </a:extLst>
          </p:cNvPr>
          <p:cNvSpPr>
            <a:spLocks noGrp="1"/>
          </p:cNvSpPr>
          <p:nvPr/>
        </p:nvSpPr>
        <p:spPr>
          <a:xfrm>
            <a:off x="658368" y="3429000"/>
            <a:ext cx="2615184" cy="1033272"/>
          </a:xfrm>
          <a:prstGeom prst="rect">
            <a:avLst/>
          </a:prstGeom>
          <a:solidFill>
            <a:srgbClr val="F6F1FF"/>
          </a:solidFill>
          <a:ln w="13970">
            <a:solidFill>
              <a:srgbClr val="5C2BD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25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A. AUTORIZACIÓN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¿Puede ejecutarse este efecto?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publicar · enviar · comprometer</a:t>
            </a:r>
            <a:endParaRPr sz="12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854579A-FE80-4698-A6CE-19F619A4D511}"/>
              </a:ext>
            </a:extLst>
          </p:cNvPr>
          <p:cNvSpPr>
            <a:spLocks noGrp="1"/>
          </p:cNvSpPr>
          <p:nvPr/>
        </p:nvSpPr>
        <p:spPr>
          <a:xfrm>
            <a:off x="3493008" y="3429000"/>
            <a:ext cx="2615184" cy="1033272"/>
          </a:xfrm>
          <a:prstGeom prst="rect">
            <a:avLst/>
          </a:prstGeom>
          <a:solidFill>
            <a:srgbClr val="FFF2DF"/>
          </a:solidFill>
          <a:ln w="13970">
            <a:solidFill>
              <a:srgbClr val="F28A16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10000"/>
          </a:bodyPr>
          <a:lstStyle/>
          <a:p>
            <a:pPr marL="0" indent="0">
              <a:buNone/>
            </a:pPr>
            <a:r>
              <a:rPr sz="1250" b="1">
                <a:solidFill>
                  <a:srgbClr val="F28A16"/>
                </a:solidFill>
                <a:latin typeface="Aptos"/>
                <a:ea typeface="Aptos"/>
                <a:cs typeface="Aptos"/>
              </a:rPr>
              <a:t>B. DECISIÓN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¿Qué resultado o excepción se elige?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precio · contrato · estrategia</a:t>
            </a:r>
            <a:endParaRPr sz="12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FBD8BDE-B487-4008-9932-8C9AE11C416B}"/>
              </a:ext>
            </a:extLst>
          </p:cNvPr>
          <p:cNvSpPr>
            <a:spLocks noGrp="1"/>
          </p:cNvSpPr>
          <p:nvPr/>
        </p:nvSpPr>
        <p:spPr>
          <a:xfrm>
            <a:off x="658368" y="4617720"/>
            <a:ext cx="2615184" cy="1033272"/>
          </a:xfrm>
          <a:prstGeom prst="rect">
            <a:avLst/>
          </a:prstGeom>
          <a:solidFill>
            <a:srgbClr val="EEF2F7"/>
          </a:solidFill>
          <a:ln w="13970">
            <a:solidFill>
              <a:srgbClr val="48587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sz="1250" b="1">
                <a:solidFill>
                  <a:srgbClr val="485879"/>
                </a:solidFill>
                <a:latin typeface="Aptos"/>
                <a:ea typeface="Aptos"/>
                <a:cs typeface="Aptos"/>
              </a:rPr>
              <a:t>C. CONTRIBUCIÓN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¿Qué dato o acción falta?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documentos · fotos · OTP</a:t>
            </a:r>
            <a:endParaRPr sz="12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0EBB86-5443-4C21-8A31-5783AF07CBD5}"/>
              </a:ext>
            </a:extLst>
          </p:cNvPr>
          <p:cNvSpPr>
            <a:spLocks noGrp="1"/>
          </p:cNvSpPr>
          <p:nvPr/>
        </p:nvSpPr>
        <p:spPr>
          <a:xfrm>
            <a:off x="3493008" y="4617720"/>
            <a:ext cx="2615184" cy="1033272"/>
          </a:xfrm>
          <a:prstGeom prst="rect">
            <a:avLst/>
          </a:prstGeom>
          <a:solidFill>
            <a:srgbClr val="F8EAF1"/>
          </a:solidFill>
          <a:ln w="13970">
            <a:solidFill>
              <a:srgbClr val="B24779"/>
            </a:solidFill>
          </a:ln>
          <a:effectLst>
            <a:outerShdw blurRad="12700" dist="50800" dir="2700000" algn="bl" rotWithShape="0">
              <a:srgbClr val="CFCAD8">
                <a:alpha val="25000"/>
              </a:srgbClr>
            </a:outerShdw>
          </a:effectLst>
        </p:spPr>
        <p:txBody>
          <a:bodyPr wrap="square" anchor="t">
            <a:normAutofit lnSpcReduction="10000"/>
          </a:bodyPr>
          <a:lstStyle/>
          <a:p>
            <a:pPr marL="0" indent="0">
              <a:buNone/>
            </a:pPr>
            <a:r>
              <a:rPr sz="125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D. REVISIÓN</a:t>
            </a:r>
            <a:endParaRPr sz="1250"/>
          </a:p>
          <a:p>
            <a:pPr marL="0" indent="0">
              <a:buNone/>
            </a:pPr>
            <a:r>
              <a:rPr sz="125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¿Cómo resolver fallo o ambigüedad?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F6886"/>
                </a:solidFill>
                <a:latin typeface="Aptos"/>
                <a:ea typeface="Aptos"/>
                <a:cs typeface="Aptos"/>
              </a:rPr>
              <a:t>verificación · incidente · conflicto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C5478EC-A628-4076-8D45-158E16FE2252}"/>
              </a:ext>
            </a:extLst>
          </p:cNvPr>
          <p:cNvSpPr>
            <a:spLocks noGrp="1"/>
          </p:cNvSpPr>
          <p:nvPr/>
        </p:nvSpPr>
        <p:spPr>
          <a:xfrm>
            <a:off x="6328443" y="3246120"/>
            <a:ext cx="0" cy="2542032"/>
          </a:xfrm>
          <a:prstGeom prst="line">
            <a:avLst/>
          </a:prstGeom>
          <a:noFill/>
          <a:ln w="12700">
            <a:solidFill>
              <a:srgbClr val="DAD2F7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2EE567C-0456-4B9C-A4C1-B0CB64D1712C}"/>
              </a:ext>
            </a:extLst>
          </p:cNvPr>
          <p:cNvSpPr>
            <a:spLocks noGrp="1"/>
          </p:cNvSpPr>
          <p:nvPr/>
        </p:nvSpPr>
        <p:spPr>
          <a:xfrm>
            <a:off x="6569914" y="3429000"/>
            <a:ext cx="1600200" cy="950976"/>
          </a:xfrm>
          <a:prstGeom prst="rect">
            <a:avLst/>
          </a:prstGeom>
          <a:solidFill>
            <a:srgbClr val="F6F1FF"/>
          </a:solidFill>
          <a:ln w="12700">
            <a:solidFill>
              <a:srgbClr val="5C2BD9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HITL bloqueante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Pausa y espera una decisión.</a:t>
            </a:r>
            <a:endParaRPr sz="11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41B1A1A-4658-4D18-97FF-07CEB0681AE0}"/>
              </a:ext>
            </a:extLst>
          </p:cNvPr>
          <p:cNvSpPr>
            <a:spLocks noGrp="1"/>
          </p:cNvSpPr>
          <p:nvPr/>
        </p:nvSpPr>
        <p:spPr>
          <a:xfrm>
            <a:off x="8307274" y="3429000"/>
            <a:ext cx="1600200" cy="950976"/>
          </a:xfrm>
          <a:prstGeom prst="rect">
            <a:avLst/>
          </a:prstGeom>
          <a:solidFill>
            <a:srgbClr val="FFF2DF"/>
          </a:solidFill>
          <a:ln w="12700">
            <a:solidFill>
              <a:srgbClr val="F28A16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28A16"/>
                </a:solidFill>
                <a:latin typeface="Aptos"/>
                <a:ea typeface="Aptos"/>
                <a:cs typeface="Aptos"/>
              </a:rPr>
              <a:t>Humano como executor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La persona realiza un work item.</a:t>
            </a:r>
            <a:endParaRPr sz="112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CA48981-1C5B-4BE7-81BC-98D6C70EAFE3}"/>
              </a:ext>
            </a:extLst>
          </p:cNvPr>
          <p:cNvSpPr>
            <a:spLocks noGrp="1"/>
          </p:cNvSpPr>
          <p:nvPr/>
        </p:nvSpPr>
        <p:spPr>
          <a:xfrm>
            <a:off x="10044634" y="3429000"/>
            <a:ext cx="1600200" cy="950976"/>
          </a:xfrm>
          <a:prstGeom prst="rect">
            <a:avLst/>
          </a:prstGeom>
          <a:solidFill>
            <a:srgbClr val="E7F7EF"/>
          </a:solidFill>
          <a:ln w="12700">
            <a:solidFill>
              <a:srgbClr val="008C51"/>
            </a:solidFill>
          </a:ln>
          <a:effectLst>
            <a:outerShdw blurRad="12700" dist="50800" dir="2700000" algn="bl" rotWithShape="0">
              <a:srgbClr val="CFCAD8">
                <a:alpha val="18000"/>
              </a:srgbClr>
            </a:outerShdw>
          </a:effectLst>
        </p:spPr>
        <p:txBody>
          <a:bodyPr wrap="square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008C51"/>
                </a:solidFill>
                <a:latin typeface="Aptos"/>
                <a:ea typeface="Aptos"/>
                <a:cs typeface="Aptos"/>
              </a:rPr>
              <a:t>HOTL / supervisión</a:t>
            </a:r>
            <a:endParaRPr sz="1120"/>
          </a:p>
          <a:p>
            <a:pPr marL="0" indent="0" algn="ctr">
              <a:buNone/>
            </a:pPr>
            <a:r>
              <a:rPr sz="1120">
                <a:solidFill>
                  <a:srgbClr val="6F6886"/>
                </a:solidFill>
                <a:latin typeface="Aptos"/>
                <a:ea typeface="Aptos"/>
                <a:cs typeface="Aptos"/>
              </a:rPr>
              <a:t>Observa e interviene sin bloquear cada paso.</a:t>
            </a:r>
            <a:endParaRPr sz="112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57BF3B-8D9A-46B9-9660-B8F1945B45D0}"/>
              </a:ext>
            </a:extLst>
          </p:cNvPr>
          <p:cNvSpPr>
            <a:spLocks noGrp="1"/>
          </p:cNvSpPr>
          <p:nvPr/>
        </p:nvSpPr>
        <p:spPr>
          <a:xfrm>
            <a:off x="6569914" y="4681728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71126"/>
                </a:solidFill>
                <a:latin typeface="Aptos"/>
                <a:ea typeface="Aptos"/>
                <a:cs typeface="Aptos"/>
              </a:rPr>
              <a:t>La participación se decide por riesgo y responsabilidad: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3CDA79-DD79-4761-984E-1A5E20538D0D}"/>
              </a:ext>
            </a:extLst>
          </p:cNvPr>
          <p:cNvSpPr>
            <a:spLocks noGrp="1"/>
          </p:cNvSpPr>
          <p:nvPr/>
        </p:nvSpPr>
        <p:spPr>
          <a:xfrm>
            <a:off x="6569914" y="4919472"/>
            <a:ext cx="5106973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1200" b="1">
                <a:solidFill>
                  <a:srgbClr val="5C2BD9"/>
                </a:solidFill>
                <a:latin typeface="Aptos"/>
                <a:ea typeface="Aptos"/>
                <a:cs typeface="Aptos"/>
              </a:rPr>
              <a:t>Autorizar no es ejecutar.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Aportar no es aprobar.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Supervisar no es bloquear.</a:t>
            </a:r>
          </a:p>
          <a:p>
            <a:r>
              <a:rPr sz="1200" b="1">
                <a:solidFill>
                  <a:srgbClr val="B24779"/>
                </a:solidFill>
                <a:latin typeface="Aptos"/>
                <a:ea typeface="Aptos"/>
                <a:cs typeface="Aptos"/>
              </a:rPr>
              <a:t>La respuesta humana reanuda el mismo trabajo durable.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87463A5-16AC-4157-B0A1-A84B5F826D11}"/>
              </a:ext>
            </a:extLst>
          </p:cNvPr>
          <p:cNvSpPr>
            <a:spLocks noGrp="1"/>
          </p:cNvSpPr>
          <p:nvPr/>
        </p:nvSpPr>
        <p:spPr>
          <a:xfrm>
            <a:off x="1051560" y="5925312"/>
            <a:ext cx="10085832" cy="402336"/>
          </a:xfrm>
          <a:prstGeom prst="rect">
            <a:avLst/>
          </a:prstGeom>
          <a:solidFill>
            <a:srgbClr val="EFE8FF"/>
          </a:solidFill>
          <a:ln>
            <a:solidFill>
              <a:srgbClr val="EFE8F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5C2BD9"/>
                </a:solidFill>
                <a:latin typeface="Aptos"/>
                <a:ea typeface="Aptos"/>
                <a:cs typeface="Aptos"/>
              </a:rPr>
              <a:t>interacción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 humana es </a:t>
            </a:r>
            <a:r>
              <a:rPr sz="1600" b="1" dirty="0" err="1">
                <a:solidFill>
                  <a:srgbClr val="5C2BD9"/>
                </a:solidFill>
                <a:latin typeface="Aptos"/>
                <a:ea typeface="Aptos"/>
                <a:cs typeface="Aptos"/>
              </a:rPr>
              <a:t>parte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 del </a:t>
            </a:r>
            <a:r>
              <a:rPr lang="es-MX"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modelo operativo</a:t>
            </a:r>
            <a:r>
              <a:rPr sz="1600" b="1" dirty="0">
                <a:solidFill>
                  <a:srgbClr val="5C2BD9"/>
                </a:solidFill>
                <a:latin typeface="Aptos"/>
                <a:ea typeface="Aptos"/>
                <a:cs typeface="Aptos"/>
              </a:rPr>
              <a:t>, no un escape informal.</a:t>
            </a:r>
            <a:endParaRPr sz="1600" dirty="0"/>
          </a:p>
        </p:txBody>
      </p:sp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7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472D9C23-ECBC-468A-B9D4-8D9D61D97F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2EB80E64-26A0-4FF4-B0B4-84A712B97869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ORGANIZATIONS DEFINE OWNERSHIP Y CONTEXTO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14D48756-81F6-4D1A-B8C4-F7D9FA321D78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organización no es sólo tenancy: determina quién posee Cases, conocimiento, políticas, identidades y resultados.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36223886-4B72-4F1B-BE55-7A5C3CDA02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88100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Identity bindings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conectan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personas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sistemas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externos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sin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convertirlos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en la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del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interno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BCFED5-BEA4-4799-8A1A-531AB08B75F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EF5DF071-16B4-457F-A6BB-D133EB955A2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0CBE0D8-972D-4A6F-8647-0C399F5C810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43020682-F9A0-4A9D-9575-109025E22FAD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6DBF4E1A-003C-44D0-8161-A4731CCCACF0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ORGANIZATION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35323983-30BE-4138-8CDD-51EA44EFE9F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 durable: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10679477-166C-41E1-94EE-00D337E2702D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 ownership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Membership y roles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Knowledge scope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Provenance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 attribution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B2290763-F10F-44C2-9E83-D3F8B4616970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C10289C6-D218-4E13-A8D9-AA643DDB28D6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IDENTITY BINDINGS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880D5D3-95B4-45A6-9DDA-B3401343A2F9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Conexiones externas: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2050C298-2CB1-41BD-999D-45537D24FABE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Personas y canales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CRM/portals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Provider identities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Integraciones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Scopes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Audit trail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4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4C89338D-EB91-4990-9E24-3C9214582D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6888577F-52E1-49B1-AD34-16C9E9BDD60C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R1 YA PRUEBA PARTE DEL MODELO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B2765532-D61B-4C58-A6AF-CF5645623544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R1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convierte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Relationship Operations en Slices end-to-end y evidence hosted.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94027DCF-0E57-4D03-B40A-85FA23E45F7B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están Done; SL-4 es READY y aún requiere Cycle inclusion + DRI.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624535B1-AAE3-430D-B5CC-05142BD1071B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DF5D835F-89B7-4660-9953-E7F130B92566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428AFC47-AC3C-4CCD-83FF-EA2CC9DBBCD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70552981-371C-47F3-972D-FAEA4DCBAB1A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75990350-5E5B-4BA3-BE83-4697B712ABB7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11C79341-77C6-4F39-BA69-EC0E03556396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97DFCDBE-0612-4FD5-91A5-4C8335739806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Intake y contexto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E891B213-3FE0-4AA4-A790-1F45393EE792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3428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substrate, legacy reads, admission y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duplicate/supersession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ya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están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implementados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3338A5ED-3739-4EC8-8CF3-52403552566D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05C18D6-98B9-408D-9FC2-6C8D012E1299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DB8A99BC-E1ED-42A8-BE66-8DD82C6E9B4B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044BA637-081C-4EF7-99FC-AD26B1425534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1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situacional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176C1E69-B0BC-4CCB-B602-5B62C20F0E6C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debe probar posture history, commitments y supervisor loop en shadow.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011AFA0C-5083-4B27-8801-28B9C4D24CD1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C3A801E9-7480-44D1-80D4-CC4EE8CDFB20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A049D4FE-065E-4144-BA7F-14830D87A67E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6321C124-75FB-4AA7-B242-FDD7A02077AF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Outcome y aprendizaje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A0934D25-D87A-4C44-A50B-373EA2E3C4B3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e impacto actualizan estado y alimentan señales para futuras decisiones.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2AC59E66-FC10-4D1C-9F2D-DBFD000F496C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63CC8621-FE33-47B9-8AC3-AF71BAA2A830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R1 no “demuestra toda la visión”; demuestra que el núcleo puede sostener una responsabilidad real.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6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395BF5F6-3001-43D3-9B5D-0AFB6FD560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42DB5A2-30EA-4CB5-8ACD-D49E8648B1D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5C2DD2"/>
                </a:solidFill>
                <a:latin typeface="Aptos"/>
                <a:ea typeface="Aptos"/>
                <a:cs typeface="Aptos"/>
              </a:rPr>
              <a:t>R1 · MODELO OPERATIVO </a:t>
            </a:r>
            <a:r>
              <a:rPr lang="es-MX" sz="900" b="1" dirty="0">
                <a:solidFill>
                  <a:srgbClr val="5C2DD2"/>
                </a:solidFill>
                <a:latin typeface="Aptos"/>
                <a:ea typeface="Aptos"/>
                <a:cs typeface="Aptos"/>
              </a:rPr>
              <a:t>TARGET</a:t>
            </a:r>
            <a:endParaRPr sz="900" b="1" dirty="0">
              <a:solidFill>
                <a:srgbClr val="5C2D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B916C5-4185-4636-9421-AC5D9C9FB8A4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096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R1 da a Gu responsabilidad durable sobre una Lead Opportunity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C870B4-F734-4548-B5A9-10D2482DB5CA}"/>
              </a:ext>
            </a:extLst>
          </p:cNvPr>
          <p:cNvSpPr>
            <a:spLocks noGrp="1"/>
          </p:cNvSpPr>
          <p:nvPr/>
        </p:nvSpPr>
        <p:spPr>
          <a:xfrm>
            <a:off x="571500" y="129233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Señales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frescas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alimentan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un Case de la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organización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 El Supervisor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elige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útil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la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real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vuelve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al Case.</a:t>
            </a:r>
          </a:p>
        </p:txBody>
      </p:sp>
      <p:pic>
        <p:nvPicPr>
          <p:cNvPr id="60" name="Imagen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F32B2C5-7F6B-4AD9-8E92-11FC00875C5B}"/>
              </a:ext>
            </a:extLst>
          </p:cNvPr>
          <p:cNvSpPr>
            <a:spLocks noGrp="1"/>
          </p:cNvSpPr>
          <p:nvPr/>
        </p:nvSpPr>
        <p:spPr>
          <a:xfrm>
            <a:off x="571500" y="1862102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1 · SEÑALES + ADMISIÓN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9DC408-6C66-49DB-9D9B-15C835D1D579}"/>
              </a:ext>
            </a:extLst>
          </p:cNvPr>
          <p:cNvSpPr>
            <a:spLocks noGrp="1"/>
          </p:cNvSpPr>
          <p:nvPr/>
        </p:nvSpPr>
        <p:spPr>
          <a:xfrm>
            <a:off x="3476625" y="1862102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2 · RESPONSABILIDAD DURABLE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A39E9D-8D87-4381-A7E3-B65E3E51FBE0}"/>
              </a:ext>
            </a:extLst>
          </p:cNvPr>
          <p:cNvSpPr>
            <a:spLocks noGrp="1"/>
          </p:cNvSpPr>
          <p:nvPr/>
        </p:nvSpPr>
        <p:spPr>
          <a:xfrm>
            <a:off x="7810500" y="1862102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3 · TRABAJO + PARTICIPACIÓN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8AAC3B9-54DF-4C13-AC90-B4D4846A11FA}"/>
              </a:ext>
            </a:extLst>
          </p:cNvPr>
          <p:cNvSpPr>
            <a:spLocks noGrp="1"/>
          </p:cNvSpPr>
          <p:nvPr/>
        </p:nvSpPr>
        <p:spPr>
          <a:xfrm>
            <a:off x="571500" y="2215948"/>
            <a:ext cx="238125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7C4D05-3258-425B-AA21-A112540FBB63}"/>
              </a:ext>
            </a:extLst>
          </p:cNvPr>
          <p:cNvSpPr>
            <a:spLocks noGrp="1"/>
          </p:cNvSpPr>
          <p:nvPr/>
        </p:nvSpPr>
        <p:spPr>
          <a:xfrm>
            <a:off x="704850" y="2311198"/>
            <a:ext cx="21145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Señales y fuentes frescas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426EBEB-A2FA-4E0A-8936-3ACD61857012}"/>
              </a:ext>
            </a:extLst>
          </p:cNvPr>
          <p:cNvSpPr>
            <a:spLocks noGrp="1"/>
          </p:cNvSpPr>
          <p:nvPr/>
        </p:nvSpPr>
        <p:spPr>
          <a:xfrm>
            <a:off x="704850" y="2587423"/>
            <a:ext cx="2114550" cy="981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Lead y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mensajes</a:t>
            </a:r>
            <a:endParaRPr sz="9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Inventario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propiedades</a:t>
            </a:r>
            <a:endParaRPr sz="9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Appointments y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visita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Asignación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policy y authority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Work o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evento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humano</a:t>
            </a:r>
            <a:endParaRPr sz="9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213F004-1018-47C8-9901-C716997F312A}"/>
              </a:ext>
            </a:extLst>
          </p:cNvPr>
          <p:cNvSpPr>
            <a:spLocks noGrp="1"/>
          </p:cNvSpPr>
          <p:nvPr/>
        </p:nvSpPr>
        <p:spPr>
          <a:xfrm>
            <a:off x="571500" y="3835198"/>
            <a:ext cx="2381250" cy="1190625"/>
          </a:xfrm>
          <a:prstGeom prst="roundRect">
            <a:avLst>
              <a:gd name="adj" fmla="val 9600"/>
            </a:avLst>
          </a:prstGeom>
          <a:solidFill>
            <a:srgbClr val="EEE8FF"/>
          </a:solidFill>
          <a:ln w="1143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36B701A-BA55-4190-92A3-821EABC39CC4}"/>
              </a:ext>
            </a:extLst>
          </p:cNvPr>
          <p:cNvSpPr>
            <a:spLocks noGrp="1"/>
          </p:cNvSpPr>
          <p:nvPr/>
        </p:nvSpPr>
        <p:spPr>
          <a:xfrm>
            <a:off x="704850" y="3930448"/>
            <a:ext cx="21145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125" b="1" dirty="0" err="1">
                <a:solidFill>
                  <a:srgbClr val="5C2DD2"/>
                </a:solidFill>
                <a:latin typeface="Aptos"/>
                <a:ea typeface="Aptos"/>
                <a:cs typeface="Aptos"/>
              </a:rPr>
              <a:t>Admisión</a:t>
            </a:r>
            <a:r>
              <a:rPr sz="1125" b="1" dirty="0">
                <a:solidFill>
                  <a:srgbClr val="5C2DD2"/>
                </a:solidFill>
                <a:latin typeface="Aptos"/>
                <a:ea typeface="Aptos"/>
                <a:cs typeface="Aptos"/>
              </a:rPr>
              <a:t> + </a:t>
            </a:r>
            <a:r>
              <a:rPr sz="1125" b="1" dirty="0" err="1">
                <a:solidFill>
                  <a:srgbClr val="5C2DD2"/>
                </a:solidFill>
                <a:latin typeface="Aptos"/>
                <a:ea typeface="Aptos"/>
                <a:cs typeface="Aptos"/>
              </a:rPr>
              <a:t>identidad</a:t>
            </a:r>
            <a:endParaRPr sz="1125" b="1" dirty="0">
              <a:solidFill>
                <a:srgbClr val="5C2DD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053CC6B-275D-422D-855C-D22C9F1D1E2B}"/>
              </a:ext>
            </a:extLst>
          </p:cNvPr>
          <p:cNvSpPr>
            <a:spLocks noGrp="1"/>
          </p:cNvSpPr>
          <p:nvPr/>
        </p:nvSpPr>
        <p:spPr>
          <a:xfrm>
            <a:off x="704850" y="4206673"/>
            <a:ext cx="21145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000" lnSpcReduction="10000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Resolver Organization, contacto y continuidad</a:t>
            </a:r>
          </a:p>
          <a:p>
            <a:endParaRPr sz="900" b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CREATE · ATTACH · CLARIFY · DO NOT ADMIT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DFF0F6B-41D9-4068-885B-7B0F178EF6A1}"/>
              </a:ext>
            </a:extLst>
          </p:cNvPr>
          <p:cNvSpPr>
            <a:spLocks noGrp="1"/>
          </p:cNvSpPr>
          <p:nvPr/>
        </p:nvSpPr>
        <p:spPr>
          <a:xfrm>
            <a:off x="3476625" y="2215948"/>
            <a:ext cx="3762375" cy="857250"/>
          </a:xfrm>
          <a:prstGeom prst="roundRect">
            <a:avLst>
              <a:gd name="adj" fmla="val 13333"/>
            </a:avLst>
          </a:prstGeom>
          <a:solidFill>
            <a:srgbClr val="FFF0D7"/>
          </a:solidFill>
          <a:ln w="1143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E027CFA-5266-40F0-B464-80422277A5F4}"/>
              </a:ext>
            </a:extLst>
          </p:cNvPr>
          <p:cNvSpPr>
            <a:spLocks noGrp="1"/>
          </p:cNvSpPr>
          <p:nvPr/>
        </p:nvSpPr>
        <p:spPr>
          <a:xfrm>
            <a:off x="3609975" y="2311198"/>
            <a:ext cx="34956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CASE SUPERVISOR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313C150-9A8B-44A7-93C0-0AFA7D41DB14}"/>
              </a:ext>
            </a:extLst>
          </p:cNvPr>
          <p:cNvSpPr>
            <a:spLocks noGrp="1"/>
          </p:cNvSpPr>
          <p:nvPr/>
        </p:nvSpPr>
        <p:spPr>
          <a:xfrm>
            <a:off x="3609975" y="2587423"/>
            <a:ext cx="34956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Comprende la realidad actual, diagnostica y elige trabajo, espera o no-op.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D42A395-ABA5-492A-AABB-4C61580DDA2B}"/>
              </a:ext>
            </a:extLst>
          </p:cNvPr>
          <p:cNvSpPr>
            <a:spLocks noGrp="1"/>
          </p:cNvSpPr>
          <p:nvPr/>
        </p:nvSpPr>
        <p:spPr>
          <a:xfrm>
            <a:off x="3476625" y="3263698"/>
            <a:ext cx="3762375" cy="1895475"/>
          </a:xfrm>
          <a:prstGeom prst="roundRect">
            <a:avLst>
              <a:gd name="adj" fmla="val 5854"/>
            </a:avLst>
          </a:prstGeom>
          <a:solidFill>
            <a:srgbClr val="EEE8FF"/>
          </a:solidFill>
          <a:ln w="1143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3DA98EC-A2E1-4AE8-9EE5-2A4D28ABBB9A}"/>
              </a:ext>
            </a:extLst>
          </p:cNvPr>
          <p:cNvSpPr>
            <a:spLocks noGrp="1"/>
          </p:cNvSpPr>
          <p:nvPr/>
        </p:nvSpPr>
        <p:spPr>
          <a:xfrm>
            <a:off x="3609975" y="3358948"/>
            <a:ext cx="349567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044" lnSpcReduction="20000"/>
          </a:bodyPr>
          <a:lstStyle/>
          <a:p>
            <a:pPr>
              <a:defRPr sz="142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LEAD OPPORTUNITY CASE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AFA56C7-104A-476B-8ED0-11CA8FEAB6BD}"/>
              </a:ext>
            </a:extLst>
          </p:cNvPr>
          <p:cNvSpPr>
            <a:spLocks noGrp="1"/>
          </p:cNvSpPr>
          <p:nvPr/>
        </p:nvSpPr>
        <p:spPr>
          <a:xfrm>
            <a:off x="3609975" y="3635173"/>
            <a:ext cx="3495675" cy="1504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Organization owner + </a:t>
            </a: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identidad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Opportunity</a:t>
            </a:r>
          </a:p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durable + </a:t>
            </a: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intención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actual</a:t>
            </a:r>
          </a:p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Propiedades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presentadas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+ </a:t>
            </a: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reacciones</a:t>
            </a:r>
            <a:endParaRPr sz="975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Compromisos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+ evidence gaps</a:t>
            </a:r>
          </a:p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next_action_at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+ </a:t>
            </a: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razones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wake-up</a:t>
            </a:r>
          </a:p>
          <a:p>
            <a:pPr marL="171450" indent="-171450">
              <a:buFont typeface="Arial" panose="020B0604020202020204" pitchFamily="34" charset="0"/>
              <a:buChar char="•"/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Decisiones</a:t>
            </a:r>
            <a:r>
              <a:rPr sz="975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approvals, lineage + closure outcome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451B8021-8C1C-41EC-8179-AC0675CD4484}"/>
              </a:ext>
            </a:extLst>
          </p:cNvPr>
          <p:cNvSpPr>
            <a:spLocks noGrp="1"/>
          </p:cNvSpPr>
          <p:nvPr/>
        </p:nvSpPr>
        <p:spPr>
          <a:xfrm>
            <a:off x="7810500" y="2215948"/>
            <a:ext cx="3714750" cy="685800"/>
          </a:xfrm>
          <a:prstGeom prst="roundRect">
            <a:avLst>
              <a:gd name="adj" fmla="val 16667"/>
            </a:avLst>
          </a:prstGeom>
          <a:solidFill>
            <a:srgbClr val="E3F5ED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D66170E-50EC-4392-91F0-1220CCE630F9}"/>
              </a:ext>
            </a:extLst>
          </p:cNvPr>
          <p:cNvSpPr>
            <a:spLocks noGrp="1"/>
          </p:cNvSpPr>
          <p:nvPr/>
        </p:nvSpPr>
        <p:spPr>
          <a:xfrm>
            <a:off x="7943850" y="2311198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WORK ITEMS + ATTEMPTS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73CB74F-B926-46FE-B038-E589D0B22CA3}"/>
              </a:ext>
            </a:extLst>
          </p:cNvPr>
          <p:cNvSpPr>
            <a:spLocks noGrp="1"/>
          </p:cNvSpPr>
          <p:nvPr/>
        </p:nvSpPr>
        <p:spPr>
          <a:xfrm>
            <a:off x="7943850" y="2587423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721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Persisten cuando deben esperar, reintentar, depender o verificarse.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C1481175-A156-4F45-9404-E6DD0448FA0C}"/>
              </a:ext>
            </a:extLst>
          </p:cNvPr>
          <p:cNvSpPr>
            <a:spLocks noGrp="1"/>
          </p:cNvSpPr>
          <p:nvPr/>
        </p:nvSpPr>
        <p:spPr>
          <a:xfrm>
            <a:off x="7810500" y="3092248"/>
            <a:ext cx="1762125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3037F51-DE9E-425F-B1D9-16D38B81F450}"/>
              </a:ext>
            </a:extLst>
          </p:cNvPr>
          <p:cNvSpPr>
            <a:spLocks noGrp="1"/>
          </p:cNvSpPr>
          <p:nvPr/>
        </p:nvSpPr>
        <p:spPr>
          <a:xfrm>
            <a:off x="7943850" y="3187498"/>
            <a:ext cx="14954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CAPABILITIES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9123C2A-00B2-4DB1-9CE9-DD41766E807E}"/>
              </a:ext>
            </a:extLst>
          </p:cNvPr>
          <p:cNvSpPr>
            <a:spLocks noGrp="1"/>
          </p:cNvSpPr>
          <p:nvPr/>
        </p:nvSpPr>
        <p:spPr>
          <a:xfrm>
            <a:off x="7943850" y="3463723"/>
            <a:ext cx="14954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retrieve · match · research</a:t>
            </a:r>
          </a:p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message · appointment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E52AF26B-7563-4E07-9319-1B1B6BC5C153}"/>
              </a:ext>
            </a:extLst>
          </p:cNvPr>
          <p:cNvSpPr>
            <a:spLocks noGrp="1"/>
          </p:cNvSpPr>
          <p:nvPr/>
        </p:nvSpPr>
        <p:spPr>
          <a:xfrm>
            <a:off x="9763125" y="3092248"/>
            <a:ext cx="1762125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A633F04-8A24-4B65-8BB7-7B5B89FCB7CE}"/>
              </a:ext>
            </a:extLst>
          </p:cNvPr>
          <p:cNvSpPr>
            <a:spLocks noGrp="1"/>
          </p:cNvSpPr>
          <p:nvPr/>
        </p:nvSpPr>
        <p:spPr>
          <a:xfrm>
            <a:off x="9896475" y="3187498"/>
            <a:ext cx="1495425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MODOS HUMANOS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68A4B67-E949-4E36-8081-9CADF0AE603D}"/>
              </a:ext>
            </a:extLst>
          </p:cNvPr>
          <p:cNvSpPr>
            <a:spLocks noGrp="1"/>
          </p:cNvSpPr>
          <p:nvPr/>
        </p:nvSpPr>
        <p:spPr>
          <a:xfrm>
            <a:off x="9896475" y="3463723"/>
            <a:ext cx="14954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input · approval</a:t>
            </a:r>
          </a:p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executor · takeover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6060F529-67ED-462A-A3AA-FA1CE71DD8D3}"/>
              </a:ext>
            </a:extLst>
          </p:cNvPr>
          <p:cNvSpPr>
            <a:spLocks noGrp="1"/>
          </p:cNvSpPr>
          <p:nvPr/>
        </p:nvSpPr>
        <p:spPr>
          <a:xfrm>
            <a:off x="7810500" y="4159048"/>
            <a:ext cx="3714750" cy="1057275"/>
          </a:xfrm>
          <a:prstGeom prst="roundRect">
            <a:avLst>
              <a:gd name="adj" fmla="val 10811"/>
            </a:avLst>
          </a:prstGeom>
          <a:solidFill>
            <a:srgbClr val="E7ECFB"/>
          </a:solidFill>
          <a:ln w="1143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F9567B6-F03E-4F2F-A565-3709CD0514F7}"/>
              </a:ext>
            </a:extLst>
          </p:cNvPr>
          <p:cNvSpPr>
            <a:spLocks noGrp="1"/>
          </p:cNvSpPr>
          <p:nvPr/>
        </p:nvSpPr>
        <p:spPr>
          <a:xfrm>
            <a:off x="7943850" y="4254298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556" lnSpcReduction="10000"/>
          </a:bodyPr>
          <a:lstStyle/>
          <a:p>
            <a:pPr>
              <a:defRPr sz="1125" b="1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866C6"/>
                </a:solidFill>
                <a:latin typeface="Aptos"/>
                <a:ea typeface="Aptos"/>
                <a:cs typeface="Aptos"/>
              </a:rPr>
              <a:t>EFECTOS, EVIDENCIA Y OUTCOMES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6F9F18E-25DA-4674-8445-E4C8F5E0E615}"/>
              </a:ext>
            </a:extLst>
          </p:cNvPr>
          <p:cNvSpPr>
            <a:spLocks noGrp="1"/>
          </p:cNvSpPr>
          <p:nvPr/>
        </p:nvSpPr>
        <p:spPr>
          <a:xfrm>
            <a:off x="7943850" y="4530523"/>
            <a:ext cx="34480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del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proveedor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negocio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permanecen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separados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Unknown y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conflictos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se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conservan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hasta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reconciliar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cxnSp>
        <p:nvCxnSpPr>
          <p:cNvPr id="90" name="Conector recto de flecha 89"/>
          <p:cNvCxnSpPr>
            <a:stCxn id="11" idx="2"/>
            <a:endCxn id="14" idx="0"/>
          </p:cNvCxnSpPr>
          <p:nvPr/>
        </p:nvCxnSpPr>
        <p:spPr>
          <a:xfrm>
            <a:off x="1762125" y="3644698"/>
            <a:ext cx="0" cy="19050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91" name="Conector: angular 90"/>
          <p:cNvCxnSpPr>
            <a:cxnSpLocks/>
            <a:stCxn id="14" idx="3"/>
            <a:endCxn id="20" idx="1"/>
          </p:cNvCxnSpPr>
          <p:nvPr/>
        </p:nvCxnSpPr>
        <p:spPr>
          <a:xfrm flipV="1">
            <a:off x="2952750" y="4211436"/>
            <a:ext cx="523875" cy="219075"/>
          </a:xfrm>
          <a:prstGeom prst="bentConnector3">
            <a:avLst>
              <a:gd name="adj1" fmla="val 50000"/>
            </a:avLst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92" name="Conector recto de flecha 91"/>
          <p:cNvCxnSpPr>
            <a:cxnSpLocks/>
            <a:stCxn id="20" idx="0"/>
            <a:endCxn id="17" idx="2"/>
          </p:cNvCxnSpPr>
          <p:nvPr/>
        </p:nvCxnSpPr>
        <p:spPr>
          <a:xfrm flipV="1">
            <a:off x="5357813" y="3073198"/>
            <a:ext cx="0" cy="190500"/>
          </a:xfrm>
          <a:prstGeom prst="straightConnector1">
            <a:avLst/>
          </a:prstGeom>
          <a:ln w="19050">
            <a:solidFill>
              <a:srgbClr val="F39A24"/>
            </a:solidFill>
            <a:prstDash val="solid"/>
            <a:tailEnd type="arrow" w="med" len="med"/>
          </a:ln>
        </p:spPr>
      </p:cxnSp>
      <p:cxnSp>
        <p:nvCxnSpPr>
          <p:cNvPr id="93" name="Conector: angular 92"/>
          <p:cNvCxnSpPr>
            <a:stCxn id="17" idx="3"/>
            <a:endCxn id="23" idx="1"/>
          </p:cNvCxnSpPr>
          <p:nvPr/>
        </p:nvCxnSpPr>
        <p:spPr>
          <a:xfrm flipV="1">
            <a:off x="7239000" y="2558848"/>
            <a:ext cx="571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009566"/>
            </a:solidFill>
            <a:prstDash val="solid"/>
            <a:tailEnd type="arrow" w="med" len="med"/>
          </a:ln>
        </p:spPr>
      </p:cxnSp>
      <p:cxnSp>
        <p:nvCxnSpPr>
          <p:cNvPr id="94" name="Conector: angular 93"/>
          <p:cNvCxnSpPr>
            <a:stCxn id="23" idx="2"/>
            <a:endCxn id="26" idx="0"/>
          </p:cNvCxnSpPr>
          <p:nvPr/>
        </p:nvCxnSpPr>
        <p:spPr>
          <a:xfrm flipH="1">
            <a:off x="8691563" y="2901748"/>
            <a:ext cx="976313" cy="190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9566"/>
            </a:solidFill>
            <a:prstDash val="solid"/>
            <a:tailEnd type="arrow" w="med" len="med"/>
          </a:ln>
        </p:spPr>
      </p:cxnSp>
      <p:cxnSp>
        <p:nvCxnSpPr>
          <p:cNvPr id="95" name="Conector: angular 94"/>
          <p:cNvCxnSpPr>
            <a:stCxn id="23" idx="2"/>
            <a:endCxn id="29" idx="0"/>
          </p:cNvCxnSpPr>
          <p:nvPr/>
        </p:nvCxnSpPr>
        <p:spPr>
          <a:xfrm>
            <a:off x="9667875" y="2901748"/>
            <a:ext cx="976313" cy="190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9566"/>
            </a:solidFill>
            <a:prstDash val="solid"/>
            <a:tailEnd type="arrow" w="med" len="med"/>
          </a:ln>
        </p:spPr>
      </p:cxnSp>
      <p:cxnSp>
        <p:nvCxnSpPr>
          <p:cNvPr id="96" name="Conector: angular 95"/>
          <p:cNvCxnSpPr>
            <a:stCxn id="26" idx="2"/>
            <a:endCxn id="32" idx="0"/>
          </p:cNvCxnSpPr>
          <p:nvPr/>
        </p:nvCxnSpPr>
        <p:spPr>
          <a:xfrm>
            <a:off x="8691563" y="3968548"/>
            <a:ext cx="976313" cy="190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866C6"/>
            </a:solidFill>
            <a:prstDash val="solid"/>
            <a:tailEnd type="arrow" w="med" len="med"/>
          </a:ln>
        </p:spPr>
      </p:cxnSp>
      <p:cxnSp>
        <p:nvCxnSpPr>
          <p:cNvPr id="97" name="Conector: angular 96"/>
          <p:cNvCxnSpPr>
            <a:stCxn id="29" idx="2"/>
            <a:endCxn id="32" idx="0"/>
          </p:cNvCxnSpPr>
          <p:nvPr/>
        </p:nvCxnSpPr>
        <p:spPr>
          <a:xfrm flipH="1">
            <a:off x="9667875" y="3968548"/>
            <a:ext cx="976313" cy="190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866C6"/>
            </a:solidFill>
            <a:prstDash val="solid"/>
            <a:tailEnd type="arrow" w="med" len="med"/>
          </a:ln>
        </p:spPr>
      </p:cxn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A4B9F484-B16B-494D-AB91-4E4A7CEBF415}"/>
              </a:ext>
            </a:extLst>
          </p:cNvPr>
          <p:cNvSpPr>
            <a:spLocks noGrp="1"/>
          </p:cNvSpPr>
          <p:nvPr/>
        </p:nvSpPr>
        <p:spPr>
          <a:xfrm>
            <a:off x="9687940" y="5216323"/>
            <a:ext cx="0" cy="209550"/>
          </a:xfrm>
          <a:prstGeom prst="line">
            <a:avLst/>
          </a:prstGeom>
          <a:noFill/>
          <a:ln w="2095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611DF208-011B-47BE-9D27-9A2BB0358AC6}"/>
              </a:ext>
            </a:extLst>
          </p:cNvPr>
          <p:cNvSpPr>
            <a:spLocks noGrp="1"/>
          </p:cNvSpPr>
          <p:nvPr/>
        </p:nvSpPr>
        <p:spPr>
          <a:xfrm>
            <a:off x="5357812" y="5425872"/>
            <a:ext cx="4339853" cy="1"/>
          </a:xfrm>
          <a:prstGeom prst="line">
            <a:avLst/>
          </a:prstGeom>
          <a:noFill/>
          <a:ln w="2095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28718DFA-BA1D-4098-9190-98898B72F2C8}"/>
              </a:ext>
            </a:extLst>
          </p:cNvPr>
          <p:cNvSpPr>
            <a:spLocks noGrp="1"/>
          </p:cNvSpPr>
          <p:nvPr/>
        </p:nvSpPr>
        <p:spPr>
          <a:xfrm>
            <a:off x="5357813" y="5216323"/>
            <a:ext cx="0" cy="209550"/>
          </a:xfrm>
          <a:prstGeom prst="line">
            <a:avLst/>
          </a:prstGeom>
          <a:noFill/>
          <a:ln w="2095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riángulo isósceles 45">
            <a:extLst>
              <a:ext uri="{FF2B5EF4-FFF2-40B4-BE49-F238E27FC236}">
                <a16:creationId xmlns:a16="http://schemas.microsoft.com/office/drawing/2014/main" id="{FBBF519F-C1D0-4D22-AD3E-1DB19382182F}"/>
              </a:ext>
            </a:extLst>
          </p:cNvPr>
          <p:cNvSpPr>
            <a:spLocks noGrp="1"/>
          </p:cNvSpPr>
          <p:nvPr/>
        </p:nvSpPr>
        <p:spPr>
          <a:xfrm>
            <a:off x="5300663" y="5159173"/>
            <a:ext cx="114300" cy="76200"/>
          </a:xfrm>
          <a:prstGeom prst="triangle">
            <a:avLst/>
          </a:prstGeom>
          <a:solidFill>
            <a:srgbClr val="B8497C"/>
          </a:solidFill>
          <a:ln w="0">
            <a:solidFill>
              <a:srgbClr val="B8497C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975FA4D-E744-4983-BC4E-C870769DDC17}"/>
              </a:ext>
            </a:extLst>
          </p:cNvPr>
          <p:cNvSpPr>
            <a:spLocks noGrp="1"/>
          </p:cNvSpPr>
          <p:nvPr/>
        </p:nvSpPr>
        <p:spPr>
          <a:xfrm>
            <a:off x="6052478" y="5215917"/>
            <a:ext cx="3578313" cy="19049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La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actualiza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hechos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y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puede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despertar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otra</a:t>
            </a:r>
            <a:r>
              <a:rPr sz="8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</a:t>
            </a:r>
            <a:r>
              <a:rPr sz="800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reconsideración</a:t>
            </a:r>
            <a:endParaRPr sz="800" b="1" dirty="0">
              <a:solidFill>
                <a:srgbClr val="B849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A4B3BA0D-EC85-4543-9C11-AD5A1228A8D5}"/>
              </a:ext>
            </a:extLst>
          </p:cNvPr>
          <p:cNvSpPr>
            <a:spLocks noGrp="1"/>
          </p:cNvSpPr>
          <p:nvPr/>
        </p:nvSpPr>
        <p:spPr>
          <a:xfrm>
            <a:off x="571500" y="5619750"/>
            <a:ext cx="109537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11FB6744-CD53-4F8B-96E8-6BFBE42B6700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1428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009566"/>
                </a:solidFill>
                <a:latin typeface="Aptos"/>
                <a:ea typeface="Aptos"/>
                <a:cs typeface="Aptos"/>
              </a:rPr>
              <a:t>WORK PORTFOLIO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B993E02E-C909-4725-BFAA-DB12AEC0A625}"/>
              </a:ext>
            </a:extLst>
          </p:cNvPr>
          <p:cNvSpPr>
            <a:spLocks noGrp="1"/>
          </p:cNvSpPr>
          <p:nvPr/>
        </p:nvSpPr>
        <p:spPr>
          <a:xfrm>
            <a:off x="2171700" y="5695950"/>
            <a:ext cx="9144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Proyecta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Cases, Work, approvals y evidence gaps para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mostrar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Needs Attention e In Motion. No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posee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la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verdad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operacional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E9E57C5-A4D0-4CFC-837B-EC903F4C488C}"/>
              </a:ext>
            </a:extLst>
          </p:cNvPr>
          <p:cNvSpPr>
            <a:spLocks noGrp="1"/>
          </p:cNvSpPr>
          <p:nvPr/>
        </p:nvSpPr>
        <p:spPr>
          <a:xfrm>
            <a:off x="571500" y="6076950"/>
            <a:ext cx="10953750" cy="381000"/>
          </a:xfrm>
          <a:prstGeom prst="roundRect">
            <a:avLst>
              <a:gd name="adj" fmla="val 26471"/>
            </a:avLst>
          </a:prstGeom>
          <a:solidFill>
            <a:srgbClr val="1F1B30"/>
          </a:solidFill>
          <a:ln w="0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1C27536-80CB-4256-907C-DBC0F1860580}"/>
              </a:ext>
            </a:extLst>
          </p:cNvPr>
          <p:cNvSpPr>
            <a:spLocks noGrp="1"/>
          </p:cNvSpPr>
          <p:nvPr/>
        </p:nvSpPr>
        <p:spPr>
          <a:xfrm>
            <a:off x="723900" y="6143625"/>
            <a:ext cx="10648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visita es el primer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hito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 negocio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medible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Una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transacción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concreta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o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relaciona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un Transaction Case;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lifecycle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completo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pertenece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a R6.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1824674-202F-4A17-B966-646603C9C830}"/>
              </a:ext>
            </a:extLst>
          </p:cNvPr>
          <p:cNvSpPr>
            <a:spLocks noGrp="1"/>
          </p:cNvSpPr>
          <p:nvPr/>
        </p:nvSpPr>
        <p:spPr>
          <a:xfrm>
            <a:off x="666750" y="6468084"/>
            <a:ext cx="10668000" cy="95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Fuentes: Specs S1 v0.3 · S2 v0.3 · S3 v0.2 · S4 v0.1 · Technical Plan v1.9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A29ED7C-8E14-4B08-AE0D-B89EE3CCDC4B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14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28571" lnSpcReduction="20000"/>
          </a:bodyPr>
          <a:lstStyle/>
          <a:p>
            <a:pPr>
              <a:defRPr sz="5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66A565DE-3742-43BE-AF91-1222C364AD6B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14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28571" lnSpcReduction="20000"/>
          </a:bodyPr>
          <a:lstStyle/>
          <a:p>
            <a:pPr>
              <a:defRPr sz="5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F97104CE-C294-2F88-BD31-4926E4546605}"/>
              </a:ext>
            </a:extLst>
          </p:cNvPr>
          <p:cNvSpPr>
            <a:spLocks noGrp="1"/>
          </p:cNvSpPr>
          <p:nvPr/>
        </p:nvSpPr>
        <p:spPr>
          <a:xfrm>
            <a:off x="2540134" y="342088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D6E94CE-1026-B6EB-B7DD-EF559B320279}"/>
              </a:ext>
            </a:extLst>
          </p:cNvPr>
          <p:cNvSpPr>
            <a:spLocks noGrp="1"/>
          </p:cNvSpPr>
          <p:nvPr/>
        </p:nvSpPr>
        <p:spPr>
          <a:xfrm>
            <a:off x="2616334" y="390119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371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· EN CONSTRUCCIÓN</a:t>
            </a:r>
          </a:p>
        </p:txBody>
      </p:sp>
    </p:spTree>
    <p:extLst>
      <p:ext uri="{BB962C8B-B14F-4D97-AF65-F5344CB8AC3E}">
        <p14:creationId xmlns:p14="http://schemas.microsoft.com/office/powerpoint/2010/main" val="209640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890F3A70-F7B3-4F9D-94E9-48D19B0D1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2DC33C-497A-40D4-87C7-690F9E2F24D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buNone/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MAPA DE EJECUCIÓN R1 · 7 SEPTIEMBRE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B56403-7BAF-4F89-829D-74A9515CFFAC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R1 avanza de evidencia shadow a control live selectivo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582F9D-5492-4742-9CA7-3917B33308C7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Etapa de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estado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Slice son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dimensiones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distintas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: READY, Planned, Executable y Done.</a:t>
            </a:r>
          </a:p>
        </p:txBody>
      </p:sp>
      <p:pic>
        <p:nvPicPr>
          <p:cNvPr id="35" name="Imagen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F1804C6-42A7-41BB-9367-0395E2A85DB8}"/>
              </a:ext>
            </a:extLst>
          </p:cNvPr>
          <p:cNvSpPr>
            <a:spLocks noGrp="1"/>
          </p:cNvSpPr>
          <p:nvPr/>
        </p:nvSpPr>
        <p:spPr>
          <a:xfrm>
            <a:off x="3276600" y="370247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9A30887-9F64-410F-8B6E-B28B0209ECDA}"/>
              </a:ext>
            </a:extLst>
          </p:cNvPr>
          <p:cNvSpPr>
            <a:spLocks noGrp="1"/>
          </p:cNvSpPr>
          <p:nvPr/>
        </p:nvSpPr>
        <p:spPr>
          <a:xfrm>
            <a:off x="3352800" y="418486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 · 7 SEP 2026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AD94FD-B6A3-42AB-88AF-2EC2A42C39C7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buNone/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E52B77C-CDD8-4142-AD80-98ADC1AC6D2E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buNone/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6389D34-04A4-4D9B-83E0-95CBA0B2C898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2857500" cy="2857500"/>
          </a:xfrm>
          <a:prstGeom prst="roundRect">
            <a:avLst>
              <a:gd name="adj" fmla="val 4000"/>
            </a:avLst>
          </a:prstGeom>
          <a:solidFill>
            <a:srgbClr val="E3F5ED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A12C02-AAD4-4376-8A08-E6A7F58B734C}"/>
              </a:ext>
            </a:extLst>
          </p:cNvPr>
          <p:cNvSpPr>
            <a:spLocks noGrp="1"/>
          </p:cNvSpPr>
          <p:nvPr/>
        </p:nvSpPr>
        <p:spPr>
          <a:xfrm>
            <a:off x="647700" y="2314575"/>
            <a:ext cx="2552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FOUNDATION + SHADOW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2578A0B-AA6D-4FA8-9FBD-306AC6C92330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25527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SL-0 Org substrate  DONE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SL-1 Gateway reads  DONE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SL-2 Admission  DONE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SL-3 Duplicate / supersession  DONE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SL-4 Supervisor loop  READY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9C9F14A-9EFF-44AD-A73D-385D83D20DCD}"/>
              </a:ext>
            </a:extLst>
          </p:cNvPr>
          <p:cNvSpPr>
            <a:spLocks noGrp="1"/>
          </p:cNvSpPr>
          <p:nvPr/>
        </p:nvSpPr>
        <p:spPr>
          <a:xfrm>
            <a:off x="3543300" y="2381250"/>
            <a:ext cx="2619375" cy="2667000"/>
          </a:xfrm>
          <a:prstGeom prst="roundRect">
            <a:avLst>
              <a:gd name="adj" fmla="val 4364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FC14EE6-8348-4684-B302-8E039A87B332}"/>
              </a:ext>
            </a:extLst>
          </p:cNvPr>
          <p:cNvSpPr>
            <a:spLocks noGrp="1"/>
          </p:cNvSpPr>
          <p:nvPr/>
        </p:nvSpPr>
        <p:spPr>
          <a:xfrm>
            <a:off x="3695700" y="2505075"/>
            <a:ext cx="23145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SHADOW RESTANTE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FFF5E1-71F7-4489-A725-0CBD948C9417}"/>
              </a:ext>
            </a:extLst>
          </p:cNvPr>
          <p:cNvSpPr>
            <a:spLocks noGrp="1"/>
          </p:cNvSpPr>
          <p:nvPr/>
        </p:nvSpPr>
        <p:spPr>
          <a:xfrm>
            <a:off x="3695700" y="2838450"/>
            <a:ext cx="2314575" cy="2114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SL-5 Event wake-ups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SL-6 Advisory authority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SL-7 Work Portfolio v1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SL-8 Visit evidence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SL-8b Transaction seam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Todas</a:t>
            </a: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NOT READY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A387D83-496F-4D58-87D4-B19015E887C4}"/>
              </a:ext>
            </a:extLst>
          </p:cNvPr>
          <p:cNvSpPr>
            <a:spLocks noGrp="1"/>
          </p:cNvSpPr>
          <p:nvPr/>
        </p:nvSpPr>
        <p:spPr>
          <a:xfrm>
            <a:off x="6353175" y="2714625"/>
            <a:ext cx="2333625" cy="2333625"/>
          </a:xfrm>
          <a:prstGeom prst="roundRect">
            <a:avLst>
              <a:gd name="adj" fmla="val 4898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D098259-C743-4747-926A-2CED0F416AEB}"/>
              </a:ext>
            </a:extLst>
          </p:cNvPr>
          <p:cNvSpPr>
            <a:spLocks noGrp="1"/>
          </p:cNvSpPr>
          <p:nvPr/>
        </p:nvSpPr>
        <p:spPr>
          <a:xfrm>
            <a:off x="6505575" y="2838450"/>
            <a:ext cx="20288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EFECTOS ASISTIDOS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AB6393E-9771-4B71-9DA3-4C0CF9CE9F6F}"/>
              </a:ext>
            </a:extLst>
          </p:cNvPr>
          <p:cNvSpPr>
            <a:spLocks noGrp="1"/>
          </p:cNvSpPr>
          <p:nvPr/>
        </p:nvSpPr>
        <p:spPr>
          <a:xfrm>
            <a:off x="6505575" y="3171825"/>
            <a:ext cx="2028825" cy="1781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SL-9 Message effects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SL-10 Appointment effects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Preparar</a:t>
            </a: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+ </a:t>
            </a: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aprobación</a:t>
            </a: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para </a:t>
            </a: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cada</a:t>
            </a: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efecto</a:t>
            </a:r>
            <a:endParaRPr sz="1125" b="0" i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Ambas NOT READY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79AD90C-2A47-424E-A7BD-2AD0C71F5946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667000" cy="2000250"/>
          </a:xfrm>
          <a:prstGeom prst="roundRect">
            <a:avLst>
              <a:gd name="adj" fmla="val 5714"/>
            </a:avLst>
          </a:prstGeom>
          <a:solidFill>
            <a:srgbClr val="E7ECFB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AE3BF94-E1A1-4FEA-8CE6-0B0F5EAE9225}"/>
              </a:ext>
            </a:extLst>
          </p:cNvPr>
          <p:cNvSpPr>
            <a:spLocks noGrp="1"/>
          </p:cNvSpPr>
          <p:nvPr/>
        </p:nvSpPr>
        <p:spPr>
          <a:xfrm>
            <a:off x="9029700" y="31718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 i="0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866C6"/>
                </a:solidFill>
                <a:latin typeface="Aptos"/>
                <a:ea typeface="Aptos"/>
                <a:cs typeface="Aptos"/>
              </a:rPr>
              <a:t>LIVE SELECTIVO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827ACAF-AFCB-4876-A72E-398483BA6396}"/>
              </a:ext>
            </a:extLst>
          </p:cNvPr>
          <p:cNvSpPr>
            <a:spLocks noGrp="1"/>
          </p:cNvSpPr>
          <p:nvPr/>
        </p:nvSpPr>
        <p:spPr>
          <a:xfrm>
            <a:off x="9029700" y="3505200"/>
            <a:ext cx="2362200" cy="1447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SL-11 Authority transfer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SL-12 Contextual portfolio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SL-13 Economics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25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Todas</a:t>
            </a:r>
            <a:r>
              <a:rPr sz="1125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NOT READY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AC0491D0-D5D3-4637-9BF3-848526FF8425}"/>
              </a:ext>
            </a:extLst>
          </p:cNvPr>
          <p:cNvSpPr>
            <a:spLocks noGrp="1"/>
          </p:cNvSpPr>
          <p:nvPr/>
        </p:nvSpPr>
        <p:spPr>
          <a:xfrm flipV="1">
            <a:off x="3352800" y="3648456"/>
            <a:ext cx="190500" cy="0"/>
          </a:xfrm>
          <a:prstGeom prst="line">
            <a:avLst/>
          </a:prstGeom>
          <a:noFill/>
          <a:ln w="1905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54189350-4074-4F60-AA11-3AE190341471}"/>
              </a:ext>
            </a:extLst>
          </p:cNvPr>
          <p:cNvSpPr>
            <a:spLocks noGrp="1"/>
          </p:cNvSpPr>
          <p:nvPr/>
        </p:nvSpPr>
        <p:spPr>
          <a:xfrm>
            <a:off x="6162675" y="3762375"/>
            <a:ext cx="190500" cy="0"/>
          </a:xfrm>
          <a:prstGeom prst="line">
            <a:avLst/>
          </a:prstGeom>
          <a:noFill/>
          <a:ln w="1905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6376B4BE-D8C5-43E3-8397-09339C4C1DED}"/>
              </a:ext>
            </a:extLst>
          </p:cNvPr>
          <p:cNvSpPr>
            <a:spLocks noGrp="1"/>
          </p:cNvSpPr>
          <p:nvPr/>
        </p:nvSpPr>
        <p:spPr>
          <a:xfrm>
            <a:off x="8686800" y="3905250"/>
            <a:ext cx="190500" cy="0"/>
          </a:xfrm>
          <a:prstGeom prst="line">
            <a:avLst/>
          </a:prstGeom>
          <a:noFill/>
          <a:ln w="1905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06C4E89-6AEB-43D3-937E-8B7AC000EBAE}"/>
              </a:ext>
            </a:extLst>
          </p:cNvPr>
          <p:cNvSpPr>
            <a:spLocks noGrp="1"/>
          </p:cNvSpPr>
          <p:nvPr/>
        </p:nvSpPr>
        <p:spPr>
          <a:xfrm>
            <a:off x="495300" y="5286375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buNone/>
              <a:defRPr sz="1050" b="1" i="0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HORIZONTE READY DELGADO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9492B25-E695-4D7D-A284-6EC7FDB06C9C}"/>
              </a:ext>
            </a:extLst>
          </p:cNvPr>
          <p:cNvSpPr>
            <a:spLocks noGrp="1"/>
          </p:cNvSpPr>
          <p:nvPr/>
        </p:nvSpPr>
        <p:spPr>
          <a:xfrm>
            <a:off x="2686050" y="5257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125" b="1" i="0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Bloqueos</a:t>
            </a:r>
            <a:r>
              <a:rPr sz="1125" b="1" i="0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1" i="0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externos</a:t>
            </a:r>
            <a:r>
              <a:rPr sz="1125" b="1" i="0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: C1, C2, C3, C6 y C7. SL-7 </a:t>
            </a:r>
            <a:r>
              <a:rPr sz="1125" b="1" i="0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espera</a:t>
            </a:r>
            <a:r>
              <a:rPr sz="1125" b="1" i="0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Q5: hosted runtime / Release Scope.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3F878FA-CF85-445A-A0C6-B53481B653D3}"/>
              </a:ext>
            </a:extLst>
          </p:cNvPr>
          <p:cNvSpPr>
            <a:spLocks noGrp="1"/>
          </p:cNvSpPr>
          <p:nvPr/>
        </p:nvSpPr>
        <p:spPr>
          <a:xfrm>
            <a:off x="495300" y="5924550"/>
            <a:ext cx="11049000" cy="342900"/>
          </a:xfrm>
          <a:prstGeom prst="roundRect">
            <a:avLst>
              <a:gd name="adj" fmla="val 25000"/>
            </a:avLst>
          </a:prstGeom>
          <a:solidFill>
            <a:srgbClr val="1F1B30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AA5B0CF-A767-4786-B8CC-273D0659FB41}"/>
              </a:ext>
            </a:extLst>
          </p:cNvPr>
          <p:cNvSpPr>
            <a:spLocks noGrp="1"/>
          </p:cNvSpPr>
          <p:nvPr/>
        </p:nvSpPr>
        <p:spPr>
          <a:xfrm>
            <a:off x="685800" y="5971254"/>
            <a:ext cx="10668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Corte 7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SL-0…SL-3 Done. SL-4 es la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única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READY. Sigue fuera de un Cycle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confirmado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y sin DRI.</a:t>
            </a:r>
          </a:p>
        </p:txBody>
      </p:sp>
    </p:spTree>
    <p:extLst>
      <p:ext uri="{BB962C8B-B14F-4D97-AF65-F5344CB8AC3E}">
        <p14:creationId xmlns:p14="http://schemas.microsoft.com/office/powerpoint/2010/main" val="2895443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DABC4C3C-1652-4A14-8B65-2A4F2FB37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8CBE6D8-1674-4C79-A492-7EFA094EE34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buNone/>
              <a:defRPr sz="1050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R1 · SEGURIDAD DE MIGRACIÓN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80898D-DC0A-4DBE-8FAF-359A172342BD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2400" b="1" i="0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F1B30"/>
                </a:solidFill>
                <a:latin typeface="Aptos"/>
                <a:ea typeface="Aptos"/>
                <a:cs typeface="Aptos"/>
              </a:rPr>
              <a:t>R1 separa cuatro autoridades durante la migración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155924-0294-420D-8D95-56DD2A31BFF3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105727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35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Crear un Case no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transfiere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por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sí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mismo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runtime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ni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efectos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hacia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el </a:t>
            </a:r>
            <a:r>
              <a:rPr sz="14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prospecto</a:t>
            </a:r>
            <a:r>
              <a:rPr sz="14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9781071-24C2-4D59-9309-2019A65EA3A2}"/>
              </a:ext>
            </a:extLst>
          </p:cNvPr>
          <p:cNvSpPr>
            <a:spLocks noGrp="1"/>
          </p:cNvSpPr>
          <p:nvPr/>
        </p:nvSpPr>
        <p:spPr>
          <a:xfrm>
            <a:off x="2571750" y="371475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8F8D229-4A35-4DD1-BC34-B37FA5777B67}"/>
              </a:ext>
            </a:extLst>
          </p:cNvPr>
          <p:cNvSpPr>
            <a:spLocks noGrp="1"/>
          </p:cNvSpPr>
          <p:nvPr/>
        </p:nvSpPr>
        <p:spPr>
          <a:xfrm>
            <a:off x="2647950" y="419714"/>
            <a:ext cx="1466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MX"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· POR ETAPAS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6EB09C9-A3BE-46CD-B2A8-844C677F6FEC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5833" lnSpcReduction="10000"/>
          </a:bodyPr>
          <a:lstStyle/>
          <a:p>
            <a:pPr>
              <a:buNone/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B456CF-0408-4031-B45D-5DC616DBD002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5833" lnSpcReduction="10000"/>
          </a:bodyPr>
          <a:lstStyle/>
          <a:p>
            <a:pPr>
              <a:buNone/>
              <a:defRPr sz="6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4C7EDDE-6330-4BB3-8F3A-59AF5ED50AEC}"/>
              </a:ext>
            </a:extLst>
          </p:cNvPr>
          <p:cNvSpPr>
            <a:spLocks noGrp="1"/>
          </p:cNvSpPr>
          <p:nvPr/>
        </p:nvSpPr>
        <p:spPr>
          <a:xfrm>
            <a:off x="619125" y="1992568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3F5ED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36B067-D901-4770-B974-C320DC00A5F4}"/>
              </a:ext>
            </a:extLst>
          </p:cNvPr>
          <p:cNvSpPr>
            <a:spLocks noGrp="1"/>
          </p:cNvSpPr>
          <p:nvPr/>
        </p:nvSpPr>
        <p:spPr>
          <a:xfrm>
            <a:off x="771525" y="2116393"/>
            <a:ext cx="3028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75" b="1" i="0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9566"/>
                </a:solidFill>
                <a:latin typeface="Aptos"/>
                <a:ea typeface="Aptos"/>
                <a:cs typeface="Aptos"/>
              </a:rPr>
              <a:t>SHADOW · SL-0…SL-8b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EACD663-6C28-41AD-8ACE-35EA948FE32F}"/>
              </a:ext>
            </a:extLst>
          </p:cNvPr>
          <p:cNvSpPr>
            <a:spLocks noGrp="1"/>
          </p:cNvSpPr>
          <p:nvPr/>
        </p:nvSpPr>
        <p:spPr>
          <a:xfrm>
            <a:off x="771525" y="2449768"/>
            <a:ext cx="302895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Gu OS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crea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Cases, lee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evalúa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decisiones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00" b="0" i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Ningún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efecto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cara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al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prospecto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es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alcanzable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  <a:p>
            <a:endParaRPr sz="1200" b="0" i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Compara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contra Traditional Gu y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construye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replay.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8A885E7-2D59-492D-9750-F6655338E9EF}"/>
              </a:ext>
            </a:extLst>
          </p:cNvPr>
          <p:cNvSpPr>
            <a:spLocks noGrp="1"/>
          </p:cNvSpPr>
          <p:nvPr/>
        </p:nvSpPr>
        <p:spPr>
          <a:xfrm>
            <a:off x="4429125" y="1992568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FFF0D7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6F3955-14D2-40FF-9A4C-8B20082FF5D6}"/>
              </a:ext>
            </a:extLst>
          </p:cNvPr>
          <p:cNvSpPr>
            <a:spLocks noGrp="1"/>
          </p:cNvSpPr>
          <p:nvPr/>
        </p:nvSpPr>
        <p:spPr>
          <a:xfrm>
            <a:off x="4581525" y="2116393"/>
            <a:ext cx="3028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75" b="1" i="0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39A24"/>
                </a:solidFill>
                <a:latin typeface="Aptos"/>
                <a:ea typeface="Aptos"/>
                <a:cs typeface="Aptos"/>
              </a:rPr>
              <a:t>ASISTIDO · SL-9…SL-10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E758823-C520-4BE3-AC1F-FFA6A5D80EA6}"/>
              </a:ext>
            </a:extLst>
          </p:cNvPr>
          <p:cNvSpPr>
            <a:spLocks noGrp="1"/>
          </p:cNvSpPr>
          <p:nvPr/>
        </p:nvSpPr>
        <p:spPr>
          <a:xfrm>
            <a:off x="4581525" y="2449768"/>
            <a:ext cx="302895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Gu OS prepara efectos acotados de mensaje o appointment.</a:t>
            </a:r>
          </a:p>
          <a:p>
            <a:endParaRPr sz="1200" b="0" i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Cada efecto requiere preparación + aprobación de un humano autorizado.</a:t>
            </a:r>
          </a:p>
          <a:p>
            <a:endParaRPr sz="1200" b="0" i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Resultado del proveedor y outcome posterior siguen siendo evidencia distinta.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FF46DC45-7768-4D64-83E7-98CD100266B1}"/>
              </a:ext>
            </a:extLst>
          </p:cNvPr>
          <p:cNvSpPr>
            <a:spLocks noGrp="1"/>
          </p:cNvSpPr>
          <p:nvPr/>
        </p:nvSpPr>
        <p:spPr>
          <a:xfrm>
            <a:off x="8239125" y="1992568"/>
            <a:ext cx="3333750" cy="2857500"/>
          </a:xfrm>
          <a:prstGeom prst="roundRect">
            <a:avLst>
              <a:gd name="adj" fmla="val 4000"/>
            </a:avLst>
          </a:prstGeom>
          <a:solidFill>
            <a:srgbClr val="EEE8FF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2992E9D-8B3D-4C00-8F12-66D1403C9F92}"/>
              </a:ext>
            </a:extLst>
          </p:cNvPr>
          <p:cNvSpPr>
            <a:spLocks noGrp="1"/>
          </p:cNvSpPr>
          <p:nvPr/>
        </p:nvSpPr>
        <p:spPr>
          <a:xfrm>
            <a:off x="8391525" y="2116393"/>
            <a:ext cx="30289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75" b="1" i="0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5C2DD2"/>
                </a:solidFill>
                <a:latin typeface="Aptos"/>
                <a:ea typeface="Aptos"/>
                <a:cs typeface="Aptos"/>
              </a:rPr>
              <a:t>LIVE SELECTIVO · SL-11+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E4348AB-5F54-413B-B1A7-EA18ECC02AB2}"/>
              </a:ext>
            </a:extLst>
          </p:cNvPr>
          <p:cNvSpPr>
            <a:spLocks noGrp="1"/>
          </p:cNvSpPr>
          <p:nvPr/>
        </p:nvSpPr>
        <p:spPr>
          <a:xfrm>
            <a:off x="8391525" y="2449768"/>
            <a:ext cx="302895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Cada Opportunity transfiere runtime authority de forma explícita. El resolver la verifica antes de cada efecto.</a:t>
            </a:r>
          </a:p>
          <a:p>
            <a:endParaRPr sz="1200" b="0" i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Human takeover suprime la voz de Gu mientras el Case continúa.</a:t>
            </a:r>
          </a:p>
          <a:p>
            <a:endParaRPr sz="1200" b="0" i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buNone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Flags, canary, rollback y evidencia de outcome controlan la ampliación.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4050A92-3EDA-454F-BB72-D556ECD2AF1A}"/>
              </a:ext>
            </a:extLst>
          </p:cNvPr>
          <p:cNvSpPr>
            <a:spLocks noGrp="1"/>
          </p:cNvSpPr>
          <p:nvPr/>
        </p:nvSpPr>
        <p:spPr>
          <a:xfrm>
            <a:off x="619125" y="5135818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A76C954-6D39-4CB5-8CC3-5D1ABC157486}"/>
              </a:ext>
            </a:extLst>
          </p:cNvPr>
          <p:cNvSpPr>
            <a:spLocks noGrp="1"/>
          </p:cNvSpPr>
          <p:nvPr/>
        </p:nvSpPr>
        <p:spPr>
          <a:xfrm>
            <a:off x="695325" y="5164393"/>
            <a:ext cx="23717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RESPONSABILIDAD DURABLE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E939DC2-8243-4C95-8EB7-D84284256B94}"/>
              </a:ext>
            </a:extLst>
          </p:cNvPr>
          <p:cNvSpPr>
            <a:spLocks noGrp="1"/>
          </p:cNvSpPr>
          <p:nvPr/>
        </p:nvSpPr>
        <p:spPr>
          <a:xfrm>
            <a:off x="619125" y="5469193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</a:t>
            </a:r>
            <a:r>
              <a:rPr sz="10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Qué</a:t>
            </a:r>
            <a:r>
              <a:rPr sz="10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Case </a:t>
            </a:r>
            <a:r>
              <a:rPr sz="10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conserva</a:t>
            </a:r>
            <a:r>
              <a:rPr sz="10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el </a:t>
            </a:r>
            <a:r>
              <a:rPr sz="10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0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099921E-A6CA-425A-9C3B-8F59B96B81FE}"/>
              </a:ext>
            </a:extLst>
          </p:cNvPr>
          <p:cNvSpPr>
            <a:spLocks noGrp="1"/>
          </p:cNvSpPr>
          <p:nvPr/>
        </p:nvSpPr>
        <p:spPr>
          <a:xfrm>
            <a:off x="3381375" y="5135818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952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99D0E2-A2A4-443D-BF10-0BA7907241C6}"/>
              </a:ext>
            </a:extLst>
          </p:cNvPr>
          <p:cNvSpPr>
            <a:spLocks noGrp="1"/>
          </p:cNvSpPr>
          <p:nvPr/>
        </p:nvSpPr>
        <p:spPr>
          <a:xfrm>
            <a:off x="3457575" y="5164393"/>
            <a:ext cx="23717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 DE DECISIÓN RUNTIME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A2D7BAE-9429-4EFC-A3DD-54E5FCEB326B}"/>
              </a:ext>
            </a:extLst>
          </p:cNvPr>
          <p:cNvSpPr>
            <a:spLocks noGrp="1"/>
          </p:cNvSpPr>
          <p:nvPr/>
        </p:nvSpPr>
        <p:spPr>
          <a:xfrm>
            <a:off x="3381375" y="5469193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¿Qué runtime decide este trabajo?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038E209-8871-445A-92FC-B9FD30A82FA1}"/>
              </a:ext>
            </a:extLst>
          </p:cNvPr>
          <p:cNvSpPr>
            <a:spLocks noGrp="1"/>
          </p:cNvSpPr>
          <p:nvPr/>
        </p:nvSpPr>
        <p:spPr>
          <a:xfrm>
            <a:off x="6143625" y="5135818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9525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ABC6F80-6373-4BEB-94C3-EB06C9A98F09}"/>
              </a:ext>
            </a:extLst>
          </p:cNvPr>
          <p:cNvSpPr>
            <a:spLocks noGrp="1"/>
          </p:cNvSpPr>
          <p:nvPr/>
        </p:nvSpPr>
        <p:spPr>
          <a:xfrm>
            <a:off x="6219825" y="5164393"/>
            <a:ext cx="23717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 DE CONVERSACIÓN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162109C-C854-438F-A078-302A96F35592}"/>
              </a:ext>
            </a:extLst>
          </p:cNvPr>
          <p:cNvSpPr>
            <a:spLocks noGrp="1"/>
          </p:cNvSpPr>
          <p:nvPr/>
        </p:nvSpPr>
        <p:spPr>
          <a:xfrm>
            <a:off x="6143625" y="5469193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¿Quién puede hablar ahora?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E5E3AC04-EB61-4B55-B349-FCE5F51C0C83}"/>
              </a:ext>
            </a:extLst>
          </p:cNvPr>
          <p:cNvSpPr>
            <a:spLocks noGrp="1"/>
          </p:cNvSpPr>
          <p:nvPr/>
        </p:nvSpPr>
        <p:spPr>
          <a:xfrm>
            <a:off x="8905875" y="5135818"/>
            <a:ext cx="2524125" cy="266700"/>
          </a:xfrm>
          <a:prstGeom prst="roundRect">
            <a:avLst>
              <a:gd name="adj" fmla="val 50000"/>
            </a:avLst>
          </a:prstGeom>
          <a:solidFill>
            <a:srgbClr val="4866C6"/>
          </a:solidFill>
          <a:ln w="9525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1B02A43-5B25-4595-8323-A5681A6BB784}"/>
              </a:ext>
            </a:extLst>
          </p:cNvPr>
          <p:cNvSpPr>
            <a:spLocks noGrp="1"/>
          </p:cNvSpPr>
          <p:nvPr/>
        </p:nvSpPr>
        <p:spPr>
          <a:xfrm>
            <a:off x="8982075" y="5164393"/>
            <a:ext cx="23717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 DE APROBACIÓN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A2BCB8D-F4C3-4CBE-AEFA-E93198515F36}"/>
              </a:ext>
            </a:extLst>
          </p:cNvPr>
          <p:cNvSpPr>
            <a:spLocks noGrp="1"/>
          </p:cNvSpPr>
          <p:nvPr/>
        </p:nvSpPr>
        <p:spPr>
          <a:xfrm>
            <a:off x="8905875" y="5469193"/>
            <a:ext cx="2524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i="0">
                <a:solidFill>
                  <a:srgbClr val="756F91"/>
                </a:solidFill>
                <a:latin typeface="Aptos"/>
                <a:ea typeface="Aptos"/>
                <a:cs typeface="Aptos"/>
              </a:rPr>
              <a:t>¿Quién puede aprobar el efecto?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EBF19EF6-6346-4244-B11D-455ED22F15DA}"/>
              </a:ext>
            </a:extLst>
          </p:cNvPr>
          <p:cNvSpPr>
            <a:spLocks noGrp="1"/>
          </p:cNvSpPr>
          <p:nvPr/>
        </p:nvSpPr>
        <p:spPr>
          <a:xfrm>
            <a:off x="1857375" y="6096000"/>
            <a:ext cx="8477250" cy="304800"/>
          </a:xfrm>
          <a:prstGeom prst="roundRect">
            <a:avLst>
              <a:gd name="adj" fmla="val 28125"/>
            </a:avLst>
          </a:prstGeom>
          <a:solidFill>
            <a:srgbClr val="1F1B30"/>
          </a:solidFill>
          <a:ln w="9525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77DAAD9-A16E-4896-93D8-17706A7D1A96}"/>
              </a:ext>
            </a:extLst>
          </p:cNvPr>
          <p:cNvSpPr>
            <a:spLocks noGrp="1"/>
          </p:cNvSpPr>
          <p:nvPr/>
        </p:nvSpPr>
        <p:spPr>
          <a:xfrm>
            <a:off x="2047875" y="6103682"/>
            <a:ext cx="8096250" cy="28575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buNone/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Invariante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Legacy y Gu OS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nunca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deciden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en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paralelo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sobre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el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mismo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alcance</a:t>
            </a:r>
            <a:r>
              <a:rPr sz="12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9328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D5F80151-20F7-4336-A75B-6DED6AC650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8785DACC-BE8D-4364-80DF-64DC2E18A831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CURRENT → TARGET → VISION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6D403B3F-3AA0-4CB4-BC79-0560864E2E87}"/>
              </a:ext>
            </a:extLst>
          </p:cNvPr>
          <p:cNvSpPr>
            <a:spLocks noGrp="1"/>
          </p:cNvSpPr>
          <p:nvPr/>
        </p:nvSpPr>
        <p:spPr>
          <a:xfrm>
            <a:off x="567000" y="650597"/>
            <a:ext cx="10195200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768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repo actual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contiene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foundations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blueprint histórico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trataba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como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2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futuras</a:t>
            </a:r>
            <a:r>
              <a:rPr sz="22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1B361237-EA2A-452F-B9CF-E83D3BBCA32C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tabla resume responsabilidad, no sustituye la evidencia de código, ADRs, specs y roadmap.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0E53BDB3-6FAD-4F33-A250-FF7D9AD11D2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76D56528-347E-49EF-9C82-5A846433147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834F72C6-EE71-4B0D-A355-5E0D358C118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B05FD1CE-B217-4D54-B83B-FDC0470240D3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6B7A3C11-93D6-4C7A-AA51-A23D712FCBD9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Subsistema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097B2517-4B4A-4D70-B99A-C6728C942573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BC694FD8-00D2-4FEB-B501-6D8970EEC490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E557ADEF-1C8B-4516-8B33-57A6ED429D0C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CF86ECEE-A637-4007-AC17-B74ECD4CDE41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8EF020D7-E999-4AB0-A052-AB09D8B4268F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A746357C-23E7-4B16-B1CB-B28FD9B4250C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4B178656-C8C8-4200-ABEF-1A618497AED0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524185E9-627F-4B6E-A103-28CA274B4EE1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Operational roots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42CA9811-C13D-4898-8790-CEDEADC10AB0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3ABBBFAD-12C3-4A77-9CF5-1A2A83B0C94D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 + Work/Impact Planes + Durable Task runtime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2C9D0454-7CE5-4DCB-A90B-3E495D222766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26D45E33-E73F-4E34-8163-40140076E2C2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Supervisión y workflows flexibles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67149420-5B7E-4F4F-A607-40B0635A7836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D0274DA0-2315-4184-8FCB-0E874BE2783F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Responsabilidades cross-domain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9A029766-2DDA-426F-BCEE-9A2D3B7D8623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BAFBE73F-658A-4C8C-A3DC-BB5F60868997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5228B458-FD30-417A-ADFC-CAE6C35F60E5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ACAAFBF4-6985-4433-8B78-64D717B41F3F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schema, bindings y RLS; runtime parcial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218CBAED-B80A-4328-8797-89F77F2E697B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B686484F-7434-4A6C-8DC9-77AB344F57A0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Scopes/authority/knowledge más profundos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33586482-7BD4-4BAA-854A-D7FAB9A600E1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2F66C91A-61A3-4CC2-AEA7-6C74C742F72F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multi-org gobernada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4F0AD46F-7547-42B4-9FD5-995140418682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45C35739-2E7B-4547-B37A-A9D9F6D311FE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Experience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92A9ED9A-8B81-4B94-A8D8-C819EE6D52C9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ED7CB0C7-F212-4473-BEBC-5C504977B7FF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Chat, Studio, notifications y vistas existentes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E938C31A-D2EE-4443-88B8-52B83223E1A6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9B986AC4-D4F6-4E14-91C0-FFDE9B0BE5DD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cross-channel aprobada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493583ED-FE34-4E27-8B16-317519BE5CD3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E21500AB-B61A-4393-B75C-D7368957EEAA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Un Gu, </a:t>
            </a:r>
            <a:r>
              <a:rPr sz="13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cualquier</a:t>
            </a:r>
            <a:r>
              <a:rPr sz="13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3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superficie</a:t>
            </a:r>
            <a:endParaRPr sz="13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EF653297-8466-4645-A738-3AB52DB945A5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A1319E94-9567-4FF4-B240-43D38E12E9F5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Brain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85B075EC-0A5B-43BE-B252-6763C6A38A1C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3C639751-C0D9-4676-A2AA-892516808090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Personal memory + account context; broad Brain target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136F659A-BCFC-4EF6-911F-345D8E68ED0E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231E503D-92F1-403C-A27D-9A0055D762BF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compilado y conocimiento organizacional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F8EA5453-8DF3-4FC5-8243-5255071D2B7F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18527E10-40F8-473A-9094-73B3BF2D4159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C2DEAB30-7668-4505-A3FD-2A680F9EF974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9E9D6500-7360-4F7D-BF5A-700D04AB1C86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Capabilities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3860499E-D924-4869-B594-8B7BC62FCEE0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5804A5D2-081C-446A-8591-32DB262BF3D1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Skills/tools/workers/executor modes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707B908F-A420-4B42-B83A-F3CBFBC118E6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7CDB8FE8-4AFE-4552-B2C1-95555BFA23C1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Selección, fallback y policies reutilizables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1DFFC778-C8D5-466A-B6ED-CB4CE961FBF3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6F459401-1548-442F-AF59-FBD483AEE6D0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Ecosistema sustituible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0045D20E-512A-4061-9B57-0CD4E8B858BC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52F33E52-9D11-419F-9D31-B7010885A4DB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Cuando el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estado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cambie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,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debe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cambiar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primero la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canónica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—luego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esta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capa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u="none" dirty="0" err="1">
                <a:solidFill>
                  <a:srgbClr val="5F2CCB"/>
                </a:solidFill>
                <a:latin typeface="Aptos"/>
                <a:ea typeface="Aptos"/>
                <a:cs typeface="Aptos"/>
              </a:rPr>
              <a:t>explicativa</a:t>
            </a: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Roadmap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3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R0 closure; R1 SL-0…SL-3 Done y SL-4 READY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supervisor loop; horizon bloqueado detrás por contracts/Q5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R2+ expansión y loops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Evidence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Migrations 00069–00084 + código/specs/ADRs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Validación de producto y operación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Resultados acumulativos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182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62A7664-79DA-468A-A0F8-DE5D3402E4B9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6711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Arquitectura es responsabilidad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hecha explícita.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5DC414-56D6-4149-B1EC-32E03F2131FD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9285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D8CFEA"/>
                </a:solidFill>
                <a:latin typeface="Inter"/>
                <a:ea typeface="Inter"/>
                <a:cs typeface="Inter"/>
              </a:rPr>
              <a:t>Current se demuestra. Target se aprueba. Vision orienta.</a:t>
            </a:r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6DB901A-BB01-4C6C-B2DA-05291CE8760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844E025A-983C-6D44-79C6-4612AACD43FC}" type="slidenum">
              <a:rPr/>
              <a:t>23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1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9822</Words>
  <Application>Microsoft Office PowerPoint</Application>
  <DocSecurity>0</DocSecurity>
  <PresentationFormat>Panorámica</PresentationFormat>
  <Paragraphs>844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19</cp:revision>
  <dcterms:created xsi:type="dcterms:W3CDTF">2026-09-08T13:16:08Z</dcterms:created>
  <dcterms:modified xsi:type="dcterms:W3CDTF">2026-09-11T21:25:49Z</dcterms:modified>
</cp:coreProperties>
</file>