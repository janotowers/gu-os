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88" r:id="rId4"/>
    <p:sldId id="285" r:id="rId5"/>
    <p:sldId id="286" r:id="rId6"/>
    <p:sldId id="287" r:id="rId7"/>
    <p:sldId id="258" r:id="rId8"/>
    <p:sldId id="281" r:id="rId9"/>
    <p:sldId id="259" r:id="rId10"/>
    <p:sldId id="282" r:id="rId11"/>
    <p:sldId id="275" r:id="rId12"/>
    <p:sldId id="276" r:id="rId13"/>
    <p:sldId id="260" r:id="rId14"/>
    <p:sldId id="261" r:id="rId15"/>
    <p:sldId id="262" r:id="rId16"/>
    <p:sldId id="263" r:id="rId17"/>
    <p:sldId id="264" r:id="rId18"/>
    <p:sldId id="283" r:id="rId19"/>
    <p:sldId id="278" r:id="rId20"/>
    <p:sldId id="265" r:id="rId21"/>
    <p:sldId id="266" r:id="rId22"/>
    <p:sldId id="267" r:id="rId23"/>
    <p:sldId id="268" r:id="rId24"/>
    <p:sldId id="269" r:id="rId25"/>
    <p:sldId id="284" r:id="rId26"/>
    <p:sldId id="270" r:id="rId27"/>
    <p:sldId id="271" r:id="rId28"/>
    <p:sldId id="272" r:id="rId29"/>
    <p:sldId id="273" r:id="rId3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8497C"/>
    <a:srgbClr val="F709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416" autoAdjust="0"/>
  </p:normalViewPr>
  <p:slideViewPr>
    <p:cSldViewPr snapToGrid="0">
      <p:cViewPr>
        <p:scale>
          <a:sx n="90" d="100"/>
          <a:sy n="90" d="100"/>
        </p:scale>
        <p:origin x="556" y="-32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sz="2000" b="1" dirty="0"/>
              <a:t>Vocabulario consistente recomendado</a:t>
            </a:r>
          </a:p>
          <a:p>
            <a:pPr marL="342900" indent="-342900">
              <a:buFont typeface="Arial" panose="020B0604020202020204" pitchFamily="34" charset="0"/>
              <a:buChar char="•"/>
            </a:pPr>
            <a:r>
              <a:rPr lang="es-MX" sz="2000" dirty="0"/>
              <a:t>Interacción: Mensaje, </a:t>
            </a:r>
            <a:r>
              <a:rPr lang="es-MX" sz="2000" dirty="0" err="1"/>
              <a:t>click</a:t>
            </a:r>
            <a:r>
              <a:rPr lang="es-MX" sz="2000" dirty="0"/>
              <a:t>, evento, confirmación o </a:t>
            </a:r>
            <a:r>
              <a:rPr lang="es-MX" sz="2000" dirty="0" err="1"/>
              <a:t>trigger</a:t>
            </a:r>
            <a:r>
              <a:rPr lang="es-MX" sz="2000" dirty="0"/>
              <a:t> recibido por un canal.</a:t>
            </a:r>
          </a:p>
          <a:p>
            <a:pPr marL="342900" indent="-342900">
              <a:buFont typeface="Arial" panose="020B0604020202020204" pitchFamily="34" charset="0"/>
              <a:buChar char="•"/>
            </a:pPr>
            <a:r>
              <a:rPr lang="es-MX" sz="2000" dirty="0"/>
              <a:t>Turno conversacional: Procesamiento </a:t>
            </a:r>
            <a:r>
              <a:rPr lang="es-MX" sz="2000" dirty="0" err="1"/>
              <a:t>end-to-end</a:t>
            </a:r>
            <a:r>
              <a:rPr lang="es-MX" sz="2000" dirty="0"/>
              <a:t> de una interacción hasta producir respuesta, pausa o short-</a:t>
            </a:r>
            <a:r>
              <a:rPr lang="es-MX" sz="2000" dirty="0" err="1"/>
              <a:t>circuit</a:t>
            </a:r>
            <a:r>
              <a:rPr lang="es-MX" sz="2000" dirty="0"/>
              <a:t>. Puede terminar sin invocar al agente.</a:t>
            </a:r>
          </a:p>
          <a:p>
            <a:pPr marL="342900" indent="-342900">
              <a:buFont typeface="Arial" panose="020B0604020202020204" pitchFamily="34" charset="0"/>
              <a:buChar char="•"/>
            </a:pPr>
            <a:r>
              <a:rPr lang="es-MX" sz="2000" dirty="0" err="1"/>
              <a:t>Routing</a:t>
            </a:r>
            <a:r>
              <a:rPr lang="es-MX" sz="2000" dirty="0"/>
              <a:t> previo / gates: Mecanismos anteriores a </a:t>
            </a:r>
            <a:r>
              <a:rPr lang="es-MX" sz="1200" kern="1200" dirty="0" err="1"/>
              <a:t>runAgent</a:t>
            </a:r>
            <a:r>
              <a:rPr lang="es-MX" sz="2000" dirty="0"/>
              <a:t>: decisiones pendientes, </a:t>
            </a:r>
            <a:r>
              <a:rPr lang="es-MX" sz="2000" dirty="0" err="1"/>
              <a:t>intake</a:t>
            </a:r>
            <a:r>
              <a:rPr lang="es-MX" sz="2000" dirty="0"/>
              <a:t>, Case </a:t>
            </a:r>
            <a:r>
              <a:rPr lang="es-MX" sz="2000" dirty="0" err="1"/>
              <a:t>routing</a:t>
            </a:r>
            <a:r>
              <a:rPr lang="es-MX" sz="2000" dirty="0"/>
              <a:t>, </a:t>
            </a:r>
            <a:r>
              <a:rPr lang="es-MX" sz="2000" dirty="0" err="1"/>
              <a:t>decomposición</a:t>
            </a:r>
            <a:r>
              <a:rPr lang="es-MX" sz="2000" dirty="0"/>
              <a:t> conservadora, etc.</a:t>
            </a:r>
          </a:p>
          <a:p>
            <a:pPr marL="342900" indent="-342900">
              <a:buFont typeface="Arial" panose="020B0604020202020204" pitchFamily="34" charset="0"/>
              <a:buChar char="•"/>
            </a:pPr>
            <a:r>
              <a:rPr lang="es-MX" sz="2000" dirty="0"/>
              <a:t>Mensaje efectivo para el agente: Texto que queda después del </a:t>
            </a:r>
            <a:r>
              <a:rPr lang="es-MX" sz="2000" dirty="0" err="1"/>
              <a:t>routing</a:t>
            </a:r>
            <a:r>
              <a:rPr lang="es-MX" sz="2000" dirty="0"/>
              <a:t> previo: puede ser el mensaje original completo o solamente un residual.</a:t>
            </a:r>
          </a:p>
          <a:p>
            <a:pPr marL="342900" indent="-342900">
              <a:buFont typeface="Arial" panose="020B0604020202020204" pitchFamily="34" charset="0"/>
              <a:buChar char="•"/>
            </a:pPr>
            <a:r>
              <a:rPr lang="es-MX" sz="2000" dirty="0"/>
              <a:t>Agent </a:t>
            </a:r>
            <a:r>
              <a:rPr lang="es-MX" sz="2000" dirty="0" err="1"/>
              <a:t>Runtime</a:t>
            </a:r>
            <a:r>
              <a:rPr lang="es-MX" sz="2000" dirty="0"/>
              <a:t>: Subsistema que prepara y ejecuta una intervención </a:t>
            </a:r>
            <a:r>
              <a:rPr lang="es-MX" sz="2000" dirty="0" err="1"/>
              <a:t>agéntica</a:t>
            </a:r>
            <a:r>
              <a:rPr lang="es-MX" sz="2000" dirty="0"/>
              <a:t>. Incluye </a:t>
            </a:r>
            <a:r>
              <a:rPr lang="es-MX" sz="1200" kern="1200" dirty="0" err="1"/>
              <a:t>runAgent</a:t>
            </a:r>
            <a:r>
              <a:rPr lang="es-MX" sz="2000" dirty="0"/>
              <a:t>, </a:t>
            </a:r>
            <a:r>
              <a:rPr lang="es-MX" sz="2000" dirty="0" err="1"/>
              <a:t>StateGraph</a:t>
            </a:r>
            <a:r>
              <a:rPr lang="es-MX" sz="2000" dirty="0"/>
              <a:t> y sus dependencias de modelo, contexto, </a:t>
            </a:r>
            <a:r>
              <a:rPr lang="es-MX" sz="2000" dirty="0" err="1"/>
              <a:t>Skills</a:t>
            </a:r>
            <a:r>
              <a:rPr lang="es-MX" sz="2000" dirty="0"/>
              <a:t>, </a:t>
            </a:r>
            <a:r>
              <a:rPr lang="es-MX" sz="2000" dirty="0" err="1"/>
              <a:t>tools</a:t>
            </a:r>
            <a:r>
              <a:rPr lang="es-MX" sz="2000" dirty="0"/>
              <a:t>, </a:t>
            </a:r>
            <a:r>
              <a:rPr lang="es-MX" sz="2000" dirty="0" err="1"/>
              <a:t>policy</a:t>
            </a:r>
            <a:r>
              <a:rPr lang="es-MX" sz="2000" dirty="0"/>
              <a:t> y </a:t>
            </a:r>
            <a:r>
              <a:rPr lang="es-MX" sz="2000" dirty="0" err="1"/>
              <a:t>checkpointing</a:t>
            </a:r>
            <a:r>
              <a:rPr lang="es-MX" sz="2000" dirty="0"/>
              <a:t>.</a:t>
            </a:r>
          </a:p>
          <a:p>
            <a:pPr marL="342900" indent="-342900">
              <a:buFont typeface="Arial" panose="020B0604020202020204" pitchFamily="34" charset="0"/>
              <a:buChar char="•"/>
            </a:pPr>
            <a:r>
              <a:rPr lang="es-MX" sz="1200" kern="1200" dirty="0" err="1"/>
              <a:t>runAgent</a:t>
            </a:r>
            <a:r>
              <a:rPr lang="es-MX" sz="1200" kern="1200" dirty="0"/>
              <a:t>(...): </a:t>
            </a:r>
            <a:r>
              <a:rPr lang="es-MX" sz="2000" dirty="0" err="1"/>
              <a:t>Entrypoint</a:t>
            </a:r>
            <a:r>
              <a:rPr lang="es-MX" sz="2000" dirty="0"/>
              <a:t>/orquestador </a:t>
            </a:r>
            <a:r>
              <a:rPr lang="es-MX" sz="2000" dirty="0" err="1"/>
              <a:t>TypeScript</a:t>
            </a:r>
            <a:r>
              <a:rPr lang="es-MX" sz="2000" dirty="0"/>
              <a:t> del Agent </a:t>
            </a:r>
            <a:r>
              <a:rPr lang="es-MX" sz="2000" dirty="0" err="1"/>
              <a:t>Runtime</a:t>
            </a:r>
            <a:r>
              <a:rPr lang="es-MX" sz="2000" dirty="0"/>
              <a:t>. Prepara la ejecución e invoca o reanuda el grafo del agente (</a:t>
            </a:r>
            <a:r>
              <a:rPr lang="es-MX" sz="2000" dirty="0" err="1"/>
              <a:t>ie</a:t>
            </a:r>
            <a:r>
              <a:rPr lang="es-MX" sz="2000" dirty="0"/>
              <a:t>, el </a:t>
            </a:r>
            <a:r>
              <a:rPr lang="es-MX" sz="2000" dirty="0" err="1"/>
              <a:t>StateGraph</a:t>
            </a:r>
            <a:r>
              <a:rPr lang="es-MX" sz="2000" dirty="0"/>
              <a:t>).</a:t>
            </a:r>
          </a:p>
          <a:p>
            <a:pPr marL="342900" indent="-342900">
              <a:buFont typeface="Arial" panose="020B0604020202020204" pitchFamily="34" charset="0"/>
              <a:buChar char="•"/>
            </a:pPr>
            <a:r>
              <a:rPr lang="es-MX" sz="2000" dirty="0"/>
              <a:t>Ejecución del </a:t>
            </a:r>
            <a:r>
              <a:rPr lang="es-MX" sz="2000" dirty="0" err="1"/>
              <a:t>StateGraph</a:t>
            </a:r>
            <a:r>
              <a:rPr lang="es-MX" sz="2000" dirty="0"/>
              <a:t>: Una corrida o reanudación del grafo </a:t>
            </a:r>
            <a:r>
              <a:rPr lang="es-MX" sz="1200" kern="1200" dirty="0" err="1"/>
              <a:t>memory_injection</a:t>
            </a:r>
            <a:r>
              <a:rPr lang="es-MX" sz="1200" kern="1200" dirty="0"/>
              <a:t> → </a:t>
            </a:r>
            <a:r>
              <a:rPr lang="es-MX" sz="1200" kern="1200" dirty="0" err="1"/>
              <a:t>compaction</a:t>
            </a:r>
            <a:r>
              <a:rPr lang="es-MX" sz="1200" kern="1200" dirty="0"/>
              <a:t> → </a:t>
            </a:r>
            <a:r>
              <a:rPr lang="es-MX" sz="1200" kern="1200" dirty="0" err="1"/>
              <a:t>agent</a:t>
            </a:r>
            <a:r>
              <a:rPr lang="es-MX" sz="1200" kern="1200" dirty="0"/>
              <a:t> ↔ </a:t>
            </a:r>
            <a:r>
              <a:rPr lang="es-MX" sz="1200" kern="1200" dirty="0" err="1"/>
              <a:t>tools</a:t>
            </a:r>
            <a:r>
              <a:rPr lang="es-MX" sz="2000" dirty="0"/>
              <a:t>.</a:t>
            </a:r>
          </a:p>
          <a:p>
            <a:pPr marL="342900" indent="-342900">
              <a:buFont typeface="Arial" panose="020B0604020202020204" pitchFamily="34" charset="0"/>
              <a:buChar char="•"/>
            </a:pPr>
            <a:r>
              <a:rPr lang="es-MX" sz="2000" dirty="0"/>
              <a:t>Llamada de modelo/</a:t>
            </a:r>
            <a:r>
              <a:rPr lang="es-MX" sz="2000" dirty="0" err="1"/>
              <a:t>tool</a:t>
            </a:r>
            <a:r>
              <a:rPr lang="es-MX" sz="2000" dirty="0"/>
              <a:t>: Operación interna. Una ejecución del </a:t>
            </a:r>
            <a:r>
              <a:rPr lang="es-MX" sz="2000" dirty="0" err="1"/>
              <a:t>StateGraph</a:t>
            </a:r>
            <a:r>
              <a:rPr lang="es-MX" sz="2000" dirty="0"/>
              <a:t> podría contener varias llamadas.</a:t>
            </a:r>
          </a:p>
          <a:p>
            <a:pPr indent="0">
              <a:buNone/>
            </a:pPr>
            <a:endParaRPr lang="es-MX" sz="2000" b="0" u="none" dirty="0">
              <a:solidFill>
                <a:srgbClr val="000000"/>
              </a:solidFill>
              <a:latin typeface="Arial"/>
              <a:ea typeface="Arial"/>
              <a:cs typeface="Arial"/>
            </a:endParaRPr>
          </a:p>
          <a:p>
            <a:pPr indent="0">
              <a:buNone/>
            </a:pPr>
            <a:r>
              <a:rPr sz="2000" b="0" u="none" dirty="0">
                <a:solidFill>
                  <a:srgbClr val="000000"/>
                </a:solidFill>
                <a:latin typeface="Arial"/>
                <a:ea typeface="Arial"/>
                <a:cs typeface="Arial"/>
              </a:rPr>
              <a:t>[Sources]</a:t>
            </a:r>
          </a:p>
          <a:p>
            <a:pPr indent="0">
              <a:buNone/>
            </a:pPr>
            <a:r>
              <a:rPr dirty="0"/>
              <a:t>- Gu_OS_Agent_Runtime_and_Harness_Guide_v0.1.docx</a:t>
            </a:r>
            <a:endParaRPr sz="2000" b="0" u="none" dirty="0">
              <a:solidFill>
                <a:srgbClr val="000000"/>
              </a:solidFill>
              <a:latin typeface="Arial"/>
              <a:ea typeface="Arial"/>
              <a:cs typeface="Arial"/>
            </a:endParaRPr>
          </a:p>
          <a:p>
            <a:pPr indent="0">
              <a:lnSpc>
                <a:spcPct val="100000"/>
              </a:lnSpc>
              <a:buNone/>
            </a:pPr>
            <a:r>
              <a:rPr sz="2000" b="0" u="none" dirty="0">
                <a:solidFill>
                  <a:srgbClr val="000000"/>
                </a:solidFill>
                <a:latin typeface="Arial"/>
                <a:ea typeface="Arial"/>
                <a:cs typeface="Arial"/>
              </a:rPr>
              <a:t>- docs/architecture.md</a:t>
            </a:r>
          </a:p>
          <a:p>
            <a:pPr indent="0">
              <a:lnSpc>
                <a:spcPct val="100000"/>
              </a:lnSpc>
              <a:buNone/>
            </a:pPr>
            <a:r>
              <a:rPr sz="2000" b="0" u="none" dirty="0">
                <a:solidFill>
                  <a:srgbClr val="000000"/>
                </a:solidFill>
                <a:latin typeface="Arial"/>
                <a:ea typeface="Arial"/>
                <a:cs typeface="Arial"/>
              </a:rPr>
              <a:t>- docs/manuals/architecture-manual.md</a:t>
            </a:r>
          </a:p>
          <a:p>
            <a:pPr indent="0">
              <a:lnSpc>
                <a:spcPct val="100000"/>
              </a:lnSpc>
              <a:buNone/>
            </a:pPr>
            <a:r>
              <a:rPr sz="2000" b="0" u="none" dirty="0">
                <a:solidFill>
                  <a:srgbClr val="000000"/>
                </a:solidFill>
                <a:latin typeface="Arial"/>
                <a:ea typeface="Arial"/>
                <a:cs typeface="Arial"/>
              </a:rPr>
              <a:t>- packages/agent/</a:t>
            </a:r>
            <a:r>
              <a:rPr sz="2000" b="0" u="none" dirty="0" err="1">
                <a:solidFill>
                  <a:srgbClr val="000000"/>
                </a:solidFill>
                <a:latin typeface="Arial"/>
                <a:ea typeface="Arial"/>
                <a:cs typeface="Arial"/>
              </a:rPr>
              <a:t>src</a:t>
            </a:r>
            <a:r>
              <a:rPr sz="2000" b="0" u="none" dirty="0">
                <a:solidFill>
                  <a:srgbClr val="000000"/>
                </a:solidFill>
                <a:latin typeface="Arial"/>
                <a:ea typeface="Arial"/>
                <a:cs typeface="Arial"/>
              </a:rPr>
              <a:t>/</a:t>
            </a:r>
            <a:r>
              <a:rPr sz="2000" b="0" u="none" dirty="0" err="1">
                <a:solidFill>
                  <a:srgbClr val="000000"/>
                </a:solidFill>
                <a:latin typeface="Arial"/>
                <a:ea typeface="Arial"/>
                <a:cs typeface="Arial"/>
              </a:rPr>
              <a:t>graph.ts</a:t>
            </a:r>
            <a:endParaRPr sz="2000" b="0" u="none" dirty="0">
              <a:solidFill>
                <a:srgbClr val="000000"/>
              </a:solidFill>
              <a:latin typeface="Arial"/>
              <a:ea typeface="Arial"/>
              <a:cs typeface="Arial"/>
            </a:endParaRPr>
          </a:p>
          <a:p>
            <a:pPr indent="0">
              <a:lnSpc>
                <a:spcPct val="100000"/>
              </a:lnSpc>
              <a:buNone/>
            </a:pPr>
            <a:r>
              <a:rPr sz="2000" b="0" u="none" dirty="0">
                <a:solidFill>
                  <a:srgbClr val="000000"/>
                </a:solidFill>
                <a:latin typeface="Arial"/>
                <a:ea typeface="Arial"/>
                <a:cs typeface="Arial"/>
              </a:rPr>
              <a:t>- packages/agent/</a:t>
            </a:r>
            <a:r>
              <a:rPr sz="2000" b="0" u="none" dirty="0" err="1">
                <a:solidFill>
                  <a:srgbClr val="000000"/>
                </a:solidFill>
                <a:latin typeface="Arial"/>
                <a:ea typeface="Arial"/>
                <a:cs typeface="Arial"/>
              </a:rPr>
              <a:t>src</a:t>
            </a:r>
            <a:r>
              <a:rPr sz="2000" b="0" u="none" dirty="0">
                <a:solidFill>
                  <a:srgbClr val="000000"/>
                </a:solidFill>
                <a:latin typeface="Arial"/>
                <a:ea typeface="Arial"/>
                <a:cs typeface="Arial"/>
              </a:rPr>
              <a:t>/</a:t>
            </a:r>
            <a:r>
              <a:rPr sz="2000" b="0" u="none" dirty="0" err="1">
                <a:solidFill>
                  <a:srgbClr val="000000"/>
                </a:solidFill>
                <a:latin typeface="Arial"/>
                <a:ea typeface="Arial"/>
                <a:cs typeface="Arial"/>
              </a:rPr>
              <a:t>model.ts</a:t>
            </a:r>
            <a:endParaRPr sz="2000" b="0" u="none" dirty="0">
              <a:solidFill>
                <a:srgbClr val="000000"/>
              </a:solidFill>
              <a:latin typeface="Arial"/>
              <a:ea typeface="Arial"/>
              <a:cs typeface="Arial"/>
            </a:endParaRPr>
          </a:p>
          <a:p>
            <a:pPr indent="0">
              <a:lnSpc>
                <a:spcPct val="100000"/>
              </a:lnSpc>
              <a:buNone/>
            </a:pPr>
            <a:r>
              <a:rPr sz="2000" b="0" u="none" dirty="0">
                <a:solidFill>
                  <a:srgbClr val="000000"/>
                </a:solidFill>
                <a:latin typeface="Arial"/>
                <a:ea typeface="Arial"/>
                <a:cs typeface="Arial"/>
              </a:rPr>
              <a:t>- packages/agent/</a:t>
            </a:r>
            <a:r>
              <a:rPr sz="2000" b="0" u="none" dirty="0" err="1">
                <a:solidFill>
                  <a:srgbClr val="000000"/>
                </a:solidFill>
                <a:latin typeface="Arial"/>
                <a:ea typeface="Arial"/>
                <a:cs typeface="Arial"/>
              </a:rPr>
              <a:t>src</a:t>
            </a:r>
            <a:r>
              <a:rPr sz="2000" b="0" u="none" dirty="0">
                <a:solidFill>
                  <a:srgbClr val="000000"/>
                </a:solidFill>
                <a:latin typeface="Arial"/>
                <a:ea typeface="Arial"/>
                <a:cs typeface="Arial"/>
              </a:rPr>
              <a:t>/</a:t>
            </a:r>
            <a:r>
              <a:rPr sz="2000" b="0" u="none" dirty="0" err="1">
                <a:solidFill>
                  <a:srgbClr val="000000"/>
                </a:solidFill>
                <a:latin typeface="Arial"/>
                <a:ea typeface="Arial"/>
                <a:cs typeface="Arial"/>
              </a:rPr>
              <a:t>memory_flush.ts</a:t>
            </a:r>
            <a:endParaRPr sz="2000" b="0" u="none" dirty="0">
              <a:solidFill>
                <a:srgbClr val="000000"/>
              </a:solidFill>
              <a:latin typeface="Arial"/>
              <a:ea typeface="Arial"/>
              <a:cs typeface="Arial"/>
            </a:endParaRPr>
          </a:p>
          <a:p>
            <a:pPr indent="0">
              <a:lnSpc>
                <a:spcPct val="100000"/>
              </a:lnSpc>
              <a:buNone/>
            </a:pPr>
            <a:r>
              <a:rPr sz="2000" b="0" u="none" dirty="0">
                <a:solidFill>
                  <a:srgbClr val="000000"/>
                </a:solidFill>
                <a:latin typeface="Arial"/>
                <a:ea typeface="Arial"/>
                <a:cs typeface="Arial"/>
              </a:rPr>
              <a:t>- packages/agent/</a:t>
            </a:r>
            <a:r>
              <a:rPr sz="2000" b="0" u="none" dirty="0" err="1">
                <a:solidFill>
                  <a:srgbClr val="000000"/>
                </a:solidFill>
                <a:latin typeface="Arial"/>
                <a:ea typeface="Arial"/>
                <a:cs typeface="Arial"/>
              </a:rPr>
              <a:t>src</a:t>
            </a:r>
            <a:r>
              <a:rPr sz="2000" b="0" u="none" dirty="0">
                <a:solidFill>
                  <a:srgbClr val="000000"/>
                </a:solidFill>
                <a:latin typeface="Arial"/>
                <a:ea typeface="Arial"/>
                <a:cs typeface="Arial"/>
              </a:rPr>
              <a:t>/tools/</a:t>
            </a:r>
            <a:r>
              <a:rPr sz="2000" b="0" u="none" dirty="0" err="1">
                <a:solidFill>
                  <a:srgbClr val="000000"/>
                </a:solidFill>
                <a:latin typeface="Arial"/>
                <a:ea typeface="Arial"/>
                <a:cs typeface="Arial"/>
              </a:rPr>
              <a:t>catalog.ts</a:t>
            </a:r>
            <a:endParaRPr sz="2000" b="0" u="none" dirty="0">
              <a:solidFill>
                <a:srgbClr val="000000"/>
              </a:solidFill>
              <a:latin typeface="Arial"/>
              <a:ea typeface="Arial"/>
              <a:cs typeface="Arial"/>
            </a:endParaRPr>
          </a:p>
          <a:p>
            <a:pPr indent="0">
              <a:lnSpc>
                <a:spcPct val="100000"/>
              </a:lnSpc>
              <a:buNone/>
            </a:pPr>
            <a:r>
              <a:rPr sz="2000" b="0" u="none" dirty="0">
                <a:solidFill>
                  <a:srgbClr val="000000"/>
                </a:solidFill>
                <a:latin typeface="Arial"/>
                <a:ea typeface="Arial"/>
                <a:cs typeface="Arial"/>
              </a:rPr>
              <a:t>- Baseline: </a:t>
            </a:r>
            <a:r>
              <a:rPr sz="2000" b="0" u="none" dirty="0" err="1">
                <a:solidFill>
                  <a:srgbClr val="000000"/>
                </a:solidFill>
                <a:latin typeface="Arial"/>
                <a:ea typeface="Arial"/>
                <a:cs typeface="Arial"/>
              </a:rPr>
              <a:t>janotowers</a:t>
            </a:r>
            <a:r>
              <a:rPr sz="2000" b="0" u="none" dirty="0">
                <a:solidFill>
                  <a:srgbClr val="000000"/>
                </a:solidFill>
                <a:latin typeface="Arial"/>
                <a:ea typeface="Arial"/>
                <a:cs typeface="Arial"/>
              </a:rPr>
              <a:t>/Gu-OS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t>- packages/agent/src/graph.ts</a:t>
            </a:r>
            <a:endParaRPr sz="2000" b="0" u="none">
              <a:solidFill>
                <a:srgbClr val="000000"/>
              </a:solidFill>
              <a:latin typeface="Arial"/>
              <a:ea typeface="Arial"/>
              <a:cs typeface="Arial"/>
            </a:endParaRPr>
          </a:p>
          <a:p>
            <a:pPr indent="0">
              <a:lnSpc>
                <a:spcPct val="100000"/>
              </a:lnSpc>
              <a:buNone/>
            </a:pPr>
            <a:r>
              <a:t>- packages/agent/src/model.ts</a:t>
            </a:r>
            <a:endParaRPr sz="2000" b="0" u="none">
              <a:solidFill>
                <a:srgbClr val="000000"/>
              </a:solidFill>
              <a:latin typeface="Arial"/>
              <a:ea typeface="Arial"/>
              <a:cs typeface="Arial"/>
            </a:endParaRPr>
          </a:p>
          <a:p>
            <a:pPr indent="0">
              <a:lnSpc>
                <a:spcPct val="100000"/>
              </a:lnSpc>
              <a:buNone/>
            </a:pPr>
            <a:r>
              <a:t>- packages/agent/src/memory_flush.ts</a:t>
            </a:r>
            <a:endParaRPr sz="2000" b="0" u="none">
              <a:solidFill>
                <a:srgbClr val="000000"/>
              </a:solidFill>
              <a:latin typeface="Arial"/>
              <a:ea typeface="Arial"/>
              <a:cs typeface="Arial"/>
            </a:endParaRPr>
          </a:p>
          <a:p>
            <a:pPr indent="0">
              <a:lnSpc>
                <a:spcPct val="100000"/>
              </a:lnSpc>
              <a:buNone/>
            </a:pPr>
            <a:r>
              <a:t>- packages/agent/src/tools/catalog.ts</a:t>
            </a:r>
            <a:endParaRPr sz="2000" b="0" u="none">
              <a:solidFill>
                <a:srgbClr val="000000"/>
              </a:solidFill>
              <a:latin typeface="Arial"/>
              <a:ea typeface="Arial"/>
              <a:cs typeface="Arial"/>
            </a:endParaRPr>
          </a:p>
          <a:p>
            <a:pPr indent="0">
              <a:lnSpc>
                <a:spcPct val="100000"/>
              </a:lnSpc>
              <a:buNone/>
            </a:pPr>
            <a:r>
              <a:t>- Baseline: janotowers/Gu-OS main @ 5a6fbb05117042e1f7c47c911e0e2bc14d068340 (2026-09-08)</a:t>
            </a:r>
            <a:endParaRPr sz="2000" b="0" u="none">
              <a:solidFill>
                <a:srgbClr val="000000"/>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971EA-22D2-D873-46E5-DBDC0E9ED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E3EEB7-4E31-B908-785D-FFF5799F0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B23DA-C45D-7251-4EEF-92C8865BC645}"/>
              </a:ext>
            </a:extLst>
          </p:cNvPr>
          <p:cNvSpPr>
            <a:spLocks noGrp="1"/>
          </p:cNvSpPr>
          <p:nvPr>
            <p:ph type="body" idx="1"/>
          </p:nvPr>
        </p:nvSpPr>
        <p:spPr/>
        <p:txBody>
          <a:bodyPr/>
          <a:lstStyle/>
          <a:p>
            <a:r>
              <a:rPr dirty="0"/>
              <a:t>[UBICACIÓN RECOMENDADA]</a:t>
            </a:r>
          </a:p>
          <a:p>
            <a:r>
              <a:rPr dirty="0"/>
              <a:t>Session 3B · </a:t>
            </a:r>
            <a:r>
              <a:rPr dirty="0" err="1"/>
              <a:t>insertar</a:t>
            </a:r>
            <a:r>
              <a:rPr dirty="0"/>
              <a:t> </a:t>
            </a:r>
            <a:r>
              <a:rPr dirty="0" err="1"/>
              <a:t>después</a:t>
            </a:r>
            <a:r>
              <a:rPr dirty="0"/>
              <a:t> de la </a:t>
            </a:r>
            <a:r>
              <a:rPr dirty="0" err="1"/>
              <a:t>lámina</a:t>
            </a:r>
            <a:r>
              <a:rPr dirty="0"/>
              <a:t> original 2 y antes de la </a:t>
            </a:r>
            <a:r>
              <a:rPr dirty="0" err="1"/>
              <a:t>lámina</a:t>
            </a:r>
            <a:r>
              <a:rPr dirty="0"/>
              <a:t> original 3.</a:t>
            </a:r>
          </a:p>
          <a:p>
            <a:endParaRPr dirty="0"/>
          </a:p>
          <a:p>
            <a:r>
              <a:rPr dirty="0"/>
              <a:t>[PROPÓSITO]</a:t>
            </a:r>
          </a:p>
          <a:p>
            <a:r>
              <a:rPr dirty="0" err="1"/>
              <a:t>Mostrar</a:t>
            </a:r>
            <a:r>
              <a:rPr dirty="0"/>
              <a:t> </a:t>
            </a:r>
            <a:r>
              <a:rPr dirty="0" err="1"/>
              <a:t>dónde</a:t>
            </a:r>
            <a:r>
              <a:rPr dirty="0"/>
              <a:t> </a:t>
            </a:r>
            <a:r>
              <a:rPr dirty="0" err="1"/>
              <a:t>comienza</a:t>
            </a:r>
            <a:r>
              <a:rPr dirty="0"/>
              <a:t> el </a:t>
            </a:r>
            <a:r>
              <a:rPr dirty="0" err="1"/>
              <a:t>procesamiento</a:t>
            </a:r>
            <a:r>
              <a:rPr dirty="0"/>
              <a:t>, </a:t>
            </a:r>
            <a:r>
              <a:rPr dirty="0" err="1"/>
              <a:t>distinguir</a:t>
            </a:r>
            <a:r>
              <a:rPr dirty="0"/>
              <a:t> la </a:t>
            </a:r>
            <a:r>
              <a:rPr dirty="0" err="1"/>
              <a:t>superficie</a:t>
            </a:r>
            <a:r>
              <a:rPr dirty="0"/>
              <a:t> interna actual del camino brownfield del </a:t>
            </a:r>
            <a:r>
              <a:rPr dirty="0" err="1"/>
              <a:t>prospecto</a:t>
            </a:r>
            <a:r>
              <a:rPr dirty="0"/>
              <a:t> y </a:t>
            </a:r>
            <a:r>
              <a:rPr dirty="0" err="1"/>
              <a:t>explicar</a:t>
            </a:r>
            <a:r>
              <a:rPr dirty="0"/>
              <a:t> </a:t>
            </a:r>
            <a:r>
              <a:rPr dirty="0" err="1"/>
              <a:t>por</a:t>
            </a:r>
            <a:r>
              <a:rPr dirty="0"/>
              <a:t> </a:t>
            </a:r>
            <a:r>
              <a:rPr dirty="0" err="1"/>
              <a:t>qué</a:t>
            </a:r>
            <a:r>
              <a:rPr dirty="0"/>
              <a:t> </a:t>
            </a:r>
            <a:r>
              <a:rPr dirty="0" err="1"/>
              <a:t>algunos</a:t>
            </a:r>
            <a:r>
              <a:rPr dirty="0"/>
              <a:t> </a:t>
            </a:r>
            <a:r>
              <a:rPr dirty="0" err="1"/>
              <a:t>turnos</a:t>
            </a:r>
            <a:r>
              <a:rPr dirty="0"/>
              <a:t> </a:t>
            </a:r>
            <a:r>
              <a:rPr dirty="0" err="1"/>
              <a:t>terminan</a:t>
            </a:r>
            <a:r>
              <a:rPr dirty="0"/>
              <a:t> antes de </a:t>
            </a:r>
            <a:r>
              <a:rPr dirty="0" err="1"/>
              <a:t>invocar</a:t>
            </a:r>
            <a:r>
              <a:rPr dirty="0"/>
              <a:t> al </a:t>
            </a:r>
            <a:r>
              <a:rPr dirty="0" err="1"/>
              <a:t>agente</a:t>
            </a:r>
            <a:r>
              <a:rPr dirty="0"/>
              <a:t> general.</a:t>
            </a:r>
          </a:p>
          <a:p>
            <a:endParaRPr dirty="0"/>
          </a:p>
          <a:p>
            <a:r>
              <a:rPr dirty="0"/>
              <a:t>[GUION DIDÁCTICO]</a:t>
            </a:r>
          </a:p>
          <a:p>
            <a:r>
              <a:rPr dirty="0"/>
              <a:t>Abra con la </a:t>
            </a:r>
            <a:r>
              <a:rPr dirty="0" err="1"/>
              <a:t>distinción</a:t>
            </a:r>
            <a:r>
              <a:rPr dirty="0"/>
              <a:t> entre </a:t>
            </a:r>
            <a:r>
              <a:rPr dirty="0" err="1"/>
              <a:t>interacción</a:t>
            </a:r>
            <a:r>
              <a:rPr dirty="0"/>
              <a:t> y </a:t>
            </a:r>
            <a:r>
              <a:rPr dirty="0" err="1"/>
              <a:t>StateGraph</a:t>
            </a:r>
            <a:r>
              <a:rPr dirty="0"/>
              <a:t>. El chat Web y Telegram </a:t>
            </a:r>
            <a:r>
              <a:rPr dirty="0" err="1"/>
              <a:t>ya</a:t>
            </a:r>
            <a:r>
              <a:rPr dirty="0"/>
              <a:t> son superficies </a:t>
            </a:r>
            <a:r>
              <a:rPr dirty="0" err="1"/>
              <a:t>operativas</a:t>
            </a:r>
            <a:r>
              <a:rPr dirty="0"/>
              <a:t> para </a:t>
            </a:r>
            <a:r>
              <a:rPr dirty="0" err="1"/>
              <a:t>usuarios</a:t>
            </a:r>
            <a:r>
              <a:rPr dirty="0"/>
              <a:t> </a:t>
            </a:r>
            <a:r>
              <a:rPr dirty="0" err="1"/>
              <a:t>internos</a:t>
            </a:r>
            <a:r>
              <a:rPr dirty="0"/>
              <a:t>. </a:t>
            </a:r>
            <a:r>
              <a:rPr dirty="0" err="1"/>
              <a:t>Allí</a:t>
            </a:r>
            <a:r>
              <a:rPr dirty="0"/>
              <a:t> </a:t>
            </a:r>
            <a:r>
              <a:rPr dirty="0" err="1"/>
              <a:t>una</a:t>
            </a:r>
            <a:r>
              <a:rPr dirty="0"/>
              <a:t> persona </a:t>
            </a:r>
            <a:r>
              <a:rPr dirty="0" err="1"/>
              <a:t>puede</a:t>
            </a:r>
            <a:r>
              <a:rPr dirty="0"/>
              <a:t> </a:t>
            </a:r>
            <a:r>
              <a:rPr dirty="0" err="1"/>
              <a:t>conversar</a:t>
            </a:r>
            <a:r>
              <a:rPr dirty="0"/>
              <a:t>, </a:t>
            </a:r>
            <a:r>
              <a:rPr dirty="0" err="1"/>
              <a:t>pedir</a:t>
            </a:r>
            <a:r>
              <a:rPr dirty="0"/>
              <a:t> </a:t>
            </a:r>
            <a:r>
              <a:rPr dirty="0" err="1"/>
              <a:t>analítica</a:t>
            </a:r>
            <a:r>
              <a:rPr dirty="0"/>
              <a:t> </a:t>
            </a:r>
            <a:r>
              <a:rPr dirty="0" err="1"/>
              <a:t>mediante</a:t>
            </a:r>
            <a:r>
              <a:rPr dirty="0"/>
              <a:t> company-data y </a:t>
            </a:r>
            <a:r>
              <a:rPr dirty="0" err="1"/>
              <a:t>BigQuery</a:t>
            </a:r>
            <a:r>
              <a:rPr dirty="0"/>
              <a:t>, </a:t>
            </a:r>
            <a:r>
              <a:rPr dirty="0" err="1"/>
              <a:t>utilizar</a:t>
            </a:r>
            <a:r>
              <a:rPr dirty="0"/>
              <a:t> tools </a:t>
            </a:r>
            <a:r>
              <a:rPr dirty="0" err="1"/>
              <a:t>habilitadas</a:t>
            </a:r>
            <a:r>
              <a:rPr dirty="0"/>
              <a:t>, </a:t>
            </a:r>
            <a:r>
              <a:rPr dirty="0" err="1"/>
              <a:t>iniciar</a:t>
            </a:r>
            <a:r>
              <a:rPr dirty="0"/>
              <a:t> o </a:t>
            </a:r>
            <a:r>
              <a:rPr dirty="0" err="1"/>
              <a:t>continuar</a:t>
            </a:r>
            <a:r>
              <a:rPr dirty="0"/>
              <a:t> </a:t>
            </a:r>
            <a:r>
              <a:rPr dirty="0" err="1"/>
              <a:t>property_optioning</a:t>
            </a:r>
            <a:r>
              <a:rPr dirty="0"/>
              <a:t> y responder </a:t>
            </a:r>
            <a:r>
              <a:rPr dirty="0" err="1"/>
              <a:t>decisiones</a:t>
            </a:r>
            <a:r>
              <a:rPr dirty="0"/>
              <a:t> </a:t>
            </a:r>
            <a:r>
              <a:rPr dirty="0" err="1"/>
              <a:t>pendientes</a:t>
            </a:r>
            <a:r>
              <a:rPr dirty="0"/>
              <a:t>.</a:t>
            </a:r>
          </a:p>
          <a:p>
            <a:endParaRPr dirty="0"/>
          </a:p>
          <a:p>
            <a:r>
              <a:rPr dirty="0"/>
              <a:t>Siga el </a:t>
            </a:r>
            <a:r>
              <a:rPr dirty="0" err="1"/>
              <a:t>carril</a:t>
            </a:r>
            <a:r>
              <a:rPr dirty="0"/>
              <a:t> superior. La API </a:t>
            </a:r>
            <a:r>
              <a:rPr dirty="0" err="1"/>
              <a:t>autentica</a:t>
            </a:r>
            <a:r>
              <a:rPr dirty="0"/>
              <a:t> al </a:t>
            </a:r>
            <a:r>
              <a:rPr dirty="0" err="1"/>
              <a:t>usuario</a:t>
            </a:r>
            <a:r>
              <a:rPr dirty="0"/>
              <a:t>, carga o </a:t>
            </a:r>
            <a:r>
              <a:rPr dirty="0" err="1"/>
              <a:t>crea</a:t>
            </a:r>
            <a:r>
              <a:rPr dirty="0"/>
              <a:t> la </a:t>
            </a:r>
            <a:r>
              <a:rPr dirty="0" err="1"/>
              <a:t>sesión</a:t>
            </a:r>
            <a:r>
              <a:rPr dirty="0"/>
              <a:t> y </a:t>
            </a:r>
            <a:r>
              <a:rPr dirty="0" err="1"/>
              <a:t>prepara</a:t>
            </a:r>
            <a:r>
              <a:rPr dirty="0"/>
              <a:t> </a:t>
            </a:r>
            <a:r>
              <a:rPr dirty="0" err="1"/>
              <a:t>perfil</a:t>
            </a:r>
            <a:r>
              <a:rPr dirty="0"/>
              <a:t>, </a:t>
            </a:r>
            <a:r>
              <a:rPr dirty="0" err="1"/>
              <a:t>integraciones</a:t>
            </a:r>
            <a:r>
              <a:rPr dirty="0"/>
              <a:t>, Skills y tools. Antes del </a:t>
            </a:r>
            <a:r>
              <a:rPr dirty="0" err="1"/>
              <a:t>agente</a:t>
            </a:r>
            <a:r>
              <a:rPr dirty="0"/>
              <a:t>, </a:t>
            </a:r>
            <a:r>
              <a:rPr dirty="0" err="1"/>
              <a:t>una</a:t>
            </a:r>
            <a:r>
              <a:rPr dirty="0"/>
              <a:t> </a:t>
            </a:r>
            <a:r>
              <a:rPr dirty="0" err="1"/>
              <a:t>cadena</a:t>
            </a:r>
            <a:r>
              <a:rPr dirty="0"/>
              <a:t> de gates </a:t>
            </a:r>
            <a:r>
              <a:rPr dirty="0" err="1"/>
              <a:t>busca</a:t>
            </a:r>
            <a:r>
              <a:rPr dirty="0"/>
              <a:t> primero </a:t>
            </a:r>
            <a:r>
              <a:rPr dirty="0" err="1"/>
              <a:t>decisiones</a:t>
            </a:r>
            <a:r>
              <a:rPr dirty="0"/>
              <a:t> </a:t>
            </a:r>
            <a:r>
              <a:rPr dirty="0" err="1"/>
              <a:t>pendientes</a:t>
            </a:r>
            <a:r>
              <a:rPr dirty="0"/>
              <a:t> </a:t>
            </a:r>
            <a:r>
              <a:rPr dirty="0" err="1"/>
              <a:t>porque</a:t>
            </a:r>
            <a:r>
              <a:rPr dirty="0"/>
              <a:t> </a:t>
            </a:r>
            <a:r>
              <a:rPr dirty="0" err="1"/>
              <a:t>una</a:t>
            </a:r>
            <a:r>
              <a:rPr dirty="0"/>
              <a:t> </a:t>
            </a:r>
            <a:r>
              <a:rPr dirty="0" err="1"/>
              <a:t>respuesta</a:t>
            </a:r>
            <a:r>
              <a:rPr dirty="0"/>
              <a:t> </a:t>
            </a:r>
            <a:r>
              <a:rPr dirty="0" err="1"/>
              <a:t>corta</a:t>
            </a:r>
            <a:r>
              <a:rPr dirty="0"/>
              <a:t> </a:t>
            </a:r>
            <a:r>
              <a:rPr dirty="0" err="1"/>
              <a:t>como</a:t>
            </a:r>
            <a:r>
              <a:rPr dirty="0"/>
              <a:t> “</a:t>
            </a:r>
            <a:r>
              <a:rPr dirty="0" err="1"/>
              <a:t>sí</a:t>
            </a:r>
            <a:r>
              <a:rPr dirty="0"/>
              <a:t>” </a:t>
            </a:r>
            <a:r>
              <a:rPr dirty="0" err="1"/>
              <a:t>debe</a:t>
            </a:r>
            <a:r>
              <a:rPr dirty="0"/>
              <a:t> </a:t>
            </a:r>
            <a:r>
              <a:rPr dirty="0" err="1"/>
              <a:t>conservar</a:t>
            </a:r>
            <a:r>
              <a:rPr dirty="0"/>
              <a:t> el </a:t>
            </a:r>
            <a:r>
              <a:rPr dirty="0" err="1"/>
              <a:t>contexto</a:t>
            </a:r>
            <a:r>
              <a:rPr dirty="0"/>
              <a:t> </a:t>
            </a:r>
            <a:r>
              <a:rPr dirty="0" err="1"/>
              <a:t>exacto</a:t>
            </a:r>
            <a:r>
              <a:rPr dirty="0"/>
              <a:t> de la </a:t>
            </a:r>
            <a:r>
              <a:rPr dirty="0" err="1"/>
              <a:t>aprobación</a:t>
            </a:r>
            <a:r>
              <a:rPr dirty="0"/>
              <a:t>. </a:t>
            </a:r>
            <a:r>
              <a:rPr dirty="0" err="1"/>
              <a:t>Después</a:t>
            </a:r>
            <a:r>
              <a:rPr dirty="0"/>
              <a:t>, el routing </a:t>
            </a:r>
            <a:r>
              <a:rPr dirty="0" err="1"/>
              <a:t>conversacional</a:t>
            </a:r>
            <a:r>
              <a:rPr dirty="0"/>
              <a:t> </a:t>
            </a:r>
            <a:r>
              <a:rPr dirty="0" err="1"/>
              <a:t>determina</a:t>
            </a:r>
            <a:r>
              <a:rPr dirty="0"/>
              <a:t> </a:t>
            </a:r>
            <a:r>
              <a:rPr dirty="0" err="1"/>
              <a:t>si</a:t>
            </a:r>
            <a:r>
              <a:rPr dirty="0"/>
              <a:t> el </a:t>
            </a:r>
            <a:r>
              <a:rPr dirty="0" err="1"/>
              <a:t>mensaje</a:t>
            </a:r>
            <a:r>
              <a:rPr dirty="0"/>
              <a:t> </a:t>
            </a:r>
            <a:r>
              <a:rPr dirty="0" err="1"/>
              <a:t>inicia</a:t>
            </a:r>
            <a:r>
              <a:rPr dirty="0"/>
              <a:t> o </a:t>
            </a:r>
            <a:r>
              <a:rPr dirty="0" err="1"/>
              <a:t>continúa</a:t>
            </a:r>
            <a:r>
              <a:rPr dirty="0"/>
              <a:t> un Case </a:t>
            </a:r>
            <a:r>
              <a:rPr dirty="0" err="1"/>
              <a:t>operacional</a:t>
            </a:r>
            <a:r>
              <a:rPr dirty="0"/>
              <a:t>. El intake </a:t>
            </a:r>
            <a:r>
              <a:rPr dirty="0" err="1"/>
              <a:t>puede</a:t>
            </a:r>
            <a:r>
              <a:rPr dirty="0"/>
              <a:t> responder de forma </a:t>
            </a:r>
            <a:r>
              <a:rPr dirty="0" err="1"/>
              <a:t>determinística</a:t>
            </a:r>
            <a:r>
              <a:rPr dirty="0"/>
              <a:t> y </a:t>
            </a:r>
            <a:r>
              <a:rPr dirty="0" err="1"/>
              <a:t>actualizar</a:t>
            </a:r>
            <a:r>
              <a:rPr dirty="0"/>
              <a:t> el Case sin </a:t>
            </a:r>
            <a:r>
              <a:rPr dirty="0" err="1"/>
              <a:t>utilizar</a:t>
            </a:r>
            <a:r>
              <a:rPr dirty="0"/>
              <a:t> el </a:t>
            </a:r>
            <a:r>
              <a:rPr dirty="0" err="1"/>
              <a:t>StateGraph</a:t>
            </a:r>
            <a:r>
              <a:rPr dirty="0"/>
              <a:t>. Cuando el </a:t>
            </a:r>
            <a:r>
              <a:rPr dirty="0" err="1"/>
              <a:t>turno</a:t>
            </a:r>
            <a:r>
              <a:rPr dirty="0"/>
              <a:t> </a:t>
            </a:r>
            <a:r>
              <a:rPr dirty="0" err="1"/>
              <a:t>necesita</a:t>
            </a:r>
            <a:r>
              <a:rPr dirty="0"/>
              <a:t> al </a:t>
            </a:r>
            <a:r>
              <a:rPr dirty="0" err="1"/>
              <a:t>agente</a:t>
            </a:r>
            <a:r>
              <a:rPr dirty="0"/>
              <a:t> general, el selector </a:t>
            </a:r>
            <a:r>
              <a:rPr dirty="0" err="1"/>
              <a:t>elige</a:t>
            </a:r>
            <a:r>
              <a:rPr dirty="0"/>
              <a:t> </a:t>
            </a:r>
            <a:r>
              <a:rPr dirty="0" err="1"/>
              <a:t>una</a:t>
            </a:r>
            <a:r>
              <a:rPr dirty="0"/>
              <a:t> Skill </a:t>
            </a:r>
            <a:r>
              <a:rPr dirty="0" err="1"/>
              <a:t>dominante</a:t>
            </a:r>
            <a:r>
              <a:rPr dirty="0"/>
              <a:t> o n</a:t>
            </a:r>
            <a:r>
              <a:rPr lang="es-MX" dirty="0" err="1"/>
              <a:t>inguna</a:t>
            </a:r>
            <a:r>
              <a:rPr dirty="0"/>
              <a:t>. El </a:t>
            </a:r>
            <a:r>
              <a:rPr dirty="0" err="1"/>
              <a:t>turno</a:t>
            </a:r>
            <a:r>
              <a:rPr dirty="0"/>
              <a:t> </a:t>
            </a:r>
            <a:r>
              <a:rPr dirty="0" err="1"/>
              <a:t>que</a:t>
            </a:r>
            <a:r>
              <a:rPr dirty="0"/>
              <a:t> </a:t>
            </a:r>
            <a:r>
              <a:rPr dirty="0" err="1"/>
              <a:t>llega</a:t>
            </a:r>
            <a:r>
              <a:rPr dirty="0"/>
              <a:t> al graph </a:t>
            </a:r>
            <a:r>
              <a:rPr dirty="0" err="1"/>
              <a:t>ya</a:t>
            </a:r>
            <a:r>
              <a:rPr dirty="0"/>
              <a:t> </a:t>
            </a:r>
            <a:r>
              <a:rPr dirty="0" err="1"/>
              <a:t>contiene</a:t>
            </a:r>
            <a:r>
              <a:rPr dirty="0"/>
              <a:t> prompt, </a:t>
            </a:r>
            <a:r>
              <a:rPr dirty="0" err="1"/>
              <a:t>contexto</a:t>
            </a:r>
            <a:r>
              <a:rPr dirty="0"/>
              <a:t>, tools </a:t>
            </a:r>
            <a:r>
              <a:rPr dirty="0" err="1"/>
              <a:t>permitidas</a:t>
            </a:r>
            <a:r>
              <a:rPr dirty="0"/>
              <a:t> y policy </a:t>
            </a:r>
            <a:r>
              <a:rPr dirty="0" err="1"/>
              <a:t>efectiva</a:t>
            </a:r>
            <a:r>
              <a:rPr dirty="0"/>
              <a:t>.</a:t>
            </a:r>
          </a:p>
          <a:p>
            <a:endParaRPr dirty="0"/>
          </a:p>
          <a:p>
            <a:r>
              <a:rPr dirty="0"/>
              <a:t>Use </a:t>
            </a:r>
            <a:r>
              <a:rPr dirty="0" err="1"/>
              <a:t>ejemplos</a:t>
            </a:r>
            <a:r>
              <a:rPr lang="es-MX" dirty="0"/>
              <a:t>:</a:t>
            </a:r>
            <a:r>
              <a:rPr dirty="0"/>
              <a:t> </a:t>
            </a:r>
            <a:endParaRPr lang="es-MX" dirty="0"/>
          </a:p>
          <a:p>
            <a:pPr marL="171450" indent="-171450">
              <a:buFont typeface="Arial" panose="020B0604020202020204" pitchFamily="34" charset="0"/>
              <a:buChar char="•"/>
            </a:pPr>
            <a:r>
              <a:rPr dirty="0"/>
              <a:t>“¿</a:t>
            </a:r>
            <a:r>
              <a:rPr dirty="0" err="1"/>
              <a:t>Cuántos</a:t>
            </a:r>
            <a:r>
              <a:rPr dirty="0"/>
              <a:t> leads </a:t>
            </a:r>
            <a:r>
              <a:rPr dirty="0" err="1"/>
              <a:t>tuvimos</a:t>
            </a:r>
            <a:r>
              <a:rPr dirty="0"/>
              <a:t> en </a:t>
            </a:r>
            <a:r>
              <a:rPr dirty="0" err="1"/>
              <a:t>agosto</a:t>
            </a:r>
            <a:r>
              <a:rPr dirty="0"/>
              <a:t>?” </a:t>
            </a:r>
            <a:r>
              <a:rPr dirty="0" err="1"/>
              <a:t>puede</a:t>
            </a:r>
            <a:r>
              <a:rPr dirty="0"/>
              <a:t> </a:t>
            </a:r>
            <a:r>
              <a:rPr dirty="0" err="1"/>
              <a:t>seleccionar</a:t>
            </a:r>
            <a:r>
              <a:rPr dirty="0"/>
              <a:t> </a:t>
            </a:r>
            <a:r>
              <a:rPr lang="es-MX" dirty="0"/>
              <a:t>el Skill </a:t>
            </a:r>
            <a:r>
              <a:rPr dirty="0"/>
              <a:t>company-data y </a:t>
            </a:r>
            <a:r>
              <a:rPr dirty="0" err="1"/>
              <a:t>consultar</a:t>
            </a:r>
            <a:r>
              <a:rPr dirty="0"/>
              <a:t> </a:t>
            </a:r>
            <a:r>
              <a:rPr dirty="0" err="1"/>
              <a:t>BigQuery</a:t>
            </a:r>
            <a:r>
              <a:rPr dirty="0"/>
              <a:t>. </a:t>
            </a:r>
            <a:endParaRPr lang="es-MX" dirty="0"/>
          </a:p>
          <a:p>
            <a:pPr marL="171450" indent="-171450">
              <a:buFont typeface="Arial" panose="020B0604020202020204" pitchFamily="34" charset="0"/>
              <a:buChar char="•"/>
            </a:pPr>
            <a:r>
              <a:rPr dirty="0"/>
              <a:t>“</a:t>
            </a:r>
            <a:r>
              <a:rPr dirty="0" err="1"/>
              <a:t>Quiero</a:t>
            </a:r>
            <a:r>
              <a:rPr dirty="0"/>
              <a:t> </a:t>
            </a:r>
            <a:r>
              <a:rPr dirty="0" err="1"/>
              <a:t>opcionar</a:t>
            </a:r>
            <a:r>
              <a:rPr dirty="0"/>
              <a:t> </a:t>
            </a:r>
            <a:r>
              <a:rPr dirty="0" err="1"/>
              <a:t>una</a:t>
            </a:r>
            <a:r>
              <a:rPr dirty="0"/>
              <a:t> </a:t>
            </a:r>
            <a:r>
              <a:rPr dirty="0" err="1"/>
              <a:t>propiedad</a:t>
            </a:r>
            <a:r>
              <a:rPr dirty="0"/>
              <a:t>” </a:t>
            </a:r>
            <a:r>
              <a:rPr dirty="0" err="1"/>
              <a:t>puede</a:t>
            </a:r>
            <a:r>
              <a:rPr dirty="0"/>
              <a:t> </a:t>
            </a:r>
            <a:r>
              <a:rPr dirty="0" err="1"/>
              <a:t>crear</a:t>
            </a:r>
            <a:r>
              <a:rPr dirty="0"/>
              <a:t> o </a:t>
            </a:r>
            <a:r>
              <a:rPr dirty="0" err="1"/>
              <a:t>recuperar</a:t>
            </a:r>
            <a:r>
              <a:rPr dirty="0"/>
              <a:t> un Case </a:t>
            </a:r>
            <a:r>
              <a:rPr lang="es-MX" dirty="0"/>
              <a:t>operacional </a:t>
            </a:r>
            <a:r>
              <a:rPr dirty="0"/>
              <a:t>y </a:t>
            </a:r>
            <a:r>
              <a:rPr dirty="0" err="1"/>
              <a:t>abrir</a:t>
            </a:r>
            <a:r>
              <a:rPr dirty="0"/>
              <a:t> el intake. </a:t>
            </a:r>
            <a:endParaRPr lang="es-MX" dirty="0"/>
          </a:p>
          <a:p>
            <a:pPr marL="171450" indent="-171450">
              <a:buFont typeface="Arial" panose="020B0604020202020204" pitchFamily="34" charset="0"/>
              <a:buChar char="•"/>
            </a:pPr>
            <a:r>
              <a:rPr dirty="0"/>
              <a:t>“</a:t>
            </a:r>
            <a:r>
              <a:rPr dirty="0" err="1"/>
              <a:t>Sí</a:t>
            </a:r>
            <a:r>
              <a:rPr dirty="0"/>
              <a:t>, </a:t>
            </a:r>
            <a:r>
              <a:rPr dirty="0" err="1"/>
              <a:t>utiliza</a:t>
            </a:r>
            <a:r>
              <a:rPr dirty="0"/>
              <a:t> ese </a:t>
            </a:r>
            <a:r>
              <a:rPr dirty="0" err="1"/>
              <a:t>precio</a:t>
            </a:r>
            <a:r>
              <a:rPr dirty="0"/>
              <a:t>” </a:t>
            </a:r>
            <a:r>
              <a:rPr dirty="0" err="1"/>
              <a:t>puede</a:t>
            </a:r>
            <a:r>
              <a:rPr dirty="0"/>
              <a:t> resolver </a:t>
            </a:r>
            <a:r>
              <a:rPr dirty="0" err="1"/>
              <a:t>una</a:t>
            </a:r>
            <a:r>
              <a:rPr dirty="0"/>
              <a:t> </a:t>
            </a:r>
            <a:r>
              <a:rPr dirty="0" err="1"/>
              <a:t>decisión</a:t>
            </a:r>
            <a:r>
              <a:rPr dirty="0"/>
              <a:t> </a:t>
            </a:r>
            <a:r>
              <a:rPr dirty="0" err="1"/>
              <a:t>pendiente</a:t>
            </a:r>
            <a:r>
              <a:rPr dirty="0"/>
              <a:t> sin </a:t>
            </a:r>
            <a:r>
              <a:rPr dirty="0" err="1"/>
              <a:t>entregar</a:t>
            </a:r>
            <a:r>
              <a:rPr dirty="0"/>
              <a:t> el </a:t>
            </a:r>
            <a:r>
              <a:rPr dirty="0" err="1"/>
              <a:t>mensaje</a:t>
            </a:r>
            <a:r>
              <a:rPr dirty="0"/>
              <a:t> al </a:t>
            </a:r>
            <a:r>
              <a:rPr dirty="0" err="1"/>
              <a:t>agente</a:t>
            </a:r>
            <a:r>
              <a:rPr dirty="0"/>
              <a:t> general. </a:t>
            </a:r>
            <a:endParaRPr lang="es-MX" dirty="0"/>
          </a:p>
          <a:p>
            <a:pPr marL="171450" indent="-171450">
              <a:buFont typeface="Arial" panose="020B0604020202020204" pitchFamily="34" charset="0"/>
              <a:buChar char="•"/>
            </a:pPr>
            <a:r>
              <a:rPr dirty="0"/>
              <a:t>“Consulta mi </a:t>
            </a:r>
            <a:r>
              <a:rPr dirty="0" err="1"/>
              <a:t>calendario</a:t>
            </a:r>
            <a:r>
              <a:rPr dirty="0"/>
              <a:t>” </a:t>
            </a:r>
            <a:r>
              <a:rPr dirty="0" err="1"/>
              <a:t>puede</a:t>
            </a:r>
            <a:r>
              <a:rPr dirty="0"/>
              <a:t> pasar al </a:t>
            </a:r>
            <a:r>
              <a:rPr dirty="0" err="1"/>
              <a:t>agente</a:t>
            </a:r>
            <a:r>
              <a:rPr dirty="0"/>
              <a:t> y </a:t>
            </a:r>
            <a:r>
              <a:rPr dirty="0" err="1"/>
              <a:t>después</a:t>
            </a:r>
            <a:r>
              <a:rPr dirty="0"/>
              <a:t> a </a:t>
            </a:r>
            <a:r>
              <a:rPr dirty="0" err="1"/>
              <a:t>una</a:t>
            </a:r>
            <a:r>
              <a:rPr dirty="0"/>
              <a:t> tool </a:t>
            </a:r>
            <a:r>
              <a:rPr dirty="0" err="1"/>
              <a:t>autorizada</a:t>
            </a:r>
            <a:r>
              <a:rPr dirty="0"/>
              <a:t>.</a:t>
            </a:r>
          </a:p>
          <a:p>
            <a:endParaRPr dirty="0"/>
          </a:p>
          <a:p>
            <a:r>
              <a:rPr dirty="0" err="1"/>
              <a:t>Pase</a:t>
            </a:r>
            <a:r>
              <a:rPr dirty="0"/>
              <a:t> al </a:t>
            </a:r>
            <a:r>
              <a:rPr dirty="0" err="1"/>
              <a:t>carril</a:t>
            </a:r>
            <a:r>
              <a:rPr dirty="0"/>
              <a:t> inferior. El </a:t>
            </a:r>
            <a:r>
              <a:rPr dirty="0" err="1"/>
              <a:t>prospecto</a:t>
            </a:r>
            <a:r>
              <a:rPr dirty="0"/>
              <a:t> </a:t>
            </a:r>
            <a:r>
              <a:rPr dirty="0" err="1"/>
              <a:t>todavía</a:t>
            </a:r>
            <a:r>
              <a:rPr dirty="0"/>
              <a:t> </a:t>
            </a:r>
            <a:r>
              <a:rPr dirty="0" err="1"/>
              <a:t>suele</a:t>
            </a:r>
            <a:r>
              <a:rPr dirty="0"/>
              <a:t> </a:t>
            </a:r>
            <a:r>
              <a:rPr dirty="0" err="1"/>
              <a:t>conversar</a:t>
            </a:r>
            <a:r>
              <a:rPr dirty="0"/>
              <a:t> </a:t>
            </a:r>
            <a:r>
              <a:rPr dirty="0" err="1"/>
              <a:t>por</a:t>
            </a:r>
            <a:r>
              <a:rPr dirty="0"/>
              <a:t> WhatsApp con Traditional Gu. Gu OS </a:t>
            </a:r>
            <a:r>
              <a:rPr dirty="0" err="1"/>
              <a:t>puede</a:t>
            </a:r>
            <a:r>
              <a:rPr dirty="0"/>
              <a:t> leer </a:t>
            </a:r>
            <a:r>
              <a:rPr dirty="0" err="1"/>
              <a:t>fuentes</a:t>
            </a:r>
            <a:r>
              <a:rPr dirty="0"/>
              <a:t> de Traditional Gu </a:t>
            </a:r>
            <a:r>
              <a:rPr dirty="0" err="1"/>
              <a:t>mediante</a:t>
            </a:r>
            <a:r>
              <a:rPr dirty="0"/>
              <a:t> el gateway </a:t>
            </a:r>
            <a:r>
              <a:rPr dirty="0" err="1"/>
              <a:t>acotado</a:t>
            </a:r>
            <a:r>
              <a:rPr dirty="0"/>
              <a:t>. R1 </a:t>
            </a:r>
            <a:r>
              <a:rPr dirty="0" err="1"/>
              <a:t>añade</a:t>
            </a:r>
            <a:r>
              <a:rPr dirty="0"/>
              <a:t> </a:t>
            </a:r>
            <a:r>
              <a:rPr dirty="0" err="1"/>
              <a:t>admisión</a:t>
            </a:r>
            <a:r>
              <a:rPr dirty="0"/>
              <a:t> y </a:t>
            </a:r>
            <a:r>
              <a:rPr dirty="0" err="1"/>
              <a:t>continuidad</a:t>
            </a:r>
            <a:r>
              <a:rPr dirty="0"/>
              <a:t> de Lead Opportunity en shadow, y </a:t>
            </a:r>
            <a:r>
              <a:rPr dirty="0" err="1"/>
              <a:t>evoluciona</a:t>
            </a:r>
            <a:r>
              <a:rPr dirty="0"/>
              <a:t> </a:t>
            </a:r>
            <a:r>
              <a:rPr dirty="0" err="1"/>
              <a:t>hacia</a:t>
            </a:r>
            <a:r>
              <a:rPr dirty="0"/>
              <a:t> wake-ups y un Case Supervisor con </a:t>
            </a:r>
            <a:r>
              <a:rPr dirty="0" err="1"/>
              <a:t>autoridad</a:t>
            </a:r>
            <a:r>
              <a:rPr dirty="0"/>
              <a:t> gradual. La base y </a:t>
            </a:r>
            <a:r>
              <a:rPr dirty="0" err="1"/>
              <a:t>parte</a:t>
            </a:r>
            <a:r>
              <a:rPr dirty="0"/>
              <a:t> de la </a:t>
            </a:r>
            <a:r>
              <a:rPr dirty="0" err="1"/>
              <a:t>admisión</a:t>
            </a:r>
            <a:r>
              <a:rPr dirty="0"/>
              <a:t> </a:t>
            </a:r>
            <a:r>
              <a:rPr dirty="0" err="1"/>
              <a:t>existen</a:t>
            </a:r>
            <a:r>
              <a:rPr dirty="0"/>
              <a:t>, </a:t>
            </a:r>
            <a:r>
              <a:rPr dirty="0" err="1"/>
              <a:t>pero</a:t>
            </a:r>
            <a:r>
              <a:rPr dirty="0"/>
              <a:t> el repo </a:t>
            </a:r>
            <a:r>
              <a:rPr dirty="0" err="1"/>
              <a:t>declara</a:t>
            </a:r>
            <a:r>
              <a:rPr dirty="0"/>
              <a:t> </a:t>
            </a:r>
            <a:r>
              <a:rPr dirty="0" err="1"/>
              <a:t>que</a:t>
            </a:r>
            <a:r>
              <a:rPr dirty="0"/>
              <a:t> la </a:t>
            </a:r>
            <a:r>
              <a:rPr dirty="0" err="1"/>
              <a:t>ruta</a:t>
            </a:r>
            <a:r>
              <a:rPr dirty="0"/>
              <a:t> </a:t>
            </a:r>
            <a:r>
              <a:rPr dirty="0" err="1"/>
              <a:t>automática</a:t>
            </a:r>
            <a:r>
              <a:rPr dirty="0"/>
              <a:t> completa </a:t>
            </a:r>
            <a:r>
              <a:rPr dirty="0" err="1"/>
              <a:t>desde</a:t>
            </a:r>
            <a:r>
              <a:rPr dirty="0"/>
              <a:t> </a:t>
            </a:r>
            <a:r>
              <a:rPr dirty="0" err="1"/>
              <a:t>eventos</a:t>
            </a:r>
            <a:r>
              <a:rPr dirty="0"/>
              <a:t> </a:t>
            </a:r>
            <a:r>
              <a:rPr dirty="0" err="1"/>
              <a:t>productivos</a:t>
            </a:r>
            <a:r>
              <a:rPr dirty="0"/>
              <a:t> hasta </a:t>
            </a:r>
            <a:r>
              <a:rPr dirty="0" err="1"/>
              <a:t>autoridad</a:t>
            </a:r>
            <a:r>
              <a:rPr dirty="0"/>
              <a:t> live </a:t>
            </a:r>
            <a:r>
              <a:rPr dirty="0" err="1"/>
              <a:t>todavía</a:t>
            </a:r>
            <a:r>
              <a:rPr dirty="0"/>
              <a:t> no </a:t>
            </a:r>
            <a:r>
              <a:rPr dirty="0" err="1"/>
              <a:t>está</a:t>
            </a:r>
            <a:r>
              <a:rPr dirty="0"/>
              <a:t> </a:t>
            </a:r>
            <a:r>
              <a:rPr dirty="0" err="1"/>
              <a:t>conectada</a:t>
            </a:r>
            <a:r>
              <a:rPr dirty="0"/>
              <a:t>. La </a:t>
            </a:r>
            <a:r>
              <a:rPr dirty="0" err="1"/>
              <a:t>flecha</a:t>
            </a:r>
            <a:r>
              <a:rPr dirty="0"/>
              <a:t> </a:t>
            </a:r>
            <a:r>
              <a:rPr dirty="0" err="1"/>
              <a:t>punteada</a:t>
            </a:r>
            <a:r>
              <a:rPr dirty="0"/>
              <a:t> </a:t>
            </a:r>
            <a:r>
              <a:rPr dirty="0" err="1"/>
              <a:t>evita</a:t>
            </a:r>
            <a:r>
              <a:rPr dirty="0"/>
              <a:t> </a:t>
            </a:r>
            <a:r>
              <a:rPr dirty="0" err="1"/>
              <a:t>presentarla</a:t>
            </a:r>
            <a:r>
              <a:rPr dirty="0"/>
              <a:t> </a:t>
            </a:r>
            <a:r>
              <a:rPr dirty="0" err="1"/>
              <a:t>como</a:t>
            </a:r>
            <a:r>
              <a:rPr dirty="0"/>
              <a:t> </a:t>
            </a:r>
            <a:r>
              <a:rPr dirty="0" err="1"/>
              <a:t>una</a:t>
            </a:r>
            <a:r>
              <a:rPr dirty="0"/>
              <a:t> </a:t>
            </a:r>
            <a:r>
              <a:rPr dirty="0" err="1"/>
              <a:t>operación</a:t>
            </a:r>
            <a:r>
              <a:rPr dirty="0"/>
              <a:t> end-to-end </a:t>
            </a:r>
            <a:r>
              <a:rPr dirty="0" err="1"/>
              <a:t>ya</a:t>
            </a:r>
            <a:r>
              <a:rPr dirty="0"/>
              <a:t> </a:t>
            </a:r>
            <a:r>
              <a:rPr dirty="0" err="1"/>
              <a:t>desplegada</a:t>
            </a:r>
            <a:r>
              <a:rPr dirty="0"/>
              <a:t>.</a:t>
            </a:r>
          </a:p>
          <a:p>
            <a:endParaRPr dirty="0"/>
          </a:p>
          <a:p>
            <a:r>
              <a:rPr dirty="0"/>
              <a:t>Cierre con la idea de </a:t>
            </a:r>
            <a:r>
              <a:rPr dirty="0" err="1"/>
              <a:t>que</a:t>
            </a:r>
            <a:r>
              <a:rPr dirty="0"/>
              <a:t> no </a:t>
            </a:r>
            <a:r>
              <a:rPr dirty="0" err="1"/>
              <a:t>existe</a:t>
            </a:r>
            <a:r>
              <a:rPr dirty="0"/>
              <a:t> un </a:t>
            </a:r>
            <a:r>
              <a:rPr dirty="0" err="1"/>
              <a:t>único</a:t>
            </a:r>
            <a:r>
              <a:rPr dirty="0"/>
              <a:t> </a:t>
            </a:r>
            <a:r>
              <a:rPr dirty="0" err="1"/>
              <a:t>superrouter</a:t>
            </a:r>
            <a:r>
              <a:rPr dirty="0"/>
              <a:t>. Gu OS </a:t>
            </a:r>
            <a:r>
              <a:rPr dirty="0" err="1"/>
              <a:t>encadena</a:t>
            </a:r>
            <a:r>
              <a:rPr dirty="0"/>
              <a:t> </a:t>
            </a:r>
            <a:r>
              <a:rPr dirty="0" err="1"/>
              <a:t>mecanismos</a:t>
            </a:r>
            <a:r>
              <a:rPr dirty="0"/>
              <a:t> </a:t>
            </a:r>
            <a:r>
              <a:rPr dirty="0" err="1"/>
              <a:t>especializados</a:t>
            </a:r>
            <a:r>
              <a:rPr dirty="0"/>
              <a:t>. Cada </a:t>
            </a:r>
            <a:r>
              <a:rPr dirty="0" err="1"/>
              <a:t>mecanismo</a:t>
            </a:r>
            <a:r>
              <a:rPr dirty="0"/>
              <a:t> </a:t>
            </a:r>
            <a:r>
              <a:rPr dirty="0" err="1"/>
              <a:t>posee</a:t>
            </a:r>
            <a:r>
              <a:rPr dirty="0"/>
              <a:t> </a:t>
            </a:r>
            <a:r>
              <a:rPr dirty="0" err="1"/>
              <a:t>una</a:t>
            </a:r>
            <a:r>
              <a:rPr dirty="0"/>
              <a:t> </a:t>
            </a:r>
            <a:r>
              <a:rPr dirty="0" err="1"/>
              <a:t>decisión</a:t>
            </a:r>
            <a:r>
              <a:rPr dirty="0"/>
              <a:t> </a:t>
            </a:r>
            <a:r>
              <a:rPr dirty="0" err="1"/>
              <a:t>concreta</a:t>
            </a:r>
            <a:r>
              <a:rPr dirty="0"/>
              <a:t> y </a:t>
            </a:r>
            <a:r>
              <a:rPr dirty="0" err="1"/>
              <a:t>puede</a:t>
            </a:r>
            <a:r>
              <a:rPr dirty="0"/>
              <a:t> </a:t>
            </a:r>
            <a:r>
              <a:rPr dirty="0" err="1"/>
              <a:t>producir</a:t>
            </a:r>
            <a:r>
              <a:rPr dirty="0"/>
              <a:t> un short-circuit </a:t>
            </a:r>
            <a:r>
              <a:rPr dirty="0" err="1"/>
              <a:t>seguro</a:t>
            </a:r>
            <a:r>
              <a:rPr dirty="0"/>
              <a:t>.</a:t>
            </a:r>
          </a:p>
          <a:p>
            <a:endParaRPr dirty="0"/>
          </a:p>
          <a:p>
            <a:r>
              <a:rPr dirty="0"/>
              <a:t>[GLOSARIO]</a:t>
            </a:r>
          </a:p>
          <a:p>
            <a:pPr marL="171450" indent="-171450">
              <a:buFont typeface="Arial" panose="020B0604020202020204" pitchFamily="34" charset="0"/>
              <a:buChar char="•"/>
            </a:pPr>
            <a:r>
              <a:rPr dirty="0" err="1"/>
              <a:t>Interacción</a:t>
            </a:r>
            <a:r>
              <a:rPr dirty="0"/>
              <a:t>: </a:t>
            </a:r>
            <a:r>
              <a:rPr dirty="0" err="1"/>
              <a:t>mensaje</a:t>
            </a:r>
            <a:r>
              <a:rPr dirty="0"/>
              <a:t>, </a:t>
            </a:r>
            <a:r>
              <a:rPr dirty="0" err="1"/>
              <a:t>evento</a:t>
            </a:r>
            <a:r>
              <a:rPr dirty="0"/>
              <a:t>, timer o </a:t>
            </a:r>
            <a:r>
              <a:rPr dirty="0" err="1"/>
              <a:t>intervención</a:t>
            </a:r>
            <a:r>
              <a:rPr dirty="0"/>
              <a:t> humana </a:t>
            </a:r>
            <a:r>
              <a:rPr dirty="0" err="1"/>
              <a:t>que</a:t>
            </a:r>
            <a:r>
              <a:rPr dirty="0"/>
              <a:t> </a:t>
            </a:r>
            <a:r>
              <a:rPr dirty="0" err="1"/>
              <a:t>puede</a:t>
            </a:r>
            <a:r>
              <a:rPr dirty="0"/>
              <a:t> </a:t>
            </a:r>
            <a:r>
              <a:rPr dirty="0" err="1"/>
              <a:t>iniciar</a:t>
            </a:r>
            <a:r>
              <a:rPr dirty="0"/>
              <a:t> </a:t>
            </a:r>
            <a:r>
              <a:rPr dirty="0" err="1"/>
              <a:t>procesamiento</a:t>
            </a:r>
            <a:r>
              <a:rPr dirty="0"/>
              <a:t>.</a:t>
            </a:r>
          </a:p>
          <a:p>
            <a:pPr marL="171450" indent="-171450">
              <a:buFont typeface="Arial" panose="020B0604020202020204" pitchFamily="34" charset="0"/>
              <a:buChar char="•"/>
            </a:pPr>
            <a:r>
              <a:rPr dirty="0"/>
              <a:t>Short-circuit: </a:t>
            </a:r>
            <a:r>
              <a:rPr dirty="0" err="1"/>
              <a:t>respuesta</a:t>
            </a:r>
            <a:r>
              <a:rPr dirty="0"/>
              <a:t> o </a:t>
            </a:r>
            <a:r>
              <a:rPr dirty="0" err="1"/>
              <a:t>decisión</a:t>
            </a:r>
            <a:r>
              <a:rPr dirty="0"/>
              <a:t> </a:t>
            </a:r>
            <a:r>
              <a:rPr dirty="0" err="1"/>
              <a:t>completada</a:t>
            </a:r>
            <a:r>
              <a:rPr dirty="0"/>
              <a:t> antes de </a:t>
            </a:r>
            <a:r>
              <a:rPr dirty="0" err="1"/>
              <a:t>entrar</a:t>
            </a:r>
            <a:r>
              <a:rPr dirty="0"/>
              <a:t> al </a:t>
            </a:r>
            <a:r>
              <a:rPr dirty="0" err="1"/>
              <a:t>agente</a:t>
            </a:r>
            <a:r>
              <a:rPr dirty="0"/>
              <a:t> general.</a:t>
            </a:r>
          </a:p>
          <a:p>
            <a:pPr marL="171450" indent="-171450">
              <a:buFont typeface="Arial" panose="020B0604020202020204" pitchFamily="34" charset="0"/>
              <a:buChar char="•"/>
            </a:pPr>
            <a:r>
              <a:rPr dirty="0"/>
              <a:t>Gate: control </a:t>
            </a:r>
            <a:r>
              <a:rPr dirty="0" err="1"/>
              <a:t>que</a:t>
            </a:r>
            <a:r>
              <a:rPr dirty="0"/>
              <a:t> reclama un </a:t>
            </a:r>
            <a:r>
              <a:rPr dirty="0" err="1"/>
              <a:t>turno</a:t>
            </a:r>
            <a:r>
              <a:rPr dirty="0"/>
              <a:t> para resolver </a:t>
            </a:r>
            <a:r>
              <a:rPr dirty="0" err="1"/>
              <a:t>una</a:t>
            </a:r>
            <a:r>
              <a:rPr dirty="0"/>
              <a:t> </a:t>
            </a:r>
            <a:r>
              <a:rPr dirty="0" err="1"/>
              <a:t>decisión</a:t>
            </a:r>
            <a:r>
              <a:rPr dirty="0"/>
              <a:t> </a:t>
            </a:r>
            <a:r>
              <a:rPr dirty="0" err="1"/>
              <a:t>concreta</a:t>
            </a:r>
            <a:r>
              <a:rPr dirty="0"/>
              <a:t>.</a:t>
            </a:r>
          </a:p>
          <a:p>
            <a:pPr marL="171450" indent="-171450">
              <a:buFont typeface="Arial" panose="020B0604020202020204" pitchFamily="34" charset="0"/>
              <a:buChar char="•"/>
            </a:pPr>
            <a:r>
              <a:rPr dirty="0"/>
              <a:t>Skill: playbook </a:t>
            </a:r>
            <a:r>
              <a:rPr dirty="0" err="1"/>
              <a:t>que</a:t>
            </a:r>
            <a:r>
              <a:rPr dirty="0"/>
              <a:t> </a:t>
            </a:r>
            <a:r>
              <a:rPr dirty="0" err="1"/>
              <a:t>aporta</a:t>
            </a:r>
            <a:r>
              <a:rPr dirty="0"/>
              <a:t> </a:t>
            </a:r>
            <a:r>
              <a:rPr dirty="0" err="1"/>
              <a:t>instrucciones</a:t>
            </a:r>
            <a:r>
              <a:rPr dirty="0"/>
              <a:t> y </a:t>
            </a:r>
            <a:r>
              <a:rPr dirty="0" err="1"/>
              <a:t>puede</a:t>
            </a:r>
            <a:r>
              <a:rPr dirty="0"/>
              <a:t> </a:t>
            </a:r>
            <a:r>
              <a:rPr dirty="0" err="1"/>
              <a:t>acotar</a:t>
            </a:r>
            <a:r>
              <a:rPr dirty="0"/>
              <a:t> tools y </a:t>
            </a:r>
            <a:r>
              <a:rPr dirty="0" err="1"/>
              <a:t>contexto</a:t>
            </a:r>
            <a:r>
              <a:rPr dirty="0"/>
              <a:t>.</a:t>
            </a:r>
          </a:p>
          <a:p>
            <a:pPr marL="171450" indent="-171450">
              <a:buFont typeface="Arial" panose="020B0604020202020204" pitchFamily="34" charset="0"/>
              <a:buChar char="•"/>
            </a:pPr>
            <a:r>
              <a:rPr dirty="0" err="1"/>
              <a:t>Turno</a:t>
            </a:r>
            <a:r>
              <a:rPr dirty="0"/>
              <a:t> </a:t>
            </a:r>
            <a:r>
              <a:rPr dirty="0" err="1"/>
              <a:t>enrutado</a:t>
            </a:r>
            <a:r>
              <a:rPr dirty="0"/>
              <a:t>: </a:t>
            </a:r>
            <a:r>
              <a:rPr dirty="0" err="1"/>
              <a:t>mensaje</a:t>
            </a:r>
            <a:r>
              <a:rPr dirty="0"/>
              <a:t> </a:t>
            </a:r>
            <a:r>
              <a:rPr dirty="0" err="1"/>
              <a:t>efectivo</a:t>
            </a:r>
            <a:r>
              <a:rPr dirty="0"/>
              <a:t> </a:t>
            </a:r>
            <a:r>
              <a:rPr dirty="0" err="1"/>
              <a:t>que</a:t>
            </a:r>
            <a:r>
              <a:rPr dirty="0"/>
              <a:t> </a:t>
            </a:r>
            <a:r>
              <a:rPr dirty="0" err="1"/>
              <a:t>ya</a:t>
            </a:r>
            <a:r>
              <a:rPr dirty="0"/>
              <a:t> </a:t>
            </a:r>
            <a:r>
              <a:rPr dirty="0" err="1"/>
              <a:t>incluye</a:t>
            </a:r>
            <a:r>
              <a:rPr dirty="0"/>
              <a:t> el </a:t>
            </a:r>
            <a:r>
              <a:rPr dirty="0" err="1"/>
              <a:t>contexto</a:t>
            </a:r>
            <a:r>
              <a:rPr dirty="0"/>
              <a:t> y </a:t>
            </a:r>
            <a:r>
              <a:rPr dirty="0" err="1"/>
              <a:t>superficie</a:t>
            </a:r>
            <a:r>
              <a:rPr dirty="0"/>
              <a:t> de </a:t>
            </a:r>
            <a:r>
              <a:rPr dirty="0" err="1"/>
              <a:t>ejecución</a:t>
            </a:r>
            <a:r>
              <a:rPr dirty="0"/>
              <a:t> </a:t>
            </a:r>
            <a:r>
              <a:rPr dirty="0" err="1"/>
              <a:t>permitida</a:t>
            </a:r>
            <a:r>
              <a:rPr dirty="0"/>
              <a:t>.</a:t>
            </a:r>
          </a:p>
          <a:p>
            <a:pPr marL="171450" indent="-171450">
              <a:buFont typeface="Arial" panose="020B0604020202020204" pitchFamily="34" charset="0"/>
              <a:buChar char="•"/>
            </a:pPr>
            <a:r>
              <a:rPr dirty="0"/>
              <a:t>Gateway: </a:t>
            </a:r>
            <a:r>
              <a:rPr dirty="0" err="1"/>
              <a:t>frontera</a:t>
            </a:r>
            <a:r>
              <a:rPr dirty="0"/>
              <a:t> de </a:t>
            </a:r>
            <a:r>
              <a:rPr dirty="0" err="1"/>
              <a:t>capacidades</a:t>
            </a:r>
            <a:r>
              <a:rPr dirty="0"/>
              <a:t> </a:t>
            </a:r>
            <a:r>
              <a:rPr dirty="0" err="1"/>
              <a:t>acotadas</a:t>
            </a:r>
            <a:r>
              <a:rPr dirty="0"/>
              <a:t> para leer </a:t>
            </a:r>
            <a:r>
              <a:rPr dirty="0" err="1"/>
              <a:t>fuentes</a:t>
            </a:r>
            <a:r>
              <a:rPr dirty="0"/>
              <a:t> </a:t>
            </a:r>
            <a:r>
              <a:rPr dirty="0" err="1"/>
              <a:t>operativas</a:t>
            </a:r>
            <a:r>
              <a:rPr dirty="0"/>
              <a:t> </a:t>
            </a:r>
            <a:r>
              <a:rPr dirty="0" err="1"/>
              <a:t>externas</a:t>
            </a:r>
            <a:r>
              <a:rPr dirty="0"/>
              <a:t>.</a:t>
            </a:r>
          </a:p>
          <a:p>
            <a:pPr marL="171450" indent="-171450">
              <a:buFont typeface="Arial" panose="020B0604020202020204" pitchFamily="34" charset="0"/>
              <a:buChar char="•"/>
            </a:pPr>
            <a:r>
              <a:rPr dirty="0"/>
              <a:t>Brownfield: </a:t>
            </a:r>
            <a:r>
              <a:rPr dirty="0" err="1"/>
              <a:t>convivencia</a:t>
            </a:r>
            <a:r>
              <a:rPr dirty="0"/>
              <a:t> y </a:t>
            </a:r>
            <a:r>
              <a:rPr dirty="0" err="1"/>
              <a:t>migración</a:t>
            </a:r>
            <a:r>
              <a:rPr dirty="0"/>
              <a:t> gradual </a:t>
            </a:r>
            <a:r>
              <a:rPr dirty="0" err="1"/>
              <a:t>desde</a:t>
            </a:r>
            <a:r>
              <a:rPr dirty="0"/>
              <a:t> el </a:t>
            </a:r>
            <a:r>
              <a:rPr dirty="0" err="1"/>
              <a:t>sistema</a:t>
            </a:r>
            <a:r>
              <a:rPr dirty="0"/>
              <a:t> </a:t>
            </a:r>
            <a:r>
              <a:rPr dirty="0" err="1"/>
              <a:t>existente</a:t>
            </a:r>
            <a:r>
              <a:rPr dirty="0"/>
              <a:t>.</a:t>
            </a:r>
          </a:p>
          <a:p>
            <a:pPr marL="171450" indent="-171450">
              <a:buFont typeface="Arial" panose="020B0604020202020204" pitchFamily="34" charset="0"/>
              <a:buChar char="•"/>
            </a:pPr>
            <a:r>
              <a:rPr dirty="0"/>
              <a:t>Admission: </a:t>
            </a:r>
            <a:r>
              <a:rPr dirty="0" err="1"/>
              <a:t>decisión</a:t>
            </a:r>
            <a:r>
              <a:rPr dirty="0"/>
              <a:t> </a:t>
            </a:r>
            <a:r>
              <a:rPr dirty="0" err="1"/>
              <a:t>gobernada</a:t>
            </a:r>
            <a:r>
              <a:rPr dirty="0"/>
              <a:t> </a:t>
            </a:r>
            <a:r>
              <a:rPr dirty="0" err="1"/>
              <a:t>sobre</a:t>
            </a:r>
            <a:r>
              <a:rPr dirty="0"/>
              <a:t> </a:t>
            </a:r>
            <a:r>
              <a:rPr dirty="0" err="1"/>
              <a:t>si</a:t>
            </a:r>
            <a:r>
              <a:rPr dirty="0"/>
              <a:t> </a:t>
            </a:r>
            <a:r>
              <a:rPr dirty="0" err="1"/>
              <a:t>una</a:t>
            </a:r>
            <a:r>
              <a:rPr dirty="0"/>
              <a:t> </a:t>
            </a:r>
            <a:r>
              <a:rPr dirty="0" err="1"/>
              <a:t>señal</a:t>
            </a:r>
            <a:r>
              <a:rPr dirty="0"/>
              <a:t> </a:t>
            </a:r>
            <a:r>
              <a:rPr dirty="0" err="1"/>
              <a:t>merece</a:t>
            </a:r>
            <a:r>
              <a:rPr dirty="0"/>
              <a:t> </a:t>
            </a:r>
            <a:r>
              <a:rPr dirty="0" err="1"/>
              <a:t>convertirse</a:t>
            </a:r>
            <a:r>
              <a:rPr dirty="0"/>
              <a:t> en </a:t>
            </a:r>
            <a:r>
              <a:rPr dirty="0" err="1"/>
              <a:t>responsabilidad</a:t>
            </a:r>
            <a:r>
              <a:rPr dirty="0"/>
              <a:t> durable.</a:t>
            </a:r>
          </a:p>
          <a:p>
            <a:pPr marL="171450" indent="-171450">
              <a:buFont typeface="Arial" panose="020B0604020202020204" pitchFamily="34" charset="0"/>
              <a:buChar char="•"/>
            </a:pPr>
            <a:r>
              <a:rPr dirty="0"/>
              <a:t>Provenance: </a:t>
            </a:r>
            <a:r>
              <a:rPr dirty="0" err="1"/>
              <a:t>registro</a:t>
            </a:r>
            <a:r>
              <a:rPr dirty="0"/>
              <a:t> de </a:t>
            </a:r>
            <a:r>
              <a:rPr dirty="0" err="1"/>
              <a:t>origen</a:t>
            </a:r>
            <a:r>
              <a:rPr dirty="0"/>
              <a:t> y </a:t>
            </a:r>
            <a:r>
              <a:rPr dirty="0" err="1"/>
              <a:t>trazabilidad</a:t>
            </a:r>
            <a:r>
              <a:rPr dirty="0"/>
              <a:t> de </a:t>
            </a:r>
            <a:r>
              <a:rPr dirty="0" err="1"/>
              <a:t>una</a:t>
            </a:r>
            <a:r>
              <a:rPr dirty="0"/>
              <a:t> </a:t>
            </a:r>
            <a:r>
              <a:rPr dirty="0" err="1"/>
              <a:t>evidencia</a:t>
            </a:r>
            <a:r>
              <a:rPr dirty="0"/>
              <a:t>.</a:t>
            </a:r>
          </a:p>
          <a:p>
            <a:endParaRPr dirty="0"/>
          </a:p>
          <a:p>
            <a:r>
              <a:rPr dirty="0"/>
              <a:t>[FUENTES]</a:t>
            </a:r>
          </a:p>
          <a:p>
            <a:r>
              <a:rPr dirty="0"/>
              <a:t>- apps/web/</a:t>
            </a:r>
            <a:r>
              <a:rPr dirty="0" err="1"/>
              <a:t>src</a:t>
            </a:r>
            <a:r>
              <a:rPr dirty="0"/>
              <a:t>/app/</a:t>
            </a:r>
            <a:r>
              <a:rPr dirty="0" err="1"/>
              <a:t>api</a:t>
            </a:r>
            <a:r>
              <a:rPr dirty="0"/>
              <a:t>/chat/</a:t>
            </a:r>
            <a:r>
              <a:rPr dirty="0" err="1"/>
              <a:t>route.ts</a:t>
            </a:r>
            <a:endParaRPr dirty="0"/>
          </a:p>
          <a:p>
            <a:r>
              <a:rPr dirty="0"/>
              <a:t>- apps/web/</a:t>
            </a:r>
            <a:r>
              <a:rPr dirty="0" err="1"/>
              <a:t>src</a:t>
            </a:r>
            <a:r>
              <a:rPr dirty="0"/>
              <a:t>/app/</a:t>
            </a:r>
            <a:r>
              <a:rPr dirty="0" err="1"/>
              <a:t>api</a:t>
            </a:r>
            <a:r>
              <a:rPr dirty="0"/>
              <a:t>/telegram/webhook/</a:t>
            </a:r>
            <a:r>
              <a:rPr dirty="0" err="1"/>
              <a:t>route.ts</a:t>
            </a:r>
            <a:endParaRPr dirty="0"/>
          </a:p>
          <a:p>
            <a:r>
              <a:rPr dirty="0"/>
              <a:t>- docs/tools-design/skill-routing.md</a:t>
            </a:r>
          </a:p>
          <a:p>
            <a:r>
              <a:rPr dirty="0"/>
              <a:t>- docs/architecture.md §§ entrada, tenancy y R1</a:t>
            </a:r>
          </a:p>
          <a:p>
            <a:r>
              <a:rPr dirty="0"/>
              <a:t>- docs/product/roadmap-increments/r1-relationship-operations-v1/slice-plan.md</a:t>
            </a:r>
          </a:p>
          <a:p>
            <a:r>
              <a:rPr dirty="0"/>
              <a:t>- Baseline: </a:t>
            </a:r>
            <a:r>
              <a:rPr dirty="0" err="1"/>
              <a:t>janotowers</a:t>
            </a:r>
            <a:r>
              <a:rPr dirty="0"/>
              <a:t>/Gu-OS main @ 5a6fbb05117042e1f7c47c911e0e2bc14d068340 · </a:t>
            </a:r>
            <a:r>
              <a:rPr dirty="0" err="1"/>
              <a:t>verificado</a:t>
            </a:r>
            <a:r>
              <a:rPr dirty="0"/>
              <a:t> 11 </a:t>
            </a:r>
            <a:r>
              <a:rPr dirty="0" err="1"/>
              <a:t>septiembre</a:t>
            </a:r>
            <a:r>
              <a:rPr dirty="0"/>
              <a:t> 2026</a:t>
            </a:r>
          </a:p>
        </p:txBody>
      </p:sp>
      <p:sp>
        <p:nvSpPr>
          <p:cNvPr id="4" name="Slide Number Placeholder 3">
            <a:extLst>
              <a:ext uri="{FF2B5EF4-FFF2-40B4-BE49-F238E27FC236}">
                <a16:creationId xmlns:a16="http://schemas.microsoft.com/office/drawing/2014/main" id="{1FFC0D1B-FFD2-E4B6-7CFC-36E03E84C4F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00592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[UBICACIÓN RECOMENDADA]</a:t>
            </a:r>
          </a:p>
          <a:p>
            <a:r>
              <a:rPr dirty="0"/>
              <a:t>Session 3B · </a:t>
            </a:r>
            <a:r>
              <a:rPr dirty="0" err="1"/>
              <a:t>insertar</a:t>
            </a:r>
            <a:r>
              <a:rPr dirty="0"/>
              <a:t> </a:t>
            </a:r>
            <a:r>
              <a:rPr dirty="0" err="1"/>
              <a:t>después</a:t>
            </a:r>
            <a:r>
              <a:rPr dirty="0"/>
              <a:t> de 01A y antes de la </a:t>
            </a:r>
            <a:r>
              <a:rPr dirty="0" err="1"/>
              <a:t>lámina</a:t>
            </a:r>
            <a:r>
              <a:rPr dirty="0"/>
              <a:t> original 3.</a:t>
            </a:r>
          </a:p>
          <a:p>
            <a:endParaRPr dirty="0"/>
          </a:p>
          <a:p>
            <a:r>
              <a:rPr dirty="0"/>
              <a:t>[PROPÓSITO]</a:t>
            </a:r>
          </a:p>
          <a:p>
            <a:r>
              <a:rPr dirty="0" err="1"/>
              <a:t>Explicar</a:t>
            </a:r>
            <a:r>
              <a:rPr dirty="0"/>
              <a:t> </a:t>
            </a:r>
            <a:r>
              <a:rPr dirty="0" err="1"/>
              <a:t>cómo</a:t>
            </a:r>
            <a:r>
              <a:rPr dirty="0"/>
              <a:t> Gu OS </a:t>
            </a:r>
            <a:r>
              <a:rPr dirty="0" err="1"/>
              <a:t>resuelve</a:t>
            </a:r>
            <a:r>
              <a:rPr dirty="0"/>
              <a:t> un </a:t>
            </a:r>
            <a:r>
              <a:rPr dirty="0" err="1"/>
              <a:t>turno</a:t>
            </a:r>
            <a:r>
              <a:rPr dirty="0"/>
              <a:t> con </a:t>
            </a:r>
            <a:r>
              <a:rPr dirty="0" err="1"/>
              <a:t>una</a:t>
            </a:r>
            <a:r>
              <a:rPr dirty="0"/>
              <a:t> </a:t>
            </a:r>
            <a:r>
              <a:rPr dirty="0" err="1"/>
              <a:t>decisión</a:t>
            </a:r>
            <a:r>
              <a:rPr dirty="0"/>
              <a:t> </a:t>
            </a:r>
            <a:r>
              <a:rPr dirty="0" err="1"/>
              <a:t>pendiente</a:t>
            </a:r>
            <a:r>
              <a:rPr dirty="0"/>
              <a:t> y </a:t>
            </a:r>
            <a:r>
              <a:rPr dirty="0" err="1"/>
              <a:t>otra</a:t>
            </a:r>
            <a:r>
              <a:rPr dirty="0"/>
              <a:t> </a:t>
            </a:r>
            <a:r>
              <a:rPr dirty="0" err="1"/>
              <a:t>petición</a:t>
            </a:r>
            <a:r>
              <a:rPr dirty="0"/>
              <a:t>, </a:t>
            </a:r>
            <a:r>
              <a:rPr dirty="0" err="1"/>
              <a:t>preservando</a:t>
            </a:r>
            <a:r>
              <a:rPr dirty="0"/>
              <a:t> ambas sin </a:t>
            </a:r>
            <a:r>
              <a:rPr dirty="0" err="1"/>
              <a:t>convertir</a:t>
            </a:r>
            <a:r>
              <a:rPr dirty="0"/>
              <a:t> el decomposer en un </a:t>
            </a:r>
            <a:r>
              <a:rPr dirty="0" err="1"/>
              <a:t>planificador</a:t>
            </a:r>
            <a:r>
              <a:rPr dirty="0"/>
              <a:t> universal.</a:t>
            </a:r>
          </a:p>
          <a:p>
            <a:endParaRPr dirty="0"/>
          </a:p>
          <a:p>
            <a:r>
              <a:rPr dirty="0"/>
              <a:t>[GUION DIDÁCTICO]</a:t>
            </a:r>
            <a:endParaRPr lang="es-MX"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Las cajas representan etapas lógicas de una misma función orquestadora. La cuarta etapa invoca el </a:t>
            </a:r>
            <a:r>
              <a:rPr lang="es-MX" dirty="0" err="1"/>
              <a:t>router</a:t>
            </a:r>
            <a:r>
              <a:rPr lang="es-MX" dirty="0"/>
              <a:t> determinístico existente para cada fragmento aceptado del mensaje.</a:t>
            </a:r>
          </a:p>
          <a:p>
            <a:r>
              <a:rPr lang="es-MX" dirty="0"/>
              <a:t>Es decir:</a:t>
            </a:r>
          </a:p>
          <a:p>
            <a:pPr marL="171450" lvl="0" indent="-171450">
              <a:buFont typeface="Arial" panose="020B0604020202020204" pitchFamily="34" charset="0"/>
              <a:buChar char="•"/>
            </a:pPr>
            <a:r>
              <a:rPr lang="es-MX" sz="1200" kern="1200" dirty="0" err="1"/>
              <a:t>resolveDecomposedPendingDecisionTurn</a:t>
            </a:r>
            <a:r>
              <a:rPr lang="es-MX" sz="1200" kern="1200" dirty="0"/>
              <a:t>(...)</a:t>
            </a:r>
            <a:r>
              <a:rPr lang="es-MX" dirty="0"/>
              <a:t> es la función orquestadora que envuelve todo el proceso. </a:t>
            </a:r>
          </a:p>
          <a:p>
            <a:pPr marL="171450" lvl="0" indent="-171450">
              <a:buFont typeface="Arial" panose="020B0604020202020204" pitchFamily="34" charset="0"/>
              <a:buChar char="•"/>
            </a:pPr>
            <a:r>
              <a:rPr lang="es-MX" dirty="0" err="1"/>
              <a:t>Prefiltro</a:t>
            </a:r>
            <a:r>
              <a:rPr lang="es-MX" dirty="0"/>
              <a:t>, </a:t>
            </a:r>
            <a:r>
              <a:rPr lang="es-MX" dirty="0" err="1"/>
              <a:t>decomposer</a:t>
            </a:r>
            <a:r>
              <a:rPr lang="es-MX" dirty="0"/>
              <a:t> y </a:t>
            </a:r>
            <a:r>
              <a:rPr lang="es-MX" dirty="0" err="1"/>
              <a:t>guard</a:t>
            </a:r>
            <a:r>
              <a:rPr lang="es-MX" dirty="0"/>
              <a:t> son pasos internos de esa función. </a:t>
            </a:r>
          </a:p>
          <a:p>
            <a:pPr marL="171450" lvl="0" indent="-171450">
              <a:buFont typeface="Arial" panose="020B0604020202020204" pitchFamily="34" charset="0"/>
              <a:buChar char="•"/>
            </a:pPr>
            <a:r>
              <a:rPr lang="es-MX" dirty="0"/>
              <a:t>Si el </a:t>
            </a:r>
            <a:r>
              <a:rPr lang="es-MX" dirty="0" err="1"/>
              <a:t>guard</a:t>
            </a:r>
            <a:r>
              <a:rPr lang="es-MX" dirty="0"/>
              <a:t> acepta la descomposición, la función llama a </a:t>
            </a:r>
            <a:r>
              <a:rPr lang="es-MX" sz="1200" kern="1200" dirty="0" err="1"/>
              <a:t>resolvePendingDecisionTurn</a:t>
            </a:r>
            <a:r>
              <a:rPr lang="es-MX" sz="1200" kern="1200" dirty="0"/>
              <a:t>(...)</a:t>
            </a:r>
            <a:r>
              <a:rPr lang="es-MX" dirty="0"/>
              <a:t> una vez por cada </a:t>
            </a:r>
            <a:r>
              <a:rPr lang="es-MX" dirty="0" err="1"/>
              <a:t>intent</a:t>
            </a:r>
            <a:r>
              <a:rPr lang="es-MX" dirty="0"/>
              <a:t>. </a:t>
            </a:r>
          </a:p>
          <a:p>
            <a:pPr marL="171450" lvl="0" indent="-171450">
              <a:buFont typeface="Arial" panose="020B0604020202020204" pitchFamily="34" charset="0"/>
              <a:buChar char="•"/>
            </a:pPr>
            <a:r>
              <a:rPr lang="es-MX" dirty="0"/>
              <a:t>Finalmente, </a:t>
            </a:r>
            <a:r>
              <a:rPr lang="es-MX" sz="1200" kern="1200" dirty="0" err="1"/>
              <a:t>composePendingDecisionTurns</a:t>
            </a:r>
            <a:r>
              <a:rPr lang="es-MX" sz="1200" kern="1200" dirty="0"/>
              <a:t>(...)</a:t>
            </a:r>
            <a:r>
              <a:rPr lang="es-MX" dirty="0"/>
              <a:t> combina los resultados. </a:t>
            </a:r>
          </a:p>
          <a:p>
            <a:pPr marL="171450" lvl="0" indent="-171450">
              <a:buFont typeface="Arial" panose="020B0604020202020204" pitchFamily="34" charset="0"/>
              <a:buChar char="•"/>
            </a:pPr>
            <a:r>
              <a:rPr lang="es-MX" dirty="0"/>
              <a:t>Si el </a:t>
            </a:r>
            <a:r>
              <a:rPr lang="es-MX" dirty="0" err="1"/>
              <a:t>prefiltro</a:t>
            </a:r>
            <a:r>
              <a:rPr lang="es-MX" dirty="0"/>
              <a:t> no aplica o el </a:t>
            </a:r>
            <a:r>
              <a:rPr lang="es-MX" dirty="0" err="1"/>
              <a:t>guard</a:t>
            </a:r>
            <a:r>
              <a:rPr lang="es-MX" dirty="0"/>
              <a:t> rechaza el </a:t>
            </a:r>
            <a:r>
              <a:rPr lang="es-MX" dirty="0" err="1"/>
              <a:t>split</a:t>
            </a:r>
            <a:r>
              <a:rPr lang="es-MX" dirty="0"/>
              <a:t>, la función llama directamente a </a:t>
            </a:r>
            <a:r>
              <a:rPr lang="es-MX" sz="1200" kern="1200" dirty="0" err="1"/>
              <a:t>resolvePendingDecisionTurn</a:t>
            </a:r>
            <a:r>
              <a:rPr lang="es-MX" sz="1200" kern="1200" dirty="0"/>
              <a:t>(...)</a:t>
            </a:r>
            <a:r>
              <a:rPr lang="es-MX" dirty="0"/>
              <a:t> con el mensaje original completo.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MX" dirty="0"/>
          </a:p>
          <a:p>
            <a:r>
              <a:rPr dirty="0"/>
              <a:t>Lea el </a:t>
            </a:r>
            <a:r>
              <a:rPr dirty="0" err="1"/>
              <a:t>mensaje</a:t>
            </a:r>
            <a:r>
              <a:rPr dirty="0"/>
              <a:t> </a:t>
            </a:r>
            <a:r>
              <a:rPr dirty="0" err="1"/>
              <a:t>completo</a:t>
            </a:r>
            <a:r>
              <a:rPr dirty="0"/>
              <a:t> y </a:t>
            </a:r>
            <a:r>
              <a:rPr dirty="0" err="1"/>
              <a:t>señale</a:t>
            </a:r>
            <a:r>
              <a:rPr dirty="0"/>
              <a:t> </a:t>
            </a:r>
            <a:r>
              <a:rPr dirty="0" err="1"/>
              <a:t>que</a:t>
            </a:r>
            <a:r>
              <a:rPr dirty="0"/>
              <a:t> </a:t>
            </a:r>
            <a:r>
              <a:rPr dirty="0" err="1"/>
              <a:t>contiene</a:t>
            </a:r>
            <a:r>
              <a:rPr dirty="0"/>
              <a:t> dos </a:t>
            </a:r>
            <a:r>
              <a:rPr dirty="0" err="1"/>
              <a:t>intenciones</a:t>
            </a:r>
            <a:r>
              <a:rPr dirty="0"/>
              <a:t> </a:t>
            </a:r>
            <a:r>
              <a:rPr dirty="0" err="1"/>
              <a:t>independientes</a:t>
            </a:r>
            <a:r>
              <a:rPr dirty="0"/>
              <a:t>. La </a:t>
            </a:r>
            <a:r>
              <a:rPr dirty="0" err="1"/>
              <a:t>primera</a:t>
            </a:r>
            <a:r>
              <a:rPr dirty="0"/>
              <a:t> </a:t>
            </a:r>
            <a:r>
              <a:rPr dirty="0" err="1"/>
              <a:t>responde</a:t>
            </a:r>
            <a:r>
              <a:rPr dirty="0"/>
              <a:t> </a:t>
            </a:r>
            <a:r>
              <a:rPr dirty="0" err="1"/>
              <a:t>una</a:t>
            </a:r>
            <a:r>
              <a:rPr dirty="0"/>
              <a:t> </a:t>
            </a:r>
            <a:r>
              <a:rPr dirty="0" err="1"/>
              <a:t>decisión</a:t>
            </a:r>
            <a:r>
              <a:rPr dirty="0"/>
              <a:t> durable </a:t>
            </a:r>
            <a:r>
              <a:rPr dirty="0" err="1"/>
              <a:t>pendiente</a:t>
            </a:r>
            <a:r>
              <a:rPr dirty="0"/>
              <a:t>. La </a:t>
            </a:r>
            <a:r>
              <a:rPr dirty="0" err="1"/>
              <a:t>segunda</a:t>
            </a:r>
            <a:r>
              <a:rPr dirty="0"/>
              <a:t> </a:t>
            </a:r>
            <a:r>
              <a:rPr dirty="0" err="1"/>
              <a:t>solicita</a:t>
            </a:r>
            <a:r>
              <a:rPr dirty="0"/>
              <a:t> </a:t>
            </a:r>
            <a:r>
              <a:rPr dirty="0" err="1"/>
              <a:t>información</a:t>
            </a:r>
            <a:r>
              <a:rPr dirty="0"/>
              <a:t> </a:t>
            </a:r>
            <a:r>
              <a:rPr dirty="0" err="1"/>
              <a:t>analítica</a:t>
            </a:r>
            <a:r>
              <a:rPr dirty="0"/>
              <a:t>. Si el </a:t>
            </a:r>
            <a:r>
              <a:rPr dirty="0" err="1"/>
              <a:t>sistema</a:t>
            </a:r>
            <a:r>
              <a:rPr dirty="0"/>
              <a:t> </a:t>
            </a:r>
            <a:r>
              <a:rPr dirty="0" err="1"/>
              <a:t>tratara</a:t>
            </a:r>
            <a:r>
              <a:rPr dirty="0"/>
              <a:t> </a:t>
            </a:r>
            <a:r>
              <a:rPr dirty="0" err="1"/>
              <a:t>todo</a:t>
            </a:r>
            <a:r>
              <a:rPr dirty="0"/>
              <a:t> </a:t>
            </a:r>
            <a:r>
              <a:rPr dirty="0" err="1"/>
              <a:t>como</a:t>
            </a:r>
            <a:r>
              <a:rPr dirty="0"/>
              <a:t> </a:t>
            </a:r>
            <a:r>
              <a:rPr dirty="0" err="1"/>
              <a:t>una</a:t>
            </a:r>
            <a:r>
              <a:rPr dirty="0"/>
              <a:t> sola </a:t>
            </a:r>
            <a:r>
              <a:rPr dirty="0" err="1"/>
              <a:t>frase</a:t>
            </a:r>
            <a:r>
              <a:rPr dirty="0"/>
              <a:t>, un gate </a:t>
            </a:r>
            <a:r>
              <a:rPr dirty="0" err="1"/>
              <a:t>podría</a:t>
            </a:r>
            <a:r>
              <a:rPr dirty="0"/>
              <a:t> </a:t>
            </a:r>
            <a:r>
              <a:rPr dirty="0" err="1"/>
              <a:t>consumir</a:t>
            </a:r>
            <a:r>
              <a:rPr dirty="0"/>
              <a:t> la </a:t>
            </a:r>
            <a:r>
              <a:rPr dirty="0" err="1"/>
              <a:t>aprobación</a:t>
            </a:r>
            <a:r>
              <a:rPr dirty="0"/>
              <a:t> y </a:t>
            </a:r>
            <a:r>
              <a:rPr dirty="0" err="1"/>
              <a:t>dejar</a:t>
            </a:r>
            <a:r>
              <a:rPr dirty="0"/>
              <a:t> la </a:t>
            </a:r>
            <a:r>
              <a:rPr dirty="0" err="1"/>
              <a:t>pregunta</a:t>
            </a:r>
            <a:r>
              <a:rPr dirty="0"/>
              <a:t> sin </a:t>
            </a:r>
            <a:r>
              <a:rPr dirty="0" err="1"/>
              <a:t>atención</a:t>
            </a:r>
            <a:r>
              <a:rPr dirty="0"/>
              <a:t>.</a:t>
            </a:r>
          </a:p>
          <a:p>
            <a:endParaRPr dirty="0"/>
          </a:p>
          <a:p>
            <a:r>
              <a:rPr dirty="0"/>
              <a:t>El primer control es un </a:t>
            </a:r>
            <a:r>
              <a:rPr dirty="0" err="1"/>
              <a:t>prefiltro</a:t>
            </a:r>
            <a:r>
              <a:rPr dirty="0"/>
              <a:t> </a:t>
            </a:r>
            <a:r>
              <a:rPr dirty="0" err="1"/>
              <a:t>determinístico</a:t>
            </a:r>
            <a:r>
              <a:rPr dirty="0"/>
              <a:t>. </a:t>
            </a:r>
            <a:r>
              <a:rPr dirty="0" err="1"/>
              <a:t>Busca</a:t>
            </a:r>
            <a:r>
              <a:rPr dirty="0"/>
              <a:t> </a:t>
            </a:r>
            <a:r>
              <a:rPr dirty="0" err="1"/>
              <a:t>conectores</a:t>
            </a:r>
            <a:r>
              <a:rPr dirty="0"/>
              <a:t>, </a:t>
            </a:r>
            <a:r>
              <a:rPr dirty="0" err="1"/>
              <a:t>varias</a:t>
            </a:r>
            <a:r>
              <a:rPr dirty="0"/>
              <a:t> </a:t>
            </a:r>
            <a:r>
              <a:rPr dirty="0" err="1"/>
              <a:t>cláusulas</a:t>
            </a:r>
            <a:r>
              <a:rPr dirty="0"/>
              <a:t> y </a:t>
            </a:r>
            <a:r>
              <a:rPr dirty="0" err="1"/>
              <a:t>otras</a:t>
            </a:r>
            <a:r>
              <a:rPr dirty="0"/>
              <a:t> </a:t>
            </a:r>
            <a:r>
              <a:rPr dirty="0" err="1"/>
              <a:t>señales</a:t>
            </a:r>
            <a:r>
              <a:rPr dirty="0"/>
              <a:t> de </a:t>
            </a:r>
            <a:r>
              <a:rPr dirty="0" err="1"/>
              <a:t>posible</a:t>
            </a:r>
            <a:r>
              <a:rPr dirty="0"/>
              <a:t> multi-intent. Cuando </a:t>
            </a:r>
            <a:r>
              <a:rPr dirty="0" err="1"/>
              <a:t>existe</a:t>
            </a:r>
            <a:r>
              <a:rPr dirty="0"/>
              <a:t> </a:t>
            </a:r>
            <a:r>
              <a:rPr dirty="0" err="1"/>
              <a:t>una</a:t>
            </a:r>
            <a:r>
              <a:rPr dirty="0"/>
              <a:t> </a:t>
            </a:r>
            <a:r>
              <a:rPr dirty="0" err="1"/>
              <a:t>decisión</a:t>
            </a:r>
            <a:r>
              <a:rPr dirty="0"/>
              <a:t> </a:t>
            </a:r>
            <a:r>
              <a:rPr dirty="0" err="1"/>
              <a:t>pendiente</a:t>
            </a:r>
            <a:r>
              <a:rPr dirty="0"/>
              <a:t>, </a:t>
            </a:r>
            <a:r>
              <a:rPr dirty="0" err="1"/>
              <a:t>una</a:t>
            </a:r>
            <a:r>
              <a:rPr dirty="0"/>
              <a:t> </a:t>
            </a:r>
            <a:r>
              <a:rPr dirty="0" err="1"/>
              <a:t>señal</a:t>
            </a:r>
            <a:r>
              <a:rPr dirty="0"/>
              <a:t> de </a:t>
            </a:r>
            <a:r>
              <a:rPr dirty="0" err="1"/>
              <a:t>pregunta</a:t>
            </a:r>
            <a:r>
              <a:rPr dirty="0"/>
              <a:t> también </a:t>
            </a:r>
            <a:r>
              <a:rPr dirty="0" err="1"/>
              <a:t>justifica</a:t>
            </a:r>
            <a:r>
              <a:rPr dirty="0"/>
              <a:t> </a:t>
            </a:r>
            <a:r>
              <a:rPr dirty="0" err="1"/>
              <a:t>evaluar</a:t>
            </a:r>
            <a:r>
              <a:rPr dirty="0"/>
              <a:t> el </a:t>
            </a:r>
            <a:r>
              <a:rPr dirty="0" err="1"/>
              <a:t>turno</a:t>
            </a:r>
            <a:r>
              <a:rPr dirty="0"/>
              <a:t> </a:t>
            </a:r>
            <a:r>
              <a:rPr dirty="0" err="1"/>
              <a:t>aunque</a:t>
            </a:r>
            <a:r>
              <a:rPr dirty="0"/>
              <a:t> no </a:t>
            </a:r>
            <a:r>
              <a:rPr dirty="0" err="1"/>
              <a:t>haya</a:t>
            </a:r>
            <a:r>
              <a:rPr dirty="0"/>
              <a:t> </a:t>
            </a:r>
            <a:r>
              <a:rPr dirty="0" err="1"/>
              <a:t>conector</a:t>
            </a:r>
            <a:r>
              <a:rPr dirty="0"/>
              <a:t>. El </a:t>
            </a:r>
            <a:r>
              <a:rPr dirty="0" err="1"/>
              <a:t>prefiltro</a:t>
            </a:r>
            <a:r>
              <a:rPr dirty="0"/>
              <a:t> </a:t>
            </a:r>
            <a:r>
              <a:rPr dirty="0" err="1"/>
              <a:t>evita</a:t>
            </a:r>
            <a:r>
              <a:rPr dirty="0"/>
              <a:t> </a:t>
            </a:r>
            <a:r>
              <a:rPr lang="es-MX" dirty="0"/>
              <a:t>hacer</a:t>
            </a:r>
            <a:r>
              <a:rPr dirty="0"/>
              <a:t> </a:t>
            </a:r>
            <a:r>
              <a:rPr dirty="0" err="1"/>
              <a:t>una</a:t>
            </a:r>
            <a:r>
              <a:rPr dirty="0"/>
              <a:t> </a:t>
            </a:r>
            <a:r>
              <a:rPr dirty="0" err="1"/>
              <a:t>llamada</a:t>
            </a:r>
            <a:r>
              <a:rPr dirty="0"/>
              <a:t> de </a:t>
            </a:r>
            <a:r>
              <a:rPr dirty="0" err="1"/>
              <a:t>modelo</a:t>
            </a:r>
            <a:r>
              <a:rPr dirty="0"/>
              <a:t> en </a:t>
            </a:r>
            <a:r>
              <a:rPr dirty="0" err="1"/>
              <a:t>cada</a:t>
            </a:r>
            <a:r>
              <a:rPr dirty="0"/>
              <a:t> </a:t>
            </a:r>
            <a:r>
              <a:rPr dirty="0" err="1"/>
              <a:t>mensaje</a:t>
            </a:r>
            <a:r>
              <a:rPr dirty="0"/>
              <a:t> </a:t>
            </a:r>
            <a:r>
              <a:rPr dirty="0" err="1"/>
              <a:t>sencillo</a:t>
            </a:r>
            <a:r>
              <a:rPr dirty="0"/>
              <a:t>.</a:t>
            </a:r>
          </a:p>
          <a:p>
            <a:endParaRPr dirty="0"/>
          </a:p>
          <a:p>
            <a:r>
              <a:rPr dirty="0"/>
              <a:t>Cuando el </a:t>
            </a:r>
            <a:r>
              <a:rPr dirty="0" err="1"/>
              <a:t>prefiltro</a:t>
            </a:r>
            <a:r>
              <a:rPr dirty="0"/>
              <a:t> lo </a:t>
            </a:r>
            <a:r>
              <a:rPr dirty="0" err="1"/>
              <a:t>justifica</a:t>
            </a:r>
            <a:r>
              <a:rPr dirty="0"/>
              <a:t>, el intent decomposer llama un </a:t>
            </a:r>
            <a:r>
              <a:rPr dirty="0" err="1"/>
              <a:t>modelo</a:t>
            </a:r>
            <a:r>
              <a:rPr dirty="0"/>
              <a:t> con </a:t>
            </a:r>
            <a:r>
              <a:rPr dirty="0" err="1"/>
              <a:t>temperatura</a:t>
            </a:r>
            <a:r>
              <a:rPr dirty="0"/>
              <a:t> cero y </a:t>
            </a:r>
            <a:r>
              <a:rPr dirty="0" err="1"/>
              <a:t>exige</a:t>
            </a:r>
            <a:r>
              <a:rPr dirty="0"/>
              <a:t> JSON. </a:t>
            </a:r>
            <a:r>
              <a:rPr dirty="0" err="1"/>
              <a:t>Puede</a:t>
            </a:r>
            <a:r>
              <a:rPr dirty="0"/>
              <a:t> </a:t>
            </a:r>
            <a:r>
              <a:rPr dirty="0" err="1"/>
              <a:t>proponer</a:t>
            </a:r>
            <a:r>
              <a:rPr dirty="0"/>
              <a:t> de dos a cuatro intents y </a:t>
            </a:r>
            <a:r>
              <a:rPr dirty="0" err="1"/>
              <a:t>clasificarlos</a:t>
            </a:r>
            <a:r>
              <a:rPr dirty="0"/>
              <a:t> </a:t>
            </a:r>
            <a:r>
              <a:rPr dirty="0" err="1"/>
              <a:t>como</a:t>
            </a:r>
            <a:r>
              <a:rPr dirty="0"/>
              <a:t> decision, </a:t>
            </a:r>
            <a:r>
              <a:rPr dirty="0" err="1"/>
              <a:t>data_update</a:t>
            </a:r>
            <a:r>
              <a:rPr dirty="0"/>
              <a:t>, question u </a:t>
            </a:r>
            <a:r>
              <a:rPr lang="es-MX" dirty="0"/>
              <a:t>otro</a:t>
            </a:r>
            <a:r>
              <a:rPr dirty="0"/>
              <a:t>. Cada intent </a:t>
            </a:r>
            <a:r>
              <a:rPr dirty="0" err="1"/>
              <a:t>debe</a:t>
            </a:r>
            <a:r>
              <a:rPr dirty="0"/>
              <a:t> </a:t>
            </a:r>
            <a:r>
              <a:rPr dirty="0" err="1"/>
              <a:t>copiar</a:t>
            </a:r>
            <a:r>
              <a:rPr dirty="0"/>
              <a:t> un span literal del </a:t>
            </a:r>
            <a:r>
              <a:rPr dirty="0" err="1"/>
              <a:t>mensaje</a:t>
            </a:r>
            <a:r>
              <a:rPr dirty="0"/>
              <a:t> original. Gu OS no </a:t>
            </a:r>
            <a:r>
              <a:rPr dirty="0" err="1"/>
              <a:t>acepta</a:t>
            </a:r>
            <a:r>
              <a:rPr dirty="0"/>
              <a:t> </a:t>
            </a:r>
            <a:r>
              <a:rPr dirty="0" err="1"/>
              <a:t>una</a:t>
            </a:r>
            <a:r>
              <a:rPr dirty="0"/>
              <a:t> </a:t>
            </a:r>
            <a:r>
              <a:rPr dirty="0" err="1"/>
              <a:t>paráfrasis</a:t>
            </a:r>
            <a:r>
              <a:rPr dirty="0"/>
              <a:t> </a:t>
            </a:r>
            <a:r>
              <a:rPr dirty="0" err="1"/>
              <a:t>inventada</a:t>
            </a:r>
            <a:r>
              <a:rPr dirty="0"/>
              <a:t> </a:t>
            </a:r>
            <a:r>
              <a:rPr dirty="0" err="1"/>
              <a:t>como</a:t>
            </a:r>
            <a:r>
              <a:rPr dirty="0"/>
              <a:t> base para </a:t>
            </a:r>
            <a:r>
              <a:rPr dirty="0" err="1"/>
              <a:t>ejecutar</a:t>
            </a:r>
            <a:r>
              <a:rPr dirty="0"/>
              <a:t> </a:t>
            </a:r>
            <a:r>
              <a:rPr dirty="0" err="1"/>
              <a:t>una</a:t>
            </a:r>
            <a:r>
              <a:rPr dirty="0"/>
              <a:t> </a:t>
            </a:r>
            <a:r>
              <a:rPr dirty="0" err="1"/>
              <a:t>decisión</a:t>
            </a:r>
            <a:r>
              <a:rPr dirty="0"/>
              <a:t>.</a:t>
            </a:r>
          </a:p>
          <a:p>
            <a:endParaRPr dirty="0"/>
          </a:p>
          <a:p>
            <a:r>
              <a:rPr dirty="0"/>
              <a:t>El guard </a:t>
            </a:r>
            <a:r>
              <a:rPr dirty="0" err="1"/>
              <a:t>sólo</a:t>
            </a:r>
            <a:r>
              <a:rPr dirty="0"/>
              <a:t> </a:t>
            </a:r>
            <a:r>
              <a:rPr dirty="0" err="1"/>
              <a:t>aplica</a:t>
            </a:r>
            <a:r>
              <a:rPr dirty="0"/>
              <a:t> el split con confianza global </a:t>
            </a:r>
            <a:r>
              <a:rPr dirty="0" err="1"/>
              <a:t>alta</a:t>
            </a:r>
            <a:r>
              <a:rPr dirty="0"/>
              <a:t>, sin intents de confianza baja y con </a:t>
            </a:r>
            <a:r>
              <a:rPr dirty="0" err="1"/>
              <a:t>cada</a:t>
            </a:r>
            <a:r>
              <a:rPr dirty="0"/>
              <a:t> </a:t>
            </a:r>
            <a:r>
              <a:rPr dirty="0" err="1"/>
              <a:t>segmento</a:t>
            </a:r>
            <a:r>
              <a:rPr dirty="0"/>
              <a:t> </a:t>
            </a:r>
            <a:r>
              <a:rPr dirty="0" err="1"/>
              <a:t>verificable</a:t>
            </a:r>
            <a:r>
              <a:rPr dirty="0"/>
              <a:t> </a:t>
            </a:r>
            <a:r>
              <a:rPr dirty="0" err="1"/>
              <a:t>dentro</a:t>
            </a:r>
            <a:r>
              <a:rPr dirty="0"/>
              <a:t> del </a:t>
            </a:r>
            <a:r>
              <a:rPr dirty="0" err="1"/>
              <a:t>texto</a:t>
            </a:r>
            <a:r>
              <a:rPr dirty="0"/>
              <a:t> original. Si el </a:t>
            </a:r>
            <a:r>
              <a:rPr dirty="0" err="1"/>
              <a:t>modelo</a:t>
            </a:r>
            <a:r>
              <a:rPr dirty="0"/>
              <a:t> </a:t>
            </a:r>
            <a:r>
              <a:rPr dirty="0" err="1"/>
              <a:t>falla</a:t>
            </a:r>
            <a:r>
              <a:rPr dirty="0"/>
              <a:t>, </a:t>
            </a:r>
            <a:r>
              <a:rPr dirty="0" err="1"/>
              <a:t>devuelve</a:t>
            </a:r>
            <a:r>
              <a:rPr dirty="0"/>
              <a:t> JSON </a:t>
            </a:r>
            <a:r>
              <a:rPr dirty="0" err="1"/>
              <a:t>inválido</a:t>
            </a:r>
            <a:r>
              <a:rPr dirty="0"/>
              <a:t> o propone un split </a:t>
            </a:r>
            <a:r>
              <a:rPr dirty="0" err="1"/>
              <a:t>dudoso</a:t>
            </a:r>
            <a:r>
              <a:rPr dirty="0"/>
              <a:t>, el </a:t>
            </a:r>
            <a:r>
              <a:rPr dirty="0" err="1"/>
              <a:t>sistema</a:t>
            </a:r>
            <a:r>
              <a:rPr dirty="0"/>
              <a:t> </a:t>
            </a:r>
            <a:r>
              <a:rPr dirty="0" err="1"/>
              <a:t>conserva</a:t>
            </a:r>
            <a:r>
              <a:rPr dirty="0"/>
              <a:t> el </a:t>
            </a:r>
            <a:r>
              <a:rPr dirty="0" err="1"/>
              <a:t>mensaje</a:t>
            </a:r>
            <a:r>
              <a:rPr dirty="0"/>
              <a:t> </a:t>
            </a:r>
            <a:r>
              <a:rPr dirty="0" err="1"/>
              <a:t>completo</a:t>
            </a:r>
            <a:r>
              <a:rPr dirty="0"/>
              <a:t> y </a:t>
            </a:r>
            <a:r>
              <a:rPr dirty="0" err="1"/>
              <a:t>usa</a:t>
            </a:r>
            <a:r>
              <a:rPr dirty="0"/>
              <a:t> el router original.</a:t>
            </a:r>
          </a:p>
          <a:p>
            <a:endParaRPr dirty="0"/>
          </a:p>
          <a:p>
            <a:r>
              <a:rPr dirty="0" err="1"/>
              <a:t>Después</a:t>
            </a:r>
            <a:r>
              <a:rPr dirty="0"/>
              <a:t> del split, </a:t>
            </a:r>
            <a:r>
              <a:rPr dirty="0" err="1"/>
              <a:t>cada</a:t>
            </a:r>
            <a:r>
              <a:rPr dirty="0"/>
              <a:t> intent </a:t>
            </a:r>
            <a:r>
              <a:rPr dirty="0" err="1"/>
              <a:t>recorre</a:t>
            </a:r>
            <a:r>
              <a:rPr dirty="0"/>
              <a:t> la </a:t>
            </a:r>
            <a:r>
              <a:rPr dirty="0" err="1"/>
              <a:t>cadena</a:t>
            </a:r>
            <a:r>
              <a:rPr dirty="0"/>
              <a:t> completa de pending-decision gates </a:t>
            </a:r>
            <a:r>
              <a:rPr dirty="0" err="1"/>
              <a:t>por</a:t>
            </a:r>
            <a:r>
              <a:rPr dirty="0"/>
              <a:t> </a:t>
            </a:r>
            <a:r>
              <a:rPr dirty="0" err="1"/>
              <a:t>separado</a:t>
            </a:r>
            <a:r>
              <a:rPr dirty="0"/>
              <a:t> y en </a:t>
            </a:r>
            <a:r>
              <a:rPr dirty="0" err="1"/>
              <a:t>orden</a:t>
            </a:r>
            <a:r>
              <a:rPr dirty="0"/>
              <a:t>. </a:t>
            </a:r>
            <a:r>
              <a:rPr lang="es-MX" dirty="0"/>
              <a:t>En este ejemplo, e</a:t>
            </a:r>
            <a:r>
              <a:rPr dirty="0"/>
              <a:t>l primer intent </a:t>
            </a:r>
            <a:r>
              <a:rPr dirty="0" err="1"/>
              <a:t>encuentra</a:t>
            </a:r>
            <a:r>
              <a:rPr dirty="0"/>
              <a:t> la </a:t>
            </a:r>
            <a:r>
              <a:rPr dirty="0" err="1"/>
              <a:t>aprobación</a:t>
            </a:r>
            <a:r>
              <a:rPr dirty="0"/>
              <a:t> </a:t>
            </a:r>
            <a:r>
              <a:rPr dirty="0" err="1"/>
              <a:t>pendiente</a:t>
            </a:r>
            <a:r>
              <a:rPr dirty="0"/>
              <a:t>. El gate </a:t>
            </a:r>
            <a:r>
              <a:rPr dirty="0" err="1"/>
              <a:t>valida</a:t>
            </a:r>
            <a:r>
              <a:rPr dirty="0"/>
              <a:t> el </a:t>
            </a:r>
            <a:r>
              <a:rPr dirty="0" err="1"/>
              <a:t>contexto</a:t>
            </a:r>
            <a:r>
              <a:rPr dirty="0"/>
              <a:t> y </a:t>
            </a:r>
            <a:r>
              <a:rPr dirty="0" err="1"/>
              <a:t>aplica</a:t>
            </a:r>
            <a:r>
              <a:rPr dirty="0"/>
              <a:t> la </a:t>
            </a:r>
            <a:r>
              <a:rPr dirty="0" err="1"/>
              <a:t>decisión</a:t>
            </a:r>
            <a:r>
              <a:rPr dirty="0"/>
              <a:t>. El </a:t>
            </a:r>
            <a:r>
              <a:rPr dirty="0" err="1"/>
              <a:t>resultado</a:t>
            </a:r>
            <a:r>
              <a:rPr dirty="0"/>
              <a:t> </a:t>
            </a:r>
            <a:r>
              <a:rPr dirty="0" err="1"/>
              <a:t>manejado</a:t>
            </a:r>
            <a:r>
              <a:rPr dirty="0"/>
              <a:t> </a:t>
            </a:r>
            <a:r>
              <a:rPr dirty="0" err="1"/>
              <a:t>incluye</a:t>
            </a:r>
            <a:r>
              <a:rPr dirty="0"/>
              <a:t> el </a:t>
            </a:r>
            <a:r>
              <a:rPr dirty="0" err="1"/>
              <a:t>mensaje</a:t>
            </a:r>
            <a:r>
              <a:rPr dirty="0"/>
              <a:t> de </a:t>
            </a:r>
            <a:r>
              <a:rPr dirty="0" err="1"/>
              <a:t>reconocimiento</a:t>
            </a:r>
            <a:r>
              <a:rPr dirty="0"/>
              <a:t>, </a:t>
            </a:r>
            <a:r>
              <a:rPr dirty="0" err="1"/>
              <a:t>por</a:t>
            </a:r>
            <a:r>
              <a:rPr dirty="0"/>
              <a:t> </a:t>
            </a:r>
            <a:r>
              <a:rPr dirty="0" err="1"/>
              <a:t>ejemplo</a:t>
            </a:r>
            <a:r>
              <a:rPr dirty="0"/>
              <a:t> “</a:t>
            </a:r>
            <a:r>
              <a:rPr dirty="0" err="1"/>
              <a:t>precio</a:t>
            </a:r>
            <a:r>
              <a:rPr dirty="0"/>
              <a:t> </a:t>
            </a:r>
            <a:r>
              <a:rPr dirty="0" err="1"/>
              <a:t>aprobado</a:t>
            </a:r>
            <a:r>
              <a:rPr dirty="0"/>
              <a:t>”. Antes del </a:t>
            </a:r>
            <a:r>
              <a:rPr dirty="0" err="1"/>
              <a:t>siguiente</a:t>
            </a:r>
            <a:r>
              <a:rPr dirty="0"/>
              <a:t> intent, el router </a:t>
            </a:r>
            <a:r>
              <a:rPr dirty="0" err="1"/>
              <a:t>vuelve</a:t>
            </a:r>
            <a:r>
              <a:rPr dirty="0"/>
              <a:t> a </a:t>
            </a:r>
            <a:r>
              <a:rPr dirty="0" err="1"/>
              <a:t>consultar</a:t>
            </a:r>
            <a:r>
              <a:rPr dirty="0"/>
              <a:t> las </a:t>
            </a:r>
            <a:r>
              <a:rPr dirty="0" err="1"/>
              <a:t>notificaciones</a:t>
            </a:r>
            <a:r>
              <a:rPr dirty="0"/>
              <a:t> </a:t>
            </a:r>
            <a:r>
              <a:rPr dirty="0" err="1"/>
              <a:t>pendientes</a:t>
            </a:r>
            <a:r>
              <a:rPr dirty="0"/>
              <a:t> para </a:t>
            </a:r>
            <a:r>
              <a:rPr dirty="0" err="1"/>
              <a:t>trabajar</a:t>
            </a:r>
            <a:r>
              <a:rPr dirty="0"/>
              <a:t> con </a:t>
            </a:r>
            <a:r>
              <a:rPr dirty="0" err="1"/>
              <a:t>estado</a:t>
            </a:r>
            <a:r>
              <a:rPr dirty="0"/>
              <a:t> fresco.</a:t>
            </a:r>
          </a:p>
          <a:p>
            <a:endParaRPr dirty="0"/>
          </a:p>
          <a:p>
            <a:r>
              <a:rPr dirty="0"/>
              <a:t>El </a:t>
            </a:r>
            <a:r>
              <a:rPr dirty="0" err="1"/>
              <a:t>segundo</a:t>
            </a:r>
            <a:r>
              <a:rPr dirty="0"/>
              <a:t> intent también </a:t>
            </a:r>
            <a:r>
              <a:rPr dirty="0" err="1"/>
              <a:t>recorre</a:t>
            </a:r>
            <a:r>
              <a:rPr dirty="0"/>
              <a:t> la </a:t>
            </a:r>
            <a:r>
              <a:rPr dirty="0" err="1"/>
              <a:t>cadena</a:t>
            </a:r>
            <a:r>
              <a:rPr dirty="0"/>
              <a:t>, </a:t>
            </a:r>
            <a:r>
              <a:rPr dirty="0" err="1"/>
              <a:t>pero</a:t>
            </a:r>
            <a:r>
              <a:rPr dirty="0"/>
              <a:t> </a:t>
            </a:r>
            <a:r>
              <a:rPr dirty="0" err="1"/>
              <a:t>ningún</a:t>
            </a:r>
            <a:r>
              <a:rPr dirty="0"/>
              <a:t> gate lo reclama. </a:t>
            </a:r>
            <a:r>
              <a:rPr dirty="0" err="1"/>
              <a:t>composePendingDecisionTurns</a:t>
            </a:r>
            <a:r>
              <a:rPr dirty="0"/>
              <a:t> </a:t>
            </a:r>
            <a:r>
              <a:rPr dirty="0" err="1"/>
              <a:t>conserva</a:t>
            </a:r>
            <a:r>
              <a:rPr dirty="0"/>
              <a:t> </a:t>
            </a:r>
            <a:r>
              <a:rPr dirty="0" err="1"/>
              <a:t>literalmente</a:t>
            </a:r>
            <a:r>
              <a:rPr dirty="0"/>
              <a:t> </a:t>
            </a:r>
            <a:r>
              <a:rPr dirty="0" err="1"/>
              <a:t>esa</a:t>
            </a:r>
            <a:r>
              <a:rPr dirty="0"/>
              <a:t> </a:t>
            </a:r>
            <a:r>
              <a:rPr dirty="0" err="1"/>
              <a:t>pregunta</a:t>
            </a:r>
            <a:r>
              <a:rPr dirty="0"/>
              <a:t> </a:t>
            </a:r>
            <a:r>
              <a:rPr dirty="0" err="1"/>
              <a:t>dentro</a:t>
            </a:r>
            <a:r>
              <a:rPr dirty="0"/>
              <a:t> de </a:t>
            </a:r>
            <a:r>
              <a:rPr dirty="0" err="1"/>
              <a:t>residual.text</a:t>
            </a:r>
            <a:r>
              <a:rPr dirty="0"/>
              <a:t> y </a:t>
            </a:r>
            <a:r>
              <a:rPr dirty="0" err="1"/>
              <a:t>asigna</a:t>
            </a:r>
            <a:r>
              <a:rPr dirty="0"/>
              <a:t> </a:t>
            </a:r>
            <a:r>
              <a:rPr dirty="0" err="1"/>
              <a:t>residual.reason</a:t>
            </a:r>
            <a:r>
              <a:rPr dirty="0"/>
              <a:t> = </a:t>
            </a:r>
            <a:r>
              <a:rPr dirty="0" err="1"/>
              <a:t>unmatched_intent</a:t>
            </a:r>
            <a:r>
              <a:rPr dirty="0"/>
              <a:t>. Esta </a:t>
            </a:r>
            <a:r>
              <a:rPr dirty="0" err="1"/>
              <a:t>etiqueta</a:t>
            </a:r>
            <a:r>
              <a:rPr dirty="0"/>
              <a:t> describe la </a:t>
            </a:r>
            <a:r>
              <a:rPr dirty="0" err="1"/>
              <a:t>disposición</a:t>
            </a:r>
            <a:r>
              <a:rPr dirty="0"/>
              <a:t> del residual. No es un </a:t>
            </a:r>
            <a:r>
              <a:rPr dirty="0" err="1"/>
              <a:t>nodo</a:t>
            </a:r>
            <a:r>
              <a:rPr dirty="0"/>
              <a:t> </a:t>
            </a:r>
            <a:r>
              <a:rPr dirty="0" err="1"/>
              <a:t>que</a:t>
            </a:r>
            <a:r>
              <a:rPr dirty="0"/>
              <a:t> </a:t>
            </a:r>
            <a:r>
              <a:rPr dirty="0" err="1"/>
              <a:t>procese</a:t>
            </a:r>
            <a:r>
              <a:rPr dirty="0"/>
              <a:t> la </a:t>
            </a:r>
            <a:r>
              <a:rPr dirty="0" err="1"/>
              <a:t>pregunta</a:t>
            </a:r>
            <a:r>
              <a:rPr dirty="0"/>
              <a:t>.</a:t>
            </a:r>
          </a:p>
          <a:p>
            <a:endParaRPr dirty="0"/>
          </a:p>
          <a:p>
            <a:r>
              <a:rPr dirty="0"/>
              <a:t>El </a:t>
            </a:r>
            <a:r>
              <a:rPr dirty="0" err="1"/>
              <a:t>adaptador</a:t>
            </a:r>
            <a:r>
              <a:rPr dirty="0"/>
              <a:t> del canal llama </a:t>
            </a:r>
            <a:r>
              <a:rPr dirty="0" err="1"/>
              <a:t>deferredAgentContinuationText</a:t>
            </a:r>
            <a:r>
              <a:rPr dirty="0"/>
              <a:t>. Esa </a:t>
            </a:r>
            <a:r>
              <a:rPr dirty="0" err="1"/>
              <a:t>función</a:t>
            </a:r>
            <a:r>
              <a:rPr dirty="0"/>
              <a:t> </a:t>
            </a:r>
            <a:r>
              <a:rPr dirty="0" err="1"/>
              <a:t>sólo</a:t>
            </a:r>
            <a:r>
              <a:rPr dirty="0"/>
              <a:t> </a:t>
            </a:r>
            <a:r>
              <a:rPr dirty="0" err="1"/>
              <a:t>devuelve</a:t>
            </a:r>
            <a:r>
              <a:rPr dirty="0"/>
              <a:t> </a:t>
            </a:r>
            <a:r>
              <a:rPr dirty="0" err="1"/>
              <a:t>texto</a:t>
            </a:r>
            <a:r>
              <a:rPr dirty="0"/>
              <a:t> </a:t>
            </a:r>
            <a:r>
              <a:rPr dirty="0" err="1"/>
              <a:t>cuando</a:t>
            </a:r>
            <a:r>
              <a:rPr dirty="0"/>
              <a:t> reason es </a:t>
            </a:r>
            <a:r>
              <a:rPr dirty="0" err="1"/>
              <a:t>unmatched_intent</a:t>
            </a:r>
            <a:r>
              <a:rPr dirty="0"/>
              <a:t>. </a:t>
            </a:r>
            <a:r>
              <a:rPr dirty="0" err="1"/>
              <a:t>Después</a:t>
            </a:r>
            <a:r>
              <a:rPr dirty="0"/>
              <a:t> </a:t>
            </a:r>
            <a:r>
              <a:rPr dirty="0" err="1"/>
              <a:t>invoca</a:t>
            </a:r>
            <a:r>
              <a:rPr dirty="0"/>
              <a:t> </a:t>
            </a:r>
            <a:r>
              <a:rPr dirty="0" err="1"/>
              <a:t>runAgent</a:t>
            </a:r>
            <a:r>
              <a:rPr dirty="0"/>
              <a:t> con message </a:t>
            </a:r>
            <a:r>
              <a:rPr dirty="0" err="1"/>
              <a:t>igual</a:t>
            </a:r>
            <a:r>
              <a:rPr dirty="0"/>
              <a:t> al </a:t>
            </a:r>
            <a:r>
              <a:rPr dirty="0" err="1"/>
              <a:t>texto</a:t>
            </a:r>
            <a:r>
              <a:rPr dirty="0"/>
              <a:t> residual. Nunca </a:t>
            </a:r>
            <a:r>
              <a:rPr dirty="0" err="1"/>
              <a:t>reenvía</a:t>
            </a:r>
            <a:r>
              <a:rPr dirty="0"/>
              <a:t> </a:t>
            </a:r>
            <a:r>
              <a:rPr dirty="0" err="1"/>
              <a:t>otra</a:t>
            </a:r>
            <a:r>
              <a:rPr dirty="0"/>
              <a:t> </a:t>
            </a:r>
            <a:r>
              <a:rPr dirty="0" err="1"/>
              <a:t>vez</a:t>
            </a:r>
            <a:r>
              <a:rPr dirty="0"/>
              <a:t> el </a:t>
            </a:r>
            <a:r>
              <a:rPr dirty="0" err="1"/>
              <a:t>mensaje</a:t>
            </a:r>
            <a:r>
              <a:rPr dirty="0"/>
              <a:t> multi-intent </a:t>
            </a:r>
            <a:r>
              <a:rPr dirty="0" err="1"/>
              <a:t>completo</a:t>
            </a:r>
            <a:r>
              <a:rPr dirty="0"/>
              <a:t>. </a:t>
            </a:r>
            <a:r>
              <a:rPr dirty="0" err="1"/>
              <a:t>Dentro</a:t>
            </a:r>
            <a:r>
              <a:rPr dirty="0"/>
              <a:t> de </a:t>
            </a:r>
            <a:r>
              <a:rPr dirty="0" err="1"/>
              <a:t>runAgent</a:t>
            </a:r>
            <a:r>
              <a:rPr dirty="0"/>
              <a:t>, el selector </a:t>
            </a:r>
            <a:r>
              <a:rPr dirty="0" err="1"/>
              <a:t>puede</a:t>
            </a:r>
            <a:r>
              <a:rPr dirty="0"/>
              <a:t> </a:t>
            </a:r>
            <a:r>
              <a:rPr dirty="0" err="1"/>
              <a:t>elegir</a:t>
            </a:r>
            <a:r>
              <a:rPr lang="es-MX" dirty="0"/>
              <a:t> el Skill</a:t>
            </a:r>
            <a:r>
              <a:rPr dirty="0"/>
              <a:t> company-data y el </a:t>
            </a:r>
            <a:r>
              <a:rPr dirty="0" err="1"/>
              <a:t>agente</a:t>
            </a:r>
            <a:r>
              <a:rPr dirty="0"/>
              <a:t> </a:t>
            </a:r>
            <a:r>
              <a:rPr dirty="0" err="1"/>
              <a:t>puede</a:t>
            </a:r>
            <a:r>
              <a:rPr dirty="0"/>
              <a:t> </a:t>
            </a:r>
            <a:r>
              <a:rPr dirty="0" err="1"/>
              <a:t>consultar</a:t>
            </a:r>
            <a:r>
              <a:rPr dirty="0"/>
              <a:t> </a:t>
            </a:r>
            <a:r>
              <a:rPr dirty="0" err="1"/>
              <a:t>BigQuery</a:t>
            </a:r>
            <a:r>
              <a:rPr dirty="0"/>
              <a:t> </a:t>
            </a:r>
            <a:r>
              <a:rPr dirty="0" err="1"/>
              <a:t>si</a:t>
            </a:r>
            <a:r>
              <a:rPr dirty="0"/>
              <a:t> </a:t>
            </a:r>
            <a:r>
              <a:rPr dirty="0" err="1"/>
              <a:t>esa</a:t>
            </a:r>
            <a:r>
              <a:rPr dirty="0"/>
              <a:t> Skill y sus tools </a:t>
            </a:r>
            <a:r>
              <a:rPr dirty="0" err="1"/>
              <a:t>están</a:t>
            </a:r>
            <a:r>
              <a:rPr dirty="0"/>
              <a:t> </a:t>
            </a:r>
            <a:r>
              <a:rPr dirty="0" err="1"/>
              <a:t>habilitadas</a:t>
            </a:r>
            <a:r>
              <a:rPr dirty="0"/>
              <a:t>.</a:t>
            </a:r>
          </a:p>
          <a:p>
            <a:endParaRPr dirty="0"/>
          </a:p>
          <a:p>
            <a:r>
              <a:rPr dirty="0"/>
              <a:t>En Web, el </a:t>
            </a:r>
            <a:r>
              <a:rPr dirty="0" err="1"/>
              <a:t>adaptador</a:t>
            </a:r>
            <a:r>
              <a:rPr dirty="0"/>
              <a:t> </a:t>
            </a:r>
            <a:r>
              <a:rPr dirty="0" err="1"/>
              <a:t>concatena</a:t>
            </a:r>
            <a:r>
              <a:rPr dirty="0"/>
              <a:t> el </a:t>
            </a:r>
            <a:r>
              <a:rPr dirty="0" err="1"/>
              <a:t>reconocimiento</a:t>
            </a:r>
            <a:r>
              <a:rPr dirty="0"/>
              <a:t> de la </a:t>
            </a:r>
            <a:r>
              <a:rPr dirty="0" err="1"/>
              <a:t>decisión</a:t>
            </a:r>
            <a:r>
              <a:rPr dirty="0"/>
              <a:t> y la </a:t>
            </a:r>
            <a:r>
              <a:rPr dirty="0" err="1"/>
              <a:t>respuesta</a:t>
            </a:r>
            <a:r>
              <a:rPr dirty="0"/>
              <a:t> del </a:t>
            </a:r>
            <a:r>
              <a:rPr dirty="0" err="1"/>
              <a:t>agente</a:t>
            </a:r>
            <a:r>
              <a:rPr dirty="0"/>
              <a:t> en </a:t>
            </a:r>
            <a:r>
              <a:rPr dirty="0" err="1"/>
              <a:t>una</a:t>
            </a:r>
            <a:r>
              <a:rPr dirty="0"/>
              <a:t> sola </a:t>
            </a:r>
            <a:r>
              <a:rPr dirty="0" err="1"/>
              <a:t>respuesta</a:t>
            </a:r>
            <a:r>
              <a:rPr dirty="0"/>
              <a:t> HTTP. En Telegram, primero </a:t>
            </a:r>
            <a:r>
              <a:rPr dirty="0" err="1"/>
              <a:t>envía</a:t>
            </a:r>
            <a:r>
              <a:rPr dirty="0"/>
              <a:t> el </a:t>
            </a:r>
            <a:r>
              <a:rPr dirty="0" err="1"/>
              <a:t>reconocimiento</a:t>
            </a:r>
            <a:r>
              <a:rPr dirty="0"/>
              <a:t> y luego </a:t>
            </a:r>
            <a:r>
              <a:rPr dirty="0" err="1"/>
              <a:t>continúa</a:t>
            </a:r>
            <a:r>
              <a:rPr dirty="0"/>
              <a:t> el </a:t>
            </a:r>
            <a:r>
              <a:rPr dirty="0" err="1"/>
              <a:t>flujo</a:t>
            </a:r>
            <a:r>
              <a:rPr dirty="0"/>
              <a:t> </a:t>
            </a:r>
            <a:r>
              <a:rPr dirty="0" err="1"/>
              <a:t>conversacional</a:t>
            </a:r>
            <a:r>
              <a:rPr dirty="0"/>
              <a:t> con la </a:t>
            </a:r>
            <a:r>
              <a:rPr dirty="0" err="1"/>
              <a:t>pregunta</a:t>
            </a:r>
            <a:r>
              <a:rPr dirty="0"/>
              <a:t> residual, </a:t>
            </a:r>
            <a:r>
              <a:rPr dirty="0" err="1"/>
              <a:t>por</a:t>
            </a:r>
            <a:r>
              <a:rPr dirty="0"/>
              <a:t> lo </a:t>
            </a:r>
            <a:r>
              <a:rPr dirty="0" err="1"/>
              <a:t>que</a:t>
            </a:r>
            <a:r>
              <a:rPr dirty="0"/>
              <a:t> el </a:t>
            </a:r>
            <a:r>
              <a:rPr dirty="0" err="1"/>
              <a:t>usuario</a:t>
            </a:r>
            <a:r>
              <a:rPr dirty="0"/>
              <a:t> </a:t>
            </a:r>
            <a:r>
              <a:rPr dirty="0" err="1"/>
              <a:t>puede</a:t>
            </a:r>
            <a:r>
              <a:rPr dirty="0"/>
              <a:t> </a:t>
            </a:r>
            <a:r>
              <a:rPr dirty="0" err="1"/>
              <a:t>recibir</a:t>
            </a:r>
            <a:r>
              <a:rPr dirty="0"/>
              <a:t> dos </a:t>
            </a:r>
            <a:r>
              <a:rPr dirty="0" err="1"/>
              <a:t>mensajes</a:t>
            </a:r>
            <a:r>
              <a:rPr dirty="0"/>
              <a:t>. Por </a:t>
            </a:r>
            <a:r>
              <a:rPr dirty="0" err="1"/>
              <a:t>eso</a:t>
            </a:r>
            <a:r>
              <a:rPr dirty="0"/>
              <a:t> la </a:t>
            </a:r>
            <a:r>
              <a:rPr dirty="0" err="1"/>
              <a:t>lámina</a:t>
            </a:r>
            <a:r>
              <a:rPr dirty="0"/>
              <a:t> </a:t>
            </a:r>
            <a:r>
              <a:rPr dirty="0" err="1"/>
              <a:t>utiliza</a:t>
            </a:r>
            <a:r>
              <a:rPr dirty="0"/>
              <a:t> “salida </a:t>
            </a:r>
            <a:r>
              <a:rPr dirty="0" err="1"/>
              <a:t>coordinada</a:t>
            </a:r>
            <a:r>
              <a:rPr dirty="0"/>
              <a:t>” en </a:t>
            </a:r>
            <a:r>
              <a:rPr dirty="0" err="1"/>
              <a:t>vez</a:t>
            </a:r>
            <a:r>
              <a:rPr dirty="0"/>
              <a:t> de </a:t>
            </a:r>
            <a:r>
              <a:rPr dirty="0" err="1"/>
              <a:t>afirmar</a:t>
            </a:r>
            <a:r>
              <a:rPr dirty="0"/>
              <a:t> </a:t>
            </a:r>
            <a:r>
              <a:rPr dirty="0" err="1"/>
              <a:t>que</a:t>
            </a:r>
            <a:r>
              <a:rPr dirty="0"/>
              <a:t> ambos canales </a:t>
            </a:r>
            <a:r>
              <a:rPr dirty="0" err="1"/>
              <a:t>producen</a:t>
            </a:r>
            <a:r>
              <a:rPr dirty="0"/>
              <a:t> </a:t>
            </a:r>
            <a:r>
              <a:rPr dirty="0" err="1"/>
              <a:t>una</a:t>
            </a:r>
            <a:r>
              <a:rPr dirty="0"/>
              <a:t> </a:t>
            </a:r>
            <a:r>
              <a:rPr dirty="0" err="1"/>
              <a:t>única</a:t>
            </a:r>
            <a:r>
              <a:rPr dirty="0"/>
              <a:t> </a:t>
            </a:r>
            <a:r>
              <a:rPr dirty="0" err="1"/>
              <a:t>respuesta</a:t>
            </a:r>
            <a:r>
              <a:rPr dirty="0"/>
              <a:t> </a:t>
            </a:r>
            <a:r>
              <a:rPr dirty="0" err="1"/>
              <a:t>compuesta</a:t>
            </a:r>
            <a:r>
              <a:rPr dirty="0"/>
              <a:t>.</a:t>
            </a:r>
          </a:p>
          <a:p>
            <a:endParaRPr dirty="0"/>
          </a:p>
          <a:p>
            <a:r>
              <a:rPr dirty="0" err="1"/>
              <a:t>Distinga</a:t>
            </a:r>
            <a:r>
              <a:rPr dirty="0"/>
              <a:t> </a:t>
            </a:r>
            <a:r>
              <a:rPr dirty="0" err="1"/>
              <a:t>unmatched_intent</a:t>
            </a:r>
            <a:r>
              <a:rPr dirty="0"/>
              <a:t> de </a:t>
            </a:r>
            <a:r>
              <a:rPr dirty="0" err="1"/>
              <a:t>unparsed_remainder</a:t>
            </a:r>
            <a:r>
              <a:rPr dirty="0"/>
              <a:t>. </a:t>
            </a:r>
            <a:r>
              <a:rPr dirty="0" err="1"/>
              <a:t>unmatched_intent</a:t>
            </a:r>
            <a:r>
              <a:rPr dirty="0"/>
              <a:t> </a:t>
            </a:r>
            <a:r>
              <a:rPr dirty="0" err="1"/>
              <a:t>representa</a:t>
            </a:r>
            <a:r>
              <a:rPr dirty="0"/>
              <a:t> un intent </a:t>
            </a:r>
            <a:r>
              <a:rPr dirty="0" err="1"/>
              <a:t>limpio</a:t>
            </a:r>
            <a:r>
              <a:rPr dirty="0"/>
              <a:t> </a:t>
            </a:r>
            <a:r>
              <a:rPr dirty="0" err="1"/>
              <a:t>que</a:t>
            </a:r>
            <a:r>
              <a:rPr dirty="0"/>
              <a:t> </a:t>
            </a:r>
            <a:r>
              <a:rPr dirty="0" err="1"/>
              <a:t>ningún</a:t>
            </a:r>
            <a:r>
              <a:rPr dirty="0"/>
              <a:t> gate </a:t>
            </a:r>
            <a:r>
              <a:rPr dirty="0" err="1"/>
              <a:t>reclamó</a:t>
            </a:r>
            <a:r>
              <a:rPr dirty="0"/>
              <a:t> y </a:t>
            </a:r>
            <a:r>
              <a:rPr dirty="0" err="1"/>
              <a:t>sí</a:t>
            </a:r>
            <a:r>
              <a:rPr dirty="0"/>
              <a:t> </a:t>
            </a:r>
            <a:r>
              <a:rPr dirty="0" err="1"/>
              <a:t>puede</a:t>
            </a:r>
            <a:r>
              <a:rPr dirty="0"/>
              <a:t> </a:t>
            </a:r>
            <a:r>
              <a:rPr dirty="0" err="1"/>
              <a:t>continuar</a:t>
            </a:r>
            <a:r>
              <a:rPr dirty="0"/>
              <a:t> al </a:t>
            </a:r>
            <a:r>
              <a:rPr dirty="0" err="1"/>
              <a:t>agente</a:t>
            </a:r>
            <a:r>
              <a:rPr dirty="0"/>
              <a:t>. </a:t>
            </a:r>
            <a:r>
              <a:rPr dirty="0" err="1"/>
              <a:t>unparsed_remainder</a:t>
            </a:r>
            <a:r>
              <a:rPr dirty="0"/>
              <a:t> </a:t>
            </a:r>
            <a:r>
              <a:rPr dirty="0" err="1"/>
              <a:t>representa</a:t>
            </a:r>
            <a:r>
              <a:rPr dirty="0"/>
              <a:t> </a:t>
            </a:r>
            <a:r>
              <a:rPr dirty="0" err="1"/>
              <a:t>texto</a:t>
            </a:r>
            <a:r>
              <a:rPr dirty="0"/>
              <a:t> </a:t>
            </a:r>
            <a:r>
              <a:rPr dirty="0" err="1"/>
              <a:t>sobrante</a:t>
            </a:r>
            <a:r>
              <a:rPr dirty="0"/>
              <a:t> de un parser </a:t>
            </a:r>
            <a:r>
              <a:rPr dirty="0" err="1"/>
              <a:t>que</a:t>
            </a:r>
            <a:r>
              <a:rPr dirty="0"/>
              <a:t> no </a:t>
            </a:r>
            <a:r>
              <a:rPr dirty="0" err="1"/>
              <a:t>constituye</a:t>
            </a:r>
            <a:r>
              <a:rPr dirty="0"/>
              <a:t> </a:t>
            </a:r>
            <a:r>
              <a:rPr dirty="0" err="1"/>
              <a:t>una</a:t>
            </a:r>
            <a:r>
              <a:rPr dirty="0"/>
              <a:t> </a:t>
            </a:r>
            <a:r>
              <a:rPr dirty="0" err="1"/>
              <a:t>petición</a:t>
            </a:r>
            <a:r>
              <a:rPr dirty="0"/>
              <a:t> </a:t>
            </a:r>
            <a:r>
              <a:rPr dirty="0" err="1"/>
              <a:t>independiente</a:t>
            </a:r>
            <a:r>
              <a:rPr dirty="0"/>
              <a:t> </a:t>
            </a:r>
            <a:r>
              <a:rPr dirty="0" err="1"/>
              <a:t>confiable</a:t>
            </a:r>
            <a:r>
              <a:rPr dirty="0"/>
              <a:t>. En ese </a:t>
            </a:r>
            <a:r>
              <a:rPr dirty="0" err="1"/>
              <a:t>caso</a:t>
            </a:r>
            <a:r>
              <a:rPr dirty="0"/>
              <a:t> el </a:t>
            </a:r>
            <a:r>
              <a:rPr dirty="0" err="1"/>
              <a:t>sistema</a:t>
            </a:r>
            <a:r>
              <a:rPr dirty="0"/>
              <a:t> no lo </a:t>
            </a:r>
            <a:r>
              <a:rPr dirty="0" err="1"/>
              <a:t>ejecuta</a:t>
            </a:r>
            <a:r>
              <a:rPr dirty="0"/>
              <a:t> y </a:t>
            </a:r>
            <a:r>
              <a:rPr dirty="0" err="1"/>
              <a:t>añade</a:t>
            </a:r>
            <a:r>
              <a:rPr dirty="0"/>
              <a:t> “No </a:t>
            </a:r>
            <a:r>
              <a:rPr dirty="0" err="1"/>
              <a:t>actué</a:t>
            </a:r>
            <a:r>
              <a:rPr dirty="0"/>
              <a:t> </a:t>
            </a:r>
            <a:r>
              <a:rPr dirty="0" err="1"/>
              <a:t>sobre</a:t>
            </a:r>
            <a:r>
              <a:rPr dirty="0"/>
              <a:t>” al </a:t>
            </a:r>
            <a:r>
              <a:rPr dirty="0" err="1"/>
              <a:t>reconocimiento</a:t>
            </a:r>
            <a:r>
              <a:rPr dirty="0"/>
              <a:t>.</a:t>
            </a:r>
          </a:p>
          <a:p>
            <a:endParaRPr dirty="0"/>
          </a:p>
          <a:p>
            <a:r>
              <a:rPr dirty="0"/>
              <a:t>Si </a:t>
            </a:r>
            <a:r>
              <a:rPr dirty="0" err="1"/>
              <a:t>ningún</a:t>
            </a:r>
            <a:r>
              <a:rPr dirty="0"/>
              <a:t> intent del split es </a:t>
            </a:r>
            <a:r>
              <a:rPr dirty="0" err="1"/>
              <a:t>manejado</a:t>
            </a:r>
            <a:r>
              <a:rPr dirty="0"/>
              <a:t> </a:t>
            </a:r>
            <a:r>
              <a:rPr dirty="0" err="1"/>
              <a:t>por</a:t>
            </a:r>
            <a:r>
              <a:rPr dirty="0"/>
              <a:t> </a:t>
            </a:r>
            <a:r>
              <a:rPr dirty="0" err="1"/>
              <a:t>los</a:t>
            </a:r>
            <a:r>
              <a:rPr dirty="0"/>
              <a:t> gates, </a:t>
            </a:r>
            <a:r>
              <a:rPr dirty="0" err="1"/>
              <a:t>composePendingDecisionTurns</a:t>
            </a:r>
            <a:r>
              <a:rPr dirty="0"/>
              <a:t> </a:t>
            </a:r>
            <a:r>
              <a:rPr dirty="0" err="1"/>
              <a:t>devuelve</a:t>
            </a:r>
            <a:r>
              <a:rPr dirty="0"/>
              <a:t> </a:t>
            </a:r>
            <a:r>
              <a:rPr dirty="0" err="1"/>
              <a:t>handled:false</a:t>
            </a:r>
            <a:r>
              <a:rPr dirty="0"/>
              <a:t>. </a:t>
            </a:r>
            <a:r>
              <a:rPr dirty="0" err="1"/>
              <a:t>Entonces</a:t>
            </a:r>
            <a:r>
              <a:rPr dirty="0"/>
              <a:t> no </a:t>
            </a:r>
            <a:r>
              <a:rPr dirty="0" err="1"/>
              <a:t>crea</a:t>
            </a:r>
            <a:r>
              <a:rPr dirty="0"/>
              <a:t> </a:t>
            </a:r>
            <a:r>
              <a:rPr dirty="0" err="1"/>
              <a:t>una</a:t>
            </a:r>
            <a:r>
              <a:rPr dirty="0"/>
              <a:t> </a:t>
            </a:r>
            <a:r>
              <a:rPr dirty="0" err="1"/>
              <a:t>continuación</a:t>
            </a:r>
            <a:r>
              <a:rPr dirty="0"/>
              <a:t> residual: el </a:t>
            </a:r>
            <a:r>
              <a:rPr dirty="0" err="1"/>
              <a:t>turno</a:t>
            </a:r>
            <a:r>
              <a:rPr dirty="0"/>
              <a:t> </a:t>
            </a:r>
            <a:r>
              <a:rPr dirty="0" err="1"/>
              <a:t>completo</a:t>
            </a:r>
            <a:r>
              <a:rPr dirty="0"/>
              <a:t> </a:t>
            </a:r>
            <a:r>
              <a:rPr dirty="0" err="1"/>
              <a:t>sigue</a:t>
            </a:r>
            <a:r>
              <a:rPr dirty="0"/>
              <a:t> el </a:t>
            </a:r>
            <a:r>
              <a:rPr dirty="0" err="1"/>
              <a:t>flujo</a:t>
            </a:r>
            <a:r>
              <a:rPr dirty="0"/>
              <a:t> normal y </a:t>
            </a:r>
            <a:r>
              <a:rPr dirty="0" err="1"/>
              <a:t>llega</a:t>
            </a:r>
            <a:r>
              <a:rPr dirty="0"/>
              <a:t> </a:t>
            </a:r>
            <a:r>
              <a:rPr dirty="0" err="1"/>
              <a:t>íntegro</a:t>
            </a:r>
            <a:r>
              <a:rPr dirty="0"/>
              <a:t> al </a:t>
            </a:r>
            <a:r>
              <a:rPr dirty="0" err="1"/>
              <a:t>agente</a:t>
            </a:r>
            <a:r>
              <a:rPr dirty="0"/>
              <a:t>. Si </a:t>
            </a:r>
            <a:r>
              <a:rPr dirty="0" err="1"/>
              <a:t>runAgent</a:t>
            </a:r>
            <a:r>
              <a:rPr dirty="0"/>
              <a:t> </a:t>
            </a:r>
            <a:r>
              <a:rPr dirty="0" err="1"/>
              <a:t>solicita</a:t>
            </a:r>
            <a:r>
              <a:rPr dirty="0"/>
              <a:t> </a:t>
            </a:r>
            <a:r>
              <a:rPr dirty="0" err="1"/>
              <a:t>una</a:t>
            </a:r>
            <a:r>
              <a:rPr dirty="0"/>
              <a:t> tool </a:t>
            </a:r>
            <a:r>
              <a:rPr dirty="0" err="1"/>
              <a:t>protegida</a:t>
            </a:r>
            <a:r>
              <a:rPr dirty="0"/>
              <a:t>, </a:t>
            </a:r>
            <a:r>
              <a:rPr dirty="0" err="1"/>
              <a:t>su</a:t>
            </a:r>
            <a:r>
              <a:rPr dirty="0"/>
              <a:t> </a:t>
            </a:r>
            <a:r>
              <a:rPr dirty="0" err="1"/>
              <a:t>propio</a:t>
            </a:r>
            <a:r>
              <a:rPr dirty="0"/>
              <a:t> HITL </a:t>
            </a:r>
            <a:r>
              <a:rPr dirty="0" err="1"/>
              <a:t>puede</a:t>
            </a:r>
            <a:r>
              <a:rPr dirty="0"/>
              <a:t> </a:t>
            </a:r>
            <a:r>
              <a:rPr dirty="0" err="1"/>
              <a:t>abrir</a:t>
            </a:r>
            <a:r>
              <a:rPr dirty="0"/>
              <a:t> </a:t>
            </a:r>
            <a:r>
              <a:rPr dirty="0" err="1"/>
              <a:t>una</a:t>
            </a:r>
            <a:r>
              <a:rPr dirty="0"/>
              <a:t> </a:t>
            </a:r>
            <a:r>
              <a:rPr dirty="0" err="1"/>
              <a:t>confirmación</a:t>
            </a:r>
            <a:r>
              <a:rPr dirty="0"/>
              <a:t> posterior.</a:t>
            </a:r>
          </a:p>
          <a:p>
            <a:endParaRPr dirty="0"/>
          </a:p>
          <a:p>
            <a:r>
              <a:rPr dirty="0"/>
              <a:t>Cierre </a:t>
            </a:r>
            <a:r>
              <a:rPr dirty="0" err="1"/>
              <a:t>indicando</a:t>
            </a:r>
            <a:r>
              <a:rPr dirty="0"/>
              <a:t> </a:t>
            </a:r>
            <a:r>
              <a:rPr dirty="0" err="1"/>
              <a:t>que</a:t>
            </a:r>
            <a:r>
              <a:rPr dirty="0"/>
              <a:t> </a:t>
            </a:r>
            <a:r>
              <a:rPr dirty="0" err="1"/>
              <a:t>este</a:t>
            </a:r>
            <a:r>
              <a:rPr dirty="0"/>
              <a:t> </a:t>
            </a:r>
            <a:r>
              <a:rPr dirty="0" err="1"/>
              <a:t>mecanismo</a:t>
            </a:r>
            <a:r>
              <a:rPr dirty="0"/>
              <a:t> </a:t>
            </a:r>
            <a:r>
              <a:rPr dirty="0" err="1"/>
              <a:t>preserva</a:t>
            </a:r>
            <a:r>
              <a:rPr dirty="0"/>
              <a:t> </a:t>
            </a:r>
            <a:r>
              <a:rPr dirty="0" err="1"/>
              <a:t>intención</a:t>
            </a:r>
            <a:r>
              <a:rPr dirty="0"/>
              <a:t> </a:t>
            </a:r>
            <a:r>
              <a:rPr dirty="0" err="1"/>
              <a:t>alrededor</a:t>
            </a:r>
            <a:r>
              <a:rPr dirty="0"/>
              <a:t> de </a:t>
            </a:r>
            <a:r>
              <a:rPr dirty="0" err="1"/>
              <a:t>decisiones</a:t>
            </a:r>
            <a:r>
              <a:rPr dirty="0"/>
              <a:t> </a:t>
            </a:r>
            <a:r>
              <a:rPr dirty="0" err="1"/>
              <a:t>pendientes</a:t>
            </a:r>
            <a:r>
              <a:rPr dirty="0"/>
              <a:t>. No </a:t>
            </a:r>
            <a:r>
              <a:rPr dirty="0" err="1"/>
              <a:t>constituye</a:t>
            </a:r>
            <a:r>
              <a:rPr dirty="0"/>
              <a:t> un </a:t>
            </a:r>
            <a:r>
              <a:rPr dirty="0" err="1"/>
              <a:t>planificador</a:t>
            </a:r>
            <a:r>
              <a:rPr dirty="0"/>
              <a:t> universal </a:t>
            </a:r>
            <a:r>
              <a:rPr dirty="0" err="1"/>
              <a:t>ni</a:t>
            </a:r>
            <a:r>
              <a:rPr dirty="0"/>
              <a:t> multi-skill </a:t>
            </a:r>
            <a:r>
              <a:rPr dirty="0" err="1"/>
              <a:t>dinámico</a:t>
            </a:r>
            <a:r>
              <a:rPr dirty="0"/>
              <a:t>.</a:t>
            </a:r>
          </a:p>
          <a:p>
            <a:endParaRPr dirty="0"/>
          </a:p>
          <a:p>
            <a:r>
              <a:rPr dirty="0"/>
              <a:t>[GLOSARIO]</a:t>
            </a:r>
          </a:p>
          <a:p>
            <a:pPr marL="171450" indent="-171450">
              <a:buFont typeface="Arial" panose="020B0604020202020204" pitchFamily="34" charset="0"/>
              <a:buChar char="•"/>
            </a:pPr>
            <a:r>
              <a:rPr dirty="0"/>
              <a:t>Multi-intent: </a:t>
            </a:r>
            <a:r>
              <a:rPr dirty="0" err="1"/>
              <a:t>mensaje</a:t>
            </a:r>
            <a:r>
              <a:rPr dirty="0"/>
              <a:t> con dos o más </a:t>
            </a:r>
            <a:r>
              <a:rPr dirty="0" err="1"/>
              <a:t>peticiones</a:t>
            </a:r>
            <a:r>
              <a:rPr dirty="0"/>
              <a:t> </a:t>
            </a:r>
            <a:r>
              <a:rPr dirty="0" err="1"/>
              <a:t>independientes</a:t>
            </a:r>
            <a:r>
              <a:rPr dirty="0"/>
              <a:t>.</a:t>
            </a:r>
          </a:p>
          <a:p>
            <a:pPr marL="171450" indent="-171450">
              <a:buFont typeface="Arial" panose="020B0604020202020204" pitchFamily="34" charset="0"/>
              <a:buChar char="•"/>
            </a:pPr>
            <a:r>
              <a:rPr dirty="0" err="1"/>
              <a:t>Prefiltro</a:t>
            </a:r>
            <a:r>
              <a:rPr dirty="0"/>
              <a:t>: </a:t>
            </a:r>
            <a:r>
              <a:rPr dirty="0" err="1"/>
              <a:t>heurística</a:t>
            </a:r>
            <a:r>
              <a:rPr dirty="0"/>
              <a:t> </a:t>
            </a:r>
            <a:r>
              <a:rPr dirty="0" err="1"/>
              <a:t>barata</a:t>
            </a:r>
            <a:r>
              <a:rPr dirty="0"/>
              <a:t> </a:t>
            </a:r>
            <a:r>
              <a:rPr dirty="0" err="1"/>
              <a:t>que</a:t>
            </a:r>
            <a:r>
              <a:rPr dirty="0"/>
              <a:t> decide </a:t>
            </a:r>
            <a:r>
              <a:rPr dirty="0" err="1"/>
              <a:t>si</a:t>
            </a:r>
            <a:r>
              <a:rPr dirty="0"/>
              <a:t> vale la </a:t>
            </a:r>
            <a:r>
              <a:rPr dirty="0" err="1"/>
              <a:t>pena</a:t>
            </a:r>
            <a:r>
              <a:rPr dirty="0"/>
              <a:t> </a:t>
            </a:r>
            <a:r>
              <a:rPr dirty="0" err="1"/>
              <a:t>invocar</a:t>
            </a:r>
            <a:r>
              <a:rPr dirty="0"/>
              <a:t> al decomposer.</a:t>
            </a:r>
          </a:p>
          <a:p>
            <a:pPr marL="171450" indent="-171450">
              <a:buFont typeface="Arial" panose="020B0604020202020204" pitchFamily="34" charset="0"/>
              <a:buChar char="•"/>
            </a:pPr>
            <a:r>
              <a:rPr dirty="0"/>
              <a:t>Intent decomposer: </a:t>
            </a:r>
            <a:r>
              <a:rPr dirty="0" err="1"/>
              <a:t>modelo</a:t>
            </a:r>
            <a:r>
              <a:rPr dirty="0"/>
              <a:t> </a:t>
            </a:r>
            <a:r>
              <a:rPr dirty="0" err="1"/>
              <a:t>que</a:t>
            </a:r>
            <a:r>
              <a:rPr dirty="0"/>
              <a:t> propone </a:t>
            </a:r>
            <a:r>
              <a:rPr dirty="0" err="1"/>
              <a:t>segmentos</a:t>
            </a:r>
            <a:r>
              <a:rPr dirty="0"/>
              <a:t> </a:t>
            </a:r>
            <a:r>
              <a:rPr dirty="0" err="1"/>
              <a:t>estructurados</a:t>
            </a:r>
            <a:r>
              <a:rPr dirty="0"/>
              <a:t> del </a:t>
            </a:r>
            <a:r>
              <a:rPr dirty="0" err="1"/>
              <a:t>mensaje</a:t>
            </a:r>
            <a:r>
              <a:rPr dirty="0"/>
              <a:t>.</a:t>
            </a:r>
          </a:p>
          <a:p>
            <a:pPr marL="171450" indent="-171450">
              <a:buFont typeface="Arial" panose="020B0604020202020204" pitchFamily="34" charset="0"/>
              <a:buChar char="•"/>
            </a:pPr>
            <a:r>
              <a:rPr dirty="0"/>
              <a:t>Span literal: </a:t>
            </a:r>
            <a:r>
              <a:rPr dirty="0" err="1"/>
              <a:t>fragmento</a:t>
            </a:r>
            <a:r>
              <a:rPr dirty="0"/>
              <a:t> </a:t>
            </a:r>
            <a:r>
              <a:rPr dirty="0" err="1"/>
              <a:t>copiado</a:t>
            </a:r>
            <a:r>
              <a:rPr dirty="0"/>
              <a:t> del </a:t>
            </a:r>
            <a:r>
              <a:rPr dirty="0" err="1"/>
              <a:t>texto</a:t>
            </a:r>
            <a:r>
              <a:rPr dirty="0"/>
              <a:t> original, sin </a:t>
            </a:r>
            <a:r>
              <a:rPr dirty="0" err="1"/>
              <a:t>paráfrasis</a:t>
            </a:r>
            <a:r>
              <a:rPr dirty="0"/>
              <a:t>.</a:t>
            </a:r>
          </a:p>
          <a:p>
            <a:pPr marL="171450" indent="-171450">
              <a:buFont typeface="Arial" panose="020B0604020202020204" pitchFamily="34" charset="0"/>
              <a:buChar char="•"/>
            </a:pPr>
            <a:r>
              <a:rPr dirty="0"/>
              <a:t>Pending-decision gate: router </a:t>
            </a:r>
            <a:r>
              <a:rPr dirty="0" err="1"/>
              <a:t>especializado</a:t>
            </a:r>
            <a:r>
              <a:rPr dirty="0"/>
              <a:t> </a:t>
            </a:r>
            <a:r>
              <a:rPr dirty="0" err="1"/>
              <a:t>que</a:t>
            </a:r>
            <a:r>
              <a:rPr dirty="0"/>
              <a:t> </a:t>
            </a:r>
            <a:r>
              <a:rPr dirty="0" err="1"/>
              <a:t>posee</a:t>
            </a:r>
            <a:r>
              <a:rPr dirty="0"/>
              <a:t> </a:t>
            </a:r>
            <a:r>
              <a:rPr dirty="0" err="1"/>
              <a:t>una</a:t>
            </a:r>
            <a:r>
              <a:rPr dirty="0"/>
              <a:t> </a:t>
            </a:r>
            <a:r>
              <a:rPr dirty="0" err="1"/>
              <a:t>aprobación</a:t>
            </a:r>
            <a:r>
              <a:rPr dirty="0"/>
              <a:t> o </a:t>
            </a:r>
            <a:r>
              <a:rPr dirty="0" err="1"/>
              <a:t>decisión</a:t>
            </a:r>
            <a:r>
              <a:rPr dirty="0"/>
              <a:t> </a:t>
            </a:r>
            <a:r>
              <a:rPr dirty="0" err="1"/>
              <a:t>pendiente</a:t>
            </a:r>
            <a:r>
              <a:rPr dirty="0"/>
              <a:t>.</a:t>
            </a:r>
            <a:r>
              <a:rPr lang="es-MX" dirty="0"/>
              <a:t> “</a:t>
            </a:r>
            <a:r>
              <a:rPr lang="es-MX" dirty="0" err="1"/>
              <a:t>Router</a:t>
            </a:r>
            <a:r>
              <a:rPr lang="es-MX" dirty="0"/>
              <a:t> por </a:t>
            </a:r>
            <a:r>
              <a:rPr lang="es-MX" dirty="0" err="1"/>
              <a:t>intent</a:t>
            </a:r>
            <a:r>
              <a:rPr lang="es-MX" dirty="0"/>
              <a:t>” comunica que no se procesa el conjunto una sola vez. Internamente, el </a:t>
            </a:r>
            <a:r>
              <a:rPr lang="es-MX" dirty="0" err="1"/>
              <a:t>multiplexer</a:t>
            </a:r>
            <a:r>
              <a:rPr lang="es-MX" dirty="0"/>
              <a:t> llama repetidamente al mismo </a:t>
            </a:r>
            <a:r>
              <a:rPr lang="es-MX" dirty="0" err="1"/>
              <a:t>router</a:t>
            </a:r>
            <a:r>
              <a:rPr lang="es-MX" dirty="0"/>
              <a:t>.</a:t>
            </a:r>
            <a:endParaRPr dirty="0"/>
          </a:p>
          <a:p>
            <a:pPr marL="171450" indent="-171450">
              <a:buFont typeface="Arial" panose="020B0604020202020204" pitchFamily="34" charset="0"/>
              <a:buChar char="•"/>
            </a:pPr>
            <a:r>
              <a:rPr dirty="0"/>
              <a:t>Dispatch </a:t>
            </a:r>
            <a:r>
              <a:rPr dirty="0" err="1"/>
              <a:t>secuencial</a:t>
            </a:r>
            <a:r>
              <a:rPr dirty="0"/>
              <a:t>: </a:t>
            </a:r>
            <a:r>
              <a:rPr dirty="0" err="1"/>
              <a:t>envío</a:t>
            </a:r>
            <a:r>
              <a:rPr dirty="0"/>
              <a:t> de </a:t>
            </a:r>
            <a:r>
              <a:rPr dirty="0" err="1"/>
              <a:t>cada</a:t>
            </a:r>
            <a:r>
              <a:rPr dirty="0"/>
              <a:t> intent, uno </a:t>
            </a:r>
            <a:r>
              <a:rPr dirty="0" err="1"/>
              <a:t>por</a:t>
            </a:r>
            <a:r>
              <a:rPr dirty="0"/>
              <a:t> uno, a la </a:t>
            </a:r>
            <a:r>
              <a:rPr dirty="0" err="1"/>
              <a:t>cadena</a:t>
            </a:r>
            <a:r>
              <a:rPr dirty="0"/>
              <a:t> completa de gates.</a:t>
            </a:r>
          </a:p>
          <a:p>
            <a:pPr marL="171450" indent="-171450">
              <a:buFont typeface="Arial" panose="020B0604020202020204" pitchFamily="34" charset="0"/>
              <a:buChar char="•"/>
            </a:pPr>
            <a:r>
              <a:rPr dirty="0"/>
              <a:t>Residual intent: </a:t>
            </a:r>
            <a:r>
              <a:rPr dirty="0" err="1"/>
              <a:t>texto</a:t>
            </a:r>
            <a:r>
              <a:rPr dirty="0"/>
              <a:t> </a:t>
            </a:r>
            <a:r>
              <a:rPr dirty="0" err="1"/>
              <a:t>preservado</a:t>
            </a:r>
            <a:r>
              <a:rPr dirty="0"/>
              <a:t> </a:t>
            </a:r>
            <a:r>
              <a:rPr dirty="0" err="1"/>
              <a:t>que</a:t>
            </a:r>
            <a:r>
              <a:rPr dirty="0"/>
              <a:t> el </a:t>
            </a:r>
            <a:r>
              <a:rPr dirty="0" err="1"/>
              <a:t>mecanismo</a:t>
            </a:r>
            <a:r>
              <a:rPr dirty="0"/>
              <a:t> actual no </a:t>
            </a:r>
            <a:r>
              <a:rPr dirty="0" err="1"/>
              <a:t>consumió</a:t>
            </a:r>
            <a:r>
              <a:rPr dirty="0"/>
              <a:t>.</a:t>
            </a:r>
          </a:p>
          <a:p>
            <a:pPr marL="171450" indent="-171450">
              <a:buFont typeface="Arial" panose="020B0604020202020204" pitchFamily="34" charset="0"/>
              <a:buChar char="•"/>
            </a:pPr>
            <a:r>
              <a:rPr dirty="0" err="1"/>
              <a:t>unmatched_intent</a:t>
            </a:r>
            <a:r>
              <a:rPr dirty="0"/>
              <a:t>: </a:t>
            </a:r>
            <a:r>
              <a:rPr dirty="0" err="1"/>
              <a:t>razón</a:t>
            </a:r>
            <a:r>
              <a:rPr dirty="0"/>
              <a:t> </a:t>
            </a:r>
            <a:r>
              <a:rPr dirty="0" err="1"/>
              <a:t>asignada</a:t>
            </a:r>
            <a:r>
              <a:rPr dirty="0"/>
              <a:t> a un intent </a:t>
            </a:r>
            <a:r>
              <a:rPr dirty="0" err="1"/>
              <a:t>limpio</a:t>
            </a:r>
            <a:r>
              <a:rPr dirty="0"/>
              <a:t> </a:t>
            </a:r>
            <a:r>
              <a:rPr dirty="0" err="1"/>
              <a:t>que</a:t>
            </a:r>
            <a:r>
              <a:rPr dirty="0"/>
              <a:t> </a:t>
            </a:r>
            <a:r>
              <a:rPr dirty="0" err="1"/>
              <a:t>ningún</a:t>
            </a:r>
            <a:r>
              <a:rPr dirty="0"/>
              <a:t> gate </a:t>
            </a:r>
            <a:r>
              <a:rPr dirty="0" err="1"/>
              <a:t>manejó</a:t>
            </a:r>
            <a:r>
              <a:rPr dirty="0"/>
              <a:t> y </a:t>
            </a:r>
            <a:r>
              <a:rPr dirty="0" err="1"/>
              <a:t>que</a:t>
            </a:r>
            <a:r>
              <a:rPr dirty="0"/>
              <a:t> el </a:t>
            </a:r>
            <a:r>
              <a:rPr dirty="0" err="1"/>
              <a:t>adaptador</a:t>
            </a:r>
            <a:r>
              <a:rPr dirty="0"/>
              <a:t> </a:t>
            </a:r>
            <a:r>
              <a:rPr dirty="0" err="1"/>
              <a:t>reenvía</a:t>
            </a:r>
            <a:r>
              <a:rPr dirty="0"/>
              <a:t> al </a:t>
            </a:r>
            <a:r>
              <a:rPr dirty="0" err="1"/>
              <a:t>agente</a:t>
            </a:r>
            <a:r>
              <a:rPr dirty="0"/>
              <a:t>.</a:t>
            </a:r>
          </a:p>
          <a:p>
            <a:pPr marL="171450" indent="-171450">
              <a:buFont typeface="Arial" panose="020B0604020202020204" pitchFamily="34" charset="0"/>
              <a:buChar char="•"/>
            </a:pPr>
            <a:r>
              <a:rPr dirty="0" err="1"/>
              <a:t>unparsed_remainder</a:t>
            </a:r>
            <a:r>
              <a:rPr dirty="0"/>
              <a:t>: </a:t>
            </a:r>
            <a:r>
              <a:rPr dirty="0" err="1"/>
              <a:t>texto</a:t>
            </a:r>
            <a:r>
              <a:rPr dirty="0"/>
              <a:t> </a:t>
            </a:r>
            <a:r>
              <a:rPr dirty="0" err="1"/>
              <a:t>sobrante</a:t>
            </a:r>
            <a:r>
              <a:rPr dirty="0"/>
              <a:t> </a:t>
            </a:r>
            <a:r>
              <a:rPr dirty="0" err="1"/>
              <a:t>reconocido</a:t>
            </a:r>
            <a:r>
              <a:rPr dirty="0"/>
              <a:t>, </a:t>
            </a:r>
            <a:r>
              <a:rPr dirty="0" err="1"/>
              <a:t>pero</a:t>
            </a:r>
            <a:r>
              <a:rPr dirty="0"/>
              <a:t> no </a:t>
            </a:r>
            <a:r>
              <a:rPr dirty="0" err="1"/>
              <a:t>ejecutado</a:t>
            </a:r>
            <a:r>
              <a:rPr dirty="0"/>
              <a:t> </a:t>
            </a:r>
            <a:r>
              <a:rPr dirty="0" err="1"/>
              <a:t>automáticamente</a:t>
            </a:r>
            <a:r>
              <a:rPr dirty="0"/>
              <a:t>.</a:t>
            </a:r>
          </a:p>
          <a:p>
            <a:pPr marL="171450" indent="-171450">
              <a:buFont typeface="Arial" panose="020B0604020202020204" pitchFamily="34" charset="0"/>
              <a:buChar char="•"/>
            </a:pPr>
            <a:r>
              <a:rPr dirty="0" err="1"/>
              <a:t>deferredAgentContinuationText</a:t>
            </a:r>
            <a:r>
              <a:rPr dirty="0"/>
              <a:t>: </a:t>
            </a:r>
            <a:r>
              <a:rPr dirty="0" err="1"/>
              <a:t>función</a:t>
            </a:r>
            <a:r>
              <a:rPr dirty="0"/>
              <a:t> </a:t>
            </a:r>
            <a:r>
              <a:rPr dirty="0" err="1"/>
              <a:t>que</a:t>
            </a:r>
            <a:r>
              <a:rPr dirty="0"/>
              <a:t> libera para </a:t>
            </a:r>
            <a:r>
              <a:rPr dirty="0" err="1"/>
              <a:t>runAgent</a:t>
            </a:r>
            <a:r>
              <a:rPr dirty="0"/>
              <a:t> </a:t>
            </a:r>
            <a:r>
              <a:rPr dirty="0" err="1"/>
              <a:t>únicamente</a:t>
            </a:r>
            <a:r>
              <a:rPr dirty="0"/>
              <a:t> un residual </a:t>
            </a:r>
            <a:r>
              <a:rPr dirty="0" err="1"/>
              <a:t>unmatched_intent</a:t>
            </a:r>
            <a:r>
              <a:rPr dirty="0"/>
              <a:t>.</a:t>
            </a:r>
          </a:p>
          <a:p>
            <a:pPr marL="171450" indent="-171450">
              <a:buFont typeface="Arial" panose="020B0604020202020204" pitchFamily="34" charset="0"/>
              <a:buChar char="•"/>
            </a:pPr>
            <a:r>
              <a:rPr dirty="0"/>
              <a:t>Salida </a:t>
            </a:r>
            <a:r>
              <a:rPr dirty="0" err="1"/>
              <a:t>coordinada</a:t>
            </a:r>
            <a:r>
              <a:rPr dirty="0"/>
              <a:t>: </a:t>
            </a:r>
            <a:r>
              <a:rPr dirty="0" err="1"/>
              <a:t>reconocimiento</a:t>
            </a:r>
            <a:r>
              <a:rPr dirty="0"/>
              <a:t> de la </a:t>
            </a:r>
            <a:r>
              <a:rPr dirty="0" err="1"/>
              <a:t>decisión</a:t>
            </a:r>
            <a:r>
              <a:rPr dirty="0"/>
              <a:t> y </a:t>
            </a:r>
            <a:r>
              <a:rPr dirty="0" err="1"/>
              <a:t>respuesta</a:t>
            </a:r>
            <a:r>
              <a:rPr dirty="0"/>
              <a:t> posterior del </a:t>
            </a:r>
            <a:r>
              <a:rPr dirty="0" err="1"/>
              <a:t>agente</a:t>
            </a:r>
            <a:r>
              <a:rPr dirty="0"/>
              <a:t>, </a:t>
            </a:r>
            <a:r>
              <a:rPr dirty="0" err="1"/>
              <a:t>presentados</a:t>
            </a:r>
            <a:r>
              <a:rPr dirty="0"/>
              <a:t> </a:t>
            </a:r>
            <a:r>
              <a:rPr dirty="0" err="1"/>
              <a:t>según</a:t>
            </a:r>
            <a:r>
              <a:rPr dirty="0"/>
              <a:t> el canal.</a:t>
            </a:r>
          </a:p>
          <a:p>
            <a:pPr marL="171450" indent="-171450">
              <a:buFont typeface="Arial" panose="020B0604020202020204" pitchFamily="34" charset="0"/>
              <a:buChar char="•"/>
            </a:pPr>
            <a:r>
              <a:rPr dirty="0"/>
              <a:t>Fail-open: ante </a:t>
            </a:r>
            <a:r>
              <a:rPr dirty="0" err="1"/>
              <a:t>fallo</a:t>
            </a:r>
            <a:r>
              <a:rPr dirty="0"/>
              <a:t> o baja confianza, el </a:t>
            </a:r>
            <a:r>
              <a:rPr dirty="0" err="1"/>
              <a:t>sistema</a:t>
            </a:r>
            <a:r>
              <a:rPr dirty="0"/>
              <a:t> </a:t>
            </a:r>
            <a:r>
              <a:rPr dirty="0" err="1"/>
              <a:t>conserva</a:t>
            </a:r>
            <a:r>
              <a:rPr dirty="0"/>
              <a:t> el </a:t>
            </a:r>
            <a:r>
              <a:rPr dirty="0" err="1"/>
              <a:t>mensaje</a:t>
            </a:r>
            <a:r>
              <a:rPr dirty="0"/>
              <a:t> </a:t>
            </a:r>
            <a:r>
              <a:rPr dirty="0" err="1"/>
              <a:t>completo</a:t>
            </a:r>
            <a:r>
              <a:rPr dirty="0"/>
              <a:t> y el </a:t>
            </a:r>
            <a:r>
              <a:rPr dirty="0" err="1"/>
              <a:t>comportamiento</a:t>
            </a:r>
            <a:r>
              <a:rPr dirty="0"/>
              <a:t> anterior.</a:t>
            </a:r>
            <a:endParaRPr lang="es-MX" dirty="0"/>
          </a:p>
          <a:p>
            <a:pPr marL="171450" indent="-171450">
              <a:buFont typeface="Arial" panose="020B0604020202020204" pitchFamily="34" charset="0"/>
              <a:buChar char="•"/>
            </a:pPr>
            <a:r>
              <a:rPr lang="es-MX" sz="1200" kern="1200" dirty="0" err="1"/>
              <a:t>runAgent</a:t>
            </a:r>
            <a:r>
              <a:rPr lang="es-MX" dirty="0"/>
              <a:t> es el </a:t>
            </a:r>
            <a:r>
              <a:rPr lang="es-MX" dirty="0" err="1"/>
              <a:t>entry</a:t>
            </a:r>
            <a:r>
              <a:rPr lang="es-MX" dirty="0"/>
              <a:t> </a:t>
            </a:r>
            <a:r>
              <a:rPr lang="es-MX" dirty="0" err="1"/>
              <a:t>point</a:t>
            </a:r>
            <a:r>
              <a:rPr lang="es-MX" dirty="0"/>
              <a:t> del </a:t>
            </a:r>
            <a:r>
              <a:rPr lang="es-MX" dirty="0" err="1"/>
              <a:t>runtime</a:t>
            </a:r>
            <a:r>
              <a:rPr lang="es-MX" dirty="0"/>
              <a:t>. Dentro de esa llamada ocurren, entre otras cosas: selección de Skill; construcción del contexto; entrada al </a:t>
            </a:r>
            <a:r>
              <a:rPr lang="es-MX" dirty="0" err="1"/>
              <a:t>StateGraph</a:t>
            </a:r>
            <a:r>
              <a:rPr lang="es-MX" dirty="0"/>
              <a:t> que tiene nodos </a:t>
            </a:r>
            <a:r>
              <a:rPr lang="es-MX" sz="1800" kern="1200" dirty="0" err="1"/>
              <a:t>memory_injection</a:t>
            </a:r>
            <a:r>
              <a:rPr lang="es-MX" dirty="0"/>
              <a:t>, </a:t>
            </a:r>
            <a:r>
              <a:rPr lang="es-MX" sz="1800" kern="1200" dirty="0" err="1"/>
              <a:t>compaction</a:t>
            </a:r>
            <a:r>
              <a:rPr lang="es-MX" dirty="0"/>
              <a:t> y </a:t>
            </a:r>
            <a:r>
              <a:rPr lang="es-MX" sz="1800" kern="1200" dirty="0" err="1"/>
              <a:t>agent</a:t>
            </a:r>
            <a:r>
              <a:rPr lang="es-MX" sz="1800" kern="1200" dirty="0"/>
              <a:t> con modelo LLM y</a:t>
            </a:r>
            <a:r>
              <a:rPr lang="es-MX" dirty="0"/>
              <a:t> ejecución de </a:t>
            </a:r>
            <a:r>
              <a:rPr lang="es-MX" dirty="0" err="1"/>
              <a:t>tools</a:t>
            </a:r>
            <a:r>
              <a:rPr lang="es-MX" dirty="0"/>
              <a:t> cuando el modelo las solicita.</a:t>
            </a:r>
          </a:p>
          <a:p>
            <a:pPr marL="171450" indent="-171450">
              <a:buFont typeface="Arial" panose="020B0604020202020204" pitchFamily="34" charset="0"/>
              <a:buChar char="•"/>
            </a:pPr>
            <a:r>
              <a:rPr lang="es-MX" dirty="0"/>
              <a:t>Un turno conversacional es el procesamiento coordinado de una interacción. Puede terminar antes del agente o incluir una ejecución del </a:t>
            </a:r>
            <a:r>
              <a:rPr lang="es-MX" dirty="0" err="1"/>
              <a:t>StateGraph</a:t>
            </a:r>
            <a:r>
              <a:rPr lang="es-MX" dirty="0"/>
              <a:t>.</a:t>
            </a:r>
          </a:p>
          <a:p>
            <a:pPr marL="171450" indent="-171450">
              <a:buFont typeface="Arial" panose="020B0604020202020204" pitchFamily="34" charset="0"/>
              <a:buChar char="•"/>
            </a:pPr>
            <a:r>
              <a:rPr lang="es-MX" dirty="0"/>
              <a:t>Un adaptador de canal se ocupa principalmente de traducir entre un entorno externo y el contrato común de </a:t>
            </a:r>
            <a:r>
              <a:rPr lang="es-MX" dirty="0" err="1"/>
              <a:t>Gu</a:t>
            </a:r>
            <a:r>
              <a:rPr lang="es-MX" dirty="0"/>
              <a:t> OS:</a:t>
            </a:r>
          </a:p>
          <a:p>
            <a:pPr marL="171450" lvl="1" indent="-171450">
              <a:buFont typeface="Wingdings" panose="05000000000000000000" pitchFamily="2" charset="2"/>
              <a:buChar char="v"/>
            </a:pPr>
            <a:r>
              <a:rPr lang="es-MX" dirty="0"/>
              <a:t>recibe el mensaje, </a:t>
            </a:r>
            <a:r>
              <a:rPr lang="es-MX" dirty="0" err="1"/>
              <a:t>callback</a:t>
            </a:r>
            <a:r>
              <a:rPr lang="es-MX" dirty="0"/>
              <a:t> o evento; </a:t>
            </a:r>
          </a:p>
          <a:p>
            <a:pPr marL="171450" lvl="1" indent="-171450">
              <a:buFont typeface="Wingdings" panose="05000000000000000000" pitchFamily="2" charset="2"/>
              <a:buChar char="v"/>
            </a:pPr>
            <a:r>
              <a:rPr lang="es-MX" dirty="0"/>
              <a:t>resuelve identidad, sesión y contexto del canal; </a:t>
            </a:r>
          </a:p>
          <a:p>
            <a:pPr marL="171450" lvl="1" indent="-171450">
              <a:buFont typeface="Wingdings" panose="05000000000000000000" pitchFamily="2" charset="2"/>
              <a:buChar char="v"/>
            </a:pPr>
            <a:r>
              <a:rPr lang="es-MX" dirty="0"/>
              <a:t>invoca gates o </a:t>
            </a:r>
            <a:r>
              <a:rPr lang="es-MX" sz="1800" kern="1200" dirty="0" err="1"/>
              <a:t>runAgent</a:t>
            </a:r>
            <a:r>
              <a:rPr lang="es-MX" dirty="0"/>
              <a:t>; </a:t>
            </a:r>
          </a:p>
          <a:p>
            <a:pPr marL="171450" lvl="1" indent="-171450">
              <a:buFont typeface="Wingdings" panose="05000000000000000000" pitchFamily="2" charset="2"/>
              <a:buChar char="v"/>
            </a:pPr>
            <a:r>
              <a:rPr lang="es-MX" dirty="0"/>
              <a:t>convierte la salida en streaming web, mensaje de Telegram, notificación, etc.</a:t>
            </a:r>
          </a:p>
          <a:p>
            <a:pPr marL="0" indent="0">
              <a:buFont typeface="Arial" panose="020B0604020202020204" pitchFamily="34" charset="0"/>
              <a:buNone/>
            </a:pPr>
            <a:endParaRPr lang="es-MX" dirty="0"/>
          </a:p>
          <a:p>
            <a:r>
              <a:rPr lang="es-MX" b="1" dirty="0"/>
              <a:t>Qué significa </a:t>
            </a:r>
            <a:r>
              <a:rPr lang="es-MX" b="1" dirty="0" err="1"/>
              <a:t>runtime</a:t>
            </a:r>
            <a:r>
              <a:rPr lang="es-MX" b="1" dirty="0"/>
              <a:t> aquí</a:t>
            </a:r>
          </a:p>
          <a:p>
            <a:r>
              <a:rPr lang="es-MX" dirty="0"/>
              <a:t>“</a:t>
            </a:r>
            <a:r>
              <a:rPr lang="es-MX" dirty="0" err="1"/>
              <a:t>Runtime</a:t>
            </a:r>
            <a:r>
              <a:rPr lang="es-MX" dirty="0"/>
              <a:t>” es el conjunto de código que ejecuta una interacción real mientras el sistema está funcionando.</a:t>
            </a:r>
          </a:p>
          <a:p>
            <a:endParaRPr lang="es-MX" dirty="0"/>
          </a:p>
          <a:p>
            <a:r>
              <a:rPr lang="es-MX" dirty="0"/>
              <a:t>Conviene distinguir dos alcances:</a:t>
            </a:r>
          </a:p>
          <a:p>
            <a:pPr marL="171450" indent="-171450">
              <a:buFont typeface="Arial" panose="020B0604020202020204" pitchFamily="34" charset="0"/>
              <a:buChar char="•"/>
            </a:pPr>
            <a:r>
              <a:rPr lang="es-MX" b="1" dirty="0" err="1"/>
              <a:t>Runtime</a:t>
            </a:r>
            <a:r>
              <a:rPr lang="es-MX" b="1" dirty="0"/>
              <a:t> de ejecución de </a:t>
            </a:r>
            <a:r>
              <a:rPr lang="es-MX" b="1" dirty="0" err="1"/>
              <a:t>Gu</a:t>
            </a:r>
            <a:r>
              <a:rPr lang="es-MX" b="1" dirty="0"/>
              <a:t> OS</a:t>
            </a:r>
            <a:r>
              <a:rPr lang="es-MX" dirty="0"/>
              <a:t>: Adaptador Web/Telegram, </a:t>
            </a:r>
            <a:r>
              <a:rPr lang="es-MX" dirty="0" err="1"/>
              <a:t>prefiltro</a:t>
            </a:r>
            <a:r>
              <a:rPr lang="es-MX" dirty="0"/>
              <a:t>, </a:t>
            </a:r>
            <a:r>
              <a:rPr lang="es-MX" dirty="0" err="1"/>
              <a:t>decomposer</a:t>
            </a:r>
            <a:r>
              <a:rPr lang="es-MX" dirty="0"/>
              <a:t>, gates, </a:t>
            </a:r>
            <a:r>
              <a:rPr lang="es-MX" sz="1200" kern="1200" dirty="0" err="1"/>
              <a:t>runAgent</a:t>
            </a:r>
            <a:r>
              <a:rPr lang="es-MX" dirty="0"/>
              <a:t>, </a:t>
            </a:r>
            <a:r>
              <a:rPr lang="es-MX" dirty="0" err="1"/>
              <a:t>StateGraph</a:t>
            </a:r>
            <a:r>
              <a:rPr lang="es-MX" dirty="0"/>
              <a:t>, </a:t>
            </a:r>
            <a:r>
              <a:rPr lang="es-MX" dirty="0" err="1"/>
              <a:t>tools</a:t>
            </a:r>
            <a:r>
              <a:rPr lang="es-MX" dirty="0"/>
              <a:t>, </a:t>
            </a:r>
            <a:r>
              <a:rPr lang="es-MX" dirty="0" err="1"/>
              <a:t>policy</a:t>
            </a:r>
            <a:r>
              <a:rPr lang="es-MX" dirty="0"/>
              <a:t>, memoria y salida</a:t>
            </a:r>
          </a:p>
          <a:p>
            <a:pPr marL="171450" indent="-171450">
              <a:buFont typeface="Arial" panose="020B0604020202020204" pitchFamily="34" charset="0"/>
              <a:buChar char="•"/>
            </a:pPr>
            <a:r>
              <a:rPr lang="es-MX" b="1" dirty="0"/>
              <a:t>Agent </a:t>
            </a:r>
            <a:r>
              <a:rPr lang="es-MX" b="1" dirty="0" err="1"/>
              <a:t>runtime</a:t>
            </a:r>
            <a:r>
              <a:rPr lang="es-MX" dirty="0"/>
              <a:t>: La parte que </a:t>
            </a:r>
            <a:r>
              <a:rPr lang="es-MX" b="1" dirty="0"/>
              <a:t>empieza en </a:t>
            </a:r>
            <a:r>
              <a:rPr lang="es-MX" sz="1200" b="1" kern="1200" dirty="0" err="1"/>
              <a:t>runAgent</a:t>
            </a:r>
            <a:r>
              <a:rPr lang="es-MX" dirty="0"/>
              <a:t>: preparación del turno, selección de Skill, contexto, </a:t>
            </a:r>
            <a:r>
              <a:rPr lang="es-MX" b="1" dirty="0" err="1"/>
              <a:t>StateGraph</a:t>
            </a:r>
            <a:r>
              <a:rPr lang="es-MX" dirty="0"/>
              <a:t>, </a:t>
            </a:r>
            <a:r>
              <a:rPr lang="es-MX" dirty="0" err="1"/>
              <a:t>tools</a:t>
            </a:r>
            <a:r>
              <a:rPr lang="es-MX" dirty="0"/>
              <a:t>, HITL y </a:t>
            </a:r>
            <a:r>
              <a:rPr lang="es-MX" dirty="0" err="1"/>
              <a:t>checkpoint</a:t>
            </a:r>
            <a:endParaRPr lang="es-MX" dirty="0"/>
          </a:p>
          <a:p>
            <a:endParaRPr lang="es-MX" dirty="0"/>
          </a:p>
          <a:p>
            <a:r>
              <a:rPr lang="es-MX" dirty="0"/>
              <a:t>En esta lámina usaría “</a:t>
            </a:r>
            <a:r>
              <a:rPr lang="es-MX" dirty="0" err="1"/>
              <a:t>agent</a:t>
            </a:r>
            <a:r>
              <a:rPr lang="es-MX" dirty="0"/>
              <a:t> </a:t>
            </a:r>
            <a:r>
              <a:rPr lang="es-MX" dirty="0" err="1"/>
              <a:t>runtime</a:t>
            </a:r>
            <a:r>
              <a:rPr lang="es-MX" dirty="0"/>
              <a:t>” solamente para la caja verde del agente. El </a:t>
            </a:r>
            <a:r>
              <a:rPr lang="es-MX" dirty="0" err="1"/>
              <a:t>prefiltro</a:t>
            </a:r>
            <a:r>
              <a:rPr lang="es-MX" dirty="0"/>
              <a:t>, </a:t>
            </a:r>
            <a:r>
              <a:rPr lang="es-MX" dirty="0" err="1"/>
              <a:t>decomposer</a:t>
            </a:r>
            <a:r>
              <a:rPr lang="es-MX" dirty="0"/>
              <a:t>, </a:t>
            </a:r>
            <a:r>
              <a:rPr lang="es-MX" dirty="0" err="1"/>
              <a:t>guard</a:t>
            </a:r>
            <a:r>
              <a:rPr lang="es-MX" dirty="0"/>
              <a:t> y </a:t>
            </a:r>
            <a:r>
              <a:rPr lang="es-MX" dirty="0" err="1"/>
              <a:t>router</a:t>
            </a:r>
            <a:r>
              <a:rPr lang="es-MX" dirty="0"/>
              <a:t> pertenecen al </a:t>
            </a:r>
            <a:r>
              <a:rPr lang="es-MX" dirty="0" err="1"/>
              <a:t>harness</a:t>
            </a:r>
            <a:r>
              <a:rPr lang="es-MX" dirty="0"/>
              <a:t> previo al agente.</a:t>
            </a:r>
          </a:p>
          <a:p>
            <a:endParaRPr lang="es-MX" b="1" dirty="0"/>
          </a:p>
          <a:p>
            <a:r>
              <a:rPr lang="es-MX" b="1" dirty="0"/>
              <a:t>Diferencia entre </a:t>
            </a:r>
            <a:r>
              <a:rPr lang="es-MX" sz="1200" b="1" kern="1200" dirty="0" err="1"/>
              <a:t>runAgent</a:t>
            </a:r>
            <a:r>
              <a:rPr lang="es-MX" b="1" dirty="0"/>
              <a:t> y </a:t>
            </a:r>
            <a:r>
              <a:rPr lang="es-MX" b="1" dirty="0" err="1"/>
              <a:t>StateGraph</a:t>
            </a:r>
            <a:endParaRPr lang="es-MX" b="1" dirty="0"/>
          </a:p>
          <a:p>
            <a:r>
              <a:rPr lang="es-MX" dirty="0"/>
              <a:t>No son lo mismo.</a:t>
            </a:r>
          </a:p>
          <a:p>
            <a:pPr marL="171450" lvl="0" indent="-171450">
              <a:buFont typeface="Arial" panose="020B0604020202020204" pitchFamily="34" charset="0"/>
              <a:buChar char="•"/>
            </a:pPr>
            <a:r>
              <a:rPr lang="es-MX" sz="1200" kern="1200" dirty="0" err="1"/>
              <a:t>runAgent</a:t>
            </a:r>
            <a:r>
              <a:rPr lang="es-MX" dirty="0"/>
              <a:t> es la función de entrada que organiza la ejecución completa de un turno </a:t>
            </a:r>
            <a:r>
              <a:rPr lang="es-MX" dirty="0" err="1"/>
              <a:t>agéntico</a:t>
            </a:r>
            <a:r>
              <a:rPr lang="es-MX" dirty="0"/>
              <a:t>. </a:t>
            </a:r>
          </a:p>
          <a:p>
            <a:pPr marL="171450" lvl="0" indent="-171450">
              <a:buFont typeface="Arial" panose="020B0604020202020204" pitchFamily="34" charset="0"/>
              <a:buChar char="•"/>
            </a:pPr>
            <a:r>
              <a:rPr lang="es-MX" dirty="0"/>
              <a:t>El </a:t>
            </a:r>
            <a:r>
              <a:rPr lang="es-MX" dirty="0" err="1"/>
              <a:t>StateGraph</a:t>
            </a:r>
            <a:r>
              <a:rPr lang="es-MX" dirty="0"/>
              <a:t> es la máquina de estados interna que </a:t>
            </a:r>
            <a:r>
              <a:rPr lang="es-MX" sz="1200" kern="1200" dirty="0" err="1"/>
              <a:t>runAgent</a:t>
            </a:r>
            <a:r>
              <a:rPr lang="es-MX" dirty="0"/>
              <a:t> construye, configura e invoca. </a:t>
            </a:r>
          </a:p>
          <a:p>
            <a:pPr marL="171450" lvl="0" indent="-171450">
              <a:buFont typeface="Arial" panose="020B0604020202020204" pitchFamily="34" charset="0"/>
              <a:buChar char="•"/>
            </a:pPr>
            <a:r>
              <a:rPr lang="es-MX" sz="1200" kern="1200" dirty="0" err="1"/>
              <a:t>agent</a:t>
            </a:r>
            <a:r>
              <a:rPr lang="es-MX" dirty="0"/>
              <a:t> es uno de los nodos dentro del </a:t>
            </a:r>
            <a:r>
              <a:rPr lang="es-MX" dirty="0" err="1"/>
              <a:t>StateGraph</a:t>
            </a:r>
            <a:r>
              <a:rPr lang="es-MX" dirty="0"/>
              <a:t>. Ese nodo llama al modelo principal.</a:t>
            </a:r>
          </a:p>
          <a:p>
            <a:pPr marL="0" lvl="0" indent="0">
              <a:buFont typeface="Arial" panose="020B0604020202020204" pitchFamily="34" charset="0"/>
              <a:buNone/>
            </a:pPr>
            <a:endParaRPr lang="es-MX" dirty="0"/>
          </a:p>
          <a:p>
            <a:r>
              <a:rPr lang="es-MX" dirty="0"/>
              <a:t>Actualmente, </a:t>
            </a:r>
            <a:r>
              <a:rPr lang="es-MX" sz="1200" kern="1200" dirty="0" err="1"/>
              <a:t>runAgent</a:t>
            </a:r>
            <a:r>
              <a:rPr lang="es-MX" dirty="0"/>
              <a:t> hace, simplificando:</a:t>
            </a:r>
          </a:p>
          <a:p>
            <a:pPr marL="171450" lvl="0" indent="-171450">
              <a:buFont typeface="Arial" panose="020B0604020202020204" pitchFamily="34" charset="0"/>
              <a:buChar char="•"/>
            </a:pPr>
            <a:r>
              <a:rPr lang="es-MX" dirty="0"/>
              <a:t>Carga historia reciente y contexto de </a:t>
            </a:r>
            <a:r>
              <a:rPr lang="es-MX" dirty="0" err="1"/>
              <a:t>routing</a:t>
            </a:r>
            <a:r>
              <a:rPr lang="es-MX" dirty="0"/>
              <a:t>. </a:t>
            </a:r>
          </a:p>
          <a:p>
            <a:pPr marL="171450" lvl="0" indent="-171450">
              <a:buFont typeface="Arial" panose="020B0604020202020204" pitchFamily="34" charset="0"/>
              <a:buChar char="•"/>
            </a:pPr>
            <a:r>
              <a:rPr lang="es-MX" dirty="0"/>
              <a:t>Resuelve el </a:t>
            </a:r>
            <a:r>
              <a:rPr lang="es-MX" dirty="0" err="1"/>
              <a:t>binding</a:t>
            </a:r>
            <a:r>
              <a:rPr lang="es-MX" dirty="0"/>
              <a:t> con un Case, si existe. </a:t>
            </a:r>
          </a:p>
          <a:p>
            <a:pPr marL="171450" lvl="0" indent="-171450">
              <a:buFont typeface="Arial" panose="020B0604020202020204" pitchFamily="34" charset="0"/>
              <a:buChar char="•"/>
            </a:pPr>
            <a:r>
              <a:rPr lang="es-MX" dirty="0"/>
              <a:t>Selecciona una Skill dominante o ninguna. </a:t>
            </a:r>
          </a:p>
          <a:p>
            <a:pPr marL="171450" lvl="0" indent="-171450">
              <a:buFont typeface="Arial" panose="020B0604020202020204" pitchFamily="34" charset="0"/>
              <a:buChar char="•"/>
            </a:pPr>
            <a:r>
              <a:rPr lang="es-MX" dirty="0"/>
              <a:t>Resuelve y limita las </a:t>
            </a:r>
            <a:r>
              <a:rPr lang="es-MX" dirty="0" err="1"/>
              <a:t>tools</a:t>
            </a:r>
            <a:r>
              <a:rPr lang="es-MX" dirty="0"/>
              <a:t> permitidas. </a:t>
            </a:r>
          </a:p>
          <a:p>
            <a:pPr marL="171450" lvl="0" indent="-171450">
              <a:buFont typeface="Arial" panose="020B0604020202020204" pitchFamily="34" charset="0"/>
              <a:buChar char="•"/>
            </a:pPr>
            <a:r>
              <a:rPr lang="es-MX" dirty="0"/>
              <a:t>Construye el </a:t>
            </a:r>
            <a:r>
              <a:rPr lang="es-MX" dirty="0" err="1"/>
              <a:t>system</a:t>
            </a:r>
            <a:r>
              <a:rPr lang="es-MX" dirty="0"/>
              <a:t> </a:t>
            </a:r>
            <a:r>
              <a:rPr lang="es-MX" dirty="0" err="1"/>
              <a:t>prompt</a:t>
            </a:r>
            <a:r>
              <a:rPr lang="es-MX" dirty="0"/>
              <a:t> efectivo y demás contexto. </a:t>
            </a:r>
          </a:p>
          <a:p>
            <a:pPr marL="171450" lvl="0" indent="-171450">
              <a:buFont typeface="Arial" panose="020B0604020202020204" pitchFamily="34" charset="0"/>
              <a:buChar char="•"/>
            </a:pPr>
            <a:r>
              <a:rPr lang="es-MX" dirty="0"/>
              <a:t>Configura el </a:t>
            </a:r>
            <a:r>
              <a:rPr lang="es-MX" dirty="0" err="1"/>
              <a:t>checkpoint</a:t>
            </a:r>
            <a:r>
              <a:rPr lang="es-MX" dirty="0"/>
              <a:t>/</a:t>
            </a:r>
            <a:r>
              <a:rPr lang="es-MX" dirty="0" err="1"/>
              <a:t>thread</a:t>
            </a:r>
            <a:r>
              <a:rPr lang="es-MX" dirty="0"/>
              <a:t>. </a:t>
            </a:r>
          </a:p>
          <a:p>
            <a:pPr marL="171450" lvl="0" indent="-171450">
              <a:buFont typeface="Arial" panose="020B0604020202020204" pitchFamily="34" charset="0"/>
              <a:buChar char="•"/>
            </a:pPr>
            <a:r>
              <a:rPr lang="es-MX" dirty="0"/>
              <a:t>Invoca o reanuda el </a:t>
            </a:r>
            <a:r>
              <a:rPr lang="es-MX" dirty="0" err="1"/>
              <a:t>StateGraph</a:t>
            </a:r>
            <a:r>
              <a:rPr lang="es-MX" dirty="0"/>
              <a:t>.</a:t>
            </a:r>
          </a:p>
          <a:p>
            <a:pPr marL="0" lvl="0" indent="0">
              <a:buFont typeface="Arial" panose="020B0604020202020204" pitchFamily="34" charset="0"/>
              <a:buNone/>
            </a:pPr>
            <a:endParaRPr lang="es-MX" dirty="0"/>
          </a:p>
          <a:p>
            <a:r>
              <a:rPr lang="es-MX" b="1" dirty="0"/>
              <a:t>¿Un turno equivale a una invocación del </a:t>
            </a:r>
            <a:r>
              <a:rPr lang="es-MX" b="1" dirty="0" err="1"/>
              <a:t>StateGraph</a:t>
            </a:r>
            <a:r>
              <a:rPr lang="es-MX" b="1" dirty="0"/>
              <a:t>?</a:t>
            </a:r>
          </a:p>
          <a:p>
            <a:r>
              <a:rPr lang="es-MX" dirty="0"/>
              <a:t>No necesariamente. </a:t>
            </a:r>
          </a:p>
          <a:p>
            <a:pPr marL="171450" indent="-171450">
              <a:buFont typeface="Arial" panose="020B0604020202020204" pitchFamily="34" charset="0"/>
              <a:buChar char="•"/>
            </a:pPr>
            <a:r>
              <a:rPr lang="es-MX" dirty="0"/>
              <a:t>Interacción: Mensaje, </a:t>
            </a:r>
            <a:r>
              <a:rPr lang="es-MX" dirty="0" err="1"/>
              <a:t>click</a:t>
            </a:r>
            <a:r>
              <a:rPr lang="es-MX" dirty="0"/>
              <a:t> de confirmación, evento o </a:t>
            </a:r>
            <a:r>
              <a:rPr lang="es-MX" dirty="0" err="1"/>
              <a:t>trigger</a:t>
            </a:r>
            <a:r>
              <a:rPr lang="es-MX" dirty="0"/>
              <a:t> recibido</a:t>
            </a:r>
          </a:p>
          <a:p>
            <a:pPr marL="171450" indent="-171450">
              <a:buFont typeface="Arial" panose="020B0604020202020204" pitchFamily="34" charset="0"/>
              <a:buChar char="•"/>
            </a:pPr>
            <a:r>
              <a:rPr lang="es-MX" dirty="0"/>
              <a:t>Turno conversacional: Ciclo de procesamiento y respuesta asociado con una interacción</a:t>
            </a:r>
          </a:p>
          <a:p>
            <a:pPr marL="171450" indent="-171450">
              <a:buFont typeface="Arial" panose="020B0604020202020204" pitchFamily="34" charset="0"/>
              <a:buChar char="•"/>
            </a:pPr>
            <a:r>
              <a:rPr lang="es-MX" dirty="0"/>
              <a:t>Agent run: Ejecución iniciada mediante </a:t>
            </a:r>
            <a:r>
              <a:rPr lang="es-MX" sz="1200" kern="1200" dirty="0" err="1"/>
              <a:t>runAgent</a:t>
            </a:r>
            <a:endParaRPr lang="es-MX" dirty="0"/>
          </a:p>
          <a:p>
            <a:pPr marL="171450" indent="-171450">
              <a:buFont typeface="Arial" panose="020B0604020202020204" pitchFamily="34" charset="0"/>
              <a:buChar char="•"/>
            </a:pPr>
            <a:r>
              <a:rPr lang="es-MX" dirty="0" err="1"/>
              <a:t>StateGraph</a:t>
            </a:r>
            <a:r>
              <a:rPr lang="es-MX" dirty="0"/>
              <a:t> </a:t>
            </a:r>
            <a:r>
              <a:rPr lang="es-MX" dirty="0" err="1"/>
              <a:t>execution</a:t>
            </a:r>
            <a:r>
              <a:rPr lang="es-MX" dirty="0"/>
              <a:t>: Ejecución o reanudación de la máquina de estados</a:t>
            </a:r>
          </a:p>
          <a:p>
            <a:pPr marL="171450" indent="-171450">
              <a:buFont typeface="Arial" panose="020B0604020202020204" pitchFamily="34" charset="0"/>
              <a:buChar char="•"/>
            </a:pPr>
            <a:r>
              <a:rPr lang="es-MX" dirty="0"/>
              <a:t>Model </a:t>
            </a:r>
            <a:r>
              <a:rPr lang="es-MX" dirty="0" err="1"/>
              <a:t>call</a:t>
            </a:r>
            <a:r>
              <a:rPr lang="es-MX" dirty="0"/>
              <a:t>: Invocación individual de un LLM dentro o fuera del </a:t>
            </a:r>
            <a:r>
              <a:rPr lang="es-MX" dirty="0" err="1"/>
              <a:t>StateGraph</a:t>
            </a:r>
            <a:endParaRPr lang="es-MX" dirty="0"/>
          </a:p>
          <a:p>
            <a:endParaRPr lang="es-MX" dirty="0"/>
          </a:p>
          <a:p>
            <a:r>
              <a:rPr lang="es-MX" dirty="0"/>
              <a:t>Las relaciones no son uno a uno. Ejemplos:</a:t>
            </a:r>
          </a:p>
          <a:p>
            <a:endParaRPr lang="es-MX" b="1" dirty="0"/>
          </a:p>
          <a:p>
            <a:r>
              <a:rPr lang="es-MX" b="1" dirty="0"/>
              <a:t>Turno resuelto por un gate</a:t>
            </a:r>
          </a:p>
          <a:p>
            <a:pPr rtl="0"/>
            <a:r>
              <a:rPr lang="es-MX" sz="1200" kern="1200" dirty="0"/>
              <a:t>Mensaje → </a:t>
            </a:r>
            <a:r>
              <a:rPr lang="es-MX" sz="1200" kern="1200" dirty="0" err="1"/>
              <a:t>pending-decision</a:t>
            </a:r>
            <a:r>
              <a:rPr lang="es-MX" sz="1200" kern="1200" dirty="0"/>
              <a:t> gate → respuesta</a:t>
            </a:r>
          </a:p>
          <a:p>
            <a:pPr lvl="0"/>
            <a:r>
              <a:rPr lang="es-MX" dirty="0"/>
              <a:t>Un turno conversacional. </a:t>
            </a:r>
          </a:p>
          <a:p>
            <a:pPr lvl="0"/>
            <a:r>
              <a:rPr lang="es-MX" dirty="0"/>
              <a:t>Cero llamadas a </a:t>
            </a:r>
            <a:r>
              <a:rPr lang="es-MX" sz="1200" kern="1200" dirty="0" err="1"/>
              <a:t>runAgent</a:t>
            </a:r>
            <a:r>
              <a:rPr lang="es-MX" dirty="0"/>
              <a:t>. </a:t>
            </a:r>
          </a:p>
          <a:p>
            <a:pPr lvl="0"/>
            <a:r>
              <a:rPr lang="es-MX" dirty="0"/>
              <a:t>Cero ejecuciones del </a:t>
            </a:r>
            <a:r>
              <a:rPr lang="es-MX" dirty="0" err="1"/>
              <a:t>StateGraph</a:t>
            </a:r>
            <a:r>
              <a:rPr lang="es-MX" dirty="0"/>
              <a:t>. </a:t>
            </a:r>
          </a:p>
          <a:p>
            <a:endParaRPr lang="es-MX" b="1" dirty="0"/>
          </a:p>
          <a:p>
            <a:r>
              <a:rPr lang="es-MX" b="1" dirty="0"/>
              <a:t>Turno normal del agente</a:t>
            </a:r>
          </a:p>
          <a:p>
            <a:pPr rtl="0"/>
            <a:r>
              <a:rPr lang="es-MX" sz="1200" kern="1200" dirty="0"/>
              <a:t>Mensaje → </a:t>
            </a:r>
            <a:r>
              <a:rPr lang="es-MX" sz="1200" kern="1200" dirty="0" err="1"/>
              <a:t>runAgent</a:t>
            </a:r>
            <a:r>
              <a:rPr lang="es-MX" sz="1200" kern="1200" dirty="0"/>
              <a:t> → </a:t>
            </a:r>
            <a:r>
              <a:rPr lang="es-MX" sz="1200" kern="1200" dirty="0" err="1"/>
              <a:t>StateGraph</a:t>
            </a:r>
            <a:r>
              <a:rPr lang="es-MX" sz="1200" kern="1200" dirty="0"/>
              <a:t> → respuesta</a:t>
            </a:r>
          </a:p>
          <a:p>
            <a:pPr lvl="0"/>
            <a:r>
              <a:rPr lang="es-MX" dirty="0"/>
              <a:t>Un turno conversacional. </a:t>
            </a:r>
          </a:p>
          <a:p>
            <a:pPr lvl="0"/>
            <a:r>
              <a:rPr lang="es-MX" dirty="0"/>
              <a:t>Una llamada a </a:t>
            </a:r>
            <a:r>
              <a:rPr lang="es-MX" sz="1200" kern="1200" dirty="0" err="1"/>
              <a:t>runAgent</a:t>
            </a:r>
            <a:r>
              <a:rPr lang="es-MX" dirty="0"/>
              <a:t>. </a:t>
            </a:r>
          </a:p>
          <a:p>
            <a:pPr lvl="0"/>
            <a:r>
              <a:rPr lang="es-MX" dirty="0"/>
              <a:t>Una ejecución del </a:t>
            </a:r>
            <a:r>
              <a:rPr lang="es-MX" dirty="0" err="1"/>
              <a:t>StateGraph</a:t>
            </a:r>
            <a:r>
              <a:rPr lang="es-MX" dirty="0"/>
              <a:t>. </a:t>
            </a:r>
          </a:p>
          <a:p>
            <a:pPr lvl="0"/>
            <a:r>
              <a:rPr lang="es-MX" dirty="0"/>
              <a:t>Posiblemente varias llamadas al modelo por el </a:t>
            </a:r>
            <a:r>
              <a:rPr lang="es-MX" dirty="0" err="1"/>
              <a:t>loop</a:t>
            </a:r>
            <a:r>
              <a:rPr lang="es-MX" dirty="0"/>
              <a:t> agente–</a:t>
            </a:r>
            <a:r>
              <a:rPr lang="es-MX" dirty="0" err="1"/>
              <a:t>tools</a:t>
            </a:r>
            <a:r>
              <a:rPr lang="es-MX" dirty="0"/>
              <a:t>. </a:t>
            </a:r>
          </a:p>
          <a:p>
            <a:endParaRPr lang="es-MX" b="1" dirty="0"/>
          </a:p>
          <a:p>
            <a:r>
              <a:rPr lang="es-MX" b="1" dirty="0"/>
              <a:t>Turno compuesto (como el de esta la lámina)</a:t>
            </a:r>
          </a:p>
          <a:p>
            <a:pPr rtl="0"/>
            <a:r>
              <a:rPr lang="es-MX" sz="1200" kern="1200" dirty="0"/>
              <a:t>Mensaje → decisión por gate + pregunta por </a:t>
            </a:r>
            <a:r>
              <a:rPr lang="es-MX" sz="1200" kern="1200" dirty="0" err="1"/>
              <a:t>runAgent</a:t>
            </a:r>
            <a:endParaRPr lang="es-MX" sz="1200" kern="1200" dirty="0"/>
          </a:p>
          <a:p>
            <a:pPr lvl="0"/>
            <a:r>
              <a:rPr lang="es-MX" dirty="0"/>
              <a:t>Un turno conversacional. </a:t>
            </a:r>
          </a:p>
          <a:p>
            <a:pPr lvl="0"/>
            <a:r>
              <a:rPr lang="es-MX" dirty="0"/>
              <a:t>Una rama determinística. </a:t>
            </a:r>
          </a:p>
          <a:p>
            <a:pPr lvl="0"/>
            <a:r>
              <a:rPr lang="es-MX" dirty="0"/>
              <a:t>Una llamada a </a:t>
            </a:r>
            <a:r>
              <a:rPr lang="es-MX" sz="1200" kern="1200" dirty="0" err="1"/>
              <a:t>runAgent</a:t>
            </a:r>
            <a:r>
              <a:rPr lang="es-MX" dirty="0"/>
              <a:t> para el residual. </a:t>
            </a:r>
          </a:p>
          <a:p>
            <a:pPr lvl="0"/>
            <a:r>
              <a:rPr lang="es-MX" dirty="0"/>
              <a:t>Una ejecución del </a:t>
            </a:r>
            <a:r>
              <a:rPr lang="es-MX" dirty="0" err="1"/>
              <a:t>StateGraph</a:t>
            </a:r>
            <a:r>
              <a:rPr lang="es-MX" dirty="0"/>
              <a:t> para esa pregunta. </a:t>
            </a:r>
          </a:p>
          <a:p>
            <a:endParaRPr lang="es-MX" b="1" dirty="0"/>
          </a:p>
          <a:p>
            <a:r>
              <a:rPr lang="es-MX" b="1" dirty="0"/>
              <a:t>Pausa HITL</a:t>
            </a:r>
          </a:p>
          <a:p>
            <a:r>
              <a:rPr lang="es-MX" dirty="0"/>
              <a:t>El </a:t>
            </a:r>
            <a:r>
              <a:rPr lang="es-MX" dirty="0" err="1"/>
              <a:t>StateGraph</a:t>
            </a:r>
            <a:r>
              <a:rPr lang="es-MX" dirty="0"/>
              <a:t> puede detenerse durante una </a:t>
            </a:r>
            <a:r>
              <a:rPr lang="es-MX" dirty="0" err="1"/>
              <a:t>tool</a:t>
            </a:r>
            <a:r>
              <a:rPr lang="es-MX" dirty="0"/>
              <a:t> protegida. Una confirmación posterior provoca otra entrada a </a:t>
            </a:r>
            <a:r>
              <a:rPr lang="es-MX" sz="1200" kern="1200" dirty="0" err="1"/>
              <a:t>runAgent</a:t>
            </a:r>
            <a:r>
              <a:rPr lang="es-MX" dirty="0"/>
              <a:t>, pero ésta reanuda el mismo </a:t>
            </a:r>
            <a:r>
              <a:rPr lang="es-MX" dirty="0" err="1"/>
              <a:t>checkpoint</a:t>
            </a:r>
            <a:r>
              <a:rPr lang="es-MX" dirty="0"/>
              <a:t> y la misma ejecución lógica.</a:t>
            </a:r>
          </a:p>
          <a:p>
            <a:r>
              <a:rPr lang="es-MX" dirty="0"/>
              <a:t>Por tanto, evitaría definir “turno” como “una invocación del </a:t>
            </a:r>
            <a:r>
              <a:rPr lang="es-MX" dirty="0" err="1"/>
              <a:t>StateGraph</a:t>
            </a:r>
            <a:r>
              <a:rPr lang="es-MX" dirty="0"/>
              <a:t>”. La definición más útil sería:</a:t>
            </a:r>
          </a:p>
          <a:p>
            <a:r>
              <a:rPr lang="es-MX" dirty="0"/>
              <a:t>Un turno conversacional es el procesamiento coordinado de una interacción. Puede terminar antes del agente o incluir una ejecución del </a:t>
            </a:r>
            <a:r>
              <a:rPr lang="es-MX" dirty="0" err="1"/>
              <a:t>StateGraph</a:t>
            </a:r>
            <a:r>
              <a:rPr lang="es-MX" dirty="0"/>
              <a:t>.</a:t>
            </a:r>
          </a:p>
          <a:p>
            <a:endParaRPr lang="es-MX" dirty="0"/>
          </a:p>
          <a:p>
            <a:endParaRPr dirty="0"/>
          </a:p>
          <a:p>
            <a:r>
              <a:rPr dirty="0"/>
              <a:t>[FUENTES]</a:t>
            </a:r>
          </a:p>
          <a:p>
            <a:r>
              <a:rPr dirty="0"/>
              <a:t>- apps/web/</a:t>
            </a:r>
            <a:r>
              <a:rPr dirty="0" err="1"/>
              <a:t>src</a:t>
            </a:r>
            <a:r>
              <a:rPr dirty="0"/>
              <a:t>/lib/business-decisions/decomposed-</a:t>
            </a:r>
            <a:r>
              <a:rPr dirty="0" err="1"/>
              <a:t>turn.ts</a:t>
            </a:r>
            <a:endParaRPr dirty="0"/>
          </a:p>
          <a:p>
            <a:r>
              <a:rPr dirty="0"/>
              <a:t>- apps/web/</a:t>
            </a:r>
            <a:r>
              <a:rPr dirty="0" err="1"/>
              <a:t>src</a:t>
            </a:r>
            <a:r>
              <a:rPr dirty="0"/>
              <a:t>/lib/business-decisions/intent-</a:t>
            </a:r>
            <a:r>
              <a:rPr dirty="0" err="1"/>
              <a:t>decomposer.ts</a:t>
            </a:r>
            <a:endParaRPr dirty="0"/>
          </a:p>
          <a:p>
            <a:r>
              <a:rPr dirty="0"/>
              <a:t>- apps/web/</a:t>
            </a:r>
            <a:r>
              <a:rPr dirty="0" err="1"/>
              <a:t>src</a:t>
            </a:r>
            <a:r>
              <a:rPr dirty="0"/>
              <a:t>/lib/business-decisions/residual-</a:t>
            </a:r>
            <a:r>
              <a:rPr dirty="0" err="1"/>
              <a:t>intent.ts</a:t>
            </a:r>
            <a:endParaRPr dirty="0"/>
          </a:p>
          <a:p>
            <a:r>
              <a:rPr dirty="0"/>
              <a:t>- apps/web/</a:t>
            </a:r>
            <a:r>
              <a:rPr dirty="0" err="1"/>
              <a:t>src</a:t>
            </a:r>
            <a:r>
              <a:rPr dirty="0"/>
              <a:t>/lib/business-decisions/pending-decision-</a:t>
            </a:r>
            <a:r>
              <a:rPr dirty="0" err="1"/>
              <a:t>router.ts</a:t>
            </a:r>
            <a:endParaRPr dirty="0"/>
          </a:p>
          <a:p>
            <a:r>
              <a:rPr dirty="0"/>
              <a:t>- apps/web/</a:t>
            </a:r>
            <a:r>
              <a:rPr dirty="0" err="1"/>
              <a:t>src</a:t>
            </a:r>
            <a:r>
              <a:rPr dirty="0"/>
              <a:t>/app/</a:t>
            </a:r>
            <a:r>
              <a:rPr dirty="0" err="1"/>
              <a:t>api</a:t>
            </a:r>
            <a:r>
              <a:rPr dirty="0"/>
              <a:t>/chat/</a:t>
            </a:r>
            <a:r>
              <a:rPr dirty="0" err="1"/>
              <a:t>route.ts</a:t>
            </a:r>
            <a:endParaRPr dirty="0"/>
          </a:p>
          <a:p>
            <a:r>
              <a:rPr dirty="0"/>
              <a:t>- Baseline: </a:t>
            </a:r>
            <a:r>
              <a:rPr dirty="0" err="1"/>
              <a:t>janotowers</a:t>
            </a:r>
            <a:r>
              <a:rPr dirty="0"/>
              <a:t>/Gu-OS main @ 5a6fbb05117042e1f7c47c911e0e2bc14d068340 · </a:t>
            </a:r>
            <a:r>
              <a:rPr dirty="0" err="1"/>
              <a:t>verificado</a:t>
            </a:r>
            <a:r>
              <a:rPr dirty="0"/>
              <a:t> 11 </a:t>
            </a:r>
            <a:r>
              <a:rPr dirty="0" err="1"/>
              <a:t>septiembre</a:t>
            </a:r>
            <a:r>
              <a:rPr dirty="0"/>
              <a: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[UBICACIÓN RECOMENDADA]</a:t>
            </a:r>
          </a:p>
          <a:p>
            <a:r>
              <a:rPr dirty="0"/>
              <a:t>Session 3B · </a:t>
            </a:r>
            <a:r>
              <a:rPr dirty="0" err="1"/>
              <a:t>insertar</a:t>
            </a:r>
            <a:r>
              <a:rPr dirty="0"/>
              <a:t> </a:t>
            </a:r>
            <a:r>
              <a:rPr dirty="0" err="1"/>
              <a:t>inmediatamente</a:t>
            </a:r>
            <a:r>
              <a:rPr dirty="0"/>
              <a:t> </a:t>
            </a:r>
            <a:r>
              <a:rPr dirty="0" err="1"/>
              <a:t>después</a:t>
            </a:r>
            <a:r>
              <a:rPr dirty="0"/>
              <a:t> de 01B_S3B_Compound_Turn_Decomposition_v1.1 y antes de la </a:t>
            </a:r>
            <a:r>
              <a:rPr dirty="0" err="1"/>
              <a:t>lámina</a:t>
            </a:r>
            <a:r>
              <a:rPr dirty="0"/>
              <a:t> </a:t>
            </a:r>
            <a:r>
              <a:rPr dirty="0" err="1"/>
              <a:t>Turno</a:t>
            </a:r>
            <a:r>
              <a:rPr dirty="0"/>
              <a:t>–</a:t>
            </a:r>
            <a:r>
              <a:rPr dirty="0" err="1"/>
              <a:t>runAgent</a:t>
            </a:r>
            <a:r>
              <a:rPr dirty="0"/>
              <a:t>–</a:t>
            </a:r>
            <a:r>
              <a:rPr dirty="0" err="1"/>
              <a:t>StateGraph</a:t>
            </a:r>
            <a:r>
              <a:rPr dirty="0"/>
              <a:t>.</a:t>
            </a:r>
          </a:p>
          <a:p>
            <a:endParaRPr dirty="0"/>
          </a:p>
          <a:p>
            <a:r>
              <a:rPr dirty="0"/>
              <a:t>[PROPÓSITO]</a:t>
            </a:r>
          </a:p>
          <a:p>
            <a:r>
              <a:rPr dirty="0" err="1"/>
              <a:t>Generalizar</a:t>
            </a:r>
            <a:r>
              <a:rPr dirty="0"/>
              <a:t> el </a:t>
            </a:r>
            <a:r>
              <a:rPr dirty="0" err="1"/>
              <a:t>ejemplo</a:t>
            </a:r>
            <a:r>
              <a:rPr dirty="0"/>
              <a:t> de </a:t>
            </a:r>
            <a:r>
              <a:rPr dirty="0" err="1"/>
              <a:t>intención</a:t>
            </a:r>
            <a:r>
              <a:rPr dirty="0"/>
              <a:t> mixta y </a:t>
            </a:r>
            <a:r>
              <a:rPr dirty="0" err="1"/>
              <a:t>dejar</a:t>
            </a:r>
            <a:r>
              <a:rPr dirty="0"/>
              <a:t> </a:t>
            </a:r>
            <a:r>
              <a:rPr dirty="0" err="1"/>
              <a:t>explícito</a:t>
            </a:r>
            <a:r>
              <a:rPr dirty="0"/>
              <a:t> </a:t>
            </a:r>
            <a:r>
              <a:rPr dirty="0" err="1"/>
              <a:t>que</a:t>
            </a:r>
            <a:r>
              <a:rPr dirty="0"/>
              <a:t> </a:t>
            </a:r>
            <a:r>
              <a:rPr dirty="0" err="1"/>
              <a:t>descomponer</a:t>
            </a:r>
            <a:r>
              <a:rPr dirty="0"/>
              <a:t> </a:t>
            </a:r>
            <a:r>
              <a:rPr dirty="0" err="1"/>
              <a:t>tres</a:t>
            </a:r>
            <a:r>
              <a:rPr dirty="0"/>
              <a:t> </a:t>
            </a:r>
            <a:r>
              <a:rPr dirty="0" err="1"/>
              <a:t>preguntas</a:t>
            </a:r>
            <a:r>
              <a:rPr dirty="0"/>
              <a:t> no </a:t>
            </a:r>
            <a:r>
              <a:rPr dirty="0" err="1"/>
              <a:t>implica</a:t>
            </a:r>
            <a:r>
              <a:rPr dirty="0"/>
              <a:t> </a:t>
            </a:r>
            <a:r>
              <a:rPr dirty="0" err="1"/>
              <a:t>tres</a:t>
            </a:r>
            <a:r>
              <a:rPr dirty="0"/>
              <a:t> </a:t>
            </a:r>
            <a:r>
              <a:rPr dirty="0" err="1"/>
              <a:t>llamadas</a:t>
            </a:r>
            <a:r>
              <a:rPr dirty="0"/>
              <a:t> al </a:t>
            </a:r>
            <a:r>
              <a:rPr dirty="0" err="1"/>
              <a:t>agente</a:t>
            </a:r>
            <a:r>
              <a:rPr dirty="0"/>
              <a:t>, </a:t>
            </a:r>
            <a:r>
              <a:rPr dirty="0" err="1"/>
              <a:t>tres</a:t>
            </a:r>
            <a:r>
              <a:rPr dirty="0"/>
              <a:t> Skills </a:t>
            </a:r>
            <a:r>
              <a:rPr dirty="0" err="1"/>
              <a:t>ni</a:t>
            </a:r>
            <a:r>
              <a:rPr dirty="0"/>
              <a:t> </a:t>
            </a:r>
            <a:r>
              <a:rPr dirty="0" err="1"/>
              <a:t>tres</a:t>
            </a:r>
            <a:r>
              <a:rPr dirty="0"/>
              <a:t> </a:t>
            </a:r>
            <a:r>
              <a:rPr dirty="0" err="1"/>
              <a:t>ejecuciones</a:t>
            </a:r>
            <a:r>
              <a:rPr dirty="0"/>
              <a:t> del </a:t>
            </a:r>
            <a:r>
              <a:rPr dirty="0" err="1"/>
              <a:t>StateGraph</a:t>
            </a:r>
            <a:r>
              <a:rPr dirty="0"/>
              <a:t>.</a:t>
            </a:r>
          </a:p>
          <a:p>
            <a:endParaRPr dirty="0"/>
          </a:p>
          <a:p>
            <a:r>
              <a:rPr dirty="0"/>
              <a:t>[GUION DIDÁCTICO]</a:t>
            </a:r>
          </a:p>
          <a:p>
            <a:r>
              <a:rPr dirty="0" err="1"/>
              <a:t>Comience</a:t>
            </a:r>
            <a:r>
              <a:rPr dirty="0"/>
              <a:t> </a:t>
            </a:r>
            <a:r>
              <a:rPr dirty="0" err="1"/>
              <a:t>leyendo</a:t>
            </a:r>
            <a:r>
              <a:rPr dirty="0"/>
              <a:t> la </a:t>
            </a:r>
            <a:r>
              <a:rPr dirty="0" err="1"/>
              <a:t>pregunta</a:t>
            </a:r>
            <a:r>
              <a:rPr dirty="0"/>
              <a:t> completa. </a:t>
            </a:r>
            <a:r>
              <a:rPr dirty="0" err="1"/>
              <a:t>Contiene</a:t>
            </a:r>
            <a:r>
              <a:rPr dirty="0"/>
              <a:t> </a:t>
            </a:r>
            <a:r>
              <a:rPr dirty="0" err="1"/>
              <a:t>tres</a:t>
            </a:r>
            <a:r>
              <a:rPr dirty="0"/>
              <a:t> solicitudes </a:t>
            </a:r>
            <a:r>
              <a:rPr dirty="0" err="1"/>
              <a:t>analíticas</a:t>
            </a:r>
            <a:r>
              <a:rPr dirty="0"/>
              <a:t> </a:t>
            </a:r>
            <a:r>
              <a:rPr dirty="0" err="1"/>
              <a:t>relacionadas</a:t>
            </a:r>
            <a:r>
              <a:rPr dirty="0"/>
              <a:t>: </a:t>
            </a:r>
            <a:r>
              <a:rPr dirty="0" err="1"/>
              <a:t>número</a:t>
            </a:r>
            <a:r>
              <a:rPr dirty="0"/>
              <a:t> de leads, </a:t>
            </a:r>
            <a:r>
              <a:rPr dirty="0" err="1"/>
              <a:t>número</a:t>
            </a:r>
            <a:r>
              <a:rPr dirty="0"/>
              <a:t> de visitas y </a:t>
            </a:r>
            <a:r>
              <a:rPr dirty="0" err="1"/>
              <a:t>tasa</a:t>
            </a:r>
            <a:r>
              <a:rPr dirty="0"/>
              <a:t> de </a:t>
            </a:r>
            <a:r>
              <a:rPr dirty="0" err="1"/>
              <a:t>conversión</a:t>
            </a:r>
            <a:r>
              <a:rPr dirty="0"/>
              <a:t>. El </a:t>
            </a:r>
            <a:r>
              <a:rPr dirty="0" err="1"/>
              <a:t>prefiltro</a:t>
            </a:r>
            <a:r>
              <a:rPr dirty="0"/>
              <a:t> </a:t>
            </a:r>
            <a:r>
              <a:rPr dirty="0" err="1"/>
              <a:t>detecta</a:t>
            </a:r>
            <a:r>
              <a:rPr dirty="0"/>
              <a:t> </a:t>
            </a:r>
            <a:r>
              <a:rPr dirty="0" err="1"/>
              <a:t>varias</a:t>
            </a:r>
            <a:r>
              <a:rPr dirty="0"/>
              <a:t> </a:t>
            </a:r>
            <a:r>
              <a:rPr dirty="0" err="1"/>
              <a:t>cláusulas</a:t>
            </a:r>
            <a:r>
              <a:rPr dirty="0"/>
              <a:t> y </a:t>
            </a:r>
            <a:r>
              <a:rPr dirty="0" err="1"/>
              <a:t>señales</a:t>
            </a:r>
            <a:r>
              <a:rPr dirty="0"/>
              <a:t> de </a:t>
            </a:r>
            <a:r>
              <a:rPr dirty="0" err="1"/>
              <a:t>pregunta</a:t>
            </a:r>
            <a:r>
              <a:rPr dirty="0"/>
              <a:t>, </a:t>
            </a:r>
            <a:r>
              <a:rPr dirty="0" err="1"/>
              <a:t>por</a:t>
            </a:r>
            <a:r>
              <a:rPr dirty="0"/>
              <a:t> lo </a:t>
            </a:r>
            <a:r>
              <a:rPr dirty="0" err="1"/>
              <a:t>que</a:t>
            </a:r>
            <a:r>
              <a:rPr dirty="0"/>
              <a:t> </a:t>
            </a:r>
            <a:r>
              <a:rPr dirty="0" err="1"/>
              <a:t>puede</a:t>
            </a:r>
            <a:r>
              <a:rPr dirty="0"/>
              <a:t> </a:t>
            </a:r>
            <a:r>
              <a:rPr dirty="0" err="1"/>
              <a:t>justificar</a:t>
            </a:r>
            <a:r>
              <a:rPr dirty="0"/>
              <a:t> la </a:t>
            </a:r>
            <a:r>
              <a:rPr dirty="0" err="1"/>
              <a:t>llamada</a:t>
            </a:r>
            <a:r>
              <a:rPr dirty="0"/>
              <a:t> al intent decomposer.</a:t>
            </a:r>
          </a:p>
          <a:p>
            <a:endParaRPr dirty="0"/>
          </a:p>
          <a:p>
            <a:r>
              <a:rPr dirty="0"/>
              <a:t>El decomposer </a:t>
            </a:r>
            <a:r>
              <a:rPr dirty="0" err="1"/>
              <a:t>usa</a:t>
            </a:r>
            <a:r>
              <a:rPr dirty="0"/>
              <a:t> un </a:t>
            </a:r>
            <a:r>
              <a:rPr dirty="0" err="1"/>
              <a:t>modelo</a:t>
            </a:r>
            <a:r>
              <a:rPr dirty="0"/>
              <a:t> para </a:t>
            </a:r>
            <a:r>
              <a:rPr dirty="0" err="1"/>
              <a:t>proponer</a:t>
            </a:r>
            <a:r>
              <a:rPr dirty="0"/>
              <a:t> entre dos y cuatro intents. El </a:t>
            </a:r>
            <a:r>
              <a:rPr dirty="0" err="1"/>
              <a:t>resultado</a:t>
            </a:r>
            <a:r>
              <a:rPr dirty="0"/>
              <a:t> </a:t>
            </a:r>
            <a:r>
              <a:rPr dirty="0" err="1"/>
              <a:t>sólo</a:t>
            </a:r>
            <a:r>
              <a:rPr dirty="0"/>
              <a:t> se </a:t>
            </a:r>
            <a:r>
              <a:rPr dirty="0" err="1"/>
              <a:t>aplica</a:t>
            </a:r>
            <a:r>
              <a:rPr dirty="0"/>
              <a:t> </a:t>
            </a:r>
            <a:r>
              <a:rPr dirty="0" err="1"/>
              <a:t>cuando</a:t>
            </a:r>
            <a:r>
              <a:rPr dirty="0"/>
              <a:t> la confianza global es </a:t>
            </a:r>
            <a:r>
              <a:rPr dirty="0" err="1"/>
              <a:t>alta</a:t>
            </a:r>
            <a:r>
              <a:rPr dirty="0"/>
              <a:t>, </a:t>
            </a:r>
            <a:r>
              <a:rPr dirty="0" err="1"/>
              <a:t>ningún</a:t>
            </a:r>
            <a:r>
              <a:rPr dirty="0"/>
              <a:t> intent </a:t>
            </a:r>
            <a:r>
              <a:rPr dirty="0" err="1"/>
              <a:t>tiene</a:t>
            </a:r>
            <a:r>
              <a:rPr dirty="0"/>
              <a:t> confianza baja y </a:t>
            </a:r>
            <a:r>
              <a:rPr dirty="0" err="1"/>
              <a:t>cada</a:t>
            </a:r>
            <a:r>
              <a:rPr dirty="0"/>
              <a:t> intent es un </a:t>
            </a:r>
            <a:r>
              <a:rPr dirty="0" err="1"/>
              <a:t>fragmento</a:t>
            </a:r>
            <a:r>
              <a:rPr dirty="0"/>
              <a:t> literal </a:t>
            </a:r>
            <a:r>
              <a:rPr dirty="0" err="1"/>
              <a:t>verificable</a:t>
            </a:r>
            <a:r>
              <a:rPr dirty="0"/>
              <a:t> </a:t>
            </a:r>
            <a:r>
              <a:rPr dirty="0" err="1"/>
              <a:t>dentro</a:t>
            </a:r>
            <a:r>
              <a:rPr dirty="0"/>
              <a:t> del </a:t>
            </a:r>
            <a:r>
              <a:rPr dirty="0" err="1"/>
              <a:t>mensaje</a:t>
            </a:r>
            <a:r>
              <a:rPr dirty="0"/>
              <a:t> original. La </a:t>
            </a:r>
            <a:r>
              <a:rPr dirty="0" err="1"/>
              <a:t>lámina</a:t>
            </a:r>
            <a:r>
              <a:rPr dirty="0"/>
              <a:t> </a:t>
            </a:r>
            <a:r>
              <a:rPr dirty="0" err="1"/>
              <a:t>muestra</a:t>
            </a:r>
            <a:r>
              <a:rPr dirty="0"/>
              <a:t> el </a:t>
            </a:r>
            <a:r>
              <a:rPr dirty="0" err="1"/>
              <a:t>caso</a:t>
            </a:r>
            <a:r>
              <a:rPr dirty="0"/>
              <a:t> en </a:t>
            </a:r>
            <a:r>
              <a:rPr dirty="0" err="1"/>
              <a:t>que</a:t>
            </a:r>
            <a:r>
              <a:rPr dirty="0"/>
              <a:t> el </a:t>
            </a:r>
            <a:r>
              <a:rPr b="1" dirty="0"/>
              <a:t>guard</a:t>
            </a:r>
            <a:r>
              <a:rPr dirty="0"/>
              <a:t> </a:t>
            </a:r>
            <a:r>
              <a:rPr dirty="0" err="1"/>
              <a:t>acepta</a:t>
            </a:r>
            <a:r>
              <a:rPr dirty="0"/>
              <a:t> </a:t>
            </a:r>
            <a:r>
              <a:rPr dirty="0" err="1"/>
              <a:t>tres</a:t>
            </a:r>
            <a:r>
              <a:rPr dirty="0"/>
              <a:t> spans: leads, visitas y </a:t>
            </a:r>
            <a:r>
              <a:rPr dirty="0" err="1"/>
              <a:t>conversión</a:t>
            </a:r>
            <a:r>
              <a:rPr dirty="0"/>
              <a:t>.</a:t>
            </a:r>
          </a:p>
          <a:p>
            <a:endParaRPr dirty="0"/>
          </a:p>
          <a:p>
            <a:r>
              <a:rPr dirty="0"/>
              <a:t>A </a:t>
            </a:r>
            <a:r>
              <a:rPr dirty="0" err="1"/>
              <a:t>continuación</a:t>
            </a:r>
            <a:r>
              <a:rPr dirty="0"/>
              <a:t>, </a:t>
            </a:r>
            <a:r>
              <a:rPr dirty="0" err="1"/>
              <a:t>cada</a:t>
            </a:r>
            <a:r>
              <a:rPr dirty="0"/>
              <a:t> intent </a:t>
            </a:r>
            <a:r>
              <a:rPr dirty="0" err="1"/>
              <a:t>recorre</a:t>
            </a:r>
            <a:r>
              <a:rPr dirty="0"/>
              <a:t> </a:t>
            </a:r>
            <a:r>
              <a:rPr dirty="0" err="1"/>
              <a:t>secuencialmente</a:t>
            </a:r>
            <a:r>
              <a:rPr dirty="0"/>
              <a:t> </a:t>
            </a:r>
            <a:r>
              <a:rPr dirty="0" err="1"/>
              <a:t>resolvePendingDecisionTurn</a:t>
            </a:r>
            <a:r>
              <a:rPr dirty="0"/>
              <a:t>. Ese router no es un </a:t>
            </a:r>
            <a:r>
              <a:rPr dirty="0" err="1"/>
              <a:t>clasificador</a:t>
            </a:r>
            <a:r>
              <a:rPr dirty="0"/>
              <a:t> </a:t>
            </a:r>
            <a:r>
              <a:rPr dirty="0" err="1"/>
              <a:t>analítico</a:t>
            </a:r>
            <a:r>
              <a:rPr dirty="0"/>
              <a:t> general; </a:t>
            </a:r>
            <a:r>
              <a:rPr dirty="0" err="1"/>
              <a:t>busca</a:t>
            </a:r>
            <a:r>
              <a:rPr dirty="0"/>
              <a:t> </a:t>
            </a:r>
            <a:r>
              <a:rPr dirty="0" err="1"/>
              <a:t>si</a:t>
            </a:r>
            <a:r>
              <a:rPr dirty="0"/>
              <a:t> </a:t>
            </a:r>
            <a:r>
              <a:rPr dirty="0" err="1"/>
              <a:t>algún</a:t>
            </a:r>
            <a:r>
              <a:rPr dirty="0"/>
              <a:t> gate </a:t>
            </a:r>
            <a:r>
              <a:rPr dirty="0" err="1"/>
              <a:t>posee</a:t>
            </a:r>
            <a:r>
              <a:rPr dirty="0"/>
              <a:t> </a:t>
            </a:r>
            <a:r>
              <a:rPr dirty="0" err="1"/>
              <a:t>una</a:t>
            </a:r>
            <a:r>
              <a:rPr dirty="0"/>
              <a:t> </a:t>
            </a:r>
            <a:r>
              <a:rPr dirty="0" err="1"/>
              <a:t>decisión</a:t>
            </a:r>
            <a:r>
              <a:rPr dirty="0"/>
              <a:t> durable </a:t>
            </a:r>
            <a:r>
              <a:rPr dirty="0" err="1"/>
              <a:t>pendiente</a:t>
            </a:r>
            <a:r>
              <a:rPr dirty="0"/>
              <a:t> </a:t>
            </a:r>
            <a:r>
              <a:rPr dirty="0" err="1"/>
              <a:t>que</a:t>
            </a:r>
            <a:r>
              <a:rPr dirty="0"/>
              <a:t> </a:t>
            </a:r>
            <a:r>
              <a:rPr dirty="0" err="1"/>
              <a:t>deba</a:t>
            </a:r>
            <a:r>
              <a:rPr dirty="0"/>
              <a:t> </a:t>
            </a:r>
            <a:r>
              <a:rPr dirty="0" err="1"/>
              <a:t>interpretar</a:t>
            </a:r>
            <a:r>
              <a:rPr dirty="0"/>
              <a:t> el </a:t>
            </a:r>
            <a:r>
              <a:rPr dirty="0" err="1"/>
              <a:t>fragmento</a:t>
            </a:r>
            <a:r>
              <a:rPr dirty="0"/>
              <a:t>. En </a:t>
            </a:r>
            <a:r>
              <a:rPr dirty="0" err="1"/>
              <a:t>este</a:t>
            </a:r>
            <a:r>
              <a:rPr dirty="0"/>
              <a:t> </a:t>
            </a:r>
            <a:r>
              <a:rPr dirty="0" err="1"/>
              <a:t>ejemplo</a:t>
            </a:r>
            <a:r>
              <a:rPr dirty="0"/>
              <a:t> no </a:t>
            </a:r>
            <a:r>
              <a:rPr dirty="0" err="1"/>
              <a:t>existe</a:t>
            </a:r>
            <a:r>
              <a:rPr dirty="0"/>
              <a:t> </a:t>
            </a:r>
            <a:r>
              <a:rPr dirty="0" err="1"/>
              <a:t>una</a:t>
            </a:r>
            <a:r>
              <a:rPr dirty="0"/>
              <a:t> </a:t>
            </a:r>
            <a:r>
              <a:rPr dirty="0" err="1"/>
              <a:t>aprobación</a:t>
            </a:r>
            <a:r>
              <a:rPr dirty="0"/>
              <a:t>, </a:t>
            </a:r>
            <a:r>
              <a:rPr dirty="0" err="1"/>
              <a:t>selección</a:t>
            </a:r>
            <a:r>
              <a:rPr dirty="0"/>
              <a:t> o </a:t>
            </a:r>
            <a:r>
              <a:rPr dirty="0" err="1"/>
              <a:t>confirmación</a:t>
            </a:r>
            <a:r>
              <a:rPr dirty="0"/>
              <a:t> </a:t>
            </a:r>
            <a:r>
              <a:rPr dirty="0" err="1"/>
              <a:t>que</a:t>
            </a:r>
            <a:r>
              <a:rPr dirty="0"/>
              <a:t> un gate </a:t>
            </a:r>
            <a:r>
              <a:rPr dirty="0" err="1"/>
              <a:t>deba</a:t>
            </a:r>
            <a:r>
              <a:rPr dirty="0"/>
              <a:t> </a:t>
            </a:r>
            <a:r>
              <a:rPr dirty="0" err="1"/>
              <a:t>reclamar</a:t>
            </a:r>
            <a:r>
              <a:rPr dirty="0"/>
              <a:t>. Por </a:t>
            </a:r>
            <a:r>
              <a:rPr dirty="0" err="1"/>
              <a:t>eso</a:t>
            </a:r>
            <a:r>
              <a:rPr dirty="0"/>
              <a:t> </a:t>
            </a:r>
            <a:r>
              <a:rPr dirty="0" err="1"/>
              <a:t>los</a:t>
            </a:r>
            <a:r>
              <a:rPr dirty="0"/>
              <a:t> </a:t>
            </a:r>
            <a:r>
              <a:rPr dirty="0" err="1"/>
              <a:t>tres</a:t>
            </a:r>
            <a:r>
              <a:rPr dirty="0"/>
              <a:t> </a:t>
            </a:r>
            <a:r>
              <a:rPr dirty="0" err="1"/>
              <a:t>resultados</a:t>
            </a:r>
            <a:r>
              <a:rPr dirty="0"/>
              <a:t> son </a:t>
            </a:r>
            <a:r>
              <a:rPr dirty="0" err="1"/>
              <a:t>handled:false</a:t>
            </a:r>
            <a:r>
              <a:rPr dirty="0"/>
              <a:t>.</a:t>
            </a:r>
          </a:p>
          <a:p>
            <a:endParaRPr dirty="0"/>
          </a:p>
          <a:p>
            <a:r>
              <a:rPr dirty="0"/>
              <a:t>La </a:t>
            </a:r>
            <a:r>
              <a:rPr dirty="0" err="1"/>
              <a:t>regla</a:t>
            </a:r>
            <a:r>
              <a:rPr dirty="0"/>
              <a:t> crucial </a:t>
            </a:r>
            <a:r>
              <a:rPr dirty="0" err="1"/>
              <a:t>aparece</a:t>
            </a:r>
            <a:r>
              <a:rPr dirty="0"/>
              <a:t> en la </a:t>
            </a:r>
            <a:r>
              <a:rPr dirty="0" err="1"/>
              <a:t>parte</a:t>
            </a:r>
            <a:r>
              <a:rPr dirty="0"/>
              <a:t> inferior. </a:t>
            </a:r>
            <a:r>
              <a:rPr dirty="0" err="1"/>
              <a:t>composePendingDecisionTurns</a:t>
            </a:r>
            <a:r>
              <a:rPr dirty="0"/>
              <a:t> </a:t>
            </a:r>
            <a:r>
              <a:rPr dirty="0" err="1"/>
              <a:t>observa</a:t>
            </a:r>
            <a:r>
              <a:rPr dirty="0"/>
              <a:t> </a:t>
            </a:r>
            <a:r>
              <a:rPr dirty="0" err="1"/>
              <a:t>que</a:t>
            </a:r>
            <a:r>
              <a:rPr dirty="0"/>
              <a:t> cero intents </a:t>
            </a:r>
            <a:r>
              <a:rPr dirty="0" err="1"/>
              <a:t>fueron</a:t>
            </a:r>
            <a:r>
              <a:rPr dirty="0"/>
              <a:t> </a:t>
            </a:r>
            <a:r>
              <a:rPr dirty="0" err="1"/>
              <a:t>manejados</a:t>
            </a:r>
            <a:r>
              <a:rPr dirty="0"/>
              <a:t> y </a:t>
            </a:r>
            <a:r>
              <a:rPr dirty="0" err="1"/>
              <a:t>devuelve</a:t>
            </a:r>
            <a:r>
              <a:rPr dirty="0"/>
              <a:t> { </a:t>
            </a:r>
            <a:r>
              <a:rPr dirty="0" err="1"/>
              <a:t>handled:false</a:t>
            </a:r>
            <a:r>
              <a:rPr dirty="0"/>
              <a:t> }. No </a:t>
            </a:r>
            <a:r>
              <a:rPr dirty="0" err="1"/>
              <a:t>fabrica</a:t>
            </a:r>
            <a:r>
              <a:rPr dirty="0"/>
              <a:t> </a:t>
            </a:r>
            <a:r>
              <a:rPr dirty="0" err="1"/>
              <a:t>tres</a:t>
            </a:r>
            <a:r>
              <a:rPr dirty="0"/>
              <a:t> </a:t>
            </a:r>
            <a:r>
              <a:rPr dirty="0" err="1"/>
              <a:t>objetos</a:t>
            </a:r>
            <a:r>
              <a:rPr dirty="0"/>
              <a:t> residual, no </a:t>
            </a:r>
            <a:r>
              <a:rPr dirty="0" err="1"/>
              <a:t>concatena</a:t>
            </a:r>
            <a:r>
              <a:rPr dirty="0"/>
              <a:t> </a:t>
            </a:r>
            <a:r>
              <a:rPr dirty="0" err="1"/>
              <a:t>tres</a:t>
            </a:r>
            <a:r>
              <a:rPr dirty="0"/>
              <a:t> </a:t>
            </a:r>
            <a:r>
              <a:rPr dirty="0" err="1"/>
              <a:t>respuestas</a:t>
            </a:r>
            <a:r>
              <a:rPr dirty="0"/>
              <a:t> y no llama </a:t>
            </a:r>
            <a:r>
              <a:rPr dirty="0" err="1"/>
              <a:t>runAgent</a:t>
            </a:r>
            <a:r>
              <a:rPr dirty="0"/>
              <a:t> </a:t>
            </a:r>
            <a:r>
              <a:rPr dirty="0" err="1"/>
              <a:t>tres</a:t>
            </a:r>
            <a:r>
              <a:rPr dirty="0"/>
              <a:t> </a:t>
            </a:r>
            <a:r>
              <a:rPr dirty="0" err="1"/>
              <a:t>veces</a:t>
            </a:r>
            <a:r>
              <a:rPr dirty="0"/>
              <a:t>. El </a:t>
            </a:r>
            <a:r>
              <a:rPr dirty="0" err="1"/>
              <a:t>adaptador</a:t>
            </a:r>
            <a:r>
              <a:rPr dirty="0"/>
              <a:t> </a:t>
            </a:r>
            <a:r>
              <a:rPr dirty="0" err="1"/>
              <a:t>conserva</a:t>
            </a:r>
            <a:r>
              <a:rPr dirty="0"/>
              <a:t> el </a:t>
            </a:r>
            <a:r>
              <a:rPr dirty="0" err="1"/>
              <a:t>mensaje</a:t>
            </a:r>
            <a:r>
              <a:rPr dirty="0"/>
              <a:t> original </a:t>
            </a:r>
            <a:r>
              <a:rPr dirty="0" err="1"/>
              <a:t>completo</a:t>
            </a:r>
            <a:r>
              <a:rPr dirty="0"/>
              <a:t> y </a:t>
            </a:r>
            <a:r>
              <a:rPr dirty="0" err="1"/>
              <a:t>continúa</a:t>
            </a:r>
            <a:r>
              <a:rPr dirty="0"/>
              <a:t> </a:t>
            </a:r>
            <a:r>
              <a:rPr dirty="0" err="1"/>
              <a:t>por</a:t>
            </a:r>
            <a:r>
              <a:rPr dirty="0"/>
              <a:t> la </a:t>
            </a:r>
            <a:r>
              <a:rPr dirty="0" err="1"/>
              <a:t>ruta</a:t>
            </a:r>
            <a:r>
              <a:rPr dirty="0"/>
              <a:t> normal </a:t>
            </a:r>
            <a:r>
              <a:rPr dirty="0" err="1"/>
              <a:t>una</a:t>
            </a:r>
            <a:r>
              <a:rPr dirty="0"/>
              <a:t> sola </a:t>
            </a:r>
            <a:r>
              <a:rPr dirty="0" err="1"/>
              <a:t>vez</a:t>
            </a:r>
            <a:r>
              <a:rPr dirty="0"/>
              <a:t>.</a:t>
            </a:r>
          </a:p>
          <a:p>
            <a:endParaRPr dirty="0"/>
          </a:p>
          <a:p>
            <a:r>
              <a:rPr dirty="0" err="1"/>
              <a:t>Dentro</a:t>
            </a:r>
            <a:r>
              <a:rPr dirty="0"/>
              <a:t> de </a:t>
            </a:r>
            <a:r>
              <a:rPr dirty="0" err="1"/>
              <a:t>esa</a:t>
            </a:r>
            <a:r>
              <a:rPr dirty="0"/>
              <a:t> </a:t>
            </a:r>
            <a:r>
              <a:rPr dirty="0" err="1"/>
              <a:t>única</a:t>
            </a:r>
            <a:r>
              <a:rPr dirty="0"/>
              <a:t> </a:t>
            </a:r>
            <a:r>
              <a:rPr dirty="0" err="1"/>
              <a:t>llamada</a:t>
            </a:r>
            <a:r>
              <a:rPr dirty="0"/>
              <a:t>, </a:t>
            </a:r>
            <a:r>
              <a:rPr b="1" dirty="0" err="1"/>
              <a:t>runAgent</a:t>
            </a:r>
            <a:r>
              <a:rPr b="1" dirty="0"/>
              <a:t> </a:t>
            </a:r>
            <a:r>
              <a:rPr b="1" dirty="0" err="1"/>
              <a:t>prepara</a:t>
            </a:r>
            <a:r>
              <a:rPr b="1" dirty="0"/>
              <a:t> </a:t>
            </a:r>
            <a:r>
              <a:rPr b="1" dirty="0" err="1"/>
              <a:t>contexto</a:t>
            </a:r>
            <a:r>
              <a:rPr b="1" dirty="0"/>
              <a:t>, </a:t>
            </a:r>
            <a:r>
              <a:rPr lang="es-MX" b="1" dirty="0"/>
              <a:t>Skill, </a:t>
            </a:r>
            <a:r>
              <a:rPr b="1" dirty="0" err="1"/>
              <a:t>modelo</a:t>
            </a:r>
            <a:r>
              <a:rPr b="1" dirty="0"/>
              <a:t>, tools, policy y checkpoint</a:t>
            </a:r>
            <a:r>
              <a:rPr dirty="0"/>
              <a:t>. El selector actual </a:t>
            </a:r>
            <a:r>
              <a:rPr dirty="0" err="1"/>
              <a:t>elige</a:t>
            </a:r>
            <a:r>
              <a:rPr dirty="0"/>
              <a:t> </a:t>
            </a:r>
            <a:r>
              <a:rPr dirty="0" err="1"/>
              <a:t>una</a:t>
            </a:r>
            <a:r>
              <a:rPr dirty="0"/>
              <a:t> Skill </a:t>
            </a:r>
            <a:r>
              <a:rPr dirty="0" err="1"/>
              <a:t>dominante</a:t>
            </a:r>
            <a:r>
              <a:rPr dirty="0"/>
              <a:t> o none. En un </a:t>
            </a:r>
            <a:r>
              <a:rPr dirty="0" err="1"/>
              <a:t>caso</a:t>
            </a:r>
            <a:r>
              <a:rPr dirty="0"/>
              <a:t> </a:t>
            </a:r>
            <a:r>
              <a:rPr dirty="0" err="1"/>
              <a:t>como</a:t>
            </a:r>
            <a:r>
              <a:rPr dirty="0"/>
              <a:t> </a:t>
            </a:r>
            <a:r>
              <a:rPr dirty="0" err="1"/>
              <a:t>éste</a:t>
            </a:r>
            <a:r>
              <a:rPr dirty="0"/>
              <a:t>, </a:t>
            </a:r>
            <a:r>
              <a:rPr lang="es-MX" dirty="0"/>
              <a:t>el Skill </a:t>
            </a:r>
            <a:r>
              <a:rPr dirty="0"/>
              <a:t>company-data </a:t>
            </a:r>
            <a:r>
              <a:rPr dirty="0" err="1"/>
              <a:t>podría</a:t>
            </a:r>
            <a:r>
              <a:rPr dirty="0"/>
              <a:t> </a:t>
            </a:r>
            <a:r>
              <a:rPr dirty="0" err="1"/>
              <a:t>aportar</a:t>
            </a:r>
            <a:r>
              <a:rPr dirty="0"/>
              <a:t> </a:t>
            </a:r>
            <a:r>
              <a:rPr dirty="0" err="1"/>
              <a:t>instrucciones</a:t>
            </a:r>
            <a:r>
              <a:rPr dirty="0"/>
              <a:t> y tools para </a:t>
            </a:r>
            <a:r>
              <a:rPr dirty="0" err="1"/>
              <a:t>consultar</a:t>
            </a:r>
            <a:r>
              <a:rPr dirty="0"/>
              <a:t> </a:t>
            </a:r>
            <a:r>
              <a:rPr dirty="0" err="1"/>
              <a:t>BigQuery</a:t>
            </a:r>
            <a:r>
              <a:rPr dirty="0"/>
              <a:t>, y el </a:t>
            </a:r>
            <a:r>
              <a:rPr dirty="0" err="1"/>
              <a:t>agente</a:t>
            </a:r>
            <a:r>
              <a:rPr dirty="0"/>
              <a:t> </a:t>
            </a:r>
            <a:r>
              <a:rPr dirty="0" err="1"/>
              <a:t>puede</a:t>
            </a:r>
            <a:r>
              <a:rPr dirty="0"/>
              <a:t> </a:t>
            </a:r>
            <a:r>
              <a:rPr dirty="0" err="1"/>
              <a:t>planear</a:t>
            </a:r>
            <a:r>
              <a:rPr dirty="0"/>
              <a:t> </a:t>
            </a:r>
            <a:r>
              <a:rPr dirty="0" err="1"/>
              <a:t>una</a:t>
            </a:r>
            <a:r>
              <a:rPr dirty="0"/>
              <a:t> o </a:t>
            </a:r>
            <a:r>
              <a:rPr dirty="0" err="1"/>
              <a:t>varias</a:t>
            </a:r>
            <a:r>
              <a:rPr dirty="0"/>
              <a:t> </a:t>
            </a:r>
            <a:r>
              <a:rPr dirty="0" err="1"/>
              <a:t>consultas</a:t>
            </a:r>
            <a:r>
              <a:rPr dirty="0"/>
              <a:t> </a:t>
            </a:r>
            <a:r>
              <a:rPr dirty="0" err="1"/>
              <a:t>dentro</a:t>
            </a:r>
            <a:r>
              <a:rPr dirty="0"/>
              <a:t> de un </a:t>
            </a:r>
            <a:r>
              <a:rPr dirty="0" err="1"/>
              <a:t>único</a:t>
            </a:r>
            <a:r>
              <a:rPr dirty="0"/>
              <a:t> loop. Sin embargo, la </a:t>
            </a:r>
            <a:r>
              <a:rPr dirty="0" err="1"/>
              <a:t>selección</a:t>
            </a:r>
            <a:r>
              <a:rPr dirty="0"/>
              <a:t> </a:t>
            </a:r>
            <a:r>
              <a:rPr dirty="0" err="1"/>
              <a:t>concreta</a:t>
            </a:r>
            <a:r>
              <a:rPr dirty="0"/>
              <a:t> </a:t>
            </a:r>
            <a:r>
              <a:rPr dirty="0" err="1"/>
              <a:t>depende</a:t>
            </a:r>
            <a:r>
              <a:rPr dirty="0"/>
              <a:t> de las capabilities </a:t>
            </a:r>
            <a:r>
              <a:rPr dirty="0" err="1"/>
              <a:t>habilitadas</a:t>
            </a:r>
            <a:r>
              <a:rPr dirty="0"/>
              <a:t> y de la </a:t>
            </a:r>
            <a:r>
              <a:rPr dirty="0" err="1"/>
              <a:t>evidencia</a:t>
            </a:r>
            <a:r>
              <a:rPr dirty="0"/>
              <a:t> disponible; la </a:t>
            </a:r>
            <a:r>
              <a:rPr dirty="0" err="1"/>
              <a:t>lámina</a:t>
            </a:r>
            <a:r>
              <a:rPr dirty="0"/>
              <a:t> no </a:t>
            </a:r>
            <a:r>
              <a:rPr dirty="0" err="1"/>
              <a:t>promete</a:t>
            </a:r>
            <a:r>
              <a:rPr dirty="0"/>
              <a:t> </a:t>
            </a:r>
            <a:r>
              <a:rPr dirty="0" err="1"/>
              <a:t>que</a:t>
            </a:r>
            <a:r>
              <a:rPr dirty="0"/>
              <a:t> </a:t>
            </a:r>
            <a:r>
              <a:rPr dirty="0" err="1"/>
              <a:t>siempre</a:t>
            </a:r>
            <a:r>
              <a:rPr dirty="0"/>
              <a:t> se </a:t>
            </a:r>
            <a:r>
              <a:rPr dirty="0" err="1"/>
              <a:t>elija</a:t>
            </a:r>
            <a:r>
              <a:rPr dirty="0"/>
              <a:t> </a:t>
            </a:r>
            <a:r>
              <a:rPr dirty="0" err="1"/>
              <a:t>esa</a:t>
            </a:r>
            <a:r>
              <a:rPr dirty="0"/>
              <a:t> Skill.</a:t>
            </a:r>
          </a:p>
          <a:p>
            <a:endParaRPr dirty="0"/>
          </a:p>
          <a:p>
            <a:r>
              <a:rPr dirty="0"/>
              <a:t>Compare </a:t>
            </a:r>
            <a:r>
              <a:rPr dirty="0" err="1"/>
              <a:t>tres</a:t>
            </a:r>
            <a:r>
              <a:rPr dirty="0"/>
              <a:t> </a:t>
            </a:r>
            <a:r>
              <a:rPr dirty="0" err="1"/>
              <a:t>resultados</a:t>
            </a:r>
            <a:r>
              <a:rPr dirty="0"/>
              <a:t> </a:t>
            </a:r>
            <a:r>
              <a:rPr dirty="0" err="1"/>
              <a:t>posibles</a:t>
            </a:r>
            <a:r>
              <a:rPr dirty="0"/>
              <a:t>. Primero, cero intents </a:t>
            </a:r>
            <a:r>
              <a:rPr dirty="0" err="1"/>
              <a:t>manejados</a:t>
            </a:r>
            <a:r>
              <a:rPr dirty="0"/>
              <a:t>: el </a:t>
            </a:r>
            <a:r>
              <a:rPr dirty="0" err="1"/>
              <a:t>mensaje</a:t>
            </a:r>
            <a:r>
              <a:rPr dirty="0"/>
              <a:t> original </a:t>
            </a:r>
            <a:r>
              <a:rPr dirty="0" err="1"/>
              <a:t>pasa</a:t>
            </a:r>
            <a:r>
              <a:rPr dirty="0"/>
              <a:t> </a:t>
            </a:r>
            <a:r>
              <a:rPr dirty="0" err="1"/>
              <a:t>completo</a:t>
            </a:r>
            <a:r>
              <a:rPr dirty="0"/>
              <a:t> al </a:t>
            </a:r>
            <a:r>
              <a:rPr dirty="0" err="1"/>
              <a:t>agente</a:t>
            </a:r>
            <a:r>
              <a:rPr dirty="0"/>
              <a:t>, </a:t>
            </a:r>
            <a:r>
              <a:rPr dirty="0" err="1"/>
              <a:t>como</a:t>
            </a:r>
            <a:r>
              <a:rPr dirty="0"/>
              <a:t> </a:t>
            </a:r>
            <a:r>
              <a:rPr dirty="0" err="1"/>
              <a:t>aquí</a:t>
            </a:r>
            <a:r>
              <a:rPr dirty="0"/>
              <a:t>. Segundo, un </a:t>
            </a:r>
            <a:r>
              <a:rPr dirty="0" err="1"/>
              <a:t>caso</a:t>
            </a:r>
            <a:r>
              <a:rPr dirty="0"/>
              <a:t> </a:t>
            </a:r>
            <a:r>
              <a:rPr dirty="0" err="1"/>
              <a:t>mixto</a:t>
            </a:r>
            <a:r>
              <a:rPr dirty="0"/>
              <a:t>: </a:t>
            </a:r>
            <a:r>
              <a:rPr dirty="0" err="1"/>
              <a:t>si</a:t>
            </a:r>
            <a:r>
              <a:rPr dirty="0"/>
              <a:t> un gate </a:t>
            </a:r>
            <a:r>
              <a:rPr dirty="0" err="1"/>
              <a:t>maneja</a:t>
            </a:r>
            <a:r>
              <a:rPr dirty="0"/>
              <a:t> </a:t>
            </a:r>
            <a:r>
              <a:rPr dirty="0" err="1"/>
              <a:t>una</a:t>
            </a:r>
            <a:r>
              <a:rPr dirty="0"/>
              <a:t> </a:t>
            </a:r>
            <a:r>
              <a:rPr dirty="0" err="1"/>
              <a:t>decisión</a:t>
            </a:r>
            <a:r>
              <a:rPr dirty="0"/>
              <a:t> y </a:t>
            </a:r>
            <a:r>
              <a:rPr dirty="0" err="1"/>
              <a:t>quedan</a:t>
            </a:r>
            <a:r>
              <a:rPr dirty="0"/>
              <a:t> dos </a:t>
            </a:r>
            <a:r>
              <a:rPr dirty="0" err="1"/>
              <a:t>preguntas</a:t>
            </a:r>
            <a:r>
              <a:rPr dirty="0"/>
              <a:t> </a:t>
            </a:r>
            <a:r>
              <a:rPr dirty="0" err="1"/>
              <a:t>independientes</a:t>
            </a:r>
            <a:r>
              <a:rPr dirty="0"/>
              <a:t>, las </a:t>
            </a:r>
            <a:r>
              <a:rPr dirty="0" err="1"/>
              <a:t>preguntas</a:t>
            </a:r>
            <a:r>
              <a:rPr dirty="0"/>
              <a:t> no </a:t>
            </a:r>
            <a:r>
              <a:rPr dirty="0" err="1"/>
              <a:t>manejadas</a:t>
            </a:r>
            <a:r>
              <a:rPr dirty="0"/>
              <a:t> se </a:t>
            </a:r>
            <a:r>
              <a:rPr dirty="0" err="1"/>
              <a:t>unen</a:t>
            </a:r>
            <a:r>
              <a:rPr dirty="0"/>
              <a:t> en un </a:t>
            </a:r>
            <a:r>
              <a:rPr dirty="0" err="1"/>
              <a:t>único</a:t>
            </a:r>
            <a:r>
              <a:rPr dirty="0"/>
              <a:t> residual </a:t>
            </a:r>
            <a:r>
              <a:rPr dirty="0" err="1"/>
              <a:t>separado</a:t>
            </a:r>
            <a:r>
              <a:rPr dirty="0"/>
              <a:t> </a:t>
            </a:r>
            <a:r>
              <a:rPr dirty="0" err="1"/>
              <a:t>por</a:t>
            </a:r>
            <a:r>
              <a:rPr dirty="0"/>
              <a:t> un punto medio y se </a:t>
            </a:r>
            <a:r>
              <a:rPr dirty="0" err="1"/>
              <a:t>realiza</a:t>
            </a:r>
            <a:r>
              <a:rPr dirty="0"/>
              <a:t> </a:t>
            </a:r>
            <a:r>
              <a:rPr dirty="0" err="1"/>
              <a:t>una</a:t>
            </a:r>
            <a:r>
              <a:rPr dirty="0"/>
              <a:t> sola </a:t>
            </a:r>
            <a:r>
              <a:rPr dirty="0" err="1"/>
              <a:t>llamada</a:t>
            </a:r>
            <a:r>
              <a:rPr dirty="0"/>
              <a:t> a </a:t>
            </a:r>
            <a:r>
              <a:rPr dirty="0" err="1"/>
              <a:t>runAgent</a:t>
            </a:r>
            <a:r>
              <a:rPr dirty="0"/>
              <a:t> con ese residual. Tercero, </a:t>
            </a:r>
            <a:r>
              <a:rPr dirty="0" err="1"/>
              <a:t>todos</a:t>
            </a:r>
            <a:r>
              <a:rPr dirty="0"/>
              <a:t> </a:t>
            </a:r>
            <a:r>
              <a:rPr dirty="0" err="1"/>
              <a:t>los</a:t>
            </a:r>
            <a:r>
              <a:rPr dirty="0"/>
              <a:t> intents </a:t>
            </a:r>
            <a:r>
              <a:rPr dirty="0" err="1"/>
              <a:t>manejados</a:t>
            </a:r>
            <a:r>
              <a:rPr dirty="0"/>
              <a:t> </a:t>
            </a:r>
            <a:r>
              <a:rPr dirty="0" err="1"/>
              <a:t>por</a:t>
            </a:r>
            <a:r>
              <a:rPr dirty="0"/>
              <a:t> gates: se </a:t>
            </a:r>
            <a:r>
              <a:rPr dirty="0" err="1"/>
              <a:t>componen</a:t>
            </a:r>
            <a:r>
              <a:rPr dirty="0"/>
              <a:t> </a:t>
            </a:r>
            <a:r>
              <a:rPr dirty="0" err="1"/>
              <a:t>los</a:t>
            </a:r>
            <a:r>
              <a:rPr dirty="0"/>
              <a:t> </a:t>
            </a:r>
            <a:r>
              <a:rPr dirty="0" err="1"/>
              <a:t>reconocimientos</a:t>
            </a:r>
            <a:r>
              <a:rPr dirty="0"/>
              <a:t> y no se </a:t>
            </a:r>
            <a:r>
              <a:rPr dirty="0" err="1"/>
              <a:t>invoca</a:t>
            </a:r>
            <a:r>
              <a:rPr dirty="0"/>
              <a:t> al </a:t>
            </a:r>
            <a:r>
              <a:rPr dirty="0" err="1"/>
              <a:t>agente</a:t>
            </a:r>
            <a:r>
              <a:rPr dirty="0"/>
              <a:t> general.</a:t>
            </a:r>
          </a:p>
          <a:p>
            <a:endParaRPr dirty="0"/>
          </a:p>
          <a:p>
            <a:r>
              <a:rPr dirty="0" err="1"/>
              <a:t>Aclare</a:t>
            </a:r>
            <a:r>
              <a:rPr dirty="0"/>
              <a:t> </a:t>
            </a:r>
            <a:r>
              <a:rPr dirty="0" err="1"/>
              <a:t>que</a:t>
            </a:r>
            <a:r>
              <a:rPr dirty="0"/>
              <a:t> el </a:t>
            </a:r>
            <a:r>
              <a:rPr dirty="0" err="1"/>
              <a:t>mecanismo</a:t>
            </a:r>
            <a:r>
              <a:rPr dirty="0"/>
              <a:t> actual protege </a:t>
            </a:r>
            <a:r>
              <a:rPr dirty="0" err="1"/>
              <a:t>decisiones</a:t>
            </a:r>
            <a:r>
              <a:rPr dirty="0"/>
              <a:t> </a:t>
            </a:r>
            <a:r>
              <a:rPr dirty="0" err="1"/>
              <a:t>pendientes</a:t>
            </a:r>
            <a:r>
              <a:rPr dirty="0"/>
              <a:t>; no es </a:t>
            </a:r>
            <a:r>
              <a:rPr dirty="0" err="1"/>
              <a:t>todavía</a:t>
            </a:r>
            <a:r>
              <a:rPr dirty="0"/>
              <a:t> un dispatcher multi-Skill universal. </a:t>
            </a:r>
            <a:r>
              <a:rPr dirty="0" err="1"/>
              <a:t>Reconocer</a:t>
            </a:r>
            <a:r>
              <a:rPr dirty="0"/>
              <a:t> </a:t>
            </a:r>
            <a:r>
              <a:rPr dirty="0" err="1"/>
              <a:t>tres</a:t>
            </a:r>
            <a:r>
              <a:rPr dirty="0"/>
              <a:t> intents no </a:t>
            </a:r>
            <a:r>
              <a:rPr dirty="0" err="1"/>
              <a:t>significa</a:t>
            </a:r>
            <a:r>
              <a:rPr dirty="0"/>
              <a:t> </a:t>
            </a:r>
            <a:r>
              <a:rPr dirty="0" err="1"/>
              <a:t>asignar</a:t>
            </a:r>
            <a:r>
              <a:rPr dirty="0"/>
              <a:t> </a:t>
            </a:r>
            <a:r>
              <a:rPr dirty="0" err="1"/>
              <a:t>automáticamente</a:t>
            </a:r>
            <a:r>
              <a:rPr dirty="0"/>
              <a:t> </a:t>
            </a:r>
            <a:r>
              <a:rPr dirty="0" err="1"/>
              <a:t>una</a:t>
            </a:r>
            <a:r>
              <a:rPr dirty="0"/>
              <a:t> Skill </a:t>
            </a:r>
            <a:r>
              <a:rPr dirty="0" err="1"/>
              <a:t>distinta</a:t>
            </a:r>
            <a:r>
              <a:rPr dirty="0"/>
              <a:t> a </a:t>
            </a:r>
            <a:r>
              <a:rPr dirty="0" err="1"/>
              <a:t>cada</a:t>
            </a:r>
            <a:r>
              <a:rPr dirty="0"/>
              <a:t> uno. El </a:t>
            </a:r>
            <a:r>
              <a:rPr dirty="0" err="1"/>
              <a:t>agente</a:t>
            </a:r>
            <a:r>
              <a:rPr dirty="0"/>
              <a:t> general </a:t>
            </a:r>
            <a:r>
              <a:rPr dirty="0" err="1"/>
              <a:t>recibe</a:t>
            </a:r>
            <a:r>
              <a:rPr dirty="0"/>
              <a:t> </a:t>
            </a:r>
            <a:r>
              <a:rPr dirty="0" err="1"/>
              <a:t>una</a:t>
            </a:r>
            <a:r>
              <a:rPr dirty="0"/>
              <a:t> </a:t>
            </a:r>
            <a:r>
              <a:rPr dirty="0" err="1"/>
              <a:t>petición</a:t>
            </a:r>
            <a:r>
              <a:rPr dirty="0"/>
              <a:t> </a:t>
            </a:r>
            <a:r>
              <a:rPr dirty="0" err="1"/>
              <a:t>coherente</a:t>
            </a:r>
            <a:r>
              <a:rPr dirty="0"/>
              <a:t> y </a:t>
            </a:r>
            <a:r>
              <a:rPr dirty="0" err="1"/>
              <a:t>puede</a:t>
            </a:r>
            <a:r>
              <a:rPr dirty="0"/>
              <a:t> usar las tools </a:t>
            </a:r>
            <a:r>
              <a:rPr dirty="0" err="1"/>
              <a:t>autorizadas</a:t>
            </a:r>
            <a:r>
              <a:rPr dirty="0"/>
              <a:t> </a:t>
            </a:r>
            <a:r>
              <a:rPr dirty="0" err="1"/>
              <a:t>varias</a:t>
            </a:r>
            <a:r>
              <a:rPr dirty="0"/>
              <a:t> </a:t>
            </a:r>
            <a:r>
              <a:rPr dirty="0" err="1"/>
              <a:t>veces</a:t>
            </a:r>
            <a:r>
              <a:rPr dirty="0"/>
              <a:t> </a:t>
            </a:r>
            <a:r>
              <a:rPr dirty="0" err="1"/>
              <a:t>dentro</a:t>
            </a:r>
            <a:r>
              <a:rPr dirty="0"/>
              <a:t> de </a:t>
            </a:r>
            <a:r>
              <a:rPr dirty="0" err="1"/>
              <a:t>su</a:t>
            </a:r>
            <a:r>
              <a:rPr dirty="0"/>
              <a:t> </a:t>
            </a:r>
            <a:r>
              <a:rPr dirty="0" err="1"/>
              <a:t>StateGraph</a:t>
            </a:r>
            <a:r>
              <a:rPr dirty="0"/>
              <a:t>.</a:t>
            </a:r>
          </a:p>
          <a:p>
            <a:endParaRPr dirty="0"/>
          </a:p>
          <a:p>
            <a:r>
              <a:rPr dirty="0"/>
              <a:t>Cierre con la idea de </a:t>
            </a:r>
            <a:r>
              <a:rPr dirty="0" err="1"/>
              <a:t>diseño</a:t>
            </a:r>
            <a:r>
              <a:rPr dirty="0"/>
              <a:t>: la </a:t>
            </a:r>
            <a:r>
              <a:rPr dirty="0" err="1"/>
              <a:t>descomposición</a:t>
            </a:r>
            <a:r>
              <a:rPr dirty="0"/>
              <a:t> </a:t>
            </a:r>
            <a:r>
              <a:rPr dirty="0" err="1"/>
              <a:t>preserva</a:t>
            </a:r>
            <a:r>
              <a:rPr dirty="0"/>
              <a:t> </a:t>
            </a:r>
            <a:r>
              <a:rPr dirty="0" err="1"/>
              <a:t>intención</a:t>
            </a:r>
            <a:r>
              <a:rPr dirty="0"/>
              <a:t> </a:t>
            </a:r>
            <a:r>
              <a:rPr dirty="0" err="1"/>
              <a:t>donde</a:t>
            </a:r>
            <a:r>
              <a:rPr dirty="0"/>
              <a:t> </a:t>
            </a:r>
            <a:r>
              <a:rPr dirty="0" err="1"/>
              <a:t>existe</a:t>
            </a:r>
            <a:r>
              <a:rPr dirty="0"/>
              <a:t> </a:t>
            </a:r>
            <a:r>
              <a:rPr dirty="0" err="1"/>
              <a:t>riesgo</a:t>
            </a:r>
            <a:r>
              <a:rPr dirty="0"/>
              <a:t> de </a:t>
            </a:r>
            <a:r>
              <a:rPr dirty="0" err="1"/>
              <a:t>que</a:t>
            </a:r>
            <a:r>
              <a:rPr dirty="0"/>
              <a:t> un gate </a:t>
            </a:r>
            <a:r>
              <a:rPr dirty="0" err="1"/>
              <a:t>consuma</a:t>
            </a:r>
            <a:r>
              <a:rPr dirty="0"/>
              <a:t> </a:t>
            </a:r>
            <a:r>
              <a:rPr dirty="0" err="1"/>
              <a:t>parte</a:t>
            </a:r>
            <a:r>
              <a:rPr dirty="0"/>
              <a:t> del </a:t>
            </a:r>
            <a:r>
              <a:rPr dirty="0" err="1"/>
              <a:t>mensaje</a:t>
            </a:r>
            <a:r>
              <a:rPr dirty="0"/>
              <a:t>. La </a:t>
            </a:r>
            <a:r>
              <a:rPr dirty="0" err="1"/>
              <a:t>unidad</a:t>
            </a:r>
            <a:r>
              <a:rPr dirty="0"/>
              <a:t> normal de </a:t>
            </a:r>
            <a:r>
              <a:rPr dirty="0" err="1"/>
              <a:t>ejecución</a:t>
            </a:r>
            <a:r>
              <a:rPr dirty="0"/>
              <a:t> </a:t>
            </a:r>
            <a:r>
              <a:rPr dirty="0" err="1"/>
              <a:t>agéntica</a:t>
            </a:r>
            <a:r>
              <a:rPr dirty="0"/>
              <a:t> </a:t>
            </a:r>
            <a:r>
              <a:rPr dirty="0" err="1"/>
              <a:t>sigue</a:t>
            </a:r>
            <a:r>
              <a:rPr dirty="0"/>
              <a:t> </a:t>
            </a:r>
            <a:r>
              <a:rPr dirty="0" err="1"/>
              <a:t>siendo</a:t>
            </a:r>
            <a:r>
              <a:rPr dirty="0"/>
              <a:t> </a:t>
            </a:r>
            <a:r>
              <a:rPr dirty="0" err="1"/>
              <a:t>una</a:t>
            </a:r>
            <a:r>
              <a:rPr dirty="0"/>
              <a:t> sola </a:t>
            </a:r>
            <a:r>
              <a:rPr dirty="0" err="1"/>
              <a:t>petición</a:t>
            </a:r>
            <a:r>
              <a:rPr dirty="0"/>
              <a:t> </a:t>
            </a:r>
            <a:r>
              <a:rPr dirty="0" err="1"/>
              <a:t>efectiva</a:t>
            </a:r>
            <a:r>
              <a:rPr dirty="0"/>
              <a:t>, no un fan-out </a:t>
            </a:r>
            <a:r>
              <a:rPr dirty="0" err="1"/>
              <a:t>indiscriminado</a:t>
            </a:r>
            <a:r>
              <a:rPr dirty="0"/>
              <a:t> </a:t>
            </a:r>
            <a:r>
              <a:rPr dirty="0" err="1"/>
              <a:t>por</a:t>
            </a:r>
            <a:r>
              <a:rPr dirty="0"/>
              <a:t> </a:t>
            </a:r>
            <a:r>
              <a:rPr dirty="0" err="1"/>
              <a:t>cada</a:t>
            </a:r>
            <a:r>
              <a:rPr dirty="0"/>
              <a:t> </a:t>
            </a:r>
            <a:r>
              <a:rPr dirty="0" err="1"/>
              <a:t>pregunta</a:t>
            </a:r>
            <a:r>
              <a:rPr dirty="0"/>
              <a:t>.</a:t>
            </a:r>
          </a:p>
          <a:p>
            <a:endParaRPr dirty="0"/>
          </a:p>
          <a:p>
            <a:r>
              <a:rPr dirty="0"/>
              <a:t>[GLOSARIO]</a:t>
            </a:r>
          </a:p>
          <a:p>
            <a:pPr marL="171450" indent="-171450">
              <a:buFont typeface="Arial" panose="020B0604020202020204" pitchFamily="34" charset="0"/>
              <a:buChar char="•"/>
            </a:pPr>
            <a:r>
              <a:rPr dirty="0"/>
              <a:t>Intent: </a:t>
            </a:r>
            <a:r>
              <a:rPr dirty="0" err="1"/>
              <a:t>petición</a:t>
            </a:r>
            <a:r>
              <a:rPr dirty="0"/>
              <a:t> </a:t>
            </a:r>
            <a:r>
              <a:rPr dirty="0" err="1"/>
              <a:t>independiente</a:t>
            </a:r>
            <a:r>
              <a:rPr dirty="0"/>
              <a:t> </a:t>
            </a:r>
            <a:r>
              <a:rPr dirty="0" err="1"/>
              <a:t>identificada</a:t>
            </a:r>
            <a:r>
              <a:rPr dirty="0"/>
              <a:t> </a:t>
            </a:r>
            <a:r>
              <a:rPr dirty="0" err="1"/>
              <a:t>dentro</a:t>
            </a:r>
            <a:r>
              <a:rPr dirty="0"/>
              <a:t> de un </a:t>
            </a:r>
            <a:r>
              <a:rPr dirty="0" err="1"/>
              <a:t>mensaje</a:t>
            </a:r>
            <a:r>
              <a:rPr dirty="0"/>
              <a:t>.</a:t>
            </a:r>
          </a:p>
          <a:p>
            <a:pPr marL="171450" indent="-171450">
              <a:buFont typeface="Arial" panose="020B0604020202020204" pitchFamily="34" charset="0"/>
              <a:buChar char="•"/>
            </a:pPr>
            <a:r>
              <a:rPr dirty="0"/>
              <a:t>Span literal: </a:t>
            </a:r>
            <a:r>
              <a:rPr dirty="0" err="1"/>
              <a:t>fragmento</a:t>
            </a:r>
            <a:r>
              <a:rPr dirty="0"/>
              <a:t> </a:t>
            </a:r>
            <a:r>
              <a:rPr dirty="0" err="1"/>
              <a:t>que</a:t>
            </a:r>
            <a:r>
              <a:rPr dirty="0"/>
              <a:t> </a:t>
            </a:r>
            <a:r>
              <a:rPr dirty="0" err="1"/>
              <a:t>aparece</a:t>
            </a:r>
            <a:r>
              <a:rPr dirty="0"/>
              <a:t> </a:t>
            </a:r>
            <a:r>
              <a:rPr dirty="0" err="1"/>
              <a:t>realmente</a:t>
            </a:r>
            <a:r>
              <a:rPr dirty="0"/>
              <a:t> en el </a:t>
            </a:r>
            <a:r>
              <a:rPr dirty="0" err="1"/>
              <a:t>mensaje</a:t>
            </a:r>
            <a:r>
              <a:rPr dirty="0"/>
              <a:t> original, sin </a:t>
            </a:r>
            <a:r>
              <a:rPr dirty="0" err="1"/>
              <a:t>paráfrasis</a:t>
            </a:r>
            <a:r>
              <a:rPr dirty="0"/>
              <a:t> </a:t>
            </a:r>
            <a:r>
              <a:rPr dirty="0" err="1"/>
              <a:t>inventada</a:t>
            </a:r>
            <a:r>
              <a:rPr dirty="0"/>
              <a:t>.</a:t>
            </a:r>
          </a:p>
          <a:p>
            <a:pPr marL="171450" indent="-171450">
              <a:buFont typeface="Arial" panose="020B0604020202020204" pitchFamily="34" charset="0"/>
              <a:buChar char="•"/>
            </a:pPr>
            <a:r>
              <a:rPr dirty="0"/>
              <a:t>Guard: conjunto de </a:t>
            </a:r>
            <a:r>
              <a:rPr dirty="0" err="1"/>
              <a:t>condiciones</a:t>
            </a:r>
            <a:r>
              <a:rPr dirty="0"/>
              <a:t> </a:t>
            </a:r>
            <a:r>
              <a:rPr dirty="0" err="1"/>
              <a:t>que</a:t>
            </a:r>
            <a:r>
              <a:rPr dirty="0"/>
              <a:t> decide </a:t>
            </a:r>
            <a:r>
              <a:rPr dirty="0" err="1"/>
              <a:t>si</a:t>
            </a:r>
            <a:r>
              <a:rPr dirty="0"/>
              <a:t> la </a:t>
            </a:r>
            <a:r>
              <a:rPr dirty="0" err="1"/>
              <a:t>descomposición</a:t>
            </a:r>
            <a:r>
              <a:rPr dirty="0"/>
              <a:t> es </a:t>
            </a:r>
            <a:r>
              <a:rPr dirty="0" err="1"/>
              <a:t>suficientemente</a:t>
            </a:r>
            <a:r>
              <a:rPr dirty="0"/>
              <a:t> </a:t>
            </a:r>
            <a:r>
              <a:rPr dirty="0" err="1"/>
              <a:t>confiable</a:t>
            </a:r>
            <a:r>
              <a:rPr dirty="0"/>
              <a:t> para </a:t>
            </a:r>
            <a:r>
              <a:rPr dirty="0" err="1"/>
              <a:t>aplicarse</a:t>
            </a:r>
            <a:r>
              <a:rPr dirty="0"/>
              <a:t>.</a:t>
            </a:r>
          </a:p>
          <a:p>
            <a:pPr marL="171450" indent="-171450">
              <a:buFont typeface="Arial" panose="020B0604020202020204" pitchFamily="34" charset="0"/>
              <a:buChar char="•"/>
            </a:pPr>
            <a:r>
              <a:rPr dirty="0" err="1"/>
              <a:t>handled:false</a:t>
            </a:r>
            <a:r>
              <a:rPr dirty="0"/>
              <a:t>: </a:t>
            </a:r>
            <a:r>
              <a:rPr dirty="0" err="1"/>
              <a:t>ningún</a:t>
            </a:r>
            <a:r>
              <a:rPr dirty="0"/>
              <a:t> gate </a:t>
            </a:r>
            <a:r>
              <a:rPr dirty="0" err="1"/>
              <a:t>especializado</a:t>
            </a:r>
            <a:r>
              <a:rPr dirty="0"/>
              <a:t> </a:t>
            </a:r>
            <a:r>
              <a:rPr dirty="0" err="1"/>
              <a:t>reclamó</a:t>
            </a:r>
            <a:r>
              <a:rPr dirty="0"/>
              <a:t> ese intent.</a:t>
            </a:r>
          </a:p>
          <a:p>
            <a:pPr marL="171450" indent="-171450">
              <a:buFont typeface="Arial" panose="020B0604020202020204" pitchFamily="34" charset="0"/>
              <a:buChar char="•"/>
            </a:pPr>
            <a:r>
              <a:rPr dirty="0" err="1"/>
              <a:t>Mensaje</a:t>
            </a:r>
            <a:r>
              <a:rPr dirty="0"/>
              <a:t> original: </a:t>
            </a:r>
            <a:r>
              <a:rPr dirty="0" err="1"/>
              <a:t>texto</a:t>
            </a:r>
            <a:r>
              <a:rPr dirty="0"/>
              <a:t> </a:t>
            </a:r>
            <a:r>
              <a:rPr dirty="0" err="1"/>
              <a:t>completo</a:t>
            </a:r>
            <a:r>
              <a:rPr dirty="0"/>
              <a:t> </a:t>
            </a:r>
            <a:r>
              <a:rPr dirty="0" err="1"/>
              <a:t>recibido</a:t>
            </a:r>
            <a:r>
              <a:rPr dirty="0"/>
              <a:t> del </a:t>
            </a:r>
            <a:r>
              <a:rPr dirty="0" err="1"/>
              <a:t>usuario</a:t>
            </a:r>
            <a:r>
              <a:rPr dirty="0"/>
              <a:t> antes de la </a:t>
            </a:r>
            <a:r>
              <a:rPr dirty="0" err="1"/>
              <a:t>descomposición</a:t>
            </a:r>
            <a:r>
              <a:rPr dirty="0"/>
              <a:t>.</a:t>
            </a:r>
          </a:p>
          <a:p>
            <a:pPr marL="171450" indent="-171450">
              <a:buFont typeface="Arial" panose="020B0604020202020204" pitchFamily="34" charset="0"/>
              <a:buChar char="•"/>
            </a:pPr>
            <a:r>
              <a:rPr dirty="0"/>
              <a:t>Residual </a:t>
            </a:r>
            <a:r>
              <a:rPr dirty="0" err="1"/>
              <a:t>combinado</a:t>
            </a:r>
            <a:r>
              <a:rPr dirty="0"/>
              <a:t>: </a:t>
            </a:r>
            <a:r>
              <a:rPr dirty="0" err="1"/>
              <a:t>unión</a:t>
            </a:r>
            <a:r>
              <a:rPr dirty="0"/>
              <a:t> de intents no </a:t>
            </a:r>
            <a:r>
              <a:rPr dirty="0" err="1"/>
              <a:t>manejados</a:t>
            </a:r>
            <a:r>
              <a:rPr dirty="0"/>
              <a:t> </a:t>
            </a:r>
            <a:r>
              <a:rPr dirty="0" err="1"/>
              <a:t>cuando</a:t>
            </a:r>
            <a:r>
              <a:rPr dirty="0"/>
              <a:t> al </a:t>
            </a:r>
            <a:r>
              <a:rPr dirty="0" err="1"/>
              <a:t>menos</a:t>
            </a:r>
            <a:r>
              <a:rPr dirty="0"/>
              <a:t> </a:t>
            </a:r>
            <a:r>
              <a:rPr dirty="0" err="1"/>
              <a:t>otro</a:t>
            </a:r>
            <a:r>
              <a:rPr dirty="0"/>
              <a:t> intent </a:t>
            </a:r>
            <a:r>
              <a:rPr dirty="0" err="1"/>
              <a:t>sí</a:t>
            </a:r>
            <a:r>
              <a:rPr dirty="0"/>
              <a:t> </a:t>
            </a:r>
            <a:r>
              <a:rPr dirty="0" err="1"/>
              <a:t>fue</a:t>
            </a:r>
            <a:r>
              <a:rPr dirty="0"/>
              <a:t> </a:t>
            </a:r>
            <a:r>
              <a:rPr dirty="0" err="1"/>
              <a:t>resuelto</a:t>
            </a:r>
            <a:r>
              <a:rPr dirty="0"/>
              <a:t> </a:t>
            </a:r>
            <a:r>
              <a:rPr dirty="0" err="1"/>
              <a:t>por</a:t>
            </a:r>
            <a:r>
              <a:rPr dirty="0"/>
              <a:t> un gate.</a:t>
            </a:r>
          </a:p>
          <a:p>
            <a:pPr marL="171450" indent="-171450">
              <a:buFont typeface="Arial" panose="020B0604020202020204" pitchFamily="34" charset="0"/>
              <a:buChar char="•"/>
            </a:pPr>
            <a:r>
              <a:rPr dirty="0"/>
              <a:t>Skill </a:t>
            </a:r>
            <a:r>
              <a:rPr dirty="0" err="1"/>
              <a:t>dominante</a:t>
            </a:r>
            <a:r>
              <a:rPr dirty="0"/>
              <a:t>: playbook principal </a:t>
            </a:r>
            <a:r>
              <a:rPr dirty="0" err="1"/>
              <a:t>seleccionado</a:t>
            </a:r>
            <a:r>
              <a:rPr dirty="0"/>
              <a:t> para </a:t>
            </a:r>
            <a:r>
              <a:rPr dirty="0" err="1"/>
              <a:t>orientar</a:t>
            </a:r>
            <a:r>
              <a:rPr dirty="0"/>
              <a:t> el </a:t>
            </a:r>
            <a:r>
              <a:rPr dirty="0" err="1"/>
              <a:t>turno</a:t>
            </a:r>
            <a:r>
              <a:rPr dirty="0"/>
              <a:t>; el </a:t>
            </a:r>
            <a:r>
              <a:rPr dirty="0" err="1"/>
              <a:t>diseño</a:t>
            </a:r>
            <a:r>
              <a:rPr dirty="0"/>
              <a:t> actual no </a:t>
            </a:r>
            <a:r>
              <a:rPr dirty="0" err="1"/>
              <a:t>distribuye</a:t>
            </a:r>
            <a:r>
              <a:rPr dirty="0"/>
              <a:t> </a:t>
            </a:r>
            <a:r>
              <a:rPr dirty="0" err="1"/>
              <a:t>automáticamente</a:t>
            </a:r>
            <a:r>
              <a:rPr dirty="0"/>
              <a:t> </a:t>
            </a:r>
            <a:r>
              <a:rPr dirty="0" err="1"/>
              <a:t>cada</a:t>
            </a:r>
            <a:r>
              <a:rPr dirty="0"/>
              <a:t> intent entre </a:t>
            </a:r>
            <a:r>
              <a:rPr dirty="0" err="1"/>
              <a:t>múltiples</a:t>
            </a:r>
            <a:r>
              <a:rPr dirty="0"/>
              <a:t> Skills.</a:t>
            </a:r>
          </a:p>
          <a:p>
            <a:pPr marL="171450" indent="-171450">
              <a:buFont typeface="Arial" panose="020B0604020202020204" pitchFamily="34" charset="0"/>
              <a:buChar char="•"/>
            </a:pPr>
            <a:r>
              <a:rPr dirty="0"/>
              <a:t>Fan-out: </a:t>
            </a:r>
            <a:r>
              <a:rPr dirty="0" err="1"/>
              <a:t>creación</a:t>
            </a:r>
            <a:r>
              <a:rPr dirty="0"/>
              <a:t> de </a:t>
            </a:r>
            <a:r>
              <a:rPr dirty="0" err="1"/>
              <a:t>varias</a:t>
            </a:r>
            <a:r>
              <a:rPr dirty="0"/>
              <a:t> </a:t>
            </a:r>
            <a:r>
              <a:rPr dirty="0" err="1"/>
              <a:t>ejecuciones</a:t>
            </a:r>
            <a:r>
              <a:rPr dirty="0"/>
              <a:t> </a:t>
            </a:r>
            <a:r>
              <a:rPr dirty="0" err="1"/>
              <a:t>paralelas</a:t>
            </a:r>
            <a:r>
              <a:rPr dirty="0"/>
              <a:t> a </a:t>
            </a:r>
            <a:r>
              <a:rPr dirty="0" err="1"/>
              <a:t>partir</a:t>
            </a:r>
            <a:r>
              <a:rPr dirty="0"/>
              <a:t> de </a:t>
            </a:r>
            <a:r>
              <a:rPr dirty="0" err="1"/>
              <a:t>una</a:t>
            </a:r>
            <a:r>
              <a:rPr dirty="0"/>
              <a:t> sola entrada; no </a:t>
            </a:r>
            <a:r>
              <a:rPr dirty="0" err="1"/>
              <a:t>ocurre</a:t>
            </a:r>
            <a:r>
              <a:rPr dirty="0"/>
              <a:t> en </a:t>
            </a:r>
            <a:r>
              <a:rPr dirty="0" err="1"/>
              <a:t>este</a:t>
            </a:r>
            <a:r>
              <a:rPr dirty="0"/>
              <a:t> </a:t>
            </a:r>
            <a:r>
              <a:rPr dirty="0" err="1"/>
              <a:t>caso</a:t>
            </a:r>
            <a:r>
              <a:rPr dirty="0"/>
              <a:t>.</a:t>
            </a:r>
            <a:endParaRPr lang="es-MX" dirty="0"/>
          </a:p>
          <a:p>
            <a:pPr marL="171450" indent="-171450">
              <a:buFont typeface="Arial" panose="020B0604020202020204" pitchFamily="34" charset="0"/>
              <a:buChar char="•"/>
            </a:pPr>
            <a:r>
              <a:rPr lang="es-MX" dirty="0"/>
              <a:t>Actualmente, </a:t>
            </a:r>
            <a:r>
              <a:rPr lang="es-MX" sz="1200" kern="1200" dirty="0" err="1"/>
              <a:t>runAgent</a:t>
            </a:r>
            <a:r>
              <a:rPr lang="es-MX" dirty="0"/>
              <a:t> hace, simplificando:</a:t>
            </a:r>
          </a:p>
          <a:p>
            <a:pPr marL="285750" lvl="8" indent="-285750">
              <a:buFont typeface="Wingdings" panose="05000000000000000000" pitchFamily="2" charset="2"/>
              <a:buChar char="v"/>
            </a:pPr>
            <a:r>
              <a:rPr lang="es-MX" dirty="0"/>
              <a:t>Carga historia reciente y contexto de </a:t>
            </a:r>
            <a:r>
              <a:rPr lang="es-MX" dirty="0" err="1"/>
              <a:t>routing</a:t>
            </a:r>
            <a:r>
              <a:rPr lang="es-MX" dirty="0"/>
              <a:t>. </a:t>
            </a:r>
          </a:p>
          <a:p>
            <a:pPr marL="285750" lvl="8" indent="-285750">
              <a:buFont typeface="Wingdings" panose="05000000000000000000" pitchFamily="2" charset="2"/>
              <a:buChar char="v"/>
            </a:pPr>
            <a:r>
              <a:rPr lang="es-MX" dirty="0"/>
              <a:t>Resuelve el </a:t>
            </a:r>
            <a:r>
              <a:rPr lang="es-MX" dirty="0" err="1"/>
              <a:t>binding</a:t>
            </a:r>
            <a:r>
              <a:rPr lang="es-MX" dirty="0"/>
              <a:t> con un Case, si existe. </a:t>
            </a:r>
          </a:p>
          <a:p>
            <a:pPr marL="285750" lvl="8" indent="-285750">
              <a:buFont typeface="Wingdings" panose="05000000000000000000" pitchFamily="2" charset="2"/>
              <a:buChar char="v"/>
            </a:pPr>
            <a:r>
              <a:rPr lang="es-MX" dirty="0"/>
              <a:t>Selecciona una Skill dominante o ninguna. </a:t>
            </a:r>
          </a:p>
          <a:p>
            <a:pPr marL="285750" lvl="8" indent="-285750">
              <a:buFont typeface="Wingdings" panose="05000000000000000000" pitchFamily="2" charset="2"/>
              <a:buChar char="v"/>
            </a:pPr>
            <a:r>
              <a:rPr lang="es-MX" dirty="0"/>
              <a:t>Resuelve y limita las </a:t>
            </a:r>
            <a:r>
              <a:rPr lang="es-MX" dirty="0" err="1"/>
              <a:t>tools</a:t>
            </a:r>
            <a:r>
              <a:rPr lang="es-MX" dirty="0"/>
              <a:t> permitidas. </a:t>
            </a:r>
          </a:p>
          <a:p>
            <a:pPr marL="285750" lvl="8" indent="-285750">
              <a:buFont typeface="Wingdings" panose="05000000000000000000" pitchFamily="2" charset="2"/>
              <a:buChar char="v"/>
            </a:pPr>
            <a:r>
              <a:rPr lang="es-MX" dirty="0"/>
              <a:t>Construye el </a:t>
            </a:r>
            <a:r>
              <a:rPr lang="es-MX" dirty="0" err="1"/>
              <a:t>system</a:t>
            </a:r>
            <a:r>
              <a:rPr lang="es-MX" dirty="0"/>
              <a:t> </a:t>
            </a:r>
            <a:r>
              <a:rPr lang="es-MX" dirty="0" err="1"/>
              <a:t>prompt</a:t>
            </a:r>
            <a:r>
              <a:rPr lang="es-MX" dirty="0"/>
              <a:t> efectivo y demás contexto. </a:t>
            </a:r>
          </a:p>
          <a:p>
            <a:pPr marL="285750" lvl="8" indent="-285750">
              <a:buFont typeface="Wingdings" panose="05000000000000000000" pitchFamily="2" charset="2"/>
              <a:buChar char="v"/>
            </a:pPr>
            <a:r>
              <a:rPr lang="es-MX" dirty="0"/>
              <a:t>Configura el </a:t>
            </a:r>
            <a:r>
              <a:rPr lang="es-MX" dirty="0" err="1"/>
              <a:t>checkpoint</a:t>
            </a:r>
            <a:r>
              <a:rPr lang="es-MX" dirty="0"/>
              <a:t>/</a:t>
            </a:r>
            <a:r>
              <a:rPr lang="es-MX" dirty="0" err="1"/>
              <a:t>thread</a:t>
            </a:r>
            <a:r>
              <a:rPr lang="es-MX" dirty="0"/>
              <a:t>. </a:t>
            </a:r>
          </a:p>
          <a:p>
            <a:pPr marL="285750" lvl="8" indent="-285750">
              <a:buFont typeface="Wingdings" panose="05000000000000000000" pitchFamily="2" charset="2"/>
              <a:buChar char="v"/>
            </a:pPr>
            <a:r>
              <a:rPr lang="es-MX" dirty="0"/>
              <a:t>Invoca o reanuda el </a:t>
            </a:r>
            <a:r>
              <a:rPr lang="es-MX" dirty="0" err="1"/>
              <a:t>StateGraph</a:t>
            </a:r>
            <a:r>
              <a:rPr lang="es-MX" dirty="0"/>
              <a:t>.</a:t>
            </a:r>
          </a:p>
          <a:p>
            <a:pPr marL="0" indent="0">
              <a:buFont typeface="Arial" panose="020B0604020202020204" pitchFamily="34" charset="0"/>
              <a:buNone/>
            </a:pPr>
            <a:endParaRPr dirty="0"/>
          </a:p>
          <a:p>
            <a:endParaRPr dirty="0"/>
          </a:p>
          <a:p>
            <a:r>
              <a:rPr dirty="0"/>
              <a:t>[FUENTES]</a:t>
            </a:r>
          </a:p>
          <a:p>
            <a:r>
              <a:rPr dirty="0"/>
              <a:t>- apps/web/</a:t>
            </a:r>
            <a:r>
              <a:rPr dirty="0" err="1"/>
              <a:t>src</a:t>
            </a:r>
            <a:r>
              <a:rPr dirty="0"/>
              <a:t>/lib/business-decisions/intent-</a:t>
            </a:r>
            <a:r>
              <a:rPr dirty="0" err="1"/>
              <a:t>decomposer.ts</a:t>
            </a:r>
            <a:endParaRPr dirty="0"/>
          </a:p>
          <a:p>
            <a:r>
              <a:rPr dirty="0"/>
              <a:t>- apps/web/</a:t>
            </a:r>
            <a:r>
              <a:rPr dirty="0" err="1"/>
              <a:t>src</a:t>
            </a:r>
            <a:r>
              <a:rPr dirty="0"/>
              <a:t>/lib/business-decisions/decomposed-</a:t>
            </a:r>
            <a:r>
              <a:rPr dirty="0" err="1"/>
              <a:t>turn.ts</a:t>
            </a:r>
            <a:endParaRPr dirty="0"/>
          </a:p>
          <a:p>
            <a:r>
              <a:rPr dirty="0"/>
              <a:t>- apps/web/</a:t>
            </a:r>
            <a:r>
              <a:rPr dirty="0" err="1"/>
              <a:t>src</a:t>
            </a:r>
            <a:r>
              <a:rPr dirty="0"/>
              <a:t>/lib/business-decisions/pending-decision-</a:t>
            </a:r>
            <a:r>
              <a:rPr dirty="0" err="1"/>
              <a:t>router.ts</a:t>
            </a:r>
            <a:endParaRPr dirty="0"/>
          </a:p>
          <a:p>
            <a:r>
              <a:rPr dirty="0"/>
              <a:t>- apps/web/</a:t>
            </a:r>
            <a:r>
              <a:rPr dirty="0" err="1"/>
              <a:t>src</a:t>
            </a:r>
            <a:r>
              <a:rPr dirty="0"/>
              <a:t>/app/</a:t>
            </a:r>
            <a:r>
              <a:rPr dirty="0" err="1"/>
              <a:t>api</a:t>
            </a:r>
            <a:r>
              <a:rPr dirty="0"/>
              <a:t>/chat/</a:t>
            </a:r>
            <a:r>
              <a:rPr dirty="0" err="1"/>
              <a:t>route.ts</a:t>
            </a:r>
            <a:endParaRPr dirty="0"/>
          </a:p>
          <a:p>
            <a:r>
              <a:rPr dirty="0"/>
              <a:t>- docs/tools-design/skill-routing.md</a:t>
            </a:r>
          </a:p>
          <a:p>
            <a:r>
              <a:rPr dirty="0"/>
              <a:t>- Baseline: </a:t>
            </a:r>
            <a:r>
              <a:rPr dirty="0" err="1"/>
              <a:t>janotowers</a:t>
            </a:r>
            <a:r>
              <a:rPr dirty="0"/>
              <a:t>/Gu-OS main @ 5a6fbb05117042e1f7c47c911e0e2bc14d068340 · </a:t>
            </a:r>
            <a:r>
              <a:rPr dirty="0" err="1"/>
              <a:t>verificado</a:t>
            </a:r>
            <a:r>
              <a:rPr dirty="0"/>
              <a:t> 11 </a:t>
            </a:r>
            <a:r>
              <a:rPr dirty="0" err="1"/>
              <a:t>septiembre</a:t>
            </a:r>
            <a:r>
              <a:rPr dirty="0"/>
              <a: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[UBICACIÓN RECOMENDADA]</a:t>
            </a:r>
          </a:p>
          <a:p>
            <a:r>
              <a:rPr dirty="0"/>
              <a:t>Session 3B · </a:t>
            </a:r>
            <a:r>
              <a:rPr dirty="0" err="1"/>
              <a:t>insertar</a:t>
            </a:r>
            <a:r>
              <a:rPr dirty="0"/>
              <a:t> </a:t>
            </a:r>
            <a:r>
              <a:rPr dirty="0" err="1"/>
              <a:t>después</a:t>
            </a:r>
            <a:r>
              <a:rPr dirty="0"/>
              <a:t> de la </a:t>
            </a:r>
            <a:r>
              <a:rPr dirty="0" err="1"/>
              <a:t>lámina</a:t>
            </a:r>
            <a:r>
              <a:rPr dirty="0"/>
              <a:t> de </a:t>
            </a:r>
            <a:r>
              <a:rPr dirty="0" err="1"/>
              <a:t>tres</a:t>
            </a:r>
            <a:r>
              <a:rPr dirty="0"/>
              <a:t> </a:t>
            </a:r>
            <a:r>
              <a:rPr dirty="0" err="1"/>
              <a:t>preguntas</a:t>
            </a:r>
            <a:r>
              <a:rPr dirty="0"/>
              <a:t> y antes de 01C_S3B_Current_Agent_Turn_StateGraph_v1.1.</a:t>
            </a:r>
          </a:p>
          <a:p>
            <a:endParaRPr dirty="0"/>
          </a:p>
          <a:p>
            <a:r>
              <a:rPr dirty="0"/>
              <a:t>[PROPÓSITO]</a:t>
            </a:r>
          </a:p>
          <a:p>
            <a:r>
              <a:rPr dirty="0" err="1"/>
              <a:t>Definir</a:t>
            </a:r>
            <a:r>
              <a:rPr dirty="0"/>
              <a:t> con </a:t>
            </a:r>
            <a:r>
              <a:rPr dirty="0" err="1"/>
              <a:t>precisión</a:t>
            </a:r>
            <a:r>
              <a:rPr dirty="0"/>
              <a:t> las </a:t>
            </a:r>
            <a:r>
              <a:rPr dirty="0" err="1"/>
              <a:t>unidades</a:t>
            </a:r>
            <a:r>
              <a:rPr dirty="0"/>
              <a:t> de </a:t>
            </a:r>
            <a:r>
              <a:rPr dirty="0" err="1"/>
              <a:t>interacción</a:t>
            </a:r>
            <a:r>
              <a:rPr dirty="0"/>
              <a:t> y </a:t>
            </a:r>
            <a:r>
              <a:rPr dirty="0" err="1"/>
              <a:t>ejecución</a:t>
            </a:r>
            <a:r>
              <a:rPr dirty="0"/>
              <a:t>, </a:t>
            </a:r>
            <a:r>
              <a:rPr dirty="0" err="1"/>
              <a:t>mostrar</a:t>
            </a:r>
            <a:r>
              <a:rPr dirty="0"/>
              <a:t> la </a:t>
            </a:r>
            <a:r>
              <a:rPr dirty="0" err="1"/>
              <a:t>frontera</a:t>
            </a:r>
            <a:r>
              <a:rPr dirty="0"/>
              <a:t> del </a:t>
            </a:r>
            <a:r>
              <a:rPr dirty="0" err="1"/>
              <a:t>StateGraph</a:t>
            </a:r>
            <a:r>
              <a:rPr dirty="0"/>
              <a:t> y </a:t>
            </a:r>
            <a:r>
              <a:rPr dirty="0" err="1"/>
              <a:t>evitar</a:t>
            </a:r>
            <a:r>
              <a:rPr dirty="0"/>
              <a:t> </a:t>
            </a:r>
            <a:r>
              <a:rPr dirty="0" err="1"/>
              <a:t>que</a:t>
            </a:r>
            <a:r>
              <a:rPr dirty="0"/>
              <a:t> </a:t>
            </a:r>
            <a:r>
              <a:rPr dirty="0" err="1"/>
              <a:t>turno</a:t>
            </a:r>
            <a:r>
              <a:rPr dirty="0"/>
              <a:t>, </a:t>
            </a:r>
            <a:r>
              <a:rPr dirty="0" err="1"/>
              <a:t>runAgent</a:t>
            </a:r>
            <a:r>
              <a:rPr dirty="0"/>
              <a:t>, </a:t>
            </a:r>
            <a:r>
              <a:rPr dirty="0" err="1"/>
              <a:t>nodo</a:t>
            </a:r>
            <a:r>
              <a:rPr dirty="0"/>
              <a:t> agent y </a:t>
            </a:r>
            <a:r>
              <a:rPr dirty="0" err="1"/>
              <a:t>llamada</a:t>
            </a:r>
            <a:r>
              <a:rPr dirty="0"/>
              <a:t> de </a:t>
            </a:r>
            <a:r>
              <a:rPr dirty="0" err="1"/>
              <a:t>modelo</a:t>
            </a:r>
            <a:r>
              <a:rPr dirty="0"/>
              <a:t> se </a:t>
            </a:r>
            <a:r>
              <a:rPr dirty="0" err="1"/>
              <a:t>interpreten</a:t>
            </a:r>
            <a:r>
              <a:rPr dirty="0"/>
              <a:t> </a:t>
            </a:r>
            <a:r>
              <a:rPr dirty="0" err="1"/>
              <a:t>como</a:t>
            </a:r>
            <a:r>
              <a:rPr dirty="0"/>
              <a:t> </a:t>
            </a:r>
            <a:r>
              <a:rPr dirty="0" err="1"/>
              <a:t>sinónimos</a:t>
            </a:r>
            <a:r>
              <a:rPr dirty="0"/>
              <a:t>.</a:t>
            </a:r>
          </a:p>
          <a:p>
            <a:endParaRPr dirty="0"/>
          </a:p>
          <a:p>
            <a:r>
              <a:rPr dirty="0"/>
              <a:t>[GUION DIDÁCTICO]</a:t>
            </a:r>
          </a:p>
          <a:p>
            <a:r>
              <a:rPr dirty="0" err="1"/>
              <a:t>Empiece</a:t>
            </a:r>
            <a:r>
              <a:rPr dirty="0"/>
              <a:t> </a:t>
            </a:r>
            <a:r>
              <a:rPr dirty="0" err="1"/>
              <a:t>por</a:t>
            </a:r>
            <a:r>
              <a:rPr dirty="0"/>
              <a:t> la </a:t>
            </a:r>
            <a:r>
              <a:rPr dirty="0" err="1"/>
              <a:t>caja</a:t>
            </a:r>
            <a:r>
              <a:rPr dirty="0"/>
              <a:t> de </a:t>
            </a:r>
            <a:r>
              <a:rPr dirty="0" err="1"/>
              <a:t>interacción</a:t>
            </a:r>
            <a:r>
              <a:rPr dirty="0"/>
              <a:t>. Una </a:t>
            </a:r>
            <a:r>
              <a:rPr dirty="0" err="1"/>
              <a:t>interacción</a:t>
            </a:r>
            <a:r>
              <a:rPr dirty="0"/>
              <a:t> es la </a:t>
            </a:r>
            <a:r>
              <a:rPr dirty="0" err="1"/>
              <a:t>señal</a:t>
            </a:r>
            <a:r>
              <a:rPr dirty="0"/>
              <a:t> de entrada: un </a:t>
            </a:r>
            <a:r>
              <a:rPr dirty="0" err="1"/>
              <a:t>mensaje</a:t>
            </a:r>
            <a:r>
              <a:rPr dirty="0"/>
              <a:t> Web o Telegram, un click de </a:t>
            </a:r>
            <a:r>
              <a:rPr dirty="0" err="1"/>
              <a:t>aprobación</a:t>
            </a:r>
            <a:r>
              <a:rPr dirty="0"/>
              <a:t>, un </a:t>
            </a:r>
            <a:r>
              <a:rPr dirty="0" err="1"/>
              <a:t>evento</a:t>
            </a:r>
            <a:r>
              <a:rPr dirty="0"/>
              <a:t>, un timer o </a:t>
            </a:r>
            <a:r>
              <a:rPr dirty="0" err="1"/>
              <a:t>una</a:t>
            </a:r>
            <a:r>
              <a:rPr dirty="0"/>
              <a:t> </a:t>
            </a:r>
            <a:r>
              <a:rPr dirty="0" err="1"/>
              <a:t>confirmación</a:t>
            </a:r>
            <a:r>
              <a:rPr dirty="0"/>
              <a:t> </a:t>
            </a:r>
            <a:r>
              <a:rPr dirty="0" err="1"/>
              <a:t>que</a:t>
            </a:r>
            <a:r>
              <a:rPr dirty="0"/>
              <a:t> </a:t>
            </a:r>
            <a:r>
              <a:rPr dirty="0" err="1"/>
              <a:t>reanuda</a:t>
            </a:r>
            <a:r>
              <a:rPr dirty="0"/>
              <a:t> </a:t>
            </a:r>
            <a:r>
              <a:rPr dirty="0" err="1"/>
              <a:t>una</a:t>
            </a:r>
            <a:r>
              <a:rPr dirty="0"/>
              <a:t> </a:t>
            </a:r>
            <a:r>
              <a:rPr dirty="0" err="1"/>
              <a:t>ejecución</a:t>
            </a:r>
            <a:r>
              <a:rPr dirty="0"/>
              <a:t>. El </a:t>
            </a:r>
            <a:r>
              <a:rPr dirty="0" err="1"/>
              <a:t>turno</a:t>
            </a:r>
            <a:r>
              <a:rPr dirty="0"/>
              <a:t> </a:t>
            </a:r>
            <a:r>
              <a:rPr dirty="0" err="1"/>
              <a:t>conversacional</a:t>
            </a:r>
            <a:r>
              <a:rPr dirty="0"/>
              <a:t> es el </a:t>
            </a:r>
            <a:r>
              <a:rPr dirty="0" err="1"/>
              <a:t>procesamiento</a:t>
            </a:r>
            <a:r>
              <a:rPr dirty="0"/>
              <a:t> </a:t>
            </a:r>
            <a:r>
              <a:rPr dirty="0" err="1"/>
              <a:t>coordinado</a:t>
            </a:r>
            <a:r>
              <a:rPr dirty="0"/>
              <a:t> de </a:t>
            </a:r>
            <a:r>
              <a:rPr dirty="0" err="1"/>
              <a:t>esa</a:t>
            </a:r>
            <a:r>
              <a:rPr dirty="0"/>
              <a:t> entrada hasta </a:t>
            </a:r>
            <a:r>
              <a:rPr dirty="0" err="1"/>
              <a:t>producir</a:t>
            </a:r>
            <a:r>
              <a:rPr dirty="0"/>
              <a:t> </a:t>
            </a:r>
            <a:r>
              <a:rPr dirty="0" err="1"/>
              <a:t>una</a:t>
            </a:r>
            <a:r>
              <a:rPr dirty="0"/>
              <a:t> salida, </a:t>
            </a:r>
            <a:r>
              <a:rPr dirty="0" err="1"/>
              <a:t>una</a:t>
            </a:r>
            <a:r>
              <a:rPr dirty="0"/>
              <a:t> pausa o un short-circuit. Es </a:t>
            </a:r>
            <a:r>
              <a:rPr dirty="0" err="1"/>
              <a:t>una</a:t>
            </a:r>
            <a:r>
              <a:rPr dirty="0"/>
              <a:t> </a:t>
            </a:r>
            <a:r>
              <a:rPr dirty="0" err="1"/>
              <a:t>unidad</a:t>
            </a:r>
            <a:r>
              <a:rPr dirty="0"/>
              <a:t> conceptual y de </a:t>
            </a:r>
            <a:r>
              <a:rPr dirty="0" err="1"/>
              <a:t>producto</a:t>
            </a:r>
            <a:r>
              <a:rPr dirty="0"/>
              <a:t>; no equivale </a:t>
            </a:r>
            <a:r>
              <a:rPr dirty="0" err="1"/>
              <a:t>automáticamente</a:t>
            </a:r>
            <a:r>
              <a:rPr dirty="0"/>
              <a:t> a </a:t>
            </a:r>
            <a:r>
              <a:rPr dirty="0" err="1"/>
              <a:t>una</a:t>
            </a:r>
            <a:r>
              <a:rPr dirty="0"/>
              <a:t> </a:t>
            </a:r>
            <a:r>
              <a:rPr dirty="0" err="1"/>
              <a:t>invocación</a:t>
            </a:r>
            <a:r>
              <a:rPr dirty="0"/>
              <a:t> del </a:t>
            </a:r>
            <a:r>
              <a:rPr dirty="0" err="1"/>
              <a:t>StateGraph</a:t>
            </a:r>
            <a:r>
              <a:rPr dirty="0"/>
              <a:t>.</a:t>
            </a:r>
          </a:p>
          <a:p>
            <a:endParaRPr dirty="0"/>
          </a:p>
          <a:p>
            <a:r>
              <a:rPr dirty="0"/>
              <a:t>Siga la </a:t>
            </a:r>
            <a:r>
              <a:rPr dirty="0" err="1"/>
              <a:t>frontera</a:t>
            </a:r>
            <a:r>
              <a:rPr dirty="0"/>
              <a:t> grande del </a:t>
            </a:r>
            <a:r>
              <a:rPr dirty="0" err="1"/>
              <a:t>turno</a:t>
            </a:r>
            <a:r>
              <a:rPr dirty="0"/>
              <a:t>. Primero </a:t>
            </a:r>
            <a:r>
              <a:rPr dirty="0" err="1"/>
              <a:t>actúa</a:t>
            </a:r>
            <a:r>
              <a:rPr dirty="0"/>
              <a:t> el harness fuera del </a:t>
            </a:r>
            <a:r>
              <a:rPr dirty="0" err="1"/>
              <a:t>StateGraph</a:t>
            </a:r>
            <a:r>
              <a:rPr dirty="0"/>
              <a:t>. </a:t>
            </a:r>
            <a:r>
              <a:rPr dirty="0" err="1"/>
              <a:t>Allí</a:t>
            </a:r>
            <a:r>
              <a:rPr dirty="0"/>
              <a:t> </a:t>
            </a:r>
            <a:r>
              <a:rPr dirty="0" err="1"/>
              <a:t>viven</a:t>
            </a:r>
            <a:r>
              <a:rPr dirty="0"/>
              <a:t> </a:t>
            </a:r>
            <a:r>
              <a:rPr dirty="0" err="1"/>
              <a:t>autenticación</a:t>
            </a:r>
            <a:r>
              <a:rPr dirty="0"/>
              <a:t>, </a:t>
            </a:r>
            <a:r>
              <a:rPr dirty="0" err="1"/>
              <a:t>adaptación</a:t>
            </a:r>
            <a:r>
              <a:rPr dirty="0"/>
              <a:t> de canal, </a:t>
            </a:r>
            <a:r>
              <a:rPr dirty="0" err="1"/>
              <a:t>decisiones</a:t>
            </a:r>
            <a:r>
              <a:rPr dirty="0"/>
              <a:t> </a:t>
            </a:r>
            <a:r>
              <a:rPr dirty="0" err="1"/>
              <a:t>pendientes</a:t>
            </a:r>
            <a:r>
              <a:rPr dirty="0"/>
              <a:t>, routing de Cases, intake y </a:t>
            </a:r>
            <a:r>
              <a:rPr dirty="0" err="1"/>
              <a:t>otros</a:t>
            </a:r>
            <a:r>
              <a:rPr dirty="0"/>
              <a:t> </a:t>
            </a:r>
            <a:r>
              <a:rPr dirty="0" err="1"/>
              <a:t>controles</a:t>
            </a:r>
            <a:r>
              <a:rPr dirty="0"/>
              <a:t> </a:t>
            </a:r>
            <a:r>
              <a:rPr dirty="0" err="1"/>
              <a:t>previos</a:t>
            </a:r>
            <a:r>
              <a:rPr dirty="0"/>
              <a:t>. Un gate </a:t>
            </a:r>
            <a:r>
              <a:rPr dirty="0" err="1"/>
              <a:t>puede</a:t>
            </a:r>
            <a:r>
              <a:rPr dirty="0"/>
              <a:t> </a:t>
            </a:r>
            <a:r>
              <a:rPr dirty="0" err="1"/>
              <a:t>poseer</a:t>
            </a:r>
            <a:r>
              <a:rPr dirty="0"/>
              <a:t> </a:t>
            </a:r>
            <a:r>
              <a:rPr dirty="0" err="1"/>
              <a:t>completamente</a:t>
            </a:r>
            <a:r>
              <a:rPr dirty="0"/>
              <a:t> la </a:t>
            </a:r>
            <a:r>
              <a:rPr dirty="0" err="1"/>
              <a:t>interacción</a:t>
            </a:r>
            <a:r>
              <a:rPr dirty="0"/>
              <a:t> y </a:t>
            </a:r>
            <a:r>
              <a:rPr dirty="0" err="1"/>
              <a:t>devolver</a:t>
            </a:r>
            <a:r>
              <a:rPr dirty="0"/>
              <a:t> un </a:t>
            </a:r>
            <a:r>
              <a:rPr dirty="0" err="1"/>
              <a:t>reconocimiento</a:t>
            </a:r>
            <a:r>
              <a:rPr dirty="0"/>
              <a:t> o </a:t>
            </a:r>
            <a:r>
              <a:rPr dirty="0" err="1"/>
              <a:t>una</a:t>
            </a:r>
            <a:r>
              <a:rPr dirty="0"/>
              <a:t> </a:t>
            </a:r>
            <a:r>
              <a:rPr dirty="0" err="1"/>
              <a:t>respuesta</a:t>
            </a:r>
            <a:r>
              <a:rPr dirty="0"/>
              <a:t> sin </a:t>
            </a:r>
            <a:r>
              <a:rPr dirty="0" err="1"/>
              <a:t>llamar</a:t>
            </a:r>
            <a:r>
              <a:rPr dirty="0"/>
              <a:t> al </a:t>
            </a:r>
            <a:r>
              <a:rPr dirty="0" err="1"/>
              <a:t>agente</a:t>
            </a:r>
            <a:r>
              <a:rPr dirty="0"/>
              <a:t> general. Por </a:t>
            </a:r>
            <a:r>
              <a:rPr dirty="0" err="1"/>
              <a:t>eso</a:t>
            </a:r>
            <a:r>
              <a:rPr dirty="0"/>
              <a:t> un </a:t>
            </a:r>
            <a:r>
              <a:rPr dirty="0" err="1"/>
              <a:t>turno</a:t>
            </a:r>
            <a:r>
              <a:rPr dirty="0"/>
              <a:t> gate-only produce cero </a:t>
            </a:r>
            <a:r>
              <a:rPr dirty="0" err="1"/>
              <a:t>ejecuciones</a:t>
            </a:r>
            <a:r>
              <a:rPr dirty="0"/>
              <a:t> del graph.</a:t>
            </a:r>
          </a:p>
          <a:p>
            <a:endParaRPr dirty="0"/>
          </a:p>
          <a:p>
            <a:r>
              <a:rPr dirty="0"/>
              <a:t>Cuando la </a:t>
            </a:r>
            <a:r>
              <a:rPr dirty="0" err="1"/>
              <a:t>petición</a:t>
            </a:r>
            <a:r>
              <a:rPr dirty="0"/>
              <a:t> </a:t>
            </a:r>
            <a:r>
              <a:rPr dirty="0" err="1"/>
              <a:t>sí</a:t>
            </a:r>
            <a:r>
              <a:rPr dirty="0"/>
              <a:t> </a:t>
            </a:r>
            <a:r>
              <a:rPr dirty="0" err="1"/>
              <a:t>requiere</a:t>
            </a:r>
            <a:r>
              <a:rPr dirty="0"/>
              <a:t> </a:t>
            </a:r>
            <a:r>
              <a:rPr dirty="0" err="1"/>
              <a:t>razonamiento</a:t>
            </a:r>
            <a:r>
              <a:rPr dirty="0"/>
              <a:t> </a:t>
            </a:r>
            <a:r>
              <a:rPr dirty="0" err="1"/>
              <a:t>agéntico</a:t>
            </a:r>
            <a:r>
              <a:rPr dirty="0"/>
              <a:t> general, el </a:t>
            </a:r>
            <a:r>
              <a:rPr dirty="0" err="1"/>
              <a:t>adaptador</a:t>
            </a:r>
            <a:r>
              <a:rPr dirty="0"/>
              <a:t> llama </a:t>
            </a:r>
            <a:r>
              <a:rPr dirty="0" err="1"/>
              <a:t>runAgent</a:t>
            </a:r>
            <a:r>
              <a:rPr dirty="0"/>
              <a:t>. </a:t>
            </a:r>
            <a:r>
              <a:rPr dirty="0" err="1"/>
              <a:t>runAgent</a:t>
            </a:r>
            <a:r>
              <a:rPr dirty="0"/>
              <a:t> es </a:t>
            </a:r>
            <a:r>
              <a:rPr dirty="0" err="1"/>
              <a:t>una</a:t>
            </a:r>
            <a:r>
              <a:rPr dirty="0"/>
              <a:t> </a:t>
            </a:r>
            <a:r>
              <a:rPr dirty="0" err="1"/>
              <a:t>función</a:t>
            </a:r>
            <a:r>
              <a:rPr dirty="0"/>
              <a:t> TypeScript y el punto de entrada del runtime del </a:t>
            </a:r>
            <a:r>
              <a:rPr dirty="0" err="1"/>
              <a:t>agente</a:t>
            </a:r>
            <a:r>
              <a:rPr dirty="0"/>
              <a:t>; no es el </a:t>
            </a:r>
            <a:r>
              <a:rPr dirty="0" err="1"/>
              <a:t>StateGraph</a:t>
            </a:r>
            <a:r>
              <a:rPr dirty="0"/>
              <a:t>. Antes de </a:t>
            </a:r>
            <a:r>
              <a:rPr dirty="0" err="1"/>
              <a:t>invocarlo</a:t>
            </a:r>
            <a:r>
              <a:rPr dirty="0"/>
              <a:t>, el canal </a:t>
            </a:r>
            <a:r>
              <a:rPr dirty="0" err="1"/>
              <a:t>ya</a:t>
            </a:r>
            <a:r>
              <a:rPr dirty="0"/>
              <a:t> </a:t>
            </a:r>
            <a:r>
              <a:rPr dirty="0" err="1"/>
              <a:t>pudo</a:t>
            </a:r>
            <a:r>
              <a:rPr dirty="0"/>
              <a:t> </a:t>
            </a:r>
            <a:r>
              <a:rPr dirty="0" err="1"/>
              <a:t>haber</a:t>
            </a:r>
            <a:r>
              <a:rPr dirty="0"/>
              <a:t> </a:t>
            </a:r>
            <a:r>
              <a:rPr dirty="0" err="1"/>
              <a:t>reducido</a:t>
            </a:r>
            <a:r>
              <a:rPr dirty="0"/>
              <a:t> el </a:t>
            </a:r>
            <a:r>
              <a:rPr dirty="0" err="1"/>
              <a:t>mensaje</a:t>
            </a:r>
            <a:r>
              <a:rPr dirty="0"/>
              <a:t> a un residual </a:t>
            </a:r>
            <a:r>
              <a:rPr dirty="0" err="1"/>
              <a:t>confiable</a:t>
            </a:r>
            <a:r>
              <a:rPr dirty="0"/>
              <a:t>. </a:t>
            </a:r>
            <a:endParaRPr lang="es-MX" dirty="0"/>
          </a:p>
          <a:p>
            <a:endParaRPr lang="es-MX" dirty="0"/>
          </a:p>
          <a:p>
            <a:r>
              <a:rPr dirty="0" err="1"/>
              <a:t>Dentro</a:t>
            </a:r>
            <a:r>
              <a:rPr dirty="0"/>
              <a:t> de </a:t>
            </a:r>
            <a:r>
              <a:rPr b="1" dirty="0" err="1"/>
              <a:t>runAgent</a:t>
            </a:r>
            <a:r>
              <a:rPr lang="es-ES" dirty="0"/>
              <a:t>:</a:t>
            </a:r>
            <a:r>
              <a:rPr dirty="0"/>
              <a:t> </a:t>
            </a:r>
            <a:endParaRPr lang="es-ES" dirty="0"/>
          </a:p>
          <a:p>
            <a:pPr marL="171450" indent="-171450">
              <a:buFont typeface="Arial" panose="020B0604020202020204" pitchFamily="34" charset="0"/>
              <a:buChar char="•"/>
            </a:pPr>
            <a:r>
              <a:rPr dirty="0"/>
              <a:t>se </a:t>
            </a:r>
            <a:r>
              <a:rPr dirty="0" err="1"/>
              <a:t>asigna</a:t>
            </a:r>
            <a:r>
              <a:rPr dirty="0"/>
              <a:t> el turn id, </a:t>
            </a:r>
            <a:endParaRPr lang="es-ES" dirty="0"/>
          </a:p>
          <a:p>
            <a:pPr marL="171450" indent="-171450">
              <a:buFont typeface="Arial" panose="020B0604020202020204" pitchFamily="34" charset="0"/>
              <a:buChar char="•"/>
            </a:pPr>
            <a:r>
              <a:rPr dirty="0"/>
              <a:t>se </a:t>
            </a:r>
            <a:r>
              <a:rPr dirty="0" err="1"/>
              <a:t>prepara</a:t>
            </a:r>
            <a:r>
              <a:rPr dirty="0"/>
              <a:t> el </a:t>
            </a:r>
            <a:r>
              <a:rPr dirty="0" err="1"/>
              <a:t>modelo</a:t>
            </a:r>
            <a:r>
              <a:rPr dirty="0"/>
              <a:t> principal, </a:t>
            </a:r>
            <a:endParaRPr lang="es-ES" dirty="0"/>
          </a:p>
          <a:p>
            <a:pPr marL="171450" indent="-171450">
              <a:buFont typeface="Arial" panose="020B0604020202020204" pitchFamily="34" charset="0"/>
              <a:buChar char="•"/>
            </a:pPr>
            <a:r>
              <a:rPr dirty="0"/>
              <a:t>se </a:t>
            </a:r>
            <a:r>
              <a:rPr dirty="0" err="1"/>
              <a:t>cargan</a:t>
            </a:r>
            <a:r>
              <a:rPr dirty="0"/>
              <a:t> </a:t>
            </a:r>
            <a:r>
              <a:rPr dirty="0" err="1"/>
              <a:t>mensajes</a:t>
            </a:r>
            <a:r>
              <a:rPr dirty="0"/>
              <a:t> </a:t>
            </a:r>
            <a:r>
              <a:rPr dirty="0" err="1"/>
              <a:t>previos</a:t>
            </a:r>
            <a:r>
              <a:rPr dirty="0"/>
              <a:t>, </a:t>
            </a:r>
            <a:r>
              <a:rPr dirty="0" err="1"/>
              <a:t>contexto</a:t>
            </a:r>
            <a:r>
              <a:rPr dirty="0"/>
              <a:t> de Case y </a:t>
            </a:r>
            <a:r>
              <a:rPr dirty="0" err="1"/>
              <a:t>perfil</a:t>
            </a:r>
            <a:r>
              <a:rPr dirty="0"/>
              <a:t>, </a:t>
            </a:r>
            <a:endParaRPr lang="es-ES" dirty="0"/>
          </a:p>
          <a:p>
            <a:pPr marL="171450" indent="-171450">
              <a:buFont typeface="Arial" panose="020B0604020202020204" pitchFamily="34" charset="0"/>
              <a:buChar char="•"/>
            </a:pPr>
            <a:r>
              <a:rPr dirty="0"/>
              <a:t>se </a:t>
            </a:r>
            <a:r>
              <a:rPr dirty="0" err="1"/>
              <a:t>resuelve</a:t>
            </a:r>
            <a:r>
              <a:rPr dirty="0"/>
              <a:t> la Skill, </a:t>
            </a:r>
            <a:endParaRPr lang="es-ES" dirty="0"/>
          </a:p>
          <a:p>
            <a:pPr marL="171450" indent="-171450">
              <a:buFont typeface="Arial" panose="020B0604020202020204" pitchFamily="34" charset="0"/>
              <a:buChar char="•"/>
            </a:pPr>
            <a:r>
              <a:rPr dirty="0"/>
              <a:t>se </a:t>
            </a:r>
            <a:r>
              <a:rPr dirty="0" err="1"/>
              <a:t>construye</a:t>
            </a:r>
            <a:r>
              <a:rPr dirty="0"/>
              <a:t> la </a:t>
            </a:r>
            <a:r>
              <a:rPr dirty="0" err="1"/>
              <a:t>lista</a:t>
            </a:r>
            <a:r>
              <a:rPr dirty="0"/>
              <a:t> de tools y </a:t>
            </a:r>
            <a:r>
              <a:rPr dirty="0" err="1"/>
              <a:t>su</a:t>
            </a:r>
            <a:r>
              <a:rPr dirty="0"/>
              <a:t> policy, </a:t>
            </a:r>
            <a:endParaRPr lang="es-ES" dirty="0"/>
          </a:p>
          <a:p>
            <a:pPr marL="171450" indent="-171450">
              <a:buFont typeface="Arial" panose="020B0604020202020204" pitchFamily="34" charset="0"/>
              <a:buChar char="•"/>
            </a:pPr>
            <a:r>
              <a:rPr dirty="0"/>
              <a:t>se </a:t>
            </a:r>
            <a:r>
              <a:rPr dirty="0" err="1"/>
              <a:t>obtiene</a:t>
            </a:r>
            <a:r>
              <a:rPr dirty="0"/>
              <a:t> el </a:t>
            </a:r>
            <a:r>
              <a:rPr dirty="0" err="1"/>
              <a:t>checkpointer</a:t>
            </a:r>
            <a:r>
              <a:rPr dirty="0"/>
              <a:t> y </a:t>
            </a:r>
            <a:endParaRPr lang="es-ES" dirty="0"/>
          </a:p>
          <a:p>
            <a:pPr marL="171450" indent="-171450">
              <a:buFont typeface="Arial" panose="020B0604020202020204" pitchFamily="34" charset="0"/>
              <a:buChar char="•"/>
            </a:pPr>
            <a:r>
              <a:rPr dirty="0"/>
              <a:t>se define el thread id.</a:t>
            </a:r>
          </a:p>
          <a:p>
            <a:endParaRPr dirty="0"/>
          </a:p>
          <a:p>
            <a:r>
              <a:rPr dirty="0" err="1"/>
              <a:t>Después</a:t>
            </a:r>
            <a:r>
              <a:rPr dirty="0"/>
              <a:t>, </a:t>
            </a:r>
            <a:r>
              <a:rPr dirty="0" err="1"/>
              <a:t>runAgent</a:t>
            </a:r>
            <a:r>
              <a:rPr dirty="0"/>
              <a:t> </a:t>
            </a:r>
            <a:r>
              <a:rPr dirty="0" err="1"/>
              <a:t>construye</a:t>
            </a:r>
            <a:r>
              <a:rPr dirty="0"/>
              <a:t> y </a:t>
            </a:r>
            <a:r>
              <a:rPr dirty="0" err="1"/>
              <a:t>compila</a:t>
            </a:r>
            <a:r>
              <a:rPr dirty="0"/>
              <a:t> el </a:t>
            </a:r>
            <a:r>
              <a:rPr b="1" dirty="0" err="1"/>
              <a:t>StateGraph</a:t>
            </a:r>
            <a:r>
              <a:rPr dirty="0"/>
              <a:t> y lo </a:t>
            </a:r>
            <a:r>
              <a:rPr dirty="0" err="1"/>
              <a:t>invoca</a:t>
            </a:r>
            <a:r>
              <a:rPr dirty="0"/>
              <a:t> con el </a:t>
            </a:r>
            <a:r>
              <a:rPr dirty="0" err="1"/>
              <a:t>estado</a:t>
            </a:r>
            <a:r>
              <a:rPr dirty="0"/>
              <a:t> </a:t>
            </a:r>
            <a:r>
              <a:rPr dirty="0" err="1"/>
              <a:t>inicial</a:t>
            </a:r>
            <a:r>
              <a:rPr dirty="0"/>
              <a:t>, o lo </a:t>
            </a:r>
            <a:r>
              <a:rPr dirty="0" err="1"/>
              <a:t>reanuda</a:t>
            </a:r>
            <a:r>
              <a:rPr dirty="0"/>
              <a:t> con un Command </a:t>
            </a:r>
            <a:r>
              <a:rPr dirty="0" err="1"/>
              <a:t>cuando</a:t>
            </a:r>
            <a:r>
              <a:rPr dirty="0"/>
              <a:t> </a:t>
            </a:r>
            <a:r>
              <a:rPr dirty="0" err="1"/>
              <a:t>existe</a:t>
            </a:r>
            <a:r>
              <a:rPr dirty="0"/>
              <a:t> </a:t>
            </a:r>
            <a:r>
              <a:rPr dirty="0" err="1"/>
              <a:t>una</a:t>
            </a:r>
            <a:r>
              <a:rPr dirty="0"/>
              <a:t> </a:t>
            </a:r>
            <a:r>
              <a:rPr dirty="0" err="1"/>
              <a:t>confirmación</a:t>
            </a:r>
            <a:r>
              <a:rPr dirty="0"/>
              <a:t> HITL. El </a:t>
            </a:r>
            <a:r>
              <a:rPr dirty="0" err="1"/>
              <a:t>StateGraph</a:t>
            </a:r>
            <a:r>
              <a:rPr dirty="0"/>
              <a:t> es la </a:t>
            </a:r>
            <a:r>
              <a:rPr dirty="0" err="1"/>
              <a:t>máquina</a:t>
            </a:r>
            <a:r>
              <a:rPr dirty="0"/>
              <a:t> de </a:t>
            </a:r>
            <a:r>
              <a:rPr dirty="0" err="1"/>
              <a:t>estados</a:t>
            </a:r>
            <a:r>
              <a:rPr dirty="0"/>
              <a:t> </a:t>
            </a:r>
            <a:r>
              <a:rPr dirty="0" err="1"/>
              <a:t>que</a:t>
            </a:r>
            <a:r>
              <a:rPr dirty="0"/>
              <a:t> </a:t>
            </a:r>
            <a:r>
              <a:rPr dirty="0" err="1"/>
              <a:t>gobierna</a:t>
            </a:r>
            <a:r>
              <a:rPr dirty="0"/>
              <a:t> el loop </a:t>
            </a:r>
            <a:r>
              <a:rPr dirty="0" err="1"/>
              <a:t>interno</a:t>
            </a:r>
            <a:r>
              <a:rPr dirty="0"/>
              <a:t>: </a:t>
            </a:r>
            <a:endParaRPr lang="es-MX" dirty="0"/>
          </a:p>
          <a:p>
            <a:pPr marL="171450" indent="-171450">
              <a:buFont typeface="Arial" panose="020B0604020202020204" pitchFamily="34" charset="0"/>
              <a:buChar char="•"/>
            </a:pPr>
            <a:r>
              <a:rPr dirty="0" err="1"/>
              <a:t>memory_injection</a:t>
            </a:r>
            <a:r>
              <a:rPr dirty="0"/>
              <a:t> </a:t>
            </a:r>
            <a:r>
              <a:rPr dirty="0" err="1"/>
              <a:t>prepara</a:t>
            </a:r>
            <a:r>
              <a:rPr dirty="0"/>
              <a:t> memoria </a:t>
            </a:r>
            <a:r>
              <a:rPr dirty="0" err="1"/>
              <a:t>relevante</a:t>
            </a:r>
            <a:r>
              <a:rPr lang="es-MX" dirty="0"/>
              <a:t> (</a:t>
            </a:r>
            <a:r>
              <a:rPr lang="es-MX" dirty="0" err="1"/>
              <a:t>ie</a:t>
            </a:r>
            <a:r>
              <a:rPr lang="es-MX" dirty="0"/>
              <a:t>, contexto adicional relevante)</a:t>
            </a:r>
            <a:r>
              <a:rPr dirty="0"/>
              <a:t>, </a:t>
            </a:r>
            <a:endParaRPr lang="es-MX" dirty="0"/>
          </a:p>
          <a:p>
            <a:pPr marL="171450" indent="-171450">
              <a:buFont typeface="Arial" panose="020B0604020202020204" pitchFamily="34" charset="0"/>
              <a:buChar char="•"/>
            </a:pPr>
            <a:r>
              <a:rPr dirty="0"/>
              <a:t>compaction </a:t>
            </a:r>
            <a:r>
              <a:rPr dirty="0" err="1"/>
              <a:t>controla</a:t>
            </a:r>
            <a:r>
              <a:rPr dirty="0"/>
              <a:t> el </a:t>
            </a:r>
            <a:r>
              <a:rPr dirty="0" err="1"/>
              <a:t>presupuesto</a:t>
            </a:r>
            <a:r>
              <a:rPr dirty="0"/>
              <a:t> de </a:t>
            </a:r>
            <a:r>
              <a:rPr dirty="0" err="1"/>
              <a:t>contexto</a:t>
            </a:r>
            <a:r>
              <a:rPr dirty="0"/>
              <a:t>, </a:t>
            </a:r>
            <a:endParaRPr lang="es-MX" dirty="0"/>
          </a:p>
          <a:p>
            <a:pPr marL="171450" indent="-171450">
              <a:buFont typeface="Arial" panose="020B0604020202020204" pitchFamily="34" charset="0"/>
              <a:buChar char="•"/>
            </a:pPr>
            <a:r>
              <a:rPr dirty="0"/>
              <a:t>agent llama al </a:t>
            </a:r>
            <a:r>
              <a:rPr dirty="0" err="1"/>
              <a:t>modelo</a:t>
            </a:r>
            <a:r>
              <a:rPr dirty="0"/>
              <a:t> principal y </a:t>
            </a:r>
            <a:endParaRPr lang="es-MX" dirty="0"/>
          </a:p>
          <a:p>
            <a:pPr marL="171450" indent="-171450">
              <a:buFont typeface="Arial" panose="020B0604020202020204" pitchFamily="34" charset="0"/>
              <a:buChar char="•"/>
            </a:pPr>
            <a:r>
              <a:rPr dirty="0"/>
              <a:t>tools </a:t>
            </a:r>
            <a:r>
              <a:rPr dirty="0" err="1"/>
              <a:t>ejecuta</a:t>
            </a:r>
            <a:r>
              <a:rPr dirty="0"/>
              <a:t> </a:t>
            </a:r>
            <a:r>
              <a:rPr dirty="0" err="1"/>
              <a:t>capacidades</a:t>
            </a:r>
            <a:r>
              <a:rPr dirty="0"/>
              <a:t> </a:t>
            </a:r>
            <a:r>
              <a:rPr dirty="0" err="1"/>
              <a:t>gobernadas</a:t>
            </a:r>
            <a:r>
              <a:rPr dirty="0"/>
              <a:t>. </a:t>
            </a:r>
            <a:endParaRPr lang="es-MX" dirty="0"/>
          </a:p>
          <a:p>
            <a:pPr marL="0" indent="0">
              <a:buFont typeface="Arial" panose="020B0604020202020204" pitchFamily="34" charset="0"/>
              <a:buNone/>
            </a:pPr>
            <a:r>
              <a:rPr dirty="0"/>
              <a:t>Un </a:t>
            </a:r>
            <a:r>
              <a:rPr dirty="0" err="1"/>
              <a:t>resultado</a:t>
            </a:r>
            <a:r>
              <a:rPr dirty="0"/>
              <a:t> de tool </a:t>
            </a:r>
            <a:r>
              <a:rPr dirty="0" err="1"/>
              <a:t>regresa</a:t>
            </a:r>
            <a:r>
              <a:rPr dirty="0"/>
              <a:t> </a:t>
            </a:r>
            <a:r>
              <a:rPr dirty="0" err="1"/>
              <a:t>por</a:t>
            </a:r>
            <a:r>
              <a:rPr dirty="0"/>
              <a:t> compaction antes de </a:t>
            </a:r>
            <a:r>
              <a:rPr dirty="0" err="1"/>
              <a:t>que</a:t>
            </a:r>
            <a:r>
              <a:rPr dirty="0"/>
              <a:t> agent lo </a:t>
            </a:r>
            <a:r>
              <a:rPr dirty="0" err="1"/>
              <a:t>interprete</a:t>
            </a:r>
            <a:r>
              <a:rPr dirty="0"/>
              <a:t>.</a:t>
            </a:r>
          </a:p>
          <a:p>
            <a:endParaRPr dirty="0"/>
          </a:p>
          <a:p>
            <a:r>
              <a:rPr dirty="0" err="1"/>
              <a:t>Diferencie</a:t>
            </a:r>
            <a:r>
              <a:rPr dirty="0"/>
              <a:t> también el </a:t>
            </a:r>
            <a:r>
              <a:rPr dirty="0" err="1"/>
              <a:t>nodo</a:t>
            </a:r>
            <a:r>
              <a:rPr dirty="0"/>
              <a:t> agent de </a:t>
            </a:r>
            <a:r>
              <a:rPr dirty="0" err="1"/>
              <a:t>runAgent</a:t>
            </a:r>
            <a:r>
              <a:rPr dirty="0"/>
              <a:t>. El </a:t>
            </a:r>
            <a:r>
              <a:rPr dirty="0" err="1"/>
              <a:t>nodo</a:t>
            </a:r>
            <a:r>
              <a:rPr dirty="0"/>
              <a:t> agent </a:t>
            </a:r>
            <a:r>
              <a:rPr dirty="0" err="1"/>
              <a:t>representa</a:t>
            </a:r>
            <a:r>
              <a:rPr dirty="0"/>
              <a:t> </a:t>
            </a:r>
            <a:r>
              <a:rPr dirty="0" err="1"/>
              <a:t>una</a:t>
            </a:r>
            <a:r>
              <a:rPr dirty="0"/>
              <a:t> visita </a:t>
            </a:r>
            <a:r>
              <a:rPr dirty="0" err="1"/>
              <a:t>concreta</a:t>
            </a:r>
            <a:r>
              <a:rPr dirty="0"/>
              <a:t> al </a:t>
            </a:r>
            <a:r>
              <a:rPr dirty="0" err="1"/>
              <a:t>modelo</a:t>
            </a:r>
            <a:r>
              <a:rPr dirty="0"/>
              <a:t> principal </a:t>
            </a:r>
            <a:r>
              <a:rPr dirty="0" err="1"/>
              <a:t>dentro</a:t>
            </a:r>
            <a:r>
              <a:rPr dirty="0"/>
              <a:t> del graph. Un solo </a:t>
            </a:r>
            <a:r>
              <a:rPr dirty="0" err="1"/>
              <a:t>StateGraph</a:t>
            </a:r>
            <a:r>
              <a:rPr dirty="0"/>
              <a:t> </a:t>
            </a:r>
            <a:r>
              <a:rPr dirty="0" err="1"/>
              <a:t>puede</a:t>
            </a:r>
            <a:r>
              <a:rPr dirty="0"/>
              <a:t> </a:t>
            </a:r>
            <a:r>
              <a:rPr dirty="0" err="1"/>
              <a:t>visitar</a:t>
            </a:r>
            <a:r>
              <a:rPr dirty="0"/>
              <a:t> agent </a:t>
            </a:r>
            <a:r>
              <a:rPr dirty="0" err="1"/>
              <a:t>varias</a:t>
            </a:r>
            <a:r>
              <a:rPr dirty="0"/>
              <a:t> </a:t>
            </a:r>
            <a:r>
              <a:rPr dirty="0" err="1"/>
              <a:t>veces</a:t>
            </a:r>
            <a:r>
              <a:rPr dirty="0"/>
              <a:t>: </a:t>
            </a:r>
            <a:r>
              <a:rPr dirty="0" err="1"/>
              <a:t>modelo</a:t>
            </a:r>
            <a:r>
              <a:rPr dirty="0"/>
              <a:t>, tool, nuevo </a:t>
            </a:r>
            <a:r>
              <a:rPr dirty="0" err="1"/>
              <a:t>modelo</a:t>
            </a:r>
            <a:r>
              <a:rPr dirty="0"/>
              <a:t>, </a:t>
            </a:r>
            <a:r>
              <a:rPr dirty="0" err="1"/>
              <a:t>otra</a:t>
            </a:r>
            <a:r>
              <a:rPr dirty="0"/>
              <a:t> tool y </a:t>
            </a:r>
            <a:r>
              <a:rPr dirty="0" err="1"/>
              <a:t>respuesta</a:t>
            </a:r>
            <a:r>
              <a:rPr dirty="0"/>
              <a:t>. Por tanto, </a:t>
            </a:r>
            <a:r>
              <a:rPr dirty="0" err="1"/>
              <a:t>una</a:t>
            </a:r>
            <a:r>
              <a:rPr dirty="0"/>
              <a:t> </a:t>
            </a:r>
            <a:r>
              <a:rPr dirty="0" err="1"/>
              <a:t>ejecución</a:t>
            </a:r>
            <a:r>
              <a:rPr dirty="0"/>
              <a:t> del graph </a:t>
            </a:r>
            <a:r>
              <a:rPr dirty="0" err="1"/>
              <a:t>puede</a:t>
            </a:r>
            <a:r>
              <a:rPr dirty="0"/>
              <a:t> </a:t>
            </a:r>
            <a:r>
              <a:rPr dirty="0" err="1"/>
              <a:t>contener</a:t>
            </a:r>
            <a:r>
              <a:rPr dirty="0"/>
              <a:t> </a:t>
            </a:r>
            <a:r>
              <a:rPr dirty="0" err="1"/>
              <a:t>varias</a:t>
            </a:r>
            <a:r>
              <a:rPr dirty="0"/>
              <a:t> </a:t>
            </a:r>
            <a:r>
              <a:rPr dirty="0" err="1"/>
              <a:t>llamadas</a:t>
            </a:r>
            <a:r>
              <a:rPr dirty="0"/>
              <a:t> de </a:t>
            </a:r>
            <a:r>
              <a:rPr dirty="0" err="1"/>
              <a:t>modelo</a:t>
            </a:r>
            <a:r>
              <a:rPr dirty="0"/>
              <a:t> y </a:t>
            </a:r>
            <a:r>
              <a:rPr dirty="0" err="1"/>
              <a:t>varias</a:t>
            </a:r>
            <a:r>
              <a:rPr dirty="0"/>
              <a:t> tool calls.</a:t>
            </a:r>
          </a:p>
          <a:p>
            <a:endParaRPr dirty="0"/>
          </a:p>
          <a:p>
            <a:r>
              <a:rPr dirty="0"/>
              <a:t>El </a:t>
            </a:r>
            <a:r>
              <a:rPr dirty="0" err="1"/>
              <a:t>StateGraph</a:t>
            </a:r>
            <a:r>
              <a:rPr dirty="0"/>
              <a:t> produce un </a:t>
            </a:r>
            <a:r>
              <a:rPr dirty="0" err="1"/>
              <a:t>AgentOutput</a:t>
            </a:r>
            <a:r>
              <a:rPr dirty="0"/>
              <a:t> o </a:t>
            </a:r>
            <a:r>
              <a:rPr dirty="0" err="1"/>
              <a:t>puede</a:t>
            </a:r>
            <a:r>
              <a:rPr dirty="0"/>
              <a:t> </a:t>
            </a:r>
            <a:r>
              <a:rPr dirty="0" err="1"/>
              <a:t>quedar</a:t>
            </a:r>
            <a:r>
              <a:rPr dirty="0"/>
              <a:t> </a:t>
            </a:r>
            <a:r>
              <a:rPr dirty="0" err="1"/>
              <a:t>interrumpido</a:t>
            </a:r>
            <a:r>
              <a:rPr dirty="0"/>
              <a:t> </a:t>
            </a:r>
            <a:r>
              <a:rPr dirty="0" err="1"/>
              <a:t>por</a:t>
            </a:r>
            <a:r>
              <a:rPr dirty="0"/>
              <a:t> HITL. El </a:t>
            </a:r>
            <a:r>
              <a:rPr dirty="0" err="1"/>
              <a:t>adaptador</a:t>
            </a:r>
            <a:r>
              <a:rPr dirty="0"/>
              <a:t> del canal </a:t>
            </a:r>
            <a:r>
              <a:rPr dirty="0" err="1"/>
              <a:t>convierte</a:t>
            </a:r>
            <a:r>
              <a:rPr dirty="0"/>
              <a:t> ese </a:t>
            </a:r>
            <a:r>
              <a:rPr dirty="0" err="1"/>
              <a:t>resultado</a:t>
            </a:r>
            <a:r>
              <a:rPr dirty="0"/>
              <a:t> en HTTP, </a:t>
            </a:r>
            <a:r>
              <a:rPr dirty="0" err="1"/>
              <a:t>mensajes</a:t>
            </a:r>
            <a:r>
              <a:rPr dirty="0"/>
              <a:t> de Telegram u </a:t>
            </a:r>
            <a:r>
              <a:rPr dirty="0" err="1"/>
              <a:t>otra</a:t>
            </a:r>
            <a:r>
              <a:rPr dirty="0"/>
              <a:t> salida. Si </a:t>
            </a:r>
            <a:r>
              <a:rPr dirty="0" err="1"/>
              <a:t>una</a:t>
            </a:r>
            <a:r>
              <a:rPr dirty="0"/>
              <a:t> tool </a:t>
            </a:r>
            <a:r>
              <a:rPr dirty="0" err="1"/>
              <a:t>protegida</a:t>
            </a:r>
            <a:r>
              <a:rPr dirty="0"/>
              <a:t> pausa la </a:t>
            </a:r>
            <a:r>
              <a:rPr dirty="0" err="1"/>
              <a:t>ejecución</a:t>
            </a:r>
            <a:r>
              <a:rPr dirty="0"/>
              <a:t>, el checkpoint </a:t>
            </a:r>
            <a:r>
              <a:rPr dirty="0" err="1"/>
              <a:t>guarda</a:t>
            </a:r>
            <a:r>
              <a:rPr dirty="0"/>
              <a:t> el </a:t>
            </a:r>
            <a:r>
              <a:rPr dirty="0" err="1"/>
              <a:t>estado</a:t>
            </a:r>
            <a:r>
              <a:rPr dirty="0"/>
              <a:t>. Una </a:t>
            </a:r>
            <a:r>
              <a:rPr dirty="0" err="1"/>
              <a:t>interacción</a:t>
            </a:r>
            <a:r>
              <a:rPr dirty="0"/>
              <a:t> posterior de </a:t>
            </a:r>
            <a:r>
              <a:rPr dirty="0" err="1"/>
              <a:t>aprobación</a:t>
            </a:r>
            <a:r>
              <a:rPr dirty="0"/>
              <a:t> llama </a:t>
            </a:r>
            <a:r>
              <a:rPr dirty="0" err="1"/>
              <a:t>otra</a:t>
            </a:r>
            <a:r>
              <a:rPr dirty="0"/>
              <a:t> </a:t>
            </a:r>
            <a:r>
              <a:rPr dirty="0" err="1"/>
              <a:t>vez</a:t>
            </a:r>
            <a:r>
              <a:rPr dirty="0"/>
              <a:t> a </a:t>
            </a:r>
            <a:r>
              <a:rPr dirty="0" err="1"/>
              <a:t>runAgent</a:t>
            </a:r>
            <a:r>
              <a:rPr dirty="0"/>
              <a:t> con </a:t>
            </a:r>
            <a:r>
              <a:rPr dirty="0" err="1"/>
              <a:t>resumeDecision</a:t>
            </a:r>
            <a:r>
              <a:rPr dirty="0"/>
              <a:t> y </a:t>
            </a:r>
            <a:r>
              <a:rPr dirty="0" err="1"/>
              <a:t>reutiliza</a:t>
            </a:r>
            <a:r>
              <a:rPr dirty="0"/>
              <a:t> </a:t>
            </a:r>
            <a:r>
              <a:rPr dirty="0" err="1"/>
              <a:t>checkpointThreadId</a:t>
            </a:r>
            <a:r>
              <a:rPr dirty="0"/>
              <a:t>; no </a:t>
            </a:r>
            <a:r>
              <a:rPr dirty="0" err="1"/>
              <a:t>crea</a:t>
            </a:r>
            <a:r>
              <a:rPr dirty="0"/>
              <a:t> </a:t>
            </a:r>
            <a:r>
              <a:rPr dirty="0" err="1"/>
              <a:t>desde</a:t>
            </a:r>
            <a:r>
              <a:rPr dirty="0"/>
              <a:t> cero </a:t>
            </a:r>
            <a:r>
              <a:rPr dirty="0" err="1"/>
              <a:t>otro</a:t>
            </a:r>
            <a:r>
              <a:rPr dirty="0"/>
              <a:t> </a:t>
            </a:r>
            <a:r>
              <a:rPr dirty="0" err="1"/>
              <a:t>historial</a:t>
            </a:r>
            <a:r>
              <a:rPr dirty="0"/>
              <a:t>. </a:t>
            </a:r>
            <a:r>
              <a:rPr dirty="0" err="1"/>
              <a:t>Desde</a:t>
            </a:r>
            <a:r>
              <a:rPr dirty="0"/>
              <a:t> la </a:t>
            </a:r>
            <a:r>
              <a:rPr dirty="0" err="1"/>
              <a:t>perspectiva</a:t>
            </a:r>
            <a:r>
              <a:rPr dirty="0"/>
              <a:t> de </a:t>
            </a:r>
            <a:r>
              <a:rPr dirty="0" err="1"/>
              <a:t>negocio</a:t>
            </a:r>
            <a:r>
              <a:rPr dirty="0"/>
              <a:t> es la </a:t>
            </a:r>
            <a:r>
              <a:rPr dirty="0" err="1"/>
              <a:t>continuación</a:t>
            </a:r>
            <a:r>
              <a:rPr dirty="0"/>
              <a:t> de la </a:t>
            </a:r>
            <a:r>
              <a:rPr dirty="0" err="1"/>
              <a:t>misma</a:t>
            </a:r>
            <a:r>
              <a:rPr dirty="0"/>
              <a:t> </a:t>
            </a:r>
            <a:r>
              <a:rPr dirty="0" err="1"/>
              <a:t>operación</a:t>
            </a:r>
            <a:r>
              <a:rPr dirty="0"/>
              <a:t> </a:t>
            </a:r>
            <a:r>
              <a:rPr dirty="0" err="1"/>
              <a:t>gobernada</a:t>
            </a:r>
            <a:r>
              <a:rPr dirty="0"/>
              <a:t>, </a:t>
            </a:r>
            <a:r>
              <a:rPr dirty="0" err="1"/>
              <a:t>aunque</a:t>
            </a:r>
            <a:r>
              <a:rPr dirty="0"/>
              <a:t> </a:t>
            </a:r>
            <a:r>
              <a:rPr dirty="0" err="1"/>
              <a:t>existan</a:t>
            </a:r>
            <a:r>
              <a:rPr dirty="0"/>
              <a:t> dos entradas </a:t>
            </a:r>
            <a:r>
              <a:rPr dirty="0" err="1"/>
              <a:t>humanas</a:t>
            </a:r>
            <a:r>
              <a:rPr dirty="0"/>
              <a:t>.</a:t>
            </a:r>
          </a:p>
          <a:p>
            <a:endParaRPr dirty="0"/>
          </a:p>
          <a:p>
            <a:r>
              <a:rPr dirty="0" err="1"/>
              <a:t>Aclare</a:t>
            </a:r>
            <a:r>
              <a:rPr dirty="0"/>
              <a:t> el </a:t>
            </a:r>
            <a:r>
              <a:rPr dirty="0" err="1"/>
              <a:t>uso</a:t>
            </a:r>
            <a:r>
              <a:rPr dirty="0"/>
              <a:t> de la palabra </a:t>
            </a:r>
            <a:r>
              <a:rPr dirty="0" err="1"/>
              <a:t>turno</a:t>
            </a:r>
            <a:r>
              <a:rPr dirty="0"/>
              <a:t>. En </a:t>
            </a:r>
            <a:r>
              <a:rPr dirty="0" err="1"/>
              <a:t>producto</a:t>
            </a:r>
            <a:r>
              <a:rPr dirty="0"/>
              <a:t>, “</a:t>
            </a:r>
            <a:r>
              <a:rPr dirty="0" err="1"/>
              <a:t>turno</a:t>
            </a:r>
            <a:r>
              <a:rPr dirty="0"/>
              <a:t> </a:t>
            </a:r>
            <a:r>
              <a:rPr dirty="0" err="1"/>
              <a:t>conversacional</a:t>
            </a:r>
            <a:r>
              <a:rPr dirty="0"/>
              <a:t>” </a:t>
            </a:r>
            <a:r>
              <a:rPr dirty="0" err="1"/>
              <a:t>suele</a:t>
            </a:r>
            <a:r>
              <a:rPr dirty="0"/>
              <a:t> </a:t>
            </a:r>
            <a:r>
              <a:rPr dirty="0" err="1"/>
              <a:t>referirse</a:t>
            </a:r>
            <a:r>
              <a:rPr dirty="0"/>
              <a:t> a la entrada del </a:t>
            </a:r>
            <a:r>
              <a:rPr dirty="0" err="1"/>
              <a:t>usuario</a:t>
            </a:r>
            <a:r>
              <a:rPr dirty="0"/>
              <a:t> y la salida </a:t>
            </a:r>
            <a:r>
              <a:rPr dirty="0" err="1"/>
              <a:t>coordinada</a:t>
            </a:r>
            <a:r>
              <a:rPr dirty="0"/>
              <a:t>. En </a:t>
            </a:r>
            <a:r>
              <a:rPr dirty="0" err="1"/>
              <a:t>telemetría</a:t>
            </a:r>
            <a:r>
              <a:rPr dirty="0"/>
              <a:t> del </a:t>
            </a:r>
            <a:r>
              <a:rPr dirty="0" err="1"/>
              <a:t>agente</a:t>
            </a:r>
            <a:r>
              <a:rPr dirty="0"/>
              <a:t>, </a:t>
            </a:r>
            <a:r>
              <a:rPr dirty="0" err="1"/>
              <a:t>runAgent</a:t>
            </a:r>
            <a:r>
              <a:rPr dirty="0"/>
              <a:t> </a:t>
            </a:r>
            <a:r>
              <a:rPr dirty="0" err="1"/>
              <a:t>emite</a:t>
            </a:r>
            <a:r>
              <a:rPr dirty="0"/>
              <a:t> </a:t>
            </a:r>
            <a:r>
              <a:rPr dirty="0" err="1"/>
              <a:t>turn_started</a:t>
            </a:r>
            <a:r>
              <a:rPr dirty="0"/>
              <a:t> y </a:t>
            </a:r>
            <a:r>
              <a:rPr dirty="0" err="1"/>
              <a:t>usa</a:t>
            </a:r>
            <a:r>
              <a:rPr dirty="0"/>
              <a:t> un </a:t>
            </a:r>
            <a:r>
              <a:rPr dirty="0" err="1"/>
              <a:t>turnId</a:t>
            </a:r>
            <a:r>
              <a:rPr dirty="0"/>
              <a:t> para </a:t>
            </a:r>
            <a:r>
              <a:rPr dirty="0" err="1"/>
              <a:t>esa</a:t>
            </a:r>
            <a:r>
              <a:rPr dirty="0"/>
              <a:t> </a:t>
            </a:r>
            <a:r>
              <a:rPr dirty="0" err="1"/>
              <a:t>ejecución</a:t>
            </a:r>
            <a:r>
              <a:rPr dirty="0"/>
              <a:t>. Para </a:t>
            </a:r>
            <a:r>
              <a:rPr dirty="0" err="1"/>
              <a:t>evitar</a:t>
            </a:r>
            <a:r>
              <a:rPr dirty="0"/>
              <a:t> </a:t>
            </a:r>
            <a:r>
              <a:rPr dirty="0" err="1"/>
              <a:t>ambigüedad</a:t>
            </a:r>
            <a:r>
              <a:rPr dirty="0"/>
              <a:t> en la </a:t>
            </a:r>
            <a:r>
              <a:rPr dirty="0" err="1"/>
              <a:t>presentación</a:t>
            </a:r>
            <a:r>
              <a:rPr dirty="0"/>
              <a:t>, </a:t>
            </a:r>
            <a:r>
              <a:rPr dirty="0" err="1"/>
              <a:t>esta</a:t>
            </a:r>
            <a:r>
              <a:rPr dirty="0"/>
              <a:t> </a:t>
            </a:r>
            <a:r>
              <a:rPr dirty="0" err="1"/>
              <a:t>lámina</a:t>
            </a:r>
            <a:r>
              <a:rPr dirty="0"/>
              <a:t> </a:t>
            </a:r>
            <a:r>
              <a:rPr dirty="0" err="1"/>
              <a:t>reserva</a:t>
            </a:r>
            <a:r>
              <a:rPr dirty="0"/>
              <a:t> “</a:t>
            </a:r>
            <a:r>
              <a:rPr dirty="0" err="1"/>
              <a:t>turno</a:t>
            </a:r>
            <a:r>
              <a:rPr dirty="0"/>
              <a:t> </a:t>
            </a:r>
            <a:r>
              <a:rPr dirty="0" err="1"/>
              <a:t>conversacional</a:t>
            </a:r>
            <a:r>
              <a:rPr dirty="0"/>
              <a:t>” para la </a:t>
            </a:r>
            <a:r>
              <a:rPr dirty="0" err="1"/>
              <a:t>unidad</a:t>
            </a:r>
            <a:r>
              <a:rPr dirty="0"/>
              <a:t> externa, “agent run” para la </a:t>
            </a:r>
            <a:r>
              <a:rPr dirty="0" err="1"/>
              <a:t>llamada</a:t>
            </a:r>
            <a:r>
              <a:rPr dirty="0"/>
              <a:t> a </a:t>
            </a:r>
            <a:r>
              <a:rPr dirty="0" err="1"/>
              <a:t>runAgent</a:t>
            </a:r>
            <a:r>
              <a:rPr dirty="0"/>
              <a:t>, “</a:t>
            </a:r>
            <a:r>
              <a:rPr dirty="0" err="1"/>
              <a:t>ejecución</a:t>
            </a:r>
            <a:r>
              <a:rPr dirty="0"/>
              <a:t> del </a:t>
            </a:r>
            <a:r>
              <a:rPr dirty="0" err="1"/>
              <a:t>StateGraph</a:t>
            </a:r>
            <a:r>
              <a:rPr dirty="0"/>
              <a:t>” para la </a:t>
            </a:r>
            <a:r>
              <a:rPr dirty="0" err="1"/>
              <a:t>máquina</a:t>
            </a:r>
            <a:r>
              <a:rPr dirty="0"/>
              <a:t> de </a:t>
            </a:r>
            <a:r>
              <a:rPr dirty="0" err="1"/>
              <a:t>estados</a:t>
            </a:r>
            <a:r>
              <a:rPr dirty="0"/>
              <a:t> y “</a:t>
            </a:r>
            <a:r>
              <a:rPr dirty="0" err="1"/>
              <a:t>llamada</a:t>
            </a:r>
            <a:r>
              <a:rPr dirty="0"/>
              <a:t> de </a:t>
            </a:r>
            <a:r>
              <a:rPr dirty="0" err="1"/>
              <a:t>modelo</a:t>
            </a:r>
            <a:r>
              <a:rPr dirty="0"/>
              <a:t>” para </a:t>
            </a:r>
            <a:r>
              <a:rPr dirty="0" err="1"/>
              <a:t>cada</a:t>
            </a:r>
            <a:r>
              <a:rPr dirty="0"/>
              <a:t> </a:t>
            </a:r>
            <a:r>
              <a:rPr dirty="0" err="1"/>
              <a:t>invocación</a:t>
            </a:r>
            <a:r>
              <a:rPr dirty="0"/>
              <a:t> LLM </a:t>
            </a:r>
            <a:r>
              <a:rPr dirty="0" err="1"/>
              <a:t>dentro</a:t>
            </a:r>
            <a:r>
              <a:rPr dirty="0"/>
              <a:t> de un </a:t>
            </a:r>
            <a:r>
              <a:rPr dirty="0" err="1"/>
              <a:t>nodo</a:t>
            </a:r>
            <a:r>
              <a:rPr dirty="0"/>
              <a:t>.</a:t>
            </a:r>
          </a:p>
          <a:p>
            <a:endParaRPr dirty="0"/>
          </a:p>
          <a:p>
            <a:r>
              <a:rPr dirty="0"/>
              <a:t>Cierre con </a:t>
            </a:r>
            <a:r>
              <a:rPr dirty="0" err="1"/>
              <a:t>los</a:t>
            </a:r>
            <a:r>
              <a:rPr dirty="0"/>
              <a:t> cuatro </a:t>
            </a:r>
            <a:r>
              <a:rPr dirty="0" err="1"/>
              <a:t>mapeos</a:t>
            </a:r>
            <a:r>
              <a:rPr dirty="0"/>
              <a:t> de la </a:t>
            </a:r>
            <a:r>
              <a:rPr dirty="0" err="1"/>
              <a:t>franja</a:t>
            </a:r>
            <a:r>
              <a:rPr dirty="0"/>
              <a:t> inferior. Un </a:t>
            </a:r>
            <a:r>
              <a:rPr dirty="0" err="1"/>
              <a:t>turno</a:t>
            </a:r>
            <a:r>
              <a:rPr dirty="0"/>
              <a:t> </a:t>
            </a:r>
            <a:r>
              <a:rPr dirty="0" err="1"/>
              <a:t>puede</a:t>
            </a:r>
            <a:r>
              <a:rPr dirty="0"/>
              <a:t> </a:t>
            </a:r>
            <a:r>
              <a:rPr dirty="0" err="1"/>
              <a:t>tener</a:t>
            </a:r>
            <a:r>
              <a:rPr dirty="0"/>
              <a:t> cero graph runs. Un </a:t>
            </a:r>
            <a:r>
              <a:rPr dirty="0" err="1"/>
              <a:t>turno</a:t>
            </a:r>
            <a:r>
              <a:rPr dirty="0"/>
              <a:t> </a:t>
            </a:r>
            <a:r>
              <a:rPr dirty="0" err="1"/>
              <a:t>agéntico</a:t>
            </a:r>
            <a:r>
              <a:rPr dirty="0"/>
              <a:t> normal </a:t>
            </a:r>
            <a:r>
              <a:rPr dirty="0" err="1"/>
              <a:t>suele</a:t>
            </a:r>
            <a:r>
              <a:rPr dirty="0"/>
              <a:t> </a:t>
            </a:r>
            <a:r>
              <a:rPr dirty="0" err="1"/>
              <a:t>tener</a:t>
            </a:r>
            <a:r>
              <a:rPr dirty="0"/>
              <a:t> </a:t>
            </a:r>
            <a:r>
              <a:rPr dirty="0" err="1"/>
              <a:t>una</a:t>
            </a:r>
            <a:r>
              <a:rPr dirty="0"/>
              <a:t> </a:t>
            </a:r>
            <a:r>
              <a:rPr dirty="0" err="1"/>
              <a:t>ejecución</a:t>
            </a:r>
            <a:r>
              <a:rPr dirty="0"/>
              <a:t> del graph. HITL </a:t>
            </a:r>
            <a:r>
              <a:rPr dirty="0" err="1"/>
              <a:t>puede</a:t>
            </a:r>
            <a:r>
              <a:rPr dirty="0"/>
              <a:t> </a:t>
            </a:r>
            <a:r>
              <a:rPr dirty="0" err="1"/>
              <a:t>pausar</a:t>
            </a:r>
            <a:r>
              <a:rPr dirty="0"/>
              <a:t> y </a:t>
            </a:r>
            <a:r>
              <a:rPr dirty="0" err="1"/>
              <a:t>reanudar</a:t>
            </a:r>
            <a:r>
              <a:rPr dirty="0"/>
              <a:t> el </a:t>
            </a:r>
            <a:r>
              <a:rPr dirty="0" err="1"/>
              <a:t>mismo</a:t>
            </a:r>
            <a:r>
              <a:rPr dirty="0"/>
              <a:t> checkpoint. Y </a:t>
            </a:r>
            <a:r>
              <a:rPr dirty="0" err="1"/>
              <a:t>una</a:t>
            </a:r>
            <a:r>
              <a:rPr dirty="0"/>
              <a:t> sola </a:t>
            </a:r>
            <a:r>
              <a:rPr dirty="0" err="1"/>
              <a:t>ejecución</a:t>
            </a:r>
            <a:r>
              <a:rPr dirty="0"/>
              <a:t> </a:t>
            </a:r>
            <a:r>
              <a:rPr dirty="0" err="1"/>
              <a:t>puede</a:t>
            </a:r>
            <a:r>
              <a:rPr dirty="0"/>
              <a:t> </a:t>
            </a:r>
            <a:r>
              <a:rPr dirty="0" err="1"/>
              <a:t>contener</a:t>
            </a:r>
            <a:r>
              <a:rPr dirty="0"/>
              <a:t> </a:t>
            </a:r>
            <a:r>
              <a:rPr dirty="0" err="1"/>
              <a:t>varias</a:t>
            </a:r>
            <a:r>
              <a:rPr dirty="0"/>
              <a:t> </a:t>
            </a:r>
            <a:r>
              <a:rPr dirty="0" err="1"/>
              <a:t>iteraciones</a:t>
            </a:r>
            <a:r>
              <a:rPr dirty="0"/>
              <a:t> de </a:t>
            </a:r>
            <a:r>
              <a:rPr dirty="0" err="1"/>
              <a:t>modelo</a:t>
            </a:r>
            <a:r>
              <a:rPr dirty="0"/>
              <a:t> y tools. La </a:t>
            </a:r>
            <a:r>
              <a:rPr dirty="0" err="1"/>
              <a:t>siguiente</a:t>
            </a:r>
            <a:r>
              <a:rPr dirty="0"/>
              <a:t> </a:t>
            </a:r>
            <a:r>
              <a:rPr dirty="0" err="1"/>
              <a:t>lámina</a:t>
            </a:r>
            <a:r>
              <a:rPr dirty="0"/>
              <a:t> </a:t>
            </a:r>
            <a:r>
              <a:rPr dirty="0" err="1"/>
              <a:t>amplía</a:t>
            </a:r>
            <a:r>
              <a:rPr dirty="0"/>
              <a:t> </a:t>
            </a:r>
            <a:r>
              <a:rPr dirty="0" err="1"/>
              <a:t>precisamente</a:t>
            </a:r>
            <a:r>
              <a:rPr dirty="0"/>
              <a:t> la </a:t>
            </a:r>
            <a:r>
              <a:rPr dirty="0" err="1"/>
              <a:t>topología</a:t>
            </a:r>
            <a:r>
              <a:rPr dirty="0"/>
              <a:t> interna del </a:t>
            </a:r>
            <a:r>
              <a:rPr dirty="0" err="1"/>
              <a:t>StateGraph</a:t>
            </a:r>
            <a:r>
              <a:rPr dirty="0"/>
              <a:t>.</a:t>
            </a:r>
          </a:p>
          <a:p>
            <a:endParaRPr dirty="0"/>
          </a:p>
          <a:p>
            <a:r>
              <a:rPr dirty="0"/>
              <a:t>[GLOSARIO]</a:t>
            </a:r>
          </a:p>
          <a:p>
            <a:pPr marL="171450" indent="-171450">
              <a:buFont typeface="Arial" panose="020B0604020202020204" pitchFamily="34" charset="0"/>
              <a:buChar char="•"/>
            </a:pPr>
            <a:r>
              <a:rPr dirty="0"/>
              <a:t>Runtime</a:t>
            </a:r>
            <a:r>
              <a:rPr lang="es-ES" dirty="0"/>
              <a:t> (Agent </a:t>
            </a:r>
            <a:r>
              <a:rPr lang="es-ES" dirty="0" err="1"/>
              <a:t>Runtime</a:t>
            </a:r>
            <a:r>
              <a:rPr lang="es-ES" dirty="0"/>
              <a:t>)</a:t>
            </a:r>
            <a:r>
              <a:rPr dirty="0"/>
              <a:t>: conjunto de </a:t>
            </a:r>
            <a:r>
              <a:rPr dirty="0" err="1"/>
              <a:t>código</a:t>
            </a:r>
            <a:r>
              <a:rPr dirty="0"/>
              <a:t> y </a:t>
            </a:r>
            <a:r>
              <a:rPr dirty="0" err="1"/>
              <a:t>servicios</a:t>
            </a:r>
            <a:r>
              <a:rPr dirty="0"/>
              <a:t> </a:t>
            </a:r>
            <a:r>
              <a:rPr dirty="0" err="1"/>
              <a:t>que</a:t>
            </a:r>
            <a:r>
              <a:rPr dirty="0"/>
              <a:t> </a:t>
            </a:r>
            <a:r>
              <a:rPr dirty="0" err="1"/>
              <a:t>preparan</a:t>
            </a:r>
            <a:r>
              <a:rPr dirty="0"/>
              <a:t>, </a:t>
            </a:r>
            <a:r>
              <a:rPr dirty="0" err="1"/>
              <a:t>ejecutan</a:t>
            </a:r>
            <a:r>
              <a:rPr dirty="0"/>
              <a:t>, </a:t>
            </a:r>
            <a:r>
              <a:rPr dirty="0" err="1"/>
              <a:t>gobiernan</a:t>
            </a:r>
            <a:r>
              <a:rPr dirty="0"/>
              <a:t> y </a:t>
            </a:r>
            <a:r>
              <a:rPr dirty="0" err="1"/>
              <a:t>observan</a:t>
            </a:r>
            <a:r>
              <a:rPr dirty="0"/>
              <a:t> el </a:t>
            </a:r>
            <a:r>
              <a:rPr dirty="0" err="1"/>
              <a:t>trabajo</a:t>
            </a:r>
            <a:r>
              <a:rPr dirty="0"/>
              <a:t> del </a:t>
            </a:r>
            <a:r>
              <a:rPr dirty="0" err="1"/>
              <a:t>agente</a:t>
            </a:r>
            <a:r>
              <a:rPr dirty="0"/>
              <a:t>.</a:t>
            </a:r>
          </a:p>
          <a:p>
            <a:pPr marL="171450" indent="-171450">
              <a:buFont typeface="Arial" panose="020B0604020202020204" pitchFamily="34" charset="0"/>
              <a:buChar char="•"/>
            </a:pPr>
            <a:r>
              <a:rPr dirty="0" err="1"/>
              <a:t>Interacción</a:t>
            </a:r>
            <a:r>
              <a:rPr dirty="0"/>
              <a:t>: </a:t>
            </a:r>
            <a:r>
              <a:rPr dirty="0" err="1"/>
              <a:t>señal</a:t>
            </a:r>
            <a:r>
              <a:rPr dirty="0"/>
              <a:t> de entrada </a:t>
            </a:r>
            <a:r>
              <a:rPr dirty="0" err="1"/>
              <a:t>recibida</a:t>
            </a:r>
            <a:r>
              <a:rPr dirty="0"/>
              <a:t> </a:t>
            </a:r>
            <a:r>
              <a:rPr dirty="0" err="1"/>
              <a:t>por</a:t>
            </a:r>
            <a:r>
              <a:rPr dirty="0"/>
              <a:t> </a:t>
            </a:r>
            <a:r>
              <a:rPr dirty="0" err="1"/>
              <a:t>una</a:t>
            </a:r>
            <a:r>
              <a:rPr dirty="0"/>
              <a:t> </a:t>
            </a:r>
            <a:r>
              <a:rPr dirty="0" err="1"/>
              <a:t>superficie</a:t>
            </a:r>
            <a:r>
              <a:rPr dirty="0"/>
              <a:t> o scheduler.</a:t>
            </a:r>
          </a:p>
          <a:p>
            <a:pPr marL="171450" indent="-171450">
              <a:buFont typeface="Arial" panose="020B0604020202020204" pitchFamily="34" charset="0"/>
              <a:buChar char="•"/>
            </a:pPr>
            <a:r>
              <a:rPr dirty="0" err="1"/>
              <a:t>Turno</a:t>
            </a:r>
            <a:r>
              <a:rPr dirty="0"/>
              <a:t> </a:t>
            </a:r>
            <a:r>
              <a:rPr dirty="0" err="1"/>
              <a:t>conversacional</a:t>
            </a:r>
            <a:r>
              <a:rPr dirty="0"/>
              <a:t>: </a:t>
            </a:r>
            <a:r>
              <a:rPr dirty="0" err="1"/>
              <a:t>procesamiento</a:t>
            </a:r>
            <a:r>
              <a:rPr dirty="0"/>
              <a:t> </a:t>
            </a:r>
            <a:r>
              <a:rPr dirty="0" err="1"/>
              <a:t>coordinado</a:t>
            </a:r>
            <a:r>
              <a:rPr dirty="0"/>
              <a:t> de </a:t>
            </a:r>
            <a:r>
              <a:rPr dirty="0" err="1"/>
              <a:t>una</a:t>
            </a:r>
            <a:r>
              <a:rPr dirty="0"/>
              <a:t> </a:t>
            </a:r>
            <a:r>
              <a:rPr dirty="0" err="1"/>
              <a:t>interacción</a:t>
            </a:r>
            <a:r>
              <a:rPr dirty="0"/>
              <a:t> hasta salida, pausa o short-circuit.</a:t>
            </a:r>
          </a:p>
          <a:p>
            <a:pPr marL="171450" indent="-171450">
              <a:buFont typeface="Arial" panose="020B0604020202020204" pitchFamily="34" charset="0"/>
              <a:buChar char="•"/>
            </a:pPr>
            <a:r>
              <a:rPr dirty="0" err="1"/>
              <a:t>runAgent</a:t>
            </a:r>
            <a:r>
              <a:rPr dirty="0"/>
              <a:t>: </a:t>
            </a:r>
            <a:r>
              <a:rPr dirty="0" err="1"/>
              <a:t>función</a:t>
            </a:r>
            <a:r>
              <a:rPr dirty="0"/>
              <a:t> de entrada </a:t>
            </a:r>
            <a:r>
              <a:rPr dirty="0" err="1"/>
              <a:t>que</a:t>
            </a:r>
            <a:r>
              <a:rPr dirty="0"/>
              <a:t> </a:t>
            </a:r>
            <a:r>
              <a:rPr dirty="0" err="1"/>
              <a:t>prepara</a:t>
            </a:r>
            <a:r>
              <a:rPr dirty="0"/>
              <a:t> </a:t>
            </a:r>
            <a:r>
              <a:rPr dirty="0" err="1"/>
              <a:t>dependencias</a:t>
            </a:r>
            <a:r>
              <a:rPr dirty="0"/>
              <a:t> y </a:t>
            </a:r>
            <a:r>
              <a:rPr dirty="0" err="1"/>
              <a:t>después</a:t>
            </a:r>
            <a:r>
              <a:rPr dirty="0"/>
              <a:t> </a:t>
            </a:r>
            <a:r>
              <a:rPr dirty="0" err="1"/>
              <a:t>invoca</a:t>
            </a:r>
            <a:r>
              <a:rPr dirty="0"/>
              <a:t> o </a:t>
            </a:r>
            <a:r>
              <a:rPr dirty="0" err="1"/>
              <a:t>reanuda</a:t>
            </a:r>
            <a:r>
              <a:rPr dirty="0"/>
              <a:t> el </a:t>
            </a:r>
            <a:r>
              <a:rPr dirty="0" err="1"/>
              <a:t>StateGraph</a:t>
            </a:r>
            <a:r>
              <a:rPr dirty="0"/>
              <a:t>.</a:t>
            </a:r>
          </a:p>
          <a:p>
            <a:pPr marL="171450" indent="-171450">
              <a:buFont typeface="Arial" panose="020B0604020202020204" pitchFamily="34" charset="0"/>
              <a:buChar char="•"/>
            </a:pPr>
            <a:r>
              <a:rPr dirty="0" err="1"/>
              <a:t>StateGraph</a:t>
            </a:r>
            <a:r>
              <a:rPr dirty="0"/>
              <a:t>: </a:t>
            </a:r>
            <a:r>
              <a:rPr dirty="0" err="1"/>
              <a:t>máquina</a:t>
            </a:r>
            <a:r>
              <a:rPr dirty="0"/>
              <a:t> de </a:t>
            </a:r>
            <a:r>
              <a:rPr dirty="0" err="1"/>
              <a:t>estados</a:t>
            </a:r>
            <a:r>
              <a:rPr dirty="0"/>
              <a:t> interna </a:t>
            </a:r>
            <a:r>
              <a:rPr dirty="0" err="1"/>
              <a:t>que</a:t>
            </a:r>
            <a:r>
              <a:rPr dirty="0"/>
              <a:t> </a:t>
            </a:r>
            <a:r>
              <a:rPr dirty="0" err="1"/>
              <a:t>ordena</a:t>
            </a:r>
            <a:r>
              <a:rPr dirty="0"/>
              <a:t> </a:t>
            </a:r>
            <a:r>
              <a:rPr dirty="0" err="1"/>
              <a:t>nodos</a:t>
            </a:r>
            <a:r>
              <a:rPr dirty="0"/>
              <a:t> y </a:t>
            </a:r>
            <a:r>
              <a:rPr dirty="0" err="1"/>
              <a:t>transiciones</a:t>
            </a:r>
            <a:r>
              <a:rPr dirty="0"/>
              <a:t> del loop </a:t>
            </a:r>
            <a:r>
              <a:rPr dirty="0" err="1"/>
              <a:t>agente</a:t>
            </a:r>
            <a:r>
              <a:rPr dirty="0"/>
              <a:t>–tools.</a:t>
            </a:r>
          </a:p>
          <a:p>
            <a:pPr marL="171450" indent="-171450">
              <a:buFont typeface="Arial" panose="020B0604020202020204" pitchFamily="34" charset="0"/>
              <a:buChar char="•"/>
            </a:pPr>
            <a:r>
              <a:rPr dirty="0" err="1"/>
              <a:t>Nodo</a:t>
            </a:r>
            <a:r>
              <a:rPr dirty="0"/>
              <a:t> agent: paso del graph </a:t>
            </a:r>
            <a:r>
              <a:rPr dirty="0" err="1"/>
              <a:t>que</a:t>
            </a:r>
            <a:r>
              <a:rPr dirty="0"/>
              <a:t> </a:t>
            </a:r>
            <a:r>
              <a:rPr dirty="0" err="1"/>
              <a:t>realiza</a:t>
            </a:r>
            <a:r>
              <a:rPr dirty="0"/>
              <a:t> </a:t>
            </a:r>
            <a:r>
              <a:rPr dirty="0" err="1"/>
              <a:t>una</a:t>
            </a:r>
            <a:r>
              <a:rPr dirty="0"/>
              <a:t> </a:t>
            </a:r>
            <a:r>
              <a:rPr dirty="0" err="1"/>
              <a:t>llamada</a:t>
            </a:r>
            <a:r>
              <a:rPr dirty="0"/>
              <a:t> al </a:t>
            </a:r>
            <a:r>
              <a:rPr dirty="0" err="1"/>
              <a:t>modelo</a:t>
            </a:r>
            <a:r>
              <a:rPr dirty="0"/>
              <a:t> principal; </a:t>
            </a:r>
            <a:r>
              <a:rPr dirty="0" err="1"/>
              <a:t>puede</a:t>
            </a:r>
            <a:r>
              <a:rPr dirty="0"/>
              <a:t> </a:t>
            </a:r>
            <a:r>
              <a:rPr dirty="0" err="1"/>
              <a:t>visitarse</a:t>
            </a:r>
            <a:r>
              <a:rPr dirty="0"/>
              <a:t> </a:t>
            </a:r>
            <a:r>
              <a:rPr dirty="0" err="1"/>
              <a:t>varias</a:t>
            </a:r>
            <a:r>
              <a:rPr dirty="0"/>
              <a:t> </a:t>
            </a:r>
            <a:r>
              <a:rPr dirty="0" err="1"/>
              <a:t>veces</a:t>
            </a:r>
            <a:r>
              <a:rPr dirty="0"/>
              <a:t>.</a:t>
            </a:r>
          </a:p>
          <a:p>
            <a:pPr marL="171450" indent="-171450">
              <a:buFont typeface="Arial" panose="020B0604020202020204" pitchFamily="34" charset="0"/>
              <a:buChar char="•"/>
            </a:pPr>
            <a:r>
              <a:rPr dirty="0"/>
              <a:t>Agent run: </a:t>
            </a:r>
            <a:r>
              <a:rPr dirty="0" err="1"/>
              <a:t>ejecución</a:t>
            </a:r>
            <a:r>
              <a:rPr dirty="0"/>
              <a:t> </a:t>
            </a:r>
            <a:r>
              <a:rPr dirty="0" err="1"/>
              <a:t>iniciada</a:t>
            </a:r>
            <a:r>
              <a:rPr dirty="0"/>
              <a:t> </a:t>
            </a:r>
            <a:r>
              <a:rPr dirty="0" err="1"/>
              <a:t>mediante</a:t>
            </a:r>
            <a:r>
              <a:rPr dirty="0"/>
              <a:t> </a:t>
            </a:r>
            <a:r>
              <a:rPr dirty="0" err="1"/>
              <a:t>runAgent</a:t>
            </a:r>
            <a:r>
              <a:rPr dirty="0"/>
              <a:t>.</a:t>
            </a:r>
          </a:p>
          <a:p>
            <a:pPr marL="171450" indent="-171450">
              <a:buFont typeface="Arial" panose="020B0604020202020204" pitchFamily="34" charset="0"/>
              <a:buChar char="•"/>
            </a:pPr>
            <a:r>
              <a:rPr dirty="0"/>
              <a:t>Short-circuit: </a:t>
            </a:r>
            <a:r>
              <a:rPr dirty="0" err="1"/>
              <a:t>resultado</a:t>
            </a:r>
            <a:r>
              <a:rPr dirty="0"/>
              <a:t> </a:t>
            </a:r>
            <a:r>
              <a:rPr dirty="0" err="1"/>
              <a:t>completado</a:t>
            </a:r>
            <a:r>
              <a:rPr dirty="0"/>
              <a:t> </a:t>
            </a:r>
            <a:r>
              <a:rPr dirty="0" err="1"/>
              <a:t>por</a:t>
            </a:r>
            <a:r>
              <a:rPr dirty="0"/>
              <a:t> un gate sin </a:t>
            </a:r>
            <a:r>
              <a:rPr dirty="0" err="1"/>
              <a:t>entrar</a:t>
            </a:r>
            <a:r>
              <a:rPr dirty="0"/>
              <a:t> al </a:t>
            </a:r>
            <a:r>
              <a:rPr dirty="0" err="1"/>
              <a:t>StateGraph</a:t>
            </a:r>
            <a:r>
              <a:rPr dirty="0"/>
              <a:t>.</a:t>
            </a:r>
          </a:p>
          <a:p>
            <a:pPr marL="171450" indent="-171450">
              <a:buFont typeface="Arial" panose="020B0604020202020204" pitchFamily="34" charset="0"/>
              <a:buChar char="•"/>
            </a:pPr>
            <a:r>
              <a:rPr dirty="0"/>
              <a:t>Checkpoint: snapshot durable del </a:t>
            </a:r>
            <a:r>
              <a:rPr dirty="0" err="1"/>
              <a:t>estado</a:t>
            </a:r>
            <a:r>
              <a:rPr dirty="0"/>
              <a:t> </a:t>
            </a:r>
            <a:r>
              <a:rPr dirty="0" err="1"/>
              <a:t>interno</a:t>
            </a:r>
            <a:r>
              <a:rPr dirty="0"/>
              <a:t> </a:t>
            </a:r>
            <a:r>
              <a:rPr dirty="0" err="1"/>
              <a:t>que</a:t>
            </a:r>
            <a:r>
              <a:rPr dirty="0"/>
              <a:t> </a:t>
            </a:r>
            <a:r>
              <a:rPr dirty="0" err="1"/>
              <a:t>permite</a:t>
            </a:r>
            <a:r>
              <a:rPr dirty="0"/>
              <a:t> </a:t>
            </a:r>
            <a:r>
              <a:rPr dirty="0" err="1"/>
              <a:t>reanudar</a:t>
            </a:r>
            <a:r>
              <a:rPr dirty="0"/>
              <a:t> </a:t>
            </a:r>
            <a:r>
              <a:rPr dirty="0" err="1"/>
              <a:t>una</a:t>
            </a:r>
            <a:r>
              <a:rPr dirty="0"/>
              <a:t> pausa HITL.</a:t>
            </a:r>
          </a:p>
          <a:p>
            <a:pPr marL="171450" indent="-171450">
              <a:buFont typeface="Arial" panose="020B0604020202020204" pitchFamily="34" charset="0"/>
              <a:buChar char="•"/>
            </a:pPr>
            <a:r>
              <a:rPr dirty="0"/>
              <a:t>Thread id: </a:t>
            </a:r>
            <a:r>
              <a:rPr dirty="0" err="1"/>
              <a:t>identificador</a:t>
            </a:r>
            <a:r>
              <a:rPr dirty="0"/>
              <a:t> </a:t>
            </a:r>
            <a:r>
              <a:rPr dirty="0" err="1"/>
              <a:t>que</a:t>
            </a:r>
            <a:r>
              <a:rPr dirty="0"/>
              <a:t> vincula la </a:t>
            </a:r>
            <a:r>
              <a:rPr dirty="0" err="1"/>
              <a:t>ejecución</a:t>
            </a:r>
            <a:r>
              <a:rPr dirty="0"/>
              <a:t> con </a:t>
            </a:r>
            <a:r>
              <a:rPr dirty="0" err="1"/>
              <a:t>su</a:t>
            </a:r>
            <a:r>
              <a:rPr dirty="0"/>
              <a:t> checkpoint.</a:t>
            </a:r>
          </a:p>
          <a:p>
            <a:pPr marL="171450" indent="-171450">
              <a:buFont typeface="Arial" panose="020B0604020202020204" pitchFamily="34" charset="0"/>
              <a:buChar char="•"/>
            </a:pPr>
            <a:r>
              <a:rPr dirty="0" err="1"/>
              <a:t>AgentOutput</a:t>
            </a:r>
            <a:r>
              <a:rPr dirty="0"/>
              <a:t>: </a:t>
            </a:r>
            <a:r>
              <a:rPr dirty="0" err="1"/>
              <a:t>contrato</a:t>
            </a:r>
            <a:r>
              <a:rPr dirty="0"/>
              <a:t> de salida </a:t>
            </a:r>
            <a:r>
              <a:rPr dirty="0" err="1"/>
              <a:t>producido</a:t>
            </a:r>
            <a:r>
              <a:rPr dirty="0"/>
              <a:t> </a:t>
            </a:r>
            <a:r>
              <a:rPr dirty="0" err="1"/>
              <a:t>por</a:t>
            </a:r>
            <a:r>
              <a:rPr dirty="0"/>
              <a:t> el runtime para el </a:t>
            </a:r>
            <a:r>
              <a:rPr dirty="0" err="1"/>
              <a:t>adaptador</a:t>
            </a:r>
            <a:r>
              <a:rPr dirty="0"/>
              <a:t> de canal.</a:t>
            </a:r>
            <a:endParaRPr lang="es-MX" dirty="0"/>
          </a:p>
          <a:p>
            <a:pPr marL="171450" indent="-171450">
              <a:buFont typeface="Arial" panose="020B0604020202020204" pitchFamily="34" charset="0"/>
              <a:buChar char="•"/>
            </a:pPr>
            <a:r>
              <a:rPr lang="es-MX" dirty="0"/>
              <a:t>Actualmente, </a:t>
            </a:r>
            <a:r>
              <a:rPr lang="es-MX" sz="1200" kern="1200" dirty="0" err="1"/>
              <a:t>runAgent</a:t>
            </a:r>
            <a:r>
              <a:rPr lang="es-MX" dirty="0"/>
              <a:t> hace, simplificando:</a:t>
            </a:r>
          </a:p>
          <a:p>
            <a:pPr marL="171450" lvl="0" indent="-171450">
              <a:buFont typeface="Wingdings" panose="05000000000000000000" pitchFamily="2" charset="2"/>
              <a:buChar char="v"/>
            </a:pPr>
            <a:r>
              <a:rPr lang="es-MX" dirty="0"/>
              <a:t>Carga historia reciente y contexto de </a:t>
            </a:r>
            <a:r>
              <a:rPr lang="es-MX" dirty="0" err="1"/>
              <a:t>routing</a:t>
            </a:r>
            <a:r>
              <a:rPr lang="es-MX" dirty="0"/>
              <a:t>. </a:t>
            </a:r>
          </a:p>
          <a:p>
            <a:pPr marL="171450" lvl="0" indent="-171450">
              <a:buFont typeface="Wingdings" panose="05000000000000000000" pitchFamily="2" charset="2"/>
              <a:buChar char="v"/>
            </a:pPr>
            <a:r>
              <a:rPr lang="es-MX" dirty="0"/>
              <a:t>Resuelve el </a:t>
            </a:r>
            <a:r>
              <a:rPr lang="es-MX" dirty="0" err="1"/>
              <a:t>binding</a:t>
            </a:r>
            <a:r>
              <a:rPr lang="es-MX" dirty="0"/>
              <a:t> con un Case, si existe. </a:t>
            </a:r>
          </a:p>
          <a:p>
            <a:pPr marL="171450" lvl="0" indent="-171450">
              <a:buFont typeface="Wingdings" panose="05000000000000000000" pitchFamily="2" charset="2"/>
              <a:buChar char="v"/>
            </a:pPr>
            <a:r>
              <a:rPr lang="es-MX" dirty="0"/>
              <a:t>Selecciona una Skill dominante o ninguna. </a:t>
            </a:r>
          </a:p>
          <a:p>
            <a:pPr marL="171450" lvl="0" indent="-171450">
              <a:buFont typeface="Wingdings" panose="05000000000000000000" pitchFamily="2" charset="2"/>
              <a:buChar char="v"/>
            </a:pPr>
            <a:r>
              <a:rPr lang="es-MX" dirty="0"/>
              <a:t>Resuelve y limita las </a:t>
            </a:r>
            <a:r>
              <a:rPr lang="es-MX" dirty="0" err="1"/>
              <a:t>tools</a:t>
            </a:r>
            <a:r>
              <a:rPr lang="es-MX" dirty="0"/>
              <a:t> permitidas. </a:t>
            </a:r>
          </a:p>
          <a:p>
            <a:pPr marL="171450" lvl="0" indent="-171450">
              <a:buFont typeface="Wingdings" panose="05000000000000000000" pitchFamily="2" charset="2"/>
              <a:buChar char="v"/>
            </a:pPr>
            <a:r>
              <a:rPr lang="es-MX" dirty="0"/>
              <a:t>Construye el </a:t>
            </a:r>
            <a:r>
              <a:rPr lang="es-MX" dirty="0" err="1"/>
              <a:t>system</a:t>
            </a:r>
            <a:r>
              <a:rPr lang="es-MX" dirty="0"/>
              <a:t> </a:t>
            </a:r>
            <a:r>
              <a:rPr lang="es-MX" dirty="0" err="1"/>
              <a:t>prompt</a:t>
            </a:r>
            <a:r>
              <a:rPr lang="es-MX" dirty="0"/>
              <a:t> efectivo y demás contexto. </a:t>
            </a:r>
          </a:p>
          <a:p>
            <a:pPr marL="171450" lvl="0" indent="-171450">
              <a:buFont typeface="Wingdings" panose="05000000000000000000" pitchFamily="2" charset="2"/>
              <a:buChar char="v"/>
            </a:pPr>
            <a:r>
              <a:rPr lang="es-MX" dirty="0"/>
              <a:t>Configura el </a:t>
            </a:r>
            <a:r>
              <a:rPr lang="es-MX" dirty="0" err="1"/>
              <a:t>checkpoint</a:t>
            </a:r>
            <a:r>
              <a:rPr lang="es-MX" dirty="0"/>
              <a:t>/</a:t>
            </a:r>
            <a:r>
              <a:rPr lang="es-MX" dirty="0" err="1"/>
              <a:t>thread</a:t>
            </a:r>
            <a:r>
              <a:rPr lang="es-MX" dirty="0"/>
              <a:t>. </a:t>
            </a:r>
          </a:p>
          <a:p>
            <a:pPr marL="171450" lvl="0" indent="-171450">
              <a:buFont typeface="Wingdings" panose="05000000000000000000" pitchFamily="2" charset="2"/>
              <a:buChar char="v"/>
            </a:pPr>
            <a:r>
              <a:rPr lang="es-MX" dirty="0"/>
              <a:t>Invoca o reanuda el </a:t>
            </a:r>
            <a:r>
              <a:rPr lang="es-MX" dirty="0" err="1"/>
              <a:t>StateGraph</a:t>
            </a:r>
            <a:r>
              <a:rPr lang="es-MX" dirty="0"/>
              <a:t>.</a:t>
            </a:r>
          </a:p>
          <a:p>
            <a:pPr marL="171450" indent="-171450">
              <a:buFont typeface="Arial" panose="020B0604020202020204" pitchFamily="34" charset="0"/>
              <a:buChar char="•"/>
            </a:pPr>
            <a:endParaRPr dirty="0"/>
          </a:p>
          <a:p>
            <a:endParaRPr dirty="0"/>
          </a:p>
          <a:p>
            <a:r>
              <a:rPr dirty="0"/>
              <a:t>[FUENTES]</a:t>
            </a:r>
          </a:p>
          <a:p>
            <a:r>
              <a:rPr dirty="0"/>
              <a:t>- packages/agent/</a:t>
            </a:r>
            <a:r>
              <a:rPr dirty="0" err="1"/>
              <a:t>src</a:t>
            </a:r>
            <a:r>
              <a:rPr dirty="0"/>
              <a:t>/</a:t>
            </a:r>
            <a:r>
              <a:rPr dirty="0" err="1"/>
              <a:t>graph.ts</a:t>
            </a:r>
            <a:endParaRPr dirty="0"/>
          </a:p>
          <a:p>
            <a:r>
              <a:rPr dirty="0"/>
              <a:t>- packages/agent/</a:t>
            </a:r>
            <a:r>
              <a:rPr dirty="0" err="1"/>
              <a:t>src</a:t>
            </a:r>
            <a:r>
              <a:rPr dirty="0"/>
              <a:t>/</a:t>
            </a:r>
            <a:r>
              <a:rPr dirty="0" err="1"/>
              <a:t>checkpointer.ts</a:t>
            </a:r>
            <a:endParaRPr dirty="0"/>
          </a:p>
          <a:p>
            <a:r>
              <a:rPr dirty="0"/>
              <a:t>- apps/web/</a:t>
            </a:r>
            <a:r>
              <a:rPr dirty="0" err="1"/>
              <a:t>src</a:t>
            </a:r>
            <a:r>
              <a:rPr dirty="0"/>
              <a:t>/app/</a:t>
            </a:r>
            <a:r>
              <a:rPr dirty="0" err="1"/>
              <a:t>api</a:t>
            </a:r>
            <a:r>
              <a:rPr dirty="0"/>
              <a:t>/chat/</a:t>
            </a:r>
            <a:r>
              <a:rPr dirty="0" err="1"/>
              <a:t>route.ts</a:t>
            </a:r>
            <a:endParaRPr dirty="0"/>
          </a:p>
          <a:p>
            <a:r>
              <a:rPr dirty="0"/>
              <a:t>- apps/web/</a:t>
            </a:r>
            <a:r>
              <a:rPr dirty="0" err="1"/>
              <a:t>src</a:t>
            </a:r>
            <a:r>
              <a:rPr dirty="0"/>
              <a:t>/app/</a:t>
            </a:r>
            <a:r>
              <a:rPr dirty="0" err="1"/>
              <a:t>api</a:t>
            </a:r>
            <a:r>
              <a:rPr dirty="0"/>
              <a:t>/telegram/webhook/</a:t>
            </a:r>
            <a:r>
              <a:rPr dirty="0" err="1"/>
              <a:t>route.ts</a:t>
            </a:r>
            <a:endParaRPr dirty="0"/>
          </a:p>
          <a:p>
            <a:r>
              <a:rPr dirty="0"/>
              <a:t>- docs/architecture.md § Graph y loops del </a:t>
            </a:r>
            <a:r>
              <a:rPr dirty="0" err="1"/>
              <a:t>agente</a:t>
            </a:r>
            <a:endParaRPr dirty="0"/>
          </a:p>
          <a:p>
            <a:r>
              <a:rPr dirty="0"/>
              <a:t>- docs/manuals/architecture-manual.md §§ 4–7</a:t>
            </a:r>
          </a:p>
          <a:p>
            <a:r>
              <a:rPr dirty="0"/>
              <a:t>- Baseline: </a:t>
            </a:r>
            <a:r>
              <a:rPr dirty="0" err="1"/>
              <a:t>janotowers</a:t>
            </a:r>
            <a:r>
              <a:rPr dirty="0"/>
              <a:t>/Gu-OS main @ 5a6fbb05117042e1f7c47c911e0e2bc14d068340 · </a:t>
            </a:r>
            <a:r>
              <a:rPr dirty="0" err="1"/>
              <a:t>verificado</a:t>
            </a:r>
            <a:r>
              <a:rPr dirty="0"/>
              <a:t> 11 </a:t>
            </a:r>
            <a:r>
              <a:rPr dirty="0" err="1"/>
              <a:t>septiembre</a:t>
            </a:r>
            <a:r>
              <a:rPr dirty="0"/>
              <a: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packages/agent/src/graph.ts</a:t>
            </a:r>
          </a:p>
          <a:p>
            <a:pPr indent="0">
              <a:lnSpc>
                <a:spcPct val="100000"/>
              </a:lnSpc>
              <a:buNone/>
            </a:pPr>
            <a:r>
              <a:rPr sz="2000" b="0" u="none">
                <a:solidFill>
                  <a:srgbClr val="000000"/>
                </a:solidFill>
                <a:latin typeface="Arial"/>
                <a:ea typeface="Arial"/>
                <a:cs typeface="Arial"/>
              </a:rPr>
              <a:t>- packages/agent/src/model.ts</a:t>
            </a:r>
          </a:p>
          <a:p>
            <a:pPr indent="0">
              <a:lnSpc>
                <a:spcPct val="100000"/>
              </a:lnSpc>
              <a:buNone/>
            </a:pPr>
            <a:r>
              <a:rPr sz="2000" b="0" u="none">
                <a:solidFill>
                  <a:srgbClr val="000000"/>
                </a:solidFill>
                <a:latin typeface="Arial"/>
                <a:ea typeface="Arial"/>
                <a:cs typeface="Arial"/>
              </a:rPr>
              <a:t>- packages/agent/src/memory_flush.ts</a:t>
            </a:r>
          </a:p>
          <a:p>
            <a:pPr indent="0">
              <a:lnSpc>
                <a:spcPct val="100000"/>
              </a:lnSpc>
              <a:buNone/>
            </a:pPr>
            <a:r>
              <a:rPr sz="2000" b="0" u="none">
                <a:solidFill>
                  <a:srgbClr val="000000"/>
                </a:solidFill>
                <a:latin typeface="Arial"/>
                <a:ea typeface="Arial"/>
                <a:cs typeface="Arial"/>
              </a:rPr>
              <a:t>- packages/agent/src/tools/catalog.ts</a:t>
            </a:r>
          </a:p>
          <a:p>
            <a:pPr indent="0">
              <a:lnSpc>
                <a:spcPct val="100000"/>
              </a:lnSpc>
              <a:buNone/>
            </a:pPr>
            <a:r>
              <a:rPr sz="2000" b="0" u="none">
                <a:solidFill>
                  <a:srgbClr val="000000"/>
                </a:solidFill>
                <a:latin typeface="Arial"/>
                <a:ea typeface="Arial"/>
                <a:cs typeface="Arial"/>
              </a:rP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[UBICACIÓN RECOMENDADA]</a:t>
            </a:r>
          </a:p>
          <a:p>
            <a:r>
              <a:rPr dirty="0"/>
              <a:t>Session 3B · </a:t>
            </a:r>
            <a:r>
              <a:rPr dirty="0" err="1"/>
              <a:t>insertar</a:t>
            </a:r>
            <a:r>
              <a:rPr dirty="0"/>
              <a:t> </a:t>
            </a:r>
            <a:r>
              <a:rPr dirty="0" err="1"/>
              <a:t>después</a:t>
            </a:r>
            <a:r>
              <a:rPr dirty="0"/>
              <a:t> de la </a:t>
            </a:r>
            <a:r>
              <a:rPr dirty="0" err="1"/>
              <a:t>lámina</a:t>
            </a:r>
            <a:r>
              <a:rPr dirty="0"/>
              <a:t> original 3. </a:t>
            </a:r>
            <a:r>
              <a:rPr dirty="0" err="1"/>
              <a:t>Reemplaza</a:t>
            </a:r>
            <a:r>
              <a:rPr dirty="0"/>
              <a:t> 01_S3B_Current_Agent_Turn_Graph_v1.0.</a:t>
            </a:r>
          </a:p>
          <a:p>
            <a:endParaRPr dirty="0"/>
          </a:p>
          <a:p>
            <a:r>
              <a:rPr dirty="0"/>
              <a:t>[PROPÓSITO]</a:t>
            </a:r>
          </a:p>
          <a:p>
            <a:r>
              <a:rPr dirty="0" err="1"/>
              <a:t>Representar</a:t>
            </a:r>
            <a:r>
              <a:rPr dirty="0"/>
              <a:t> la </a:t>
            </a:r>
            <a:r>
              <a:rPr dirty="0" err="1"/>
              <a:t>topología</a:t>
            </a:r>
            <a:r>
              <a:rPr dirty="0"/>
              <a:t> </a:t>
            </a:r>
            <a:r>
              <a:rPr dirty="0" err="1"/>
              <a:t>implementada</a:t>
            </a:r>
            <a:r>
              <a:rPr dirty="0"/>
              <a:t> del </a:t>
            </a:r>
            <a:r>
              <a:rPr dirty="0" err="1"/>
              <a:t>StateGraph</a:t>
            </a:r>
            <a:r>
              <a:rPr dirty="0"/>
              <a:t>, </a:t>
            </a:r>
            <a:r>
              <a:rPr dirty="0" err="1"/>
              <a:t>incluyendo</a:t>
            </a:r>
            <a:r>
              <a:rPr dirty="0"/>
              <a:t> </a:t>
            </a:r>
            <a:r>
              <a:rPr dirty="0" err="1"/>
              <a:t>retorno</a:t>
            </a:r>
            <a:r>
              <a:rPr dirty="0"/>
              <a:t> tools-compaction-agent, pausa HITL, </a:t>
            </a:r>
            <a:r>
              <a:rPr dirty="0" err="1"/>
              <a:t>límites</a:t>
            </a:r>
            <a:r>
              <a:rPr dirty="0"/>
              <a:t> y </a:t>
            </a:r>
            <a:r>
              <a:rPr dirty="0" err="1"/>
              <a:t>mecanismos</a:t>
            </a:r>
            <a:r>
              <a:rPr dirty="0"/>
              <a:t> </a:t>
            </a:r>
            <a:r>
              <a:rPr dirty="0" err="1"/>
              <a:t>que</a:t>
            </a:r>
            <a:r>
              <a:rPr dirty="0"/>
              <a:t> </a:t>
            </a:r>
            <a:r>
              <a:rPr dirty="0" err="1"/>
              <a:t>viven</a:t>
            </a:r>
            <a:r>
              <a:rPr dirty="0"/>
              <a:t> fuera del graph.</a:t>
            </a:r>
          </a:p>
          <a:p>
            <a:endParaRPr dirty="0"/>
          </a:p>
          <a:p>
            <a:r>
              <a:rPr dirty="0"/>
              <a:t>[GUION DIDÁCTICO]</a:t>
            </a:r>
          </a:p>
          <a:p>
            <a:r>
              <a:rPr dirty="0" err="1"/>
              <a:t>Comience</a:t>
            </a:r>
            <a:r>
              <a:rPr dirty="0"/>
              <a:t> </a:t>
            </a:r>
            <a:r>
              <a:rPr dirty="0" err="1"/>
              <a:t>aclarando</a:t>
            </a:r>
            <a:r>
              <a:rPr dirty="0"/>
              <a:t> </a:t>
            </a:r>
            <a:r>
              <a:rPr dirty="0" err="1"/>
              <a:t>que</a:t>
            </a:r>
            <a:r>
              <a:rPr dirty="0"/>
              <a:t> </a:t>
            </a:r>
            <a:r>
              <a:rPr dirty="0" err="1"/>
              <a:t>esta</a:t>
            </a:r>
            <a:r>
              <a:rPr dirty="0"/>
              <a:t> </a:t>
            </a:r>
            <a:r>
              <a:rPr dirty="0" err="1"/>
              <a:t>lámina</a:t>
            </a:r>
            <a:r>
              <a:rPr dirty="0"/>
              <a:t> </a:t>
            </a:r>
            <a:r>
              <a:rPr dirty="0" err="1"/>
              <a:t>muestra</a:t>
            </a:r>
            <a:r>
              <a:rPr dirty="0"/>
              <a:t> el </a:t>
            </a:r>
            <a:r>
              <a:rPr dirty="0" err="1"/>
              <a:t>StateGraph</a:t>
            </a:r>
            <a:r>
              <a:rPr dirty="0"/>
              <a:t> </a:t>
            </a:r>
            <a:r>
              <a:rPr dirty="0" err="1"/>
              <a:t>interno</a:t>
            </a:r>
            <a:r>
              <a:rPr dirty="0"/>
              <a:t>. El </a:t>
            </a:r>
            <a:r>
              <a:rPr dirty="0" err="1"/>
              <a:t>turno</a:t>
            </a:r>
            <a:r>
              <a:rPr dirty="0"/>
              <a:t> </a:t>
            </a:r>
            <a:r>
              <a:rPr dirty="0" err="1"/>
              <a:t>ya</a:t>
            </a:r>
            <a:r>
              <a:rPr dirty="0"/>
              <a:t> </a:t>
            </a:r>
            <a:r>
              <a:rPr dirty="0" err="1"/>
              <a:t>fue</a:t>
            </a:r>
            <a:r>
              <a:rPr dirty="0"/>
              <a:t> </a:t>
            </a:r>
            <a:r>
              <a:rPr dirty="0" err="1"/>
              <a:t>enrutado</a:t>
            </a:r>
            <a:r>
              <a:rPr dirty="0"/>
              <a:t> y </a:t>
            </a:r>
            <a:r>
              <a:rPr dirty="0" err="1"/>
              <a:t>llega</a:t>
            </a:r>
            <a:r>
              <a:rPr dirty="0"/>
              <a:t> con un </a:t>
            </a:r>
            <a:r>
              <a:rPr dirty="0" err="1"/>
              <a:t>mensaje</a:t>
            </a:r>
            <a:r>
              <a:rPr dirty="0"/>
              <a:t> </a:t>
            </a:r>
            <a:r>
              <a:rPr dirty="0" err="1"/>
              <a:t>efectivo</a:t>
            </a:r>
            <a:r>
              <a:rPr dirty="0"/>
              <a:t>, </a:t>
            </a:r>
            <a:r>
              <a:rPr dirty="0" err="1"/>
              <a:t>una</a:t>
            </a:r>
            <a:r>
              <a:rPr dirty="0"/>
              <a:t> Skill o </a:t>
            </a:r>
            <a:r>
              <a:rPr dirty="0" err="1"/>
              <a:t>contexto</a:t>
            </a:r>
            <a:r>
              <a:rPr dirty="0"/>
              <a:t> de Case </a:t>
            </a:r>
            <a:r>
              <a:rPr dirty="0" err="1"/>
              <a:t>cuando</a:t>
            </a:r>
            <a:r>
              <a:rPr dirty="0"/>
              <a:t> </a:t>
            </a:r>
            <a:r>
              <a:rPr dirty="0" err="1"/>
              <a:t>aplica</a:t>
            </a:r>
            <a:r>
              <a:rPr dirty="0"/>
              <a:t>, tools </a:t>
            </a:r>
            <a:r>
              <a:rPr dirty="0" err="1"/>
              <a:t>habilitadas</a:t>
            </a:r>
            <a:r>
              <a:rPr dirty="0"/>
              <a:t> y policy </a:t>
            </a:r>
            <a:r>
              <a:rPr dirty="0" err="1"/>
              <a:t>efectiva</a:t>
            </a:r>
            <a:r>
              <a:rPr dirty="0"/>
              <a:t>.</a:t>
            </a:r>
          </a:p>
          <a:p>
            <a:endParaRPr dirty="0"/>
          </a:p>
          <a:p>
            <a:r>
              <a:rPr dirty="0"/>
              <a:t>El primer </a:t>
            </a:r>
            <a:r>
              <a:rPr dirty="0" err="1"/>
              <a:t>nodo</a:t>
            </a:r>
            <a:r>
              <a:rPr dirty="0"/>
              <a:t> es </a:t>
            </a:r>
            <a:r>
              <a:rPr dirty="0" err="1"/>
              <a:t>memory_injection</a:t>
            </a:r>
            <a:r>
              <a:rPr dirty="0"/>
              <a:t>. En Web y Telegram </a:t>
            </a:r>
            <a:r>
              <a:rPr dirty="0" err="1"/>
              <a:t>normales</a:t>
            </a:r>
            <a:r>
              <a:rPr dirty="0"/>
              <a:t> genera un embedding del </a:t>
            </a:r>
            <a:r>
              <a:rPr dirty="0" err="1"/>
              <a:t>último</a:t>
            </a:r>
            <a:r>
              <a:rPr dirty="0"/>
              <a:t> </a:t>
            </a:r>
            <a:r>
              <a:rPr dirty="0" err="1"/>
              <a:t>mensaje</a:t>
            </a:r>
            <a:r>
              <a:rPr dirty="0"/>
              <a:t> </a:t>
            </a:r>
            <a:r>
              <a:rPr dirty="0" err="1"/>
              <a:t>humano</a:t>
            </a:r>
            <a:r>
              <a:rPr dirty="0"/>
              <a:t>, </a:t>
            </a:r>
            <a:r>
              <a:rPr dirty="0" err="1"/>
              <a:t>recupera</a:t>
            </a:r>
            <a:r>
              <a:rPr dirty="0"/>
              <a:t> </a:t>
            </a:r>
            <a:r>
              <a:rPr dirty="0" err="1"/>
              <a:t>memorias</a:t>
            </a:r>
            <a:r>
              <a:rPr dirty="0"/>
              <a:t> </a:t>
            </a:r>
            <a:r>
              <a:rPr dirty="0" err="1"/>
              <a:t>personales</a:t>
            </a:r>
            <a:r>
              <a:rPr dirty="0"/>
              <a:t> </a:t>
            </a:r>
            <a:r>
              <a:rPr dirty="0" err="1"/>
              <a:t>por</a:t>
            </a:r>
            <a:r>
              <a:rPr dirty="0"/>
              <a:t> </a:t>
            </a:r>
            <a:r>
              <a:rPr dirty="0" err="1"/>
              <a:t>similitud</a:t>
            </a:r>
            <a:r>
              <a:rPr dirty="0"/>
              <a:t> y </a:t>
            </a:r>
            <a:r>
              <a:rPr dirty="0" err="1"/>
              <a:t>compara</a:t>
            </a:r>
            <a:r>
              <a:rPr dirty="0"/>
              <a:t> el embedding actual con el anterior para </a:t>
            </a:r>
            <a:r>
              <a:rPr dirty="0" err="1"/>
              <a:t>producir</a:t>
            </a:r>
            <a:r>
              <a:rPr dirty="0"/>
              <a:t> </a:t>
            </a:r>
            <a:r>
              <a:rPr dirty="0" err="1"/>
              <a:t>una</a:t>
            </a:r>
            <a:r>
              <a:rPr dirty="0"/>
              <a:t> </a:t>
            </a:r>
            <a:r>
              <a:rPr dirty="0" err="1"/>
              <a:t>señal</a:t>
            </a:r>
            <a:r>
              <a:rPr dirty="0"/>
              <a:t> de </a:t>
            </a:r>
            <a:r>
              <a:rPr dirty="0" err="1"/>
              <a:t>posible</a:t>
            </a:r>
            <a:r>
              <a:rPr dirty="0"/>
              <a:t> </a:t>
            </a:r>
            <a:r>
              <a:rPr dirty="0" err="1"/>
              <a:t>cambio</a:t>
            </a:r>
            <a:r>
              <a:rPr dirty="0"/>
              <a:t> de </a:t>
            </a:r>
            <a:r>
              <a:rPr dirty="0" err="1"/>
              <a:t>tema</a:t>
            </a:r>
            <a:r>
              <a:rPr dirty="0"/>
              <a:t>. El </a:t>
            </a:r>
            <a:r>
              <a:rPr dirty="0" err="1"/>
              <a:t>nodo</a:t>
            </a:r>
            <a:r>
              <a:rPr dirty="0"/>
              <a:t> </a:t>
            </a:r>
            <a:r>
              <a:rPr dirty="0" err="1"/>
              <a:t>inyecta</a:t>
            </a:r>
            <a:r>
              <a:rPr dirty="0"/>
              <a:t> un </a:t>
            </a:r>
            <a:r>
              <a:rPr dirty="0" err="1"/>
              <a:t>bloque</a:t>
            </a:r>
            <a:r>
              <a:rPr dirty="0"/>
              <a:t> </a:t>
            </a:r>
            <a:r>
              <a:rPr dirty="0" err="1"/>
              <a:t>acotado</a:t>
            </a:r>
            <a:r>
              <a:rPr dirty="0"/>
              <a:t> </a:t>
            </a:r>
            <a:r>
              <a:rPr dirty="0" err="1"/>
              <a:t>dentro</a:t>
            </a:r>
            <a:r>
              <a:rPr dirty="0"/>
              <a:t> del primer </a:t>
            </a:r>
            <a:r>
              <a:rPr dirty="0" err="1"/>
              <a:t>SystemMessage</a:t>
            </a:r>
            <a:r>
              <a:rPr dirty="0"/>
              <a:t>. Si retrieval o embeddings </a:t>
            </a:r>
            <a:r>
              <a:rPr dirty="0" err="1"/>
              <a:t>fallan</a:t>
            </a:r>
            <a:r>
              <a:rPr dirty="0"/>
              <a:t>, el </a:t>
            </a:r>
            <a:r>
              <a:rPr dirty="0" err="1"/>
              <a:t>turno</a:t>
            </a:r>
            <a:r>
              <a:rPr dirty="0"/>
              <a:t> </a:t>
            </a:r>
            <a:r>
              <a:rPr dirty="0" err="1"/>
              <a:t>continúa</a:t>
            </a:r>
            <a:r>
              <a:rPr dirty="0"/>
              <a:t> sin </a:t>
            </a:r>
            <a:r>
              <a:rPr dirty="0" err="1"/>
              <a:t>esa</a:t>
            </a:r>
            <a:r>
              <a:rPr dirty="0"/>
              <a:t> </a:t>
            </a:r>
            <a:r>
              <a:rPr dirty="0" err="1"/>
              <a:t>ampliación</a:t>
            </a:r>
            <a:r>
              <a:rPr dirty="0"/>
              <a:t>. Cron y resume HITL no </a:t>
            </a:r>
            <a:r>
              <a:rPr dirty="0" err="1"/>
              <a:t>repiten</a:t>
            </a:r>
            <a:r>
              <a:rPr dirty="0"/>
              <a:t> </a:t>
            </a:r>
            <a:r>
              <a:rPr dirty="0" err="1"/>
              <a:t>esta</a:t>
            </a:r>
            <a:r>
              <a:rPr dirty="0"/>
              <a:t> </a:t>
            </a:r>
            <a:r>
              <a:rPr dirty="0" err="1"/>
              <a:t>operación</a:t>
            </a:r>
            <a:r>
              <a:rPr dirty="0"/>
              <a:t>. Heartbeat </a:t>
            </a:r>
            <a:r>
              <a:rPr dirty="0" err="1"/>
              <a:t>usa</a:t>
            </a:r>
            <a:r>
              <a:rPr dirty="0"/>
              <a:t> </a:t>
            </a:r>
            <a:r>
              <a:rPr dirty="0" err="1"/>
              <a:t>una</a:t>
            </a:r>
            <a:r>
              <a:rPr dirty="0"/>
              <a:t> </a:t>
            </a:r>
            <a:r>
              <a:rPr dirty="0" err="1"/>
              <a:t>variante</a:t>
            </a:r>
            <a:r>
              <a:rPr dirty="0"/>
              <a:t> </a:t>
            </a:r>
            <a:r>
              <a:rPr dirty="0" err="1"/>
              <a:t>curada</a:t>
            </a:r>
            <a:r>
              <a:rPr dirty="0"/>
              <a:t>.</a:t>
            </a:r>
          </a:p>
          <a:p>
            <a:endParaRPr dirty="0"/>
          </a:p>
          <a:p>
            <a:r>
              <a:rPr dirty="0"/>
              <a:t>Compaction se </a:t>
            </a:r>
            <a:r>
              <a:rPr dirty="0" err="1"/>
              <a:t>ejecuta</a:t>
            </a:r>
            <a:r>
              <a:rPr dirty="0"/>
              <a:t> antes de </a:t>
            </a:r>
            <a:r>
              <a:rPr dirty="0" err="1"/>
              <a:t>cada</a:t>
            </a:r>
            <a:r>
              <a:rPr dirty="0"/>
              <a:t> </a:t>
            </a:r>
            <a:r>
              <a:rPr dirty="0" err="1"/>
              <a:t>invocación</a:t>
            </a:r>
            <a:r>
              <a:rPr dirty="0"/>
              <a:t> del </a:t>
            </a:r>
            <a:r>
              <a:rPr dirty="0" err="1"/>
              <a:t>agente</a:t>
            </a:r>
            <a:r>
              <a:rPr dirty="0"/>
              <a:t> y </a:t>
            </a:r>
            <a:r>
              <a:rPr dirty="0" err="1"/>
              <a:t>después</a:t>
            </a:r>
            <a:r>
              <a:rPr dirty="0"/>
              <a:t> de </a:t>
            </a:r>
            <a:r>
              <a:rPr dirty="0" err="1"/>
              <a:t>cada</a:t>
            </a:r>
            <a:r>
              <a:rPr dirty="0"/>
              <a:t> </a:t>
            </a:r>
            <a:r>
              <a:rPr dirty="0" err="1"/>
              <a:t>lote</a:t>
            </a:r>
            <a:r>
              <a:rPr dirty="0"/>
              <a:t> de </a:t>
            </a:r>
            <a:r>
              <a:rPr dirty="0" err="1"/>
              <a:t>ToolMessages</a:t>
            </a:r>
            <a:r>
              <a:rPr dirty="0"/>
              <a:t>. Primero </a:t>
            </a:r>
            <a:r>
              <a:rPr dirty="0" err="1"/>
              <a:t>evalúa</a:t>
            </a:r>
            <a:r>
              <a:rPr dirty="0"/>
              <a:t> </a:t>
            </a:r>
            <a:r>
              <a:rPr dirty="0" err="1"/>
              <a:t>microcompaction</a:t>
            </a:r>
            <a:r>
              <a:rPr dirty="0"/>
              <a:t>. Cuando </a:t>
            </a:r>
            <a:r>
              <a:rPr dirty="0" err="1"/>
              <a:t>existen</a:t>
            </a:r>
            <a:r>
              <a:rPr dirty="0"/>
              <a:t> más de </a:t>
            </a:r>
            <a:r>
              <a:rPr dirty="0" err="1"/>
              <a:t>cinco</a:t>
            </a:r>
            <a:r>
              <a:rPr dirty="0"/>
              <a:t> </a:t>
            </a:r>
            <a:r>
              <a:rPr dirty="0" err="1"/>
              <a:t>resultados</a:t>
            </a:r>
            <a:r>
              <a:rPr dirty="0"/>
              <a:t> de tools, </a:t>
            </a:r>
            <a:r>
              <a:rPr dirty="0" err="1"/>
              <a:t>conserva</a:t>
            </a:r>
            <a:r>
              <a:rPr dirty="0"/>
              <a:t> </a:t>
            </a:r>
            <a:r>
              <a:rPr dirty="0" err="1"/>
              <a:t>completos</a:t>
            </a:r>
            <a:r>
              <a:rPr dirty="0"/>
              <a:t> </a:t>
            </a:r>
            <a:r>
              <a:rPr dirty="0" err="1"/>
              <a:t>los</a:t>
            </a:r>
            <a:r>
              <a:rPr dirty="0"/>
              <a:t> </a:t>
            </a:r>
            <a:r>
              <a:rPr dirty="0" err="1"/>
              <a:t>cinco</a:t>
            </a:r>
            <a:r>
              <a:rPr dirty="0"/>
              <a:t> más </a:t>
            </a:r>
            <a:r>
              <a:rPr dirty="0" err="1"/>
              <a:t>recientes</a:t>
            </a:r>
            <a:r>
              <a:rPr dirty="0"/>
              <a:t> y </a:t>
            </a:r>
            <a:r>
              <a:rPr dirty="0" err="1"/>
              <a:t>sustituye</a:t>
            </a:r>
            <a:r>
              <a:rPr dirty="0"/>
              <a:t> </a:t>
            </a:r>
            <a:r>
              <a:rPr dirty="0" err="1"/>
              <a:t>resultados</a:t>
            </a:r>
            <a:r>
              <a:rPr dirty="0"/>
              <a:t> más </a:t>
            </a:r>
            <a:r>
              <a:rPr dirty="0" err="1"/>
              <a:t>antiguos</a:t>
            </a:r>
            <a:r>
              <a:rPr dirty="0"/>
              <a:t> </a:t>
            </a:r>
            <a:r>
              <a:rPr dirty="0" err="1"/>
              <a:t>por</a:t>
            </a:r>
            <a:r>
              <a:rPr dirty="0"/>
              <a:t> </a:t>
            </a:r>
            <a:r>
              <a:rPr dirty="0" err="1"/>
              <a:t>una</a:t>
            </a:r>
            <a:r>
              <a:rPr dirty="0"/>
              <a:t> </a:t>
            </a:r>
            <a:r>
              <a:rPr dirty="0" err="1"/>
              <a:t>marca</a:t>
            </a:r>
            <a:r>
              <a:rPr dirty="0"/>
              <a:t>. </a:t>
            </a:r>
            <a:r>
              <a:rPr dirty="0" err="1"/>
              <a:t>Después</a:t>
            </a:r>
            <a:r>
              <a:rPr dirty="0"/>
              <a:t> </a:t>
            </a:r>
            <a:r>
              <a:rPr dirty="0" err="1"/>
              <a:t>estima</a:t>
            </a:r>
            <a:r>
              <a:rPr dirty="0"/>
              <a:t> tokens. Al </a:t>
            </a:r>
            <a:r>
              <a:rPr dirty="0" err="1"/>
              <a:t>alcanzar</a:t>
            </a:r>
            <a:r>
              <a:rPr dirty="0"/>
              <a:t> </a:t>
            </a:r>
            <a:r>
              <a:rPr dirty="0" err="1"/>
              <a:t>cerca</a:t>
            </a:r>
            <a:r>
              <a:rPr dirty="0"/>
              <a:t> del 80 </a:t>
            </a:r>
            <a:r>
              <a:rPr dirty="0" err="1"/>
              <a:t>por</a:t>
            </a:r>
            <a:r>
              <a:rPr dirty="0"/>
              <a:t> </a:t>
            </a:r>
            <a:r>
              <a:rPr dirty="0" err="1"/>
              <a:t>ciento</a:t>
            </a:r>
            <a:r>
              <a:rPr dirty="0"/>
              <a:t> de </a:t>
            </a:r>
            <a:r>
              <a:rPr dirty="0" err="1"/>
              <a:t>una</a:t>
            </a:r>
            <a:r>
              <a:rPr dirty="0"/>
              <a:t> </a:t>
            </a:r>
            <a:r>
              <a:rPr dirty="0" err="1"/>
              <a:t>ventana</a:t>
            </a:r>
            <a:r>
              <a:rPr dirty="0"/>
              <a:t> </a:t>
            </a:r>
            <a:r>
              <a:rPr dirty="0" err="1"/>
              <a:t>objetivo</a:t>
            </a:r>
            <a:r>
              <a:rPr dirty="0"/>
              <a:t> de 120 mil tokens, Claude Haiku 4.5 resume el </a:t>
            </a:r>
            <a:r>
              <a:rPr dirty="0" err="1"/>
              <a:t>contexto</a:t>
            </a:r>
            <a:r>
              <a:rPr dirty="0"/>
              <a:t> </a:t>
            </a:r>
            <a:r>
              <a:rPr dirty="0" err="1"/>
              <a:t>antiguo</a:t>
            </a:r>
            <a:r>
              <a:rPr dirty="0"/>
              <a:t> y </a:t>
            </a:r>
            <a:r>
              <a:rPr dirty="0" err="1"/>
              <a:t>conserva</a:t>
            </a:r>
            <a:r>
              <a:rPr dirty="0"/>
              <a:t> el </a:t>
            </a:r>
            <a:r>
              <a:rPr dirty="0" err="1"/>
              <a:t>SystemMessage</a:t>
            </a:r>
            <a:r>
              <a:rPr dirty="0"/>
              <a:t> </a:t>
            </a:r>
            <a:r>
              <a:rPr dirty="0" err="1"/>
              <a:t>inicial</a:t>
            </a:r>
            <a:r>
              <a:rPr dirty="0"/>
              <a:t>, el </a:t>
            </a:r>
            <a:r>
              <a:rPr dirty="0" err="1"/>
              <a:t>último</a:t>
            </a:r>
            <a:r>
              <a:rPr dirty="0"/>
              <a:t> </a:t>
            </a:r>
            <a:r>
              <a:rPr dirty="0" err="1"/>
              <a:t>HumanMessage</a:t>
            </a:r>
            <a:r>
              <a:rPr dirty="0"/>
              <a:t> y </a:t>
            </a:r>
            <a:r>
              <a:rPr dirty="0" err="1"/>
              <a:t>operaciones</a:t>
            </a:r>
            <a:r>
              <a:rPr dirty="0"/>
              <a:t> </a:t>
            </a:r>
            <a:r>
              <a:rPr dirty="0" err="1"/>
              <a:t>recientes</a:t>
            </a:r>
            <a:r>
              <a:rPr dirty="0"/>
              <a:t>. Tras </a:t>
            </a:r>
            <a:r>
              <a:rPr dirty="0" err="1"/>
              <a:t>tres</a:t>
            </a:r>
            <a:r>
              <a:rPr dirty="0"/>
              <a:t> </a:t>
            </a:r>
            <a:r>
              <a:rPr dirty="0" err="1"/>
              <a:t>fallos</a:t>
            </a:r>
            <a:r>
              <a:rPr dirty="0"/>
              <a:t> </a:t>
            </a:r>
            <a:r>
              <a:rPr dirty="0" err="1"/>
              <a:t>consecutivos</a:t>
            </a:r>
            <a:r>
              <a:rPr dirty="0"/>
              <a:t>, un circuit breaker </a:t>
            </a:r>
            <a:r>
              <a:rPr dirty="0" err="1"/>
              <a:t>evita</a:t>
            </a:r>
            <a:r>
              <a:rPr dirty="0"/>
              <a:t> </a:t>
            </a:r>
            <a:r>
              <a:rPr dirty="0" err="1"/>
              <a:t>nuevos</a:t>
            </a:r>
            <a:r>
              <a:rPr dirty="0"/>
              <a:t> </a:t>
            </a:r>
            <a:r>
              <a:rPr dirty="0" err="1"/>
              <a:t>intentos</a:t>
            </a:r>
            <a:r>
              <a:rPr dirty="0"/>
              <a:t> de </a:t>
            </a:r>
            <a:r>
              <a:rPr dirty="0" err="1"/>
              <a:t>compactación</a:t>
            </a:r>
            <a:r>
              <a:rPr dirty="0"/>
              <a:t> LLM </a:t>
            </a:r>
            <a:r>
              <a:rPr dirty="0" err="1"/>
              <a:t>durante</a:t>
            </a:r>
            <a:r>
              <a:rPr dirty="0"/>
              <a:t> ese </a:t>
            </a:r>
            <a:r>
              <a:rPr dirty="0" err="1"/>
              <a:t>turno</a:t>
            </a:r>
            <a:r>
              <a:rPr dirty="0"/>
              <a:t>.</a:t>
            </a:r>
          </a:p>
          <a:p>
            <a:endParaRPr dirty="0"/>
          </a:p>
          <a:p>
            <a:r>
              <a:rPr dirty="0"/>
              <a:t>El </a:t>
            </a:r>
            <a:r>
              <a:rPr dirty="0" err="1"/>
              <a:t>nodo</a:t>
            </a:r>
            <a:r>
              <a:rPr dirty="0"/>
              <a:t> agent </a:t>
            </a:r>
            <a:r>
              <a:rPr dirty="0" err="1"/>
              <a:t>usa</a:t>
            </a:r>
            <a:r>
              <a:rPr dirty="0"/>
              <a:t> el </a:t>
            </a:r>
            <a:r>
              <a:rPr dirty="0" err="1"/>
              <a:t>modelo</a:t>
            </a:r>
            <a:r>
              <a:rPr dirty="0"/>
              <a:t> principal. </a:t>
            </a:r>
            <a:r>
              <a:rPr dirty="0" err="1"/>
              <a:t>Puede</a:t>
            </a:r>
            <a:r>
              <a:rPr dirty="0"/>
              <a:t> responder sin tools, </a:t>
            </a:r>
            <a:r>
              <a:rPr dirty="0" err="1"/>
              <a:t>emitir</a:t>
            </a:r>
            <a:r>
              <a:rPr dirty="0"/>
              <a:t> tool calls o </a:t>
            </a:r>
            <a:r>
              <a:rPr dirty="0" err="1"/>
              <a:t>producir</a:t>
            </a:r>
            <a:r>
              <a:rPr dirty="0"/>
              <a:t> </a:t>
            </a:r>
            <a:r>
              <a:rPr dirty="0" err="1"/>
              <a:t>una</a:t>
            </a:r>
            <a:r>
              <a:rPr dirty="0"/>
              <a:t> </a:t>
            </a:r>
            <a:r>
              <a:rPr dirty="0" err="1"/>
              <a:t>corrección</a:t>
            </a:r>
            <a:r>
              <a:rPr dirty="0"/>
              <a:t> interna </a:t>
            </a:r>
            <a:r>
              <a:rPr dirty="0" err="1"/>
              <a:t>acotada</a:t>
            </a:r>
            <a:r>
              <a:rPr dirty="0"/>
              <a:t>. La </a:t>
            </a:r>
            <a:r>
              <a:rPr dirty="0" err="1"/>
              <a:t>corrección</a:t>
            </a:r>
            <a:r>
              <a:rPr dirty="0"/>
              <a:t> se </a:t>
            </a:r>
            <a:r>
              <a:rPr dirty="0" err="1"/>
              <a:t>representa</a:t>
            </a:r>
            <a:r>
              <a:rPr dirty="0"/>
              <a:t> </a:t>
            </a:r>
            <a:r>
              <a:rPr dirty="0" err="1"/>
              <a:t>como</a:t>
            </a:r>
            <a:r>
              <a:rPr dirty="0"/>
              <a:t> un self-loop </a:t>
            </a:r>
            <a:r>
              <a:rPr dirty="0" err="1"/>
              <a:t>lógico</a:t>
            </a:r>
            <a:r>
              <a:rPr dirty="0"/>
              <a:t> </a:t>
            </a:r>
            <a:r>
              <a:rPr dirty="0" err="1"/>
              <a:t>sobre</a:t>
            </a:r>
            <a:r>
              <a:rPr dirty="0"/>
              <a:t> agent.</a:t>
            </a:r>
          </a:p>
          <a:p>
            <a:endParaRPr dirty="0"/>
          </a:p>
          <a:p>
            <a:r>
              <a:rPr dirty="0"/>
              <a:t>Cuando hay tool calls y </a:t>
            </a:r>
            <a:r>
              <a:rPr dirty="0" err="1"/>
              <a:t>aún</a:t>
            </a:r>
            <a:r>
              <a:rPr dirty="0"/>
              <a:t> </a:t>
            </a:r>
            <a:r>
              <a:rPr dirty="0" err="1"/>
              <a:t>queda</a:t>
            </a:r>
            <a:r>
              <a:rPr dirty="0"/>
              <a:t> budget, el </a:t>
            </a:r>
            <a:r>
              <a:rPr dirty="0" err="1"/>
              <a:t>flujo</a:t>
            </a:r>
            <a:r>
              <a:rPr dirty="0"/>
              <a:t> </a:t>
            </a:r>
            <a:r>
              <a:rPr dirty="0" err="1"/>
              <a:t>entra</a:t>
            </a:r>
            <a:r>
              <a:rPr dirty="0"/>
              <a:t> en tools. El executor </a:t>
            </a:r>
            <a:r>
              <a:rPr dirty="0" err="1"/>
              <a:t>resuelve</a:t>
            </a:r>
            <a:r>
              <a:rPr dirty="0"/>
              <a:t> </a:t>
            </a:r>
            <a:r>
              <a:rPr dirty="0" err="1"/>
              <a:t>cada</a:t>
            </a:r>
            <a:r>
              <a:rPr dirty="0"/>
              <a:t> tool, </a:t>
            </a:r>
            <a:r>
              <a:rPr dirty="0" err="1"/>
              <a:t>verifica</a:t>
            </a:r>
            <a:r>
              <a:rPr dirty="0"/>
              <a:t> </a:t>
            </a:r>
            <a:r>
              <a:rPr dirty="0" err="1"/>
              <a:t>disponibilidad</a:t>
            </a:r>
            <a:r>
              <a:rPr dirty="0"/>
              <a:t>, </a:t>
            </a:r>
            <a:r>
              <a:rPr dirty="0" err="1"/>
              <a:t>riesgo</a:t>
            </a:r>
            <a:r>
              <a:rPr dirty="0"/>
              <a:t> y policy. Una </a:t>
            </a:r>
            <a:r>
              <a:rPr dirty="0" err="1"/>
              <a:t>operación</a:t>
            </a:r>
            <a:r>
              <a:rPr dirty="0"/>
              <a:t> </a:t>
            </a:r>
            <a:r>
              <a:rPr dirty="0" err="1"/>
              <a:t>protegida</a:t>
            </a:r>
            <a:r>
              <a:rPr dirty="0"/>
              <a:t> </a:t>
            </a:r>
            <a:r>
              <a:rPr dirty="0" err="1"/>
              <a:t>puede</a:t>
            </a:r>
            <a:r>
              <a:rPr dirty="0"/>
              <a:t> </a:t>
            </a:r>
            <a:r>
              <a:rPr dirty="0" err="1"/>
              <a:t>producir</a:t>
            </a:r>
            <a:r>
              <a:rPr dirty="0"/>
              <a:t> interrupt y </a:t>
            </a:r>
            <a:r>
              <a:rPr dirty="0" err="1"/>
              <a:t>dejar</a:t>
            </a:r>
            <a:r>
              <a:rPr dirty="0"/>
              <a:t> el graph en pausa HITL. El </a:t>
            </a:r>
            <a:r>
              <a:rPr dirty="0" err="1"/>
              <a:t>estado</a:t>
            </a:r>
            <a:r>
              <a:rPr dirty="0"/>
              <a:t> </a:t>
            </a:r>
            <a:r>
              <a:rPr dirty="0" err="1"/>
              <a:t>queda</a:t>
            </a:r>
            <a:r>
              <a:rPr dirty="0"/>
              <a:t> en el checkpoint. Al </a:t>
            </a:r>
            <a:r>
              <a:rPr dirty="0" err="1"/>
              <a:t>aprobar</a:t>
            </a:r>
            <a:r>
              <a:rPr dirty="0"/>
              <a:t> o </a:t>
            </a:r>
            <a:r>
              <a:rPr dirty="0" err="1"/>
              <a:t>rechazar</a:t>
            </a:r>
            <a:r>
              <a:rPr dirty="0"/>
              <a:t>, </a:t>
            </a:r>
            <a:r>
              <a:rPr dirty="0" err="1"/>
              <a:t>runAgent</a:t>
            </a:r>
            <a:r>
              <a:rPr dirty="0"/>
              <a:t> </a:t>
            </a:r>
            <a:r>
              <a:rPr dirty="0" err="1"/>
              <a:t>reanuda</a:t>
            </a:r>
            <a:r>
              <a:rPr dirty="0"/>
              <a:t> el </a:t>
            </a:r>
            <a:r>
              <a:rPr dirty="0" err="1"/>
              <a:t>mismo</a:t>
            </a:r>
            <a:r>
              <a:rPr dirty="0"/>
              <a:t> checkpoint y thread. La </a:t>
            </a:r>
            <a:r>
              <a:rPr dirty="0" err="1"/>
              <a:t>confirmación</a:t>
            </a:r>
            <a:r>
              <a:rPr dirty="0"/>
              <a:t> no </a:t>
            </a:r>
            <a:r>
              <a:rPr dirty="0" err="1"/>
              <a:t>reconstruye</a:t>
            </a:r>
            <a:r>
              <a:rPr dirty="0"/>
              <a:t> la </a:t>
            </a:r>
            <a:r>
              <a:rPr dirty="0" err="1"/>
              <a:t>conversación</a:t>
            </a:r>
            <a:r>
              <a:rPr dirty="0"/>
              <a:t> </a:t>
            </a:r>
            <a:r>
              <a:rPr dirty="0" err="1"/>
              <a:t>desde</a:t>
            </a:r>
            <a:r>
              <a:rPr dirty="0"/>
              <a:t> cero.</a:t>
            </a:r>
          </a:p>
          <a:p>
            <a:endParaRPr dirty="0"/>
          </a:p>
          <a:p>
            <a:r>
              <a:rPr dirty="0"/>
              <a:t>Tools </a:t>
            </a:r>
            <a:r>
              <a:rPr dirty="0" err="1"/>
              <a:t>nunca</a:t>
            </a:r>
            <a:r>
              <a:rPr dirty="0"/>
              <a:t> conduce </a:t>
            </a:r>
            <a:r>
              <a:rPr dirty="0" err="1"/>
              <a:t>directamente</a:t>
            </a:r>
            <a:r>
              <a:rPr dirty="0"/>
              <a:t> a END. Todo </a:t>
            </a:r>
            <a:r>
              <a:rPr dirty="0" err="1"/>
              <a:t>resultado</a:t>
            </a:r>
            <a:r>
              <a:rPr dirty="0"/>
              <a:t> se </a:t>
            </a:r>
            <a:r>
              <a:rPr dirty="0" err="1"/>
              <a:t>normaliza</a:t>
            </a:r>
            <a:r>
              <a:rPr dirty="0"/>
              <a:t> </a:t>
            </a:r>
            <a:r>
              <a:rPr dirty="0" err="1"/>
              <a:t>como</a:t>
            </a:r>
            <a:r>
              <a:rPr dirty="0"/>
              <a:t> </a:t>
            </a:r>
            <a:r>
              <a:rPr dirty="0" err="1"/>
              <a:t>ToolMessage</a:t>
            </a:r>
            <a:r>
              <a:rPr dirty="0"/>
              <a:t> y </a:t>
            </a:r>
            <a:r>
              <a:rPr dirty="0" err="1"/>
              <a:t>regresa</a:t>
            </a:r>
            <a:r>
              <a:rPr dirty="0"/>
              <a:t> a compaction. El </a:t>
            </a:r>
            <a:r>
              <a:rPr dirty="0" err="1"/>
              <a:t>agente</a:t>
            </a:r>
            <a:r>
              <a:rPr dirty="0"/>
              <a:t> </a:t>
            </a:r>
            <a:r>
              <a:rPr dirty="0" err="1"/>
              <a:t>necesita</a:t>
            </a:r>
            <a:r>
              <a:rPr dirty="0"/>
              <a:t> </a:t>
            </a:r>
            <a:r>
              <a:rPr dirty="0" err="1"/>
              <a:t>interpretar</a:t>
            </a:r>
            <a:r>
              <a:rPr dirty="0"/>
              <a:t> ese </a:t>
            </a:r>
            <a:r>
              <a:rPr dirty="0" err="1"/>
              <a:t>resultado</a:t>
            </a:r>
            <a:r>
              <a:rPr dirty="0"/>
              <a:t> y </a:t>
            </a:r>
            <a:r>
              <a:rPr dirty="0" err="1"/>
              <a:t>decidir</a:t>
            </a:r>
            <a:r>
              <a:rPr dirty="0"/>
              <a:t> </a:t>
            </a:r>
            <a:r>
              <a:rPr dirty="0" err="1"/>
              <a:t>si</a:t>
            </a:r>
            <a:r>
              <a:rPr dirty="0"/>
              <a:t> </a:t>
            </a:r>
            <a:r>
              <a:rPr dirty="0" err="1"/>
              <a:t>responde</a:t>
            </a:r>
            <a:r>
              <a:rPr dirty="0"/>
              <a:t>, </a:t>
            </a:r>
            <a:r>
              <a:rPr dirty="0" err="1"/>
              <a:t>solicita</a:t>
            </a:r>
            <a:r>
              <a:rPr dirty="0"/>
              <a:t> </a:t>
            </a:r>
            <a:r>
              <a:rPr dirty="0" err="1"/>
              <a:t>otra</a:t>
            </a:r>
            <a:r>
              <a:rPr dirty="0"/>
              <a:t> tool o termina. Esta </a:t>
            </a:r>
            <a:r>
              <a:rPr dirty="0" err="1"/>
              <a:t>transición</a:t>
            </a:r>
            <a:r>
              <a:rPr dirty="0"/>
              <a:t> protege el context budget </a:t>
            </a:r>
            <a:r>
              <a:rPr dirty="0" err="1"/>
              <a:t>porque</a:t>
            </a:r>
            <a:r>
              <a:rPr dirty="0"/>
              <a:t> </a:t>
            </a:r>
            <a:r>
              <a:rPr dirty="0" err="1"/>
              <a:t>los</a:t>
            </a:r>
            <a:r>
              <a:rPr dirty="0"/>
              <a:t> </a:t>
            </a:r>
            <a:r>
              <a:rPr dirty="0" err="1"/>
              <a:t>resultados</a:t>
            </a:r>
            <a:r>
              <a:rPr dirty="0"/>
              <a:t> de </a:t>
            </a:r>
            <a:r>
              <a:rPr dirty="0" err="1"/>
              <a:t>búsquedas</a:t>
            </a:r>
            <a:r>
              <a:rPr dirty="0"/>
              <a:t>, </a:t>
            </a:r>
            <a:r>
              <a:rPr dirty="0" err="1"/>
              <a:t>documentos</a:t>
            </a:r>
            <a:r>
              <a:rPr dirty="0"/>
              <a:t> y APIs </a:t>
            </a:r>
            <a:r>
              <a:rPr dirty="0" err="1"/>
              <a:t>pueden</a:t>
            </a:r>
            <a:r>
              <a:rPr dirty="0"/>
              <a:t> ser </a:t>
            </a:r>
            <a:r>
              <a:rPr dirty="0" err="1"/>
              <a:t>grandes</a:t>
            </a:r>
            <a:r>
              <a:rPr dirty="0"/>
              <a:t>. El </a:t>
            </a:r>
            <a:r>
              <a:rPr dirty="0" err="1"/>
              <a:t>resultado</a:t>
            </a:r>
            <a:r>
              <a:rPr dirty="0"/>
              <a:t> </a:t>
            </a:r>
            <a:r>
              <a:rPr dirty="0" err="1"/>
              <a:t>recién</a:t>
            </a:r>
            <a:r>
              <a:rPr dirty="0"/>
              <a:t> </a:t>
            </a:r>
            <a:r>
              <a:rPr dirty="0" err="1"/>
              <a:t>generado</a:t>
            </a:r>
            <a:r>
              <a:rPr dirty="0"/>
              <a:t> </a:t>
            </a:r>
            <a:r>
              <a:rPr dirty="0" err="1"/>
              <a:t>permanece</a:t>
            </a:r>
            <a:r>
              <a:rPr dirty="0"/>
              <a:t> entre </a:t>
            </a:r>
            <a:r>
              <a:rPr dirty="0" err="1"/>
              <a:t>los</a:t>
            </a:r>
            <a:r>
              <a:rPr dirty="0"/>
              <a:t> </a:t>
            </a:r>
            <a:r>
              <a:rPr dirty="0" err="1"/>
              <a:t>resultados</a:t>
            </a:r>
            <a:r>
              <a:rPr dirty="0"/>
              <a:t> </a:t>
            </a:r>
            <a:r>
              <a:rPr dirty="0" err="1"/>
              <a:t>recientes</a:t>
            </a:r>
            <a:r>
              <a:rPr dirty="0"/>
              <a:t> y </a:t>
            </a:r>
            <a:r>
              <a:rPr dirty="0" err="1"/>
              <a:t>llega</a:t>
            </a:r>
            <a:r>
              <a:rPr dirty="0"/>
              <a:t> </a:t>
            </a:r>
            <a:r>
              <a:rPr dirty="0" err="1"/>
              <a:t>intacto</a:t>
            </a:r>
            <a:r>
              <a:rPr dirty="0"/>
              <a:t> al </a:t>
            </a:r>
            <a:r>
              <a:rPr dirty="0" err="1"/>
              <a:t>agente</a:t>
            </a:r>
            <a:r>
              <a:rPr dirty="0"/>
              <a:t>.</a:t>
            </a:r>
          </a:p>
          <a:p>
            <a:endParaRPr dirty="0"/>
          </a:p>
          <a:p>
            <a:r>
              <a:rPr dirty="0"/>
              <a:t>La </a:t>
            </a:r>
            <a:r>
              <a:rPr dirty="0" err="1"/>
              <a:t>única</a:t>
            </a:r>
            <a:r>
              <a:rPr dirty="0"/>
              <a:t> salida normal del graph </a:t>
            </a:r>
            <a:r>
              <a:rPr dirty="0" err="1"/>
              <a:t>ocurre</a:t>
            </a:r>
            <a:r>
              <a:rPr dirty="0"/>
              <a:t> </a:t>
            </a:r>
            <a:r>
              <a:rPr dirty="0" err="1"/>
              <a:t>desde</a:t>
            </a:r>
            <a:r>
              <a:rPr dirty="0"/>
              <a:t> agent </a:t>
            </a:r>
            <a:r>
              <a:rPr dirty="0" err="1"/>
              <a:t>cuando</a:t>
            </a:r>
            <a:r>
              <a:rPr dirty="0"/>
              <a:t> no </a:t>
            </a:r>
            <a:r>
              <a:rPr dirty="0" err="1"/>
              <a:t>existen</a:t>
            </a:r>
            <a:r>
              <a:rPr dirty="0"/>
              <a:t> tool calls o </a:t>
            </a:r>
            <a:r>
              <a:rPr dirty="0" err="1"/>
              <a:t>cuando</a:t>
            </a:r>
            <a:r>
              <a:rPr dirty="0"/>
              <a:t> se </a:t>
            </a:r>
            <a:r>
              <a:rPr dirty="0" err="1"/>
              <a:t>alcanza</a:t>
            </a:r>
            <a:r>
              <a:rPr dirty="0"/>
              <a:t> MAX_TOOL_ITERATIONS, </a:t>
            </a:r>
            <a:r>
              <a:rPr dirty="0" err="1"/>
              <a:t>actualmente</a:t>
            </a:r>
            <a:r>
              <a:rPr dirty="0"/>
              <a:t> </a:t>
            </a:r>
            <a:r>
              <a:rPr dirty="0" err="1"/>
              <a:t>diez</a:t>
            </a:r>
            <a:r>
              <a:rPr dirty="0"/>
              <a:t>. Si el </a:t>
            </a:r>
            <a:r>
              <a:rPr dirty="0" err="1"/>
              <a:t>límite</a:t>
            </a:r>
            <a:r>
              <a:rPr dirty="0"/>
              <a:t> </a:t>
            </a:r>
            <a:r>
              <a:rPr dirty="0" err="1"/>
              <a:t>llega</a:t>
            </a:r>
            <a:r>
              <a:rPr dirty="0"/>
              <a:t> con </a:t>
            </a:r>
            <a:r>
              <a:rPr dirty="0" err="1"/>
              <a:t>una</a:t>
            </a:r>
            <a:r>
              <a:rPr dirty="0"/>
              <a:t> tool </a:t>
            </a:r>
            <a:r>
              <a:rPr dirty="0" err="1"/>
              <a:t>pendiente</a:t>
            </a:r>
            <a:r>
              <a:rPr dirty="0"/>
              <a:t> y </a:t>
            </a:r>
            <a:r>
              <a:rPr dirty="0" err="1"/>
              <a:t>todavía</a:t>
            </a:r>
            <a:r>
              <a:rPr dirty="0"/>
              <a:t> </a:t>
            </a:r>
            <a:r>
              <a:rPr dirty="0" err="1"/>
              <a:t>hace</a:t>
            </a:r>
            <a:r>
              <a:rPr dirty="0"/>
              <a:t> </a:t>
            </a:r>
            <a:r>
              <a:rPr dirty="0" err="1"/>
              <a:t>falta</a:t>
            </a:r>
            <a:r>
              <a:rPr dirty="0"/>
              <a:t> </a:t>
            </a:r>
            <a:r>
              <a:rPr dirty="0" err="1"/>
              <a:t>una</a:t>
            </a:r>
            <a:r>
              <a:rPr dirty="0"/>
              <a:t> </a:t>
            </a:r>
            <a:r>
              <a:rPr dirty="0" err="1"/>
              <a:t>respuesta</a:t>
            </a:r>
            <a:r>
              <a:rPr dirty="0"/>
              <a:t> legible, el runtime </a:t>
            </a:r>
            <a:r>
              <a:rPr dirty="0" err="1"/>
              <a:t>puede</a:t>
            </a:r>
            <a:r>
              <a:rPr dirty="0"/>
              <a:t> </a:t>
            </a:r>
            <a:r>
              <a:rPr dirty="0" err="1"/>
              <a:t>solicitar</a:t>
            </a:r>
            <a:r>
              <a:rPr dirty="0"/>
              <a:t> fuera del graph un wrap-up al </a:t>
            </a:r>
            <a:r>
              <a:rPr dirty="0" err="1"/>
              <a:t>modelo</a:t>
            </a:r>
            <a:r>
              <a:rPr dirty="0"/>
              <a:t> sin tools. Un retry </a:t>
            </a:r>
            <a:r>
              <a:rPr dirty="0" err="1"/>
              <a:t>nunca</a:t>
            </a:r>
            <a:r>
              <a:rPr dirty="0"/>
              <a:t> </a:t>
            </a:r>
            <a:r>
              <a:rPr dirty="0" err="1"/>
              <a:t>amplía</a:t>
            </a:r>
            <a:r>
              <a:rPr dirty="0"/>
              <a:t> </a:t>
            </a:r>
            <a:r>
              <a:rPr dirty="0" err="1"/>
              <a:t>autoridad</a:t>
            </a:r>
            <a:r>
              <a:rPr dirty="0"/>
              <a:t> </a:t>
            </a:r>
            <a:r>
              <a:rPr dirty="0" err="1"/>
              <a:t>ni</a:t>
            </a:r>
            <a:r>
              <a:rPr dirty="0"/>
              <a:t> </a:t>
            </a:r>
            <a:r>
              <a:rPr dirty="0" err="1"/>
              <a:t>salta</a:t>
            </a:r>
            <a:r>
              <a:rPr dirty="0"/>
              <a:t> HITL.</a:t>
            </a:r>
            <a:endParaRPr lang="es-MX" dirty="0"/>
          </a:p>
          <a:p>
            <a:endParaRPr lang="es-MX" dirty="0"/>
          </a:p>
          <a:p>
            <a:r>
              <a:rPr dirty="0"/>
              <a:t>El checkpoint </a:t>
            </a:r>
            <a:r>
              <a:rPr dirty="0" err="1"/>
              <a:t>pertenece</a:t>
            </a:r>
            <a:r>
              <a:rPr dirty="0"/>
              <a:t> a la </a:t>
            </a:r>
            <a:r>
              <a:rPr dirty="0" err="1"/>
              <a:t>continuidad</a:t>
            </a:r>
            <a:r>
              <a:rPr dirty="0"/>
              <a:t> de </a:t>
            </a:r>
            <a:r>
              <a:rPr dirty="0" err="1"/>
              <a:t>ejecución</a:t>
            </a:r>
            <a:r>
              <a:rPr dirty="0"/>
              <a:t>. Un </a:t>
            </a:r>
            <a:r>
              <a:rPr dirty="0" err="1"/>
              <a:t>turno</a:t>
            </a:r>
            <a:r>
              <a:rPr dirty="0"/>
              <a:t> nuevo </a:t>
            </a:r>
            <a:r>
              <a:rPr dirty="0" err="1"/>
              <a:t>recibe</a:t>
            </a:r>
            <a:r>
              <a:rPr dirty="0"/>
              <a:t> un thread id nuevo. Una </a:t>
            </a:r>
            <a:r>
              <a:rPr dirty="0" err="1"/>
              <a:t>reanudación</a:t>
            </a:r>
            <a:r>
              <a:rPr dirty="0"/>
              <a:t> HITL </a:t>
            </a:r>
            <a:r>
              <a:rPr dirty="0" err="1"/>
              <a:t>reutiliza</a:t>
            </a:r>
            <a:r>
              <a:rPr dirty="0"/>
              <a:t> </a:t>
            </a:r>
            <a:r>
              <a:rPr dirty="0" err="1"/>
              <a:t>checkpointThreadId</a:t>
            </a:r>
            <a:r>
              <a:rPr dirty="0"/>
              <a:t>. El </a:t>
            </a:r>
            <a:r>
              <a:rPr dirty="0" err="1"/>
              <a:t>checkpointer</a:t>
            </a:r>
            <a:r>
              <a:rPr dirty="0"/>
              <a:t> </a:t>
            </a:r>
            <a:r>
              <a:rPr dirty="0" err="1"/>
              <a:t>usa</a:t>
            </a:r>
            <a:r>
              <a:rPr dirty="0"/>
              <a:t> Postgres </a:t>
            </a:r>
            <a:r>
              <a:rPr dirty="0" err="1"/>
              <a:t>cuando</a:t>
            </a:r>
            <a:r>
              <a:rPr dirty="0"/>
              <a:t> </a:t>
            </a:r>
            <a:r>
              <a:rPr dirty="0" err="1"/>
              <a:t>está</a:t>
            </a:r>
            <a:r>
              <a:rPr dirty="0"/>
              <a:t> disponible y </a:t>
            </a:r>
            <a:r>
              <a:rPr dirty="0" err="1"/>
              <a:t>puede</a:t>
            </a:r>
            <a:r>
              <a:rPr dirty="0"/>
              <a:t> </a:t>
            </a:r>
            <a:r>
              <a:rPr dirty="0" err="1"/>
              <a:t>degradar</a:t>
            </a:r>
            <a:r>
              <a:rPr dirty="0"/>
              <a:t> a memoria de </a:t>
            </a:r>
            <a:r>
              <a:rPr dirty="0" err="1"/>
              <a:t>proceso</a:t>
            </a:r>
            <a:r>
              <a:rPr dirty="0"/>
              <a:t> en </a:t>
            </a:r>
            <a:r>
              <a:rPr dirty="0" err="1"/>
              <a:t>otros</a:t>
            </a:r>
            <a:r>
              <a:rPr dirty="0"/>
              <a:t> </a:t>
            </a:r>
            <a:r>
              <a:rPr dirty="0" err="1"/>
              <a:t>entornos</a:t>
            </a:r>
            <a:r>
              <a:rPr dirty="0"/>
              <a:t>.</a:t>
            </a:r>
          </a:p>
          <a:p>
            <a:endParaRPr dirty="0"/>
          </a:p>
          <a:p>
            <a:r>
              <a:rPr dirty="0"/>
              <a:t>Cierre </a:t>
            </a:r>
            <a:r>
              <a:rPr dirty="0" err="1"/>
              <a:t>distinguiendo</a:t>
            </a:r>
            <a:r>
              <a:rPr dirty="0"/>
              <a:t> </a:t>
            </a:r>
            <a:r>
              <a:rPr dirty="0" err="1"/>
              <a:t>escalas</a:t>
            </a:r>
            <a:r>
              <a:rPr dirty="0"/>
              <a:t>. El memory flush post-turn, </a:t>
            </a:r>
            <a:r>
              <a:rPr dirty="0" err="1"/>
              <a:t>los</a:t>
            </a:r>
            <a:r>
              <a:rPr dirty="0"/>
              <a:t> loops de Cases y Work Items y el wrap-up </a:t>
            </a:r>
            <a:r>
              <a:rPr dirty="0" err="1"/>
              <a:t>forzado</a:t>
            </a:r>
            <a:r>
              <a:rPr dirty="0"/>
              <a:t> no </a:t>
            </a:r>
            <a:r>
              <a:rPr dirty="0" err="1"/>
              <a:t>forman</a:t>
            </a:r>
            <a:r>
              <a:rPr dirty="0"/>
              <a:t> </a:t>
            </a:r>
            <a:r>
              <a:rPr dirty="0" err="1"/>
              <a:t>nodos</a:t>
            </a:r>
            <a:r>
              <a:rPr dirty="0"/>
              <a:t> de </a:t>
            </a:r>
            <a:r>
              <a:rPr dirty="0" err="1"/>
              <a:t>este</a:t>
            </a:r>
            <a:r>
              <a:rPr dirty="0"/>
              <a:t> </a:t>
            </a:r>
            <a:r>
              <a:rPr dirty="0" err="1"/>
              <a:t>StateGraph</a:t>
            </a:r>
            <a:r>
              <a:rPr dirty="0"/>
              <a:t>.</a:t>
            </a:r>
          </a:p>
          <a:p>
            <a:endParaRPr dirty="0"/>
          </a:p>
          <a:p>
            <a:r>
              <a:rPr dirty="0"/>
              <a:t>[GLOSARIO]</a:t>
            </a:r>
          </a:p>
          <a:p>
            <a:pPr marL="171450" indent="-171450">
              <a:buFont typeface="Arial" panose="020B0604020202020204" pitchFamily="34" charset="0"/>
              <a:buChar char="•"/>
            </a:pPr>
            <a:r>
              <a:rPr dirty="0" err="1"/>
              <a:t>StateGraph</a:t>
            </a:r>
            <a:r>
              <a:rPr dirty="0"/>
              <a:t>: </a:t>
            </a:r>
            <a:r>
              <a:rPr dirty="0" err="1"/>
              <a:t>máquina</a:t>
            </a:r>
            <a:r>
              <a:rPr dirty="0"/>
              <a:t> de </a:t>
            </a:r>
            <a:r>
              <a:rPr dirty="0" err="1"/>
              <a:t>estados</a:t>
            </a:r>
            <a:r>
              <a:rPr dirty="0"/>
              <a:t> </a:t>
            </a:r>
            <a:r>
              <a:rPr dirty="0" err="1"/>
              <a:t>que</a:t>
            </a:r>
            <a:r>
              <a:rPr dirty="0"/>
              <a:t> </a:t>
            </a:r>
            <a:r>
              <a:rPr dirty="0" err="1"/>
              <a:t>organiza</a:t>
            </a:r>
            <a:r>
              <a:rPr dirty="0"/>
              <a:t> </a:t>
            </a:r>
            <a:r>
              <a:rPr dirty="0" err="1"/>
              <a:t>nodos</a:t>
            </a:r>
            <a:r>
              <a:rPr dirty="0"/>
              <a:t> y </a:t>
            </a:r>
            <a:r>
              <a:rPr dirty="0" err="1"/>
              <a:t>transiciones</a:t>
            </a:r>
            <a:r>
              <a:rPr dirty="0"/>
              <a:t> del </a:t>
            </a:r>
            <a:r>
              <a:rPr dirty="0" err="1"/>
              <a:t>turno</a:t>
            </a:r>
            <a:r>
              <a:rPr dirty="0"/>
              <a:t>.</a:t>
            </a:r>
          </a:p>
          <a:p>
            <a:pPr marL="171450" indent="-171450">
              <a:buFont typeface="Arial" panose="020B0604020202020204" pitchFamily="34" charset="0"/>
              <a:buChar char="•"/>
            </a:pPr>
            <a:r>
              <a:rPr dirty="0" err="1"/>
              <a:t>SystemMessage</a:t>
            </a:r>
            <a:r>
              <a:rPr dirty="0"/>
              <a:t>: </a:t>
            </a:r>
            <a:r>
              <a:rPr dirty="0" err="1"/>
              <a:t>instrucciones</a:t>
            </a:r>
            <a:r>
              <a:rPr dirty="0"/>
              <a:t> y </a:t>
            </a:r>
            <a:r>
              <a:rPr dirty="0" err="1"/>
              <a:t>contexto</a:t>
            </a:r>
            <a:r>
              <a:rPr dirty="0"/>
              <a:t> de mayor </a:t>
            </a:r>
            <a:r>
              <a:rPr dirty="0" err="1"/>
              <a:t>precedencia</a:t>
            </a:r>
            <a:r>
              <a:rPr dirty="0"/>
              <a:t> </a:t>
            </a:r>
            <a:r>
              <a:rPr dirty="0" err="1"/>
              <a:t>que</a:t>
            </a:r>
            <a:r>
              <a:rPr dirty="0"/>
              <a:t> </a:t>
            </a:r>
            <a:r>
              <a:rPr dirty="0" err="1"/>
              <a:t>recibe</a:t>
            </a:r>
            <a:r>
              <a:rPr dirty="0"/>
              <a:t> el </a:t>
            </a:r>
            <a:r>
              <a:rPr dirty="0" err="1"/>
              <a:t>modelo</a:t>
            </a:r>
            <a:r>
              <a:rPr dirty="0"/>
              <a:t>.</a:t>
            </a:r>
          </a:p>
          <a:p>
            <a:pPr marL="171450" indent="-171450">
              <a:buFont typeface="Arial" panose="020B0604020202020204" pitchFamily="34" charset="0"/>
              <a:buChar char="•"/>
            </a:pPr>
            <a:r>
              <a:rPr dirty="0" err="1"/>
              <a:t>ToolMessage</a:t>
            </a:r>
            <a:r>
              <a:rPr dirty="0"/>
              <a:t>: </a:t>
            </a:r>
            <a:r>
              <a:rPr dirty="0" err="1"/>
              <a:t>resultado</a:t>
            </a:r>
            <a:r>
              <a:rPr dirty="0"/>
              <a:t> </a:t>
            </a:r>
            <a:r>
              <a:rPr dirty="0" err="1"/>
              <a:t>estructurado</a:t>
            </a:r>
            <a:r>
              <a:rPr dirty="0"/>
              <a:t> de </a:t>
            </a:r>
            <a:r>
              <a:rPr dirty="0" err="1"/>
              <a:t>una</a:t>
            </a:r>
            <a:r>
              <a:rPr dirty="0"/>
              <a:t> tool </a:t>
            </a:r>
            <a:r>
              <a:rPr dirty="0" err="1"/>
              <a:t>incorporado</a:t>
            </a:r>
            <a:r>
              <a:rPr dirty="0"/>
              <a:t> al </a:t>
            </a:r>
            <a:r>
              <a:rPr dirty="0" err="1"/>
              <a:t>historial</a:t>
            </a:r>
            <a:r>
              <a:rPr dirty="0"/>
              <a:t>.</a:t>
            </a:r>
          </a:p>
          <a:p>
            <a:pPr marL="171450" indent="-171450">
              <a:buFont typeface="Arial" panose="020B0604020202020204" pitchFamily="34" charset="0"/>
              <a:buChar char="•"/>
            </a:pPr>
            <a:r>
              <a:rPr dirty="0"/>
              <a:t>HITL: Human in the Loop; pausa </a:t>
            </a:r>
            <a:r>
              <a:rPr dirty="0" err="1"/>
              <a:t>que</a:t>
            </a:r>
            <a:r>
              <a:rPr dirty="0"/>
              <a:t> </a:t>
            </a:r>
            <a:r>
              <a:rPr dirty="0" err="1"/>
              <a:t>requiere</a:t>
            </a:r>
            <a:r>
              <a:rPr dirty="0"/>
              <a:t> </a:t>
            </a:r>
            <a:r>
              <a:rPr dirty="0" err="1"/>
              <a:t>decisión</a:t>
            </a:r>
            <a:r>
              <a:rPr dirty="0"/>
              <a:t> humana.</a:t>
            </a:r>
          </a:p>
          <a:p>
            <a:pPr marL="171450" indent="-171450">
              <a:buFont typeface="Arial" panose="020B0604020202020204" pitchFamily="34" charset="0"/>
              <a:buChar char="•"/>
            </a:pPr>
            <a:r>
              <a:rPr dirty="0"/>
              <a:t>Checkpoint: snapshot durable </a:t>
            </a:r>
            <a:r>
              <a:rPr dirty="0" err="1"/>
              <a:t>que</a:t>
            </a:r>
            <a:r>
              <a:rPr dirty="0"/>
              <a:t> </a:t>
            </a:r>
            <a:r>
              <a:rPr dirty="0" err="1"/>
              <a:t>permite</a:t>
            </a:r>
            <a:r>
              <a:rPr dirty="0"/>
              <a:t> </a:t>
            </a:r>
            <a:r>
              <a:rPr dirty="0" err="1"/>
              <a:t>reanudar</a:t>
            </a:r>
            <a:r>
              <a:rPr dirty="0"/>
              <a:t> </a:t>
            </a:r>
            <a:r>
              <a:rPr dirty="0" err="1"/>
              <a:t>una</a:t>
            </a:r>
            <a:r>
              <a:rPr dirty="0"/>
              <a:t> </a:t>
            </a:r>
            <a:r>
              <a:rPr dirty="0" err="1"/>
              <a:t>ejecución</a:t>
            </a:r>
            <a:r>
              <a:rPr dirty="0"/>
              <a:t>.</a:t>
            </a:r>
          </a:p>
          <a:p>
            <a:pPr marL="171450" indent="-171450">
              <a:buFont typeface="Arial" panose="020B0604020202020204" pitchFamily="34" charset="0"/>
              <a:buChar char="•"/>
            </a:pPr>
            <a:r>
              <a:rPr dirty="0"/>
              <a:t>Thread id: </a:t>
            </a:r>
            <a:r>
              <a:rPr dirty="0" err="1"/>
              <a:t>identificador</a:t>
            </a:r>
            <a:r>
              <a:rPr dirty="0"/>
              <a:t> de la </a:t>
            </a:r>
            <a:r>
              <a:rPr dirty="0" err="1"/>
              <a:t>ejecución</a:t>
            </a:r>
            <a:r>
              <a:rPr dirty="0"/>
              <a:t> </a:t>
            </a:r>
            <a:r>
              <a:rPr dirty="0" err="1"/>
              <a:t>asociada</a:t>
            </a:r>
            <a:r>
              <a:rPr dirty="0"/>
              <a:t> al checkpoint.</a:t>
            </a:r>
          </a:p>
          <a:p>
            <a:pPr marL="171450" indent="-171450">
              <a:buFont typeface="Arial" panose="020B0604020202020204" pitchFamily="34" charset="0"/>
              <a:buChar char="•"/>
            </a:pPr>
            <a:r>
              <a:rPr dirty="0" err="1"/>
              <a:t>Microcompaction</a:t>
            </a:r>
            <a:r>
              <a:rPr dirty="0"/>
              <a:t>: </a:t>
            </a:r>
            <a:r>
              <a:rPr dirty="0" err="1"/>
              <a:t>limpieza</a:t>
            </a:r>
            <a:r>
              <a:rPr dirty="0"/>
              <a:t> </a:t>
            </a:r>
            <a:r>
              <a:rPr dirty="0" err="1"/>
              <a:t>determinística</a:t>
            </a:r>
            <a:r>
              <a:rPr dirty="0"/>
              <a:t> de </a:t>
            </a:r>
            <a:r>
              <a:rPr dirty="0" err="1"/>
              <a:t>resultados</a:t>
            </a:r>
            <a:r>
              <a:rPr dirty="0"/>
              <a:t> </a:t>
            </a:r>
            <a:r>
              <a:rPr dirty="0" err="1"/>
              <a:t>antiguos</a:t>
            </a:r>
            <a:r>
              <a:rPr dirty="0"/>
              <a:t> de tools.</a:t>
            </a:r>
          </a:p>
          <a:p>
            <a:pPr marL="171450" indent="-171450">
              <a:buFont typeface="Arial" panose="020B0604020202020204" pitchFamily="34" charset="0"/>
              <a:buChar char="•"/>
            </a:pPr>
            <a:r>
              <a:rPr dirty="0"/>
              <a:t>LLM compaction: </a:t>
            </a:r>
            <a:r>
              <a:rPr dirty="0" err="1"/>
              <a:t>resumen</a:t>
            </a:r>
            <a:r>
              <a:rPr dirty="0"/>
              <a:t> </a:t>
            </a:r>
            <a:r>
              <a:rPr dirty="0" err="1"/>
              <a:t>condicional</a:t>
            </a:r>
            <a:r>
              <a:rPr dirty="0"/>
              <a:t> del </a:t>
            </a:r>
            <a:r>
              <a:rPr dirty="0" err="1"/>
              <a:t>historial</a:t>
            </a:r>
            <a:r>
              <a:rPr dirty="0"/>
              <a:t> </a:t>
            </a:r>
            <a:r>
              <a:rPr dirty="0" err="1"/>
              <a:t>mediante</a:t>
            </a:r>
            <a:r>
              <a:rPr dirty="0"/>
              <a:t> un </a:t>
            </a:r>
            <a:r>
              <a:rPr dirty="0" err="1"/>
              <a:t>modelo</a:t>
            </a:r>
            <a:r>
              <a:rPr dirty="0"/>
              <a:t>.</a:t>
            </a:r>
          </a:p>
          <a:p>
            <a:pPr marL="171450" indent="-171450">
              <a:buFont typeface="Arial" panose="020B0604020202020204" pitchFamily="34" charset="0"/>
              <a:buChar char="•"/>
            </a:pPr>
            <a:r>
              <a:rPr dirty="0"/>
              <a:t>Circuit breaker: </a:t>
            </a:r>
            <a:r>
              <a:rPr dirty="0" err="1"/>
              <a:t>suspensión</a:t>
            </a:r>
            <a:r>
              <a:rPr dirty="0"/>
              <a:t> de </a:t>
            </a:r>
            <a:r>
              <a:rPr dirty="0" err="1"/>
              <a:t>intentos</a:t>
            </a:r>
            <a:r>
              <a:rPr dirty="0"/>
              <a:t> </a:t>
            </a:r>
            <a:r>
              <a:rPr dirty="0" err="1"/>
              <a:t>tras</a:t>
            </a:r>
            <a:r>
              <a:rPr dirty="0"/>
              <a:t> </a:t>
            </a:r>
            <a:r>
              <a:rPr dirty="0" err="1"/>
              <a:t>varios</a:t>
            </a:r>
            <a:r>
              <a:rPr dirty="0"/>
              <a:t> </a:t>
            </a:r>
            <a:r>
              <a:rPr dirty="0" err="1"/>
              <a:t>fallos</a:t>
            </a:r>
            <a:r>
              <a:rPr dirty="0"/>
              <a:t> </a:t>
            </a:r>
            <a:r>
              <a:rPr dirty="0" err="1"/>
              <a:t>consecutivos</a:t>
            </a:r>
            <a:r>
              <a:rPr dirty="0"/>
              <a:t>.</a:t>
            </a:r>
          </a:p>
          <a:p>
            <a:pPr marL="171450" indent="-171450">
              <a:buFont typeface="Arial" panose="020B0604020202020204" pitchFamily="34" charset="0"/>
              <a:buChar char="•"/>
            </a:pPr>
            <a:r>
              <a:rPr dirty="0"/>
              <a:t>Wrap-up: </a:t>
            </a:r>
            <a:r>
              <a:rPr dirty="0" err="1"/>
              <a:t>respuesta</a:t>
            </a:r>
            <a:r>
              <a:rPr dirty="0"/>
              <a:t> final </a:t>
            </a:r>
            <a:r>
              <a:rPr dirty="0" err="1"/>
              <a:t>generada</a:t>
            </a:r>
            <a:r>
              <a:rPr dirty="0"/>
              <a:t> sin tools </a:t>
            </a:r>
            <a:r>
              <a:rPr dirty="0" err="1"/>
              <a:t>cuando</a:t>
            </a:r>
            <a:r>
              <a:rPr dirty="0"/>
              <a:t> el loop </a:t>
            </a:r>
            <a:r>
              <a:rPr dirty="0" err="1"/>
              <a:t>llegó</a:t>
            </a:r>
            <a:r>
              <a:rPr dirty="0"/>
              <a:t> a </a:t>
            </a:r>
            <a:r>
              <a:rPr dirty="0" err="1"/>
              <a:t>su</a:t>
            </a:r>
            <a:r>
              <a:rPr dirty="0"/>
              <a:t> </a:t>
            </a:r>
            <a:r>
              <a:rPr dirty="0" err="1"/>
              <a:t>límite</a:t>
            </a:r>
            <a:r>
              <a:rPr dirty="0"/>
              <a:t>.</a:t>
            </a:r>
          </a:p>
          <a:p>
            <a:endParaRPr dirty="0"/>
          </a:p>
          <a:p>
            <a:r>
              <a:rPr dirty="0"/>
              <a:t>[FUENTES]</a:t>
            </a:r>
          </a:p>
          <a:p>
            <a:r>
              <a:rPr dirty="0"/>
              <a:t>- packages/agent/</a:t>
            </a:r>
            <a:r>
              <a:rPr dirty="0" err="1"/>
              <a:t>src</a:t>
            </a:r>
            <a:r>
              <a:rPr dirty="0"/>
              <a:t>/</a:t>
            </a:r>
            <a:r>
              <a:rPr dirty="0" err="1"/>
              <a:t>graph.ts</a:t>
            </a:r>
            <a:endParaRPr dirty="0"/>
          </a:p>
          <a:p>
            <a:r>
              <a:rPr dirty="0"/>
              <a:t>- packages/agent/</a:t>
            </a:r>
            <a:r>
              <a:rPr dirty="0" err="1"/>
              <a:t>src</a:t>
            </a:r>
            <a:r>
              <a:rPr dirty="0"/>
              <a:t>/nodes/</a:t>
            </a:r>
            <a:r>
              <a:rPr dirty="0" err="1"/>
              <a:t>memory_injection_node.ts</a:t>
            </a:r>
            <a:endParaRPr dirty="0"/>
          </a:p>
          <a:p>
            <a:r>
              <a:rPr dirty="0"/>
              <a:t>- packages/agent/</a:t>
            </a:r>
            <a:r>
              <a:rPr dirty="0" err="1"/>
              <a:t>src</a:t>
            </a:r>
            <a:r>
              <a:rPr dirty="0"/>
              <a:t>/nodes/</a:t>
            </a:r>
            <a:r>
              <a:rPr dirty="0" err="1"/>
              <a:t>compaction_node.ts</a:t>
            </a:r>
            <a:endParaRPr dirty="0"/>
          </a:p>
          <a:p>
            <a:r>
              <a:rPr dirty="0"/>
              <a:t>- packages/agent/</a:t>
            </a:r>
            <a:r>
              <a:rPr dirty="0" err="1"/>
              <a:t>src</a:t>
            </a:r>
            <a:r>
              <a:rPr dirty="0"/>
              <a:t>/</a:t>
            </a:r>
            <a:r>
              <a:rPr dirty="0" err="1"/>
              <a:t>checkpointer.ts</a:t>
            </a:r>
            <a:endParaRPr dirty="0"/>
          </a:p>
          <a:p>
            <a:r>
              <a:rPr dirty="0"/>
              <a:t>- docs/architecture.md § Graph y loops del </a:t>
            </a:r>
            <a:r>
              <a:rPr dirty="0" err="1"/>
              <a:t>agente</a:t>
            </a:r>
            <a:endParaRPr dirty="0"/>
          </a:p>
          <a:p>
            <a:r>
              <a:rPr dirty="0"/>
              <a:t>- docs/manuals/architecture-manual.md §§ 4–7</a:t>
            </a:r>
          </a:p>
          <a:p>
            <a:r>
              <a:rPr dirty="0"/>
              <a:t>- Baseline: </a:t>
            </a:r>
            <a:r>
              <a:rPr dirty="0" err="1"/>
              <a:t>janotowers</a:t>
            </a:r>
            <a:r>
              <a:rPr dirty="0"/>
              <a:t>/Gu-OS main @ 5a6fbb05117042e1f7c47c911e0e2bc14d068340 · </a:t>
            </a:r>
            <a:r>
              <a:rPr dirty="0" err="1"/>
              <a:t>verificado</a:t>
            </a:r>
            <a:r>
              <a:rPr dirty="0"/>
              <a:t> 11 </a:t>
            </a:r>
            <a:r>
              <a:rPr dirty="0" err="1"/>
              <a:t>septiembre</a:t>
            </a:r>
            <a:r>
              <a:rPr dirty="0"/>
              <a: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t>[Sources]</a:t>
            </a:r>
          </a:p>
          <a:p>
            <a:r>
              <a:t>- Gu_OS_Agent_Runtime_and_Harness_Guide_v0.1.docx</a:t>
            </a:r>
          </a:p>
          <a:p>
            <a:r>
              <a:t>- docs/architecture.md</a:t>
            </a:r>
          </a:p>
          <a:p>
            <a:r>
              <a:t>- docs/manuals/architecture-manual.md</a:t>
            </a:r>
          </a:p>
          <a:p>
            <a:r>
              <a:t>- packages/agent/src/graph.ts</a:t>
            </a:r>
          </a:p>
          <a:p>
            <a:r>
              <a:t>- packages/agent/src/model.ts</a:t>
            </a:r>
          </a:p>
          <a:p>
            <a:r>
              <a:t>- packages/agent/src/memory_flush.ts</a:t>
            </a:r>
          </a:p>
          <a:p>
            <a:r>
              <a:t>- packages/agent/src/tools/catalog.ts</a:t>
            </a:r>
          </a:p>
          <a:p>
            <a: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[UBICACIÓN RECOMENDADA]</a:t>
            </a:r>
          </a:p>
          <a:p>
            <a:r>
              <a:rPr dirty="0"/>
              <a:t>Session 3B · </a:t>
            </a:r>
            <a:r>
              <a:rPr dirty="0" err="1"/>
              <a:t>insertar</a:t>
            </a:r>
            <a:r>
              <a:rPr dirty="0"/>
              <a:t> </a:t>
            </a:r>
            <a:r>
              <a:rPr dirty="0" err="1"/>
              <a:t>después</a:t>
            </a:r>
            <a:r>
              <a:rPr dirty="0"/>
              <a:t> de la </a:t>
            </a:r>
            <a:r>
              <a:rPr dirty="0" err="1"/>
              <a:t>lámina</a:t>
            </a:r>
            <a:r>
              <a:rPr dirty="0"/>
              <a:t> original 4. </a:t>
            </a:r>
            <a:r>
              <a:rPr dirty="0" err="1"/>
              <a:t>Complementa</a:t>
            </a:r>
            <a:r>
              <a:rPr dirty="0"/>
              <a:t>, </a:t>
            </a:r>
            <a:r>
              <a:rPr dirty="0" err="1"/>
              <a:t>pero</a:t>
            </a:r>
            <a:r>
              <a:rPr dirty="0"/>
              <a:t> no </a:t>
            </a:r>
            <a:r>
              <a:rPr dirty="0" err="1"/>
              <a:t>necesariamente</a:t>
            </a:r>
            <a:r>
              <a:rPr dirty="0"/>
              <a:t> </a:t>
            </a:r>
            <a:r>
              <a:rPr dirty="0" err="1"/>
              <a:t>reemplaza</a:t>
            </a:r>
            <a:r>
              <a:rPr dirty="0"/>
              <a:t>, 02_S3B_Model_Portfolio_Current_Runtime_v1.0.</a:t>
            </a:r>
          </a:p>
          <a:p>
            <a:endParaRPr dirty="0"/>
          </a:p>
          <a:p>
            <a:r>
              <a:rPr dirty="0"/>
              <a:t>[PROPÓSITO]</a:t>
            </a:r>
          </a:p>
          <a:p>
            <a:r>
              <a:rPr dirty="0" err="1"/>
              <a:t>Relacionar</a:t>
            </a:r>
            <a:r>
              <a:rPr dirty="0"/>
              <a:t> las </a:t>
            </a:r>
            <a:r>
              <a:rPr dirty="0" err="1"/>
              <a:t>llamadas</a:t>
            </a:r>
            <a:r>
              <a:rPr dirty="0"/>
              <a:t> a </a:t>
            </a:r>
            <a:r>
              <a:rPr dirty="0" err="1"/>
              <a:t>modelos</a:t>
            </a:r>
            <a:r>
              <a:rPr dirty="0"/>
              <a:t> con el lifecycle real del </a:t>
            </a:r>
            <a:r>
              <a:rPr dirty="0" err="1"/>
              <a:t>turno</a:t>
            </a:r>
            <a:r>
              <a:rPr dirty="0"/>
              <a:t> y </a:t>
            </a:r>
            <a:r>
              <a:rPr dirty="0" err="1"/>
              <a:t>eliminar</a:t>
            </a:r>
            <a:r>
              <a:rPr dirty="0"/>
              <a:t> la idea de </a:t>
            </a:r>
            <a:r>
              <a:rPr dirty="0" err="1"/>
              <a:t>que</a:t>
            </a:r>
            <a:r>
              <a:rPr dirty="0"/>
              <a:t> </a:t>
            </a:r>
            <a:r>
              <a:rPr dirty="0" err="1"/>
              <a:t>existe</a:t>
            </a:r>
            <a:r>
              <a:rPr dirty="0"/>
              <a:t> un solo LLM o </a:t>
            </a:r>
            <a:r>
              <a:rPr dirty="0" err="1"/>
              <a:t>que</a:t>
            </a:r>
            <a:r>
              <a:rPr dirty="0"/>
              <a:t> </a:t>
            </a:r>
            <a:r>
              <a:rPr dirty="0" err="1"/>
              <a:t>cada</a:t>
            </a:r>
            <a:r>
              <a:rPr dirty="0"/>
              <a:t> </a:t>
            </a:r>
            <a:r>
              <a:rPr dirty="0" err="1"/>
              <a:t>modelo</a:t>
            </a:r>
            <a:r>
              <a:rPr dirty="0"/>
              <a:t> </a:t>
            </a:r>
            <a:r>
              <a:rPr dirty="0" err="1"/>
              <a:t>corresponde</a:t>
            </a:r>
            <a:r>
              <a:rPr dirty="0"/>
              <a:t> a un </a:t>
            </a:r>
            <a:r>
              <a:rPr dirty="0" err="1"/>
              <a:t>nodo</a:t>
            </a:r>
            <a:r>
              <a:rPr dirty="0"/>
              <a:t>.</a:t>
            </a:r>
          </a:p>
          <a:p>
            <a:endParaRPr dirty="0"/>
          </a:p>
          <a:p>
            <a:r>
              <a:rPr dirty="0"/>
              <a:t>[GUION DIDÁCTICO]</a:t>
            </a:r>
          </a:p>
          <a:p>
            <a:r>
              <a:rPr dirty="0" err="1"/>
              <a:t>Presente</a:t>
            </a:r>
            <a:r>
              <a:rPr dirty="0"/>
              <a:t> la </a:t>
            </a:r>
            <a:r>
              <a:rPr dirty="0" err="1"/>
              <a:t>distinción</a:t>
            </a:r>
            <a:r>
              <a:rPr dirty="0"/>
              <a:t> entre </a:t>
            </a:r>
            <a:r>
              <a:rPr dirty="0" err="1"/>
              <a:t>modelo</a:t>
            </a:r>
            <a:r>
              <a:rPr dirty="0"/>
              <a:t>, </a:t>
            </a:r>
            <a:r>
              <a:rPr dirty="0" err="1"/>
              <a:t>nodo</a:t>
            </a:r>
            <a:r>
              <a:rPr dirty="0"/>
              <a:t>, tool y </a:t>
            </a:r>
            <a:r>
              <a:rPr dirty="0" err="1"/>
              <a:t>subsistema</a:t>
            </a:r>
            <a:r>
              <a:rPr dirty="0"/>
              <a:t>. Un </a:t>
            </a:r>
            <a:r>
              <a:rPr dirty="0" err="1"/>
              <a:t>modelo</a:t>
            </a:r>
            <a:r>
              <a:rPr dirty="0"/>
              <a:t> es </a:t>
            </a:r>
            <a:r>
              <a:rPr dirty="0" err="1"/>
              <a:t>una</a:t>
            </a:r>
            <a:r>
              <a:rPr dirty="0"/>
              <a:t> </a:t>
            </a:r>
            <a:r>
              <a:rPr dirty="0" err="1"/>
              <a:t>capacidad</a:t>
            </a:r>
            <a:r>
              <a:rPr dirty="0"/>
              <a:t> </a:t>
            </a:r>
            <a:r>
              <a:rPr dirty="0" err="1"/>
              <a:t>probabilística</a:t>
            </a:r>
            <a:r>
              <a:rPr dirty="0"/>
              <a:t>. Un </a:t>
            </a:r>
            <a:r>
              <a:rPr dirty="0" err="1"/>
              <a:t>nodo</a:t>
            </a:r>
            <a:r>
              <a:rPr dirty="0"/>
              <a:t> es </a:t>
            </a:r>
            <a:r>
              <a:rPr dirty="0" err="1"/>
              <a:t>una</a:t>
            </a:r>
            <a:r>
              <a:rPr dirty="0"/>
              <a:t> </a:t>
            </a:r>
            <a:r>
              <a:rPr dirty="0" err="1"/>
              <a:t>etapa</a:t>
            </a:r>
            <a:r>
              <a:rPr dirty="0"/>
              <a:t> del graph. Una tool es un </a:t>
            </a:r>
            <a:r>
              <a:rPr dirty="0" err="1"/>
              <a:t>contrato</a:t>
            </a:r>
            <a:r>
              <a:rPr dirty="0"/>
              <a:t> de </a:t>
            </a:r>
            <a:r>
              <a:rPr dirty="0" err="1"/>
              <a:t>capacidad</a:t>
            </a:r>
            <a:r>
              <a:rPr dirty="0"/>
              <a:t>. Un </a:t>
            </a:r>
            <a:r>
              <a:rPr dirty="0" err="1"/>
              <a:t>subsistema</a:t>
            </a:r>
            <a:r>
              <a:rPr dirty="0"/>
              <a:t> </a:t>
            </a:r>
            <a:r>
              <a:rPr dirty="0" err="1"/>
              <a:t>puede</a:t>
            </a:r>
            <a:r>
              <a:rPr dirty="0"/>
              <a:t> </a:t>
            </a:r>
            <a:r>
              <a:rPr dirty="0" err="1"/>
              <a:t>contener</a:t>
            </a:r>
            <a:r>
              <a:rPr dirty="0"/>
              <a:t> </a:t>
            </a:r>
            <a:r>
              <a:rPr dirty="0" err="1"/>
              <a:t>varios</a:t>
            </a:r>
            <a:r>
              <a:rPr dirty="0"/>
              <a:t> de </a:t>
            </a:r>
            <a:r>
              <a:rPr dirty="0" err="1"/>
              <a:t>los</a:t>
            </a:r>
            <a:r>
              <a:rPr dirty="0"/>
              <a:t> </a:t>
            </a:r>
            <a:r>
              <a:rPr dirty="0" err="1"/>
              <a:t>anteriores</a:t>
            </a:r>
            <a:r>
              <a:rPr dirty="0"/>
              <a:t>.</a:t>
            </a:r>
          </a:p>
          <a:p>
            <a:endParaRPr dirty="0"/>
          </a:p>
          <a:p>
            <a:r>
              <a:rPr dirty="0"/>
              <a:t>Antes del </a:t>
            </a:r>
            <a:r>
              <a:rPr dirty="0" err="1"/>
              <a:t>StateGraph</a:t>
            </a:r>
            <a:r>
              <a:rPr dirty="0"/>
              <a:t> </a:t>
            </a:r>
            <a:r>
              <a:rPr dirty="0" err="1"/>
              <a:t>pueden</a:t>
            </a:r>
            <a:r>
              <a:rPr dirty="0"/>
              <a:t> </a:t>
            </a:r>
            <a:r>
              <a:rPr dirty="0" err="1"/>
              <a:t>ocurrir</a:t>
            </a:r>
            <a:r>
              <a:rPr dirty="0"/>
              <a:t> </a:t>
            </a:r>
            <a:r>
              <a:rPr dirty="0" err="1"/>
              <a:t>llamadas</a:t>
            </a:r>
            <a:r>
              <a:rPr dirty="0"/>
              <a:t> </a:t>
            </a:r>
            <a:r>
              <a:rPr dirty="0" err="1"/>
              <a:t>condicionales</a:t>
            </a:r>
            <a:r>
              <a:rPr dirty="0"/>
              <a:t>. El intent decomposer </a:t>
            </a:r>
            <a:r>
              <a:rPr dirty="0" err="1"/>
              <a:t>ayuda</a:t>
            </a:r>
            <a:r>
              <a:rPr dirty="0"/>
              <a:t> a </a:t>
            </a:r>
            <a:r>
              <a:rPr dirty="0" err="1"/>
              <a:t>separar</a:t>
            </a:r>
            <a:r>
              <a:rPr dirty="0"/>
              <a:t> </a:t>
            </a:r>
            <a:r>
              <a:rPr dirty="0" err="1"/>
              <a:t>decisiones</a:t>
            </a:r>
            <a:r>
              <a:rPr dirty="0"/>
              <a:t> </a:t>
            </a:r>
            <a:r>
              <a:rPr dirty="0" err="1"/>
              <a:t>pendientes</a:t>
            </a:r>
            <a:r>
              <a:rPr dirty="0"/>
              <a:t> de </a:t>
            </a:r>
            <a:r>
              <a:rPr dirty="0" err="1"/>
              <a:t>peticiones</a:t>
            </a:r>
            <a:r>
              <a:rPr dirty="0"/>
              <a:t> </a:t>
            </a:r>
            <a:r>
              <a:rPr dirty="0" err="1"/>
              <a:t>laterales</a:t>
            </a:r>
            <a:r>
              <a:rPr dirty="0"/>
              <a:t>. El operational classifier </a:t>
            </a:r>
            <a:r>
              <a:rPr dirty="0" err="1"/>
              <a:t>reconoce</a:t>
            </a:r>
            <a:r>
              <a:rPr dirty="0"/>
              <a:t> </a:t>
            </a:r>
            <a:r>
              <a:rPr dirty="0" err="1"/>
              <a:t>determinados</a:t>
            </a:r>
            <a:r>
              <a:rPr dirty="0"/>
              <a:t> </a:t>
            </a:r>
            <a:r>
              <a:rPr dirty="0" err="1"/>
              <a:t>mensajes</a:t>
            </a:r>
            <a:r>
              <a:rPr dirty="0"/>
              <a:t> de Cases </a:t>
            </a:r>
            <a:r>
              <a:rPr dirty="0" err="1"/>
              <a:t>conversacionales</a:t>
            </a:r>
            <a:r>
              <a:rPr dirty="0"/>
              <a:t> </a:t>
            </a:r>
            <a:r>
              <a:rPr dirty="0" err="1"/>
              <a:t>cuando</a:t>
            </a:r>
            <a:r>
              <a:rPr dirty="0"/>
              <a:t> las </a:t>
            </a:r>
            <a:r>
              <a:rPr dirty="0" err="1"/>
              <a:t>reglas</a:t>
            </a:r>
            <a:r>
              <a:rPr dirty="0"/>
              <a:t> </a:t>
            </a:r>
            <a:r>
              <a:rPr dirty="0" err="1"/>
              <a:t>determinísticas</a:t>
            </a:r>
            <a:r>
              <a:rPr dirty="0"/>
              <a:t> no </a:t>
            </a:r>
            <a:r>
              <a:rPr dirty="0" err="1"/>
              <a:t>bastan</a:t>
            </a:r>
            <a:r>
              <a:rPr dirty="0"/>
              <a:t>. El Skill selector </a:t>
            </a:r>
            <a:r>
              <a:rPr dirty="0" err="1"/>
              <a:t>elige</a:t>
            </a:r>
            <a:r>
              <a:rPr dirty="0"/>
              <a:t> </a:t>
            </a:r>
            <a:r>
              <a:rPr dirty="0" err="1"/>
              <a:t>una</a:t>
            </a:r>
            <a:r>
              <a:rPr dirty="0"/>
              <a:t> Skill </a:t>
            </a:r>
            <a:r>
              <a:rPr dirty="0" err="1"/>
              <a:t>dominante</a:t>
            </a:r>
            <a:r>
              <a:rPr dirty="0"/>
              <a:t> o none antes de </a:t>
            </a:r>
            <a:r>
              <a:rPr dirty="0" err="1"/>
              <a:t>compilar</a:t>
            </a:r>
            <a:r>
              <a:rPr dirty="0"/>
              <a:t> el loop y </a:t>
            </a:r>
            <a:r>
              <a:rPr dirty="0" err="1"/>
              <a:t>usa</a:t>
            </a:r>
            <a:r>
              <a:rPr dirty="0"/>
              <a:t> Claude Haiku 4.5 </a:t>
            </a:r>
            <a:r>
              <a:rPr dirty="0" err="1"/>
              <a:t>por</a:t>
            </a:r>
            <a:r>
              <a:rPr dirty="0"/>
              <a:t> </a:t>
            </a:r>
            <a:r>
              <a:rPr dirty="0" err="1"/>
              <a:t>defecto</a:t>
            </a:r>
            <a:r>
              <a:rPr dirty="0"/>
              <a:t>. </a:t>
            </a:r>
            <a:r>
              <a:rPr dirty="0" err="1"/>
              <a:t>Ninguna</a:t>
            </a:r>
            <a:r>
              <a:rPr dirty="0"/>
              <a:t> de </a:t>
            </a:r>
            <a:r>
              <a:rPr dirty="0" err="1"/>
              <a:t>estas</a:t>
            </a:r>
            <a:r>
              <a:rPr dirty="0"/>
              <a:t> </a:t>
            </a:r>
            <a:r>
              <a:rPr dirty="0" err="1"/>
              <a:t>llamadas</a:t>
            </a:r>
            <a:r>
              <a:rPr dirty="0"/>
              <a:t> </a:t>
            </a:r>
            <a:r>
              <a:rPr dirty="0" err="1"/>
              <a:t>ocurre</a:t>
            </a:r>
            <a:r>
              <a:rPr dirty="0"/>
              <a:t> </a:t>
            </a:r>
            <a:r>
              <a:rPr dirty="0" err="1"/>
              <a:t>necesariamente</a:t>
            </a:r>
            <a:r>
              <a:rPr dirty="0"/>
              <a:t> en </a:t>
            </a:r>
            <a:r>
              <a:rPr dirty="0" err="1"/>
              <a:t>todos</a:t>
            </a:r>
            <a:r>
              <a:rPr dirty="0"/>
              <a:t> </a:t>
            </a:r>
            <a:r>
              <a:rPr dirty="0" err="1"/>
              <a:t>los</a:t>
            </a:r>
            <a:r>
              <a:rPr dirty="0"/>
              <a:t> </a:t>
            </a:r>
            <a:r>
              <a:rPr dirty="0" err="1"/>
              <a:t>turnos</a:t>
            </a:r>
            <a:r>
              <a:rPr dirty="0"/>
              <a:t>.</a:t>
            </a:r>
          </a:p>
          <a:p>
            <a:endParaRPr dirty="0"/>
          </a:p>
          <a:p>
            <a:r>
              <a:rPr dirty="0" err="1"/>
              <a:t>Dentro</a:t>
            </a:r>
            <a:r>
              <a:rPr dirty="0"/>
              <a:t> del graph, </a:t>
            </a:r>
            <a:r>
              <a:rPr dirty="0" err="1"/>
              <a:t>memory_injection</a:t>
            </a:r>
            <a:r>
              <a:rPr dirty="0"/>
              <a:t> genera un embedding con Gemini Embedding 001 en </a:t>
            </a:r>
            <a:r>
              <a:rPr dirty="0" err="1"/>
              <a:t>turnos</a:t>
            </a:r>
            <a:r>
              <a:rPr dirty="0"/>
              <a:t> </a:t>
            </a:r>
            <a:r>
              <a:rPr dirty="0" err="1"/>
              <a:t>normales</a:t>
            </a:r>
            <a:r>
              <a:rPr dirty="0"/>
              <a:t> Web o Telegram. Un embedding es un </a:t>
            </a:r>
            <a:r>
              <a:rPr dirty="0" err="1"/>
              <a:t>modelo</a:t>
            </a:r>
            <a:r>
              <a:rPr dirty="0"/>
              <a:t>, </a:t>
            </a:r>
            <a:r>
              <a:rPr dirty="0" err="1"/>
              <a:t>pero</a:t>
            </a:r>
            <a:r>
              <a:rPr dirty="0"/>
              <a:t> no un LLM </a:t>
            </a:r>
            <a:r>
              <a:rPr dirty="0" err="1"/>
              <a:t>generativo</a:t>
            </a:r>
            <a:r>
              <a:rPr dirty="0"/>
              <a:t>. Produce un vector para </a:t>
            </a:r>
            <a:r>
              <a:rPr dirty="0" err="1"/>
              <a:t>similitud</a:t>
            </a:r>
            <a:r>
              <a:rPr dirty="0"/>
              <a:t>. Compaction </a:t>
            </a:r>
            <a:r>
              <a:rPr dirty="0" err="1"/>
              <a:t>ejecuta</a:t>
            </a:r>
            <a:r>
              <a:rPr dirty="0"/>
              <a:t> </a:t>
            </a:r>
            <a:r>
              <a:rPr dirty="0" err="1"/>
              <a:t>reglas</a:t>
            </a:r>
            <a:r>
              <a:rPr dirty="0"/>
              <a:t> </a:t>
            </a:r>
            <a:r>
              <a:rPr dirty="0" err="1"/>
              <a:t>determinísticas</a:t>
            </a:r>
            <a:r>
              <a:rPr dirty="0"/>
              <a:t> </a:t>
            </a:r>
            <a:r>
              <a:rPr dirty="0" err="1"/>
              <a:t>cada</a:t>
            </a:r>
            <a:r>
              <a:rPr dirty="0"/>
              <a:t> </a:t>
            </a:r>
            <a:r>
              <a:rPr dirty="0" err="1"/>
              <a:t>vez</a:t>
            </a:r>
            <a:r>
              <a:rPr dirty="0"/>
              <a:t> </a:t>
            </a:r>
            <a:r>
              <a:rPr dirty="0" err="1"/>
              <a:t>que</a:t>
            </a:r>
            <a:r>
              <a:rPr dirty="0"/>
              <a:t> se visita el </a:t>
            </a:r>
            <a:r>
              <a:rPr dirty="0" err="1"/>
              <a:t>nodo</a:t>
            </a:r>
            <a:r>
              <a:rPr dirty="0"/>
              <a:t>, </a:t>
            </a:r>
            <a:r>
              <a:rPr dirty="0" err="1"/>
              <a:t>pero</a:t>
            </a:r>
            <a:r>
              <a:rPr dirty="0"/>
              <a:t> </a:t>
            </a:r>
            <a:r>
              <a:rPr dirty="0" err="1"/>
              <a:t>sólo</a:t>
            </a:r>
            <a:r>
              <a:rPr dirty="0"/>
              <a:t> llama a Haiku </a:t>
            </a:r>
            <a:r>
              <a:rPr dirty="0" err="1"/>
              <a:t>cuando</a:t>
            </a:r>
            <a:r>
              <a:rPr dirty="0"/>
              <a:t> el </a:t>
            </a:r>
            <a:r>
              <a:rPr dirty="0" err="1"/>
              <a:t>contexto</a:t>
            </a:r>
            <a:r>
              <a:rPr dirty="0"/>
              <a:t> </a:t>
            </a:r>
            <a:r>
              <a:rPr dirty="0" err="1"/>
              <a:t>alcanza</a:t>
            </a:r>
            <a:r>
              <a:rPr dirty="0"/>
              <a:t> el umbral. Agent </a:t>
            </a:r>
            <a:r>
              <a:rPr dirty="0" err="1"/>
              <a:t>usa</a:t>
            </a:r>
            <a:r>
              <a:rPr dirty="0"/>
              <a:t> GPT-5.4-mini </a:t>
            </a:r>
            <a:r>
              <a:rPr dirty="0" err="1"/>
              <a:t>por</a:t>
            </a:r>
            <a:r>
              <a:rPr dirty="0"/>
              <a:t> </a:t>
            </a:r>
            <a:r>
              <a:rPr dirty="0" err="1"/>
              <a:t>defecto</a:t>
            </a:r>
            <a:r>
              <a:rPr dirty="0"/>
              <a:t> y </a:t>
            </a:r>
            <a:r>
              <a:rPr dirty="0" err="1"/>
              <a:t>puede</a:t>
            </a:r>
            <a:r>
              <a:rPr dirty="0"/>
              <a:t> </a:t>
            </a:r>
            <a:r>
              <a:rPr dirty="0" err="1"/>
              <a:t>invocarlo</a:t>
            </a:r>
            <a:r>
              <a:rPr dirty="0"/>
              <a:t> </a:t>
            </a:r>
            <a:r>
              <a:rPr dirty="0" err="1"/>
              <a:t>varias</a:t>
            </a:r>
            <a:r>
              <a:rPr dirty="0"/>
              <a:t> </a:t>
            </a:r>
            <a:r>
              <a:rPr dirty="0" err="1"/>
              <a:t>veces</a:t>
            </a:r>
            <a:r>
              <a:rPr dirty="0"/>
              <a:t> </a:t>
            </a:r>
            <a:r>
              <a:rPr dirty="0" err="1"/>
              <a:t>conforme</a:t>
            </a:r>
            <a:r>
              <a:rPr dirty="0"/>
              <a:t> </a:t>
            </a:r>
            <a:r>
              <a:rPr dirty="0" err="1"/>
              <a:t>alterna</a:t>
            </a:r>
            <a:r>
              <a:rPr dirty="0"/>
              <a:t> con tools.</a:t>
            </a:r>
          </a:p>
          <a:p>
            <a:endParaRPr dirty="0"/>
          </a:p>
          <a:p>
            <a:r>
              <a:rPr dirty="0"/>
              <a:t>El </a:t>
            </a:r>
            <a:r>
              <a:rPr dirty="0" err="1"/>
              <a:t>nodo</a:t>
            </a:r>
            <a:r>
              <a:rPr dirty="0"/>
              <a:t> tools no </a:t>
            </a:r>
            <a:r>
              <a:rPr dirty="0" err="1"/>
              <a:t>está</a:t>
            </a:r>
            <a:r>
              <a:rPr dirty="0"/>
              <a:t> </a:t>
            </a:r>
            <a:r>
              <a:rPr dirty="0" err="1"/>
              <a:t>atado</a:t>
            </a:r>
            <a:r>
              <a:rPr dirty="0"/>
              <a:t> a un </a:t>
            </a:r>
            <a:r>
              <a:rPr dirty="0" err="1"/>
              <a:t>modelo</a:t>
            </a:r>
            <a:r>
              <a:rPr dirty="0"/>
              <a:t>. </a:t>
            </a:r>
            <a:r>
              <a:rPr dirty="0" err="1"/>
              <a:t>Muchas</a:t>
            </a:r>
            <a:r>
              <a:rPr dirty="0"/>
              <a:t> tools </a:t>
            </a:r>
            <a:r>
              <a:rPr dirty="0" err="1"/>
              <a:t>sólo</a:t>
            </a:r>
            <a:r>
              <a:rPr dirty="0"/>
              <a:t> </a:t>
            </a:r>
            <a:r>
              <a:rPr dirty="0" err="1"/>
              <a:t>consultan</a:t>
            </a:r>
            <a:r>
              <a:rPr dirty="0"/>
              <a:t> bases, </a:t>
            </a:r>
            <a:r>
              <a:rPr dirty="0" err="1"/>
              <a:t>validan</a:t>
            </a:r>
            <a:r>
              <a:rPr dirty="0"/>
              <a:t> o </a:t>
            </a:r>
            <a:r>
              <a:rPr dirty="0" err="1"/>
              <a:t>llaman</a:t>
            </a:r>
            <a:r>
              <a:rPr dirty="0"/>
              <a:t> APIs. </a:t>
            </a:r>
            <a:r>
              <a:rPr dirty="0" err="1"/>
              <a:t>Otras</a:t>
            </a:r>
            <a:r>
              <a:rPr dirty="0"/>
              <a:t> </a:t>
            </a:r>
            <a:r>
              <a:rPr dirty="0" err="1"/>
              <a:t>encapsulan</a:t>
            </a:r>
            <a:r>
              <a:rPr dirty="0"/>
              <a:t> </a:t>
            </a:r>
            <a:r>
              <a:rPr dirty="0" err="1"/>
              <a:t>modelos</a:t>
            </a:r>
            <a:r>
              <a:rPr dirty="0"/>
              <a:t> </a:t>
            </a:r>
            <a:r>
              <a:rPr dirty="0" err="1"/>
              <a:t>especializados</a:t>
            </a:r>
            <a:r>
              <a:rPr dirty="0"/>
              <a:t>. El </a:t>
            </a:r>
            <a:r>
              <a:rPr dirty="0" err="1"/>
              <a:t>análisis</a:t>
            </a:r>
            <a:r>
              <a:rPr dirty="0"/>
              <a:t> de </a:t>
            </a:r>
            <a:r>
              <a:rPr dirty="0" err="1"/>
              <a:t>imágenes</a:t>
            </a:r>
            <a:r>
              <a:rPr dirty="0"/>
              <a:t> y la </a:t>
            </a:r>
            <a:r>
              <a:rPr dirty="0" err="1"/>
              <a:t>redacción</a:t>
            </a:r>
            <a:r>
              <a:rPr dirty="0"/>
              <a:t> de listing </a:t>
            </a:r>
            <a:r>
              <a:rPr dirty="0" err="1"/>
              <a:t>usan</a:t>
            </a:r>
            <a:r>
              <a:rPr dirty="0"/>
              <a:t> GPT-4.1-mini </a:t>
            </a:r>
            <a:r>
              <a:rPr dirty="0" err="1"/>
              <a:t>por</a:t>
            </a:r>
            <a:r>
              <a:rPr dirty="0"/>
              <a:t> </a:t>
            </a:r>
            <a:r>
              <a:rPr dirty="0" err="1"/>
              <a:t>defecto</a:t>
            </a:r>
            <a:r>
              <a:rPr dirty="0"/>
              <a:t>. </a:t>
            </a:r>
            <a:r>
              <a:rPr dirty="0" err="1"/>
              <a:t>Desde</a:t>
            </a:r>
            <a:r>
              <a:rPr dirty="0"/>
              <a:t> la </a:t>
            </a:r>
            <a:r>
              <a:rPr dirty="0" err="1"/>
              <a:t>perspectiva</a:t>
            </a:r>
            <a:r>
              <a:rPr dirty="0"/>
              <a:t> del </a:t>
            </a:r>
            <a:r>
              <a:rPr dirty="0" err="1"/>
              <a:t>StateGraph</a:t>
            </a:r>
            <a:r>
              <a:rPr dirty="0"/>
              <a:t> </a:t>
            </a:r>
            <a:r>
              <a:rPr dirty="0" err="1"/>
              <a:t>siguen</a:t>
            </a:r>
            <a:r>
              <a:rPr dirty="0"/>
              <a:t> </a:t>
            </a:r>
            <a:r>
              <a:rPr dirty="0" err="1"/>
              <a:t>siendo</a:t>
            </a:r>
            <a:r>
              <a:rPr dirty="0"/>
              <a:t> tools </a:t>
            </a:r>
            <a:r>
              <a:rPr dirty="0" err="1"/>
              <a:t>porque</a:t>
            </a:r>
            <a:r>
              <a:rPr dirty="0"/>
              <a:t> el </a:t>
            </a:r>
            <a:r>
              <a:rPr dirty="0" err="1"/>
              <a:t>contrato</a:t>
            </a:r>
            <a:r>
              <a:rPr dirty="0"/>
              <a:t>, la policy y la </a:t>
            </a:r>
            <a:r>
              <a:rPr dirty="0" err="1"/>
              <a:t>evidencia</a:t>
            </a:r>
            <a:r>
              <a:rPr dirty="0"/>
              <a:t> </a:t>
            </a:r>
            <a:r>
              <a:rPr dirty="0" err="1"/>
              <a:t>importan</a:t>
            </a:r>
            <a:r>
              <a:rPr dirty="0"/>
              <a:t> más </a:t>
            </a:r>
            <a:r>
              <a:rPr dirty="0" err="1"/>
              <a:t>que</a:t>
            </a:r>
            <a:r>
              <a:rPr dirty="0"/>
              <a:t> el </a:t>
            </a:r>
            <a:r>
              <a:rPr dirty="0" err="1"/>
              <a:t>proveedor</a:t>
            </a:r>
            <a:r>
              <a:rPr dirty="0"/>
              <a:t> </a:t>
            </a:r>
            <a:r>
              <a:rPr dirty="0" err="1"/>
              <a:t>interno</a:t>
            </a:r>
            <a:r>
              <a:rPr dirty="0"/>
              <a:t>.</a:t>
            </a:r>
          </a:p>
          <a:p>
            <a:endParaRPr dirty="0"/>
          </a:p>
          <a:p>
            <a:r>
              <a:rPr dirty="0" err="1"/>
              <a:t>Después</a:t>
            </a:r>
            <a:r>
              <a:rPr dirty="0"/>
              <a:t> del graph, memory flush </a:t>
            </a:r>
            <a:r>
              <a:rPr dirty="0" err="1"/>
              <a:t>puede</a:t>
            </a:r>
            <a:r>
              <a:rPr dirty="0"/>
              <a:t> usar Haiku para </a:t>
            </a:r>
            <a:r>
              <a:rPr dirty="0" err="1"/>
              <a:t>extraer</a:t>
            </a:r>
            <a:r>
              <a:rPr dirty="0"/>
              <a:t> </a:t>
            </a:r>
            <a:r>
              <a:rPr dirty="0" err="1"/>
              <a:t>candidatos</a:t>
            </a:r>
            <a:r>
              <a:rPr dirty="0"/>
              <a:t> de memoria y Gemini para </a:t>
            </a:r>
            <a:r>
              <a:rPr dirty="0" err="1"/>
              <a:t>generar</a:t>
            </a:r>
            <a:r>
              <a:rPr dirty="0"/>
              <a:t> embeddings antes de </a:t>
            </a:r>
            <a:r>
              <a:rPr dirty="0" err="1"/>
              <a:t>persistir</a:t>
            </a:r>
            <a:r>
              <a:rPr dirty="0"/>
              <a:t>. El Business Brain reviewer </a:t>
            </a:r>
            <a:r>
              <a:rPr dirty="0" err="1"/>
              <a:t>ocurre</a:t>
            </a:r>
            <a:r>
              <a:rPr dirty="0"/>
              <a:t> en </a:t>
            </a:r>
            <a:r>
              <a:rPr dirty="0" err="1"/>
              <a:t>otra</a:t>
            </a:r>
            <a:r>
              <a:rPr dirty="0"/>
              <a:t> </a:t>
            </a:r>
            <a:r>
              <a:rPr dirty="0" err="1"/>
              <a:t>superficie</a:t>
            </a:r>
            <a:r>
              <a:rPr dirty="0"/>
              <a:t>. Los </a:t>
            </a:r>
            <a:r>
              <a:rPr dirty="0" err="1"/>
              <a:t>clasificadores</a:t>
            </a:r>
            <a:r>
              <a:rPr dirty="0"/>
              <a:t> R1, workflow verifiers, operational judges y Studio </a:t>
            </a:r>
            <a:r>
              <a:rPr dirty="0" err="1"/>
              <a:t>pertenecen</a:t>
            </a:r>
            <a:r>
              <a:rPr dirty="0"/>
              <a:t> a </a:t>
            </a:r>
            <a:r>
              <a:rPr dirty="0" err="1"/>
              <a:t>otros</a:t>
            </a:r>
            <a:r>
              <a:rPr dirty="0"/>
              <a:t> </a:t>
            </a:r>
            <a:r>
              <a:rPr dirty="0" err="1"/>
              <a:t>procesos</a:t>
            </a:r>
            <a:r>
              <a:rPr dirty="0"/>
              <a:t> y no </a:t>
            </a:r>
            <a:r>
              <a:rPr dirty="0" err="1"/>
              <a:t>deben</a:t>
            </a:r>
            <a:r>
              <a:rPr dirty="0"/>
              <a:t> </a:t>
            </a:r>
            <a:r>
              <a:rPr dirty="0" err="1"/>
              <a:t>presentarse</a:t>
            </a:r>
            <a:r>
              <a:rPr dirty="0"/>
              <a:t> </a:t>
            </a:r>
            <a:r>
              <a:rPr dirty="0" err="1"/>
              <a:t>como</a:t>
            </a:r>
            <a:r>
              <a:rPr dirty="0"/>
              <a:t> </a:t>
            </a:r>
            <a:r>
              <a:rPr dirty="0" err="1"/>
              <a:t>llamadas</a:t>
            </a:r>
            <a:r>
              <a:rPr dirty="0"/>
              <a:t> </a:t>
            </a:r>
            <a:r>
              <a:rPr dirty="0" err="1"/>
              <a:t>obligatorias</a:t>
            </a:r>
            <a:r>
              <a:rPr dirty="0"/>
              <a:t> de </a:t>
            </a:r>
            <a:r>
              <a:rPr dirty="0" err="1"/>
              <a:t>cada</a:t>
            </a:r>
            <a:r>
              <a:rPr dirty="0"/>
              <a:t> </a:t>
            </a:r>
            <a:r>
              <a:rPr dirty="0" err="1"/>
              <a:t>conversación</a:t>
            </a:r>
            <a:r>
              <a:rPr dirty="0"/>
              <a:t>.</a:t>
            </a:r>
          </a:p>
          <a:p>
            <a:endParaRPr dirty="0"/>
          </a:p>
          <a:p>
            <a:r>
              <a:rPr dirty="0" err="1"/>
              <a:t>Explique</a:t>
            </a:r>
            <a:r>
              <a:rPr dirty="0"/>
              <a:t> </a:t>
            </a:r>
            <a:r>
              <a:rPr dirty="0" err="1"/>
              <a:t>por</a:t>
            </a:r>
            <a:r>
              <a:rPr dirty="0"/>
              <a:t> </a:t>
            </a:r>
            <a:r>
              <a:rPr dirty="0" err="1"/>
              <a:t>qué</a:t>
            </a:r>
            <a:r>
              <a:rPr dirty="0"/>
              <a:t> </a:t>
            </a:r>
            <a:r>
              <a:rPr dirty="0" err="1"/>
              <a:t>existen</a:t>
            </a:r>
            <a:r>
              <a:rPr dirty="0"/>
              <a:t> </a:t>
            </a:r>
            <a:r>
              <a:rPr dirty="0" err="1"/>
              <a:t>varios</a:t>
            </a:r>
            <a:r>
              <a:rPr dirty="0"/>
              <a:t> </a:t>
            </a:r>
            <a:r>
              <a:rPr dirty="0" err="1"/>
              <a:t>modelos</a:t>
            </a:r>
            <a:r>
              <a:rPr dirty="0"/>
              <a:t>. Las </a:t>
            </a:r>
            <a:r>
              <a:rPr dirty="0" err="1"/>
              <a:t>tareas</a:t>
            </a:r>
            <a:r>
              <a:rPr dirty="0"/>
              <a:t> </a:t>
            </a:r>
            <a:r>
              <a:rPr dirty="0" err="1"/>
              <a:t>tienen</a:t>
            </a:r>
            <a:r>
              <a:rPr dirty="0"/>
              <a:t> </a:t>
            </a:r>
            <a:r>
              <a:rPr dirty="0" err="1"/>
              <a:t>necesidades</a:t>
            </a:r>
            <a:r>
              <a:rPr dirty="0"/>
              <a:t> </a:t>
            </a:r>
            <a:r>
              <a:rPr dirty="0" err="1"/>
              <a:t>distintas</a:t>
            </a:r>
            <a:r>
              <a:rPr dirty="0"/>
              <a:t> de </a:t>
            </a:r>
            <a:r>
              <a:rPr dirty="0" err="1"/>
              <a:t>juicio</a:t>
            </a:r>
            <a:r>
              <a:rPr dirty="0"/>
              <a:t>, </a:t>
            </a:r>
            <a:r>
              <a:rPr dirty="0" err="1"/>
              <a:t>estructura</a:t>
            </a:r>
            <a:r>
              <a:rPr dirty="0"/>
              <a:t>, </a:t>
            </a:r>
            <a:r>
              <a:rPr dirty="0" err="1"/>
              <a:t>costo</a:t>
            </a:r>
            <a:r>
              <a:rPr dirty="0"/>
              <a:t> y </a:t>
            </a:r>
            <a:r>
              <a:rPr dirty="0" err="1"/>
              <a:t>latencia</a:t>
            </a:r>
            <a:r>
              <a:rPr dirty="0"/>
              <a:t>. Gu OS </a:t>
            </a:r>
            <a:r>
              <a:rPr dirty="0" err="1"/>
              <a:t>asigna</a:t>
            </a:r>
            <a:r>
              <a:rPr dirty="0"/>
              <a:t> defaults </a:t>
            </a:r>
            <a:r>
              <a:rPr dirty="0" err="1"/>
              <a:t>por</a:t>
            </a:r>
            <a:r>
              <a:rPr dirty="0"/>
              <a:t> </a:t>
            </a:r>
            <a:r>
              <a:rPr dirty="0" err="1"/>
              <a:t>rol</a:t>
            </a:r>
            <a:r>
              <a:rPr dirty="0"/>
              <a:t> y </a:t>
            </a:r>
            <a:r>
              <a:rPr dirty="0" err="1"/>
              <a:t>permite</a:t>
            </a:r>
            <a:r>
              <a:rPr dirty="0"/>
              <a:t> overrides de </a:t>
            </a:r>
            <a:r>
              <a:rPr dirty="0" err="1"/>
              <a:t>entorno</a:t>
            </a:r>
            <a:r>
              <a:rPr dirty="0"/>
              <a:t>. El runtime </a:t>
            </a:r>
            <a:r>
              <a:rPr dirty="0" err="1"/>
              <a:t>registra</a:t>
            </a:r>
            <a:r>
              <a:rPr dirty="0"/>
              <a:t> model id y model role para </a:t>
            </a:r>
            <a:r>
              <a:rPr dirty="0" err="1"/>
              <a:t>observabilidad</a:t>
            </a:r>
            <a:r>
              <a:rPr dirty="0"/>
              <a:t> y </a:t>
            </a:r>
            <a:r>
              <a:rPr dirty="0" err="1"/>
              <a:t>costo</a:t>
            </a:r>
            <a:r>
              <a:rPr dirty="0"/>
              <a:t>. Cambiar a un </a:t>
            </a:r>
            <a:r>
              <a:rPr dirty="0" err="1"/>
              <a:t>modelo</a:t>
            </a:r>
            <a:r>
              <a:rPr dirty="0"/>
              <a:t> más </a:t>
            </a:r>
            <a:r>
              <a:rPr dirty="0" err="1"/>
              <a:t>fuerte</a:t>
            </a:r>
            <a:r>
              <a:rPr dirty="0"/>
              <a:t> no </a:t>
            </a:r>
            <a:r>
              <a:rPr dirty="0" err="1"/>
              <a:t>amplía</a:t>
            </a:r>
            <a:r>
              <a:rPr dirty="0"/>
              <a:t> tools, tenant scope </a:t>
            </a:r>
            <a:r>
              <a:rPr dirty="0" err="1"/>
              <a:t>ni</a:t>
            </a:r>
            <a:r>
              <a:rPr dirty="0"/>
              <a:t> </a:t>
            </a:r>
            <a:r>
              <a:rPr dirty="0" err="1"/>
              <a:t>autoridad</a:t>
            </a:r>
            <a:r>
              <a:rPr dirty="0"/>
              <a:t>.</a:t>
            </a:r>
          </a:p>
          <a:p>
            <a:endParaRPr dirty="0"/>
          </a:p>
          <a:p>
            <a:r>
              <a:rPr dirty="0"/>
              <a:t>Cierre con el principio de </a:t>
            </a:r>
            <a:r>
              <a:rPr dirty="0" err="1"/>
              <a:t>que</a:t>
            </a:r>
            <a:r>
              <a:rPr dirty="0"/>
              <a:t> </a:t>
            </a:r>
            <a:r>
              <a:rPr dirty="0" err="1"/>
              <a:t>los</a:t>
            </a:r>
            <a:r>
              <a:rPr dirty="0"/>
              <a:t> </a:t>
            </a:r>
            <a:r>
              <a:rPr dirty="0" err="1"/>
              <a:t>datos</a:t>
            </a:r>
            <a:r>
              <a:rPr dirty="0"/>
              <a:t>, policies, schemas, Cases y </a:t>
            </a:r>
            <a:r>
              <a:rPr dirty="0" err="1"/>
              <a:t>sistemas</a:t>
            </a:r>
            <a:r>
              <a:rPr dirty="0"/>
              <a:t> de </a:t>
            </a:r>
            <a:r>
              <a:rPr dirty="0" err="1"/>
              <a:t>registro</a:t>
            </a:r>
            <a:r>
              <a:rPr dirty="0"/>
              <a:t> </a:t>
            </a:r>
            <a:r>
              <a:rPr dirty="0" err="1"/>
              <a:t>poseen</a:t>
            </a:r>
            <a:r>
              <a:rPr dirty="0"/>
              <a:t> la </a:t>
            </a:r>
            <a:r>
              <a:rPr dirty="0" err="1"/>
              <a:t>verdad</a:t>
            </a:r>
            <a:r>
              <a:rPr dirty="0"/>
              <a:t>. Los </a:t>
            </a:r>
            <a:r>
              <a:rPr dirty="0" err="1"/>
              <a:t>modelos</a:t>
            </a:r>
            <a:r>
              <a:rPr dirty="0"/>
              <a:t> </a:t>
            </a:r>
            <a:r>
              <a:rPr dirty="0" err="1"/>
              <a:t>interpretan</a:t>
            </a:r>
            <a:r>
              <a:rPr dirty="0"/>
              <a:t>, </a:t>
            </a:r>
            <a:r>
              <a:rPr dirty="0" err="1"/>
              <a:t>clasifican</a:t>
            </a:r>
            <a:r>
              <a:rPr dirty="0"/>
              <a:t>, </a:t>
            </a:r>
            <a:r>
              <a:rPr dirty="0" err="1"/>
              <a:t>resumen</a:t>
            </a:r>
            <a:r>
              <a:rPr dirty="0"/>
              <a:t> o </a:t>
            </a:r>
            <a:r>
              <a:rPr dirty="0" err="1"/>
              <a:t>proponen</a:t>
            </a:r>
            <a:r>
              <a:rPr dirty="0"/>
              <a:t>. Los </a:t>
            </a:r>
            <a:r>
              <a:rPr dirty="0" err="1"/>
              <a:t>ejecutores</a:t>
            </a:r>
            <a:r>
              <a:rPr dirty="0"/>
              <a:t> </a:t>
            </a:r>
            <a:r>
              <a:rPr dirty="0" err="1"/>
              <a:t>determinísticos</a:t>
            </a:r>
            <a:r>
              <a:rPr dirty="0"/>
              <a:t> </a:t>
            </a:r>
            <a:r>
              <a:rPr dirty="0" err="1"/>
              <a:t>validan</a:t>
            </a:r>
            <a:r>
              <a:rPr dirty="0"/>
              <a:t> y </a:t>
            </a:r>
            <a:r>
              <a:rPr dirty="0" err="1"/>
              <a:t>materializan</a:t>
            </a:r>
            <a:r>
              <a:rPr dirty="0"/>
              <a:t> </a:t>
            </a:r>
            <a:r>
              <a:rPr dirty="0" err="1"/>
              <a:t>acciones</a:t>
            </a:r>
            <a:r>
              <a:rPr dirty="0"/>
              <a:t>.</a:t>
            </a:r>
          </a:p>
          <a:p>
            <a:endParaRPr dirty="0"/>
          </a:p>
          <a:p>
            <a:r>
              <a:rPr dirty="0"/>
              <a:t>[GLOSARIO]</a:t>
            </a:r>
          </a:p>
          <a:p>
            <a:r>
              <a:rPr dirty="0"/>
              <a:t>Model role: </a:t>
            </a:r>
            <a:r>
              <a:rPr dirty="0" err="1"/>
              <a:t>responsabilidad</a:t>
            </a:r>
            <a:r>
              <a:rPr dirty="0"/>
              <a:t> </a:t>
            </a:r>
            <a:r>
              <a:rPr dirty="0" err="1"/>
              <a:t>estable</a:t>
            </a:r>
            <a:r>
              <a:rPr dirty="0"/>
              <a:t> </a:t>
            </a:r>
            <a:r>
              <a:rPr dirty="0" err="1"/>
              <a:t>asignada</a:t>
            </a:r>
            <a:r>
              <a:rPr dirty="0"/>
              <a:t> a </a:t>
            </a:r>
            <a:r>
              <a:rPr dirty="0" err="1"/>
              <a:t>una</a:t>
            </a:r>
            <a:r>
              <a:rPr dirty="0"/>
              <a:t> </a:t>
            </a:r>
            <a:r>
              <a:rPr dirty="0" err="1"/>
              <a:t>llamada</a:t>
            </a:r>
            <a:r>
              <a:rPr dirty="0"/>
              <a:t> de </a:t>
            </a:r>
            <a:r>
              <a:rPr dirty="0" err="1"/>
              <a:t>modelo</a:t>
            </a:r>
            <a:r>
              <a:rPr dirty="0"/>
              <a:t>.</a:t>
            </a:r>
          </a:p>
          <a:p>
            <a:r>
              <a:rPr dirty="0"/>
              <a:t>LLM: </a:t>
            </a:r>
            <a:r>
              <a:rPr dirty="0" err="1"/>
              <a:t>modelo</a:t>
            </a:r>
            <a:r>
              <a:rPr dirty="0"/>
              <a:t> </a:t>
            </a:r>
            <a:r>
              <a:rPr dirty="0" err="1"/>
              <a:t>generativo</a:t>
            </a:r>
            <a:r>
              <a:rPr dirty="0"/>
              <a:t> </a:t>
            </a:r>
            <a:r>
              <a:rPr dirty="0" err="1"/>
              <a:t>que</a:t>
            </a:r>
            <a:r>
              <a:rPr dirty="0"/>
              <a:t> </a:t>
            </a:r>
            <a:r>
              <a:rPr dirty="0" err="1"/>
              <a:t>procesa</a:t>
            </a:r>
            <a:r>
              <a:rPr dirty="0"/>
              <a:t> y produce </a:t>
            </a:r>
            <a:r>
              <a:rPr dirty="0" err="1"/>
              <a:t>lenguaje</a:t>
            </a:r>
            <a:r>
              <a:rPr dirty="0"/>
              <a:t> o </a:t>
            </a:r>
            <a:r>
              <a:rPr dirty="0" err="1"/>
              <a:t>estructuras</a:t>
            </a:r>
            <a:r>
              <a:rPr dirty="0"/>
              <a:t>.</a:t>
            </a:r>
          </a:p>
          <a:p>
            <a:r>
              <a:rPr dirty="0"/>
              <a:t>Embedding model: </a:t>
            </a:r>
            <a:r>
              <a:rPr dirty="0" err="1"/>
              <a:t>modelo</a:t>
            </a:r>
            <a:r>
              <a:rPr dirty="0"/>
              <a:t> </a:t>
            </a:r>
            <a:r>
              <a:rPr dirty="0" err="1"/>
              <a:t>que</a:t>
            </a:r>
            <a:r>
              <a:rPr dirty="0"/>
              <a:t> </a:t>
            </a:r>
            <a:r>
              <a:rPr dirty="0" err="1"/>
              <a:t>transforma</a:t>
            </a:r>
            <a:r>
              <a:rPr dirty="0"/>
              <a:t> </a:t>
            </a:r>
            <a:r>
              <a:rPr dirty="0" err="1"/>
              <a:t>texto</a:t>
            </a:r>
            <a:r>
              <a:rPr dirty="0"/>
              <a:t> en un vector para </a:t>
            </a:r>
            <a:r>
              <a:rPr dirty="0" err="1"/>
              <a:t>similitud</a:t>
            </a:r>
            <a:r>
              <a:rPr dirty="0"/>
              <a:t>.</a:t>
            </a:r>
          </a:p>
          <a:p>
            <a:r>
              <a:rPr dirty="0"/>
              <a:t>Pre-graph: </a:t>
            </a:r>
            <a:r>
              <a:rPr dirty="0" err="1"/>
              <a:t>procesamiento</a:t>
            </a:r>
            <a:r>
              <a:rPr dirty="0"/>
              <a:t> </a:t>
            </a:r>
            <a:r>
              <a:rPr dirty="0" err="1"/>
              <a:t>que</a:t>
            </a:r>
            <a:r>
              <a:rPr dirty="0"/>
              <a:t> </a:t>
            </a:r>
            <a:r>
              <a:rPr dirty="0" err="1"/>
              <a:t>sucede</a:t>
            </a:r>
            <a:r>
              <a:rPr dirty="0"/>
              <a:t> antes de </a:t>
            </a:r>
            <a:r>
              <a:rPr dirty="0" err="1"/>
              <a:t>invocar</a:t>
            </a:r>
            <a:r>
              <a:rPr dirty="0"/>
              <a:t> el </a:t>
            </a:r>
            <a:r>
              <a:rPr dirty="0" err="1"/>
              <a:t>StateGraph</a:t>
            </a:r>
            <a:r>
              <a:rPr dirty="0"/>
              <a:t>.</a:t>
            </a:r>
          </a:p>
          <a:p>
            <a:r>
              <a:rPr dirty="0"/>
              <a:t>Conditional call: </a:t>
            </a:r>
            <a:r>
              <a:rPr dirty="0" err="1"/>
              <a:t>llamada</a:t>
            </a:r>
            <a:r>
              <a:rPr dirty="0"/>
              <a:t> </a:t>
            </a:r>
            <a:r>
              <a:rPr dirty="0" err="1"/>
              <a:t>que</a:t>
            </a:r>
            <a:r>
              <a:rPr dirty="0"/>
              <a:t> </a:t>
            </a:r>
            <a:r>
              <a:rPr dirty="0" err="1"/>
              <a:t>sólo</a:t>
            </a:r>
            <a:r>
              <a:rPr dirty="0"/>
              <a:t> </a:t>
            </a:r>
            <a:r>
              <a:rPr dirty="0" err="1"/>
              <a:t>ocurre</a:t>
            </a:r>
            <a:r>
              <a:rPr dirty="0"/>
              <a:t> </a:t>
            </a:r>
            <a:r>
              <a:rPr dirty="0" err="1"/>
              <a:t>cuando</a:t>
            </a:r>
            <a:r>
              <a:rPr dirty="0"/>
              <a:t> </a:t>
            </a:r>
            <a:r>
              <a:rPr dirty="0" err="1"/>
              <a:t>una</a:t>
            </a:r>
            <a:r>
              <a:rPr dirty="0"/>
              <a:t> </a:t>
            </a:r>
            <a:r>
              <a:rPr dirty="0" err="1"/>
              <a:t>señal</a:t>
            </a:r>
            <a:r>
              <a:rPr dirty="0"/>
              <a:t> o umbral la </a:t>
            </a:r>
            <a:r>
              <a:rPr dirty="0" err="1"/>
              <a:t>requiere</a:t>
            </a:r>
            <a:r>
              <a:rPr dirty="0"/>
              <a:t>.</a:t>
            </a:r>
          </a:p>
          <a:p>
            <a:r>
              <a:rPr dirty="0"/>
              <a:t>Model inside a tool: </a:t>
            </a:r>
            <a:r>
              <a:rPr dirty="0" err="1"/>
              <a:t>modelo</a:t>
            </a:r>
            <a:r>
              <a:rPr dirty="0"/>
              <a:t> </a:t>
            </a:r>
            <a:r>
              <a:rPr dirty="0" err="1"/>
              <a:t>especializado</a:t>
            </a:r>
            <a:r>
              <a:rPr dirty="0"/>
              <a:t> </a:t>
            </a:r>
            <a:r>
              <a:rPr dirty="0" err="1"/>
              <a:t>oculto</a:t>
            </a:r>
            <a:r>
              <a:rPr dirty="0"/>
              <a:t> </a:t>
            </a:r>
            <a:r>
              <a:rPr dirty="0" err="1"/>
              <a:t>detrás</a:t>
            </a:r>
            <a:r>
              <a:rPr dirty="0"/>
              <a:t> de un capability contract.</a:t>
            </a:r>
          </a:p>
          <a:p>
            <a:r>
              <a:rPr dirty="0"/>
              <a:t>Override: </a:t>
            </a:r>
            <a:r>
              <a:rPr dirty="0" err="1"/>
              <a:t>configuración</a:t>
            </a:r>
            <a:r>
              <a:rPr dirty="0"/>
              <a:t> </a:t>
            </a:r>
            <a:r>
              <a:rPr dirty="0" err="1"/>
              <a:t>que</a:t>
            </a:r>
            <a:r>
              <a:rPr dirty="0"/>
              <a:t> </a:t>
            </a:r>
            <a:r>
              <a:rPr dirty="0" err="1"/>
              <a:t>sustituye</a:t>
            </a:r>
            <a:r>
              <a:rPr dirty="0"/>
              <a:t> el default sin </a:t>
            </a:r>
            <a:r>
              <a:rPr dirty="0" err="1"/>
              <a:t>cambiar</a:t>
            </a:r>
            <a:r>
              <a:rPr dirty="0"/>
              <a:t> el </a:t>
            </a:r>
            <a:r>
              <a:rPr dirty="0" err="1"/>
              <a:t>contrato</a:t>
            </a:r>
            <a:r>
              <a:rPr dirty="0"/>
              <a:t> del </a:t>
            </a:r>
            <a:r>
              <a:rPr dirty="0" err="1"/>
              <a:t>sistema</a:t>
            </a:r>
            <a:r>
              <a:rPr dirty="0"/>
              <a:t>.</a:t>
            </a:r>
          </a:p>
          <a:p>
            <a:r>
              <a:rPr dirty="0"/>
              <a:t>Operational judge: </a:t>
            </a:r>
            <a:r>
              <a:rPr dirty="0" err="1"/>
              <a:t>modelo</a:t>
            </a:r>
            <a:r>
              <a:rPr dirty="0"/>
              <a:t> </a:t>
            </a:r>
            <a:r>
              <a:rPr dirty="0" err="1"/>
              <a:t>independiente</a:t>
            </a:r>
            <a:r>
              <a:rPr dirty="0"/>
              <a:t> </a:t>
            </a:r>
            <a:r>
              <a:rPr dirty="0" err="1"/>
              <a:t>que</a:t>
            </a:r>
            <a:r>
              <a:rPr dirty="0"/>
              <a:t> </a:t>
            </a:r>
            <a:r>
              <a:rPr dirty="0" err="1"/>
              <a:t>evalúa</a:t>
            </a:r>
            <a:r>
              <a:rPr dirty="0"/>
              <a:t> </a:t>
            </a:r>
            <a:r>
              <a:rPr dirty="0" err="1"/>
              <a:t>evidencia</a:t>
            </a:r>
            <a:r>
              <a:rPr dirty="0"/>
              <a:t> o </a:t>
            </a:r>
            <a:r>
              <a:rPr dirty="0" err="1"/>
              <a:t>calidad</a:t>
            </a:r>
            <a:r>
              <a:rPr dirty="0"/>
              <a:t> bajo un rubric.</a:t>
            </a:r>
          </a:p>
          <a:p>
            <a:endParaRPr dirty="0"/>
          </a:p>
          <a:p>
            <a:r>
              <a:rPr dirty="0"/>
              <a:t>[FUENTES]</a:t>
            </a:r>
          </a:p>
          <a:p>
            <a:r>
              <a:rPr dirty="0"/>
              <a:t>- packages/agent/</a:t>
            </a:r>
            <a:r>
              <a:rPr dirty="0" err="1"/>
              <a:t>src</a:t>
            </a:r>
            <a:r>
              <a:rPr dirty="0"/>
              <a:t>/</a:t>
            </a:r>
            <a:r>
              <a:rPr dirty="0" err="1"/>
              <a:t>model.ts</a:t>
            </a:r>
            <a:endParaRPr dirty="0"/>
          </a:p>
          <a:p>
            <a:r>
              <a:rPr dirty="0"/>
              <a:t>- packages/agent/</a:t>
            </a:r>
            <a:r>
              <a:rPr dirty="0" err="1"/>
              <a:t>src</a:t>
            </a:r>
            <a:r>
              <a:rPr dirty="0"/>
              <a:t>/</a:t>
            </a:r>
            <a:r>
              <a:rPr dirty="0" err="1"/>
              <a:t>embeddings.ts</a:t>
            </a:r>
            <a:endParaRPr dirty="0"/>
          </a:p>
          <a:p>
            <a:r>
              <a:rPr dirty="0"/>
              <a:t>- packages/agent/</a:t>
            </a:r>
            <a:r>
              <a:rPr dirty="0" err="1"/>
              <a:t>src</a:t>
            </a:r>
            <a:r>
              <a:rPr dirty="0"/>
              <a:t>/</a:t>
            </a:r>
            <a:r>
              <a:rPr dirty="0" err="1"/>
              <a:t>graph.ts</a:t>
            </a:r>
            <a:endParaRPr dirty="0"/>
          </a:p>
          <a:p>
            <a:r>
              <a:rPr dirty="0"/>
              <a:t>- docs/tools-design/model-providers.md</a:t>
            </a:r>
          </a:p>
          <a:p>
            <a:r>
              <a:rPr dirty="0"/>
              <a:t>- docs/manuals/architecture-manual.md §5</a:t>
            </a:r>
          </a:p>
          <a:p>
            <a:r>
              <a:rPr dirty="0"/>
              <a:t>- Baseline: </a:t>
            </a:r>
            <a:r>
              <a:rPr dirty="0" err="1"/>
              <a:t>janotowers</a:t>
            </a:r>
            <a:r>
              <a:rPr dirty="0"/>
              <a:t>/Gu-OS main @ 5a6fbb05117042e1f7c47c911e0e2bc14d068340 · </a:t>
            </a:r>
            <a:r>
              <a:rPr dirty="0" err="1"/>
              <a:t>verificado</a:t>
            </a:r>
            <a:r>
              <a:rPr dirty="0"/>
              <a:t> 11 </a:t>
            </a:r>
            <a:r>
              <a:rPr dirty="0" err="1"/>
              <a:t>septiembre</a:t>
            </a:r>
            <a:r>
              <a:rPr dirty="0"/>
              <a:t>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[Insertion]</a:t>
            </a:r>
          </a:p>
          <a:p>
            <a:r>
              <a:t>Session 3B · after original slide 4; place before insert 03</a:t>
            </a:r>
          </a:p>
          <a:p>
            <a:endParaRPr/>
          </a:p>
          <a:p>
            <a:r>
              <a:t>[Sources]</a:t>
            </a:r>
          </a:p>
          <a:p>
            <a:r>
              <a:t>- packages/agent/src/model.ts</a:t>
            </a:r>
          </a:p>
          <a:p>
            <a:r>
              <a:t>- docs/tools-design/model-providers.md</a:t>
            </a:r>
          </a:p>
          <a:p>
            <a:r>
              <a:t>- Baseline: janotowers/Gu-OS main @ 5a6fbb05117042e1f7c47c911e0e2bc14d068340 · verified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[Insertion]</a:t>
            </a:r>
          </a:p>
          <a:p>
            <a:r>
              <a:t>Session 3B · after insert 02</a:t>
            </a:r>
          </a:p>
          <a:p>
            <a:endParaRPr/>
          </a:p>
          <a:p>
            <a:r>
              <a:t>[Sources]</a:t>
            </a:r>
          </a:p>
          <a:p>
            <a:r>
              <a:t>- AGENTS.md §4</a:t>
            </a:r>
          </a:p>
          <a:p>
            <a:r>
              <a:t>- packages/agent/src/model.ts</a:t>
            </a:r>
          </a:p>
          <a:p>
            <a:r>
              <a:t>- packages/agent/src/tools/catalog.ts</a:t>
            </a:r>
          </a:p>
          <a:p>
            <a:r>
              <a:t>- docs/principles/gu-os-principles-and-design-doctrine.md</a:t>
            </a:r>
          </a:p>
          <a:p>
            <a:r>
              <a:t>- Baseline: janotowers/Gu-OS main @ 5a6fbb05117042e1f7c47c911e0e2bc14d068340 · verified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t>- packages/agent/src/graph.ts</a:t>
            </a:r>
            <a:endParaRPr sz="2000" b="0" u="none">
              <a:solidFill>
                <a:srgbClr val="000000"/>
              </a:solidFill>
              <a:latin typeface="Arial"/>
              <a:ea typeface="Arial"/>
              <a:cs typeface="Arial"/>
            </a:endParaRPr>
          </a:p>
          <a:p>
            <a:pPr indent="0">
              <a:lnSpc>
                <a:spcPct val="100000"/>
              </a:lnSpc>
              <a:buNone/>
            </a:pPr>
            <a:r>
              <a:t>- packages/agent/src/model.ts</a:t>
            </a:r>
            <a:endParaRPr sz="2000" b="0" u="none">
              <a:solidFill>
                <a:srgbClr val="000000"/>
              </a:solidFill>
              <a:latin typeface="Arial"/>
              <a:ea typeface="Arial"/>
              <a:cs typeface="Arial"/>
            </a:endParaRPr>
          </a:p>
          <a:p>
            <a:pPr indent="0">
              <a:lnSpc>
                <a:spcPct val="100000"/>
              </a:lnSpc>
              <a:buNone/>
            </a:pPr>
            <a:r>
              <a:t>- packages/agent/src/memory_flush.ts</a:t>
            </a:r>
            <a:endParaRPr sz="2000" b="0" u="none">
              <a:solidFill>
                <a:srgbClr val="000000"/>
              </a:solidFill>
              <a:latin typeface="Arial"/>
              <a:ea typeface="Arial"/>
              <a:cs typeface="Arial"/>
            </a:endParaRPr>
          </a:p>
          <a:p>
            <a:pPr indent="0">
              <a:lnSpc>
                <a:spcPct val="100000"/>
              </a:lnSpc>
              <a:buNone/>
            </a:pPr>
            <a:r>
              <a:t>- packages/agent/src/tools/catalog.ts</a:t>
            </a:r>
            <a:endParaRPr sz="2000" b="0" u="none">
              <a:solidFill>
                <a:srgbClr val="000000"/>
              </a:solidFill>
              <a:latin typeface="Arial"/>
              <a:ea typeface="Arial"/>
              <a:cs typeface="Arial"/>
            </a:endParaRPr>
          </a:p>
          <a:p>
            <a:pPr indent="0">
              <a:lnSpc>
                <a:spcPct val="100000"/>
              </a:lnSpc>
              <a:buNone/>
            </a:pPr>
            <a:r>
              <a:t>- Baseline: janotowers/Gu-OS main @ 5a6fbb05117042e1f7c47c911e0e2bc14d068340 (2026-09-08)</a:t>
            </a:r>
            <a:endParaRPr sz="2000" b="0" u="none">
              <a:solidFill>
                <a:srgbClr val="000000"/>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t>[Sources]</a:t>
            </a:r>
          </a:p>
          <a:p>
            <a:r>
              <a:t>- Gu_OS_Agent_Runtime_and_Harness_Guide_v0.1.docx</a:t>
            </a:r>
          </a:p>
          <a:p>
            <a:r>
              <a:t>- docs/architecture.md</a:t>
            </a:r>
          </a:p>
          <a:p>
            <a:r>
              <a:t>- docs/manuals/architecture-manual.md</a:t>
            </a:r>
          </a:p>
          <a:p>
            <a:r>
              <a:t>- packages/agent/src/graph.ts</a:t>
            </a:r>
          </a:p>
          <a:p>
            <a:r>
              <a:t>- packages/agent/src/model.ts</a:t>
            </a:r>
          </a:p>
          <a:p>
            <a:r>
              <a:t>- packages/agent/src/memory_flush.ts</a:t>
            </a:r>
          </a:p>
          <a:p>
            <a:r>
              <a:t>- packages/agent/src/tools/catalog.ts</a:t>
            </a:r>
          </a:p>
          <a:p>
            <a: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t>[Sources]</a:t>
            </a:r>
          </a:p>
          <a:p>
            <a:r>
              <a:t>- Gu_OS_Agent_Runtime_and_Harness_Guide_v0.1.docx</a:t>
            </a:r>
          </a:p>
          <a:p>
            <a:r>
              <a:t>- docs/architecture.md</a:t>
            </a:r>
          </a:p>
          <a:p>
            <a:r>
              <a:t>- docs/manuals/architecture-manual.md</a:t>
            </a:r>
          </a:p>
          <a:p>
            <a:r>
              <a:t>- packages/agent/src/graph.ts</a:t>
            </a:r>
          </a:p>
          <a:p>
            <a:r>
              <a:t>- packages/agent/src/model.ts</a:t>
            </a:r>
          </a:p>
          <a:p>
            <a:r>
              <a:t>- packages/agent/src/memory_flush.ts</a:t>
            </a:r>
          </a:p>
          <a:p>
            <a:r>
              <a:t>- packages/agent/src/tools/catalog.ts</a:t>
            </a:r>
          </a:p>
          <a:p>
            <a: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packages/agent/src/graph.ts</a:t>
            </a:r>
          </a:p>
          <a:p>
            <a:pPr indent="0">
              <a:lnSpc>
                <a:spcPct val="100000"/>
              </a:lnSpc>
              <a:buNone/>
            </a:pPr>
            <a:r>
              <a:rPr sz="2000" b="0" u="none">
                <a:solidFill>
                  <a:srgbClr val="000000"/>
                </a:solidFill>
                <a:latin typeface="Arial"/>
                <a:ea typeface="Arial"/>
                <a:cs typeface="Arial"/>
              </a:rPr>
              <a:t>- packages/agent/src/model.ts</a:t>
            </a:r>
          </a:p>
          <a:p>
            <a:pPr indent="0">
              <a:lnSpc>
                <a:spcPct val="100000"/>
              </a:lnSpc>
              <a:buNone/>
            </a:pPr>
            <a:r>
              <a:rPr sz="2000" b="0" u="none">
                <a:solidFill>
                  <a:srgbClr val="000000"/>
                </a:solidFill>
                <a:latin typeface="Arial"/>
                <a:ea typeface="Arial"/>
                <a:cs typeface="Arial"/>
              </a:rPr>
              <a:t>- packages/agent/src/memory_flush.ts</a:t>
            </a:r>
          </a:p>
          <a:p>
            <a:pPr indent="0">
              <a:lnSpc>
                <a:spcPct val="100000"/>
              </a:lnSpc>
              <a:buNone/>
            </a:pPr>
            <a:r>
              <a:rPr sz="2000" b="0" u="none">
                <a:solidFill>
                  <a:srgbClr val="000000"/>
                </a:solidFill>
                <a:latin typeface="Arial"/>
                <a:ea typeface="Arial"/>
                <a:cs typeface="Arial"/>
              </a:rPr>
              <a:t>- packages/agent/src/tools/catalog.ts</a:t>
            </a:r>
          </a:p>
          <a:p>
            <a:pPr indent="0">
              <a:lnSpc>
                <a:spcPct val="100000"/>
              </a:lnSpc>
              <a:buNone/>
            </a:pPr>
            <a:r>
              <a:rPr sz="2000" b="0" u="none">
                <a:solidFill>
                  <a:srgbClr val="000000"/>
                </a:solidFill>
                <a:latin typeface="Arial"/>
                <a:ea typeface="Arial"/>
                <a:cs typeface="Arial"/>
              </a:rP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t>[Sources]</a:t>
            </a:r>
          </a:p>
          <a:p>
            <a:r>
              <a:t>- Gu_OS_Agent_Runtime_and_Harness_Guide_v0.1.docx</a:t>
            </a:r>
          </a:p>
          <a:p>
            <a:r>
              <a:t>- docs/architecture.md</a:t>
            </a:r>
          </a:p>
          <a:p>
            <a:r>
              <a:t>- docs/manuals/architecture-manual.md</a:t>
            </a:r>
          </a:p>
          <a:p>
            <a:r>
              <a:t>- packages/agent/src/graph.ts</a:t>
            </a:r>
          </a:p>
          <a:p>
            <a:r>
              <a:t>- packages/agent/src/model.ts</a:t>
            </a:r>
          </a:p>
          <a:p>
            <a:r>
              <a:t>- packages/agent/src/memory_flush.ts</a:t>
            </a:r>
          </a:p>
          <a:p>
            <a:r>
              <a:t>- packages/agent/src/tools/catalog.ts</a:t>
            </a:r>
          </a:p>
          <a:p>
            <a: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[UBICACIÓN RECOMENDADA]</a:t>
            </a:r>
          </a:p>
          <a:p>
            <a:r>
              <a:t>Session 3B · insertar después de la lámina original 9. Reemplaza 04_S3B_Context_and_Personal_Memory_Lifecycle_v1.0.</a:t>
            </a:r>
          </a:p>
          <a:p>
            <a:endParaRPr/>
          </a:p>
          <a:p>
            <a:r>
              <a:t>[PROPÓSITO]</a:t>
            </a:r>
          </a:p>
          <a:p>
            <a:r>
              <a:t>Explicar el lifecycle completo de memoria y contexto, distinguir microcompaction de LLM compaction y aclarar el papel limitado de la detección de cambio de tema.</a:t>
            </a:r>
          </a:p>
          <a:p>
            <a:endParaRPr/>
          </a:p>
          <a:p>
            <a:r>
              <a:t>[GUION DIDÁCTICO]</a:t>
            </a:r>
          </a:p>
          <a:p>
            <a:r>
              <a:t>Empiece separando contexto de memoria. El contexto es el conjunto de información que recibe el modelo en una invocación. La memoria personal es un almacén durable de hechos útiles sobre el usuario. Compaction administra el contexto activo. Memory flush decide qué señales personales merecen persistir.</a:t>
            </a:r>
          </a:p>
          <a:p>
            <a:endParaRPr/>
          </a:p>
          <a:p>
            <a:r>
              <a:t>Antes del graph puede ocurrir un catch-up. Si la sesión estuvo inactiva o el usuario cambió entre Web y Telegram, el endpoint puede consolidar mensajes pendientes antes de ejecutar runAgent. Esto mejora la continuidad cross-channel porque memory_injection puede recuperar hechos recién consolidados.</a:t>
            </a:r>
          </a:p>
          <a:p>
            <a:endParaRPr/>
          </a:p>
          <a:p>
            <a:r>
              <a:t>En un turno Web o Telegram normal, memory_injection genera un embedding del último mensaje. En paralelo, busca memorias similares y carga el embedding anterior de la sesión. La búsqueda top-K devuelve candidatos por similitud con un piso configurable. Las memorias recuperadas se incorporan como un bloque acotado en el primer SystemMessage. Un fallo del servicio de embeddings o retrieval no bloquea el turno.</a:t>
            </a:r>
          </a:p>
          <a:p>
            <a:endParaRPr/>
          </a:p>
          <a:p>
            <a:r>
              <a:t>La comparación cosine entre el mensaje actual y el anterior produce una señal de topic shift cuando la similitud cae debajo del umbral. Esta señal no interpreta el negocio. No cambia de Skill, no abre una conversación nueva, no crea un Case y no elimina mensajes. Sólo aumenta la urgencia de consolidar memoria después del turno para que el tema anterior no quede enterrado por una conversación distinta. Otros triggers cubren conversaciones largas, inactividad y cambio de canal.</a:t>
            </a:r>
          </a:p>
          <a:p>
            <a:endParaRPr/>
          </a:p>
          <a:p>
            <a:r>
              <a:t>Durante el graph, compaction protege la ventana de contexto. Microcompaction no usa un modelo. Recorre los ToolMessages y, cuando existen más de cinco resultados, conserva completos los cinco recientes y sustituye los antiguos con una marca que mantiene identidad y orden. Reduce tokens sin reescribir toda la conversación.</a:t>
            </a:r>
          </a:p>
          <a:p>
            <a:endParaRPr/>
          </a:p>
          <a:p>
            <a:r>
              <a:t>LLM compaction constituye una segunda etapa. Si el contexto estimado alcanza aproximadamente el 80 por ciento de una ventana objetivo de 120 mil tokens, Haiku genera un resumen estructurado. El runtime preserva el SystemMessage inicial, el último mensaje humano y operaciones recientes. Un circuit breaker detiene intentos después de tres fallos consecutivos. Si no alcanza el umbral, no existe una llamada adicional al modelo.</a:t>
            </a:r>
          </a:p>
          <a:p>
            <a:endParaRPr/>
          </a:p>
          <a:p>
            <a:r>
              <a:t>Después de una respuesta limpia y sin confirmación pendiente, el endpoint evalúa triggers de flush. Haiku extrae candidatos episódicos, semánticos o procedurales. Los candidatos pasan por validación, dedup por content hash y embedding antes de persistir en memories. Un watermark evita reprocesar indefinidamente el mismo tramo.</a:t>
            </a:r>
          </a:p>
          <a:p>
            <a:endParaRPr/>
          </a:p>
          <a:p>
            <a:r>
              <a:t>Explique los tipos. Episodic registra algo concreto que ocurrió al usuario. Semantic captura preferencias, relaciones o conocimiento personal durable. Procedural registra cómo prefiere que Gu trabaje. Ninguno debe congelar como memoria personal el estado vivo de leads, propiedades, contratos o Cases. Esos datos pertenecen a sus sistemas de registro y planos operativos.</a:t>
            </a:r>
          </a:p>
          <a:p>
            <a:endParaRPr/>
          </a:p>
          <a:p>
            <a:r>
              <a:t>Cierre con la diferencia: microcompaction elimina detalle antiguo de tools mediante reglas; LLM compaction resume historial cuando la ventana lo exige; memory flush convierte conversación en candidatos durables para otros turnos.</a:t>
            </a:r>
          </a:p>
          <a:p>
            <a:endParaRPr/>
          </a:p>
          <a:p>
            <a:r>
              <a:t>[GLOSARIO]</a:t>
            </a:r>
          </a:p>
          <a:p>
            <a:r>
              <a:t>Context window: presupuesto de tokens disponible para una invocación.</a:t>
            </a:r>
          </a:p>
          <a:p>
            <a:r>
              <a:t>Retrieval: recuperación de recuerdos candidatos para el mensaje actual.</a:t>
            </a:r>
          </a:p>
          <a:p>
            <a:r>
              <a:t>Top-K: número máximo de candidatos con mayor similitud.</a:t>
            </a:r>
          </a:p>
          <a:p>
            <a:r>
              <a:t>Cosine similarity: medida entre embeddings utilizada como señal de relación temática.</a:t>
            </a:r>
          </a:p>
          <a:p>
            <a:r>
              <a:t>Topic shift: señal heurística de posible cambio de tema.</a:t>
            </a:r>
          </a:p>
          <a:p>
            <a:r>
              <a:t>Microcompaction: limpieza determinística de resultados antiguos de tools.</a:t>
            </a:r>
          </a:p>
          <a:p>
            <a:r>
              <a:t>LLM compaction: resumen del historial mediante un modelo al superar un umbral.</a:t>
            </a:r>
          </a:p>
          <a:p>
            <a:r>
              <a:t>Memory flush: extracción y persistencia post-turn de recuerdos candidatos.</a:t>
            </a:r>
          </a:p>
          <a:p>
            <a:r>
              <a:t>Episodic memory: acontecimiento personal concreto.</a:t>
            </a:r>
          </a:p>
          <a:p>
            <a:r>
              <a:t>Semantic memory: preferencia, relación o conocimiento personal durable.</a:t>
            </a:r>
          </a:p>
          <a:p>
            <a:r>
              <a:t>Procedural memory: forma en que el usuario quiere que Gu trabaje.</a:t>
            </a:r>
          </a:p>
          <a:p>
            <a:r>
              <a:t>Watermark: punto hasta el cual el sistema ya procesó mensajes para memoria.</a:t>
            </a:r>
          </a:p>
          <a:p>
            <a:endParaRPr/>
          </a:p>
          <a:p>
            <a:r>
              <a:t>[FUENTES]</a:t>
            </a:r>
          </a:p>
          <a:p>
            <a:r>
              <a:t>- packages/agent/src/nodes/memory_injection_node.ts</a:t>
            </a:r>
          </a:p>
          <a:p>
            <a:r>
              <a:t>- packages/agent/src/nodes/compaction_node.ts</a:t>
            </a:r>
          </a:p>
          <a:p>
            <a:r>
              <a:t>- packages/agent/src/memory_flush.ts</a:t>
            </a:r>
          </a:p>
          <a:p>
            <a:r>
              <a:t>- apps/web/src/lib/memory/trigger.ts</a:t>
            </a:r>
          </a:p>
          <a:p>
            <a:r>
              <a:t>- docs/architecture.md § Memoria</a:t>
            </a:r>
          </a:p>
          <a:p>
            <a:r>
              <a:t>- docs/memory/short_memory_plan.md</a:t>
            </a:r>
          </a:p>
          <a:p>
            <a:r>
              <a:t>- docs/memory/long_term_memory_plan.md</a:t>
            </a:r>
          </a:p>
          <a:p>
            <a:r>
              <a:t>- Baseline: janotowers/Gu-OS main @ 5a6fbb05117042e1f7c47c911e0e2bc14d068340 · verificado 11 septiembre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[Insertion]</a:t>
            </a:r>
          </a:p>
          <a:p>
            <a:r>
              <a:t>Session 3B · immediately after insert 04</a:t>
            </a:r>
          </a:p>
          <a:p>
            <a:endParaRPr/>
          </a:p>
          <a:p>
            <a:r>
              <a:t>[Sources]</a:t>
            </a:r>
          </a:p>
          <a:p>
            <a:r>
              <a:t>- docs/brain/gbrain-evaluation-and-plan.md</a:t>
            </a:r>
          </a:p>
          <a:p>
            <a:r>
              <a:t>- docs/brain/business-and-platform-brain-boundary.md</a:t>
            </a:r>
          </a:p>
          <a:p>
            <a:r>
              <a:t>- docs/roadmap/gu-os-evolution-roadmap.md</a:t>
            </a:r>
          </a:p>
          <a:p>
            <a:r>
              <a:t>- AGENTS.md §4</a:t>
            </a:r>
          </a:p>
          <a:p>
            <a:r>
              <a:t>- Baseline: janotowers/Gu-OS main @ 5a6fbb05117042e1f7c47c911e0e2bc14d068340 · verified 10 September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packages/agent/src/graph.ts</a:t>
            </a:r>
          </a:p>
          <a:p>
            <a:pPr indent="0">
              <a:lnSpc>
                <a:spcPct val="100000"/>
              </a:lnSpc>
              <a:buNone/>
            </a:pPr>
            <a:r>
              <a:rPr sz="2000" b="0" u="none">
                <a:solidFill>
                  <a:srgbClr val="000000"/>
                </a:solidFill>
                <a:latin typeface="Arial"/>
                <a:ea typeface="Arial"/>
                <a:cs typeface="Arial"/>
              </a:rPr>
              <a:t>- packages/agent/src/model.ts</a:t>
            </a:r>
          </a:p>
          <a:p>
            <a:pPr indent="0">
              <a:lnSpc>
                <a:spcPct val="100000"/>
              </a:lnSpc>
              <a:buNone/>
            </a:pPr>
            <a:r>
              <a:rPr sz="2000" b="0" u="none">
                <a:solidFill>
                  <a:srgbClr val="000000"/>
                </a:solidFill>
                <a:latin typeface="Arial"/>
                <a:ea typeface="Arial"/>
                <a:cs typeface="Arial"/>
              </a:rPr>
              <a:t>- packages/agent/src/memory_flush.ts</a:t>
            </a:r>
          </a:p>
          <a:p>
            <a:pPr indent="0">
              <a:lnSpc>
                <a:spcPct val="100000"/>
              </a:lnSpc>
              <a:buNone/>
            </a:pPr>
            <a:r>
              <a:rPr sz="2000" b="0" u="none">
                <a:solidFill>
                  <a:srgbClr val="000000"/>
                </a:solidFill>
                <a:latin typeface="Arial"/>
                <a:ea typeface="Arial"/>
                <a:cs typeface="Arial"/>
              </a:rPr>
              <a:t>- packages/agent/src/tools/catalog.ts</a:t>
            </a:r>
          </a:p>
          <a:p>
            <a:pPr indent="0">
              <a:lnSpc>
                <a:spcPct val="100000"/>
              </a:lnSpc>
              <a:buNone/>
            </a:pPr>
            <a:r>
              <a:rPr sz="2000" b="0" u="none">
                <a:solidFill>
                  <a:srgbClr val="000000"/>
                </a:solidFill>
                <a:latin typeface="Arial"/>
                <a:ea typeface="Arial"/>
                <a:cs typeface="Arial"/>
              </a:rP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dirty="0"/>
              <a:t>[Sources]</a:t>
            </a:r>
          </a:p>
          <a:p>
            <a:r>
              <a:rPr dirty="0"/>
              <a:t>- Gu_OS_Agent_Runtime_and_Harness_Guide_v0.1.docx</a:t>
            </a:r>
          </a:p>
          <a:p>
            <a:r>
              <a:rPr dirty="0"/>
              <a:t>- docs/architecture.md</a:t>
            </a:r>
          </a:p>
          <a:p>
            <a:r>
              <a:rPr dirty="0"/>
              <a:t>- docs/manuals/architecture-manual.md</a:t>
            </a:r>
          </a:p>
          <a:p>
            <a:r>
              <a:rPr dirty="0"/>
              <a:t>- packages/agent/</a:t>
            </a:r>
            <a:r>
              <a:rPr dirty="0" err="1"/>
              <a:t>src</a:t>
            </a:r>
            <a:r>
              <a:rPr dirty="0"/>
              <a:t>/</a:t>
            </a:r>
            <a:r>
              <a:rPr dirty="0" err="1"/>
              <a:t>graph.ts</a:t>
            </a:r>
            <a:endParaRPr dirty="0"/>
          </a:p>
          <a:p>
            <a:r>
              <a:rPr dirty="0"/>
              <a:t>- packages/agent/</a:t>
            </a:r>
            <a:r>
              <a:rPr dirty="0" err="1"/>
              <a:t>src</a:t>
            </a:r>
            <a:r>
              <a:rPr dirty="0"/>
              <a:t>/</a:t>
            </a:r>
            <a:r>
              <a:rPr dirty="0" err="1"/>
              <a:t>model.ts</a:t>
            </a:r>
            <a:endParaRPr dirty="0"/>
          </a:p>
          <a:p>
            <a:r>
              <a:rPr dirty="0"/>
              <a:t>- packages/agent/</a:t>
            </a:r>
            <a:r>
              <a:rPr dirty="0" err="1"/>
              <a:t>src</a:t>
            </a:r>
            <a:r>
              <a:rPr dirty="0"/>
              <a:t>/</a:t>
            </a:r>
            <a:r>
              <a:rPr dirty="0" err="1"/>
              <a:t>memory_flush.ts</a:t>
            </a:r>
            <a:endParaRPr dirty="0"/>
          </a:p>
          <a:p>
            <a:r>
              <a:rPr dirty="0"/>
              <a:t>- packages/agent/</a:t>
            </a:r>
            <a:r>
              <a:rPr dirty="0" err="1"/>
              <a:t>src</a:t>
            </a:r>
            <a:r>
              <a:rPr dirty="0"/>
              <a:t>/tools/</a:t>
            </a:r>
            <a:r>
              <a:rPr dirty="0" err="1"/>
              <a:t>catalog.ts</a:t>
            </a:r>
            <a:endParaRPr dirty="0"/>
          </a:p>
          <a:p>
            <a:r>
              <a:rPr dirty="0"/>
              <a:t>- Baseline: </a:t>
            </a:r>
            <a:r>
              <a:rPr dirty="0" err="1"/>
              <a:t>janotowers</a:t>
            </a:r>
            <a:r>
              <a:rPr dirty="0"/>
              <a:t>/Gu-OS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packages/agent/src/graph.ts</a:t>
            </a:r>
          </a:p>
          <a:p>
            <a:pPr indent="0">
              <a:lnSpc>
                <a:spcPct val="100000"/>
              </a:lnSpc>
              <a:buNone/>
            </a:pPr>
            <a:r>
              <a:rPr sz="2000" b="0" u="none">
                <a:solidFill>
                  <a:srgbClr val="000000"/>
                </a:solidFill>
                <a:latin typeface="Arial"/>
                <a:ea typeface="Arial"/>
                <a:cs typeface="Arial"/>
              </a:rPr>
              <a:t>- packages/agent/src/model.ts</a:t>
            </a:r>
          </a:p>
          <a:p>
            <a:pPr indent="0">
              <a:lnSpc>
                <a:spcPct val="100000"/>
              </a:lnSpc>
              <a:buNone/>
            </a:pPr>
            <a:r>
              <a:rPr sz="2000" b="0" u="none">
                <a:solidFill>
                  <a:srgbClr val="000000"/>
                </a:solidFill>
                <a:latin typeface="Arial"/>
                <a:ea typeface="Arial"/>
                <a:cs typeface="Arial"/>
              </a:rPr>
              <a:t>- packages/agent/src/memory_flush.ts</a:t>
            </a:r>
          </a:p>
          <a:p>
            <a:pPr indent="0">
              <a:lnSpc>
                <a:spcPct val="100000"/>
              </a:lnSpc>
              <a:buNone/>
            </a:pPr>
            <a:r>
              <a:rPr sz="2000" b="0" u="none">
                <a:solidFill>
                  <a:srgbClr val="000000"/>
                </a:solidFill>
                <a:latin typeface="Arial"/>
                <a:ea typeface="Arial"/>
                <a:cs typeface="Arial"/>
              </a:rPr>
              <a:t>- packages/agent/src/tools/catalog.ts</a:t>
            </a:r>
          </a:p>
          <a:p>
            <a:pPr indent="0">
              <a:lnSpc>
                <a:spcPct val="100000"/>
              </a:lnSpc>
              <a:buNone/>
            </a:pPr>
            <a:r>
              <a:rPr sz="2000" b="0" u="none">
                <a:solidFill>
                  <a:srgbClr val="000000"/>
                </a:solidFill>
                <a:latin typeface="Arial"/>
                <a:ea typeface="Arial"/>
                <a:cs typeface="Arial"/>
              </a:rP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MX" b="1" dirty="0"/>
              <a:t>Speaker Notes</a:t>
            </a:r>
          </a:p>
          <a:p>
            <a:endParaRPr lang="es-MX" b="1" dirty="0"/>
          </a:p>
          <a:p>
            <a:r>
              <a:rPr lang="es-MX" b="1" dirty="0"/>
              <a:t>Guion didáctico</a:t>
            </a:r>
          </a:p>
          <a:p>
            <a:r>
              <a:rPr lang="es-MX" dirty="0"/>
              <a:t>Anteriormente vimos que </a:t>
            </a:r>
            <a:r>
              <a:rPr lang="es-MX" sz="1200" kern="1200" dirty="0" err="1"/>
              <a:t>runAgent</a:t>
            </a:r>
            <a:r>
              <a:rPr lang="es-MX" dirty="0"/>
              <a:t> y el </a:t>
            </a:r>
            <a:r>
              <a:rPr lang="es-MX" dirty="0" err="1"/>
              <a:t>StateGraph</a:t>
            </a:r>
            <a:r>
              <a:rPr lang="es-MX" dirty="0"/>
              <a:t> forman parte de un Agent </a:t>
            </a:r>
            <a:r>
              <a:rPr lang="es-MX" dirty="0" err="1"/>
              <a:t>Runtime</a:t>
            </a:r>
            <a:r>
              <a:rPr lang="es-MX" dirty="0"/>
              <a:t> común. Ahora vamos a observar quién puede invocar ese </a:t>
            </a:r>
            <a:r>
              <a:rPr lang="es-MX" dirty="0" err="1"/>
              <a:t>runtime</a:t>
            </a:r>
            <a:r>
              <a:rPr lang="es-MX" dirty="0"/>
              <a:t> y por qué una ejecución web no se comporta exactamente igual que una tarea programada o un Case operacional.</a:t>
            </a:r>
          </a:p>
          <a:p>
            <a:endParaRPr lang="es-MX" dirty="0"/>
          </a:p>
          <a:p>
            <a:r>
              <a:rPr lang="es-MX" dirty="0"/>
              <a:t>Primero debemos separar dos conceptos que pueden confundirse.</a:t>
            </a:r>
          </a:p>
          <a:p>
            <a:r>
              <a:rPr lang="es-MX" dirty="0"/>
              <a:t>Un adaptador o runner vive fuera del Agent </a:t>
            </a:r>
            <a:r>
              <a:rPr lang="es-MX" dirty="0" err="1"/>
              <a:t>Runtime</a:t>
            </a:r>
            <a:r>
              <a:rPr lang="es-MX" dirty="0"/>
              <a:t>. Recibe una interacción o detecta trabajo pendiente, resuelve la información necesaria y llama a </a:t>
            </a:r>
            <a:r>
              <a:rPr lang="es-MX" sz="1200" kern="1200" dirty="0" err="1"/>
              <a:t>runAgent</a:t>
            </a:r>
            <a:r>
              <a:rPr lang="es-MX" dirty="0"/>
              <a:t>.</a:t>
            </a:r>
          </a:p>
          <a:p>
            <a:r>
              <a:rPr lang="es-MX" dirty="0"/>
              <a:t>El parámetro </a:t>
            </a:r>
            <a:r>
              <a:rPr lang="es-MX" sz="1200" kern="1200" dirty="0" err="1"/>
              <a:t>channel</a:t>
            </a:r>
            <a:r>
              <a:rPr lang="es-MX" dirty="0"/>
              <a:t> sí entra a </a:t>
            </a:r>
            <a:r>
              <a:rPr lang="es-MX" sz="1200" kern="1200" dirty="0" err="1"/>
              <a:t>runAgent</a:t>
            </a:r>
            <a:r>
              <a:rPr lang="es-MX" dirty="0"/>
              <a:t>, pero sólo como contexto de ejecución. No es el adaptador, no mueve mensajes entre sistemas y no concede autoridad. Le dice al </a:t>
            </a:r>
            <a:r>
              <a:rPr lang="es-MX" dirty="0" err="1"/>
              <a:t>runtime</a:t>
            </a:r>
            <a:r>
              <a:rPr lang="es-MX" dirty="0"/>
              <a:t> de dónde viene el trabajo para que aplique la memoria, las </a:t>
            </a:r>
            <a:r>
              <a:rPr lang="es-MX" dirty="0" err="1"/>
              <a:t>tools</a:t>
            </a:r>
            <a:r>
              <a:rPr lang="es-MX" dirty="0"/>
              <a:t> y las políticas apropiadas.</a:t>
            </a:r>
          </a:p>
          <a:p>
            <a:endParaRPr lang="es-MX" dirty="0"/>
          </a:p>
          <a:p>
            <a:r>
              <a:rPr lang="es-MX" dirty="0"/>
              <a:t>En la primera caja de esta lámina tenemos los canales interactivos: Web y Telegram.</a:t>
            </a:r>
          </a:p>
          <a:p>
            <a:pPr marL="171450" indent="-171450">
              <a:buFont typeface="Arial" panose="020B0604020202020204" pitchFamily="34" charset="0"/>
              <a:buChar char="•"/>
            </a:pPr>
            <a:r>
              <a:rPr lang="es-MX" dirty="0"/>
              <a:t>En Web, el usuario hace una pregunta y normalmente espera una respuesta en la misma solicitud o sesión. El adaptador web puede mostrar streaming, resultados de </a:t>
            </a:r>
            <a:r>
              <a:rPr lang="es-MX" dirty="0" err="1"/>
              <a:t>tools</a:t>
            </a:r>
            <a:r>
              <a:rPr lang="es-MX" dirty="0"/>
              <a:t> y solicitudes de aprobación.</a:t>
            </a:r>
          </a:p>
          <a:p>
            <a:pPr marL="171450" indent="-171450">
              <a:buFont typeface="Arial" panose="020B0604020202020204" pitchFamily="34" charset="0"/>
              <a:buChar char="•"/>
            </a:pPr>
            <a:r>
              <a:rPr lang="es-MX" dirty="0"/>
              <a:t>Telegram es también interactivo, pero utiliza mensajería y </a:t>
            </a:r>
            <a:r>
              <a:rPr lang="es-MX" dirty="0" err="1"/>
              <a:t>callbacks</a:t>
            </a:r>
            <a:r>
              <a:rPr lang="es-MX" dirty="0"/>
              <a:t>. Una aprobación HITL puede aparecer como botones y, cuando el usuario responde, el adaptador reanuda la ejecución utilizando el </a:t>
            </a:r>
            <a:r>
              <a:rPr lang="es-MX" dirty="0" err="1"/>
              <a:t>checkpoint</a:t>
            </a:r>
            <a:r>
              <a:rPr lang="es-MX" dirty="0"/>
              <a:t> correspondiente.</a:t>
            </a:r>
          </a:p>
          <a:p>
            <a:r>
              <a:rPr lang="es-MX" dirty="0"/>
              <a:t>Web y Telegram mantienen sesiones conversacionales. Pueden cargar historia reciente, recuperar recuerdos personales relevantes y disparar el </a:t>
            </a:r>
            <a:r>
              <a:rPr lang="es-MX" dirty="0" err="1"/>
              <a:t>memory</a:t>
            </a:r>
            <a:r>
              <a:rPr lang="es-MX" dirty="0"/>
              <a:t> </a:t>
            </a:r>
            <a:r>
              <a:rPr lang="es-MX" dirty="0" err="1"/>
              <a:t>flush</a:t>
            </a:r>
            <a:r>
              <a:rPr lang="es-MX" dirty="0"/>
              <a:t> después del turno. La identidad entre canales permite reconocer a la misma cuenta, aunque Web y Telegram tengan superficies y mecanismos de entrega diferentes.</a:t>
            </a:r>
          </a:p>
          <a:p>
            <a:endParaRPr lang="es-MX" dirty="0"/>
          </a:p>
          <a:p>
            <a:r>
              <a:rPr lang="es-MX" dirty="0"/>
              <a:t>En la segunda columna tenemos dos runners asíncronos: </a:t>
            </a:r>
            <a:r>
              <a:rPr lang="es-MX" dirty="0" err="1"/>
              <a:t>Scheduled</a:t>
            </a:r>
            <a:r>
              <a:rPr lang="es-MX" dirty="0"/>
              <a:t> </a:t>
            </a:r>
            <a:r>
              <a:rPr lang="es-MX" dirty="0" err="1"/>
              <a:t>Tasks</a:t>
            </a:r>
            <a:r>
              <a:rPr lang="es-MX" dirty="0"/>
              <a:t> y </a:t>
            </a:r>
            <a:r>
              <a:rPr lang="es-MX" dirty="0" err="1"/>
              <a:t>Heartbeat</a:t>
            </a:r>
            <a:r>
              <a:rPr lang="es-MX" dirty="0"/>
              <a:t>. Ambos pueden ser disparados por un </a:t>
            </a:r>
            <a:r>
              <a:rPr lang="es-MX" dirty="0" err="1"/>
              <a:t>scheduler</a:t>
            </a:r>
            <a:r>
              <a:rPr lang="es-MX" dirty="0"/>
              <a:t> externo, pero no representan lo mismo.</a:t>
            </a:r>
          </a:p>
          <a:p>
            <a:endParaRPr lang="es-MX" dirty="0"/>
          </a:p>
          <a:p>
            <a:r>
              <a:rPr lang="es-MX" dirty="0" err="1"/>
              <a:t>Scheduled</a:t>
            </a:r>
            <a:r>
              <a:rPr lang="es-MX" dirty="0"/>
              <a:t> </a:t>
            </a:r>
            <a:r>
              <a:rPr lang="es-MX" dirty="0" err="1"/>
              <a:t>Tasks</a:t>
            </a:r>
            <a:r>
              <a:rPr lang="es-MX" dirty="0"/>
              <a:t> utiliza </a:t>
            </a:r>
            <a:r>
              <a:rPr lang="es-MX" sz="1200" kern="1200" dirty="0" err="1"/>
              <a:t>channel</a:t>
            </a:r>
            <a:r>
              <a:rPr lang="es-MX" sz="1200" kern="1200" dirty="0"/>
              <a:t>="cron"</a:t>
            </a:r>
            <a:r>
              <a:rPr lang="es-MX" dirty="0"/>
              <a:t>. El usuario programó previamente una instrucción concreta, por ejemplo: ‘Todos los lunes a las nueve genera el reporte de leads y envíamelo’. El runner encuentra la tarea vencida y llama a </a:t>
            </a:r>
            <a:r>
              <a:rPr lang="es-MX" sz="1200" kern="1200" dirty="0" err="1"/>
              <a:t>runAgent</a:t>
            </a:r>
            <a:r>
              <a:rPr lang="es-MX" dirty="0"/>
              <a:t> con el </a:t>
            </a:r>
            <a:r>
              <a:rPr lang="es-MX" dirty="0" err="1"/>
              <a:t>prompt</a:t>
            </a:r>
            <a:r>
              <a:rPr lang="es-MX" dirty="0"/>
              <a:t> y la </a:t>
            </a:r>
            <a:r>
              <a:rPr lang="es-MX" dirty="0" err="1"/>
              <a:t>policy</a:t>
            </a:r>
            <a:r>
              <a:rPr lang="es-MX" dirty="0"/>
              <a:t> persistidos.</a:t>
            </a:r>
          </a:p>
          <a:p>
            <a:r>
              <a:rPr lang="es-MX" dirty="0"/>
              <a:t>En este contexto, </a:t>
            </a:r>
            <a:r>
              <a:rPr lang="es-MX" sz="1200" kern="1200" dirty="0" err="1"/>
              <a:t>autoApproveTools</a:t>
            </a:r>
            <a:r>
              <a:rPr lang="es-MX" dirty="0"/>
              <a:t> puede evitar una segunda aprobación porque el usuario ya aprobó la tarea al programarla. Eso no significa autoridad ilimitada. La ejecución permanece acotada por las </a:t>
            </a:r>
            <a:r>
              <a:rPr lang="es-MX" dirty="0" err="1"/>
              <a:t>tools</a:t>
            </a:r>
            <a:r>
              <a:rPr lang="es-MX" dirty="0"/>
              <a:t> habilitadas, la Skill, la configuración persistida y las restricciones del </a:t>
            </a:r>
            <a:r>
              <a:rPr lang="es-MX" dirty="0" err="1"/>
              <a:t>runtime</a:t>
            </a:r>
            <a:r>
              <a:rPr lang="es-MX" dirty="0"/>
              <a:t>.</a:t>
            </a:r>
          </a:p>
          <a:p>
            <a:endParaRPr lang="es-MX" dirty="0"/>
          </a:p>
          <a:p>
            <a:r>
              <a:rPr lang="es-MX" dirty="0" err="1"/>
              <a:t>Heartbeat</a:t>
            </a:r>
            <a:r>
              <a:rPr lang="es-MX" dirty="0"/>
              <a:t> utiliza </a:t>
            </a:r>
            <a:r>
              <a:rPr lang="es-MX" sz="1200" kern="1200" dirty="0" err="1"/>
              <a:t>channel</a:t>
            </a:r>
            <a:r>
              <a:rPr lang="es-MX" sz="1200" kern="1200" dirty="0"/>
              <a:t>="</a:t>
            </a:r>
            <a:r>
              <a:rPr lang="es-MX" sz="1200" kern="1200" dirty="0" err="1"/>
              <a:t>heartbeat</a:t>
            </a:r>
            <a:r>
              <a:rPr lang="es-MX" sz="1200" kern="1200" dirty="0"/>
              <a:t>"</a:t>
            </a:r>
            <a:r>
              <a:rPr lang="es-MX" dirty="0"/>
              <a:t>. También lo dispara un </a:t>
            </a:r>
            <a:r>
              <a:rPr lang="es-MX" dirty="0" err="1"/>
              <a:t>scheduler</a:t>
            </a:r>
            <a:r>
              <a:rPr lang="es-MX" dirty="0"/>
              <a:t>, pero no ejecuta un </a:t>
            </a:r>
            <a:r>
              <a:rPr lang="es-MX" dirty="0" err="1"/>
              <a:t>prompt</a:t>
            </a:r>
            <a:r>
              <a:rPr lang="es-MX" dirty="0"/>
              <a:t> arbitrario guardado por cada tarea. Revisa periódicamente una </a:t>
            </a:r>
            <a:r>
              <a:rPr lang="es-MX" dirty="0" err="1"/>
              <a:t>checklist</a:t>
            </a:r>
            <a:r>
              <a:rPr lang="es-MX" dirty="0"/>
              <a:t> de señales. Por ejemplo, puede revisar próximas citas, tareas vencidas o excepciones que ameriten atención.</a:t>
            </a:r>
          </a:p>
          <a:p>
            <a:r>
              <a:rPr lang="es-MX" dirty="0" err="1"/>
              <a:t>Heartbeat</a:t>
            </a:r>
            <a:r>
              <a:rPr lang="es-MX" dirty="0"/>
              <a:t> opera de forma más conservadora. No carga la historia corta normal de una conversación y puede usar memoria persistente curada. Sus </a:t>
            </a:r>
            <a:r>
              <a:rPr lang="es-MX" dirty="0" err="1"/>
              <a:t>tools</a:t>
            </a:r>
            <a:r>
              <a:rPr lang="es-MX" dirty="0"/>
              <a:t> son principalmente de lectura y algunas señales pueden obtenerse mediante </a:t>
            </a:r>
            <a:r>
              <a:rPr lang="es-MX" dirty="0" err="1"/>
              <a:t>prefetchers</a:t>
            </a:r>
            <a:r>
              <a:rPr lang="es-MX" dirty="0"/>
              <a:t> determinísticos antes de consultar al modelo.</a:t>
            </a:r>
          </a:p>
          <a:p>
            <a:endParaRPr lang="es-MX" dirty="0"/>
          </a:p>
          <a:p>
            <a:r>
              <a:rPr lang="es-MX" dirty="0"/>
              <a:t>Esto explica una distinción importante: tres </a:t>
            </a:r>
            <a:r>
              <a:rPr lang="es-MX" dirty="0" err="1"/>
              <a:t>endpoints</a:t>
            </a:r>
            <a:r>
              <a:rPr lang="es-MX" dirty="0"/>
              <a:t> automatizados viven bajo rutas </a:t>
            </a:r>
            <a:r>
              <a:rPr lang="es-MX" sz="1200" kern="1200" dirty="0"/>
              <a:t>/api/cron/ (</a:t>
            </a:r>
            <a:r>
              <a:rPr lang="es-MX" sz="1200" kern="1200" dirty="0" err="1"/>
              <a:t>ie</a:t>
            </a:r>
            <a:r>
              <a:rPr lang="es-MX" sz="1200" kern="1200" dirty="0"/>
              <a:t>, los de tareas programadas, </a:t>
            </a:r>
            <a:r>
              <a:rPr lang="es-MX" sz="1200" kern="1200" dirty="0" err="1"/>
              <a:t>heartbeat</a:t>
            </a:r>
            <a:r>
              <a:rPr lang="es-MX" sz="1200" kern="1200" dirty="0"/>
              <a:t> y casos operacionales)</a:t>
            </a:r>
            <a:r>
              <a:rPr lang="es-MX" dirty="0"/>
              <a:t>, pero sólo </a:t>
            </a:r>
            <a:r>
              <a:rPr lang="es-MX" dirty="0" err="1"/>
              <a:t>Scheduled</a:t>
            </a:r>
            <a:r>
              <a:rPr lang="es-MX" dirty="0"/>
              <a:t> </a:t>
            </a:r>
            <a:r>
              <a:rPr lang="es-MX" dirty="0" err="1"/>
              <a:t>Tasks</a:t>
            </a:r>
            <a:r>
              <a:rPr lang="es-MX" dirty="0"/>
              <a:t> utiliza el valor de </a:t>
            </a:r>
            <a:r>
              <a:rPr lang="es-MX" dirty="0" err="1"/>
              <a:t>runtime</a:t>
            </a:r>
            <a:r>
              <a:rPr lang="es-MX" dirty="0"/>
              <a:t> </a:t>
            </a:r>
            <a:r>
              <a:rPr lang="es-MX" sz="1200" kern="1200" dirty="0" err="1"/>
              <a:t>channel</a:t>
            </a:r>
            <a:r>
              <a:rPr lang="es-MX" sz="1200" kern="1200" dirty="0"/>
              <a:t>="cron"</a:t>
            </a:r>
            <a:r>
              <a:rPr lang="es-MX" dirty="0"/>
              <a:t>. </a:t>
            </a:r>
            <a:r>
              <a:rPr lang="es-MX" dirty="0" err="1"/>
              <a:t>Heartbeat</a:t>
            </a:r>
            <a:r>
              <a:rPr lang="es-MX" dirty="0"/>
              <a:t> utiliza </a:t>
            </a:r>
            <a:r>
              <a:rPr lang="es-MX" sz="1200" kern="1200" dirty="0" err="1"/>
              <a:t>heartbeat</a:t>
            </a:r>
            <a:r>
              <a:rPr lang="es-MX" dirty="0"/>
              <a:t>.</a:t>
            </a:r>
          </a:p>
          <a:p>
            <a:r>
              <a:rPr lang="es-MX" dirty="0"/>
              <a:t>La tercera caja corresponde a </a:t>
            </a:r>
            <a:r>
              <a:rPr lang="es-MX" dirty="0" err="1"/>
              <a:t>Operational</a:t>
            </a:r>
            <a:r>
              <a:rPr lang="es-MX" dirty="0"/>
              <a:t> Cases y utiliza </a:t>
            </a:r>
            <a:r>
              <a:rPr lang="es-MX" sz="1200" kern="1200" dirty="0" err="1"/>
              <a:t>channel</a:t>
            </a:r>
            <a:r>
              <a:rPr lang="es-MX" sz="1200" kern="1200" dirty="0"/>
              <a:t>="</a:t>
            </a:r>
            <a:r>
              <a:rPr lang="es-MX" sz="1200" kern="1200" dirty="0" err="1"/>
              <a:t>case_runner</a:t>
            </a:r>
            <a:r>
              <a:rPr lang="es-MX" sz="1200" kern="1200" dirty="0"/>
              <a:t>"</a:t>
            </a:r>
            <a:r>
              <a:rPr lang="es-MX" dirty="0"/>
              <a:t> cuando el supervisor procesa automáticamente un Case.</a:t>
            </a:r>
          </a:p>
          <a:p>
            <a:endParaRPr lang="es-MX" dirty="0"/>
          </a:p>
          <a:p>
            <a:r>
              <a:rPr lang="es-MX" dirty="0"/>
              <a:t>Un Case representa responsabilidad durable. Puede permanecer activo durante horas o días, esperar documentos, decisiones humanas o respuestas de una persona externa.</a:t>
            </a:r>
          </a:p>
          <a:p>
            <a:r>
              <a:rPr lang="es-MX" dirty="0"/>
              <a:t>Pensemos en </a:t>
            </a:r>
            <a:r>
              <a:rPr lang="es-MX" dirty="0" err="1"/>
              <a:t>Property</a:t>
            </a:r>
            <a:r>
              <a:rPr lang="es-MX" dirty="0"/>
              <a:t> </a:t>
            </a:r>
            <a:r>
              <a:rPr lang="es-MX" dirty="0" err="1"/>
              <a:t>Optioning</a:t>
            </a:r>
            <a:r>
              <a:rPr lang="es-MX" dirty="0"/>
              <a:t>. </a:t>
            </a:r>
            <a:r>
              <a:rPr lang="es-MX" dirty="0" err="1"/>
              <a:t>Gu</a:t>
            </a:r>
            <a:r>
              <a:rPr lang="es-MX" dirty="0"/>
              <a:t> solicita documentos al propietario y el Case queda esperando. Cuando llega una respuesta o vence </a:t>
            </a:r>
            <a:r>
              <a:rPr lang="es-MX" sz="1200" kern="1200" dirty="0" err="1"/>
              <a:t>next_action_at</a:t>
            </a:r>
            <a:r>
              <a:rPr lang="es-MX" dirty="0"/>
              <a:t>, el runner de casos detecta que debe reconsiderarlo. Llama a </a:t>
            </a:r>
            <a:r>
              <a:rPr lang="es-MX" sz="1200" kern="1200" dirty="0" err="1"/>
              <a:t>runAgent</a:t>
            </a:r>
            <a:r>
              <a:rPr lang="es-MX" dirty="0"/>
              <a:t> con el </a:t>
            </a:r>
            <a:r>
              <a:rPr lang="es-MX" sz="1200" kern="1200" dirty="0" err="1"/>
              <a:t>caseId</a:t>
            </a:r>
            <a:r>
              <a:rPr lang="es-MX" dirty="0"/>
              <a:t>, y el </a:t>
            </a:r>
            <a:r>
              <a:rPr lang="es-MX" dirty="0" err="1"/>
              <a:t>runtime</a:t>
            </a:r>
            <a:r>
              <a:rPr lang="es-MX" dirty="0"/>
              <a:t> carga el estado del Case y sus eventos recientes.</a:t>
            </a:r>
          </a:p>
          <a:p>
            <a:r>
              <a:rPr lang="es-MX" dirty="0"/>
              <a:t>En lugar de utilizar libremente el selector general de </a:t>
            </a:r>
            <a:r>
              <a:rPr lang="es-MX" dirty="0" err="1"/>
              <a:t>Skills</a:t>
            </a:r>
            <a:r>
              <a:rPr lang="es-MX" dirty="0"/>
              <a:t>, el Case puede realizar </a:t>
            </a:r>
            <a:r>
              <a:rPr lang="es-MX" dirty="0" err="1"/>
              <a:t>binding</a:t>
            </a:r>
            <a:r>
              <a:rPr lang="es-MX" dirty="0"/>
              <a:t> directo a la Skill definida por su tipo o por su paso actual. También utiliza versión y </a:t>
            </a:r>
            <a:r>
              <a:rPr lang="es-MX" dirty="0" err="1"/>
              <a:t>lock</a:t>
            </a:r>
            <a:r>
              <a:rPr lang="es-MX" dirty="0"/>
              <a:t> para evitar que dos </a:t>
            </a:r>
            <a:r>
              <a:rPr lang="es-MX" dirty="0" err="1"/>
              <a:t>workers</a:t>
            </a:r>
            <a:r>
              <a:rPr lang="es-MX" dirty="0"/>
              <a:t> procesen simultáneamente la misma responsabilidad.</a:t>
            </a:r>
          </a:p>
          <a:p>
            <a:r>
              <a:rPr lang="es-MX" dirty="0"/>
              <a:t>El estado durable y los eventos </a:t>
            </a:r>
            <a:r>
              <a:rPr lang="es-MX" dirty="0" err="1"/>
              <a:t>append-only</a:t>
            </a:r>
            <a:r>
              <a:rPr lang="es-MX" dirty="0"/>
              <a:t> permiten explicar qué ocurrió, qué evidencia se recibió, qué decisión se tomó y qué debe suceder después.</a:t>
            </a:r>
          </a:p>
          <a:p>
            <a:endParaRPr lang="es-MX" dirty="0"/>
          </a:p>
          <a:p>
            <a:r>
              <a:rPr lang="es-MX" dirty="0"/>
              <a:t>Un Case también puede recibir interacción mediante Web o Telegram. En ese caso el canal sigue siendo </a:t>
            </a:r>
            <a:r>
              <a:rPr lang="es-MX" sz="1200" kern="1200" dirty="0"/>
              <a:t>web</a:t>
            </a:r>
            <a:r>
              <a:rPr lang="es-MX" dirty="0"/>
              <a:t> o </a:t>
            </a:r>
            <a:r>
              <a:rPr lang="es-MX" sz="1200" kern="1200" dirty="0" err="1"/>
              <a:t>telegram</a:t>
            </a:r>
            <a:r>
              <a:rPr lang="es-MX" dirty="0"/>
              <a:t>, pero </a:t>
            </a:r>
            <a:r>
              <a:rPr lang="es-MX" sz="1200" kern="1200" dirty="0" err="1"/>
              <a:t>runAgent</a:t>
            </a:r>
            <a:r>
              <a:rPr lang="es-MX" dirty="0"/>
              <a:t> recibe además el </a:t>
            </a:r>
            <a:r>
              <a:rPr lang="es-MX" sz="1200" kern="1200" dirty="0" err="1"/>
              <a:t>caseId</a:t>
            </a:r>
            <a:r>
              <a:rPr lang="es-MX" dirty="0"/>
              <a:t>. </a:t>
            </a:r>
            <a:r>
              <a:rPr lang="es-MX" sz="1200" kern="1200" dirty="0" err="1"/>
              <a:t>case_runner</a:t>
            </a:r>
            <a:r>
              <a:rPr lang="es-MX" dirty="0"/>
              <a:t> identifica específicamente la reconsideración autónoma del Case por el runner, no toda conversación relacionada con un Case.</a:t>
            </a:r>
          </a:p>
          <a:p>
            <a:endParaRPr lang="es-MX" dirty="0"/>
          </a:p>
          <a:p>
            <a:r>
              <a:rPr lang="es-MX" dirty="0"/>
              <a:t>La idea central de esta lámina es que </a:t>
            </a:r>
            <a:r>
              <a:rPr lang="es-MX" dirty="0" err="1"/>
              <a:t>Gu</a:t>
            </a:r>
            <a:r>
              <a:rPr lang="es-MX" dirty="0"/>
              <a:t> OS no mantiene cinco agentes separados. Adaptadores y runners diferentes invocan el mismo Agent </a:t>
            </a:r>
            <a:r>
              <a:rPr lang="es-MX" dirty="0" err="1"/>
              <a:t>Runtime</a:t>
            </a:r>
            <a:r>
              <a:rPr lang="es-MX" dirty="0"/>
              <a:t>. Cada origen aporta un contrato de ejecución distinto, mientras las políticas de negocio, el riesgo y el estado del trabajo delimitan la autoridad.</a:t>
            </a:r>
          </a:p>
          <a:p>
            <a:endParaRPr lang="es-MX" dirty="0"/>
          </a:p>
          <a:p>
            <a:r>
              <a:rPr lang="es-MX" dirty="0"/>
              <a:t>Para efectos de esta arquitectura y de la lámina es correcto decir que existen:</a:t>
            </a:r>
          </a:p>
          <a:p>
            <a:pPr marL="171450" indent="-171450">
              <a:buFont typeface="Arial" panose="020B0604020202020204" pitchFamily="34" charset="0"/>
              <a:buChar char="•"/>
            </a:pPr>
            <a:r>
              <a:rPr lang="es-MX" dirty="0"/>
              <a:t>Tipo: Adaptador interactivo – Componente: Web – </a:t>
            </a:r>
            <a:r>
              <a:rPr lang="es-MX" dirty="0" err="1"/>
              <a:t>channel</a:t>
            </a:r>
            <a:r>
              <a:rPr lang="es-MX" dirty="0"/>
              <a:t> enviado a </a:t>
            </a:r>
            <a:r>
              <a:rPr lang="es-MX" dirty="0" err="1"/>
              <a:t>runAgent</a:t>
            </a:r>
            <a:r>
              <a:rPr lang="es-MX" dirty="0"/>
              <a:t>: </a:t>
            </a:r>
            <a:r>
              <a:rPr lang="es-MX" sz="1200" kern="1200" dirty="0"/>
              <a:t>"web“ </a:t>
            </a:r>
            <a:endParaRPr lang="es-MX" dirty="0"/>
          </a:p>
          <a:p>
            <a:pPr marL="171450" indent="-171450">
              <a:buFont typeface="Arial" panose="020B0604020202020204" pitchFamily="34" charset="0"/>
              <a:buChar char="•"/>
            </a:pPr>
            <a:r>
              <a:rPr lang="es-MX" dirty="0"/>
              <a:t>Tipo: Adaptador interactivo – Componente: Telegram – </a:t>
            </a:r>
            <a:r>
              <a:rPr lang="es-MX" dirty="0" err="1"/>
              <a:t>channel</a:t>
            </a:r>
            <a:r>
              <a:rPr lang="es-MX" dirty="0"/>
              <a:t> enviado a </a:t>
            </a:r>
            <a:r>
              <a:rPr lang="es-MX" dirty="0" err="1"/>
              <a:t>runAgent</a:t>
            </a:r>
            <a:r>
              <a:rPr lang="es-MX" dirty="0"/>
              <a:t>: </a:t>
            </a:r>
            <a:r>
              <a:rPr lang="es-MX" sz="1200" kern="1200" dirty="0"/>
              <a:t>"</a:t>
            </a:r>
            <a:r>
              <a:rPr lang="es-MX" sz="1200" kern="1200" dirty="0" err="1"/>
              <a:t>telegram</a:t>
            </a:r>
            <a:r>
              <a:rPr lang="es-MX" sz="1200" kern="1200" dirty="0"/>
              <a:t>"</a:t>
            </a:r>
            <a:endParaRPr lang="es-MX" dirty="0"/>
          </a:p>
          <a:p>
            <a:pPr marL="171450" indent="-171450">
              <a:buFont typeface="Arial" panose="020B0604020202020204" pitchFamily="34" charset="0"/>
              <a:buChar char="•"/>
            </a:pPr>
            <a:r>
              <a:rPr lang="es-MX" dirty="0"/>
              <a:t>Tipo: Runner asíncrono – Componente: </a:t>
            </a:r>
            <a:r>
              <a:rPr lang="es-MX" dirty="0" err="1"/>
              <a:t>Scheduled</a:t>
            </a:r>
            <a:r>
              <a:rPr lang="es-MX" dirty="0"/>
              <a:t> </a:t>
            </a:r>
            <a:r>
              <a:rPr lang="es-MX" dirty="0" err="1"/>
              <a:t>Tasks</a:t>
            </a:r>
            <a:r>
              <a:rPr lang="es-MX" dirty="0"/>
              <a:t> – </a:t>
            </a:r>
            <a:r>
              <a:rPr lang="es-MX" dirty="0" err="1"/>
              <a:t>channel</a:t>
            </a:r>
            <a:r>
              <a:rPr lang="es-MX" dirty="0"/>
              <a:t> enviado a </a:t>
            </a:r>
            <a:r>
              <a:rPr lang="es-MX" dirty="0" err="1"/>
              <a:t>runAgent</a:t>
            </a:r>
            <a:r>
              <a:rPr lang="es-MX" dirty="0"/>
              <a:t>: </a:t>
            </a:r>
            <a:r>
              <a:rPr lang="es-MX" sz="1200" kern="1200" dirty="0"/>
              <a:t>"cron"</a:t>
            </a:r>
            <a:endParaRPr lang="es-MX" dirty="0"/>
          </a:p>
          <a:p>
            <a:pPr marL="171450" indent="-171450">
              <a:buFont typeface="Arial" panose="020B0604020202020204" pitchFamily="34" charset="0"/>
              <a:buChar char="•"/>
            </a:pPr>
            <a:r>
              <a:rPr lang="es-MX" dirty="0"/>
              <a:t>Tipo: Runner asíncrono – Componente: </a:t>
            </a:r>
            <a:r>
              <a:rPr lang="es-MX" dirty="0" err="1"/>
              <a:t>Heartbeat</a:t>
            </a:r>
            <a:r>
              <a:rPr lang="es-MX" dirty="0"/>
              <a:t> – </a:t>
            </a:r>
            <a:r>
              <a:rPr lang="es-MX" dirty="0" err="1"/>
              <a:t>channel</a:t>
            </a:r>
            <a:r>
              <a:rPr lang="es-MX" dirty="0"/>
              <a:t> enviado a </a:t>
            </a:r>
            <a:r>
              <a:rPr lang="es-MX" dirty="0" err="1"/>
              <a:t>runAgent</a:t>
            </a:r>
            <a:r>
              <a:rPr lang="es-MX" dirty="0"/>
              <a:t>: </a:t>
            </a:r>
            <a:r>
              <a:rPr lang="es-MX" sz="1200" kern="1200" dirty="0"/>
              <a:t>"</a:t>
            </a:r>
            <a:r>
              <a:rPr lang="es-MX" sz="1200" kern="1200" dirty="0" err="1"/>
              <a:t>heartbeat</a:t>
            </a:r>
            <a:r>
              <a:rPr lang="es-MX" sz="1200" kern="1200" dirty="0"/>
              <a:t>"</a:t>
            </a:r>
            <a:endParaRPr lang="es-MX" dirty="0"/>
          </a:p>
          <a:p>
            <a:pPr marL="171450" indent="-171450">
              <a:buFont typeface="Arial" panose="020B0604020202020204" pitchFamily="34" charset="0"/>
              <a:buChar char="•"/>
            </a:pPr>
            <a:r>
              <a:rPr lang="es-MX" dirty="0"/>
              <a:t>Tipo: Runner durable – Componente: </a:t>
            </a:r>
            <a:r>
              <a:rPr lang="es-MX" dirty="0" err="1"/>
              <a:t>Operational</a:t>
            </a:r>
            <a:r>
              <a:rPr lang="es-MX" dirty="0"/>
              <a:t> Cases – </a:t>
            </a:r>
            <a:r>
              <a:rPr lang="es-MX" dirty="0" err="1"/>
              <a:t>channel</a:t>
            </a:r>
            <a:r>
              <a:rPr lang="es-MX" dirty="0"/>
              <a:t> enviado a </a:t>
            </a:r>
            <a:r>
              <a:rPr lang="es-MX" dirty="0" err="1"/>
              <a:t>runAgent</a:t>
            </a:r>
            <a:r>
              <a:rPr lang="es-MX" dirty="0"/>
              <a:t>: </a:t>
            </a:r>
            <a:r>
              <a:rPr lang="es-MX" sz="1200" kern="1200" dirty="0"/>
              <a:t>"</a:t>
            </a:r>
            <a:r>
              <a:rPr lang="es-MX" sz="1200" kern="1200" dirty="0" err="1"/>
              <a:t>case_runner</a:t>
            </a:r>
            <a:r>
              <a:rPr lang="es-MX" sz="1200" kern="1200" dirty="0"/>
              <a:t>"</a:t>
            </a:r>
            <a:endParaRPr lang="es-MX" dirty="0"/>
          </a:p>
          <a:p>
            <a:endParaRPr lang="es-MX" dirty="0"/>
          </a:p>
          <a:p>
            <a:r>
              <a:rPr lang="es-MX" dirty="0"/>
              <a:t>La formulación precisa sería:</a:t>
            </a:r>
          </a:p>
          <a:p>
            <a:r>
              <a:rPr lang="es-MX" b="1" dirty="0" err="1"/>
              <a:t>Gu</a:t>
            </a:r>
            <a:r>
              <a:rPr lang="es-MX" b="1" dirty="0"/>
              <a:t> OS tiene dos adaptadores de interacción —Web y Telegram— y tres runners de ejecución —</a:t>
            </a:r>
            <a:r>
              <a:rPr lang="es-MX" b="1" dirty="0" err="1"/>
              <a:t>Scheduled</a:t>
            </a:r>
            <a:r>
              <a:rPr lang="es-MX" b="1" dirty="0"/>
              <a:t> </a:t>
            </a:r>
            <a:r>
              <a:rPr lang="es-MX" b="1" dirty="0" err="1"/>
              <a:t>Tasks</a:t>
            </a:r>
            <a:r>
              <a:rPr lang="es-MX" b="1" dirty="0"/>
              <a:t>, </a:t>
            </a:r>
            <a:r>
              <a:rPr lang="es-MX" b="1" dirty="0" err="1"/>
              <a:t>Heartbeat</a:t>
            </a:r>
            <a:r>
              <a:rPr lang="es-MX" b="1" dirty="0"/>
              <a:t> y </a:t>
            </a:r>
            <a:r>
              <a:rPr lang="es-MX" b="1" dirty="0" err="1"/>
              <a:t>Operational</a:t>
            </a:r>
            <a:r>
              <a:rPr lang="es-MX" b="1" dirty="0"/>
              <a:t> Cases—. Todos pueden invocar el mismo Agent </a:t>
            </a:r>
            <a:r>
              <a:rPr lang="es-MX" b="1" dirty="0" err="1"/>
              <a:t>Runtime</a:t>
            </a:r>
            <a:r>
              <a:rPr lang="es-MX" b="1" dirty="0"/>
              <a:t> mediante </a:t>
            </a:r>
            <a:r>
              <a:rPr lang="es-MX" sz="1200" b="1" kern="1200" dirty="0" err="1"/>
              <a:t>runAgent</a:t>
            </a:r>
            <a:r>
              <a:rPr lang="es-MX" b="1" dirty="0"/>
              <a:t>, indicando su correspondiente </a:t>
            </a:r>
            <a:r>
              <a:rPr lang="es-MX" sz="1200" b="1" kern="1200" dirty="0" err="1"/>
              <a:t>channel</a:t>
            </a:r>
            <a:r>
              <a:rPr lang="es-MX" b="1" dirty="0"/>
              <a:t>.</a:t>
            </a:r>
            <a:endParaRPr lang="es-MX" dirty="0"/>
          </a:p>
          <a:p>
            <a:endParaRPr lang="es-MX" dirty="0"/>
          </a:p>
          <a:p>
            <a:r>
              <a:rPr lang="es-MX" dirty="0"/>
              <a:t>Dos matices importantes:</a:t>
            </a:r>
          </a:p>
          <a:p>
            <a:pPr marL="171450" lvl="0" indent="-171450">
              <a:buFont typeface="Arial" panose="020B0604020202020204" pitchFamily="34" charset="0"/>
              <a:buChar char="•"/>
            </a:pPr>
            <a:r>
              <a:rPr lang="es-MX" sz="1200" kern="1200" dirty="0"/>
              <a:t>cron</a:t>
            </a:r>
            <a:r>
              <a:rPr lang="es-MX" dirty="0"/>
              <a:t> es el valor de </a:t>
            </a:r>
            <a:r>
              <a:rPr lang="es-MX" sz="1200" kern="1200" dirty="0" err="1"/>
              <a:t>channel</a:t>
            </a:r>
            <a:r>
              <a:rPr lang="es-MX" dirty="0"/>
              <a:t> del runner de </a:t>
            </a:r>
            <a:r>
              <a:rPr lang="es-MX" b="1" dirty="0" err="1"/>
              <a:t>Scheduled</a:t>
            </a:r>
            <a:r>
              <a:rPr lang="es-MX" b="1" dirty="0"/>
              <a:t> </a:t>
            </a:r>
            <a:r>
              <a:rPr lang="es-MX" b="1" dirty="0" err="1"/>
              <a:t>Tasks</a:t>
            </a:r>
            <a:r>
              <a:rPr lang="es-MX" dirty="0"/>
              <a:t>. No conviene llamar simplemente “cron” al componente, porque </a:t>
            </a:r>
            <a:r>
              <a:rPr lang="es-MX" dirty="0" err="1"/>
              <a:t>Heartbeat</a:t>
            </a:r>
            <a:r>
              <a:rPr lang="es-MX" dirty="0"/>
              <a:t> y </a:t>
            </a:r>
            <a:r>
              <a:rPr lang="es-MX" sz="1200" kern="1200" dirty="0" err="1"/>
              <a:t>case_runner</a:t>
            </a:r>
            <a:r>
              <a:rPr lang="es-MX" dirty="0"/>
              <a:t> también podrían ser activados por infraestructura cron o por otro </a:t>
            </a:r>
            <a:r>
              <a:rPr lang="es-MX" dirty="0" err="1"/>
              <a:t>scheduler</a:t>
            </a:r>
            <a:r>
              <a:rPr lang="es-MX" dirty="0"/>
              <a:t>. </a:t>
            </a:r>
          </a:p>
          <a:p>
            <a:pPr marL="171450" lvl="0" indent="-171450">
              <a:buFont typeface="Arial" panose="020B0604020202020204" pitchFamily="34" charset="0"/>
              <a:buChar char="•"/>
            </a:pPr>
            <a:r>
              <a:rPr lang="es-MX" sz="1200" kern="1200" dirty="0" err="1"/>
              <a:t>case_runner</a:t>
            </a:r>
            <a:r>
              <a:rPr lang="es-MX" dirty="0"/>
              <a:t> se utiliza cuando un Case se reactiva autónomamente por vencimiento, evento o </a:t>
            </a:r>
            <a:r>
              <a:rPr lang="es-MX" dirty="0" err="1"/>
              <a:t>wake</a:t>
            </a:r>
            <a:r>
              <a:rPr lang="es-MX" dirty="0"/>
              <a:t>-up. Si una persona consulta o modifica un Case desde Web o Telegram, el </a:t>
            </a:r>
            <a:r>
              <a:rPr lang="es-MX" sz="1200" kern="1200" dirty="0" err="1"/>
              <a:t>channel</a:t>
            </a:r>
            <a:r>
              <a:rPr lang="es-MX" dirty="0"/>
              <a:t> continúa siendo </a:t>
            </a:r>
            <a:r>
              <a:rPr lang="es-MX" sz="1200" kern="1200" dirty="0"/>
              <a:t>"web"</a:t>
            </a:r>
            <a:r>
              <a:rPr lang="es-MX" dirty="0"/>
              <a:t> o </a:t>
            </a:r>
            <a:r>
              <a:rPr lang="es-MX" sz="1200" kern="1200" dirty="0"/>
              <a:t>"</a:t>
            </a:r>
            <a:r>
              <a:rPr lang="es-MX" sz="1200" kern="1200" dirty="0" err="1"/>
              <a:t>telegram</a:t>
            </a:r>
            <a:r>
              <a:rPr lang="es-MX" sz="1200" kern="1200" dirty="0"/>
              <a:t>"</a:t>
            </a:r>
            <a:r>
              <a:rPr lang="es-MX" dirty="0"/>
              <a:t>. </a:t>
            </a:r>
          </a:p>
          <a:p>
            <a:endParaRPr lang="es-MX" dirty="0"/>
          </a:p>
          <a:p>
            <a:r>
              <a:rPr lang="es-MX" dirty="0"/>
              <a:t>Por ello, en la lámina usaría estos nombres:</a:t>
            </a:r>
          </a:p>
          <a:p>
            <a:pPr marL="171450" lvl="0" indent="-171450">
              <a:buFont typeface="Arial" panose="020B0604020202020204" pitchFamily="34" charset="0"/>
              <a:buChar char="•"/>
            </a:pPr>
            <a:r>
              <a:rPr lang="es-MX" b="1" dirty="0"/>
              <a:t>Adaptadores:</a:t>
            </a:r>
            <a:r>
              <a:rPr lang="es-MX" dirty="0"/>
              <a:t> Web, Telegram. </a:t>
            </a:r>
          </a:p>
          <a:p>
            <a:pPr marL="171450" lvl="0" indent="-171450">
              <a:buFont typeface="Arial" panose="020B0604020202020204" pitchFamily="34" charset="0"/>
              <a:buChar char="•"/>
            </a:pPr>
            <a:r>
              <a:rPr lang="es-MX" b="1" dirty="0"/>
              <a:t>Runners:</a:t>
            </a:r>
            <a:r>
              <a:rPr lang="es-MX" dirty="0"/>
              <a:t> </a:t>
            </a:r>
            <a:r>
              <a:rPr lang="es-MX" dirty="0" err="1"/>
              <a:t>Scheduled</a:t>
            </a:r>
            <a:r>
              <a:rPr lang="es-MX" dirty="0"/>
              <a:t> </a:t>
            </a:r>
            <a:r>
              <a:rPr lang="es-MX" dirty="0" err="1"/>
              <a:t>Tasks</a:t>
            </a:r>
            <a:r>
              <a:rPr lang="es-MX" dirty="0"/>
              <a:t>, </a:t>
            </a:r>
            <a:r>
              <a:rPr lang="es-MX" dirty="0" err="1"/>
              <a:t>Heartbeat</a:t>
            </a:r>
            <a:r>
              <a:rPr lang="es-MX" dirty="0"/>
              <a:t>, </a:t>
            </a:r>
            <a:r>
              <a:rPr lang="es-MX" dirty="0" err="1"/>
              <a:t>Operational</a:t>
            </a:r>
            <a:r>
              <a:rPr lang="es-MX" dirty="0"/>
              <a:t> Case Runner.</a:t>
            </a:r>
          </a:p>
          <a:p>
            <a:pPr marL="171450" indent="-171450">
              <a:buFont typeface="Arial" panose="020B0604020202020204" pitchFamily="34" charset="0"/>
              <a:buChar char="•"/>
            </a:pPr>
            <a:endParaRPr lang="es-MX" b="1" dirty="0"/>
          </a:p>
          <a:p>
            <a:endParaRPr lang="es-MX" b="1" dirty="0"/>
          </a:p>
          <a:p>
            <a:r>
              <a:rPr lang="es-MX" b="1" dirty="0"/>
              <a:t>Ejemplos rápidos</a:t>
            </a:r>
          </a:p>
          <a:p>
            <a:pPr marL="171450" lvl="0" indent="-171450">
              <a:buFont typeface="Arial" panose="020B0604020202020204" pitchFamily="34" charset="0"/>
              <a:buChar char="•"/>
            </a:pPr>
            <a:r>
              <a:rPr lang="es-MX" dirty="0"/>
              <a:t>Web: “¿Cuántos leads tuvimos en agosto?” El usuario espera la consulta y respuesta. </a:t>
            </a:r>
          </a:p>
          <a:p>
            <a:pPr marL="171450" lvl="0" indent="-171450">
              <a:buFont typeface="Arial" panose="020B0604020202020204" pitchFamily="34" charset="0"/>
              <a:buChar char="•"/>
            </a:pPr>
            <a:r>
              <a:rPr lang="es-MX" dirty="0"/>
              <a:t>Telegram: “Sí, aprueba el precio.” El adaptador procesa la decisión y devuelve confirmación. </a:t>
            </a:r>
          </a:p>
          <a:p>
            <a:pPr marL="171450" lvl="0" indent="-171450">
              <a:buFont typeface="Arial" panose="020B0604020202020204" pitchFamily="34" charset="0"/>
              <a:buChar char="•"/>
            </a:pPr>
            <a:r>
              <a:rPr lang="es-MX" dirty="0" err="1"/>
              <a:t>Scheduled</a:t>
            </a:r>
            <a:r>
              <a:rPr lang="es-MX" dirty="0"/>
              <a:t> </a:t>
            </a:r>
            <a:r>
              <a:rPr lang="es-MX" dirty="0" err="1"/>
              <a:t>Task</a:t>
            </a:r>
            <a:r>
              <a:rPr lang="es-MX" dirty="0"/>
              <a:t>: “Cada lunes genera el reporte comercial.” El usuario autorizó previamente la ejecución recurrente. </a:t>
            </a:r>
          </a:p>
          <a:p>
            <a:pPr marL="171450" lvl="0" indent="-171450">
              <a:buFont typeface="Arial" panose="020B0604020202020204" pitchFamily="34" charset="0"/>
              <a:buChar char="•"/>
            </a:pPr>
            <a:r>
              <a:rPr lang="es-MX" dirty="0" err="1"/>
              <a:t>Heartbeat</a:t>
            </a:r>
            <a:r>
              <a:rPr lang="es-MX" dirty="0"/>
              <a:t>: revisar periódicamente próximas citas o tareas vencidas. </a:t>
            </a:r>
          </a:p>
          <a:p>
            <a:pPr marL="171450" lvl="0" indent="-171450">
              <a:buFont typeface="Arial" panose="020B0604020202020204" pitchFamily="34" charset="0"/>
              <a:buChar char="•"/>
            </a:pPr>
            <a:r>
              <a:rPr lang="es-MX" sz="1200" kern="1200" dirty="0" err="1"/>
              <a:t>case_runner</a:t>
            </a:r>
            <a:r>
              <a:rPr lang="es-MX" dirty="0"/>
              <a:t>: reconsiderar un </a:t>
            </a:r>
            <a:r>
              <a:rPr lang="es-MX" dirty="0" err="1"/>
              <a:t>Property</a:t>
            </a:r>
            <a:r>
              <a:rPr lang="es-MX" dirty="0"/>
              <a:t> </a:t>
            </a:r>
            <a:r>
              <a:rPr lang="es-MX" dirty="0" err="1"/>
              <a:t>Optioning</a:t>
            </a:r>
            <a:r>
              <a:rPr lang="es-MX" dirty="0"/>
              <a:t> Case que recibió documentos o alcanzó </a:t>
            </a:r>
            <a:r>
              <a:rPr lang="es-MX" sz="1200" kern="1200" dirty="0" err="1"/>
              <a:t>next_action_at</a:t>
            </a:r>
            <a:r>
              <a:rPr lang="es-MX" dirty="0"/>
              <a:t>. </a:t>
            </a:r>
          </a:p>
          <a:p>
            <a:endParaRPr lang="es-MX" b="1" dirty="0"/>
          </a:p>
          <a:p>
            <a:r>
              <a:rPr lang="es-MX" b="1" dirty="0"/>
              <a:t>Glosario</a:t>
            </a:r>
          </a:p>
          <a:p>
            <a:pPr marL="171450" indent="-171450">
              <a:buFont typeface="Arial" panose="020B0604020202020204" pitchFamily="34" charset="0"/>
              <a:buChar char="•"/>
            </a:pPr>
            <a:r>
              <a:rPr lang="es-MX" b="1" dirty="0"/>
              <a:t>Adaptador de canal</a:t>
            </a:r>
            <a:br>
              <a:rPr lang="es-MX" dirty="0"/>
            </a:br>
            <a:r>
              <a:rPr lang="es-MX" dirty="0"/>
              <a:t>Componente externo que traduce una superficie como Web o Telegram al contrato común de </a:t>
            </a:r>
            <a:r>
              <a:rPr lang="es-MX" dirty="0" err="1"/>
              <a:t>Gu</a:t>
            </a:r>
            <a:r>
              <a:rPr lang="es-MX" dirty="0"/>
              <a:t> OS y convierte la salida en una respuesta adecuada para ese canal.</a:t>
            </a:r>
          </a:p>
          <a:p>
            <a:pPr marL="171450" indent="-171450">
              <a:buFont typeface="Arial" panose="020B0604020202020204" pitchFamily="34" charset="0"/>
              <a:buChar char="•"/>
            </a:pPr>
            <a:r>
              <a:rPr lang="es-MX" b="1" dirty="0"/>
              <a:t>Runner</a:t>
            </a:r>
            <a:br>
              <a:rPr lang="es-MX" dirty="0"/>
            </a:br>
            <a:r>
              <a:rPr lang="es-MX" dirty="0"/>
              <a:t>Componente externo que detecta trabajo pendiente y dispara una ejecución sin requerir un mensaje humano en ese momento.</a:t>
            </a:r>
          </a:p>
          <a:p>
            <a:pPr marL="171450" indent="-171450">
              <a:buFont typeface="Arial" panose="020B0604020202020204" pitchFamily="34" charset="0"/>
              <a:buChar char="•"/>
            </a:pPr>
            <a:r>
              <a:rPr lang="es-MX" sz="1200" b="1" kern="1200" dirty="0" err="1"/>
              <a:t>channel</a:t>
            </a:r>
            <a:br>
              <a:rPr lang="es-MX" dirty="0"/>
            </a:br>
            <a:r>
              <a:rPr lang="es-MX" dirty="0"/>
              <a:t>Metadato que recibe </a:t>
            </a:r>
            <a:r>
              <a:rPr lang="es-MX" sz="1200" kern="1200" dirty="0" err="1"/>
              <a:t>runAgent</a:t>
            </a:r>
            <a:r>
              <a:rPr lang="es-MX" dirty="0"/>
              <a:t> para identificar el origen o perfil de ejecución. No es un adaptador.</a:t>
            </a:r>
          </a:p>
          <a:p>
            <a:pPr marL="171450" indent="-171450">
              <a:buFont typeface="Arial" panose="020B0604020202020204" pitchFamily="34" charset="0"/>
              <a:buChar char="•"/>
            </a:pPr>
            <a:r>
              <a:rPr lang="es-MX" b="1" dirty="0" err="1"/>
              <a:t>Scheduler</a:t>
            </a:r>
            <a:br>
              <a:rPr lang="es-MX" dirty="0"/>
            </a:br>
            <a:r>
              <a:rPr lang="es-MX" dirty="0"/>
              <a:t>Infraestructura que llama periódicamente un </a:t>
            </a:r>
            <a:r>
              <a:rPr lang="es-MX" dirty="0" err="1"/>
              <a:t>endpoint</a:t>
            </a:r>
            <a:r>
              <a:rPr lang="es-MX" dirty="0"/>
              <a:t>. Puede disparar </a:t>
            </a:r>
            <a:r>
              <a:rPr lang="es-MX" dirty="0" err="1"/>
              <a:t>Scheduled</a:t>
            </a:r>
            <a:r>
              <a:rPr lang="es-MX" dirty="0"/>
              <a:t> </a:t>
            </a:r>
            <a:r>
              <a:rPr lang="es-MX" dirty="0" err="1"/>
              <a:t>Tasks</a:t>
            </a:r>
            <a:r>
              <a:rPr lang="es-MX" dirty="0"/>
              <a:t>, </a:t>
            </a:r>
            <a:r>
              <a:rPr lang="es-MX" dirty="0" err="1"/>
              <a:t>Heartbeat</a:t>
            </a:r>
            <a:r>
              <a:rPr lang="es-MX" dirty="0"/>
              <a:t> u </a:t>
            </a:r>
            <a:r>
              <a:rPr lang="es-MX" dirty="0" err="1"/>
              <a:t>Operational</a:t>
            </a:r>
            <a:r>
              <a:rPr lang="es-MX" dirty="0"/>
              <a:t> Cases.</a:t>
            </a:r>
          </a:p>
          <a:p>
            <a:pPr marL="171450" indent="-171450">
              <a:buFont typeface="Arial" panose="020B0604020202020204" pitchFamily="34" charset="0"/>
              <a:buChar char="•"/>
            </a:pPr>
            <a:r>
              <a:rPr lang="es-MX" b="1" dirty="0" err="1"/>
              <a:t>Scheduled</a:t>
            </a:r>
            <a:r>
              <a:rPr lang="es-MX" b="1" dirty="0"/>
              <a:t> </a:t>
            </a:r>
            <a:r>
              <a:rPr lang="es-MX" b="1" dirty="0" err="1"/>
              <a:t>Task</a:t>
            </a:r>
            <a:r>
              <a:rPr lang="es-MX" b="1" dirty="0"/>
              <a:t> / </a:t>
            </a:r>
            <a:r>
              <a:rPr lang="es-MX" sz="1200" b="1" kern="1200" dirty="0"/>
              <a:t>cron</a:t>
            </a:r>
            <a:br>
              <a:rPr lang="es-MX" dirty="0"/>
            </a:br>
            <a:r>
              <a:rPr lang="es-MX" dirty="0"/>
              <a:t>Instrucción concreta programada y aprobada previamente por el usuario.</a:t>
            </a:r>
          </a:p>
          <a:p>
            <a:pPr marL="171450" indent="-171450">
              <a:buFont typeface="Arial" panose="020B0604020202020204" pitchFamily="34" charset="0"/>
              <a:buChar char="•"/>
            </a:pPr>
            <a:r>
              <a:rPr lang="es-MX" b="1" dirty="0" err="1"/>
              <a:t>Heartbeat</a:t>
            </a:r>
            <a:br>
              <a:rPr lang="es-MX" dirty="0"/>
            </a:br>
            <a:r>
              <a:rPr lang="es-MX" dirty="0"/>
              <a:t>Revisión periódica de una </a:t>
            </a:r>
            <a:r>
              <a:rPr lang="es-MX" dirty="0" err="1"/>
              <a:t>checklist</a:t>
            </a:r>
            <a:r>
              <a:rPr lang="es-MX" dirty="0"/>
              <a:t> para detectar señales o excepciones.</a:t>
            </a:r>
          </a:p>
          <a:p>
            <a:pPr marL="171450" indent="-171450">
              <a:buFont typeface="Arial" panose="020B0604020202020204" pitchFamily="34" charset="0"/>
              <a:buChar char="•"/>
            </a:pPr>
            <a:r>
              <a:rPr lang="es-MX" b="1" dirty="0" err="1"/>
              <a:t>Operational</a:t>
            </a:r>
            <a:r>
              <a:rPr lang="es-MX" b="1" dirty="0"/>
              <a:t> Case</a:t>
            </a:r>
            <a:br>
              <a:rPr lang="es-MX" dirty="0"/>
            </a:br>
            <a:r>
              <a:rPr lang="es-MX" dirty="0"/>
              <a:t>Responsabilidad durable que conserva estado, evidencia y próximos pasos durante varias ejecuciones.</a:t>
            </a:r>
          </a:p>
          <a:p>
            <a:pPr marL="171450" indent="-171450">
              <a:buFont typeface="Arial" panose="020B0604020202020204" pitchFamily="34" charset="0"/>
              <a:buChar char="•"/>
            </a:pPr>
            <a:r>
              <a:rPr lang="es-MX" sz="1200" b="1" kern="1200" dirty="0" err="1"/>
              <a:t>case_runner</a:t>
            </a:r>
            <a:br>
              <a:rPr lang="es-MX" dirty="0"/>
            </a:br>
            <a:r>
              <a:rPr lang="es-MX" dirty="0"/>
              <a:t>Perfil utilizado cuando el runner de casos reconsidera automáticamente un Case vencido o activado por un evento.</a:t>
            </a:r>
          </a:p>
          <a:p>
            <a:pPr marL="171450" indent="-171450">
              <a:buFont typeface="Arial" panose="020B0604020202020204" pitchFamily="34" charset="0"/>
              <a:buChar char="•"/>
            </a:pPr>
            <a:r>
              <a:rPr lang="es-MX" b="1" dirty="0" err="1"/>
              <a:t>Binding</a:t>
            </a:r>
            <a:r>
              <a:rPr lang="es-MX" b="1" dirty="0"/>
              <a:t> directo de Skill</a:t>
            </a:r>
            <a:br>
              <a:rPr lang="es-MX" dirty="0"/>
            </a:br>
            <a:r>
              <a:rPr lang="es-MX" dirty="0"/>
              <a:t>Selección de la Skill a partir del tipo o paso del Case, sin depender del selector general.</a:t>
            </a:r>
          </a:p>
          <a:p>
            <a:pPr marL="171450" indent="-171450">
              <a:buFont typeface="Arial" panose="020B0604020202020204" pitchFamily="34" charset="0"/>
              <a:buChar char="•"/>
            </a:pPr>
            <a:r>
              <a:rPr lang="es-MX" b="1" dirty="0" err="1"/>
              <a:t>Append-only</a:t>
            </a:r>
            <a:br>
              <a:rPr lang="es-MX" dirty="0"/>
            </a:br>
            <a:r>
              <a:rPr lang="es-MX" dirty="0"/>
              <a:t>Historial al que se agregan eventos sin reescribir ni borrar los eventos anteriores.</a:t>
            </a:r>
          </a:p>
          <a:p>
            <a:pPr marL="171450" indent="-171450">
              <a:buFont typeface="Arial" panose="020B0604020202020204" pitchFamily="34" charset="0"/>
              <a:buChar char="•"/>
            </a:pPr>
            <a:r>
              <a:rPr lang="es-MX" b="1" dirty="0"/>
              <a:t>HITL</a:t>
            </a:r>
            <a:br>
              <a:rPr lang="es-MX" dirty="0"/>
            </a:br>
            <a:r>
              <a:rPr lang="es-MX" dirty="0"/>
              <a:t>Human in the Loop. Pausa o intervención humana requerida antes de una decisión o efecto protegido.</a:t>
            </a:r>
          </a:p>
          <a:p>
            <a:pPr indent="0">
              <a:buNone/>
            </a:pPr>
            <a:endParaRPr lang="es-MX" dirty="0"/>
          </a:p>
          <a:p>
            <a:r>
              <a:rPr lang="es-MX" dirty="0"/>
              <a:t>En esta lámina, la palabra </a:t>
            </a:r>
            <a:r>
              <a:rPr lang="es-MX" sz="1200" kern="1200" dirty="0"/>
              <a:t>cron</a:t>
            </a:r>
            <a:r>
              <a:rPr lang="es-MX" dirty="0"/>
              <a:t> está específicamente asociada con el valor del </a:t>
            </a:r>
            <a:r>
              <a:rPr lang="es-MX" dirty="0" err="1"/>
              <a:t>channel</a:t>
            </a:r>
            <a:r>
              <a:rPr lang="es-MX" dirty="0"/>
              <a:t> para </a:t>
            </a:r>
            <a:r>
              <a:rPr lang="es-MX" dirty="0" err="1"/>
              <a:t>Scheduled</a:t>
            </a:r>
            <a:r>
              <a:rPr lang="es-MX" dirty="0"/>
              <a:t> </a:t>
            </a:r>
            <a:r>
              <a:rPr lang="es-MX" dirty="0" err="1"/>
              <a:t>Tasks</a:t>
            </a:r>
            <a:r>
              <a:rPr lang="es-MX" dirty="0"/>
              <a:t> (</a:t>
            </a:r>
            <a:r>
              <a:rPr lang="es-MX" dirty="0" err="1"/>
              <a:t>ie</a:t>
            </a:r>
            <a:r>
              <a:rPr lang="es-MX" dirty="0"/>
              <a:t>, </a:t>
            </a:r>
            <a:r>
              <a:rPr lang="es-MX" sz="1200" kern="1200" dirty="0" err="1"/>
              <a:t>channel</a:t>
            </a:r>
            <a:r>
              <a:rPr lang="es-MX" sz="1200" kern="1200" dirty="0"/>
              <a:t> = "cron"</a:t>
            </a:r>
            <a:r>
              <a:rPr lang="es-MX" dirty="0"/>
              <a:t>)</a:t>
            </a:r>
          </a:p>
          <a:p>
            <a:endParaRPr lang="es-MX" dirty="0"/>
          </a:p>
          <a:p>
            <a:r>
              <a:rPr lang="es-MX" dirty="0"/>
              <a:t>Pero </a:t>
            </a:r>
            <a:r>
              <a:rPr lang="es-MX" dirty="0" err="1"/>
              <a:t>Heartbeat</a:t>
            </a:r>
            <a:r>
              <a:rPr lang="es-MX" dirty="0"/>
              <a:t> y </a:t>
            </a:r>
            <a:r>
              <a:rPr lang="es-MX" dirty="0" err="1"/>
              <a:t>Operational</a:t>
            </a:r>
            <a:r>
              <a:rPr lang="es-MX" dirty="0"/>
              <a:t> Cases también son disparados por infraestructura cron o por un </a:t>
            </a:r>
            <a:r>
              <a:rPr lang="es-MX" dirty="0" err="1"/>
              <a:t>scheduler</a:t>
            </a:r>
            <a:r>
              <a:rPr lang="es-MX" dirty="0"/>
              <a:t> externo.</a:t>
            </a:r>
          </a:p>
          <a:p>
            <a:endParaRPr lang="es-MX" dirty="0"/>
          </a:p>
          <a:p>
            <a:r>
              <a:rPr lang="es-MX" dirty="0"/>
              <a:t>La palabra “cron” tiene dos significados:</a:t>
            </a:r>
          </a:p>
          <a:p>
            <a:pPr marL="228600" lvl="0" indent="-228600">
              <a:buFont typeface="+mj-lt"/>
              <a:buAutoNum type="arabicPeriod"/>
            </a:pPr>
            <a:r>
              <a:rPr lang="es-MX" dirty="0"/>
              <a:t>Infraestructura de </a:t>
            </a:r>
            <a:r>
              <a:rPr lang="es-MX" dirty="0" err="1"/>
              <a:t>scheduling</a:t>
            </a:r>
            <a:r>
              <a:rPr lang="es-MX" dirty="0"/>
              <a:t>: el mecanismo que llama periódicamente un </a:t>
            </a:r>
            <a:r>
              <a:rPr lang="es-MX" dirty="0" err="1"/>
              <a:t>endpoint</a:t>
            </a:r>
            <a:r>
              <a:rPr lang="es-MX" dirty="0"/>
              <a:t>. </a:t>
            </a:r>
          </a:p>
          <a:p>
            <a:pPr marL="228600" lvl="0" indent="-228600">
              <a:buFont typeface="+mj-lt"/>
              <a:buAutoNum type="arabicPeriod"/>
            </a:pPr>
            <a:r>
              <a:rPr lang="es-MX" sz="1200" kern="1200" dirty="0" err="1"/>
              <a:t>channel</a:t>
            </a:r>
            <a:r>
              <a:rPr lang="es-MX" sz="1200" kern="1200" dirty="0"/>
              <a:t>="cron"</a:t>
            </a:r>
            <a:r>
              <a:rPr lang="es-MX" dirty="0"/>
              <a:t>: el valor específico que </a:t>
            </a:r>
            <a:r>
              <a:rPr lang="es-MX" dirty="0" err="1"/>
              <a:t>Gu</a:t>
            </a:r>
            <a:r>
              <a:rPr lang="es-MX" dirty="0"/>
              <a:t> OS utiliza para ejecuciones de </a:t>
            </a:r>
            <a:r>
              <a:rPr lang="es-MX" dirty="0" err="1"/>
              <a:t>Scheduled</a:t>
            </a:r>
            <a:r>
              <a:rPr lang="es-MX" dirty="0"/>
              <a:t> </a:t>
            </a:r>
            <a:r>
              <a:rPr lang="es-MX" dirty="0" err="1"/>
              <a:t>Tasks</a:t>
            </a:r>
            <a:r>
              <a:rPr lang="es-MX" dirty="0"/>
              <a:t>. </a:t>
            </a:r>
          </a:p>
          <a:p>
            <a:endParaRPr lang="es-MX" dirty="0"/>
          </a:p>
          <a:p>
            <a:r>
              <a:rPr lang="es-MX" dirty="0"/>
              <a:t>Adaptadores y runners (con su correspondiente </a:t>
            </a:r>
            <a:r>
              <a:rPr lang="es-MX" dirty="0" err="1"/>
              <a:t>endpoint</a:t>
            </a:r>
            <a:r>
              <a:rPr lang="es-MX" dirty="0"/>
              <a:t>, </a:t>
            </a:r>
            <a:r>
              <a:rPr lang="es-MX" dirty="0" err="1"/>
              <a:t>channel</a:t>
            </a:r>
            <a:r>
              <a:rPr lang="es-MX" dirty="0"/>
              <a:t> como contexto de ejecución en </a:t>
            </a:r>
            <a:r>
              <a:rPr lang="es-MX" dirty="0" err="1"/>
              <a:t>runAgent</a:t>
            </a:r>
            <a:r>
              <a:rPr lang="es-MX" dirty="0"/>
              <a:t>, y unidad de trabajo):</a:t>
            </a:r>
          </a:p>
          <a:p>
            <a:endParaRPr lang="es-MX" dirty="0"/>
          </a:p>
          <a:p>
            <a:pPr marL="171450" indent="-171450">
              <a:buFont typeface="Arial" panose="020B0604020202020204" pitchFamily="34" charset="0"/>
              <a:buChar char="•"/>
            </a:pPr>
            <a:r>
              <a:rPr lang="es-MX" dirty="0"/>
              <a:t>Origen: Web – </a:t>
            </a:r>
            <a:r>
              <a:rPr lang="es-MX" dirty="0" err="1"/>
              <a:t>Endpoint</a:t>
            </a:r>
            <a:r>
              <a:rPr lang="es-MX" dirty="0"/>
              <a:t>: </a:t>
            </a:r>
            <a:r>
              <a:rPr lang="es-MX" sz="1200" kern="1200" dirty="0"/>
              <a:t>/api/chat </a:t>
            </a:r>
            <a:r>
              <a:rPr lang="es-MX" dirty="0"/>
              <a:t>–</a:t>
            </a:r>
            <a:r>
              <a:rPr lang="es-MX" sz="1200" kern="1200" dirty="0"/>
              <a:t> </a:t>
            </a:r>
            <a:r>
              <a:rPr lang="es-MX" sz="1200" kern="1200" dirty="0" err="1"/>
              <a:t>channel</a:t>
            </a:r>
            <a:r>
              <a:rPr lang="es-MX" sz="1200" kern="1200" dirty="0"/>
              <a:t>: web </a:t>
            </a:r>
            <a:r>
              <a:rPr lang="es-MX" dirty="0"/>
              <a:t>–</a:t>
            </a:r>
            <a:r>
              <a:rPr lang="es-MX" sz="1200" kern="1200" dirty="0"/>
              <a:t> Unidad de trabajo: </a:t>
            </a:r>
            <a:r>
              <a:rPr lang="es-MX" dirty="0"/>
              <a:t>Turno conversacional</a:t>
            </a:r>
          </a:p>
          <a:p>
            <a:pPr marL="171450" indent="-171450">
              <a:buFont typeface="Arial" panose="020B0604020202020204" pitchFamily="34" charset="0"/>
              <a:buChar char="•"/>
            </a:pPr>
            <a:r>
              <a:rPr lang="es-MX" dirty="0"/>
              <a:t>Origen: Telegram – </a:t>
            </a:r>
            <a:r>
              <a:rPr lang="es-MX" dirty="0" err="1"/>
              <a:t>Endpoint</a:t>
            </a:r>
            <a:r>
              <a:rPr lang="es-MX" dirty="0"/>
              <a:t>: </a:t>
            </a:r>
            <a:r>
              <a:rPr lang="es-MX" sz="1200" kern="1200" dirty="0"/>
              <a:t>/api/</a:t>
            </a:r>
            <a:r>
              <a:rPr lang="es-MX" sz="1200" kern="1200" dirty="0" err="1"/>
              <a:t>telegram</a:t>
            </a:r>
            <a:r>
              <a:rPr lang="es-MX" sz="1200" kern="1200" dirty="0"/>
              <a:t>/</a:t>
            </a:r>
            <a:r>
              <a:rPr lang="es-MX" sz="1200" kern="1200" dirty="0" err="1"/>
              <a:t>webhook</a:t>
            </a:r>
            <a:r>
              <a:rPr lang="es-MX" sz="1200" kern="1200" dirty="0"/>
              <a:t> </a:t>
            </a:r>
            <a:r>
              <a:rPr lang="es-MX" dirty="0"/>
              <a:t>– </a:t>
            </a:r>
            <a:r>
              <a:rPr lang="es-MX" dirty="0" err="1"/>
              <a:t>channel</a:t>
            </a:r>
            <a:r>
              <a:rPr lang="es-MX" dirty="0"/>
              <a:t>: </a:t>
            </a:r>
            <a:r>
              <a:rPr lang="es-MX" sz="1200" kern="1200" dirty="0" err="1"/>
              <a:t>telegram</a:t>
            </a:r>
            <a:r>
              <a:rPr lang="es-MX" sz="1200" kern="1200" dirty="0"/>
              <a:t> </a:t>
            </a:r>
            <a:r>
              <a:rPr lang="es-MX" dirty="0"/>
              <a:t>– Unidad de trabajo: Turno conversacional</a:t>
            </a:r>
          </a:p>
          <a:p>
            <a:pPr marL="171450" indent="-171450">
              <a:buFont typeface="Arial" panose="020B0604020202020204" pitchFamily="34" charset="0"/>
              <a:buChar char="•"/>
            </a:pPr>
            <a:r>
              <a:rPr lang="es-MX" dirty="0"/>
              <a:t>Origen: </a:t>
            </a:r>
            <a:r>
              <a:rPr lang="es-MX" dirty="0" err="1"/>
              <a:t>Scheduled</a:t>
            </a:r>
            <a:r>
              <a:rPr lang="es-MX" dirty="0"/>
              <a:t> </a:t>
            </a:r>
            <a:r>
              <a:rPr lang="es-MX" dirty="0" err="1"/>
              <a:t>Tasks</a:t>
            </a:r>
            <a:r>
              <a:rPr lang="es-MX" dirty="0"/>
              <a:t> – </a:t>
            </a:r>
            <a:r>
              <a:rPr lang="es-MX" dirty="0" err="1"/>
              <a:t>Endpoint</a:t>
            </a:r>
            <a:r>
              <a:rPr lang="es-MX" dirty="0"/>
              <a:t>: </a:t>
            </a:r>
            <a:r>
              <a:rPr lang="es-MX" sz="1200" kern="1200" dirty="0"/>
              <a:t>/api/cron/</a:t>
            </a:r>
            <a:r>
              <a:rPr lang="es-MX" sz="1200" kern="1200" dirty="0" err="1"/>
              <a:t>scheduled-tasks</a:t>
            </a:r>
            <a:r>
              <a:rPr lang="es-MX" sz="1200" kern="1200" dirty="0"/>
              <a:t> </a:t>
            </a:r>
            <a:r>
              <a:rPr lang="es-MX" dirty="0"/>
              <a:t>– </a:t>
            </a:r>
            <a:r>
              <a:rPr lang="es-MX" dirty="0" err="1"/>
              <a:t>channel</a:t>
            </a:r>
            <a:r>
              <a:rPr lang="es-MX" dirty="0"/>
              <a:t>: </a:t>
            </a:r>
            <a:r>
              <a:rPr lang="es-MX" sz="1200" kern="1200" dirty="0"/>
              <a:t>cron </a:t>
            </a:r>
            <a:r>
              <a:rPr lang="es-MX" dirty="0"/>
              <a:t>– Unidad de trabajo: Tarea programada</a:t>
            </a:r>
          </a:p>
          <a:p>
            <a:pPr marL="171450" indent="-171450">
              <a:buFont typeface="Arial" panose="020B0604020202020204" pitchFamily="34" charset="0"/>
              <a:buChar char="•"/>
            </a:pPr>
            <a:r>
              <a:rPr lang="es-MX" dirty="0"/>
              <a:t>Origen: </a:t>
            </a:r>
            <a:r>
              <a:rPr lang="es-MX" dirty="0" err="1"/>
              <a:t>Heartbeat</a:t>
            </a:r>
            <a:r>
              <a:rPr lang="es-MX" dirty="0"/>
              <a:t> – </a:t>
            </a:r>
            <a:r>
              <a:rPr lang="es-MX" dirty="0" err="1"/>
              <a:t>Endpoint</a:t>
            </a:r>
            <a:r>
              <a:rPr lang="es-MX" dirty="0"/>
              <a:t>: </a:t>
            </a:r>
            <a:r>
              <a:rPr lang="es-MX" sz="1200" kern="1200" dirty="0"/>
              <a:t>/api/cron/</a:t>
            </a:r>
            <a:r>
              <a:rPr lang="es-MX" sz="1200" kern="1200" dirty="0" err="1"/>
              <a:t>heartbeat</a:t>
            </a:r>
            <a:r>
              <a:rPr lang="es-MX" sz="1200" kern="1200" dirty="0"/>
              <a:t> </a:t>
            </a:r>
            <a:r>
              <a:rPr lang="es-MX" dirty="0"/>
              <a:t>– </a:t>
            </a:r>
            <a:r>
              <a:rPr lang="es-MX" dirty="0" err="1"/>
              <a:t>channel</a:t>
            </a:r>
            <a:r>
              <a:rPr lang="es-MX" dirty="0"/>
              <a:t>: </a:t>
            </a:r>
            <a:r>
              <a:rPr lang="es-MX" sz="1200" kern="1200" dirty="0" err="1"/>
              <a:t>heartbeat</a:t>
            </a:r>
            <a:r>
              <a:rPr lang="es-MX" sz="1200" kern="1200" dirty="0"/>
              <a:t> </a:t>
            </a:r>
            <a:r>
              <a:rPr lang="es-MX" dirty="0"/>
              <a:t>– Unidad de trabajo: Revisión periódica de </a:t>
            </a:r>
            <a:r>
              <a:rPr lang="es-MX" dirty="0" err="1"/>
              <a:t>checklist</a:t>
            </a:r>
            <a:endParaRPr lang="es-MX" dirty="0"/>
          </a:p>
          <a:p>
            <a:pPr marL="171450" indent="-171450">
              <a:buFont typeface="Arial" panose="020B0604020202020204" pitchFamily="34" charset="0"/>
              <a:buChar char="•"/>
            </a:pPr>
            <a:r>
              <a:rPr lang="es-MX" dirty="0"/>
              <a:t>Origen: </a:t>
            </a:r>
            <a:r>
              <a:rPr lang="es-MX" dirty="0" err="1"/>
              <a:t>Operational</a:t>
            </a:r>
            <a:r>
              <a:rPr lang="es-MX" dirty="0"/>
              <a:t> Cases – </a:t>
            </a:r>
            <a:r>
              <a:rPr lang="es-MX" dirty="0" err="1"/>
              <a:t>Endpoint</a:t>
            </a:r>
            <a:r>
              <a:rPr lang="es-MX" dirty="0"/>
              <a:t>: </a:t>
            </a:r>
            <a:r>
              <a:rPr lang="es-MX" sz="1200" kern="1200" dirty="0"/>
              <a:t>/api/cron/</a:t>
            </a:r>
            <a:r>
              <a:rPr lang="es-MX" sz="1200" kern="1200" dirty="0" err="1"/>
              <a:t>operational</a:t>
            </a:r>
            <a:r>
              <a:rPr lang="es-MX" sz="1200" kern="1200" dirty="0"/>
              <a:t>-cases </a:t>
            </a:r>
            <a:r>
              <a:rPr lang="es-MX" dirty="0"/>
              <a:t>– </a:t>
            </a:r>
            <a:r>
              <a:rPr lang="es-MX" dirty="0" err="1"/>
              <a:t>c</a:t>
            </a:r>
            <a:r>
              <a:rPr lang="es-MX" sz="1200" kern="1200" dirty="0" err="1"/>
              <a:t>hannel</a:t>
            </a:r>
            <a:r>
              <a:rPr lang="es-MX" sz="1200" kern="1200" dirty="0"/>
              <a:t>: </a:t>
            </a:r>
            <a:r>
              <a:rPr lang="es-MX" sz="1200" kern="1200" dirty="0" err="1"/>
              <a:t>case_runner</a:t>
            </a:r>
            <a:r>
              <a:rPr lang="es-MX" sz="1200" kern="1200" dirty="0"/>
              <a:t> </a:t>
            </a:r>
            <a:r>
              <a:rPr lang="es-MX" dirty="0"/>
              <a:t>– Unidad de trabajo: Reconsideración de un Case vencido</a:t>
            </a:r>
          </a:p>
          <a:p>
            <a:endParaRPr lang="es-MX" dirty="0"/>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Los tres runners automatizados tienen </a:t>
            </a:r>
            <a:r>
              <a:rPr lang="es-MX" dirty="0" err="1"/>
              <a:t>endpoints</a:t>
            </a:r>
            <a:r>
              <a:rPr lang="es-MX" dirty="0"/>
              <a:t> bajo </a:t>
            </a:r>
            <a:r>
              <a:rPr lang="es-MX" sz="1200" kern="1200" dirty="0"/>
              <a:t>/api/cron/</a:t>
            </a:r>
            <a:r>
              <a:rPr lang="es-MX" dirty="0"/>
              <a:t>, pero usan canales diferentes.</a:t>
            </a:r>
          </a:p>
          <a:p>
            <a:endParaRPr lang="es-MX" dirty="0"/>
          </a:p>
          <a:p>
            <a:r>
              <a:rPr lang="es-MX" dirty="0"/>
              <a:t>Esto está documentado en architecture.md y architecture-manual.md.</a:t>
            </a:r>
          </a:p>
          <a:p>
            <a:endParaRPr lang="es-MX" dirty="0"/>
          </a:p>
          <a:p>
            <a:r>
              <a:rPr lang="es-MX" b="1" dirty="0"/>
              <a:t>¿Por qué </a:t>
            </a:r>
            <a:r>
              <a:rPr lang="es-MX" sz="1200" b="1" kern="1200" dirty="0" err="1"/>
              <a:t>channel</a:t>
            </a:r>
            <a:r>
              <a:rPr lang="es-MX" b="1" dirty="0"/>
              <a:t> aparece relacionado con el Agent </a:t>
            </a:r>
            <a:r>
              <a:rPr lang="es-MX" b="1" dirty="0" err="1"/>
              <a:t>Runtime</a:t>
            </a:r>
            <a:r>
              <a:rPr lang="es-MX" b="1" dirty="0"/>
              <a:t>?</a:t>
            </a:r>
          </a:p>
          <a:p>
            <a:endParaRPr lang="es-MX" dirty="0"/>
          </a:p>
          <a:p>
            <a:r>
              <a:rPr lang="es-MX" dirty="0"/>
              <a:t>Porque hay dos conceptos con el mismo nombre coloquial:</a:t>
            </a:r>
          </a:p>
          <a:p>
            <a:endParaRPr lang="es-MX" b="1" dirty="0"/>
          </a:p>
          <a:p>
            <a:r>
              <a:rPr lang="es-MX" b="1" dirty="0"/>
              <a:t>Canal como superficie o adaptador</a:t>
            </a:r>
          </a:p>
          <a:p>
            <a:r>
              <a:rPr lang="es-MX" dirty="0"/>
              <a:t>Está fuera del Agent </a:t>
            </a:r>
            <a:r>
              <a:rPr lang="es-MX" dirty="0" err="1"/>
              <a:t>Runtime</a:t>
            </a:r>
            <a:r>
              <a:rPr lang="es-MX" dirty="0"/>
              <a:t>:</a:t>
            </a:r>
          </a:p>
          <a:p>
            <a:pPr marL="171450" lvl="0" indent="-171450">
              <a:buFont typeface="Arial" panose="020B0604020202020204" pitchFamily="34" charset="0"/>
              <a:buChar char="•"/>
            </a:pPr>
            <a:r>
              <a:rPr lang="es-MX" dirty="0"/>
              <a:t>Web API; </a:t>
            </a:r>
          </a:p>
          <a:p>
            <a:pPr marL="171450" lvl="0" indent="-171450">
              <a:buFont typeface="Arial" panose="020B0604020202020204" pitchFamily="34" charset="0"/>
              <a:buChar char="•"/>
            </a:pPr>
            <a:r>
              <a:rPr lang="es-MX" dirty="0" err="1"/>
              <a:t>webhook</a:t>
            </a:r>
            <a:r>
              <a:rPr lang="es-MX" dirty="0"/>
              <a:t> de Telegram; </a:t>
            </a:r>
          </a:p>
          <a:p>
            <a:pPr marL="171450" lvl="0" indent="-171450">
              <a:buFont typeface="Arial" panose="020B0604020202020204" pitchFamily="34" charset="0"/>
              <a:buChar char="•"/>
            </a:pPr>
            <a:r>
              <a:rPr lang="es-MX" dirty="0"/>
              <a:t>streaming o envío de mensajes; </a:t>
            </a:r>
          </a:p>
          <a:p>
            <a:pPr marL="171450" lvl="0" indent="-171450">
              <a:buFont typeface="Arial" panose="020B0604020202020204" pitchFamily="34" charset="0"/>
              <a:buChar char="•"/>
            </a:pPr>
            <a:r>
              <a:rPr lang="es-MX" dirty="0"/>
              <a:t>autenticación e identidad; </a:t>
            </a:r>
          </a:p>
          <a:p>
            <a:pPr marL="171450" lvl="0" indent="-171450">
              <a:buFont typeface="Arial" panose="020B0604020202020204" pitchFamily="34" charset="0"/>
              <a:buChar char="•"/>
            </a:pPr>
            <a:r>
              <a:rPr lang="es-MX" dirty="0"/>
              <a:t>formato de entrada y salida; </a:t>
            </a:r>
          </a:p>
          <a:p>
            <a:pPr marL="171450" lvl="0" indent="-171450">
              <a:buFont typeface="Arial" panose="020B0604020202020204" pitchFamily="34" charset="0"/>
              <a:buChar char="•"/>
            </a:pPr>
            <a:r>
              <a:rPr lang="es-MX" dirty="0"/>
              <a:t>botones o superficies HITL. </a:t>
            </a:r>
          </a:p>
          <a:p>
            <a:endParaRPr lang="es-MX" sz="1200" b="1" kern="1200" dirty="0"/>
          </a:p>
          <a:p>
            <a:r>
              <a:rPr lang="es-MX" sz="1200" b="1" kern="1200" dirty="0" err="1"/>
              <a:t>channel</a:t>
            </a:r>
            <a:r>
              <a:rPr lang="es-MX" b="1" dirty="0"/>
              <a:t> como contexto de ejecución</a:t>
            </a:r>
          </a:p>
          <a:p>
            <a:r>
              <a:rPr lang="es-MX" dirty="0"/>
              <a:t>Es un campo que </a:t>
            </a:r>
            <a:r>
              <a:rPr lang="es-MX" sz="1200" kern="1200" dirty="0" err="1"/>
              <a:t>runAgent</a:t>
            </a:r>
            <a:r>
              <a:rPr lang="es-MX" dirty="0"/>
              <a:t> recibe:</a:t>
            </a:r>
          </a:p>
          <a:p>
            <a:pPr rtl="0"/>
            <a:r>
              <a:rPr lang="es-MX" sz="1200" kern="1200" dirty="0" err="1"/>
              <a:t>runAgent</a:t>
            </a:r>
            <a:r>
              <a:rPr lang="es-MX" sz="1200" kern="1200" dirty="0"/>
              <a:t>({</a:t>
            </a:r>
          </a:p>
          <a:p>
            <a:pPr rtl="0"/>
            <a:r>
              <a:rPr lang="es-MX" sz="1200" kern="1200" dirty="0"/>
              <a:t>  </a:t>
            </a:r>
            <a:r>
              <a:rPr lang="es-MX" sz="1200" kern="1200" dirty="0" err="1"/>
              <a:t>channel</a:t>
            </a:r>
            <a:r>
              <a:rPr lang="es-MX" sz="1200" kern="1200" dirty="0"/>
              <a:t>: "web" | "</a:t>
            </a:r>
            <a:r>
              <a:rPr lang="es-MX" sz="1200" kern="1200" dirty="0" err="1"/>
              <a:t>telegram</a:t>
            </a:r>
            <a:r>
              <a:rPr lang="es-MX" sz="1200" kern="1200" dirty="0"/>
              <a:t>" | "cron" | "</a:t>
            </a:r>
            <a:r>
              <a:rPr lang="es-MX" sz="1200" kern="1200" dirty="0" err="1"/>
              <a:t>heartbeat</a:t>
            </a:r>
            <a:r>
              <a:rPr lang="es-MX" sz="1200" kern="1200" dirty="0"/>
              <a:t>" | "</a:t>
            </a:r>
            <a:r>
              <a:rPr lang="es-MX" sz="1200" kern="1200" dirty="0" err="1"/>
              <a:t>case_runner</a:t>
            </a:r>
            <a:r>
              <a:rPr lang="es-MX" sz="1200" kern="1200" dirty="0"/>
              <a:t>",</a:t>
            </a:r>
          </a:p>
          <a:p>
            <a:pPr rtl="0"/>
            <a:r>
              <a:rPr lang="es-MX" sz="1200" kern="1200" dirty="0"/>
              <a:t>  ...</a:t>
            </a:r>
          </a:p>
          <a:p>
            <a:pPr rtl="0"/>
            <a:r>
              <a:rPr lang="es-MX" sz="1200" kern="1200" dirty="0"/>
              <a:t>})</a:t>
            </a:r>
          </a:p>
          <a:p>
            <a:endParaRPr lang="es-MX" dirty="0"/>
          </a:p>
          <a:p>
            <a:r>
              <a:rPr lang="es-MX" dirty="0"/>
              <a:t>Ese valor no transporta mensajes ni actúa como adaptador. Informa al </a:t>
            </a:r>
            <a:r>
              <a:rPr lang="es-MX" dirty="0" err="1"/>
              <a:t>runtime</a:t>
            </a:r>
            <a:r>
              <a:rPr lang="es-MX" dirty="0"/>
              <a:t> cómo debe comportarse:</a:t>
            </a:r>
          </a:p>
          <a:p>
            <a:pPr marL="171450" lvl="0" indent="-171450">
              <a:buFont typeface="Arial" panose="020B0604020202020204" pitchFamily="34" charset="0"/>
              <a:buChar char="•"/>
            </a:pPr>
            <a:r>
              <a:rPr lang="es-MX" dirty="0"/>
              <a:t>si carga historia conversacional normal; </a:t>
            </a:r>
          </a:p>
          <a:p>
            <a:pPr marL="171450" lvl="0" indent="-171450">
              <a:buFont typeface="Arial" panose="020B0604020202020204" pitchFamily="34" charset="0"/>
              <a:buChar char="•"/>
            </a:pPr>
            <a:r>
              <a:rPr lang="es-MX" dirty="0"/>
              <a:t>qué modelo o temperatura aplica; </a:t>
            </a:r>
          </a:p>
          <a:p>
            <a:pPr marL="171450" lvl="0" indent="-171450">
              <a:buFont typeface="Arial" panose="020B0604020202020204" pitchFamily="34" charset="0"/>
              <a:buChar char="•"/>
            </a:pPr>
            <a:r>
              <a:rPr lang="es-MX" dirty="0"/>
              <a:t>qué memoria puede inyectar; </a:t>
            </a:r>
          </a:p>
          <a:p>
            <a:pPr marL="171450" lvl="0" indent="-171450">
              <a:buFont typeface="Arial" panose="020B0604020202020204" pitchFamily="34" charset="0"/>
              <a:buChar char="•"/>
            </a:pPr>
            <a:r>
              <a:rPr lang="es-MX" dirty="0"/>
              <a:t>qué </a:t>
            </a:r>
            <a:r>
              <a:rPr lang="es-MX" dirty="0" err="1"/>
              <a:t>tools</a:t>
            </a:r>
            <a:r>
              <a:rPr lang="es-MX" dirty="0"/>
              <a:t> están disponibles; </a:t>
            </a:r>
          </a:p>
          <a:p>
            <a:pPr marL="171450" lvl="0" indent="-171450">
              <a:buFont typeface="Arial" panose="020B0604020202020204" pitchFamily="34" charset="0"/>
              <a:buChar char="•"/>
            </a:pPr>
            <a:r>
              <a:rPr lang="es-MX" dirty="0"/>
              <a:t>qué </a:t>
            </a:r>
            <a:r>
              <a:rPr lang="es-MX" dirty="0" err="1"/>
              <a:t>policy</a:t>
            </a:r>
            <a:r>
              <a:rPr lang="es-MX" dirty="0"/>
              <a:t> de aprobación corresponde; </a:t>
            </a:r>
          </a:p>
          <a:p>
            <a:pPr lvl="0"/>
            <a:r>
              <a:rPr lang="es-MX" dirty="0"/>
              <a:t>cómo atribuye logs, métricas y evidencia. </a:t>
            </a:r>
          </a:p>
          <a:p>
            <a:endParaRPr lang="es-MX" dirty="0"/>
          </a:p>
          <a:p>
            <a:r>
              <a:rPr lang="es-MX" dirty="0"/>
              <a:t>Por eso la formulación correcta es:</a:t>
            </a:r>
          </a:p>
          <a:p>
            <a:r>
              <a:rPr lang="es-MX" dirty="0"/>
              <a:t>Cinco orígenes invocan el mismo Agent </a:t>
            </a:r>
            <a:r>
              <a:rPr lang="es-MX" dirty="0" err="1"/>
              <a:t>Runtime</a:t>
            </a:r>
            <a:r>
              <a:rPr lang="es-MX" dirty="0"/>
              <a:t> mediante adaptadores o runners externos. </a:t>
            </a:r>
            <a:r>
              <a:rPr lang="es-MX" sz="1200" kern="1200" dirty="0" err="1"/>
              <a:t>runAgent</a:t>
            </a:r>
            <a:r>
              <a:rPr lang="es-MX" dirty="0"/>
              <a:t> recibe el origen como contexto mediante el valor de </a:t>
            </a:r>
            <a:r>
              <a:rPr lang="es-MX" sz="1200" kern="1200" dirty="0" err="1"/>
              <a:t>channel</a:t>
            </a:r>
            <a:r>
              <a:rPr lang="es-MX" sz="1200" kern="1200" dirty="0"/>
              <a:t> (es decir: web, </a:t>
            </a:r>
            <a:r>
              <a:rPr lang="es-MX" sz="1200" kern="1200" dirty="0" err="1"/>
              <a:t>telegram</a:t>
            </a:r>
            <a:r>
              <a:rPr lang="es-MX" sz="1200" kern="1200" dirty="0"/>
              <a:t>, cron, </a:t>
            </a:r>
            <a:r>
              <a:rPr lang="es-MX" sz="1200" kern="1200" dirty="0" err="1"/>
              <a:t>heartbeat</a:t>
            </a:r>
            <a:r>
              <a:rPr lang="es-MX" sz="1200" kern="1200" dirty="0"/>
              <a:t>, o </a:t>
            </a:r>
            <a:r>
              <a:rPr lang="es-MX" sz="1200" kern="1200" dirty="0" err="1"/>
              <a:t>case_runner</a:t>
            </a:r>
            <a:r>
              <a:rPr lang="es-MX" sz="1200" kern="1200" dirty="0"/>
              <a:t>)</a:t>
            </a:r>
            <a:r>
              <a:rPr lang="es-MX" dirty="0"/>
              <a:t>.</a:t>
            </a:r>
          </a:p>
          <a:p>
            <a:endParaRPr lang="es-MX" dirty="0"/>
          </a:p>
          <a:p>
            <a:r>
              <a:rPr lang="es-MX" dirty="0"/>
              <a:t>No:</a:t>
            </a:r>
          </a:p>
          <a:p>
            <a:r>
              <a:rPr lang="es-MX" dirty="0"/>
              <a:t>Hay cinco canales dentro del Agent </a:t>
            </a:r>
            <a:r>
              <a:rPr lang="es-MX" dirty="0" err="1"/>
              <a:t>Runtime</a:t>
            </a:r>
            <a:r>
              <a:rPr lang="es-MX" dirty="0"/>
              <a:t>.</a:t>
            </a:r>
          </a:p>
          <a:p>
            <a:endParaRPr lang="es-MX" dirty="0"/>
          </a:p>
          <a:p>
            <a:pPr indent="0">
              <a:buNone/>
            </a:pPr>
            <a:endParaRPr lang="es-MX" dirty="0"/>
          </a:p>
          <a:p>
            <a:pPr indent="0">
              <a:buNone/>
            </a:pPr>
            <a:r>
              <a:rPr dirty="0"/>
              <a:t>[Sources]</a:t>
            </a:r>
          </a:p>
          <a:p>
            <a:r>
              <a:rPr dirty="0"/>
              <a:t>- Gu_OS_Agent_Runtime_and_Harness_Guide_v0.1.docx</a:t>
            </a:r>
          </a:p>
          <a:p>
            <a:r>
              <a:rPr dirty="0"/>
              <a:t>- docs/architecture.md</a:t>
            </a:r>
          </a:p>
          <a:p>
            <a:r>
              <a:rPr dirty="0"/>
              <a:t>- docs/manuals/architecture-manual.md</a:t>
            </a:r>
          </a:p>
          <a:p>
            <a:r>
              <a:rPr dirty="0"/>
              <a:t>- packages/agent/</a:t>
            </a:r>
            <a:r>
              <a:rPr dirty="0" err="1"/>
              <a:t>src</a:t>
            </a:r>
            <a:r>
              <a:rPr dirty="0"/>
              <a:t>/</a:t>
            </a:r>
            <a:r>
              <a:rPr dirty="0" err="1"/>
              <a:t>graph.ts</a:t>
            </a:r>
            <a:endParaRPr dirty="0"/>
          </a:p>
          <a:p>
            <a:r>
              <a:rPr dirty="0"/>
              <a:t>- packages/agent/</a:t>
            </a:r>
            <a:r>
              <a:rPr dirty="0" err="1"/>
              <a:t>src</a:t>
            </a:r>
            <a:r>
              <a:rPr dirty="0"/>
              <a:t>/</a:t>
            </a:r>
            <a:r>
              <a:rPr dirty="0" err="1"/>
              <a:t>model.ts</a:t>
            </a:r>
            <a:endParaRPr dirty="0"/>
          </a:p>
          <a:p>
            <a:r>
              <a:rPr dirty="0"/>
              <a:t>- packages/agent/</a:t>
            </a:r>
            <a:r>
              <a:rPr dirty="0" err="1"/>
              <a:t>src</a:t>
            </a:r>
            <a:r>
              <a:rPr dirty="0"/>
              <a:t>/</a:t>
            </a:r>
            <a:r>
              <a:rPr dirty="0" err="1"/>
              <a:t>memory_flush.ts</a:t>
            </a:r>
            <a:endParaRPr dirty="0"/>
          </a:p>
          <a:p>
            <a:r>
              <a:rPr dirty="0"/>
              <a:t>- packages/agent/</a:t>
            </a:r>
            <a:r>
              <a:rPr dirty="0" err="1"/>
              <a:t>src</a:t>
            </a:r>
            <a:r>
              <a:rPr dirty="0"/>
              <a:t>/tools/</a:t>
            </a:r>
            <a:r>
              <a:rPr dirty="0" err="1"/>
              <a:t>catalog.ts</a:t>
            </a:r>
            <a:endParaRPr dirty="0"/>
          </a:p>
          <a:p>
            <a:r>
              <a:rPr dirty="0"/>
              <a:t>- Baseline: </a:t>
            </a:r>
            <a:r>
              <a:rPr dirty="0" err="1"/>
              <a:t>janotowers</a:t>
            </a:r>
            <a:r>
              <a:rPr dirty="0"/>
              <a:t>/Gu-OS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t>- packages/agent/src/graph.ts</a:t>
            </a:r>
            <a:endParaRPr sz="2000" b="0" u="none">
              <a:solidFill>
                <a:srgbClr val="000000"/>
              </a:solidFill>
              <a:latin typeface="Arial"/>
              <a:ea typeface="Arial"/>
              <a:cs typeface="Arial"/>
            </a:endParaRPr>
          </a:p>
          <a:p>
            <a:pPr indent="0">
              <a:lnSpc>
                <a:spcPct val="100000"/>
              </a:lnSpc>
              <a:buNone/>
            </a:pPr>
            <a:r>
              <a:t>- packages/agent/src/model.ts</a:t>
            </a:r>
            <a:endParaRPr sz="2000" b="0" u="none">
              <a:solidFill>
                <a:srgbClr val="000000"/>
              </a:solidFill>
              <a:latin typeface="Arial"/>
              <a:ea typeface="Arial"/>
              <a:cs typeface="Arial"/>
            </a:endParaRPr>
          </a:p>
          <a:p>
            <a:pPr indent="0">
              <a:lnSpc>
                <a:spcPct val="100000"/>
              </a:lnSpc>
              <a:buNone/>
            </a:pPr>
            <a:r>
              <a:t>- packages/agent/src/memory_flush.ts</a:t>
            </a:r>
            <a:endParaRPr sz="2000" b="0" u="none">
              <a:solidFill>
                <a:srgbClr val="000000"/>
              </a:solidFill>
              <a:latin typeface="Arial"/>
              <a:ea typeface="Arial"/>
              <a:cs typeface="Arial"/>
            </a:endParaRPr>
          </a:p>
          <a:p>
            <a:pPr indent="0">
              <a:lnSpc>
                <a:spcPct val="100000"/>
              </a:lnSpc>
              <a:buNone/>
            </a:pPr>
            <a:r>
              <a:t>- packages/agent/src/tools/catalog.ts</a:t>
            </a:r>
            <a:endParaRPr sz="2000" b="0" u="none">
              <a:solidFill>
                <a:srgbClr val="000000"/>
              </a:solidFill>
              <a:latin typeface="Arial"/>
              <a:ea typeface="Arial"/>
              <a:cs typeface="Arial"/>
            </a:endParaRPr>
          </a:p>
          <a:p>
            <a:pPr indent="0">
              <a:lnSpc>
                <a:spcPct val="100000"/>
              </a:lnSpc>
              <a:buNone/>
            </a:pPr>
            <a:r>
              <a:t>- Baseline: janotowers/Gu-OS main @ 5a6fbb05117042e1f7c47c911e0e2bc14d068340 (2026-09-08)</a:t>
            </a:r>
            <a:endParaRPr sz="2000" b="0" u="none">
              <a:solidFill>
                <a:srgbClr val="000000"/>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[UBICACIÓN RECOMENDADA]</a:t>
            </a:r>
          </a:p>
          <a:p>
            <a:r>
              <a:t>Session 3B · insertar después de la lámina original 14. Complementa el contraste Turn loop / Work loop y conecta con las sesiones de Architecture y R1.</a:t>
            </a:r>
          </a:p>
          <a:p>
            <a:endParaRPr/>
          </a:p>
          <a:p>
            <a:r>
              <a:t>[PROPÓSITO]</a:t>
            </a:r>
          </a:p>
          <a:p>
            <a:r>
              <a:t>Mostrar cómo un turno acotado se inserta en responsabilidades que duran días o semanas, y diferenciar la base compartida implementada de la semántica completa del Case Supervisor objetivo de R1.</a:t>
            </a:r>
          </a:p>
          <a:p>
            <a:endParaRPr/>
          </a:p>
          <a:p>
            <a:r>
              <a:t>[GUION DIDÁCTICO]</a:t>
            </a:r>
          </a:p>
          <a:p>
            <a:r>
              <a:t>Abra con las escalas. Un turno responde o actúa en segundos o minutos. Un Work Item conserva una unidad ejecutable que puede esperar, reintentarse o verificarse. Un Case mantiene una responsabilidad comercial con objetivo, participantes, policy, evidencia y outcome durante días o semanas.</a:t>
            </a:r>
          </a:p>
          <a:p>
            <a:endParaRPr/>
          </a:p>
          <a:p>
            <a:r>
              <a:t>Los triggers pueden ser un mensaje, un evento externo, un timer, una intervención humana o el resultado de otro trabajo. El trigger no prescribe la acción. Sólo indica que vale la pena reconsiderar la situación. Esta diferencia evita ejecutar decisiones que se tomaron con información obsoleta.</a:t>
            </a:r>
          </a:p>
          <a:p>
            <a:endParaRPr/>
          </a:p>
          <a:p>
            <a:r>
              <a:t>En la base actual, operational_cases mantiene estado durable y una timeline append-only de eventos. next_action_at permite que el cron encuentre Cases vencidos. El case_runner adquiere el Case con control de concurrencia y llama runAgent con caseId y channel case_runner. El runtime incorpora el Case y sus eventos recientes al System context y puede ligar directamente la Skill del tipo de Case.</a:t>
            </a:r>
          </a:p>
          <a:p>
            <a:endParaRPr/>
          </a:p>
          <a:p>
            <a:r>
              <a:t>El Case Supervisor representa el rol que comprende la situación y elige trabajo útil. No necesariamente requiere un servicio separado. La implementación inicial puede emerger del runner compartido, la Skill y las capacidades del Work Plane. R1 amplía esta semántica mediante sus Slices y todavía no debe mostrarse como autoridad live completa.</a:t>
            </a:r>
          </a:p>
          <a:p>
            <a:endParaRPr/>
          </a:p>
          <a:p>
            <a:r>
              <a:t>El Supervisor puede elegir trabajo inline cuando la operación es efímera y acotada: leer información fresca, razonar, investigar con una tool o producir un resultado inmediato dentro del turno. No todo pensamiento ni cada tool call merece un Work Item.</a:t>
            </a:r>
          </a:p>
          <a:p>
            <a:endParaRPr/>
          </a:p>
          <a:p>
            <a:r>
              <a:t>Se crea un Work Item cuando el trabajo necesita identidad operacional independiente. Los criterios incluyen esperar hasta una fecha, reintentar, depender de otra unidad, involucrar a una persona, producir un efecto material o conservar verificación y evidencia separadas. Los attempts registran ejecuciones concretas. Policy y autoridad se vuelven a validar antes de efectos externos.</a:t>
            </a:r>
          </a:p>
          <a:p>
            <a:endParaRPr/>
          </a:p>
          <a:p>
            <a:r>
              <a:t>El resultado del trabajo produce evidencia. Un proveedor puede confirmar que aceptó una operación, pero el outcome comercial puede conocerse después. El Case incorpora hechos y compromisos relevantes, determina una nueva postura y decide cuándo debe despertarse otra vez. El loop puede terminar en wait o no-op si no existe trabajo materialmente útil.</a:t>
            </a:r>
          </a:p>
          <a:p>
            <a:endParaRPr/>
          </a:p>
          <a:p>
            <a:r>
              <a:t>Use un ejemplo inmobiliario. Un prospecto solicita una visita. El Case recibe el evento y se despierta. El Supervisor relee disponibilidad y autoridad. Una consulta de inventario puede ejecutarse inline. La coordinación de una visita que espera confirmación del asesor y del prospecto merece Work Items con dependencias y evidencia. Cuando llega la confirmación o vence un compromiso, el Case se despierta y reconsidera.</a:t>
            </a:r>
          </a:p>
          <a:p>
            <a:endParaRPr/>
          </a:p>
          <a:p>
            <a:r>
              <a:t>Cierre con el estado. La base genérica de Cases, eventos, case_runner y Work Plane existe. R1 construye por Slices la admisión de Lead Opportunity, el Supervisor shadow, wake-ups productivos, efectos asistidos y autoridad selectiva.</a:t>
            </a:r>
          </a:p>
          <a:p>
            <a:endParaRPr/>
          </a:p>
          <a:p>
            <a:r>
              <a:t>[GLOSARIO]</a:t>
            </a:r>
          </a:p>
          <a:p>
            <a:r>
              <a:t>Trigger: señal que indica que un Case puede necesitar reconsideración.</a:t>
            </a:r>
          </a:p>
          <a:p>
            <a:r>
              <a:t>Wake-up: activación para releer la situación; no constituye una acción predeterminada.</a:t>
            </a:r>
          </a:p>
          <a:p>
            <a:r>
              <a:t>Case: responsabilidad durable con objetivo y lifecycle propio.</a:t>
            </a:r>
          </a:p>
          <a:p>
            <a:r>
              <a:t>Case Supervisor: rol agentic que reconsidera un Case y elige trabajo útil bajo restricciones.</a:t>
            </a:r>
          </a:p>
          <a:p>
            <a:r>
              <a:t>Inline work: trabajo efímero que cabe dentro de un turno.</a:t>
            </a:r>
          </a:p>
          <a:p>
            <a:r>
              <a:t>Work Item: unidad durable de ejecución con estado, dependencias, attempts y verificación.</a:t>
            </a:r>
          </a:p>
          <a:p>
            <a:r>
              <a:t>Attempt: intento concreto de ejecutar un Work Item.</a:t>
            </a:r>
          </a:p>
          <a:p>
            <a:r>
              <a:t>Wait: estado deliberado mientras se espera tiempo, información o participación.</a:t>
            </a:r>
          </a:p>
          <a:p>
            <a:r>
              <a:t>No-op / quiescence: decisión válida de no realizar trabajo ahora.</a:t>
            </a:r>
          </a:p>
          <a:p>
            <a:r>
              <a:t>Outcome: resultado observado en el negocio, distinto del éxito técnico de una tool.</a:t>
            </a:r>
          </a:p>
          <a:p>
            <a:endParaRPr/>
          </a:p>
          <a:p>
            <a:r>
              <a:t>[FUENTES]</a:t>
            </a:r>
          </a:p>
          <a:p>
            <a:r>
              <a:t>- docs/operational-cases/architecture.md</a:t>
            </a:r>
          </a:p>
          <a:p>
            <a:r>
              <a:t>- docs/manuals/architecture-manual.md §13b</a:t>
            </a:r>
          </a:p>
          <a:p>
            <a:r>
              <a:t>- docs/product/operating-domains/relationship-operations/specs/situational-progression-next-work-human-authority.md</a:t>
            </a:r>
          </a:p>
          <a:p>
            <a:r>
              <a:t>- docs/product/roadmap-increments/r1-relationship-operations-v1/architecture-analysis.md §13</a:t>
            </a:r>
          </a:p>
          <a:p>
            <a:r>
              <a:t>- docs/product/roadmap-increments/r1-relationship-operations-v1/slice-plan.md</a:t>
            </a:r>
          </a:p>
          <a:p>
            <a:r>
              <a:t>- packages/db/src/queries/durable-tasks.ts</a:t>
            </a:r>
          </a:p>
          <a:p>
            <a:r>
              <a:t>- packages/agent/src/graph.ts</a:t>
            </a:r>
          </a:p>
          <a:p>
            <a:r>
              <a:t>- Baseline: janotowers/Gu-OS main @ 5a6fbb05117042e1f7c47c911e0e2bc14d068340 · verificado 11 septiembre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packages/agent/src/graph.ts</a:t>
            </a:r>
          </a:p>
          <a:p>
            <a:pPr indent="0">
              <a:lnSpc>
                <a:spcPct val="100000"/>
              </a:lnSpc>
              <a:buNone/>
            </a:pPr>
            <a:r>
              <a:rPr sz="2000" b="0" u="none">
                <a:solidFill>
                  <a:srgbClr val="000000"/>
                </a:solidFill>
                <a:latin typeface="Arial"/>
                <a:ea typeface="Arial"/>
                <a:cs typeface="Arial"/>
              </a:rPr>
              <a:t>- packages/agent/src/model.ts</a:t>
            </a:r>
          </a:p>
          <a:p>
            <a:pPr indent="0">
              <a:lnSpc>
                <a:spcPct val="100000"/>
              </a:lnSpc>
              <a:buNone/>
            </a:pPr>
            <a:r>
              <a:rPr sz="2000" b="0" u="none">
                <a:solidFill>
                  <a:srgbClr val="000000"/>
                </a:solidFill>
                <a:latin typeface="Arial"/>
                <a:ea typeface="Arial"/>
                <a:cs typeface="Arial"/>
              </a:rPr>
              <a:t>- packages/agent/src/memory_flush.ts</a:t>
            </a:r>
          </a:p>
          <a:p>
            <a:pPr indent="0">
              <a:lnSpc>
                <a:spcPct val="100000"/>
              </a:lnSpc>
              <a:buNone/>
            </a:pPr>
            <a:r>
              <a:rPr sz="2000" b="0" u="none">
                <a:solidFill>
                  <a:srgbClr val="000000"/>
                </a:solidFill>
                <a:latin typeface="Arial"/>
                <a:ea typeface="Arial"/>
                <a:cs typeface="Arial"/>
              </a:rPr>
              <a:t>- packages/agent/src/tools/catalog.ts</a:t>
            </a:r>
          </a:p>
          <a:p>
            <a:pPr indent="0">
              <a:lnSpc>
                <a:spcPct val="100000"/>
              </a:lnSpc>
              <a:buNone/>
            </a:pPr>
            <a:r>
              <a:rPr sz="2000" b="0" u="none">
                <a:solidFill>
                  <a:srgbClr val="000000"/>
                </a:solidFill>
                <a:latin typeface="Arial"/>
                <a:ea typeface="Arial"/>
                <a:cs typeface="Arial"/>
              </a:rP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t>[Sources]</a:t>
            </a:r>
          </a:p>
          <a:p>
            <a:r>
              <a:t>- Gu_OS_Agent_Runtime_and_Harness_Guide_v0.1.docx</a:t>
            </a:r>
          </a:p>
          <a:p>
            <a:r>
              <a:t>- docs/architecture.md</a:t>
            </a:r>
          </a:p>
          <a:p>
            <a:r>
              <a:t>- docs/manuals/architecture-manual.md</a:t>
            </a:r>
          </a:p>
          <a:p>
            <a:r>
              <a:t>- packages/agent/src/graph.ts</a:t>
            </a:r>
          </a:p>
          <a:p>
            <a:r>
              <a:t>- packages/agent/src/model.ts</a:t>
            </a:r>
          </a:p>
          <a:p>
            <a:r>
              <a:t>- packages/agent/src/memory_flush.ts</a:t>
            </a:r>
          </a:p>
          <a:p>
            <a:r>
              <a:t>- packages/agent/src/tools/catalog.ts</a:t>
            </a:r>
          </a:p>
          <a:p>
            <a: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buNone/>
            </a:pPr>
            <a:r>
              <a:rPr sz="2000" b="0" u="none">
                <a:solidFill>
                  <a:srgbClr val="000000"/>
                </a:solidFill>
                <a:latin typeface="Arial"/>
                <a:ea typeface="Arial"/>
                <a:cs typeface="Arial"/>
              </a:rPr>
              <a:t>[Sources]</a:t>
            </a:r>
          </a:p>
          <a:p>
            <a:pPr indent="0">
              <a:buNone/>
            </a:pPr>
            <a:r>
              <a:t>- Gu_OS_Agent_Runtime_and_Harness_Guide_v0.1.docx</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docs/architecture.md</a:t>
            </a:r>
          </a:p>
          <a:p>
            <a:pPr indent="0">
              <a:lnSpc>
                <a:spcPct val="100000"/>
              </a:lnSpc>
              <a:buNone/>
            </a:pPr>
            <a:r>
              <a:t>- docs/manuals/architecture-manual.md</a:t>
            </a:r>
            <a:endParaRPr sz="2000" b="0" u="none">
              <a:solidFill>
                <a:srgbClr val="000000"/>
              </a:solidFill>
              <a:latin typeface="Arial"/>
              <a:ea typeface="Arial"/>
              <a:cs typeface="Arial"/>
            </a:endParaRPr>
          </a:p>
          <a:p>
            <a:pPr indent="0">
              <a:lnSpc>
                <a:spcPct val="100000"/>
              </a:lnSpc>
              <a:buNone/>
            </a:pPr>
            <a:r>
              <a:rPr sz="2000" b="0" u="none">
                <a:solidFill>
                  <a:srgbClr val="000000"/>
                </a:solidFill>
                <a:latin typeface="Arial"/>
                <a:ea typeface="Arial"/>
                <a:cs typeface="Arial"/>
              </a:rPr>
              <a:t>- packages/agent/src/graph.ts</a:t>
            </a:r>
          </a:p>
          <a:p>
            <a:pPr indent="0">
              <a:lnSpc>
                <a:spcPct val="100000"/>
              </a:lnSpc>
              <a:buNone/>
            </a:pPr>
            <a:r>
              <a:t>- packages/agent/src/model.ts</a:t>
            </a:r>
            <a:endParaRPr sz="2000" b="0" u="none">
              <a:solidFill>
                <a:srgbClr val="000000"/>
              </a:solidFill>
              <a:latin typeface="Arial"/>
              <a:ea typeface="Arial"/>
              <a:cs typeface="Arial"/>
            </a:endParaRPr>
          </a:p>
          <a:p>
            <a:pPr indent="0">
              <a:lnSpc>
                <a:spcPct val="100000"/>
              </a:lnSpc>
              <a:buNone/>
            </a:pPr>
            <a:r>
              <a:t>- packages/agent/src/memory_flush.ts</a:t>
            </a:r>
            <a:endParaRPr sz="2000" b="0" u="none">
              <a:solidFill>
                <a:srgbClr val="000000"/>
              </a:solidFill>
              <a:latin typeface="Arial"/>
              <a:ea typeface="Arial"/>
              <a:cs typeface="Arial"/>
            </a:endParaRPr>
          </a:p>
          <a:p>
            <a:pPr indent="0">
              <a:lnSpc>
                <a:spcPct val="100000"/>
              </a:lnSpc>
              <a:buNone/>
            </a:pPr>
            <a:r>
              <a:t>- packages/agent/src/tools/catalog.ts</a:t>
            </a:r>
            <a:endParaRPr sz="2000" b="0" u="none">
              <a:solidFill>
                <a:srgbClr val="000000"/>
              </a:solidFill>
              <a:latin typeface="Arial"/>
              <a:ea typeface="Arial"/>
              <a:cs typeface="Arial"/>
            </a:endParaRPr>
          </a:p>
          <a:p>
            <a:pPr indent="0">
              <a:lnSpc>
                <a:spcPct val="100000"/>
              </a:lnSpc>
              <a:buNone/>
            </a:pPr>
            <a:r>
              <a:t>- Baseline: janotowers/Gu-OS main @ 5a6fbb05117042e1f7c47c911e0e2bc14d068340 (2026-09-08)</a:t>
            </a:r>
            <a:endParaRPr sz="2000" b="0" u="none">
              <a:solidFill>
                <a:srgbClr val="000000"/>
              </a:solidFill>
              <a:latin typeface="Arial"/>
              <a:ea typeface="Arial"/>
              <a:cs typeface="Aria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Gu_OS_Agent_Runtime_and_Harness_Guide_v0.1.docx</a:t>
            </a:r>
          </a:p>
          <a:p>
            <a:r>
              <a:t>- docs/architecture.md</a:t>
            </a:r>
          </a:p>
          <a:p>
            <a:r>
              <a:t>- docs/manuals/architecture-manual.md</a:t>
            </a:r>
          </a:p>
          <a:p>
            <a:r>
              <a:t>- packages/agent/src/graph.ts</a:t>
            </a:r>
          </a:p>
          <a:p>
            <a:r>
              <a:t>- packages/agent/src/model.ts</a:t>
            </a:r>
          </a:p>
          <a:p>
            <a:r>
              <a:t>- packages/agent/src/memory_flush.ts</a:t>
            </a:r>
          </a:p>
          <a:p>
            <a:r>
              <a:t>- packages/agent/src/tools/catalog.ts</a:t>
            </a:r>
          </a:p>
          <a:p>
            <a:r>
              <a:t>- Baseline: janotowers/Gu-OS main @ 5a6fbb05117042e1f7c47c911e0e2bc14d068340 (2026-09-08)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BF43F81C-6B5B-4042-BE41-54B3BF626A95}"/>
              </a:ext>
            </a:extLst>
          </p:cNvPr>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sz="1800" b="0" u="none">
                <a:solidFill>
                  <a:schemeClr val="dk1"/>
                </a:solidFill>
                <a:latin typeface="Aptos"/>
                <a:ea typeface="Aptos"/>
                <a:cs typeface="Aptos"/>
              </a:rPr>
              <a:t>Click to edit the title text format</a:t>
            </a:r>
          </a:p>
        </p:txBody>
      </p:sp>
      <p:sp>
        <p:nvSpPr>
          <p:cNvPr id="3" name="PlaceHolder 2">
            <a:extLst>
              <a:ext uri="{FF2B5EF4-FFF2-40B4-BE49-F238E27FC236}">
                <a16:creationId xmlns:a16="http://schemas.microsoft.com/office/drawing/2014/main" id="{C1AB9508-59AA-4504-849E-1AB32058C9C4}"/>
              </a:ext>
            </a:extLst>
          </p:cNvPr>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a:buChar char=""/>
            </a:pPr>
            <a:r>
              <a:rPr sz="3200" b="0" u="none">
                <a:solidFill>
                  <a:schemeClr val="dk1"/>
                </a:solidFill>
                <a:latin typeface="Aptos"/>
                <a:ea typeface="Aptos"/>
                <a:cs typeface="Aptos"/>
              </a:rPr>
              <a:t>Click to edit the outline text format</a:t>
            </a:r>
          </a:p>
          <a:p>
            <a:pPr marL="864000" lvl="1" indent="-324000">
              <a:spcBef>
                <a:spcPts val="1134"/>
              </a:spcBef>
              <a:buClr>
                <a:srgbClr val="000000"/>
              </a:buClr>
              <a:buSzPct val="75000"/>
              <a:buFont typeface="Symbol"/>
              <a:buChar char=""/>
            </a:pPr>
            <a:r>
              <a:rPr sz="2400" b="0" u="none">
                <a:solidFill>
                  <a:schemeClr val="dk1"/>
                </a:solidFill>
                <a:latin typeface="Aptos"/>
                <a:ea typeface="Aptos"/>
                <a:cs typeface="Aptos"/>
              </a:rPr>
              <a:t>Second Outline Level</a:t>
            </a:r>
          </a:p>
          <a:p>
            <a:pPr marL="1296000" lvl="2" indent="-288000">
              <a:spcBef>
                <a:spcPts val="850"/>
              </a:spcBef>
              <a:buClr>
                <a:srgbClr val="000000"/>
              </a:buClr>
              <a:buSzPct val="45000"/>
              <a:buFont typeface="Wingdings"/>
              <a:buChar char=""/>
            </a:pPr>
            <a:r>
              <a:rPr sz="2000" b="0" u="none">
                <a:solidFill>
                  <a:schemeClr val="dk1"/>
                </a:solidFill>
                <a:latin typeface="Aptos"/>
                <a:ea typeface="Aptos"/>
                <a:cs typeface="Aptos"/>
              </a:rPr>
              <a:t>Third Outline Level</a:t>
            </a:r>
          </a:p>
          <a:p>
            <a:pPr marL="1728000" lvl="3" indent="-216000">
              <a:spcBef>
                <a:spcPts val="567"/>
              </a:spcBef>
              <a:buClr>
                <a:srgbClr val="000000"/>
              </a:buClr>
              <a:buSzPct val="75000"/>
              <a:buFont typeface="Symbol"/>
              <a:buChar char=""/>
            </a:pPr>
            <a:r>
              <a:rPr sz="2000" b="0" u="none">
                <a:solidFill>
                  <a:schemeClr val="dk1"/>
                </a:solidFill>
                <a:latin typeface="Aptos"/>
                <a:ea typeface="Aptos"/>
                <a:cs typeface="Aptos"/>
              </a:rPr>
              <a:t>Fourth Outline Level</a:t>
            </a:r>
          </a:p>
          <a:p>
            <a:pPr marL="2160000" lvl="4" indent="-216000">
              <a:spcBef>
                <a:spcPts val="283"/>
              </a:spcBef>
              <a:buClr>
                <a:srgbClr val="000000"/>
              </a:buClr>
              <a:buSzPct val="45000"/>
              <a:buFont typeface="Wingdings"/>
              <a:buChar char=""/>
            </a:pPr>
            <a:r>
              <a:rPr sz="2000" b="0" u="none">
                <a:solidFill>
                  <a:schemeClr val="dk1"/>
                </a:solidFill>
                <a:latin typeface="Aptos"/>
                <a:ea typeface="Aptos"/>
                <a:cs typeface="Aptos"/>
              </a:rPr>
              <a:t>Fifth Outline Level</a:t>
            </a:r>
          </a:p>
          <a:p>
            <a:pPr marL="2592000" lvl="5" indent="-216000">
              <a:spcBef>
                <a:spcPts val="283"/>
              </a:spcBef>
              <a:buClr>
                <a:srgbClr val="000000"/>
              </a:buClr>
              <a:buSzPct val="45000"/>
              <a:buFont typeface="Wingdings"/>
              <a:buChar char=""/>
            </a:pPr>
            <a:r>
              <a:rPr sz="2000" b="0" u="none">
                <a:solidFill>
                  <a:schemeClr val="dk1"/>
                </a:solidFill>
                <a:latin typeface="Aptos"/>
                <a:ea typeface="Aptos"/>
                <a:cs typeface="Aptos"/>
              </a:rPr>
              <a:t>Sixth Outline Level</a:t>
            </a:r>
          </a:p>
          <a:p>
            <a:pPr marL="3024000" lvl="6" indent="-216000">
              <a:spcBef>
                <a:spcPts val="283"/>
              </a:spcBef>
              <a:buClr>
                <a:srgbClr val="000000"/>
              </a:buClr>
              <a:buSzPct val="45000"/>
              <a:buFont typeface="Wingdings"/>
              <a:buChar char=""/>
            </a:pPr>
            <a:r>
              <a:rPr sz="2000" b="0" u="none">
                <a:solidFill>
                  <a:schemeClr val="dk1"/>
                </a:solidFill>
                <a:latin typeface="Aptos"/>
                <a:ea typeface="Aptos"/>
                <a:cs typeface="Aptos"/>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BFAFF"/>
        </a:solidFill>
        <a:effectLst/>
      </p:bgPr>
    </p:bg>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F6C73D5C-FFB3-4E47-BA16-922D0FFC3E81}"/>
              </a:ext>
            </a:extLst>
          </p:cNvPr>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p>
            <a:pPr indent="0">
              <a:buNone/>
            </a:pPr>
            <a:r>
              <a:rPr sz="1800" b="0" u="none">
                <a:solidFill>
                  <a:schemeClr val="dk1"/>
                </a:solidFill>
                <a:latin typeface="Aptos"/>
                <a:ea typeface="Aptos"/>
                <a:cs typeface="Aptos"/>
              </a:rPr>
              <a:t>Click to edit the title text format</a:t>
            </a:r>
          </a:p>
        </p:txBody>
      </p:sp>
      <p:sp>
        <p:nvSpPr>
          <p:cNvPr id="3" name="PlaceHolder 2">
            <a:extLst>
              <a:ext uri="{FF2B5EF4-FFF2-40B4-BE49-F238E27FC236}">
                <a16:creationId xmlns:a16="http://schemas.microsoft.com/office/drawing/2014/main" id="{A1976C6A-8728-414A-8036-13C31FA6CB29}"/>
              </a:ext>
            </a:extLst>
          </p:cNvPr>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a:buChar char=""/>
            </a:pPr>
            <a:r>
              <a:rPr sz="3200" b="0" u="none">
                <a:solidFill>
                  <a:schemeClr val="dk1"/>
                </a:solidFill>
                <a:latin typeface="Aptos"/>
                <a:ea typeface="Aptos"/>
                <a:cs typeface="Aptos"/>
              </a:rPr>
              <a:t>Click to edit the outline text format</a:t>
            </a:r>
          </a:p>
          <a:p>
            <a:pPr marL="864000" lvl="1" indent="-324000">
              <a:spcBef>
                <a:spcPts val="1134"/>
              </a:spcBef>
              <a:buClr>
                <a:srgbClr val="000000"/>
              </a:buClr>
              <a:buSzPct val="75000"/>
              <a:buFont typeface="Symbol"/>
              <a:buChar char=""/>
            </a:pPr>
            <a:r>
              <a:rPr sz="2400" b="0" u="none">
                <a:solidFill>
                  <a:schemeClr val="dk1"/>
                </a:solidFill>
                <a:latin typeface="Aptos"/>
                <a:ea typeface="Aptos"/>
                <a:cs typeface="Aptos"/>
              </a:rPr>
              <a:t>Second Outline Level</a:t>
            </a:r>
          </a:p>
          <a:p>
            <a:pPr marL="1296000" lvl="2" indent="-288000">
              <a:spcBef>
                <a:spcPts val="850"/>
              </a:spcBef>
              <a:buClr>
                <a:srgbClr val="000000"/>
              </a:buClr>
              <a:buSzPct val="45000"/>
              <a:buFont typeface="Wingdings"/>
              <a:buChar char=""/>
            </a:pPr>
            <a:r>
              <a:rPr sz="2000" b="0" u="none">
                <a:solidFill>
                  <a:schemeClr val="dk1"/>
                </a:solidFill>
                <a:latin typeface="Aptos"/>
                <a:ea typeface="Aptos"/>
                <a:cs typeface="Aptos"/>
              </a:rPr>
              <a:t>Third Outline Level</a:t>
            </a:r>
          </a:p>
          <a:p>
            <a:pPr marL="1728000" lvl="3" indent="-216000">
              <a:spcBef>
                <a:spcPts val="567"/>
              </a:spcBef>
              <a:buClr>
                <a:srgbClr val="000000"/>
              </a:buClr>
              <a:buSzPct val="75000"/>
              <a:buFont typeface="Symbol"/>
              <a:buChar char=""/>
            </a:pPr>
            <a:r>
              <a:rPr sz="2000" b="0" u="none">
                <a:solidFill>
                  <a:schemeClr val="dk1"/>
                </a:solidFill>
                <a:latin typeface="Aptos"/>
                <a:ea typeface="Aptos"/>
                <a:cs typeface="Aptos"/>
              </a:rPr>
              <a:t>Fourth Outline Level</a:t>
            </a:r>
          </a:p>
          <a:p>
            <a:pPr marL="2160000" lvl="4" indent="-216000">
              <a:spcBef>
                <a:spcPts val="283"/>
              </a:spcBef>
              <a:buClr>
                <a:srgbClr val="000000"/>
              </a:buClr>
              <a:buSzPct val="45000"/>
              <a:buFont typeface="Wingdings"/>
              <a:buChar char=""/>
            </a:pPr>
            <a:r>
              <a:rPr sz="2000" b="0" u="none">
                <a:solidFill>
                  <a:schemeClr val="dk1"/>
                </a:solidFill>
                <a:latin typeface="Aptos"/>
                <a:ea typeface="Aptos"/>
                <a:cs typeface="Aptos"/>
              </a:rPr>
              <a:t>Fifth Outline Level</a:t>
            </a:r>
          </a:p>
          <a:p>
            <a:pPr marL="2592000" lvl="5" indent="-216000">
              <a:spcBef>
                <a:spcPts val="283"/>
              </a:spcBef>
              <a:buClr>
                <a:srgbClr val="000000"/>
              </a:buClr>
              <a:buSzPct val="45000"/>
              <a:buFont typeface="Wingdings"/>
              <a:buChar char=""/>
            </a:pPr>
            <a:r>
              <a:rPr sz="2000" b="0" u="none">
                <a:solidFill>
                  <a:schemeClr val="dk1"/>
                </a:solidFill>
                <a:latin typeface="Aptos"/>
                <a:ea typeface="Aptos"/>
                <a:cs typeface="Aptos"/>
              </a:rPr>
              <a:t>Sixth Outline Level</a:t>
            </a:r>
          </a:p>
          <a:p>
            <a:pPr marL="3024000" lvl="6" indent="-216000">
              <a:spcBef>
                <a:spcPts val="283"/>
              </a:spcBef>
              <a:buClr>
                <a:srgbClr val="000000"/>
              </a:buClr>
              <a:buSzPct val="45000"/>
              <a:buFont typeface="Wingdings"/>
              <a:buChar char=""/>
            </a:pPr>
            <a:r>
              <a:rPr sz="2000" b="0" u="none">
                <a:solidFill>
                  <a:schemeClr val="dk1"/>
                </a:solidFill>
                <a:latin typeface="Aptos"/>
                <a:ea typeface="Aptos"/>
                <a:cs typeface="Aptos"/>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UNGGA_LIGHT">
    <p:bg>
      <p:bgPr>
        <a:solidFill>
          <a:srgbClr val="FBFAFE"/>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C0665832-C92A-4CEF-AB28-361EA9543289}"/>
              </a:ext>
            </a:extLst>
          </p:cNvPr>
          <p:cNvSpPr>
            <a:spLocks noGrp="1"/>
          </p:cNvSpPr>
          <p:nvPr/>
        </p:nvSpPr>
        <p:spPr>
          <a:xfrm>
            <a:off x="0" y="0"/>
            <a:ext cx="12191695" cy="73152"/>
          </a:xfrm>
          <a:prstGeom prst="rect">
            <a:avLst/>
          </a:prstGeom>
          <a:solidFill>
            <a:srgbClr val="5B2DB6"/>
          </a:solidFill>
          <a:ln w="12700">
            <a:solidFill>
              <a:srgbClr val="5B2DB6"/>
            </a:solidFill>
            <a:prstDash val="solid"/>
          </a:ln>
        </p:spPr>
        <p:txBody>
          <a:bodyPr/>
          <a:lstStyle/>
          <a:p>
            <a:endParaRPr/>
          </a:p>
        </p:txBody>
      </p:sp>
      <p:sp>
        <p:nvSpPr>
          <p:cNvPr id="3" name="Text 1">
            <a:extLst>
              <a:ext uri="{FF2B5EF4-FFF2-40B4-BE49-F238E27FC236}">
                <a16:creationId xmlns:a16="http://schemas.microsoft.com/office/drawing/2014/main" id="{C3E0F7BE-4131-45FD-969A-76BAA4FAB272}"/>
              </a:ext>
            </a:extLst>
          </p:cNvPr>
          <p:cNvSpPr>
            <a:spLocks noGrp="1"/>
          </p:cNvSpPr>
          <p:nvPr/>
        </p:nvSpPr>
        <p:spPr>
          <a:xfrm>
            <a:off x="566928" y="6537960"/>
            <a:ext cx="1097280" cy="164592"/>
          </a:xfrm>
          <a:prstGeom prst="rect">
            <a:avLst/>
          </a:prstGeom>
          <a:noFill/>
        </p:spPr>
        <p:txBody>
          <a:bodyPr wrap="square" lIns="0" tIns="0" rIns="0" bIns="0" anchor="ctr"/>
          <a:lstStyle/>
          <a:p>
            <a:pPr marL="0" indent="0">
              <a:buNone/>
            </a:pPr>
            <a:r>
              <a:rPr sz="750" spc="120">
                <a:solidFill>
                  <a:srgbClr val="8D86A0"/>
                </a:solidFill>
                <a:latin typeface="Inter"/>
                <a:ea typeface="Inter"/>
                <a:cs typeface="Inter"/>
              </a:rPr>
              <a:t>CONFIDENTIAL</a:t>
            </a:r>
            <a:endParaRPr sz="750"/>
          </a:p>
        </p:txBody>
      </p:sp>
      <p:sp>
        <p:nvSpPr>
          <p:cNvPr id="4" name="Text 2">
            <a:extLst>
              <a:ext uri="{FF2B5EF4-FFF2-40B4-BE49-F238E27FC236}">
                <a16:creationId xmlns:a16="http://schemas.microsoft.com/office/drawing/2014/main" id="{4A06C70B-F60B-4548-8BCB-EFCD87508C4E}"/>
              </a:ext>
            </a:extLst>
          </p:cNvPr>
          <p:cNvSpPr>
            <a:spLocks noGrp="1"/>
          </p:cNvSpPr>
          <p:nvPr/>
        </p:nvSpPr>
        <p:spPr>
          <a:xfrm>
            <a:off x="10561320" y="6510528"/>
            <a:ext cx="914400" cy="182880"/>
          </a:xfrm>
          <a:prstGeom prst="rect">
            <a:avLst/>
          </a:prstGeom>
          <a:noFill/>
        </p:spPr>
        <p:txBody>
          <a:bodyPr wrap="square" lIns="0" tIns="0" rIns="0" bIns="0" anchor="ctr"/>
          <a:lstStyle/>
          <a:p>
            <a:pPr marL="0" indent="0" algn="r">
              <a:buNone/>
            </a:pPr>
            <a:r>
              <a:rPr sz="800">
                <a:solidFill>
                  <a:srgbClr val="8D86A0"/>
                </a:solidFill>
                <a:latin typeface="Inter"/>
                <a:ea typeface="Inter"/>
                <a:cs typeface="Inter"/>
              </a:rPr>
              <a:t>ungga.com</a:t>
            </a:r>
            <a:endParaRPr sz="800"/>
          </a:p>
        </p:txBody>
      </p:sp>
      <p:sp>
        <p:nvSpPr>
          <p:cNvPr id="25" name="Slide Number Placeholder 0">
            <a:extLst>
              <a:ext uri="{FF2B5EF4-FFF2-40B4-BE49-F238E27FC236}">
                <a16:creationId xmlns:a16="http://schemas.microsoft.com/office/drawing/2014/main" id="{B230E6B9-A5B2-4BE5-97F1-0126BD8BB274}"/>
              </a:ext>
            </a:extLst>
          </p:cNvPr>
          <p:cNvSpPr>
            <a:spLocks noGrp="1"/>
          </p:cNvSpPr>
          <p:nvPr>
            <p:ph type="sldNum" idx="4294967295"/>
          </p:nvPr>
        </p:nvSpPr>
        <p:spPr>
          <a:xfrm>
            <a:off x="11631168" y="6510528"/>
            <a:ext cx="219456" cy="182880"/>
          </a:xfrm>
          <a:prstGeom prst="rect">
            <a:avLst/>
          </a:prstGeom>
        </p:spPr>
        <p:txBody>
          <a:bodyPr/>
          <a:lstStyle>
            <a:lvl1pPr>
              <a:buNone/>
              <a:defRPr sz="800">
                <a:solidFill>
                  <a:srgbClr val="8D86A0"/>
                </a:solidFill>
                <a:latin typeface="Inter"/>
                <a:ea typeface="Inter"/>
                <a:cs typeface="Inter"/>
              </a:defRPr>
            </a:lvl1pPr>
          </a:lstStyle>
          <a:p>
            <a:pPr algn="r">
              <a:buNone/>
            </a:pPr>
            <a:fld id="{F7021451-1387-4CA6-816F-3879F97B5CBC}" type="slidenum">
              <a:rPr b="0"/>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8DFDB0-C73F-4AFB-AAD0-0317ABBD4CD2}"/>
              </a:ext>
            </a:extLst>
          </p:cNvPr>
          <p:cNvSpPr>
            <a:spLocks noGrp="1"/>
          </p:cNvSpPr>
          <p:nvPr>
            <p:ph type="dt" idx="10"/>
          </p:nvPr>
        </p:nvSpPr>
        <p:spPr/>
        <p:txBody>
          <a:bodyPr/>
          <a:lstStyle/>
          <a:p>
            <a:fld id="{5BCAD085-E8A6-8845-BD4E-CB4CCA059FC4}" type="datetimeFigureOut">
              <a:t>12/09/2026</a:t>
            </a:fld>
            <a:endParaRPr/>
          </a:p>
        </p:txBody>
      </p:sp>
      <p:sp>
        <p:nvSpPr>
          <p:cNvPr id="3" name="Footer Placeholder 2">
            <a:extLst>
              <a:ext uri="{FF2B5EF4-FFF2-40B4-BE49-F238E27FC236}">
                <a16:creationId xmlns:a16="http://schemas.microsoft.com/office/drawing/2014/main" id="{6F57B917-A2B7-498B-A49D-ECF04A972B87}"/>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56ABF582-ABF5-461A-A409-93AE55EA8FA7}"/>
              </a:ext>
            </a:extLst>
          </p:cNvPr>
          <p:cNvSpPr>
            <a:spLocks noGrp="1"/>
          </p:cNvSpPr>
          <p:nvPr>
            <p:ph type="sldNum" idx="12"/>
          </p:nvPr>
        </p:nvSpPr>
        <p:spPr/>
        <p:txBody>
          <a:bodyPr/>
          <a:lstStyle/>
          <a:p>
            <a:fld id="{C1FF6DA9-008F-8B48-92A6-B652298478BF}"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UNGGA_BLANK">
    <p:bg>
      <p:bgPr>
        <a:solidFill>
          <a:srgbClr val="FBFA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65B36D5-DFE6-4FCF-A12B-DB5A6B8E7CCA}"/>
              </a:ext>
            </a:extLst>
          </p:cNvPr>
          <p:cNvSpPr>
            <a:spLocks noGrp="1"/>
          </p:cNvSpPr>
          <p:nvPr/>
        </p:nvSpPr>
        <p:spPr>
          <a:xfrm>
            <a:off x="0" y="0"/>
            <a:ext cx="12191695" cy="0"/>
          </a:xfrm>
          <a:prstGeom prst="line">
            <a:avLst/>
          </a:prstGeom>
          <a:noFill/>
          <a:ln w="50800">
            <a:solidFill>
              <a:srgbClr val="5E2BCF"/>
            </a:solidFill>
            <a:prstDash val="solid"/>
          </a:ln>
        </p:spPr>
        <p:txBody>
          <a:bodyPr/>
          <a:lstStyle/>
          <a:p>
            <a:endParaRPr/>
          </a:p>
        </p:txBody>
      </p:sp>
      <p:sp>
        <p:nvSpPr>
          <p:cNvPr id="3" name="Text 1">
            <a:extLst>
              <a:ext uri="{FF2B5EF4-FFF2-40B4-BE49-F238E27FC236}">
                <a16:creationId xmlns:a16="http://schemas.microsoft.com/office/drawing/2014/main" id="{94FB8FE4-D27B-4437-A58B-FC0EDD14E864}"/>
              </a:ext>
            </a:extLst>
          </p:cNvPr>
          <p:cNvSpPr>
            <a:spLocks noGrp="1"/>
          </p:cNvSpPr>
          <p:nvPr/>
        </p:nvSpPr>
        <p:spPr>
          <a:xfrm>
            <a:off x="420624" y="6601968"/>
            <a:ext cx="1097280" cy="109728"/>
          </a:xfrm>
          <a:prstGeom prst="rect">
            <a:avLst/>
          </a:prstGeom>
          <a:noFill/>
        </p:spPr>
        <p:txBody>
          <a:bodyPr wrap="square" anchor="ctr"/>
          <a:lstStyle/>
          <a:p>
            <a:pPr marL="0" indent="0">
              <a:buNone/>
            </a:pPr>
            <a:r>
              <a:rPr sz="650">
                <a:solidFill>
                  <a:srgbClr val="7A728D"/>
                </a:solidFill>
                <a:latin typeface="Inter"/>
                <a:ea typeface="Inter"/>
                <a:cs typeface="Inter"/>
              </a:rPr>
              <a:t>CONFIDENTIAL</a:t>
            </a:r>
            <a:endParaRPr sz="650"/>
          </a:p>
        </p:txBody>
      </p:sp>
      <p:sp>
        <p:nvSpPr>
          <p:cNvPr id="4" name="Text 2">
            <a:extLst>
              <a:ext uri="{FF2B5EF4-FFF2-40B4-BE49-F238E27FC236}">
                <a16:creationId xmlns:a16="http://schemas.microsoft.com/office/drawing/2014/main" id="{4FAA6023-3A5F-4A80-A53C-E27093E886B1}"/>
              </a:ext>
            </a:extLst>
          </p:cNvPr>
          <p:cNvSpPr>
            <a:spLocks noGrp="1"/>
          </p:cNvSpPr>
          <p:nvPr/>
        </p:nvSpPr>
        <p:spPr>
          <a:xfrm>
            <a:off x="10927080" y="6601968"/>
            <a:ext cx="685800" cy="109728"/>
          </a:xfrm>
          <a:prstGeom prst="rect">
            <a:avLst/>
          </a:prstGeom>
          <a:noFill/>
        </p:spPr>
        <p:txBody>
          <a:bodyPr wrap="square" anchor="ctr"/>
          <a:lstStyle/>
          <a:p>
            <a:pPr marL="0" indent="0" algn="r">
              <a:buNone/>
            </a:pPr>
            <a:r>
              <a:rPr sz="650">
                <a:solidFill>
                  <a:srgbClr val="7A728D"/>
                </a:solidFill>
                <a:latin typeface="Inter"/>
                <a:ea typeface="Inter"/>
                <a:cs typeface="Inter"/>
              </a:rPr>
              <a:t>ungga.com</a:t>
            </a:r>
            <a:endParaRPr sz="650"/>
          </a:p>
        </p:txBody>
      </p:sp>
      <p:sp>
        <p:nvSpPr>
          <p:cNvPr id="5" name="Text 3">
            <a:extLst>
              <a:ext uri="{FF2B5EF4-FFF2-40B4-BE49-F238E27FC236}">
                <a16:creationId xmlns:a16="http://schemas.microsoft.com/office/drawing/2014/main" id="{8A212753-2765-4A78-B1E9-69A1F088167A}"/>
              </a:ext>
            </a:extLst>
          </p:cNvPr>
          <p:cNvSpPr>
            <a:spLocks noGrp="1"/>
          </p:cNvSpPr>
          <p:nvPr/>
        </p:nvSpPr>
        <p:spPr>
          <a:xfrm>
            <a:off x="11503152" y="6601968"/>
            <a:ext cx="384048" cy="109728"/>
          </a:xfrm>
          <a:prstGeom prst="rect">
            <a:avLst/>
          </a:prstGeom>
          <a:noFill/>
        </p:spPr>
        <p:txBody>
          <a:bodyPr wrap="square" anchor="ctr"/>
          <a:lstStyle/>
          <a:p>
            <a:pPr marL="0" indent="0" algn="r">
              <a:buNone/>
            </a:pPr>
            <a:r>
              <a:rPr sz="650">
                <a:solidFill>
                  <a:srgbClr val="7A728D"/>
                </a:solidFill>
                <a:latin typeface="Inter"/>
                <a:ea typeface="Inter"/>
                <a:cs typeface="Inter"/>
              </a:rPr>
              <a:t>16</a:t>
            </a:r>
            <a:endParaRPr sz="65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UNGGA_DARK">
    <p:bg>
      <p:bgPr>
        <a:solidFill>
          <a:srgbClr val="1A123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E3E12BD-B46D-4755-83FC-3F323AE8FA99}"/>
              </a:ext>
            </a:extLst>
          </p:cNvPr>
          <p:cNvSpPr>
            <a:spLocks noGrp="1"/>
          </p:cNvSpPr>
          <p:nvPr/>
        </p:nvSpPr>
        <p:spPr>
          <a:xfrm>
            <a:off x="566928" y="6537960"/>
            <a:ext cx="1097280" cy="164592"/>
          </a:xfrm>
          <a:prstGeom prst="rect">
            <a:avLst/>
          </a:prstGeom>
          <a:noFill/>
        </p:spPr>
        <p:txBody>
          <a:bodyPr wrap="square" lIns="0" tIns="0" rIns="0" bIns="0" anchor="ctr"/>
          <a:lstStyle/>
          <a:p>
            <a:pPr marL="0" indent="0">
              <a:buNone/>
            </a:pPr>
            <a:r>
              <a:rPr sz="750" spc="120">
                <a:solidFill>
                  <a:srgbClr val="BFB5D8"/>
                </a:solidFill>
                <a:latin typeface="Inter"/>
                <a:ea typeface="Inter"/>
                <a:cs typeface="Inter"/>
              </a:rPr>
              <a:t>CONFIDENTIAL</a:t>
            </a:r>
            <a:endParaRPr sz="750"/>
          </a:p>
        </p:txBody>
      </p:sp>
      <p:sp>
        <p:nvSpPr>
          <p:cNvPr id="3" name="Text 1">
            <a:extLst>
              <a:ext uri="{FF2B5EF4-FFF2-40B4-BE49-F238E27FC236}">
                <a16:creationId xmlns:a16="http://schemas.microsoft.com/office/drawing/2014/main" id="{A8FBCA21-194E-443E-B6D5-21176038E5C0}"/>
              </a:ext>
            </a:extLst>
          </p:cNvPr>
          <p:cNvSpPr>
            <a:spLocks noGrp="1"/>
          </p:cNvSpPr>
          <p:nvPr/>
        </p:nvSpPr>
        <p:spPr>
          <a:xfrm>
            <a:off x="10561320" y="6510528"/>
            <a:ext cx="914400" cy="182880"/>
          </a:xfrm>
          <a:prstGeom prst="rect">
            <a:avLst/>
          </a:prstGeom>
          <a:noFill/>
        </p:spPr>
        <p:txBody>
          <a:bodyPr wrap="square" lIns="0" tIns="0" rIns="0" bIns="0" anchor="ctr"/>
          <a:lstStyle/>
          <a:p>
            <a:pPr marL="0" indent="0" algn="r">
              <a:buNone/>
            </a:pPr>
            <a:r>
              <a:rPr sz="800">
                <a:solidFill>
                  <a:srgbClr val="BFB5D8"/>
                </a:solidFill>
                <a:latin typeface="Inter"/>
                <a:ea typeface="Inter"/>
                <a:cs typeface="Inter"/>
              </a:rPr>
              <a:t>ungga.com</a:t>
            </a:r>
            <a:endParaRPr sz="800"/>
          </a:p>
        </p:txBody>
      </p:sp>
      <p:sp>
        <p:nvSpPr>
          <p:cNvPr id="25" name="Slide Number Placeholder 0">
            <a:extLst>
              <a:ext uri="{FF2B5EF4-FFF2-40B4-BE49-F238E27FC236}">
                <a16:creationId xmlns:a16="http://schemas.microsoft.com/office/drawing/2014/main" id="{35F60F97-8571-4374-AA4C-33EB70F930BE}"/>
              </a:ext>
            </a:extLst>
          </p:cNvPr>
          <p:cNvSpPr>
            <a:spLocks noGrp="1"/>
          </p:cNvSpPr>
          <p:nvPr>
            <p:ph type="sldNum" idx="4294967295"/>
          </p:nvPr>
        </p:nvSpPr>
        <p:spPr>
          <a:xfrm>
            <a:off x="11631168" y="6510528"/>
            <a:ext cx="219456" cy="182880"/>
          </a:xfrm>
          <a:prstGeom prst="rect">
            <a:avLst/>
          </a:prstGeom>
        </p:spPr>
        <p:txBody>
          <a:bodyPr/>
          <a:lstStyle>
            <a:lvl1pPr>
              <a:buNone/>
              <a:defRPr sz="800">
                <a:solidFill>
                  <a:srgbClr val="BFB5D8"/>
                </a:solidFill>
                <a:latin typeface="Inter"/>
                <a:ea typeface="Inter"/>
                <a:cs typeface="Inter"/>
              </a:defRPr>
            </a:lvl1pPr>
          </a:lstStyle>
          <a:p>
            <a:pPr algn="r">
              <a:buNone/>
            </a:pPr>
            <a:fld id="{F7021451-1387-4CA6-816F-3879F97B5CBC}" type="slidenum">
              <a:rPr b="0"/>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4190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hape 0">
            <a:extLst>
              <a:ext uri="{FF2B5EF4-FFF2-40B4-BE49-F238E27FC236}">
                <a16:creationId xmlns:a16="http://schemas.microsoft.com/office/drawing/2014/main" id="{15224E59-A114-EF97-9AD5-4F714DE083E5}"/>
              </a:ext>
            </a:extLst>
          </p:cNvPr>
          <p:cNvSpPr>
            <a:spLocks noGrp="1"/>
          </p:cNvSpPr>
          <p:nvPr/>
        </p:nvSpPr>
        <p:spPr>
          <a:xfrm>
            <a:off x="0" y="0"/>
            <a:ext cx="12191400" cy="6857640"/>
          </a:xfrm>
          <a:prstGeom prst="rect">
            <a:avLst/>
          </a:prstGeom>
          <a:solidFill>
            <a:srgbClr val="20143D"/>
          </a:solidFill>
          <a:ln w="12700">
            <a:solidFill>
              <a:srgbClr val="20143D"/>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mj-lt"/>
              <a:ea typeface="+mj-lt"/>
              <a:cs typeface="+mj-lt"/>
            </a:endParaRPr>
          </a:p>
        </p:txBody>
      </p:sp>
      <p:sp>
        <p:nvSpPr>
          <p:cNvPr id="11" name="Text 1">
            <a:extLst>
              <a:ext uri="{FF2B5EF4-FFF2-40B4-BE49-F238E27FC236}">
                <a16:creationId xmlns:a16="http://schemas.microsoft.com/office/drawing/2014/main" id="{8965042D-42A4-D40C-B362-56D62F2B4A66}"/>
              </a:ext>
            </a:extLst>
          </p:cNvPr>
          <p:cNvSpPr>
            <a:spLocks noGrp="1"/>
          </p:cNvSpPr>
          <p:nvPr/>
        </p:nvSpPr>
        <p:spPr>
          <a:xfrm>
            <a:off x="567000" y="502920"/>
            <a:ext cx="4114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CAB9FF"/>
                </a:solidFill>
                <a:latin typeface="Aptos"/>
                <a:ea typeface="Aptos"/>
                <a:cs typeface="Aptos"/>
              </a:rPr>
              <a:t>UNGGA | INTERNAL SESSION</a:t>
            </a:r>
            <a:endParaRPr sz="1200" b="0" u="none">
              <a:solidFill>
                <a:srgbClr val="FFFFFF"/>
              </a:solidFill>
              <a:latin typeface="Arial"/>
              <a:ea typeface="Arial"/>
              <a:cs typeface="Arial"/>
            </a:endParaRPr>
          </a:p>
        </p:txBody>
      </p:sp>
      <p:sp>
        <p:nvSpPr>
          <p:cNvPr id="12" name="Text 2">
            <a:extLst>
              <a:ext uri="{FF2B5EF4-FFF2-40B4-BE49-F238E27FC236}">
                <a16:creationId xmlns:a16="http://schemas.microsoft.com/office/drawing/2014/main" id="{0316C7E0-8E26-4A2B-880B-6FEF8F6163B9}"/>
              </a:ext>
            </a:extLst>
          </p:cNvPr>
          <p:cNvSpPr>
            <a:spLocks noGrp="1"/>
          </p:cNvSpPr>
          <p:nvPr/>
        </p:nvSpPr>
        <p:spPr>
          <a:xfrm>
            <a:off x="567000" y="1492856"/>
            <a:ext cx="59432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3500" b="1" u="none" dirty="0">
                <a:solidFill>
                  <a:srgbClr val="FFFFFF"/>
                </a:solidFill>
              </a:rPr>
              <a:t>Gu OS </a:t>
            </a:r>
            <a:r>
              <a:rPr lang="es-MX" sz="3500" b="1" dirty="0">
                <a:solidFill>
                  <a:srgbClr val="FFFFFF"/>
                </a:solidFill>
              </a:rPr>
              <a:t>r</a:t>
            </a:r>
            <a:r>
              <a:rPr sz="3500" b="1" u="none" dirty="0" err="1">
                <a:solidFill>
                  <a:srgbClr val="FFFFFF"/>
                </a:solidFill>
              </a:rPr>
              <a:t>untime</a:t>
            </a:r>
            <a:endParaRPr sz="3500" b="0" u="none" dirty="0">
              <a:solidFill>
                <a:srgbClr val="FFFFFF"/>
              </a:solidFill>
            </a:endParaRPr>
          </a:p>
        </p:txBody>
      </p:sp>
      <p:sp>
        <p:nvSpPr>
          <p:cNvPr id="13" name="Text 3">
            <a:extLst>
              <a:ext uri="{FF2B5EF4-FFF2-40B4-BE49-F238E27FC236}">
                <a16:creationId xmlns:a16="http://schemas.microsoft.com/office/drawing/2014/main" id="{8F476939-C89E-34BC-BFF7-E9DA39ED9558}"/>
              </a:ext>
            </a:extLst>
          </p:cNvPr>
          <p:cNvSpPr>
            <a:spLocks noGrp="1"/>
          </p:cNvSpPr>
          <p:nvPr/>
        </p:nvSpPr>
        <p:spPr>
          <a:xfrm>
            <a:off x="567000" y="2235832"/>
            <a:ext cx="7589160" cy="63971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3000" b="0" u="none" dirty="0">
                <a:solidFill>
                  <a:srgbClr val="E9E2FF"/>
                </a:solidFill>
                <a:latin typeface="Aptos"/>
                <a:ea typeface="Aptos"/>
                <a:cs typeface="Aptos"/>
              </a:rPr>
              <a:t>Agent </a:t>
            </a:r>
            <a:r>
              <a:rPr lang="es-MX" sz="3000" dirty="0">
                <a:solidFill>
                  <a:srgbClr val="E9E2FF"/>
                </a:solidFill>
                <a:latin typeface="Aptos"/>
                <a:ea typeface="Aptos"/>
                <a:cs typeface="Aptos"/>
              </a:rPr>
              <a:t>R</a:t>
            </a:r>
            <a:r>
              <a:rPr sz="3000" b="0" u="none" dirty="0" err="1">
                <a:solidFill>
                  <a:srgbClr val="E9E2FF"/>
                </a:solidFill>
                <a:latin typeface="Aptos"/>
                <a:ea typeface="Aptos"/>
                <a:cs typeface="Aptos"/>
              </a:rPr>
              <a:t>untime</a:t>
            </a:r>
            <a:r>
              <a:rPr sz="3000" b="0" u="none" dirty="0">
                <a:solidFill>
                  <a:srgbClr val="E9E2FF"/>
                </a:solidFill>
                <a:latin typeface="Aptos"/>
                <a:ea typeface="Aptos"/>
                <a:cs typeface="Aptos"/>
              </a:rPr>
              <a:t> &amp; Harness</a:t>
            </a:r>
            <a:endParaRPr sz="3000" b="0" u="none" dirty="0">
              <a:solidFill>
                <a:srgbClr val="FFFFFF"/>
              </a:solidFill>
              <a:latin typeface="Arial"/>
              <a:ea typeface="Arial"/>
              <a:cs typeface="Arial"/>
            </a:endParaRPr>
          </a:p>
        </p:txBody>
      </p:sp>
      <p:sp>
        <p:nvSpPr>
          <p:cNvPr id="14" name="Text 4">
            <a:extLst>
              <a:ext uri="{FF2B5EF4-FFF2-40B4-BE49-F238E27FC236}">
                <a16:creationId xmlns:a16="http://schemas.microsoft.com/office/drawing/2014/main" id="{3880D93C-3FD0-A8BD-A47F-30288E4BE158}"/>
              </a:ext>
            </a:extLst>
          </p:cNvPr>
          <p:cNvSpPr>
            <a:spLocks noGrp="1"/>
          </p:cNvSpPr>
          <p:nvPr/>
        </p:nvSpPr>
        <p:spPr>
          <a:xfrm>
            <a:off x="567000" y="3139243"/>
            <a:ext cx="6085174" cy="65106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900" b="0" u="none" dirty="0">
                <a:solidFill>
                  <a:srgbClr val="CFC3F4"/>
                </a:solidFill>
                <a:latin typeface="Aptos"/>
                <a:ea typeface="Aptos"/>
                <a:cs typeface="Aptos"/>
              </a:rPr>
              <a:t>Session 3B · De</a:t>
            </a:r>
            <a:r>
              <a:rPr lang="es-MX" sz="1900" b="0" u="none" dirty="0">
                <a:solidFill>
                  <a:srgbClr val="CFC3F4"/>
                </a:solidFill>
                <a:latin typeface="Aptos"/>
                <a:ea typeface="Aptos"/>
                <a:cs typeface="Aptos"/>
              </a:rPr>
              <a:t> llamada a modelo</a:t>
            </a:r>
            <a:r>
              <a:rPr sz="1900" b="0" u="none" dirty="0">
                <a:solidFill>
                  <a:srgbClr val="CFC3F4"/>
                </a:solidFill>
                <a:latin typeface="Aptos"/>
                <a:ea typeface="Aptos"/>
                <a:cs typeface="Aptos"/>
              </a:rPr>
              <a:t> a </a:t>
            </a:r>
            <a:r>
              <a:rPr sz="1900" b="0" u="none" dirty="0" err="1">
                <a:solidFill>
                  <a:srgbClr val="CFC3F4"/>
                </a:solidFill>
                <a:latin typeface="Aptos"/>
                <a:ea typeface="Aptos"/>
                <a:cs typeface="Aptos"/>
              </a:rPr>
              <a:t>ejecución</a:t>
            </a:r>
            <a:r>
              <a:rPr sz="1900" b="0" u="none" dirty="0">
                <a:solidFill>
                  <a:srgbClr val="CFC3F4"/>
                </a:solidFill>
                <a:latin typeface="Aptos"/>
                <a:ea typeface="Aptos"/>
                <a:cs typeface="Aptos"/>
              </a:rPr>
              <a:t> </a:t>
            </a:r>
            <a:r>
              <a:rPr sz="1900" b="0" u="none" dirty="0" err="1">
                <a:solidFill>
                  <a:srgbClr val="CFC3F4"/>
                </a:solidFill>
                <a:latin typeface="Aptos"/>
                <a:ea typeface="Aptos"/>
                <a:cs typeface="Aptos"/>
              </a:rPr>
              <a:t>gobernada</a:t>
            </a:r>
            <a:endParaRPr sz="1900" b="0" u="none" dirty="0">
              <a:solidFill>
                <a:srgbClr val="FFFFFF"/>
              </a:solidFill>
              <a:latin typeface="Arial"/>
              <a:ea typeface="Arial"/>
              <a:cs typeface="Arial"/>
            </a:endParaRPr>
          </a:p>
        </p:txBody>
      </p:sp>
      <p:sp>
        <p:nvSpPr>
          <p:cNvPr id="15" name="Shape 5">
            <a:extLst>
              <a:ext uri="{FF2B5EF4-FFF2-40B4-BE49-F238E27FC236}">
                <a16:creationId xmlns:a16="http://schemas.microsoft.com/office/drawing/2014/main" id="{A6164349-3215-A4F6-3FBF-8BE60EEECA6B}"/>
              </a:ext>
            </a:extLst>
          </p:cNvPr>
          <p:cNvSpPr>
            <a:spLocks noGrp="1"/>
          </p:cNvSpPr>
          <p:nvPr/>
        </p:nvSpPr>
        <p:spPr>
          <a:xfrm>
            <a:off x="567000" y="5053773"/>
            <a:ext cx="6300939" cy="894741"/>
          </a:xfrm>
          <a:prstGeom prst="roundRect">
            <a:avLst>
              <a:gd name="adj" fmla="val 18750"/>
            </a:avLst>
          </a:prstGeom>
          <a:solidFill>
            <a:srgbClr val="FFFFFF">
              <a:alpha val="10000"/>
            </a:srgbClr>
          </a:solidFill>
          <a:ln w="12700">
            <a:solidFill>
              <a:srgbClr val="7B49E6">
                <a:alpha val="6500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3000" b="0" u="none">
              <a:solidFill>
                <a:srgbClr val="000000"/>
              </a:solidFill>
            </a:endParaRPr>
          </a:p>
        </p:txBody>
      </p:sp>
      <p:sp>
        <p:nvSpPr>
          <p:cNvPr id="16" name="Text 6">
            <a:extLst>
              <a:ext uri="{FF2B5EF4-FFF2-40B4-BE49-F238E27FC236}">
                <a16:creationId xmlns:a16="http://schemas.microsoft.com/office/drawing/2014/main" id="{ED36FB87-AC9C-401E-792E-E0B9300034F1}"/>
              </a:ext>
            </a:extLst>
          </p:cNvPr>
          <p:cNvSpPr>
            <a:spLocks noGrp="1"/>
          </p:cNvSpPr>
          <p:nvPr/>
        </p:nvSpPr>
        <p:spPr>
          <a:xfrm>
            <a:off x="765792" y="5188987"/>
            <a:ext cx="5886382" cy="61670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500" b="0" u="none" dirty="0" err="1">
                <a:solidFill>
                  <a:srgbClr val="FFFFFF"/>
                </a:solidFill>
                <a:latin typeface="Aptos"/>
                <a:ea typeface="Aptos"/>
                <a:cs typeface="Aptos"/>
              </a:rPr>
              <a:t>Objetivo</a:t>
            </a:r>
            <a:r>
              <a:rPr sz="1500" b="0" u="none" dirty="0">
                <a:solidFill>
                  <a:srgbClr val="FFFFFF"/>
                </a:solidFill>
                <a:latin typeface="Aptos"/>
                <a:ea typeface="Aptos"/>
                <a:cs typeface="Aptos"/>
              </a:rPr>
              <a:t>: </a:t>
            </a:r>
            <a:r>
              <a:rPr sz="1500" b="0" u="none" dirty="0" err="1">
                <a:solidFill>
                  <a:srgbClr val="FFFFFF"/>
                </a:solidFill>
                <a:latin typeface="Aptos"/>
                <a:ea typeface="Aptos"/>
                <a:cs typeface="Aptos"/>
              </a:rPr>
              <a:t>entender</a:t>
            </a:r>
            <a:r>
              <a:rPr sz="1500" b="0" u="none" dirty="0">
                <a:solidFill>
                  <a:srgbClr val="FFFFFF"/>
                </a:solidFill>
                <a:latin typeface="Aptos"/>
                <a:ea typeface="Aptos"/>
                <a:cs typeface="Aptos"/>
              </a:rPr>
              <a:t> </a:t>
            </a:r>
            <a:r>
              <a:rPr sz="1500" b="0" u="none" dirty="0" err="1">
                <a:solidFill>
                  <a:srgbClr val="FFFFFF"/>
                </a:solidFill>
                <a:latin typeface="Aptos"/>
                <a:ea typeface="Aptos"/>
                <a:cs typeface="Aptos"/>
              </a:rPr>
              <a:t>cómo</a:t>
            </a:r>
            <a:r>
              <a:rPr sz="1500" b="0" u="none" dirty="0">
                <a:solidFill>
                  <a:srgbClr val="FFFFFF"/>
                </a:solidFill>
                <a:latin typeface="Aptos"/>
                <a:ea typeface="Aptos"/>
                <a:cs typeface="Aptos"/>
              </a:rPr>
              <a:t> Gu OS </a:t>
            </a:r>
            <a:r>
              <a:rPr sz="1500" b="0" u="none" dirty="0" err="1">
                <a:solidFill>
                  <a:srgbClr val="FFFFFF"/>
                </a:solidFill>
                <a:latin typeface="Aptos"/>
                <a:ea typeface="Aptos"/>
                <a:cs typeface="Aptos"/>
              </a:rPr>
              <a:t>compila</a:t>
            </a:r>
            <a:r>
              <a:rPr sz="1500" b="0" u="none" dirty="0">
                <a:solidFill>
                  <a:srgbClr val="FFFFFF"/>
                </a:solidFill>
                <a:latin typeface="Aptos"/>
                <a:ea typeface="Aptos"/>
                <a:cs typeface="Aptos"/>
              </a:rPr>
              <a:t> </a:t>
            </a:r>
            <a:r>
              <a:rPr sz="1500" b="0" u="none" dirty="0" err="1">
                <a:solidFill>
                  <a:srgbClr val="FFFFFF"/>
                </a:solidFill>
                <a:latin typeface="Aptos"/>
                <a:ea typeface="Aptos"/>
                <a:cs typeface="Aptos"/>
              </a:rPr>
              <a:t>contexto</a:t>
            </a:r>
            <a:r>
              <a:rPr sz="1500" b="0" u="none" dirty="0">
                <a:solidFill>
                  <a:srgbClr val="FFFFFF"/>
                </a:solidFill>
                <a:latin typeface="Aptos"/>
                <a:ea typeface="Aptos"/>
                <a:cs typeface="Aptos"/>
              </a:rPr>
              <a:t>, </a:t>
            </a:r>
            <a:r>
              <a:rPr sz="1500" b="0" u="none" dirty="0" err="1">
                <a:solidFill>
                  <a:srgbClr val="FFFFFF"/>
                </a:solidFill>
                <a:latin typeface="Aptos"/>
                <a:ea typeface="Aptos"/>
                <a:cs typeface="Aptos"/>
              </a:rPr>
              <a:t>controla</a:t>
            </a:r>
            <a:r>
              <a:rPr sz="1500" b="0" u="none" dirty="0">
                <a:solidFill>
                  <a:srgbClr val="FFFFFF"/>
                </a:solidFill>
                <a:latin typeface="Aptos"/>
                <a:ea typeface="Aptos"/>
                <a:cs typeface="Aptos"/>
              </a:rPr>
              <a:t> el agent loop, </a:t>
            </a:r>
            <a:r>
              <a:rPr sz="1500" b="0" u="none" dirty="0" err="1">
                <a:solidFill>
                  <a:srgbClr val="FFFFFF"/>
                </a:solidFill>
                <a:latin typeface="Aptos"/>
                <a:ea typeface="Aptos"/>
                <a:cs typeface="Aptos"/>
              </a:rPr>
              <a:t>recupera</a:t>
            </a:r>
            <a:r>
              <a:rPr sz="1500" b="0" u="none" dirty="0">
                <a:solidFill>
                  <a:srgbClr val="FFFFFF"/>
                </a:solidFill>
                <a:latin typeface="Aptos"/>
                <a:ea typeface="Aptos"/>
                <a:cs typeface="Aptos"/>
              </a:rPr>
              <a:t> memoria, </a:t>
            </a:r>
            <a:r>
              <a:rPr sz="1500" b="0" u="none" dirty="0" err="1">
                <a:solidFill>
                  <a:srgbClr val="FFFFFF"/>
                </a:solidFill>
                <a:latin typeface="Aptos"/>
                <a:ea typeface="Aptos"/>
                <a:cs typeface="Aptos"/>
              </a:rPr>
              <a:t>usa</a:t>
            </a:r>
            <a:r>
              <a:rPr sz="1500" b="0" u="none" dirty="0">
                <a:solidFill>
                  <a:srgbClr val="FFFFFF"/>
                </a:solidFill>
                <a:latin typeface="Aptos"/>
                <a:ea typeface="Aptos"/>
                <a:cs typeface="Aptos"/>
              </a:rPr>
              <a:t> tools, </a:t>
            </a:r>
            <a:r>
              <a:rPr sz="1500" b="0" u="none" dirty="0" err="1">
                <a:solidFill>
                  <a:srgbClr val="FFFFFF"/>
                </a:solidFill>
                <a:latin typeface="Aptos"/>
                <a:ea typeface="Aptos"/>
                <a:cs typeface="Aptos"/>
              </a:rPr>
              <a:t>aplica</a:t>
            </a:r>
            <a:r>
              <a:rPr sz="1500" b="0" u="none" dirty="0">
                <a:solidFill>
                  <a:srgbClr val="FFFFFF"/>
                </a:solidFill>
                <a:latin typeface="Aptos"/>
                <a:ea typeface="Aptos"/>
                <a:cs typeface="Aptos"/>
              </a:rPr>
              <a:t> </a:t>
            </a:r>
            <a:r>
              <a:rPr sz="1500" b="0" u="none" dirty="0" err="1">
                <a:solidFill>
                  <a:srgbClr val="FFFFFF"/>
                </a:solidFill>
                <a:latin typeface="Aptos"/>
                <a:ea typeface="Aptos"/>
                <a:cs typeface="Aptos"/>
              </a:rPr>
              <a:t>aut</a:t>
            </a:r>
            <a:r>
              <a:rPr lang="es-MX" sz="1500" b="0" u="none" dirty="0" err="1">
                <a:solidFill>
                  <a:srgbClr val="FFFFFF"/>
                </a:solidFill>
                <a:latin typeface="Aptos"/>
                <a:ea typeface="Aptos"/>
                <a:cs typeface="Aptos"/>
              </a:rPr>
              <a:t>oridad</a:t>
            </a:r>
            <a:r>
              <a:rPr sz="1500" b="0" u="none" dirty="0">
                <a:solidFill>
                  <a:srgbClr val="FFFFFF"/>
                </a:solidFill>
                <a:latin typeface="Aptos"/>
                <a:ea typeface="Aptos"/>
                <a:cs typeface="Aptos"/>
              </a:rPr>
              <a:t> y </a:t>
            </a:r>
            <a:r>
              <a:rPr sz="1500" b="0" u="none" dirty="0" err="1">
                <a:solidFill>
                  <a:srgbClr val="FFFFFF"/>
                </a:solidFill>
                <a:latin typeface="Aptos"/>
                <a:ea typeface="Aptos"/>
                <a:cs typeface="Aptos"/>
              </a:rPr>
              <a:t>conecta</a:t>
            </a:r>
            <a:r>
              <a:rPr sz="1500" b="0" u="none" dirty="0">
                <a:solidFill>
                  <a:srgbClr val="FFFFFF"/>
                </a:solidFill>
                <a:latin typeface="Aptos"/>
                <a:ea typeface="Aptos"/>
                <a:cs typeface="Aptos"/>
              </a:rPr>
              <a:t> el </a:t>
            </a:r>
            <a:r>
              <a:rPr sz="1500" b="0" u="none" dirty="0" err="1">
                <a:solidFill>
                  <a:srgbClr val="FFFFFF"/>
                </a:solidFill>
                <a:latin typeface="Aptos"/>
                <a:ea typeface="Aptos"/>
                <a:cs typeface="Aptos"/>
              </a:rPr>
              <a:t>turno</a:t>
            </a:r>
            <a:r>
              <a:rPr sz="1500" b="0" u="none" dirty="0">
                <a:solidFill>
                  <a:srgbClr val="FFFFFF"/>
                </a:solidFill>
                <a:latin typeface="Aptos"/>
                <a:ea typeface="Aptos"/>
                <a:cs typeface="Aptos"/>
              </a:rPr>
              <a:t> con </a:t>
            </a:r>
            <a:r>
              <a:rPr sz="1500" b="0" u="none" dirty="0" err="1">
                <a:solidFill>
                  <a:srgbClr val="FFFFFF"/>
                </a:solidFill>
                <a:latin typeface="Aptos"/>
                <a:ea typeface="Aptos"/>
                <a:cs typeface="Aptos"/>
              </a:rPr>
              <a:t>trabajo</a:t>
            </a:r>
            <a:r>
              <a:rPr sz="1500" b="0" u="none" dirty="0">
                <a:solidFill>
                  <a:srgbClr val="FFFFFF"/>
                </a:solidFill>
                <a:latin typeface="Aptos"/>
                <a:ea typeface="Aptos"/>
                <a:cs typeface="Aptos"/>
              </a:rPr>
              <a:t> durable.</a:t>
            </a:r>
            <a:endParaRPr sz="1500" b="0" u="none" dirty="0">
              <a:solidFill>
                <a:srgbClr val="FFFFFF"/>
              </a:solidFill>
              <a:latin typeface="Arial"/>
              <a:ea typeface="Arial"/>
              <a:cs typeface="Arial"/>
            </a:endParaRPr>
          </a:p>
        </p:txBody>
      </p:sp>
      <p:sp>
        <p:nvSpPr>
          <p:cNvPr id="17" name="Shape 7">
            <a:extLst>
              <a:ext uri="{FF2B5EF4-FFF2-40B4-BE49-F238E27FC236}">
                <a16:creationId xmlns:a16="http://schemas.microsoft.com/office/drawing/2014/main" id="{4AA47739-366C-D04A-0CA4-C2554390AD0D}"/>
              </a:ext>
            </a:extLst>
          </p:cNvPr>
          <p:cNvSpPr>
            <a:spLocks noGrp="1"/>
          </p:cNvSpPr>
          <p:nvPr/>
        </p:nvSpPr>
        <p:spPr>
          <a:xfrm>
            <a:off x="7675580" y="1100947"/>
            <a:ext cx="3328274" cy="3205734"/>
          </a:xfrm>
          <a:prstGeom prst="ellipse">
            <a:avLst/>
          </a:prstGeom>
          <a:solidFill>
            <a:srgbClr val="FFFFFF">
              <a:alpha val="7000"/>
            </a:srgbClr>
          </a:solidFill>
          <a:ln w="15240">
            <a:solidFill>
              <a:srgbClr val="7B49E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8" name="Text 8">
            <a:extLst>
              <a:ext uri="{FF2B5EF4-FFF2-40B4-BE49-F238E27FC236}">
                <a16:creationId xmlns:a16="http://schemas.microsoft.com/office/drawing/2014/main" id="{4BFFEF0A-570F-33D2-136B-839BCE005F9E}"/>
              </a:ext>
            </a:extLst>
          </p:cNvPr>
          <p:cNvSpPr>
            <a:spLocks noGrp="1"/>
          </p:cNvSpPr>
          <p:nvPr/>
        </p:nvSpPr>
        <p:spPr>
          <a:xfrm>
            <a:off x="8507788" y="3702852"/>
            <a:ext cx="16455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2400" b="1" u="none">
                <a:solidFill>
                  <a:srgbClr val="FFFFFF"/>
                </a:solidFill>
                <a:latin typeface="Aptos Display"/>
                <a:ea typeface="Aptos Display"/>
                <a:cs typeface="Aptos Display"/>
              </a:rPr>
              <a:t>Gu</a:t>
            </a:r>
            <a:endParaRPr sz="2400" b="0" u="none">
              <a:solidFill>
                <a:srgbClr val="FFFFFF"/>
              </a:solidFill>
              <a:latin typeface="Arial"/>
              <a:ea typeface="Arial"/>
              <a:cs typeface="Arial"/>
            </a:endParaRPr>
          </a:p>
        </p:txBody>
      </p:sp>
      <p:sp>
        <p:nvSpPr>
          <p:cNvPr id="19" name="Shape 9">
            <a:extLst>
              <a:ext uri="{FF2B5EF4-FFF2-40B4-BE49-F238E27FC236}">
                <a16:creationId xmlns:a16="http://schemas.microsoft.com/office/drawing/2014/main" id="{4580023E-1CF3-E90A-C87B-06232376F2D5}"/>
              </a:ext>
            </a:extLst>
          </p:cNvPr>
          <p:cNvSpPr>
            <a:spLocks noGrp="1"/>
          </p:cNvSpPr>
          <p:nvPr/>
        </p:nvSpPr>
        <p:spPr>
          <a:xfrm>
            <a:off x="9374254" y="4370760"/>
            <a:ext cx="360" cy="622080"/>
          </a:xfrm>
          <a:prstGeom prst="line">
            <a:avLst/>
          </a:prstGeom>
          <a:ln w="22860">
            <a:solidFill>
              <a:srgbClr val="CAB9FF"/>
            </a:solidFill>
            <a:tailEnd type="triangle" w="med" len="med"/>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0" name="Shape 10">
            <a:extLst>
              <a:ext uri="{FF2B5EF4-FFF2-40B4-BE49-F238E27FC236}">
                <a16:creationId xmlns:a16="http://schemas.microsoft.com/office/drawing/2014/main" id="{680639FB-D27D-D3DB-D44B-45166BA776E1}"/>
              </a:ext>
            </a:extLst>
          </p:cNvPr>
          <p:cNvSpPr>
            <a:spLocks noGrp="1"/>
          </p:cNvSpPr>
          <p:nvPr/>
        </p:nvSpPr>
        <p:spPr>
          <a:xfrm>
            <a:off x="7956934" y="5084280"/>
            <a:ext cx="2880000" cy="840960"/>
          </a:xfrm>
          <a:prstGeom prst="roundRect">
            <a:avLst>
              <a:gd name="adj" fmla="val 14130"/>
            </a:avLst>
          </a:prstGeom>
          <a:solidFill>
            <a:srgbClr val="7B49E6"/>
          </a:solidFill>
          <a:ln w="12700">
            <a:solidFill>
              <a:srgbClr val="7B49E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21" name="Text 11">
            <a:extLst>
              <a:ext uri="{FF2B5EF4-FFF2-40B4-BE49-F238E27FC236}">
                <a16:creationId xmlns:a16="http://schemas.microsoft.com/office/drawing/2014/main" id="{ED89F9FD-33CD-3FDC-D2A2-120B1544279E}"/>
              </a:ext>
            </a:extLst>
          </p:cNvPr>
          <p:cNvSpPr>
            <a:spLocks noGrp="1"/>
          </p:cNvSpPr>
          <p:nvPr/>
        </p:nvSpPr>
        <p:spPr>
          <a:xfrm>
            <a:off x="8459854" y="5374032"/>
            <a:ext cx="1919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2400" b="1" u="none">
                <a:solidFill>
                  <a:srgbClr val="FFFFFF"/>
                </a:solidFill>
                <a:latin typeface="Aptos Display"/>
                <a:ea typeface="Aptos Display"/>
                <a:cs typeface="Aptos Display"/>
              </a:rPr>
              <a:t>Gu OS</a:t>
            </a:r>
            <a:endParaRPr sz="2400" b="0" u="none">
              <a:solidFill>
                <a:srgbClr val="FFFFFF"/>
              </a:solidFill>
              <a:latin typeface="Arial"/>
              <a:ea typeface="Arial"/>
              <a:cs typeface="Arial"/>
            </a:endParaRPr>
          </a:p>
        </p:txBody>
      </p:sp>
      <p:sp>
        <p:nvSpPr>
          <p:cNvPr id="23" name="Text 13">
            <a:extLst>
              <a:ext uri="{FF2B5EF4-FFF2-40B4-BE49-F238E27FC236}">
                <a16:creationId xmlns:a16="http://schemas.microsoft.com/office/drawing/2014/main" id="{0A392EEC-8670-C71D-F5B6-133FE9D865A3}"/>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FFFFFF"/>
              </a:solidFill>
              <a:latin typeface="Arial"/>
              <a:ea typeface="Arial"/>
              <a:cs typeface="Arial"/>
            </a:endParaRPr>
          </a:p>
        </p:txBody>
      </p:sp>
      <p:sp>
        <p:nvSpPr>
          <p:cNvPr id="24" name="Text 14">
            <a:extLst>
              <a:ext uri="{FF2B5EF4-FFF2-40B4-BE49-F238E27FC236}">
                <a16:creationId xmlns:a16="http://schemas.microsoft.com/office/drawing/2014/main" id="{A0D1D728-2877-56A1-C3AA-A5A762FE2D61}"/>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FFFFFF"/>
              </a:solidFill>
              <a:latin typeface="Arial"/>
              <a:ea typeface="Arial"/>
              <a:cs typeface="Arial"/>
            </a:endParaRPr>
          </a:p>
        </p:txBody>
      </p:sp>
      <p:sp>
        <p:nvSpPr>
          <p:cNvPr id="25" name="Text 15">
            <a:extLst>
              <a:ext uri="{FF2B5EF4-FFF2-40B4-BE49-F238E27FC236}">
                <a16:creationId xmlns:a16="http://schemas.microsoft.com/office/drawing/2014/main" id="{9EC56527-DFE0-0B6D-1A22-25AA8DCC0C05}"/>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1</a:t>
            </a:r>
            <a:endParaRPr sz="800" b="0" u="none">
              <a:solidFill>
                <a:srgbClr val="FFFFFF"/>
              </a:solidFill>
              <a:latin typeface="Arial"/>
              <a:ea typeface="Arial"/>
              <a:cs typeface="Arial"/>
            </a:endParaRPr>
          </a:p>
        </p:txBody>
      </p:sp>
      <p:pic>
        <p:nvPicPr>
          <p:cNvPr id="43" name="Image 1"/>
          <p:cNvPicPr>
            <a:picLocks noChangeAspect="1"/>
          </p:cNvPicPr>
          <p:nvPr/>
        </p:nvPicPr>
        <p:blipFill>
          <a:blip r:embed="rId3"/>
          <a:stretch>
            <a:fillRect/>
          </a:stretch>
        </p:blipFill>
        <p:spPr>
          <a:xfrm>
            <a:off x="8083216" y="1275732"/>
            <a:ext cx="2454948" cy="2454948"/>
          </a:xfrm>
          <a:prstGeom prst="rect">
            <a:avLst/>
          </a:prstGeom>
        </p:spPr>
      </p:pic>
      <p:pic>
        <p:nvPicPr>
          <p:cNvPr id="44" name="Image 0"/>
          <p:cNvPicPr>
            <a:picLocks noChangeAspect="1"/>
          </p:cNvPicPr>
          <p:nvPr/>
        </p:nvPicPr>
        <p:blipFill>
          <a:blip r:embed="rId4"/>
          <a:stretch>
            <a:fillRect/>
          </a:stretch>
        </p:blipFill>
        <p:spPr>
          <a:xfrm>
            <a:off x="10867587" y="396427"/>
            <a:ext cx="791013" cy="658800"/>
          </a:xfrm>
          <a:prstGeom prst="rect">
            <a:avLst/>
          </a:prstGeom>
        </p:spPr>
      </p:pic>
    </p:spTree>
    <p:extLst>
      <p:ext uri="{BB962C8B-B14F-4D97-AF65-F5344CB8AC3E}">
        <p14:creationId xmlns:p14="http://schemas.microsoft.com/office/powerpoint/2010/main" val="356274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26" name="Shape 0">
            <a:extLst>
              <a:ext uri="{FF2B5EF4-FFF2-40B4-BE49-F238E27FC236}">
                <a16:creationId xmlns:a16="http://schemas.microsoft.com/office/drawing/2014/main" id="{0CA54AEE-DA0E-4396-B936-7D40AEF2BA6B}"/>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27" name="Text 1">
            <a:extLst>
              <a:ext uri="{FF2B5EF4-FFF2-40B4-BE49-F238E27FC236}">
                <a16:creationId xmlns:a16="http://schemas.microsoft.com/office/drawing/2014/main" id="{4BB7983F-26EF-48FC-8265-F424BF750A68}"/>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CÓMO USAR ESTA SESIÓN</a:t>
            </a:r>
            <a:endParaRPr sz="1200" b="0" u="none">
              <a:solidFill>
                <a:srgbClr val="000000"/>
              </a:solidFill>
              <a:latin typeface="Arial"/>
              <a:ea typeface="Arial"/>
              <a:cs typeface="Arial"/>
            </a:endParaRPr>
          </a:p>
        </p:txBody>
      </p:sp>
      <p:sp>
        <p:nvSpPr>
          <p:cNvPr id="28" name="Text 2">
            <a:extLst>
              <a:ext uri="{FF2B5EF4-FFF2-40B4-BE49-F238E27FC236}">
                <a16:creationId xmlns:a16="http://schemas.microsoft.com/office/drawing/2014/main" id="{E0F312F4-7B99-437B-AFFC-303A4970FC62}"/>
              </a:ext>
            </a:extLst>
          </p:cNvPr>
          <p:cNvSpPr>
            <a:spLocks noGrp="1"/>
          </p:cNvSpPr>
          <p:nvPr/>
        </p:nvSpPr>
        <p:spPr>
          <a:xfrm>
            <a:off x="567000" y="804600"/>
            <a:ext cx="10405800" cy="822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sz="2600" b="1" u="none" dirty="0">
                <a:solidFill>
                  <a:srgbClr val="151327"/>
                </a:solidFill>
                <a:latin typeface="Aptos Display"/>
                <a:ea typeface="Aptos Display"/>
                <a:cs typeface="Aptos Display"/>
              </a:rPr>
              <a:t>El harness </a:t>
            </a:r>
            <a:r>
              <a:rPr sz="2600" b="1" u="none" dirty="0" err="1">
                <a:solidFill>
                  <a:srgbClr val="151327"/>
                </a:solidFill>
                <a:latin typeface="Aptos Display"/>
                <a:ea typeface="Aptos Display"/>
                <a:cs typeface="Aptos Display"/>
              </a:rPr>
              <a:t>convierte</a:t>
            </a:r>
            <a:r>
              <a:rPr sz="2600" b="1" u="none" dirty="0">
                <a:solidFill>
                  <a:srgbClr val="151327"/>
                </a:solidFill>
                <a:latin typeface="Aptos Display"/>
                <a:ea typeface="Aptos Display"/>
                <a:cs typeface="Aptos Display"/>
              </a:rPr>
              <a:t> </a:t>
            </a:r>
            <a:r>
              <a:rPr lang="es-MX" sz="2600" b="1" u="none" dirty="0">
                <a:solidFill>
                  <a:srgbClr val="151327"/>
                </a:solidFill>
                <a:latin typeface="Aptos Display"/>
                <a:ea typeface="Aptos Display"/>
                <a:cs typeface="Aptos Display"/>
              </a:rPr>
              <a:t>llamadas a modelos</a:t>
            </a:r>
            <a:r>
              <a:rPr sz="2600" b="1" u="none" dirty="0">
                <a:solidFill>
                  <a:srgbClr val="151327"/>
                </a:solidFill>
                <a:latin typeface="Aptos Display"/>
                <a:ea typeface="Aptos Display"/>
                <a:cs typeface="Aptos Display"/>
              </a:rPr>
              <a:t> en </a:t>
            </a:r>
            <a:r>
              <a:rPr sz="2600" b="1" u="none" dirty="0" err="1">
                <a:solidFill>
                  <a:srgbClr val="151327"/>
                </a:solidFill>
                <a:latin typeface="Aptos Display"/>
                <a:ea typeface="Aptos Display"/>
                <a:cs typeface="Aptos Display"/>
              </a:rPr>
              <a:t>ejecución</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gobernada</a:t>
            </a:r>
            <a:r>
              <a:rPr sz="2600" b="1" u="none" dirty="0">
                <a:solidFill>
                  <a:srgbClr val="151327"/>
                </a:solidFill>
                <a:latin typeface="Aptos Display"/>
                <a:ea typeface="Aptos Display"/>
                <a:cs typeface="Aptos Display"/>
              </a:rPr>
              <a:t>; el </a:t>
            </a:r>
            <a:r>
              <a:rPr sz="2600" b="1" u="none" dirty="0" err="1">
                <a:solidFill>
                  <a:srgbClr val="151327"/>
                </a:solidFill>
                <a:latin typeface="Aptos Display"/>
                <a:ea typeface="Aptos Display"/>
                <a:cs typeface="Aptos Display"/>
              </a:rPr>
              <a:t>código</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determina</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qué</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existe</a:t>
            </a:r>
            <a:r>
              <a:rPr sz="2600" b="1" u="none" dirty="0">
                <a:solidFill>
                  <a:srgbClr val="151327"/>
                </a:solidFill>
                <a:latin typeface="Aptos Display"/>
                <a:ea typeface="Aptos Display"/>
                <a:cs typeface="Aptos Display"/>
              </a:rPr>
              <a:t> hoy.</a:t>
            </a:r>
            <a:endParaRPr sz="2600" b="0" u="none" dirty="0">
              <a:solidFill>
                <a:srgbClr val="000000"/>
              </a:solidFill>
              <a:latin typeface="Arial"/>
              <a:ea typeface="Arial"/>
              <a:cs typeface="Arial"/>
            </a:endParaRPr>
          </a:p>
        </p:txBody>
      </p:sp>
      <p:sp>
        <p:nvSpPr>
          <p:cNvPr id="29" name="Text 3">
            <a:extLst>
              <a:ext uri="{FF2B5EF4-FFF2-40B4-BE49-F238E27FC236}">
                <a16:creationId xmlns:a16="http://schemas.microsoft.com/office/drawing/2014/main" id="{BF1A9BBA-E9A8-40A3-8969-F919A74D6694}"/>
              </a:ext>
            </a:extLst>
          </p:cNvPr>
          <p:cNvSpPr>
            <a:spLocks noGrp="1"/>
          </p:cNvSpPr>
          <p:nvPr/>
        </p:nvSpPr>
        <p:spPr>
          <a:xfrm>
            <a:off x="567000" y="1700530"/>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2500"/>
          </a:bodyPr>
          <a:lstStyle/>
          <a:p>
            <a:pPr defTabSz="914400">
              <a:lnSpc>
                <a:spcPct val="100000"/>
              </a:lnSpc>
              <a:buNone/>
              <a:tabLst>
                <a:tab pos="0" algn="l"/>
              </a:tabLst>
            </a:pPr>
            <a:r>
              <a:rPr b="0" u="none" dirty="0" err="1">
                <a:solidFill>
                  <a:srgbClr val="6F6888"/>
                </a:solidFill>
                <a:latin typeface="Aptos"/>
                <a:ea typeface="Aptos"/>
                <a:cs typeface="Aptos"/>
              </a:rPr>
              <a:t>Bajaremos</a:t>
            </a:r>
            <a:r>
              <a:rPr b="0" u="none" dirty="0">
                <a:solidFill>
                  <a:srgbClr val="6F6888"/>
                </a:solidFill>
                <a:latin typeface="Aptos"/>
                <a:ea typeface="Aptos"/>
                <a:cs typeface="Aptos"/>
              </a:rPr>
              <a:t> </a:t>
            </a:r>
            <a:r>
              <a:rPr b="0" u="none" dirty="0" err="1">
                <a:solidFill>
                  <a:srgbClr val="6F6888"/>
                </a:solidFill>
                <a:latin typeface="Aptos"/>
                <a:ea typeface="Aptos"/>
                <a:cs typeface="Aptos"/>
              </a:rPr>
              <a:t>por</a:t>
            </a:r>
            <a:r>
              <a:rPr b="0" u="none" dirty="0">
                <a:solidFill>
                  <a:srgbClr val="6F6888"/>
                </a:solidFill>
                <a:latin typeface="Aptos"/>
                <a:ea typeface="Aptos"/>
                <a:cs typeface="Aptos"/>
              </a:rPr>
              <a:t> context</a:t>
            </a:r>
            <a:r>
              <a:rPr lang="es-MX" b="0" u="none" dirty="0">
                <a:solidFill>
                  <a:srgbClr val="6F6888"/>
                </a:solidFill>
                <a:latin typeface="Aptos"/>
                <a:ea typeface="Aptos"/>
                <a:cs typeface="Aptos"/>
              </a:rPr>
              <a:t>o</a:t>
            </a:r>
            <a:r>
              <a:rPr b="0" u="none" dirty="0">
                <a:solidFill>
                  <a:srgbClr val="6F6888"/>
                </a:solidFill>
                <a:latin typeface="Aptos"/>
                <a:ea typeface="Aptos"/>
                <a:cs typeface="Aptos"/>
              </a:rPr>
              <a:t>, </a:t>
            </a:r>
            <a:r>
              <a:rPr b="0" u="none" dirty="0" err="1">
                <a:solidFill>
                  <a:srgbClr val="6F6888"/>
                </a:solidFill>
                <a:latin typeface="Aptos"/>
                <a:ea typeface="Aptos"/>
                <a:cs typeface="Aptos"/>
              </a:rPr>
              <a:t>memor</a:t>
            </a:r>
            <a:r>
              <a:rPr lang="es-MX" b="0" u="none" dirty="0" err="1">
                <a:solidFill>
                  <a:srgbClr val="6F6888"/>
                </a:solidFill>
                <a:latin typeface="Aptos"/>
                <a:ea typeface="Aptos"/>
                <a:cs typeface="Aptos"/>
              </a:rPr>
              <a:t>ia</a:t>
            </a:r>
            <a:r>
              <a:rPr b="0" u="none" dirty="0">
                <a:solidFill>
                  <a:srgbClr val="6F6888"/>
                </a:solidFill>
                <a:latin typeface="Aptos"/>
                <a:ea typeface="Aptos"/>
                <a:cs typeface="Aptos"/>
              </a:rPr>
              <a:t>, </a:t>
            </a:r>
            <a:r>
              <a:rPr lang="es-MX" dirty="0">
                <a:solidFill>
                  <a:srgbClr val="6F6888"/>
                </a:solidFill>
                <a:latin typeface="Aptos"/>
                <a:ea typeface="Aptos"/>
                <a:cs typeface="Aptos"/>
              </a:rPr>
              <a:t>herramientas</a:t>
            </a:r>
            <a:r>
              <a:rPr b="0" u="none" dirty="0">
                <a:solidFill>
                  <a:srgbClr val="6F6888"/>
                </a:solidFill>
                <a:latin typeface="Aptos"/>
                <a:ea typeface="Aptos"/>
                <a:cs typeface="Aptos"/>
              </a:rPr>
              <a:t>, control</a:t>
            </a:r>
            <a:r>
              <a:rPr lang="es-MX" b="0" u="none" dirty="0">
                <a:solidFill>
                  <a:srgbClr val="6F6888"/>
                </a:solidFill>
                <a:latin typeface="Aptos"/>
                <a:ea typeface="Aptos"/>
                <a:cs typeface="Aptos"/>
              </a:rPr>
              <a:t> de bucle</a:t>
            </a:r>
            <a:r>
              <a:rPr b="0" u="none" dirty="0">
                <a:solidFill>
                  <a:srgbClr val="6F6888"/>
                </a:solidFill>
                <a:latin typeface="Aptos"/>
                <a:ea typeface="Aptos"/>
                <a:cs typeface="Aptos"/>
              </a:rPr>
              <a:t>, plan</a:t>
            </a:r>
            <a:r>
              <a:rPr lang="es-MX" b="0" u="none" dirty="0" err="1">
                <a:solidFill>
                  <a:srgbClr val="6F6888"/>
                </a:solidFill>
                <a:latin typeface="Aptos"/>
                <a:ea typeface="Aptos"/>
                <a:cs typeface="Aptos"/>
              </a:rPr>
              <a:t>eación</a:t>
            </a:r>
            <a:r>
              <a:rPr b="0" u="none" dirty="0">
                <a:solidFill>
                  <a:srgbClr val="6F6888"/>
                </a:solidFill>
                <a:latin typeface="Aptos"/>
                <a:ea typeface="Aptos"/>
                <a:cs typeface="Aptos"/>
              </a:rPr>
              <a:t>, s</a:t>
            </a:r>
            <a:r>
              <a:rPr lang="es-MX" dirty="0" err="1">
                <a:solidFill>
                  <a:srgbClr val="6F6888"/>
                </a:solidFill>
                <a:latin typeface="Aptos"/>
                <a:ea typeface="Aptos"/>
                <a:cs typeface="Aptos"/>
              </a:rPr>
              <a:t>eguridad</a:t>
            </a:r>
            <a:r>
              <a:rPr b="0" u="none" dirty="0">
                <a:solidFill>
                  <a:srgbClr val="6F6888"/>
                </a:solidFill>
                <a:latin typeface="Aptos"/>
                <a:ea typeface="Aptos"/>
                <a:cs typeface="Aptos"/>
              </a:rPr>
              <a:t> y </a:t>
            </a:r>
            <a:r>
              <a:rPr lang="es-MX" b="0" u="none" dirty="0">
                <a:solidFill>
                  <a:srgbClr val="6F6888"/>
                </a:solidFill>
                <a:latin typeface="Aptos"/>
                <a:ea typeface="Aptos"/>
                <a:cs typeface="Aptos"/>
              </a:rPr>
              <a:t>ambiente de ejecución</a:t>
            </a:r>
            <a:r>
              <a:rPr b="0" u="none" dirty="0">
                <a:solidFill>
                  <a:srgbClr val="6F6888"/>
                </a:solidFill>
                <a:latin typeface="Aptos"/>
                <a:ea typeface="Aptos"/>
                <a:cs typeface="Aptos"/>
              </a:rPr>
              <a:t>.</a:t>
            </a:r>
            <a:endParaRPr b="0" u="none" dirty="0">
              <a:solidFill>
                <a:srgbClr val="000000"/>
              </a:solidFill>
              <a:latin typeface="Arial"/>
              <a:ea typeface="Arial"/>
              <a:cs typeface="Arial"/>
            </a:endParaRPr>
          </a:p>
        </p:txBody>
      </p:sp>
      <p:sp>
        <p:nvSpPr>
          <p:cNvPr id="31" name="Text 5">
            <a:extLst>
              <a:ext uri="{FF2B5EF4-FFF2-40B4-BE49-F238E27FC236}">
                <a16:creationId xmlns:a16="http://schemas.microsoft.com/office/drawing/2014/main" id="{B968F5BA-8550-4799-871D-9C722B77371F}"/>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32" name="Text 6">
            <a:extLst>
              <a:ext uri="{FF2B5EF4-FFF2-40B4-BE49-F238E27FC236}">
                <a16:creationId xmlns:a16="http://schemas.microsoft.com/office/drawing/2014/main" id="{D4D5A9CE-1FD5-4205-9BCF-A3FF17A480F5}"/>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33" name="Text 7">
            <a:extLst>
              <a:ext uri="{FF2B5EF4-FFF2-40B4-BE49-F238E27FC236}">
                <a16:creationId xmlns:a16="http://schemas.microsoft.com/office/drawing/2014/main" id="{308AC89D-676A-4750-A1F1-B58D18D1C512}"/>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2</a:t>
            </a:r>
            <a:endParaRPr sz="800" b="0" u="none">
              <a:solidFill>
                <a:srgbClr val="000000"/>
              </a:solidFill>
              <a:latin typeface="Arial"/>
              <a:ea typeface="Arial"/>
              <a:cs typeface="Arial"/>
            </a:endParaRPr>
          </a:p>
        </p:txBody>
      </p:sp>
      <p:sp>
        <p:nvSpPr>
          <p:cNvPr id="34" name="Text 8">
            <a:extLst>
              <a:ext uri="{FF2B5EF4-FFF2-40B4-BE49-F238E27FC236}">
                <a16:creationId xmlns:a16="http://schemas.microsoft.com/office/drawing/2014/main" id="{849CC29F-9DAF-4BD6-A38C-45125D257C0D}"/>
              </a:ext>
            </a:extLst>
          </p:cNvPr>
          <p:cNvSpPr>
            <a:spLocks noGrp="1"/>
          </p:cNvSpPr>
          <p:nvPr/>
        </p:nvSpPr>
        <p:spPr>
          <a:xfrm>
            <a:off x="685800" y="2462911"/>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5F2CCB"/>
                </a:solidFill>
                <a:latin typeface="Aptos"/>
                <a:ea typeface="Aptos"/>
                <a:cs typeface="Aptos"/>
              </a:rPr>
              <a:t>MARCO</a:t>
            </a:r>
            <a:endParaRPr sz="1600" b="0" u="none">
              <a:solidFill>
                <a:srgbClr val="000000"/>
              </a:solidFill>
              <a:latin typeface="Arial"/>
              <a:ea typeface="Arial"/>
              <a:cs typeface="Arial"/>
            </a:endParaRPr>
          </a:p>
        </p:txBody>
      </p:sp>
      <p:sp>
        <p:nvSpPr>
          <p:cNvPr id="35" name="Shape 9">
            <a:extLst>
              <a:ext uri="{FF2B5EF4-FFF2-40B4-BE49-F238E27FC236}">
                <a16:creationId xmlns:a16="http://schemas.microsoft.com/office/drawing/2014/main" id="{76AA01F7-6B4F-4613-984E-1E5EB27BAE97}"/>
              </a:ext>
            </a:extLst>
          </p:cNvPr>
          <p:cNvSpPr>
            <a:spLocks noGrp="1"/>
          </p:cNvSpPr>
          <p:nvPr/>
        </p:nvSpPr>
        <p:spPr>
          <a:xfrm>
            <a:off x="685800" y="2828671"/>
            <a:ext cx="3291480" cy="1191290"/>
          </a:xfrm>
          <a:prstGeom prst="roundRect">
            <a:avLst>
              <a:gd name="adj" fmla="val 9524"/>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36" name="Text 10">
            <a:extLst>
              <a:ext uri="{FF2B5EF4-FFF2-40B4-BE49-F238E27FC236}">
                <a16:creationId xmlns:a16="http://schemas.microsoft.com/office/drawing/2014/main" id="{7E256B88-A25E-40CC-B593-98CE4A920162}"/>
              </a:ext>
            </a:extLst>
          </p:cNvPr>
          <p:cNvSpPr>
            <a:spLocks noGrp="1"/>
          </p:cNvSpPr>
          <p:nvPr/>
        </p:nvSpPr>
        <p:spPr>
          <a:xfrm>
            <a:off x="887040" y="3048271"/>
            <a:ext cx="2889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600" b="1" u="none" dirty="0">
                <a:solidFill>
                  <a:srgbClr val="151327"/>
                </a:solidFill>
                <a:latin typeface="Aptos Display"/>
                <a:ea typeface="Aptos Display"/>
                <a:cs typeface="Aptos Display"/>
              </a:rPr>
              <a:t>De</a:t>
            </a:r>
            <a:r>
              <a:rPr lang="es-MX" sz="1600" b="1" u="none" dirty="0">
                <a:solidFill>
                  <a:srgbClr val="151327"/>
                </a:solidFill>
                <a:latin typeface="Aptos Display"/>
                <a:ea typeface="Aptos Display"/>
                <a:cs typeface="Aptos Display"/>
              </a:rPr>
              <a:t> </a:t>
            </a:r>
            <a:r>
              <a:rPr sz="1600" b="1" u="none" dirty="0">
                <a:solidFill>
                  <a:srgbClr val="151327"/>
                </a:solidFill>
                <a:latin typeface="Aptos Display"/>
                <a:ea typeface="Aptos Display"/>
                <a:cs typeface="Aptos Display"/>
              </a:rPr>
              <a:t>l</a:t>
            </a:r>
            <a:r>
              <a:rPr lang="es-MX" sz="1600" b="1" u="none" dirty="0">
                <a:solidFill>
                  <a:srgbClr val="151327"/>
                </a:solidFill>
                <a:latin typeface="Aptos Display"/>
                <a:ea typeface="Aptos Display"/>
                <a:cs typeface="Aptos Display"/>
              </a:rPr>
              <a:t>a</a:t>
            </a:r>
            <a:r>
              <a:rPr sz="1600" b="1" u="none" dirty="0">
                <a:solidFill>
                  <a:srgbClr val="151327"/>
                </a:solidFill>
                <a:latin typeface="Aptos Display"/>
                <a:ea typeface="Aptos Display"/>
                <a:cs typeface="Aptos Display"/>
              </a:rPr>
              <a:t> </a:t>
            </a:r>
            <a:r>
              <a:rPr lang="es-MX" sz="1600" b="1" u="none" dirty="0">
                <a:solidFill>
                  <a:srgbClr val="151327"/>
                </a:solidFill>
                <a:latin typeface="Aptos Display"/>
                <a:ea typeface="Aptos Display"/>
                <a:cs typeface="Aptos Display"/>
              </a:rPr>
              <a:t>petición</a:t>
            </a:r>
            <a:r>
              <a:rPr sz="1600" b="1" u="none" dirty="0">
                <a:solidFill>
                  <a:srgbClr val="151327"/>
                </a:solidFill>
                <a:latin typeface="Aptos Display"/>
                <a:ea typeface="Aptos Display"/>
                <a:cs typeface="Aptos Display"/>
              </a:rPr>
              <a:t> al </a:t>
            </a:r>
            <a:r>
              <a:rPr sz="1600" b="1" u="none" dirty="0" err="1">
                <a:solidFill>
                  <a:srgbClr val="151327"/>
                </a:solidFill>
                <a:latin typeface="Aptos Display"/>
                <a:ea typeface="Aptos Display"/>
                <a:cs typeface="Aptos Display"/>
              </a:rPr>
              <a:t>resultado</a:t>
            </a:r>
            <a:endParaRPr sz="1600" b="0" u="none" dirty="0">
              <a:solidFill>
                <a:srgbClr val="000000"/>
              </a:solidFill>
              <a:latin typeface="Arial"/>
              <a:ea typeface="Arial"/>
              <a:cs typeface="Arial"/>
            </a:endParaRPr>
          </a:p>
        </p:txBody>
      </p:sp>
      <p:sp>
        <p:nvSpPr>
          <p:cNvPr id="37" name="Text 11">
            <a:extLst>
              <a:ext uri="{FF2B5EF4-FFF2-40B4-BE49-F238E27FC236}">
                <a16:creationId xmlns:a16="http://schemas.microsoft.com/office/drawing/2014/main" id="{9CDA5E85-4AD8-4A44-A254-35393DDD63DF}"/>
              </a:ext>
            </a:extLst>
          </p:cNvPr>
          <p:cNvSpPr>
            <a:spLocks noGrp="1"/>
          </p:cNvSpPr>
          <p:nvPr/>
        </p:nvSpPr>
        <p:spPr>
          <a:xfrm>
            <a:off x="941760" y="3510975"/>
            <a:ext cx="2725779" cy="38468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0" u="none">
                <a:solidFill>
                  <a:srgbClr val="6F6888"/>
                </a:solidFill>
                <a:latin typeface="Aptos"/>
                <a:ea typeface="Aptos"/>
                <a:cs typeface="Aptos"/>
              </a:rPr>
              <a:t>Graph, modelos, compaction, tools, HITL, persistence y post-turn flush.</a:t>
            </a:r>
            <a:endParaRPr sz="1200" b="0" u="none">
              <a:solidFill>
                <a:srgbClr val="000000"/>
              </a:solidFill>
              <a:latin typeface="Arial"/>
              <a:ea typeface="Arial"/>
              <a:cs typeface="Arial"/>
            </a:endParaRPr>
          </a:p>
        </p:txBody>
      </p:sp>
      <p:sp>
        <p:nvSpPr>
          <p:cNvPr id="38" name="Shape 12">
            <a:extLst>
              <a:ext uri="{FF2B5EF4-FFF2-40B4-BE49-F238E27FC236}">
                <a16:creationId xmlns:a16="http://schemas.microsoft.com/office/drawing/2014/main" id="{2075E088-1765-4C99-83FD-A082022825A5}"/>
              </a:ext>
            </a:extLst>
          </p:cNvPr>
          <p:cNvSpPr>
            <a:spLocks noGrp="1"/>
          </p:cNvSpPr>
          <p:nvPr/>
        </p:nvSpPr>
        <p:spPr>
          <a:xfrm>
            <a:off x="4434840" y="2828671"/>
            <a:ext cx="3291480" cy="1191290"/>
          </a:xfrm>
          <a:prstGeom prst="roundRect">
            <a:avLst>
              <a:gd name="adj" fmla="val 9524"/>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39" name="Text 13">
            <a:extLst>
              <a:ext uri="{FF2B5EF4-FFF2-40B4-BE49-F238E27FC236}">
                <a16:creationId xmlns:a16="http://schemas.microsoft.com/office/drawing/2014/main" id="{AC5494F2-88AF-41CD-8785-D5AAFD679CB2}"/>
              </a:ext>
            </a:extLst>
          </p:cNvPr>
          <p:cNvSpPr>
            <a:spLocks noGrp="1"/>
          </p:cNvSpPr>
          <p:nvPr/>
        </p:nvSpPr>
        <p:spPr>
          <a:xfrm>
            <a:off x="4636080" y="3048271"/>
            <a:ext cx="2889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600" b="1" u="none">
                <a:solidFill>
                  <a:srgbClr val="151327"/>
                </a:solidFill>
                <a:latin typeface="Aptos Display"/>
                <a:ea typeface="Aptos Display"/>
                <a:cs typeface="Aptos Display"/>
              </a:rPr>
              <a:t>Implemented ≠ target</a:t>
            </a:r>
            <a:endParaRPr sz="1600" b="0" u="none">
              <a:solidFill>
                <a:srgbClr val="000000"/>
              </a:solidFill>
              <a:latin typeface="Arial"/>
              <a:ea typeface="Arial"/>
              <a:cs typeface="Arial"/>
            </a:endParaRPr>
          </a:p>
        </p:txBody>
      </p:sp>
      <p:sp>
        <p:nvSpPr>
          <p:cNvPr id="40" name="Text 14">
            <a:extLst>
              <a:ext uri="{FF2B5EF4-FFF2-40B4-BE49-F238E27FC236}">
                <a16:creationId xmlns:a16="http://schemas.microsoft.com/office/drawing/2014/main" id="{39C993A8-4AFF-4FB6-8BC6-CF337EF744FB}"/>
              </a:ext>
            </a:extLst>
          </p:cNvPr>
          <p:cNvSpPr>
            <a:spLocks noGrp="1"/>
          </p:cNvSpPr>
          <p:nvPr/>
        </p:nvSpPr>
        <p:spPr>
          <a:xfrm>
            <a:off x="4705920" y="3471967"/>
            <a:ext cx="2779560" cy="43847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0" u="none">
                <a:solidFill>
                  <a:srgbClr val="6F6888"/>
                </a:solidFill>
                <a:latin typeface="Aptos"/>
                <a:ea typeface="Aptos"/>
                <a:cs typeface="Aptos"/>
              </a:rPr>
              <a:t>Cada claim se verifica contra code/migrations/tests.</a:t>
            </a:r>
            <a:endParaRPr sz="1200" b="0" u="none">
              <a:solidFill>
                <a:srgbClr val="000000"/>
              </a:solidFill>
              <a:latin typeface="Arial"/>
              <a:ea typeface="Arial"/>
              <a:cs typeface="Arial"/>
            </a:endParaRPr>
          </a:p>
        </p:txBody>
      </p:sp>
      <p:sp>
        <p:nvSpPr>
          <p:cNvPr id="41" name="Shape 15">
            <a:extLst>
              <a:ext uri="{FF2B5EF4-FFF2-40B4-BE49-F238E27FC236}">
                <a16:creationId xmlns:a16="http://schemas.microsoft.com/office/drawing/2014/main" id="{78477E3F-1308-4A22-A424-7B53A7038EF6}"/>
              </a:ext>
            </a:extLst>
          </p:cNvPr>
          <p:cNvSpPr>
            <a:spLocks noGrp="1"/>
          </p:cNvSpPr>
          <p:nvPr/>
        </p:nvSpPr>
        <p:spPr>
          <a:xfrm>
            <a:off x="8183880" y="2828671"/>
            <a:ext cx="3291480" cy="1191290"/>
          </a:xfrm>
          <a:prstGeom prst="roundRect">
            <a:avLst>
              <a:gd name="adj" fmla="val 9524"/>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2" name="Text 16">
            <a:extLst>
              <a:ext uri="{FF2B5EF4-FFF2-40B4-BE49-F238E27FC236}">
                <a16:creationId xmlns:a16="http://schemas.microsoft.com/office/drawing/2014/main" id="{8A40ACEE-4BC4-46F5-BA82-A813646A3709}"/>
              </a:ext>
            </a:extLst>
          </p:cNvPr>
          <p:cNvSpPr>
            <a:spLocks noGrp="1"/>
          </p:cNvSpPr>
          <p:nvPr/>
        </p:nvSpPr>
        <p:spPr>
          <a:xfrm>
            <a:off x="8385120" y="3048271"/>
            <a:ext cx="28890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600" b="1" u="none">
                <a:solidFill>
                  <a:srgbClr val="151327"/>
                </a:solidFill>
                <a:latin typeface="Aptos Display"/>
                <a:ea typeface="Aptos Display"/>
                <a:cs typeface="Aptos Display"/>
              </a:rPr>
              <a:t>Un mapa depurable</a:t>
            </a:r>
            <a:endParaRPr sz="1600" b="0" u="none">
              <a:solidFill>
                <a:srgbClr val="000000"/>
              </a:solidFill>
              <a:latin typeface="Arial"/>
              <a:ea typeface="Arial"/>
              <a:cs typeface="Arial"/>
            </a:endParaRPr>
          </a:p>
        </p:txBody>
      </p:sp>
      <p:sp>
        <p:nvSpPr>
          <p:cNvPr id="43" name="Text 17">
            <a:extLst>
              <a:ext uri="{FF2B5EF4-FFF2-40B4-BE49-F238E27FC236}">
                <a16:creationId xmlns:a16="http://schemas.microsoft.com/office/drawing/2014/main" id="{E01385D9-762C-4066-94A5-20080ECCE0B5}"/>
              </a:ext>
            </a:extLst>
          </p:cNvPr>
          <p:cNvSpPr>
            <a:spLocks noGrp="1"/>
          </p:cNvSpPr>
          <p:nvPr/>
        </p:nvSpPr>
        <p:spPr>
          <a:xfrm>
            <a:off x="8439840" y="3533986"/>
            <a:ext cx="2779560" cy="37645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0" u="none">
                <a:solidFill>
                  <a:srgbClr val="6F6888"/>
                </a:solidFill>
                <a:latin typeface="Aptos"/>
                <a:ea typeface="Aptos"/>
                <a:cs typeface="Aptos"/>
              </a:rPr>
              <a:t>Qué responsabilidad vive dónde y qué trade-off conserva.</a:t>
            </a:r>
            <a:endParaRPr sz="1200" b="0" u="none">
              <a:solidFill>
                <a:srgbClr val="000000"/>
              </a:solidFill>
              <a:latin typeface="Arial"/>
              <a:ea typeface="Arial"/>
              <a:cs typeface="Arial"/>
            </a:endParaRPr>
          </a:p>
        </p:txBody>
      </p:sp>
      <p:sp>
        <p:nvSpPr>
          <p:cNvPr id="44" name="Text 18">
            <a:extLst>
              <a:ext uri="{FF2B5EF4-FFF2-40B4-BE49-F238E27FC236}">
                <a16:creationId xmlns:a16="http://schemas.microsoft.com/office/drawing/2014/main" id="{27CB114E-7483-40E8-80EA-73C4C4EBF86B}"/>
              </a:ext>
            </a:extLst>
          </p:cNvPr>
          <p:cNvSpPr>
            <a:spLocks noGrp="1"/>
          </p:cNvSpPr>
          <p:nvPr/>
        </p:nvSpPr>
        <p:spPr>
          <a:xfrm>
            <a:off x="685800" y="4428871"/>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A84A7A"/>
                </a:solidFill>
                <a:latin typeface="Aptos"/>
                <a:ea typeface="Aptos"/>
                <a:cs typeface="Aptos"/>
              </a:rPr>
              <a:t>PREVIO</a:t>
            </a:r>
            <a:endParaRPr sz="1600" b="0" u="none">
              <a:solidFill>
                <a:srgbClr val="000000"/>
              </a:solidFill>
              <a:latin typeface="Arial"/>
              <a:ea typeface="Arial"/>
              <a:cs typeface="Arial"/>
            </a:endParaRPr>
          </a:p>
        </p:txBody>
      </p:sp>
      <p:sp>
        <p:nvSpPr>
          <p:cNvPr id="45" name="Shape 19">
            <a:extLst>
              <a:ext uri="{FF2B5EF4-FFF2-40B4-BE49-F238E27FC236}">
                <a16:creationId xmlns:a16="http://schemas.microsoft.com/office/drawing/2014/main" id="{4607EC1A-5109-44BC-B7F7-8D33863E4E3A}"/>
              </a:ext>
            </a:extLst>
          </p:cNvPr>
          <p:cNvSpPr>
            <a:spLocks noGrp="1"/>
          </p:cNvSpPr>
          <p:nvPr/>
        </p:nvSpPr>
        <p:spPr>
          <a:xfrm>
            <a:off x="731520" y="4867711"/>
            <a:ext cx="72720" cy="72720"/>
          </a:xfrm>
          <a:prstGeom prst="ellipse">
            <a:avLst/>
          </a:prstGeom>
          <a:solidFill>
            <a:srgbClr val="A84A7A"/>
          </a:solidFill>
          <a:ln w="12700">
            <a:solidFill>
              <a:srgbClr val="A84A7A"/>
            </a:solidFill>
          </a:ln>
        </p:spPr>
        <p:style>
          <a:lnRef idx="0">
            <a:scrgbClr r="0" g="0" b="0"/>
          </a:lnRef>
          <a:fillRef idx="0">
            <a:scrgbClr r="0" g="0" b="0"/>
          </a:fillRef>
          <a:effectRef idx="0">
            <a:scrgbClr r="0" g="0" b="0"/>
          </a:effectRef>
          <a:fontRef idx="minor"/>
        </p:style>
        <p:txBody>
          <a:bodyPr lIns="90000" tIns="6840" rIns="90000" bIns="6840" anchor="t">
            <a:noAutofit/>
          </a:bodyPr>
          <a:lstStyle/>
          <a:p>
            <a:endParaRPr sz="1600" b="0" u="none">
              <a:solidFill>
                <a:srgbClr val="FFFFFF"/>
              </a:solidFill>
              <a:latin typeface="Arial"/>
              <a:ea typeface="Arial"/>
              <a:cs typeface="Arial"/>
            </a:endParaRPr>
          </a:p>
        </p:txBody>
      </p:sp>
      <p:sp>
        <p:nvSpPr>
          <p:cNvPr id="46" name="Text 20">
            <a:extLst>
              <a:ext uri="{FF2B5EF4-FFF2-40B4-BE49-F238E27FC236}">
                <a16:creationId xmlns:a16="http://schemas.microsoft.com/office/drawing/2014/main" id="{15E3E3AC-72F5-4FC2-9BA0-2D2B7E7930A3}"/>
              </a:ext>
            </a:extLst>
          </p:cNvPr>
          <p:cNvSpPr>
            <a:spLocks noGrp="1"/>
          </p:cNvSpPr>
          <p:nvPr/>
        </p:nvSpPr>
        <p:spPr>
          <a:xfrm>
            <a:off x="896040" y="4794631"/>
            <a:ext cx="4955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0" u="none">
                <a:solidFill>
                  <a:srgbClr val="151327"/>
                </a:solidFill>
                <a:latin typeface="Aptos"/>
                <a:ea typeface="Aptos"/>
                <a:cs typeface="Aptos"/>
              </a:rPr>
              <a:t>Session 2: marco agéntico.</a:t>
            </a:r>
            <a:endParaRPr sz="1600" b="0" u="none">
              <a:solidFill>
                <a:srgbClr val="000000"/>
              </a:solidFill>
              <a:latin typeface="Arial"/>
              <a:ea typeface="Arial"/>
              <a:cs typeface="Arial"/>
            </a:endParaRPr>
          </a:p>
        </p:txBody>
      </p:sp>
      <p:sp>
        <p:nvSpPr>
          <p:cNvPr id="47" name="Shape 21">
            <a:extLst>
              <a:ext uri="{FF2B5EF4-FFF2-40B4-BE49-F238E27FC236}">
                <a16:creationId xmlns:a16="http://schemas.microsoft.com/office/drawing/2014/main" id="{CD5DBDEB-6279-43F3-B4B2-D4BD75D4C1A1}"/>
              </a:ext>
            </a:extLst>
          </p:cNvPr>
          <p:cNvSpPr>
            <a:spLocks noGrp="1"/>
          </p:cNvSpPr>
          <p:nvPr/>
        </p:nvSpPr>
        <p:spPr>
          <a:xfrm>
            <a:off x="731520" y="5288551"/>
            <a:ext cx="72720" cy="72720"/>
          </a:xfrm>
          <a:prstGeom prst="ellipse">
            <a:avLst/>
          </a:prstGeom>
          <a:solidFill>
            <a:srgbClr val="A84A7A"/>
          </a:solidFill>
          <a:ln w="12700">
            <a:solidFill>
              <a:srgbClr val="A84A7A"/>
            </a:solidFill>
          </a:ln>
        </p:spPr>
        <p:style>
          <a:lnRef idx="0">
            <a:scrgbClr r="0" g="0" b="0"/>
          </a:lnRef>
          <a:fillRef idx="0">
            <a:scrgbClr r="0" g="0" b="0"/>
          </a:fillRef>
          <a:effectRef idx="0">
            <a:scrgbClr r="0" g="0" b="0"/>
          </a:effectRef>
          <a:fontRef idx="minor"/>
        </p:style>
        <p:txBody>
          <a:bodyPr lIns="90000" tIns="6840" rIns="90000" bIns="6840" anchor="t">
            <a:noAutofit/>
          </a:bodyPr>
          <a:lstStyle/>
          <a:p>
            <a:endParaRPr sz="1600" b="0" u="none">
              <a:solidFill>
                <a:srgbClr val="FFFFFF"/>
              </a:solidFill>
              <a:latin typeface="Arial"/>
              <a:ea typeface="Arial"/>
              <a:cs typeface="Arial"/>
            </a:endParaRPr>
          </a:p>
        </p:txBody>
      </p:sp>
      <p:sp>
        <p:nvSpPr>
          <p:cNvPr id="48" name="Text 22">
            <a:extLst>
              <a:ext uri="{FF2B5EF4-FFF2-40B4-BE49-F238E27FC236}">
                <a16:creationId xmlns:a16="http://schemas.microsoft.com/office/drawing/2014/main" id="{793AEA1F-8C4B-481A-A871-67F915A2C390}"/>
              </a:ext>
            </a:extLst>
          </p:cNvPr>
          <p:cNvSpPr>
            <a:spLocks noGrp="1"/>
          </p:cNvSpPr>
          <p:nvPr/>
        </p:nvSpPr>
        <p:spPr>
          <a:xfrm>
            <a:off x="896040" y="5215111"/>
            <a:ext cx="4955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0" u="none">
                <a:solidFill>
                  <a:srgbClr val="151327"/>
                </a:solidFill>
                <a:latin typeface="Aptos"/>
                <a:ea typeface="Aptos"/>
                <a:cs typeface="Aptos"/>
              </a:rPr>
              <a:t>Session 3: arquitectura de Gu OS.</a:t>
            </a:r>
            <a:endParaRPr sz="1600" b="0" u="none">
              <a:solidFill>
                <a:srgbClr val="000000"/>
              </a:solidFill>
              <a:latin typeface="Arial"/>
              <a:ea typeface="Arial"/>
              <a:cs typeface="Arial"/>
            </a:endParaRPr>
          </a:p>
        </p:txBody>
      </p:sp>
      <p:sp>
        <p:nvSpPr>
          <p:cNvPr id="49" name="Shape 23">
            <a:extLst>
              <a:ext uri="{FF2B5EF4-FFF2-40B4-BE49-F238E27FC236}">
                <a16:creationId xmlns:a16="http://schemas.microsoft.com/office/drawing/2014/main" id="{C681436B-EBE4-4900-AB19-0E54395F3512}"/>
              </a:ext>
            </a:extLst>
          </p:cNvPr>
          <p:cNvSpPr>
            <a:spLocks noGrp="1"/>
          </p:cNvSpPr>
          <p:nvPr/>
        </p:nvSpPr>
        <p:spPr>
          <a:xfrm>
            <a:off x="731520" y="5709031"/>
            <a:ext cx="72720" cy="72720"/>
          </a:xfrm>
          <a:prstGeom prst="ellipse">
            <a:avLst/>
          </a:prstGeom>
          <a:solidFill>
            <a:srgbClr val="A84A7A"/>
          </a:solidFill>
          <a:ln w="12700">
            <a:solidFill>
              <a:srgbClr val="A84A7A"/>
            </a:solidFill>
          </a:ln>
        </p:spPr>
        <p:style>
          <a:lnRef idx="0">
            <a:scrgbClr r="0" g="0" b="0"/>
          </a:lnRef>
          <a:fillRef idx="0">
            <a:scrgbClr r="0" g="0" b="0"/>
          </a:fillRef>
          <a:effectRef idx="0">
            <a:scrgbClr r="0" g="0" b="0"/>
          </a:effectRef>
          <a:fontRef idx="minor"/>
        </p:style>
        <p:txBody>
          <a:bodyPr lIns="90000" tIns="6840" rIns="90000" bIns="6840" anchor="t">
            <a:noAutofit/>
          </a:bodyPr>
          <a:lstStyle/>
          <a:p>
            <a:endParaRPr sz="1600" b="0" u="none">
              <a:solidFill>
                <a:srgbClr val="FFFFFF"/>
              </a:solidFill>
              <a:latin typeface="Arial"/>
              <a:ea typeface="Arial"/>
              <a:cs typeface="Arial"/>
            </a:endParaRPr>
          </a:p>
        </p:txBody>
      </p:sp>
      <p:sp>
        <p:nvSpPr>
          <p:cNvPr id="50" name="Text 24">
            <a:extLst>
              <a:ext uri="{FF2B5EF4-FFF2-40B4-BE49-F238E27FC236}">
                <a16:creationId xmlns:a16="http://schemas.microsoft.com/office/drawing/2014/main" id="{493C7532-C572-42FA-9C8D-198107137DDD}"/>
              </a:ext>
            </a:extLst>
          </p:cNvPr>
          <p:cNvSpPr>
            <a:spLocks noGrp="1"/>
          </p:cNvSpPr>
          <p:nvPr/>
        </p:nvSpPr>
        <p:spPr>
          <a:xfrm>
            <a:off x="896040" y="5635951"/>
            <a:ext cx="4955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0" u="none">
                <a:solidFill>
                  <a:srgbClr val="151327"/>
                </a:solidFill>
                <a:latin typeface="Aptos"/>
                <a:ea typeface="Aptos"/>
                <a:cs typeface="Aptos"/>
              </a:rPr>
              <a:t>Lectura: Runtime &amp; Harness Guide.</a:t>
            </a:r>
            <a:endParaRPr sz="1600" b="0" u="none">
              <a:solidFill>
                <a:srgbClr val="000000"/>
              </a:solidFill>
              <a:latin typeface="Arial"/>
              <a:ea typeface="Arial"/>
              <a:cs typeface="Arial"/>
            </a:endParaRPr>
          </a:p>
        </p:txBody>
      </p:sp>
      <p:sp>
        <p:nvSpPr>
          <p:cNvPr id="51" name="Text 25">
            <a:extLst>
              <a:ext uri="{FF2B5EF4-FFF2-40B4-BE49-F238E27FC236}">
                <a16:creationId xmlns:a16="http://schemas.microsoft.com/office/drawing/2014/main" id="{D9DEE2AD-0BA2-4985-82AC-0BD59C829B39}"/>
              </a:ext>
            </a:extLst>
          </p:cNvPr>
          <p:cNvSpPr>
            <a:spLocks noGrp="1"/>
          </p:cNvSpPr>
          <p:nvPr/>
        </p:nvSpPr>
        <p:spPr>
          <a:xfrm>
            <a:off x="6400800" y="4428871"/>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078C53"/>
                </a:solidFill>
                <a:latin typeface="Aptos"/>
                <a:ea typeface="Aptos"/>
                <a:cs typeface="Aptos"/>
              </a:rPr>
              <a:t>RESULTADO</a:t>
            </a:r>
            <a:endParaRPr sz="1600" b="0" u="none">
              <a:solidFill>
                <a:srgbClr val="000000"/>
              </a:solidFill>
              <a:latin typeface="Arial"/>
              <a:ea typeface="Arial"/>
              <a:cs typeface="Arial"/>
            </a:endParaRPr>
          </a:p>
        </p:txBody>
      </p:sp>
      <p:sp>
        <p:nvSpPr>
          <p:cNvPr id="52" name="Shape 26">
            <a:extLst>
              <a:ext uri="{FF2B5EF4-FFF2-40B4-BE49-F238E27FC236}">
                <a16:creationId xmlns:a16="http://schemas.microsoft.com/office/drawing/2014/main" id="{18ED76A9-0B52-442A-8772-5E8AD4FC3057}"/>
              </a:ext>
            </a:extLst>
          </p:cNvPr>
          <p:cNvSpPr>
            <a:spLocks noGrp="1"/>
          </p:cNvSpPr>
          <p:nvPr/>
        </p:nvSpPr>
        <p:spPr>
          <a:xfrm>
            <a:off x="6446520" y="4867711"/>
            <a:ext cx="72720" cy="727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6840" rIns="90000" bIns="6840" anchor="t">
            <a:noAutofit/>
          </a:bodyPr>
          <a:lstStyle/>
          <a:p>
            <a:endParaRPr sz="1600" b="0" u="none">
              <a:solidFill>
                <a:srgbClr val="FFFFFF"/>
              </a:solidFill>
              <a:latin typeface="Arial"/>
              <a:ea typeface="Arial"/>
              <a:cs typeface="Arial"/>
            </a:endParaRPr>
          </a:p>
        </p:txBody>
      </p:sp>
      <p:sp>
        <p:nvSpPr>
          <p:cNvPr id="53" name="Text 27">
            <a:extLst>
              <a:ext uri="{FF2B5EF4-FFF2-40B4-BE49-F238E27FC236}">
                <a16:creationId xmlns:a16="http://schemas.microsoft.com/office/drawing/2014/main" id="{C4C9EB7E-2B87-4D55-A83C-5F514FED9E84}"/>
              </a:ext>
            </a:extLst>
          </p:cNvPr>
          <p:cNvSpPr>
            <a:spLocks noGrp="1"/>
          </p:cNvSpPr>
          <p:nvPr/>
        </p:nvSpPr>
        <p:spPr>
          <a:xfrm>
            <a:off x="6611040" y="4794631"/>
            <a:ext cx="4772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0" u="none">
                <a:solidFill>
                  <a:srgbClr val="151327"/>
                </a:solidFill>
                <a:latin typeface="Aptos"/>
                <a:ea typeface="Aptos"/>
                <a:cs typeface="Aptos"/>
              </a:rPr>
              <a:t>Código conectado a conceptos.</a:t>
            </a:r>
            <a:endParaRPr sz="1600" b="0" u="none">
              <a:solidFill>
                <a:srgbClr val="000000"/>
              </a:solidFill>
              <a:latin typeface="Arial"/>
              <a:ea typeface="Arial"/>
              <a:cs typeface="Arial"/>
            </a:endParaRPr>
          </a:p>
        </p:txBody>
      </p:sp>
      <p:sp>
        <p:nvSpPr>
          <p:cNvPr id="54" name="Shape 28">
            <a:extLst>
              <a:ext uri="{FF2B5EF4-FFF2-40B4-BE49-F238E27FC236}">
                <a16:creationId xmlns:a16="http://schemas.microsoft.com/office/drawing/2014/main" id="{7668B971-7E99-4305-A9A3-A109CD018498}"/>
              </a:ext>
            </a:extLst>
          </p:cNvPr>
          <p:cNvSpPr>
            <a:spLocks noGrp="1"/>
          </p:cNvSpPr>
          <p:nvPr/>
        </p:nvSpPr>
        <p:spPr>
          <a:xfrm>
            <a:off x="6446520" y="5288551"/>
            <a:ext cx="72720" cy="727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6840" rIns="90000" bIns="6840" anchor="t">
            <a:noAutofit/>
          </a:bodyPr>
          <a:lstStyle/>
          <a:p>
            <a:endParaRPr sz="1600" b="0" u="none">
              <a:solidFill>
                <a:srgbClr val="FFFFFF"/>
              </a:solidFill>
              <a:latin typeface="Arial"/>
              <a:ea typeface="Arial"/>
              <a:cs typeface="Arial"/>
            </a:endParaRPr>
          </a:p>
        </p:txBody>
      </p:sp>
      <p:sp>
        <p:nvSpPr>
          <p:cNvPr id="55" name="Text 29">
            <a:extLst>
              <a:ext uri="{FF2B5EF4-FFF2-40B4-BE49-F238E27FC236}">
                <a16:creationId xmlns:a16="http://schemas.microsoft.com/office/drawing/2014/main" id="{5DAFDD79-CDA7-4FAF-BBCD-7A84A2367C4E}"/>
              </a:ext>
            </a:extLst>
          </p:cNvPr>
          <p:cNvSpPr>
            <a:spLocks noGrp="1"/>
          </p:cNvSpPr>
          <p:nvPr/>
        </p:nvSpPr>
        <p:spPr>
          <a:xfrm>
            <a:off x="6611040" y="5215111"/>
            <a:ext cx="4772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0" u="none">
                <a:solidFill>
                  <a:srgbClr val="151327"/>
                </a:solidFill>
                <a:latin typeface="Aptos"/>
                <a:ea typeface="Aptos"/>
                <a:cs typeface="Aptos"/>
              </a:rPr>
              <a:t>Gaps explícitos.</a:t>
            </a:r>
            <a:endParaRPr sz="1600" b="0" u="none">
              <a:solidFill>
                <a:srgbClr val="000000"/>
              </a:solidFill>
              <a:latin typeface="Arial"/>
              <a:ea typeface="Arial"/>
              <a:cs typeface="Arial"/>
            </a:endParaRPr>
          </a:p>
        </p:txBody>
      </p:sp>
      <p:sp>
        <p:nvSpPr>
          <p:cNvPr id="56" name="Shape 30">
            <a:extLst>
              <a:ext uri="{FF2B5EF4-FFF2-40B4-BE49-F238E27FC236}">
                <a16:creationId xmlns:a16="http://schemas.microsoft.com/office/drawing/2014/main" id="{D77D5ABE-2520-4B7E-823E-F01719C3EEA8}"/>
              </a:ext>
            </a:extLst>
          </p:cNvPr>
          <p:cNvSpPr>
            <a:spLocks noGrp="1"/>
          </p:cNvSpPr>
          <p:nvPr/>
        </p:nvSpPr>
        <p:spPr>
          <a:xfrm>
            <a:off x="6446520" y="5709031"/>
            <a:ext cx="72720" cy="727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6840" rIns="90000" bIns="6840" anchor="t">
            <a:noAutofit/>
          </a:bodyPr>
          <a:lstStyle/>
          <a:p>
            <a:endParaRPr sz="1600" b="0" u="none">
              <a:solidFill>
                <a:srgbClr val="FFFFFF"/>
              </a:solidFill>
              <a:latin typeface="Arial"/>
              <a:ea typeface="Arial"/>
              <a:cs typeface="Arial"/>
            </a:endParaRPr>
          </a:p>
        </p:txBody>
      </p:sp>
      <p:sp>
        <p:nvSpPr>
          <p:cNvPr id="57" name="Text 31">
            <a:extLst>
              <a:ext uri="{FF2B5EF4-FFF2-40B4-BE49-F238E27FC236}">
                <a16:creationId xmlns:a16="http://schemas.microsoft.com/office/drawing/2014/main" id="{83705391-B1D8-4CA2-86FA-B6CF6F5205A4}"/>
              </a:ext>
            </a:extLst>
          </p:cNvPr>
          <p:cNvSpPr>
            <a:spLocks noGrp="1"/>
          </p:cNvSpPr>
          <p:nvPr/>
        </p:nvSpPr>
        <p:spPr>
          <a:xfrm>
            <a:off x="6611040" y="5635951"/>
            <a:ext cx="47728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0" u="none">
                <a:solidFill>
                  <a:srgbClr val="151327"/>
                </a:solidFill>
                <a:latin typeface="Aptos"/>
                <a:ea typeface="Aptos"/>
                <a:cs typeface="Aptos"/>
              </a:rPr>
              <a:t>Preguntas de diseño mejores.</a:t>
            </a:r>
            <a:endParaRPr sz="1600" b="0" u="none">
              <a:solidFill>
                <a:srgbClr val="000000"/>
              </a:solidFill>
              <a:latin typeface="Arial"/>
              <a:ea typeface="Arial"/>
              <a:cs typeface="Arial"/>
            </a:endParaRPr>
          </a:p>
        </p:txBody>
      </p:sp>
      <p:pic>
        <p:nvPicPr>
          <p:cNvPr id="90"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873096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3BD49-FD40-8361-9103-AA7678B2A410}"/>
            </a:ext>
          </a:extLst>
        </p:cNvPr>
        <p:cNvGrpSpPr/>
        <p:nvPr/>
      </p:nvGrpSpPr>
      <p:grpSpPr>
        <a:xfrm>
          <a:off x="0" y="0"/>
          <a:ext cx="0" cy="0"/>
          <a:chOff x="0" y="0"/>
          <a:chExt cx="0" cy="0"/>
        </a:xfrm>
      </p:grpSpPr>
      <p:sp>
        <p:nvSpPr>
          <p:cNvPr id="59" name="Rectángulo 58">
            <a:extLst>
              <a:ext uri="{FF2B5EF4-FFF2-40B4-BE49-F238E27FC236}">
                <a16:creationId xmlns:a16="http://schemas.microsoft.com/office/drawing/2014/main" id="{2671E057-C6DD-CD53-F1DD-1C81D3663408}"/>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A273F6FD-9C68-B461-A6B5-BF5189BE41EF}"/>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INGRESO Y ROUTING</a:t>
            </a:r>
          </a:p>
        </p:txBody>
      </p:sp>
      <p:sp>
        <p:nvSpPr>
          <p:cNvPr id="3" name="Rectángulo 2">
            <a:extLst>
              <a:ext uri="{FF2B5EF4-FFF2-40B4-BE49-F238E27FC236}">
                <a16:creationId xmlns:a16="http://schemas.microsoft.com/office/drawing/2014/main" id="{CE1CF035-F76A-B665-3249-8E7006E90ACE}"/>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Dos caminos convierten una interacción en un turno gobernado</a:t>
            </a:r>
          </a:p>
        </p:txBody>
      </p:sp>
      <p:sp>
        <p:nvSpPr>
          <p:cNvPr id="4" name="Rectángulo 3">
            <a:extLst>
              <a:ext uri="{FF2B5EF4-FFF2-40B4-BE49-F238E27FC236}">
                <a16:creationId xmlns:a16="http://schemas.microsoft.com/office/drawing/2014/main" id="{C0D8ECFB-0F6C-4461-2F0E-A8ECCE309CC8}"/>
              </a:ext>
            </a:extLst>
          </p:cNvPr>
          <p:cNvSpPr>
            <a:spLocks noGrp="1"/>
          </p:cNvSpPr>
          <p:nvPr/>
        </p:nvSpPr>
        <p:spPr>
          <a:xfrm>
            <a:off x="571499" y="1329800"/>
            <a:ext cx="10363199" cy="523875"/>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400" b="0" i="0" dirty="0">
                <a:solidFill>
                  <a:srgbClr val="756F91"/>
                </a:solidFill>
                <a:latin typeface="Aptos"/>
                <a:ea typeface="Aptos"/>
                <a:cs typeface="Aptos"/>
              </a:rPr>
              <a:t>El </a:t>
            </a:r>
            <a:r>
              <a:rPr sz="1400" b="0" i="0" dirty="0" err="1">
                <a:solidFill>
                  <a:srgbClr val="756F91"/>
                </a:solidFill>
                <a:latin typeface="Aptos"/>
                <a:ea typeface="Aptos"/>
                <a:cs typeface="Aptos"/>
              </a:rPr>
              <a:t>usuario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interno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ya</a:t>
            </a:r>
            <a:r>
              <a:rPr sz="1400" b="0" i="0" dirty="0">
                <a:solidFill>
                  <a:srgbClr val="756F91"/>
                </a:solidFill>
                <a:latin typeface="Aptos"/>
                <a:ea typeface="Aptos"/>
                <a:cs typeface="Aptos"/>
              </a:rPr>
              <a:t> opera Gu OS. La </a:t>
            </a:r>
            <a:r>
              <a:rPr sz="1400" b="0" i="0" dirty="0" err="1">
                <a:solidFill>
                  <a:srgbClr val="756F91"/>
                </a:solidFill>
                <a:latin typeface="Aptos"/>
                <a:ea typeface="Aptos"/>
                <a:cs typeface="Aptos"/>
              </a:rPr>
              <a:t>interacción</a:t>
            </a:r>
            <a:r>
              <a:rPr sz="1400" b="0" i="0" dirty="0">
                <a:solidFill>
                  <a:srgbClr val="756F91"/>
                </a:solidFill>
                <a:latin typeface="Aptos"/>
                <a:ea typeface="Aptos"/>
                <a:cs typeface="Aptos"/>
              </a:rPr>
              <a:t> del </a:t>
            </a:r>
            <a:r>
              <a:rPr sz="1400" b="0" i="0" dirty="0" err="1">
                <a:solidFill>
                  <a:srgbClr val="756F91"/>
                </a:solidFill>
                <a:latin typeface="Aptos"/>
                <a:ea typeface="Aptos"/>
                <a:cs typeface="Aptos"/>
              </a:rPr>
              <a:t>prospecto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todavía</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cruza</a:t>
            </a:r>
            <a:r>
              <a:rPr sz="1400" b="0" i="0" dirty="0">
                <a:solidFill>
                  <a:srgbClr val="756F91"/>
                </a:solidFill>
                <a:latin typeface="Aptos"/>
                <a:ea typeface="Aptos"/>
                <a:cs typeface="Aptos"/>
              </a:rPr>
              <a:t> Traditional Gu y R1 </a:t>
            </a:r>
            <a:r>
              <a:rPr sz="1400" b="0" i="0" dirty="0" err="1">
                <a:solidFill>
                  <a:srgbClr val="756F91"/>
                </a:solidFill>
                <a:latin typeface="Aptos"/>
                <a:ea typeface="Aptos"/>
                <a:cs typeface="Aptos"/>
              </a:rPr>
              <a:t>migra</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responsabilidad</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por</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etapas</a:t>
            </a:r>
            <a:r>
              <a:rPr sz="1400" b="0" i="0" dirty="0">
                <a:solidFill>
                  <a:srgbClr val="756F91"/>
                </a:solidFill>
                <a:latin typeface="Aptos"/>
                <a:ea typeface="Aptos"/>
                <a:cs typeface="Aptos"/>
              </a:rPr>
              <a:t>.</a:t>
            </a:r>
          </a:p>
        </p:txBody>
      </p:sp>
      <p:pic>
        <p:nvPicPr>
          <p:cNvPr id="63" name="Imagen 62">
            <a:extLst>
              <a:ext uri="{FF2B5EF4-FFF2-40B4-BE49-F238E27FC236}">
                <a16:creationId xmlns:a16="http://schemas.microsoft.com/office/drawing/2014/main" id="{CD71EF93-5BDD-6EE6-B288-E85F9DD32E24}"/>
              </a:ext>
            </a:extLst>
          </p:cNvPr>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FA9C2039-DFB5-6107-6A78-30B3049129E2}"/>
              </a:ext>
            </a:extLst>
          </p:cNvPr>
          <p:cNvSpPr>
            <a:spLocks noGrp="1"/>
          </p:cNvSpPr>
          <p:nvPr/>
        </p:nvSpPr>
        <p:spPr>
          <a:xfrm>
            <a:off x="1981200" y="366712"/>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AB4731CB-0904-046A-2EFB-30CF84E8C286}"/>
              </a:ext>
            </a:extLst>
          </p:cNvPr>
          <p:cNvSpPr>
            <a:spLocks noGrp="1"/>
          </p:cNvSpPr>
          <p:nvPr/>
        </p:nvSpPr>
        <p:spPr>
          <a:xfrm>
            <a:off x="2047875" y="395287"/>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 + EN CONSTRUCCIÓN</a:t>
            </a:r>
          </a:p>
        </p:txBody>
      </p:sp>
      <p:sp>
        <p:nvSpPr>
          <p:cNvPr id="8" name="Rectángulo 7">
            <a:extLst>
              <a:ext uri="{FF2B5EF4-FFF2-40B4-BE49-F238E27FC236}">
                <a16:creationId xmlns:a16="http://schemas.microsoft.com/office/drawing/2014/main" id="{7CA719B9-B5A0-AB87-EEFB-6A0C37C59AD7}"/>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5A8644DD-492B-1A74-F9F2-76F8D435D79D}"/>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9">
            <a:extLst>
              <a:ext uri="{FF2B5EF4-FFF2-40B4-BE49-F238E27FC236}">
                <a16:creationId xmlns:a16="http://schemas.microsoft.com/office/drawing/2014/main" id="{DED46199-FECB-F9F8-A273-91CB486B1B75}"/>
              </a:ext>
            </a:extLst>
          </p:cNvPr>
          <p:cNvSpPr>
            <a:spLocks noGrp="1"/>
          </p:cNvSpPr>
          <p:nvPr/>
        </p:nvSpPr>
        <p:spPr>
          <a:xfrm>
            <a:off x="571500" y="1981200"/>
            <a:ext cx="2857500" cy="228600"/>
          </a:xfrm>
          <a:prstGeom prst="rect">
            <a:avLst/>
          </a:prstGeom>
          <a:noFill/>
          <a:ln w="0">
            <a:noFill/>
          </a:ln>
        </p:spPr>
        <p:txBody>
          <a:bodyPr anchor="t">
            <a:normAutofit fontScale="85714"/>
          </a:bodyPr>
          <a:lstStyle/>
          <a:p>
            <a:pPr>
              <a:defRPr sz="1050" b="1" i="0">
                <a:solidFill>
                  <a:srgbClr val="009566"/>
                </a:solidFill>
                <a:latin typeface="Aptos"/>
                <a:ea typeface="Aptos"/>
                <a:cs typeface="Aptos"/>
              </a:defRPr>
            </a:pPr>
            <a:r>
              <a:rPr sz="1050" b="1" i="0">
                <a:solidFill>
                  <a:srgbClr val="009566"/>
                </a:solidFill>
                <a:latin typeface="Aptos"/>
                <a:ea typeface="Aptos"/>
                <a:cs typeface="Aptos"/>
              </a:rPr>
              <a:t>USUARIO INTERNO · CURRENT</a:t>
            </a:r>
          </a:p>
        </p:txBody>
      </p:sp>
      <p:sp>
        <p:nvSpPr>
          <p:cNvPr id="11" name="Rectángulo: esquinas redondeadas 10">
            <a:extLst>
              <a:ext uri="{FF2B5EF4-FFF2-40B4-BE49-F238E27FC236}">
                <a16:creationId xmlns:a16="http://schemas.microsoft.com/office/drawing/2014/main" id="{0048ABB2-81F6-3911-FF64-075E6674C4A3}"/>
              </a:ext>
            </a:extLst>
          </p:cNvPr>
          <p:cNvSpPr>
            <a:spLocks noGrp="1"/>
          </p:cNvSpPr>
          <p:nvPr/>
        </p:nvSpPr>
        <p:spPr>
          <a:xfrm>
            <a:off x="571500" y="2286000"/>
            <a:ext cx="1476375" cy="876300"/>
          </a:xfrm>
          <a:prstGeom prst="roundRect">
            <a:avLst>
              <a:gd name="adj" fmla="val 13043"/>
            </a:avLst>
          </a:prstGeom>
          <a:solidFill>
            <a:srgbClr val="E3F5ED"/>
          </a:solidFill>
          <a:ln w="9525">
            <a:solidFill>
              <a:srgbClr val="009566"/>
            </a:solidFill>
            <a:prstDash val="solid"/>
          </a:ln>
        </p:spPr>
        <p:txBody>
          <a:bodyPr/>
          <a:lstStyle/>
          <a:p>
            <a:endParaRPr lang="es-MX"/>
          </a:p>
        </p:txBody>
      </p:sp>
      <p:sp>
        <p:nvSpPr>
          <p:cNvPr id="12" name="Rectángulo 11">
            <a:extLst>
              <a:ext uri="{FF2B5EF4-FFF2-40B4-BE49-F238E27FC236}">
                <a16:creationId xmlns:a16="http://schemas.microsoft.com/office/drawing/2014/main" id="{3124A7EE-D04D-85DE-9AF6-D1520C5ECA47}"/>
              </a:ext>
            </a:extLst>
          </p:cNvPr>
          <p:cNvSpPr>
            <a:spLocks noGrp="1"/>
          </p:cNvSpPr>
          <p:nvPr/>
        </p:nvSpPr>
        <p:spPr>
          <a:xfrm>
            <a:off x="704850" y="2409825"/>
            <a:ext cx="1209675" cy="285750"/>
          </a:xfrm>
          <a:prstGeom prst="rect">
            <a:avLst/>
          </a:prstGeom>
          <a:noFill/>
          <a:ln w="0">
            <a:noFill/>
          </a:ln>
        </p:spPr>
        <p:txBody>
          <a:bodyPr anchor="t">
            <a:normAutofit fontScale="95332"/>
          </a:bodyPr>
          <a:lstStyle/>
          <a:p>
            <a:pPr>
              <a:defRPr sz="1050" b="1" i="0">
                <a:solidFill>
                  <a:srgbClr val="009566"/>
                </a:solidFill>
                <a:latin typeface="Aptos"/>
                <a:ea typeface="Aptos"/>
                <a:cs typeface="Aptos"/>
              </a:defRPr>
            </a:pPr>
            <a:r>
              <a:rPr sz="1050" b="1" i="0">
                <a:solidFill>
                  <a:srgbClr val="009566"/>
                </a:solidFill>
                <a:latin typeface="Aptos"/>
                <a:ea typeface="Aptos"/>
                <a:cs typeface="Aptos"/>
              </a:rPr>
              <a:t>WEB / TELEGRAM</a:t>
            </a:r>
          </a:p>
        </p:txBody>
      </p:sp>
      <p:sp>
        <p:nvSpPr>
          <p:cNvPr id="13" name="Rectángulo 12">
            <a:extLst>
              <a:ext uri="{FF2B5EF4-FFF2-40B4-BE49-F238E27FC236}">
                <a16:creationId xmlns:a16="http://schemas.microsoft.com/office/drawing/2014/main" id="{DE810F60-1D3F-AAFF-58E1-082AA9D24985}"/>
              </a:ext>
            </a:extLst>
          </p:cNvPr>
          <p:cNvSpPr>
            <a:spLocks noGrp="1"/>
          </p:cNvSpPr>
          <p:nvPr/>
        </p:nvSpPr>
        <p:spPr>
          <a:xfrm>
            <a:off x="704850" y="2733675"/>
            <a:ext cx="1209675" cy="342900"/>
          </a:xfrm>
          <a:prstGeom prst="rect">
            <a:avLst/>
          </a:prstGeom>
          <a:noFill/>
          <a:ln w="0">
            <a:noFill/>
          </a:ln>
        </p:spPr>
        <p:txBody>
          <a:bodyPr anchor="t">
            <a:normAutofit fontScale="84615"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Pregunta</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petición</a:t>
            </a:r>
            <a:r>
              <a:rPr sz="975" b="0" i="0" dirty="0">
                <a:solidFill>
                  <a:srgbClr val="756F91"/>
                </a:solidFill>
                <a:latin typeface="Aptos"/>
                <a:ea typeface="Aptos"/>
                <a:cs typeface="Aptos"/>
              </a:rPr>
              <a:t> o </a:t>
            </a:r>
            <a:r>
              <a:rPr sz="975" b="0" i="0" dirty="0" err="1">
                <a:solidFill>
                  <a:srgbClr val="756F91"/>
                </a:solidFill>
                <a:latin typeface="Aptos"/>
                <a:ea typeface="Aptos"/>
                <a:cs typeface="Aptos"/>
              </a:rPr>
              <a:t>decisión</a:t>
            </a:r>
            <a:endParaRPr sz="975" b="0" i="0" dirty="0">
              <a:solidFill>
                <a:srgbClr val="756F91"/>
              </a:solidFill>
              <a:latin typeface="Aptos"/>
              <a:ea typeface="Aptos"/>
              <a:cs typeface="Aptos"/>
            </a:endParaRPr>
          </a:p>
        </p:txBody>
      </p:sp>
      <p:sp>
        <p:nvSpPr>
          <p:cNvPr id="14" name="Rectángulo: esquinas redondeadas 13">
            <a:extLst>
              <a:ext uri="{FF2B5EF4-FFF2-40B4-BE49-F238E27FC236}">
                <a16:creationId xmlns:a16="http://schemas.microsoft.com/office/drawing/2014/main" id="{D689C9FB-6397-31B2-E2C8-768957832C07}"/>
              </a:ext>
            </a:extLst>
          </p:cNvPr>
          <p:cNvSpPr>
            <a:spLocks noGrp="1"/>
          </p:cNvSpPr>
          <p:nvPr/>
        </p:nvSpPr>
        <p:spPr>
          <a:xfrm>
            <a:off x="2381250" y="2286000"/>
            <a:ext cx="1695450" cy="876300"/>
          </a:xfrm>
          <a:prstGeom prst="roundRect">
            <a:avLst>
              <a:gd name="adj" fmla="val 13043"/>
            </a:avLst>
          </a:prstGeom>
          <a:solidFill>
            <a:srgbClr val="FFFFFF"/>
          </a:solidFill>
          <a:ln w="9525">
            <a:solidFill>
              <a:srgbClr val="B8497C"/>
            </a:solidFill>
            <a:prstDash val="solid"/>
          </a:ln>
        </p:spPr>
        <p:txBody>
          <a:bodyPr/>
          <a:lstStyle/>
          <a:p>
            <a:endParaRPr lang="es-MX"/>
          </a:p>
        </p:txBody>
      </p:sp>
      <p:sp>
        <p:nvSpPr>
          <p:cNvPr id="15" name="Rectángulo 14">
            <a:extLst>
              <a:ext uri="{FF2B5EF4-FFF2-40B4-BE49-F238E27FC236}">
                <a16:creationId xmlns:a16="http://schemas.microsoft.com/office/drawing/2014/main" id="{72EBF80E-8BA4-5B29-6EC6-7EA39C647F96}"/>
              </a:ext>
            </a:extLst>
          </p:cNvPr>
          <p:cNvSpPr>
            <a:spLocks noGrp="1"/>
          </p:cNvSpPr>
          <p:nvPr/>
        </p:nvSpPr>
        <p:spPr>
          <a:xfrm>
            <a:off x="2514600" y="2409824"/>
            <a:ext cx="1428750" cy="358249"/>
          </a:xfrm>
          <a:prstGeom prst="rect">
            <a:avLst/>
          </a:prstGeom>
          <a:noFill/>
          <a:ln w="0">
            <a:noFill/>
          </a:ln>
        </p:spPr>
        <p:txBody>
          <a:bodyPr anchor="t">
            <a:normAutofit fontScale="92500" lnSpcReduction="20000"/>
          </a:bodyPr>
          <a:lstStyle/>
          <a:p>
            <a:pPr>
              <a:defRPr sz="1050" b="1" i="0">
                <a:solidFill>
                  <a:srgbClr val="B8497C"/>
                </a:solidFill>
                <a:latin typeface="Aptos"/>
                <a:ea typeface="Aptos"/>
                <a:cs typeface="Aptos"/>
              </a:defRPr>
            </a:pPr>
            <a:r>
              <a:rPr lang="es-MX" sz="1050" b="1" i="0" dirty="0">
                <a:solidFill>
                  <a:srgbClr val="B8497C"/>
                </a:solidFill>
                <a:latin typeface="Aptos"/>
                <a:ea typeface="Aptos"/>
                <a:cs typeface="Aptos"/>
              </a:rPr>
              <a:t>ROUTING PREVIO / </a:t>
            </a:r>
            <a:r>
              <a:rPr sz="1050" b="1" i="0" dirty="0">
                <a:solidFill>
                  <a:srgbClr val="B8497C"/>
                </a:solidFill>
                <a:latin typeface="Aptos"/>
                <a:ea typeface="Aptos"/>
                <a:cs typeface="Aptos"/>
              </a:rPr>
              <a:t>GATES</a:t>
            </a:r>
          </a:p>
        </p:txBody>
      </p:sp>
      <p:sp>
        <p:nvSpPr>
          <p:cNvPr id="16" name="Rectángulo 15">
            <a:extLst>
              <a:ext uri="{FF2B5EF4-FFF2-40B4-BE49-F238E27FC236}">
                <a16:creationId xmlns:a16="http://schemas.microsoft.com/office/drawing/2014/main" id="{090C63CC-00D1-DD20-F92D-99A73DA6D29A}"/>
              </a:ext>
            </a:extLst>
          </p:cNvPr>
          <p:cNvSpPr>
            <a:spLocks noGrp="1"/>
          </p:cNvSpPr>
          <p:nvPr/>
        </p:nvSpPr>
        <p:spPr>
          <a:xfrm>
            <a:off x="2514600" y="2733675"/>
            <a:ext cx="1428750" cy="342900"/>
          </a:xfrm>
          <a:prstGeom prst="rect">
            <a:avLst/>
          </a:prstGeom>
          <a:noFill/>
          <a:ln w="0">
            <a:noFill/>
          </a:ln>
        </p:spPr>
        <p:txBody>
          <a:bodyPr anchor="t">
            <a:normAutofit fontScale="92115"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Decisión</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pendiente</a:t>
            </a:r>
            <a:endParaRPr sz="975"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Case routing + intake</a:t>
            </a:r>
          </a:p>
        </p:txBody>
      </p:sp>
      <p:sp>
        <p:nvSpPr>
          <p:cNvPr id="17" name="Rectángulo: esquinas redondeadas 16">
            <a:extLst>
              <a:ext uri="{FF2B5EF4-FFF2-40B4-BE49-F238E27FC236}">
                <a16:creationId xmlns:a16="http://schemas.microsoft.com/office/drawing/2014/main" id="{6DB581FF-6E46-5A28-52BA-AEF1B49D8CA2}"/>
              </a:ext>
            </a:extLst>
          </p:cNvPr>
          <p:cNvSpPr>
            <a:spLocks noGrp="1"/>
          </p:cNvSpPr>
          <p:nvPr/>
        </p:nvSpPr>
        <p:spPr>
          <a:xfrm>
            <a:off x="4753180" y="1933379"/>
            <a:ext cx="1100965" cy="628649"/>
          </a:xfrm>
          <a:prstGeom prst="roundRect">
            <a:avLst>
              <a:gd name="adj" fmla="val 13043"/>
            </a:avLst>
          </a:prstGeom>
          <a:noFill/>
          <a:ln w="9525">
            <a:solidFill>
              <a:srgbClr val="00B050"/>
            </a:solidFill>
            <a:prstDash val="solid"/>
          </a:ln>
        </p:spPr>
        <p:txBody>
          <a:bodyPr/>
          <a:lstStyle/>
          <a:p>
            <a:endParaRPr lang="es-MX">
              <a:solidFill>
                <a:srgbClr val="00B050"/>
              </a:solidFill>
            </a:endParaRPr>
          </a:p>
        </p:txBody>
      </p:sp>
      <p:sp>
        <p:nvSpPr>
          <p:cNvPr id="18" name="Rectángulo 17">
            <a:extLst>
              <a:ext uri="{FF2B5EF4-FFF2-40B4-BE49-F238E27FC236}">
                <a16:creationId xmlns:a16="http://schemas.microsoft.com/office/drawing/2014/main" id="{BE98A36F-02AD-78DD-03E8-1619D89E11EB}"/>
              </a:ext>
            </a:extLst>
          </p:cNvPr>
          <p:cNvSpPr>
            <a:spLocks noGrp="1"/>
          </p:cNvSpPr>
          <p:nvPr/>
        </p:nvSpPr>
        <p:spPr>
          <a:xfrm>
            <a:off x="4847750" y="2008593"/>
            <a:ext cx="1000125" cy="514750"/>
          </a:xfrm>
          <a:prstGeom prst="rect">
            <a:avLst/>
          </a:prstGeom>
          <a:noFill/>
          <a:ln w="0">
            <a:noFill/>
          </a:ln>
        </p:spPr>
        <p:txBody>
          <a:bodyPr anchor="t">
            <a:normAutofit fontScale="92500" lnSpcReduction="10000"/>
          </a:bodyPr>
          <a:lstStyle/>
          <a:p>
            <a:pPr>
              <a:defRPr sz="1050" b="1" i="0">
                <a:solidFill>
                  <a:srgbClr val="F39A24"/>
                </a:solidFill>
                <a:latin typeface="Aptos"/>
                <a:ea typeface="Aptos"/>
                <a:cs typeface="Aptos"/>
              </a:defRPr>
            </a:pPr>
            <a:r>
              <a:rPr lang="es-MX" sz="1050" b="1" dirty="0">
                <a:solidFill>
                  <a:srgbClr val="00B050"/>
                </a:solidFill>
                <a:latin typeface="Aptos"/>
                <a:ea typeface="Aptos"/>
                <a:cs typeface="Aptos"/>
              </a:rPr>
              <a:t>SALIDA GOBERNADA SIN AGENTE</a:t>
            </a:r>
            <a:endParaRPr sz="1050" b="1" i="0" dirty="0">
              <a:solidFill>
                <a:srgbClr val="00B050"/>
              </a:solidFill>
              <a:latin typeface="Aptos"/>
              <a:ea typeface="Aptos"/>
              <a:cs typeface="Aptos"/>
            </a:endParaRPr>
          </a:p>
        </p:txBody>
      </p:sp>
      <p:sp>
        <p:nvSpPr>
          <p:cNvPr id="20" name="Rectángulo: esquinas redondeadas 19">
            <a:extLst>
              <a:ext uri="{FF2B5EF4-FFF2-40B4-BE49-F238E27FC236}">
                <a16:creationId xmlns:a16="http://schemas.microsoft.com/office/drawing/2014/main" id="{67737165-A35D-765A-E987-6DB5A1536C25}"/>
              </a:ext>
            </a:extLst>
          </p:cNvPr>
          <p:cNvSpPr>
            <a:spLocks noGrp="1"/>
          </p:cNvSpPr>
          <p:nvPr/>
        </p:nvSpPr>
        <p:spPr>
          <a:xfrm>
            <a:off x="6410324" y="2644592"/>
            <a:ext cx="1762125" cy="894551"/>
          </a:xfrm>
          <a:prstGeom prst="roundRect">
            <a:avLst>
              <a:gd name="adj" fmla="val 13043"/>
            </a:avLst>
          </a:prstGeom>
          <a:solidFill>
            <a:srgbClr val="EEE8FF"/>
          </a:solidFill>
          <a:ln w="9525">
            <a:solidFill>
              <a:srgbClr val="00B050"/>
            </a:solidFill>
            <a:prstDash val="solid"/>
          </a:ln>
        </p:spPr>
        <p:txBody>
          <a:bodyPr/>
          <a:lstStyle/>
          <a:p>
            <a:endParaRPr lang="es-MX"/>
          </a:p>
        </p:txBody>
      </p:sp>
      <p:sp>
        <p:nvSpPr>
          <p:cNvPr id="21" name="Rectángulo 20">
            <a:extLst>
              <a:ext uri="{FF2B5EF4-FFF2-40B4-BE49-F238E27FC236}">
                <a16:creationId xmlns:a16="http://schemas.microsoft.com/office/drawing/2014/main" id="{AF22D9A3-D87D-C6B5-5535-F956301B9818}"/>
              </a:ext>
            </a:extLst>
          </p:cNvPr>
          <p:cNvSpPr>
            <a:spLocks noGrp="1"/>
          </p:cNvSpPr>
          <p:nvPr/>
        </p:nvSpPr>
        <p:spPr>
          <a:xfrm>
            <a:off x="6507390" y="2724876"/>
            <a:ext cx="1352550" cy="285750"/>
          </a:xfrm>
          <a:prstGeom prst="rect">
            <a:avLst/>
          </a:prstGeom>
          <a:noFill/>
          <a:ln w="0">
            <a:noFill/>
          </a:ln>
        </p:spPr>
        <p:txBody>
          <a:bodyPr anchor="t">
            <a:normAutofit fontScale="92525"/>
          </a:bodyPr>
          <a:lstStyle/>
          <a:p>
            <a:pPr>
              <a:defRPr sz="1050" b="1" i="0">
                <a:solidFill>
                  <a:srgbClr val="5C2DD2"/>
                </a:solidFill>
                <a:latin typeface="Aptos"/>
                <a:ea typeface="Aptos"/>
                <a:cs typeface="Aptos"/>
              </a:defRPr>
            </a:pPr>
            <a:r>
              <a:rPr lang="es-MX" sz="1050" b="1" i="0" dirty="0">
                <a:solidFill>
                  <a:srgbClr val="00B050"/>
                </a:solidFill>
                <a:latin typeface="Aptos"/>
                <a:ea typeface="Aptos"/>
                <a:cs typeface="Aptos"/>
              </a:rPr>
              <a:t>AGENT </a:t>
            </a:r>
            <a:r>
              <a:rPr lang="es-MX" sz="1050" b="1" i="0" dirty="0" err="1">
                <a:solidFill>
                  <a:srgbClr val="00B050"/>
                </a:solidFill>
                <a:latin typeface="Aptos"/>
                <a:ea typeface="Aptos"/>
                <a:cs typeface="Aptos"/>
              </a:rPr>
              <a:t>Runtime</a:t>
            </a:r>
            <a:endParaRPr sz="1050" b="1" i="0" dirty="0">
              <a:solidFill>
                <a:srgbClr val="00B050"/>
              </a:solidFill>
              <a:latin typeface="Aptos"/>
              <a:ea typeface="Aptos"/>
              <a:cs typeface="Aptos"/>
            </a:endParaRPr>
          </a:p>
        </p:txBody>
      </p:sp>
      <p:sp>
        <p:nvSpPr>
          <p:cNvPr id="22" name="Rectángulo 21">
            <a:extLst>
              <a:ext uri="{FF2B5EF4-FFF2-40B4-BE49-F238E27FC236}">
                <a16:creationId xmlns:a16="http://schemas.microsoft.com/office/drawing/2014/main" id="{A55E57CE-DB28-8DB4-22E7-83D459C29151}"/>
              </a:ext>
            </a:extLst>
          </p:cNvPr>
          <p:cNvSpPr>
            <a:spLocks noGrp="1"/>
          </p:cNvSpPr>
          <p:nvPr/>
        </p:nvSpPr>
        <p:spPr>
          <a:xfrm>
            <a:off x="6478362" y="2954213"/>
            <a:ext cx="1693182" cy="548646"/>
          </a:xfrm>
          <a:prstGeom prst="rect">
            <a:avLst/>
          </a:prstGeom>
          <a:noFill/>
          <a:ln w="0">
            <a:noFill/>
          </a:ln>
        </p:spPr>
        <p:txBody>
          <a:bodyPr anchor="t">
            <a:normAutofit fontScale="92115"/>
          </a:bodyPr>
          <a:lstStyle/>
          <a:p>
            <a:pPr marL="171450" indent="-171450">
              <a:buFont typeface="Arial" panose="020B0604020202020204" pitchFamily="34" charset="0"/>
              <a:buChar char="•"/>
              <a:defRPr sz="975" b="0" i="0">
                <a:solidFill>
                  <a:srgbClr val="756F91"/>
                </a:solidFill>
                <a:latin typeface="Aptos"/>
                <a:ea typeface="Aptos"/>
                <a:cs typeface="Aptos"/>
              </a:defRPr>
            </a:pPr>
            <a:r>
              <a:rPr lang="es-MX" sz="975" dirty="0" err="1">
                <a:solidFill>
                  <a:srgbClr val="756F91"/>
                </a:solidFill>
                <a:latin typeface="Aptos"/>
                <a:ea typeface="Aptos"/>
                <a:cs typeface="Aptos"/>
              </a:rPr>
              <a:t>runAgent</a:t>
            </a:r>
            <a:r>
              <a:rPr lang="es-MX" sz="975" dirty="0">
                <a:solidFill>
                  <a:srgbClr val="756F91"/>
                </a:solidFill>
                <a:latin typeface="Aptos"/>
                <a:ea typeface="Aptos"/>
                <a:cs typeface="Aptos"/>
              </a:rPr>
              <a:t> (</a:t>
            </a:r>
            <a:r>
              <a:rPr lang="en-US" sz="975" dirty="0">
                <a:solidFill>
                  <a:srgbClr val="756F91"/>
                </a:solidFill>
                <a:latin typeface="Aptos"/>
                <a:ea typeface="Aptos"/>
                <a:cs typeface="Aptos"/>
              </a:rPr>
              <a:t>Skill selection → </a:t>
            </a:r>
            <a:r>
              <a:rPr lang="en-US" sz="975" dirty="0" err="1">
                <a:solidFill>
                  <a:srgbClr val="756F91"/>
                </a:solidFill>
                <a:latin typeface="Aptos"/>
                <a:ea typeface="Aptos"/>
                <a:cs typeface="Aptos"/>
              </a:rPr>
              <a:t>contexto</a:t>
            </a:r>
            <a:r>
              <a:rPr lang="en-US" sz="975" dirty="0">
                <a:solidFill>
                  <a:srgbClr val="756F91"/>
                </a:solidFill>
                <a:latin typeface="Aptos"/>
                <a:ea typeface="Aptos"/>
                <a:cs typeface="Aptos"/>
              </a:rPr>
              <a:t> y tools/policy) +</a:t>
            </a:r>
          </a:p>
          <a:p>
            <a:pPr marL="171450" indent="-171450">
              <a:buFont typeface="Arial" panose="020B0604020202020204" pitchFamily="34" charset="0"/>
              <a:buChar char="•"/>
              <a:defRPr sz="975" b="0" i="0">
                <a:solidFill>
                  <a:srgbClr val="756F91"/>
                </a:solidFill>
                <a:latin typeface="Aptos"/>
                <a:ea typeface="Aptos"/>
                <a:cs typeface="Aptos"/>
              </a:defRPr>
            </a:pPr>
            <a:r>
              <a:rPr lang="es-MX" sz="975" b="0" i="0" dirty="0" err="1">
                <a:solidFill>
                  <a:srgbClr val="756F91"/>
                </a:solidFill>
                <a:latin typeface="Aptos"/>
                <a:ea typeface="Aptos"/>
                <a:cs typeface="Aptos"/>
              </a:rPr>
              <a:t>StateGraph</a:t>
            </a:r>
            <a:endParaRPr sz="975" b="0" i="0" dirty="0">
              <a:solidFill>
                <a:srgbClr val="756F91"/>
              </a:solidFill>
              <a:latin typeface="Aptos"/>
              <a:ea typeface="Aptos"/>
              <a:cs typeface="Aptos"/>
            </a:endParaRPr>
          </a:p>
        </p:txBody>
      </p:sp>
      <p:cxnSp>
        <p:nvCxnSpPr>
          <p:cNvPr id="81" name="Conector recto de flecha 80">
            <a:extLst>
              <a:ext uri="{FF2B5EF4-FFF2-40B4-BE49-F238E27FC236}">
                <a16:creationId xmlns:a16="http://schemas.microsoft.com/office/drawing/2014/main" id="{C2E82171-7B4E-8B9B-E02B-E37A7D247E8F}"/>
              </a:ext>
            </a:extLst>
          </p:cNvPr>
          <p:cNvCxnSpPr>
            <a:stCxn id="11" idx="3"/>
            <a:endCxn id="14" idx="1"/>
          </p:cNvCxnSpPr>
          <p:nvPr/>
        </p:nvCxnSpPr>
        <p:spPr>
          <a:xfrm>
            <a:off x="2047875" y="2724150"/>
            <a:ext cx="333375" cy="0"/>
          </a:xfrm>
          <a:prstGeom prst="straightConnector1">
            <a:avLst/>
          </a:prstGeom>
          <a:ln w="19050">
            <a:solidFill>
              <a:srgbClr val="009566"/>
            </a:solidFill>
            <a:prstDash val="solid"/>
            <a:tailEnd type="arrow" w="med" len="med"/>
          </a:ln>
        </p:spPr>
      </p:cxnSp>
      <p:cxnSp>
        <p:nvCxnSpPr>
          <p:cNvPr id="82" name="Conector recto de flecha 81">
            <a:extLst>
              <a:ext uri="{FF2B5EF4-FFF2-40B4-BE49-F238E27FC236}">
                <a16:creationId xmlns:a16="http://schemas.microsoft.com/office/drawing/2014/main" id="{03823C96-E6DA-267F-3D07-FE9B25A44FB0}"/>
              </a:ext>
            </a:extLst>
          </p:cNvPr>
          <p:cNvCxnSpPr>
            <a:cxnSpLocks/>
            <a:stCxn id="14" idx="3"/>
            <a:endCxn id="17" idx="1"/>
          </p:cNvCxnSpPr>
          <p:nvPr/>
        </p:nvCxnSpPr>
        <p:spPr>
          <a:xfrm flipV="1">
            <a:off x="4076700" y="2247704"/>
            <a:ext cx="676480" cy="476446"/>
          </a:xfrm>
          <a:prstGeom prst="straightConnector1">
            <a:avLst/>
          </a:prstGeom>
          <a:ln w="19050">
            <a:solidFill>
              <a:srgbClr val="00B050"/>
            </a:solidFill>
            <a:prstDash val="solid"/>
            <a:tailEnd type="arrow" w="med" len="med"/>
          </a:ln>
        </p:spPr>
      </p:cxnSp>
      <p:cxnSp>
        <p:nvCxnSpPr>
          <p:cNvPr id="83" name="Conector recto de flecha 82">
            <a:extLst>
              <a:ext uri="{FF2B5EF4-FFF2-40B4-BE49-F238E27FC236}">
                <a16:creationId xmlns:a16="http://schemas.microsoft.com/office/drawing/2014/main" id="{A457A323-B7DE-6519-B5FE-56287EF03526}"/>
              </a:ext>
            </a:extLst>
          </p:cNvPr>
          <p:cNvCxnSpPr>
            <a:cxnSpLocks/>
            <a:stCxn id="67" idx="3"/>
            <a:endCxn id="20" idx="1"/>
          </p:cNvCxnSpPr>
          <p:nvPr/>
        </p:nvCxnSpPr>
        <p:spPr>
          <a:xfrm>
            <a:off x="5889967" y="3089601"/>
            <a:ext cx="520357" cy="2267"/>
          </a:xfrm>
          <a:prstGeom prst="straightConnector1">
            <a:avLst/>
          </a:prstGeom>
          <a:ln w="19050">
            <a:solidFill>
              <a:srgbClr val="5C2DD2"/>
            </a:solidFill>
            <a:prstDash val="solid"/>
            <a:tailEnd type="arrow" w="med" len="med"/>
          </a:ln>
        </p:spPr>
      </p:cxnSp>
      <p:sp>
        <p:nvSpPr>
          <p:cNvPr id="26" name="Rectángulo: esquinas redondeadas 25">
            <a:extLst>
              <a:ext uri="{FF2B5EF4-FFF2-40B4-BE49-F238E27FC236}">
                <a16:creationId xmlns:a16="http://schemas.microsoft.com/office/drawing/2014/main" id="{5A0B633B-269C-FF8E-FC5E-8DA4E7750446}"/>
              </a:ext>
            </a:extLst>
          </p:cNvPr>
          <p:cNvSpPr>
            <a:spLocks noGrp="1"/>
          </p:cNvSpPr>
          <p:nvPr/>
        </p:nvSpPr>
        <p:spPr>
          <a:xfrm>
            <a:off x="8429625" y="1771650"/>
            <a:ext cx="3095625" cy="1796522"/>
          </a:xfrm>
          <a:prstGeom prst="roundRect">
            <a:avLst>
              <a:gd name="adj" fmla="val 9375"/>
            </a:avLst>
          </a:prstGeom>
          <a:solidFill>
            <a:srgbClr val="FFFFFF"/>
          </a:solidFill>
          <a:ln w="9525">
            <a:solidFill>
              <a:srgbClr val="00B050"/>
            </a:solidFill>
            <a:prstDash val="solid"/>
          </a:ln>
        </p:spPr>
        <p:txBody>
          <a:bodyPr/>
          <a:lstStyle/>
          <a:p>
            <a:endParaRPr lang="es-MX"/>
          </a:p>
        </p:txBody>
      </p:sp>
      <p:sp>
        <p:nvSpPr>
          <p:cNvPr id="27" name="Rectángulo 26">
            <a:extLst>
              <a:ext uri="{FF2B5EF4-FFF2-40B4-BE49-F238E27FC236}">
                <a16:creationId xmlns:a16="http://schemas.microsoft.com/office/drawing/2014/main" id="{3181ABE6-D509-46BF-35CA-970E9DBAD734}"/>
              </a:ext>
            </a:extLst>
          </p:cNvPr>
          <p:cNvSpPr>
            <a:spLocks noGrp="1"/>
          </p:cNvSpPr>
          <p:nvPr/>
        </p:nvSpPr>
        <p:spPr>
          <a:xfrm>
            <a:off x="8562975" y="1815889"/>
            <a:ext cx="2828925" cy="285750"/>
          </a:xfrm>
          <a:prstGeom prst="rect">
            <a:avLst/>
          </a:prstGeom>
          <a:noFill/>
          <a:ln w="0">
            <a:noFill/>
          </a:ln>
        </p:spPr>
        <p:txBody>
          <a:bodyPr anchor="t">
            <a:normAutofit/>
          </a:bodyPr>
          <a:lstStyle/>
          <a:p>
            <a:pPr>
              <a:defRPr sz="1050" b="1" i="0">
                <a:solidFill>
                  <a:srgbClr val="009566"/>
                </a:solidFill>
                <a:latin typeface="Aptos"/>
                <a:ea typeface="Aptos"/>
                <a:cs typeface="Aptos"/>
              </a:defRPr>
            </a:pPr>
            <a:r>
              <a:rPr sz="1050" b="1" i="0" dirty="0">
                <a:solidFill>
                  <a:srgbClr val="009566"/>
                </a:solidFill>
                <a:latin typeface="Aptos"/>
                <a:ea typeface="Aptos"/>
                <a:cs typeface="Aptos"/>
              </a:rPr>
              <a:t>DESTINOS ACTUALES</a:t>
            </a:r>
          </a:p>
        </p:txBody>
      </p:sp>
      <p:sp>
        <p:nvSpPr>
          <p:cNvPr id="28" name="Rectángulo 27">
            <a:extLst>
              <a:ext uri="{FF2B5EF4-FFF2-40B4-BE49-F238E27FC236}">
                <a16:creationId xmlns:a16="http://schemas.microsoft.com/office/drawing/2014/main" id="{5CF8731C-80FF-72D7-8179-0BA472FFA652}"/>
              </a:ext>
            </a:extLst>
          </p:cNvPr>
          <p:cNvSpPr>
            <a:spLocks noGrp="1"/>
          </p:cNvSpPr>
          <p:nvPr/>
        </p:nvSpPr>
        <p:spPr>
          <a:xfrm>
            <a:off x="8562975" y="2177142"/>
            <a:ext cx="2828925" cy="1289578"/>
          </a:xfrm>
          <a:prstGeom prst="rect">
            <a:avLst/>
          </a:prstGeom>
          <a:noFill/>
          <a:ln w="0">
            <a:noFill/>
          </a:ln>
        </p:spPr>
        <p:txBody>
          <a:bodyPr anchor="t">
            <a:normAutofit fontScale="92500" lnSpcReduction="20000"/>
          </a:bodyPr>
          <a:lstStyle/>
          <a:p>
            <a:pPr>
              <a:defRPr sz="1050" b="0" i="0">
                <a:solidFill>
                  <a:srgbClr val="756F91"/>
                </a:solidFill>
                <a:latin typeface="Aptos"/>
                <a:ea typeface="Aptos"/>
                <a:cs typeface="Aptos"/>
              </a:defRPr>
            </a:pPr>
            <a:r>
              <a:rPr lang="es-ES" sz="1050" b="0" i="0" dirty="0">
                <a:solidFill>
                  <a:srgbClr val="756F91"/>
                </a:solidFill>
                <a:latin typeface="Aptos"/>
                <a:ea typeface="Aptos"/>
                <a:cs typeface="Aptos"/>
              </a:rPr>
              <a:t>Salidas sin agente: </a:t>
            </a:r>
          </a:p>
          <a:p>
            <a:pPr marL="171450" indent="-171450">
              <a:buFont typeface="Arial" panose="020B0604020202020204" pitchFamily="34" charset="0"/>
              <a:buChar char="•"/>
              <a:defRPr sz="1050" b="0" i="0">
                <a:solidFill>
                  <a:srgbClr val="756F91"/>
                </a:solidFill>
                <a:latin typeface="Aptos"/>
                <a:ea typeface="Aptos"/>
                <a:cs typeface="Aptos"/>
              </a:defRPr>
            </a:pPr>
            <a:r>
              <a:rPr lang="es-ES" sz="1050" b="0" i="0" dirty="0">
                <a:solidFill>
                  <a:srgbClr val="756F91"/>
                </a:solidFill>
                <a:latin typeface="Aptos"/>
                <a:ea typeface="Aptos"/>
                <a:cs typeface="Aptos"/>
              </a:rPr>
              <a:t>respuesta directa </a:t>
            </a:r>
          </a:p>
          <a:p>
            <a:pPr marL="171450" indent="-171450">
              <a:buFont typeface="Arial" panose="020B0604020202020204" pitchFamily="34" charset="0"/>
              <a:buChar char="•"/>
              <a:defRPr sz="1050" b="0" i="0">
                <a:solidFill>
                  <a:srgbClr val="756F91"/>
                </a:solidFill>
                <a:latin typeface="Aptos"/>
                <a:ea typeface="Aptos"/>
                <a:cs typeface="Aptos"/>
              </a:defRPr>
            </a:pPr>
            <a:r>
              <a:rPr lang="es-ES" sz="1050" dirty="0">
                <a:solidFill>
                  <a:srgbClr val="756F91"/>
                </a:solidFill>
                <a:latin typeface="Aptos"/>
                <a:ea typeface="Aptos"/>
                <a:cs typeface="Aptos"/>
              </a:rPr>
              <a:t>Short-</a:t>
            </a:r>
            <a:r>
              <a:rPr lang="es-ES" sz="1050" dirty="0" err="1">
                <a:solidFill>
                  <a:srgbClr val="756F91"/>
                </a:solidFill>
                <a:latin typeface="Aptos"/>
                <a:ea typeface="Aptos"/>
                <a:cs typeface="Aptos"/>
              </a:rPr>
              <a:t>circuit</a:t>
            </a:r>
            <a:r>
              <a:rPr lang="es-ES" sz="1050" dirty="0">
                <a:solidFill>
                  <a:srgbClr val="756F91"/>
                </a:solidFill>
                <a:latin typeface="Aptos"/>
                <a:ea typeface="Aptos"/>
                <a:cs typeface="Aptos"/>
              </a:rPr>
              <a:t> por decisión o </a:t>
            </a:r>
            <a:r>
              <a:rPr lang="es-ES" sz="1050" dirty="0" err="1">
                <a:solidFill>
                  <a:srgbClr val="756F91"/>
                </a:solidFill>
                <a:latin typeface="Aptos"/>
                <a:ea typeface="Aptos"/>
                <a:cs typeface="Aptos"/>
              </a:rPr>
              <a:t>intake</a:t>
            </a:r>
            <a:endParaRPr lang="es-ES" sz="1050" dirty="0">
              <a:solidFill>
                <a:srgbClr val="756F91"/>
              </a:solidFill>
              <a:latin typeface="Aptos"/>
              <a:ea typeface="Aptos"/>
              <a:cs typeface="Aptos"/>
            </a:endParaRPr>
          </a:p>
          <a:p>
            <a:pPr>
              <a:defRPr sz="1050" b="0" i="0">
                <a:solidFill>
                  <a:srgbClr val="756F91"/>
                </a:solidFill>
                <a:latin typeface="Aptos"/>
                <a:ea typeface="Aptos"/>
                <a:cs typeface="Aptos"/>
              </a:defRPr>
            </a:pPr>
            <a:endParaRPr lang="es-ES" sz="1050" b="0" i="0" dirty="0">
              <a:solidFill>
                <a:srgbClr val="756F91"/>
              </a:solidFill>
              <a:latin typeface="Aptos"/>
              <a:ea typeface="Aptos"/>
              <a:cs typeface="Aptos"/>
            </a:endParaRPr>
          </a:p>
          <a:p>
            <a:pPr>
              <a:defRPr sz="1050" b="0" i="0">
                <a:solidFill>
                  <a:srgbClr val="756F91"/>
                </a:solidFill>
                <a:latin typeface="Aptos"/>
                <a:ea typeface="Aptos"/>
                <a:cs typeface="Aptos"/>
              </a:defRPr>
            </a:pPr>
            <a:r>
              <a:rPr lang="es-ES" sz="1050" b="0" i="0" dirty="0">
                <a:solidFill>
                  <a:srgbClr val="756F91"/>
                </a:solidFill>
                <a:latin typeface="Aptos"/>
                <a:ea typeface="Aptos"/>
                <a:cs typeface="Aptos"/>
              </a:rPr>
              <a:t>Agent </a:t>
            </a:r>
            <a:r>
              <a:rPr lang="es-ES" sz="1050" b="0" i="0" dirty="0" err="1">
                <a:solidFill>
                  <a:srgbClr val="756F91"/>
                </a:solidFill>
                <a:latin typeface="Aptos"/>
                <a:ea typeface="Aptos"/>
                <a:cs typeface="Aptos"/>
              </a:rPr>
              <a:t>Runtime</a:t>
            </a:r>
            <a:r>
              <a:rPr lang="es-ES" sz="1050" b="0" i="0" dirty="0">
                <a:solidFill>
                  <a:srgbClr val="756F91"/>
                </a:solidFill>
                <a:latin typeface="Aptos"/>
                <a:ea typeface="Aptos"/>
                <a:cs typeface="Aptos"/>
              </a:rPr>
              <a:t>: </a:t>
            </a:r>
          </a:p>
          <a:p>
            <a:pPr marL="171450" indent="-171450">
              <a:buFont typeface="Arial" panose="020B0604020202020204" pitchFamily="34" charset="0"/>
              <a:buChar char="•"/>
              <a:defRPr sz="1050" b="0" i="0">
                <a:solidFill>
                  <a:srgbClr val="756F91"/>
                </a:solidFill>
                <a:latin typeface="Aptos"/>
                <a:ea typeface="Aptos"/>
                <a:cs typeface="Aptos"/>
              </a:defRPr>
            </a:pPr>
            <a:r>
              <a:rPr lang="es-ES" sz="1050" b="0" i="0" dirty="0">
                <a:solidFill>
                  <a:srgbClr val="756F91"/>
                </a:solidFill>
                <a:latin typeface="Aptos"/>
                <a:ea typeface="Aptos"/>
                <a:cs typeface="Aptos"/>
              </a:rPr>
              <a:t>analítica (ej. </a:t>
            </a:r>
            <a:r>
              <a:rPr lang="es-ES" sz="1050" b="0" i="0" dirty="0" err="1">
                <a:solidFill>
                  <a:srgbClr val="756F91"/>
                </a:solidFill>
                <a:latin typeface="Aptos"/>
                <a:ea typeface="Aptos"/>
                <a:cs typeface="Aptos"/>
              </a:rPr>
              <a:t>BigQuery</a:t>
            </a:r>
            <a:r>
              <a:rPr lang="es-ES" sz="1050" b="0" i="0" dirty="0">
                <a:solidFill>
                  <a:srgbClr val="756F91"/>
                </a:solidFill>
                <a:latin typeface="Aptos"/>
                <a:ea typeface="Aptos"/>
                <a:cs typeface="Aptos"/>
              </a:rPr>
              <a:t>)</a:t>
            </a:r>
          </a:p>
          <a:p>
            <a:pPr marL="171450" indent="-171450">
              <a:buFont typeface="Arial" panose="020B0604020202020204" pitchFamily="34" charset="0"/>
              <a:buChar char="•"/>
              <a:defRPr sz="1050" b="0" i="0">
                <a:solidFill>
                  <a:srgbClr val="756F91"/>
                </a:solidFill>
                <a:latin typeface="Aptos"/>
                <a:ea typeface="Aptos"/>
                <a:cs typeface="Aptos"/>
              </a:defRPr>
            </a:pPr>
            <a:r>
              <a:rPr lang="es-ES" sz="1050" b="0" i="0" dirty="0" err="1">
                <a:solidFill>
                  <a:srgbClr val="756F91"/>
                </a:solidFill>
                <a:latin typeface="Aptos"/>
                <a:ea typeface="Aptos"/>
                <a:cs typeface="Aptos"/>
              </a:rPr>
              <a:t>tools</a:t>
            </a:r>
            <a:r>
              <a:rPr lang="es-ES" sz="1050" b="0" i="0" dirty="0">
                <a:solidFill>
                  <a:srgbClr val="756F91"/>
                </a:solidFill>
                <a:latin typeface="Aptos"/>
                <a:ea typeface="Aptos"/>
                <a:cs typeface="Aptos"/>
              </a:rPr>
              <a:t>/integraciones, </a:t>
            </a:r>
          </a:p>
          <a:p>
            <a:pPr marL="171450" indent="-171450">
              <a:buFont typeface="Arial" panose="020B0604020202020204" pitchFamily="34" charset="0"/>
              <a:buChar char="•"/>
              <a:defRPr sz="1050" b="0" i="0">
                <a:solidFill>
                  <a:srgbClr val="756F91"/>
                </a:solidFill>
                <a:latin typeface="Aptos"/>
                <a:ea typeface="Aptos"/>
                <a:cs typeface="Aptos"/>
              </a:defRPr>
            </a:pPr>
            <a:r>
              <a:rPr lang="es-ES" sz="1050" b="0" i="0" dirty="0">
                <a:solidFill>
                  <a:srgbClr val="756F91"/>
                </a:solidFill>
                <a:latin typeface="Aptos"/>
                <a:ea typeface="Aptos"/>
                <a:cs typeface="Aptos"/>
              </a:rPr>
              <a:t>respuesta conversacional, </a:t>
            </a:r>
          </a:p>
          <a:p>
            <a:pPr marL="171450" indent="-171450">
              <a:buFont typeface="Arial" panose="020B0604020202020204" pitchFamily="34" charset="0"/>
              <a:buChar char="•"/>
              <a:defRPr sz="1050" b="0" i="0">
                <a:solidFill>
                  <a:srgbClr val="756F91"/>
                </a:solidFill>
                <a:latin typeface="Aptos"/>
                <a:ea typeface="Aptos"/>
                <a:cs typeface="Aptos"/>
              </a:defRPr>
            </a:pPr>
            <a:r>
              <a:rPr lang="es-ES" sz="1050" b="0" i="0" dirty="0">
                <a:solidFill>
                  <a:srgbClr val="756F91"/>
                </a:solidFill>
                <a:latin typeface="Aptos"/>
                <a:ea typeface="Aptos"/>
                <a:cs typeface="Aptos"/>
              </a:rPr>
              <a:t>continuación de Case operacional</a:t>
            </a:r>
            <a:endParaRPr sz="1050" b="0" i="0" dirty="0">
              <a:solidFill>
                <a:srgbClr val="756F91"/>
              </a:solidFill>
              <a:latin typeface="Aptos"/>
              <a:ea typeface="Aptos"/>
              <a:cs typeface="Aptos"/>
            </a:endParaRPr>
          </a:p>
        </p:txBody>
      </p:sp>
      <p:cxnSp>
        <p:nvCxnSpPr>
          <p:cNvPr id="87" name="Conector recto de flecha 86">
            <a:extLst>
              <a:ext uri="{FF2B5EF4-FFF2-40B4-BE49-F238E27FC236}">
                <a16:creationId xmlns:a16="http://schemas.microsoft.com/office/drawing/2014/main" id="{EFAEBBC4-67FE-3EBC-A9C8-603229DA7534}"/>
              </a:ext>
            </a:extLst>
          </p:cNvPr>
          <p:cNvCxnSpPr>
            <a:cxnSpLocks/>
            <a:stCxn id="20" idx="3"/>
          </p:cNvCxnSpPr>
          <p:nvPr/>
        </p:nvCxnSpPr>
        <p:spPr>
          <a:xfrm flipV="1">
            <a:off x="8172449" y="3082742"/>
            <a:ext cx="257176" cy="9126"/>
          </a:xfrm>
          <a:prstGeom prst="straightConnector1">
            <a:avLst/>
          </a:prstGeom>
          <a:ln w="19050">
            <a:solidFill>
              <a:srgbClr val="009566"/>
            </a:solidFill>
            <a:prstDash val="solid"/>
            <a:tailEnd type="arrow" w="med" len="med"/>
          </a:ln>
        </p:spPr>
      </p:cxnSp>
      <p:sp>
        <p:nvSpPr>
          <p:cNvPr id="30" name="Rectángulo 29">
            <a:extLst>
              <a:ext uri="{FF2B5EF4-FFF2-40B4-BE49-F238E27FC236}">
                <a16:creationId xmlns:a16="http://schemas.microsoft.com/office/drawing/2014/main" id="{E3C266E7-02F1-2000-0AB8-388C9D5C030A}"/>
              </a:ext>
            </a:extLst>
          </p:cNvPr>
          <p:cNvSpPr>
            <a:spLocks noGrp="1"/>
          </p:cNvSpPr>
          <p:nvPr/>
        </p:nvSpPr>
        <p:spPr>
          <a:xfrm>
            <a:off x="571500" y="3638550"/>
            <a:ext cx="3429000" cy="228600"/>
          </a:xfrm>
          <a:prstGeom prst="rect">
            <a:avLst/>
          </a:prstGeom>
          <a:noFill/>
          <a:ln w="0">
            <a:noFill/>
          </a:ln>
        </p:spPr>
        <p:txBody>
          <a:bodyPr anchor="t">
            <a:normAutofit fontScale="85714"/>
          </a:bodyPr>
          <a:lstStyle/>
          <a:p>
            <a:pPr>
              <a:defRPr sz="1050" b="1" i="0">
                <a:solidFill>
                  <a:srgbClr val="F39A24"/>
                </a:solidFill>
                <a:latin typeface="Aptos"/>
                <a:ea typeface="Aptos"/>
                <a:cs typeface="Aptos"/>
              </a:defRPr>
            </a:pPr>
            <a:r>
              <a:rPr sz="1050" b="1" i="0">
                <a:solidFill>
                  <a:srgbClr val="F39A24"/>
                </a:solidFill>
                <a:latin typeface="Aptos"/>
                <a:ea typeface="Aptos"/>
                <a:cs typeface="Aptos"/>
              </a:rPr>
              <a:t>PROSPECTO · BROWNFIELD HACIA R1</a:t>
            </a:r>
          </a:p>
        </p:txBody>
      </p:sp>
      <p:sp>
        <p:nvSpPr>
          <p:cNvPr id="31" name="Rectángulo: esquinas redondeadas 30">
            <a:extLst>
              <a:ext uri="{FF2B5EF4-FFF2-40B4-BE49-F238E27FC236}">
                <a16:creationId xmlns:a16="http://schemas.microsoft.com/office/drawing/2014/main" id="{C8E76633-8852-C069-9013-5EC54A68DC2D}"/>
              </a:ext>
            </a:extLst>
          </p:cNvPr>
          <p:cNvSpPr>
            <a:spLocks noGrp="1"/>
          </p:cNvSpPr>
          <p:nvPr/>
        </p:nvSpPr>
        <p:spPr>
          <a:xfrm>
            <a:off x="571500" y="3943350"/>
            <a:ext cx="1476375" cy="876300"/>
          </a:xfrm>
          <a:prstGeom prst="roundRect">
            <a:avLst>
              <a:gd name="adj" fmla="val 13043"/>
            </a:avLst>
          </a:prstGeom>
          <a:solidFill>
            <a:srgbClr val="F4F3F7"/>
          </a:solidFill>
          <a:ln w="9525">
            <a:solidFill>
              <a:srgbClr val="756F91"/>
            </a:solidFill>
            <a:prstDash val="solid"/>
          </a:ln>
        </p:spPr>
        <p:txBody>
          <a:bodyPr/>
          <a:lstStyle/>
          <a:p>
            <a:endParaRPr lang="es-MX"/>
          </a:p>
        </p:txBody>
      </p:sp>
      <p:sp>
        <p:nvSpPr>
          <p:cNvPr id="32" name="Rectángulo 31">
            <a:extLst>
              <a:ext uri="{FF2B5EF4-FFF2-40B4-BE49-F238E27FC236}">
                <a16:creationId xmlns:a16="http://schemas.microsoft.com/office/drawing/2014/main" id="{14570EF7-D1D6-E434-15A4-C781608859A6}"/>
              </a:ext>
            </a:extLst>
          </p:cNvPr>
          <p:cNvSpPr>
            <a:spLocks noGrp="1"/>
          </p:cNvSpPr>
          <p:nvPr/>
        </p:nvSpPr>
        <p:spPr>
          <a:xfrm>
            <a:off x="704850" y="4067175"/>
            <a:ext cx="1209675" cy="285750"/>
          </a:xfrm>
          <a:prstGeom prst="rect">
            <a:avLst/>
          </a:prstGeom>
          <a:noFill/>
          <a:ln w="0">
            <a:noFill/>
          </a:ln>
        </p:spPr>
        <p:txBody>
          <a:bodyPr anchor="t">
            <a:normAutofit/>
          </a:bodyPr>
          <a:lstStyle/>
          <a:p>
            <a:pPr>
              <a:defRPr sz="1050" b="1" i="0">
                <a:solidFill>
                  <a:srgbClr val="211D31"/>
                </a:solidFill>
                <a:latin typeface="Aptos"/>
                <a:ea typeface="Aptos"/>
                <a:cs typeface="Aptos"/>
              </a:defRPr>
            </a:pPr>
            <a:r>
              <a:rPr sz="1050" b="1" i="0">
                <a:solidFill>
                  <a:srgbClr val="211D31"/>
                </a:solidFill>
                <a:latin typeface="Aptos"/>
                <a:ea typeface="Aptos"/>
                <a:cs typeface="Aptos"/>
              </a:rPr>
              <a:t>PROSPECTO</a:t>
            </a:r>
          </a:p>
        </p:txBody>
      </p:sp>
      <p:sp>
        <p:nvSpPr>
          <p:cNvPr id="33" name="Rectángulo 32">
            <a:extLst>
              <a:ext uri="{FF2B5EF4-FFF2-40B4-BE49-F238E27FC236}">
                <a16:creationId xmlns:a16="http://schemas.microsoft.com/office/drawing/2014/main" id="{28369863-A77A-FB64-88BF-5D5E556D7B6B}"/>
              </a:ext>
            </a:extLst>
          </p:cNvPr>
          <p:cNvSpPr>
            <a:spLocks noGrp="1"/>
          </p:cNvSpPr>
          <p:nvPr/>
        </p:nvSpPr>
        <p:spPr>
          <a:xfrm>
            <a:off x="704850" y="4391025"/>
            <a:ext cx="1209675" cy="342900"/>
          </a:xfrm>
          <a:prstGeom prst="rect">
            <a:avLst/>
          </a:prstGeom>
          <a:noFill/>
          <a:ln w="0">
            <a:noFill/>
          </a:ln>
        </p:spPr>
        <p:txBody>
          <a:bodyPr anchor="t">
            <a:normAutofit fontScale="84615"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WhatsApp y </a:t>
            </a:r>
            <a:r>
              <a:rPr sz="975" b="0" i="0" dirty="0" err="1">
                <a:solidFill>
                  <a:srgbClr val="756F91"/>
                </a:solidFill>
                <a:latin typeface="Aptos"/>
                <a:ea typeface="Aptos"/>
                <a:cs typeface="Aptos"/>
              </a:rPr>
              <a:t>señales</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operativas</a:t>
            </a:r>
            <a:endParaRPr sz="975" b="0" i="0" dirty="0">
              <a:solidFill>
                <a:srgbClr val="756F91"/>
              </a:solidFill>
              <a:latin typeface="Aptos"/>
              <a:ea typeface="Aptos"/>
              <a:cs typeface="Aptos"/>
            </a:endParaRPr>
          </a:p>
        </p:txBody>
      </p:sp>
      <p:sp>
        <p:nvSpPr>
          <p:cNvPr id="34" name="Rectángulo: esquinas redondeadas 33">
            <a:extLst>
              <a:ext uri="{FF2B5EF4-FFF2-40B4-BE49-F238E27FC236}">
                <a16:creationId xmlns:a16="http://schemas.microsoft.com/office/drawing/2014/main" id="{2C4F9E49-2C2F-DA16-7A37-4899D2946F92}"/>
              </a:ext>
            </a:extLst>
          </p:cNvPr>
          <p:cNvSpPr>
            <a:spLocks noGrp="1"/>
          </p:cNvSpPr>
          <p:nvPr/>
        </p:nvSpPr>
        <p:spPr>
          <a:xfrm>
            <a:off x="2381250" y="3943350"/>
            <a:ext cx="1695450" cy="876300"/>
          </a:xfrm>
          <a:prstGeom prst="roundRect">
            <a:avLst>
              <a:gd name="adj" fmla="val 13043"/>
            </a:avLst>
          </a:prstGeom>
          <a:solidFill>
            <a:srgbClr val="E3F5ED"/>
          </a:solidFill>
          <a:ln w="9525">
            <a:solidFill>
              <a:srgbClr val="009566"/>
            </a:solidFill>
            <a:prstDash val="solid"/>
          </a:ln>
        </p:spPr>
        <p:txBody>
          <a:bodyPr/>
          <a:lstStyle/>
          <a:p>
            <a:endParaRPr lang="es-MX"/>
          </a:p>
        </p:txBody>
      </p:sp>
      <p:sp>
        <p:nvSpPr>
          <p:cNvPr id="35" name="Rectángulo 34">
            <a:extLst>
              <a:ext uri="{FF2B5EF4-FFF2-40B4-BE49-F238E27FC236}">
                <a16:creationId xmlns:a16="http://schemas.microsoft.com/office/drawing/2014/main" id="{9B68D9DF-5CFB-35AC-C99B-29CDD5AA16AF}"/>
              </a:ext>
            </a:extLst>
          </p:cNvPr>
          <p:cNvSpPr>
            <a:spLocks noGrp="1"/>
          </p:cNvSpPr>
          <p:nvPr/>
        </p:nvSpPr>
        <p:spPr>
          <a:xfrm>
            <a:off x="2514600" y="4067175"/>
            <a:ext cx="1428750" cy="285750"/>
          </a:xfrm>
          <a:prstGeom prst="rect">
            <a:avLst/>
          </a:prstGeom>
          <a:noFill/>
          <a:ln w="0">
            <a:noFill/>
          </a:ln>
        </p:spPr>
        <p:txBody>
          <a:bodyPr anchor="t">
            <a:normAutofit/>
          </a:bodyPr>
          <a:lstStyle/>
          <a:p>
            <a:pPr>
              <a:defRPr sz="1050" b="1" i="0">
                <a:solidFill>
                  <a:srgbClr val="009566"/>
                </a:solidFill>
                <a:latin typeface="Aptos"/>
                <a:ea typeface="Aptos"/>
                <a:cs typeface="Aptos"/>
              </a:defRPr>
            </a:pPr>
            <a:r>
              <a:rPr sz="1050" b="1" i="0">
                <a:solidFill>
                  <a:srgbClr val="009566"/>
                </a:solidFill>
                <a:latin typeface="Aptos"/>
                <a:ea typeface="Aptos"/>
                <a:cs typeface="Aptos"/>
              </a:rPr>
              <a:t>TRADITIONAL GU</a:t>
            </a:r>
          </a:p>
        </p:txBody>
      </p:sp>
      <p:sp>
        <p:nvSpPr>
          <p:cNvPr id="36" name="Rectángulo 35">
            <a:extLst>
              <a:ext uri="{FF2B5EF4-FFF2-40B4-BE49-F238E27FC236}">
                <a16:creationId xmlns:a16="http://schemas.microsoft.com/office/drawing/2014/main" id="{40F7E01F-5AFF-103F-9D32-7BE7398B0749}"/>
              </a:ext>
            </a:extLst>
          </p:cNvPr>
          <p:cNvSpPr>
            <a:spLocks noGrp="1"/>
          </p:cNvSpPr>
          <p:nvPr/>
        </p:nvSpPr>
        <p:spPr>
          <a:xfrm>
            <a:off x="2514600" y="4391025"/>
            <a:ext cx="1428750" cy="342900"/>
          </a:xfrm>
          <a:prstGeom prst="rect">
            <a:avLst/>
          </a:prstGeom>
          <a:noFill/>
          <a:ln w="0">
            <a:noFill/>
          </a:ln>
        </p:spPr>
        <p:txBody>
          <a:bodyPr anchor="t">
            <a:normAutofit fontScale="92115"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Conversación</a:t>
            </a:r>
            <a:r>
              <a:rPr sz="975" b="0" i="0" dirty="0">
                <a:solidFill>
                  <a:srgbClr val="756F91"/>
                </a:solidFill>
                <a:latin typeface="Aptos"/>
                <a:ea typeface="Aptos"/>
                <a:cs typeface="Aptos"/>
              </a:rPr>
              <a:t> y </a:t>
            </a:r>
            <a:r>
              <a:rPr sz="975" b="0" i="0" dirty="0" err="1">
                <a:solidFill>
                  <a:srgbClr val="756F91"/>
                </a:solidFill>
                <a:latin typeface="Aptos"/>
                <a:ea typeface="Aptos"/>
                <a:cs typeface="Aptos"/>
              </a:rPr>
              <a:t>fuentes</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actuales</a:t>
            </a:r>
            <a:endParaRPr sz="975" b="0" i="0" dirty="0">
              <a:solidFill>
                <a:srgbClr val="756F91"/>
              </a:solidFill>
              <a:latin typeface="Aptos"/>
              <a:ea typeface="Aptos"/>
              <a:cs typeface="Aptos"/>
            </a:endParaRPr>
          </a:p>
        </p:txBody>
      </p:sp>
      <p:sp>
        <p:nvSpPr>
          <p:cNvPr id="37" name="Rectángulo: esquinas redondeadas 36">
            <a:extLst>
              <a:ext uri="{FF2B5EF4-FFF2-40B4-BE49-F238E27FC236}">
                <a16:creationId xmlns:a16="http://schemas.microsoft.com/office/drawing/2014/main" id="{58220745-8459-B47E-F73E-2693608B5D5B}"/>
              </a:ext>
            </a:extLst>
          </p:cNvPr>
          <p:cNvSpPr>
            <a:spLocks noGrp="1"/>
          </p:cNvSpPr>
          <p:nvPr/>
        </p:nvSpPr>
        <p:spPr>
          <a:xfrm>
            <a:off x="4410075" y="3943350"/>
            <a:ext cx="1666875" cy="876300"/>
          </a:xfrm>
          <a:prstGeom prst="roundRect">
            <a:avLst>
              <a:gd name="adj" fmla="val 13043"/>
            </a:avLst>
          </a:prstGeom>
          <a:solidFill>
            <a:srgbClr val="E3F5ED"/>
          </a:solidFill>
          <a:ln w="9525">
            <a:solidFill>
              <a:srgbClr val="009566"/>
            </a:solidFill>
            <a:prstDash val="solid"/>
          </a:ln>
        </p:spPr>
        <p:txBody>
          <a:bodyPr/>
          <a:lstStyle/>
          <a:p>
            <a:endParaRPr lang="es-MX"/>
          </a:p>
        </p:txBody>
      </p:sp>
      <p:sp>
        <p:nvSpPr>
          <p:cNvPr id="38" name="Rectángulo 37">
            <a:extLst>
              <a:ext uri="{FF2B5EF4-FFF2-40B4-BE49-F238E27FC236}">
                <a16:creationId xmlns:a16="http://schemas.microsoft.com/office/drawing/2014/main" id="{BB899E04-0CA2-2FA1-9E92-3C4DF126FBD8}"/>
              </a:ext>
            </a:extLst>
          </p:cNvPr>
          <p:cNvSpPr>
            <a:spLocks noGrp="1"/>
          </p:cNvSpPr>
          <p:nvPr/>
        </p:nvSpPr>
        <p:spPr>
          <a:xfrm>
            <a:off x="4543425" y="4067175"/>
            <a:ext cx="1400175" cy="285750"/>
          </a:xfrm>
          <a:prstGeom prst="rect">
            <a:avLst/>
          </a:prstGeom>
          <a:noFill/>
          <a:ln w="0">
            <a:noFill/>
          </a:ln>
        </p:spPr>
        <p:txBody>
          <a:bodyPr anchor="t">
            <a:normAutofit fontScale="98125"/>
          </a:bodyPr>
          <a:lstStyle/>
          <a:p>
            <a:pPr>
              <a:defRPr sz="1050" b="1" i="0">
                <a:solidFill>
                  <a:srgbClr val="009566"/>
                </a:solidFill>
                <a:latin typeface="Aptos"/>
                <a:ea typeface="Aptos"/>
                <a:cs typeface="Aptos"/>
              </a:defRPr>
            </a:pPr>
            <a:r>
              <a:rPr sz="1050" b="1" i="0">
                <a:solidFill>
                  <a:srgbClr val="009566"/>
                </a:solidFill>
                <a:latin typeface="Aptos"/>
                <a:ea typeface="Aptos"/>
                <a:cs typeface="Aptos"/>
              </a:rPr>
              <a:t>EVENTO / GATEWAY</a:t>
            </a:r>
          </a:p>
        </p:txBody>
      </p:sp>
      <p:sp>
        <p:nvSpPr>
          <p:cNvPr id="39" name="Rectángulo 38">
            <a:extLst>
              <a:ext uri="{FF2B5EF4-FFF2-40B4-BE49-F238E27FC236}">
                <a16:creationId xmlns:a16="http://schemas.microsoft.com/office/drawing/2014/main" id="{EDA59F30-8A9D-C5C8-5AAA-5803FA6F6218}"/>
              </a:ext>
            </a:extLst>
          </p:cNvPr>
          <p:cNvSpPr>
            <a:spLocks noGrp="1"/>
          </p:cNvSpPr>
          <p:nvPr/>
        </p:nvSpPr>
        <p:spPr>
          <a:xfrm>
            <a:off x="4543425" y="4391025"/>
            <a:ext cx="1400175" cy="342900"/>
          </a:xfrm>
          <a:prstGeom prst="rect">
            <a:avLst/>
          </a:prstGeom>
          <a:noFill/>
          <a:ln w="0">
            <a:noFill/>
          </a:ln>
        </p:spPr>
        <p:txBody>
          <a:bodyPr anchor="t">
            <a:normAutofit fontScale="92115"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Lectura </a:t>
            </a:r>
            <a:r>
              <a:rPr sz="975" b="0" i="0" dirty="0" err="1">
                <a:solidFill>
                  <a:srgbClr val="756F91"/>
                </a:solidFill>
                <a:latin typeface="Aptos"/>
                <a:ea typeface="Aptos"/>
                <a:cs typeface="Aptos"/>
              </a:rPr>
              <a:t>acotada</a:t>
            </a:r>
            <a:r>
              <a:rPr sz="975" b="0" i="0" dirty="0">
                <a:solidFill>
                  <a:srgbClr val="756F91"/>
                </a:solidFill>
                <a:latin typeface="Aptos"/>
                <a:ea typeface="Aptos"/>
                <a:cs typeface="Aptos"/>
              </a:rPr>
              <a:t> y provenance</a:t>
            </a:r>
          </a:p>
        </p:txBody>
      </p:sp>
      <p:sp>
        <p:nvSpPr>
          <p:cNvPr id="40" name="Rectángulo: esquinas redondeadas 39">
            <a:extLst>
              <a:ext uri="{FF2B5EF4-FFF2-40B4-BE49-F238E27FC236}">
                <a16:creationId xmlns:a16="http://schemas.microsoft.com/office/drawing/2014/main" id="{F91D6C6A-1542-9EF6-8EEE-A4CF516640F6}"/>
              </a:ext>
            </a:extLst>
          </p:cNvPr>
          <p:cNvSpPr>
            <a:spLocks noGrp="1"/>
          </p:cNvSpPr>
          <p:nvPr/>
        </p:nvSpPr>
        <p:spPr>
          <a:xfrm>
            <a:off x="6410325" y="3943350"/>
            <a:ext cx="1619250" cy="876300"/>
          </a:xfrm>
          <a:prstGeom prst="roundRect">
            <a:avLst>
              <a:gd name="adj" fmla="val 13043"/>
            </a:avLst>
          </a:prstGeom>
          <a:solidFill>
            <a:srgbClr val="FFF0D7"/>
          </a:solidFill>
          <a:ln w="9525">
            <a:solidFill>
              <a:srgbClr val="F39A24"/>
            </a:solidFill>
            <a:prstDash val="solid"/>
          </a:ln>
        </p:spPr>
        <p:txBody>
          <a:bodyPr/>
          <a:lstStyle/>
          <a:p>
            <a:endParaRPr lang="es-MX"/>
          </a:p>
        </p:txBody>
      </p:sp>
      <p:sp>
        <p:nvSpPr>
          <p:cNvPr id="41" name="Rectángulo 40">
            <a:extLst>
              <a:ext uri="{FF2B5EF4-FFF2-40B4-BE49-F238E27FC236}">
                <a16:creationId xmlns:a16="http://schemas.microsoft.com/office/drawing/2014/main" id="{2E33EEA3-5EA5-663E-A634-188A20D1D523}"/>
              </a:ext>
            </a:extLst>
          </p:cNvPr>
          <p:cNvSpPr>
            <a:spLocks noGrp="1"/>
          </p:cNvSpPr>
          <p:nvPr/>
        </p:nvSpPr>
        <p:spPr>
          <a:xfrm>
            <a:off x="6543675" y="4067175"/>
            <a:ext cx="1352550" cy="285750"/>
          </a:xfrm>
          <a:prstGeom prst="rect">
            <a:avLst/>
          </a:prstGeom>
          <a:noFill/>
          <a:ln w="0">
            <a:noFill/>
          </a:ln>
        </p:spPr>
        <p:txBody>
          <a:bodyPr anchor="t">
            <a:normAutofit/>
          </a:bodyPr>
          <a:lstStyle/>
          <a:p>
            <a:pPr>
              <a:defRPr sz="1050" b="1" i="0">
                <a:solidFill>
                  <a:srgbClr val="F39A24"/>
                </a:solidFill>
                <a:latin typeface="Aptos"/>
                <a:ea typeface="Aptos"/>
                <a:cs typeface="Aptos"/>
              </a:defRPr>
            </a:pPr>
            <a:r>
              <a:rPr sz="1050" b="1" i="0">
                <a:solidFill>
                  <a:srgbClr val="F39A24"/>
                </a:solidFill>
                <a:latin typeface="Aptos"/>
                <a:ea typeface="Aptos"/>
                <a:cs typeface="Aptos"/>
              </a:rPr>
              <a:t>ADMISIÓN R1</a:t>
            </a:r>
          </a:p>
        </p:txBody>
      </p:sp>
      <p:sp>
        <p:nvSpPr>
          <p:cNvPr id="42" name="Rectángulo 41">
            <a:extLst>
              <a:ext uri="{FF2B5EF4-FFF2-40B4-BE49-F238E27FC236}">
                <a16:creationId xmlns:a16="http://schemas.microsoft.com/office/drawing/2014/main" id="{4186531E-C754-BA74-D9A1-EB4C76AA94A4}"/>
              </a:ext>
            </a:extLst>
          </p:cNvPr>
          <p:cNvSpPr>
            <a:spLocks noGrp="1"/>
          </p:cNvSpPr>
          <p:nvPr/>
        </p:nvSpPr>
        <p:spPr>
          <a:xfrm>
            <a:off x="6543675" y="4391025"/>
            <a:ext cx="1352550" cy="342900"/>
          </a:xfrm>
          <a:prstGeom prst="rect">
            <a:avLst/>
          </a:prstGeom>
          <a:noFill/>
          <a:ln w="0">
            <a:noFill/>
          </a:ln>
        </p:spPr>
        <p:txBody>
          <a:bodyPr anchor="t">
            <a:normAutofit fontScale="92115"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Policy, </a:t>
            </a:r>
            <a:r>
              <a:rPr sz="975" b="0" i="0" dirty="0" err="1">
                <a:solidFill>
                  <a:srgbClr val="756F91"/>
                </a:solidFill>
                <a:latin typeface="Aptos"/>
                <a:ea typeface="Aptos"/>
                <a:cs typeface="Aptos"/>
              </a:rPr>
              <a:t>continuidad</a:t>
            </a:r>
            <a:r>
              <a:rPr sz="975" b="0" i="0" dirty="0">
                <a:solidFill>
                  <a:srgbClr val="756F91"/>
                </a:solidFill>
                <a:latin typeface="Aptos"/>
                <a:ea typeface="Aptos"/>
                <a:cs typeface="Aptos"/>
              </a:rPr>
              <a:t> y Case shadow</a:t>
            </a:r>
          </a:p>
        </p:txBody>
      </p:sp>
      <p:sp>
        <p:nvSpPr>
          <p:cNvPr id="43" name="Rectángulo: esquinas redondeadas 42">
            <a:extLst>
              <a:ext uri="{FF2B5EF4-FFF2-40B4-BE49-F238E27FC236}">
                <a16:creationId xmlns:a16="http://schemas.microsoft.com/office/drawing/2014/main" id="{87061AF0-CFD8-1EF3-31E6-8742B95D31AB}"/>
              </a:ext>
            </a:extLst>
          </p:cNvPr>
          <p:cNvSpPr>
            <a:spLocks noGrp="1"/>
          </p:cNvSpPr>
          <p:nvPr/>
        </p:nvSpPr>
        <p:spPr>
          <a:xfrm>
            <a:off x="8429625" y="3943350"/>
            <a:ext cx="3095625" cy="876300"/>
          </a:xfrm>
          <a:prstGeom prst="roundRect">
            <a:avLst>
              <a:gd name="adj" fmla="val 13043"/>
            </a:avLst>
          </a:prstGeom>
          <a:solidFill>
            <a:srgbClr val="EEE8FF"/>
          </a:solidFill>
          <a:ln w="9525">
            <a:solidFill>
              <a:srgbClr val="5C2DD2"/>
            </a:solidFill>
            <a:prstDash val="solid"/>
          </a:ln>
        </p:spPr>
        <p:txBody>
          <a:bodyPr/>
          <a:lstStyle/>
          <a:p>
            <a:endParaRPr lang="es-MX"/>
          </a:p>
        </p:txBody>
      </p:sp>
      <p:sp>
        <p:nvSpPr>
          <p:cNvPr id="44" name="Rectángulo 43">
            <a:extLst>
              <a:ext uri="{FF2B5EF4-FFF2-40B4-BE49-F238E27FC236}">
                <a16:creationId xmlns:a16="http://schemas.microsoft.com/office/drawing/2014/main" id="{249FFAED-ED19-F560-133F-687D3CD046B2}"/>
              </a:ext>
            </a:extLst>
          </p:cNvPr>
          <p:cNvSpPr>
            <a:spLocks noGrp="1"/>
          </p:cNvSpPr>
          <p:nvPr/>
        </p:nvSpPr>
        <p:spPr>
          <a:xfrm>
            <a:off x="8562975" y="4067175"/>
            <a:ext cx="2828925" cy="285750"/>
          </a:xfrm>
          <a:prstGeom prst="rect">
            <a:avLst/>
          </a:prstGeom>
          <a:noFill/>
          <a:ln w="0">
            <a:noFill/>
          </a:ln>
        </p:spPr>
        <p:txBody>
          <a:bodyPr anchor="t">
            <a:normAutofit/>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WAKE-UP / CASE SUPERVISOR</a:t>
            </a:r>
          </a:p>
        </p:txBody>
      </p:sp>
      <p:sp>
        <p:nvSpPr>
          <p:cNvPr id="45" name="Rectángulo 44">
            <a:extLst>
              <a:ext uri="{FF2B5EF4-FFF2-40B4-BE49-F238E27FC236}">
                <a16:creationId xmlns:a16="http://schemas.microsoft.com/office/drawing/2014/main" id="{7D1BB74B-2815-731F-6299-80B65C8E3EC3}"/>
              </a:ext>
            </a:extLst>
          </p:cNvPr>
          <p:cNvSpPr>
            <a:spLocks noGrp="1"/>
          </p:cNvSpPr>
          <p:nvPr/>
        </p:nvSpPr>
        <p:spPr>
          <a:xfrm>
            <a:off x="8562975" y="4391025"/>
            <a:ext cx="2828925" cy="342900"/>
          </a:xfrm>
          <a:prstGeom prst="rect">
            <a:avLst/>
          </a:prstGeom>
          <a:noFill/>
          <a:ln w="0">
            <a:noFill/>
          </a:ln>
        </p:spPr>
        <p:txBody>
          <a:bodyPr anchor="t">
            <a:normAutofit fontScale="88819"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Reconsideración</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situacional</a:t>
            </a:r>
            <a:r>
              <a:rPr sz="975" b="0" i="0" dirty="0">
                <a:solidFill>
                  <a:srgbClr val="756F91"/>
                </a:solidFill>
                <a:latin typeface="Aptos"/>
                <a:ea typeface="Aptos"/>
                <a:cs typeface="Aptos"/>
              </a:rPr>
              <a:t> y </a:t>
            </a:r>
            <a:r>
              <a:rPr sz="975" b="0" i="0" dirty="0" err="1">
                <a:solidFill>
                  <a:srgbClr val="756F91"/>
                </a:solidFill>
                <a:latin typeface="Aptos"/>
                <a:ea typeface="Aptos"/>
                <a:cs typeface="Aptos"/>
              </a:rPr>
              <a:t>futura</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autoridad</a:t>
            </a:r>
            <a:r>
              <a:rPr sz="975" b="0" i="0" dirty="0">
                <a:solidFill>
                  <a:srgbClr val="756F91"/>
                </a:solidFill>
                <a:latin typeface="Aptos"/>
                <a:ea typeface="Aptos"/>
                <a:cs typeface="Aptos"/>
              </a:rPr>
              <a:t> gradual</a:t>
            </a:r>
          </a:p>
        </p:txBody>
      </p:sp>
      <p:cxnSp>
        <p:nvCxnSpPr>
          <p:cNvPr id="104" name="Conector recto de flecha 103">
            <a:extLst>
              <a:ext uri="{FF2B5EF4-FFF2-40B4-BE49-F238E27FC236}">
                <a16:creationId xmlns:a16="http://schemas.microsoft.com/office/drawing/2014/main" id="{56DD4601-9806-D330-3236-34293CA1BC53}"/>
              </a:ext>
            </a:extLst>
          </p:cNvPr>
          <p:cNvCxnSpPr>
            <a:stCxn id="31" idx="3"/>
            <a:endCxn id="34" idx="1"/>
          </p:cNvCxnSpPr>
          <p:nvPr/>
        </p:nvCxnSpPr>
        <p:spPr>
          <a:xfrm>
            <a:off x="2047875" y="4381500"/>
            <a:ext cx="333375" cy="0"/>
          </a:xfrm>
          <a:prstGeom prst="straightConnector1">
            <a:avLst/>
          </a:prstGeom>
          <a:ln w="19050">
            <a:solidFill>
              <a:srgbClr val="756F91"/>
            </a:solidFill>
            <a:prstDash val="solid"/>
            <a:tailEnd type="arrow" w="med" len="med"/>
          </a:ln>
        </p:spPr>
      </p:cxnSp>
      <p:cxnSp>
        <p:nvCxnSpPr>
          <p:cNvPr id="105" name="Conector recto de flecha 104">
            <a:extLst>
              <a:ext uri="{FF2B5EF4-FFF2-40B4-BE49-F238E27FC236}">
                <a16:creationId xmlns:a16="http://schemas.microsoft.com/office/drawing/2014/main" id="{72DFD636-1863-CF30-F69E-9508ACB1DB1E}"/>
              </a:ext>
            </a:extLst>
          </p:cNvPr>
          <p:cNvCxnSpPr>
            <a:stCxn id="34" idx="3"/>
            <a:endCxn id="37" idx="1"/>
          </p:cNvCxnSpPr>
          <p:nvPr/>
        </p:nvCxnSpPr>
        <p:spPr>
          <a:xfrm>
            <a:off x="4076700" y="4381500"/>
            <a:ext cx="333375" cy="0"/>
          </a:xfrm>
          <a:prstGeom prst="straightConnector1">
            <a:avLst/>
          </a:prstGeom>
          <a:ln w="19050">
            <a:solidFill>
              <a:srgbClr val="009566"/>
            </a:solidFill>
            <a:prstDash val="solid"/>
            <a:tailEnd type="arrow" w="med" len="med"/>
          </a:ln>
        </p:spPr>
      </p:cxnSp>
      <p:cxnSp>
        <p:nvCxnSpPr>
          <p:cNvPr id="106" name="Conector recto de flecha 105">
            <a:extLst>
              <a:ext uri="{FF2B5EF4-FFF2-40B4-BE49-F238E27FC236}">
                <a16:creationId xmlns:a16="http://schemas.microsoft.com/office/drawing/2014/main" id="{EB1AC143-05CA-CA57-C934-393FB1B9BE5B}"/>
              </a:ext>
            </a:extLst>
          </p:cNvPr>
          <p:cNvCxnSpPr>
            <a:stCxn id="37" idx="3"/>
            <a:endCxn id="40" idx="1"/>
          </p:cNvCxnSpPr>
          <p:nvPr/>
        </p:nvCxnSpPr>
        <p:spPr>
          <a:xfrm>
            <a:off x="6076950" y="4381500"/>
            <a:ext cx="333375" cy="0"/>
          </a:xfrm>
          <a:prstGeom prst="straightConnector1">
            <a:avLst/>
          </a:prstGeom>
          <a:ln w="19050">
            <a:solidFill>
              <a:srgbClr val="F39A24"/>
            </a:solidFill>
            <a:prstDash val="solid"/>
            <a:tailEnd type="arrow" w="med" len="med"/>
          </a:ln>
        </p:spPr>
      </p:cxnSp>
      <p:cxnSp>
        <p:nvCxnSpPr>
          <p:cNvPr id="107" name="Conector recto de flecha 106">
            <a:extLst>
              <a:ext uri="{FF2B5EF4-FFF2-40B4-BE49-F238E27FC236}">
                <a16:creationId xmlns:a16="http://schemas.microsoft.com/office/drawing/2014/main" id="{E0C8662D-3458-31AC-30C1-3EECA303BE32}"/>
              </a:ext>
            </a:extLst>
          </p:cNvPr>
          <p:cNvCxnSpPr>
            <a:stCxn id="40" idx="3"/>
            <a:endCxn id="43" idx="1"/>
          </p:cNvCxnSpPr>
          <p:nvPr/>
        </p:nvCxnSpPr>
        <p:spPr>
          <a:xfrm>
            <a:off x="8029575" y="4381500"/>
            <a:ext cx="400050" cy="0"/>
          </a:xfrm>
          <a:prstGeom prst="straightConnector1">
            <a:avLst/>
          </a:prstGeom>
          <a:ln w="19050">
            <a:solidFill>
              <a:srgbClr val="5C2DD2"/>
            </a:solidFill>
            <a:prstDash val="dash"/>
            <a:tailEnd type="arrow" w="med" len="med"/>
          </a:ln>
        </p:spPr>
      </p:cxnSp>
      <p:sp>
        <p:nvSpPr>
          <p:cNvPr id="50" name="Rectángulo: esquinas redondeadas 49">
            <a:extLst>
              <a:ext uri="{FF2B5EF4-FFF2-40B4-BE49-F238E27FC236}">
                <a16:creationId xmlns:a16="http://schemas.microsoft.com/office/drawing/2014/main" id="{454D11DD-826C-31E5-2785-9064471DF2AB}"/>
              </a:ext>
            </a:extLst>
          </p:cNvPr>
          <p:cNvSpPr>
            <a:spLocks noGrp="1"/>
          </p:cNvSpPr>
          <p:nvPr/>
        </p:nvSpPr>
        <p:spPr>
          <a:xfrm>
            <a:off x="571500" y="5219700"/>
            <a:ext cx="10953750" cy="628650"/>
          </a:xfrm>
          <a:prstGeom prst="roundRect">
            <a:avLst>
              <a:gd name="adj" fmla="val 15152"/>
            </a:avLst>
          </a:prstGeom>
          <a:solidFill>
            <a:srgbClr val="211D31"/>
          </a:solidFill>
          <a:ln w="9525">
            <a:solidFill>
              <a:srgbClr val="211D31"/>
            </a:solidFill>
            <a:prstDash val="solid"/>
          </a:ln>
        </p:spPr>
        <p:txBody>
          <a:bodyPr/>
          <a:lstStyle/>
          <a:p>
            <a:endParaRPr lang="es-MX"/>
          </a:p>
        </p:txBody>
      </p:sp>
      <p:sp>
        <p:nvSpPr>
          <p:cNvPr id="51" name="Rectángulo 50">
            <a:extLst>
              <a:ext uri="{FF2B5EF4-FFF2-40B4-BE49-F238E27FC236}">
                <a16:creationId xmlns:a16="http://schemas.microsoft.com/office/drawing/2014/main" id="{AA60BAE7-108B-15AE-152F-9ABB5AC4FA88}"/>
              </a:ext>
            </a:extLst>
          </p:cNvPr>
          <p:cNvSpPr>
            <a:spLocks noGrp="1"/>
          </p:cNvSpPr>
          <p:nvPr/>
        </p:nvSpPr>
        <p:spPr>
          <a:xfrm>
            <a:off x="781050" y="5343525"/>
            <a:ext cx="3143250" cy="209550"/>
          </a:xfrm>
          <a:prstGeom prst="rect">
            <a:avLst/>
          </a:prstGeom>
          <a:noFill/>
          <a:ln w="0">
            <a:noFill/>
          </a:ln>
        </p:spPr>
        <p:txBody>
          <a:bodyPr anchor="t">
            <a:noAutofit/>
          </a:bodyPr>
          <a:lstStyle/>
          <a:p>
            <a:pPr>
              <a:defRPr sz="1200" b="1" i="0">
                <a:solidFill>
                  <a:srgbClr val="F39A24"/>
                </a:solidFill>
                <a:latin typeface="Aptos"/>
                <a:ea typeface="Aptos"/>
                <a:cs typeface="Aptos"/>
              </a:defRPr>
            </a:pPr>
            <a:r>
              <a:rPr sz="1200" b="1" i="0" dirty="0">
                <a:solidFill>
                  <a:srgbClr val="F39A24"/>
                </a:solidFill>
                <a:latin typeface="Aptos"/>
                <a:ea typeface="Aptos"/>
                <a:cs typeface="Aptos"/>
              </a:rPr>
              <a:t>No </a:t>
            </a:r>
            <a:r>
              <a:rPr sz="1200" b="1" i="0" dirty="0" err="1">
                <a:solidFill>
                  <a:srgbClr val="F39A24"/>
                </a:solidFill>
                <a:latin typeface="Aptos"/>
                <a:ea typeface="Aptos"/>
                <a:cs typeface="Aptos"/>
              </a:rPr>
              <a:t>toda</a:t>
            </a:r>
            <a:r>
              <a:rPr sz="1200" b="1" i="0" dirty="0">
                <a:solidFill>
                  <a:srgbClr val="F39A24"/>
                </a:solidFill>
                <a:latin typeface="Aptos"/>
                <a:ea typeface="Aptos"/>
                <a:cs typeface="Aptos"/>
              </a:rPr>
              <a:t> </a:t>
            </a:r>
            <a:r>
              <a:rPr sz="1200" b="1" i="0" dirty="0" err="1">
                <a:solidFill>
                  <a:srgbClr val="F39A24"/>
                </a:solidFill>
                <a:latin typeface="Aptos"/>
                <a:ea typeface="Aptos"/>
                <a:cs typeface="Aptos"/>
              </a:rPr>
              <a:t>interacción</a:t>
            </a:r>
            <a:r>
              <a:rPr sz="1200" b="1" i="0" dirty="0">
                <a:solidFill>
                  <a:srgbClr val="F39A24"/>
                </a:solidFill>
                <a:latin typeface="Aptos"/>
                <a:ea typeface="Aptos"/>
                <a:cs typeface="Aptos"/>
              </a:rPr>
              <a:t> </a:t>
            </a:r>
            <a:r>
              <a:rPr sz="1200" b="1" i="0" dirty="0" err="1">
                <a:solidFill>
                  <a:srgbClr val="F39A24"/>
                </a:solidFill>
                <a:latin typeface="Aptos"/>
                <a:ea typeface="Aptos"/>
                <a:cs typeface="Aptos"/>
              </a:rPr>
              <a:t>llega</a:t>
            </a:r>
            <a:r>
              <a:rPr sz="1200" b="1" i="0" dirty="0">
                <a:solidFill>
                  <a:srgbClr val="F39A24"/>
                </a:solidFill>
                <a:latin typeface="Aptos"/>
                <a:ea typeface="Aptos"/>
                <a:cs typeface="Aptos"/>
              </a:rPr>
              <a:t> al </a:t>
            </a:r>
            <a:r>
              <a:rPr sz="1200" b="1" i="0" dirty="0" err="1">
                <a:solidFill>
                  <a:srgbClr val="F39A24"/>
                </a:solidFill>
                <a:latin typeface="Aptos"/>
                <a:ea typeface="Aptos"/>
                <a:cs typeface="Aptos"/>
              </a:rPr>
              <a:t>StateGraph</a:t>
            </a:r>
            <a:endParaRPr sz="1200" b="1" i="0" dirty="0">
              <a:solidFill>
                <a:srgbClr val="F39A24"/>
              </a:solidFill>
              <a:latin typeface="Aptos"/>
              <a:ea typeface="Aptos"/>
              <a:cs typeface="Aptos"/>
            </a:endParaRPr>
          </a:p>
        </p:txBody>
      </p:sp>
      <p:sp>
        <p:nvSpPr>
          <p:cNvPr id="52" name="Rectángulo 51">
            <a:extLst>
              <a:ext uri="{FF2B5EF4-FFF2-40B4-BE49-F238E27FC236}">
                <a16:creationId xmlns:a16="http://schemas.microsoft.com/office/drawing/2014/main" id="{1C1D8C2E-B73B-6BF0-B486-D50936D1D792}"/>
              </a:ext>
            </a:extLst>
          </p:cNvPr>
          <p:cNvSpPr>
            <a:spLocks noGrp="1"/>
          </p:cNvSpPr>
          <p:nvPr/>
        </p:nvSpPr>
        <p:spPr>
          <a:xfrm>
            <a:off x="3886200" y="5314950"/>
            <a:ext cx="7429500" cy="323850"/>
          </a:xfrm>
          <a:prstGeom prst="rect">
            <a:avLst/>
          </a:prstGeom>
          <a:noFill/>
          <a:ln w="0">
            <a:noFill/>
          </a:ln>
        </p:spPr>
        <p:txBody>
          <a:bodyPr anchor="t">
            <a:noAutofit/>
          </a:bodyPr>
          <a:lstStyle/>
          <a:p>
            <a:pPr>
              <a:defRPr sz="1200" b="1" i="0">
                <a:solidFill>
                  <a:srgbClr val="FFFFFF"/>
                </a:solidFill>
                <a:latin typeface="Aptos"/>
                <a:ea typeface="Aptos"/>
                <a:cs typeface="Aptos"/>
              </a:defRPr>
            </a:pPr>
            <a:r>
              <a:rPr lang="es-ES" sz="1200" b="1" i="0" dirty="0">
                <a:solidFill>
                  <a:srgbClr val="FFFFFF"/>
                </a:solidFill>
                <a:latin typeface="Aptos"/>
                <a:ea typeface="Aptos"/>
                <a:cs typeface="Aptos"/>
              </a:rPr>
              <a:t>Los gates pueden responder primero. Cuando se requiere al agente, </a:t>
            </a:r>
            <a:r>
              <a:rPr lang="es-ES" sz="1200" b="1" i="0" dirty="0" err="1">
                <a:solidFill>
                  <a:srgbClr val="FFFFFF"/>
                </a:solidFill>
                <a:latin typeface="Aptos"/>
                <a:ea typeface="Aptos"/>
                <a:cs typeface="Aptos"/>
              </a:rPr>
              <a:t>runAgent</a:t>
            </a:r>
            <a:r>
              <a:rPr lang="es-ES" sz="1200" b="1" i="0" dirty="0">
                <a:solidFill>
                  <a:srgbClr val="FFFFFF"/>
                </a:solidFill>
                <a:latin typeface="Aptos"/>
                <a:ea typeface="Aptos"/>
                <a:cs typeface="Aptos"/>
              </a:rPr>
              <a:t> convierte el mensaje efectivo en una entrada preparada para el </a:t>
            </a:r>
            <a:r>
              <a:rPr lang="es-ES" sz="1200" b="1" i="0" dirty="0" err="1">
                <a:solidFill>
                  <a:srgbClr val="FFFFFF"/>
                </a:solidFill>
                <a:latin typeface="Aptos"/>
                <a:ea typeface="Aptos"/>
                <a:cs typeface="Aptos"/>
              </a:rPr>
              <a:t>StateGraph</a:t>
            </a:r>
            <a:r>
              <a:rPr sz="1200" b="1" i="0" dirty="0">
                <a:solidFill>
                  <a:srgbClr val="FFFFFF"/>
                </a:solidFill>
                <a:latin typeface="Aptos"/>
                <a:ea typeface="Aptos"/>
                <a:cs typeface="Aptos"/>
              </a:rPr>
              <a:t>.</a:t>
            </a:r>
          </a:p>
        </p:txBody>
      </p:sp>
      <p:sp>
        <p:nvSpPr>
          <p:cNvPr id="53" name="Elipse 52">
            <a:extLst>
              <a:ext uri="{FF2B5EF4-FFF2-40B4-BE49-F238E27FC236}">
                <a16:creationId xmlns:a16="http://schemas.microsoft.com/office/drawing/2014/main" id="{5AB7C951-0463-02A3-7A5B-7A1E08CBA8B3}"/>
              </a:ext>
            </a:extLst>
          </p:cNvPr>
          <p:cNvSpPr>
            <a:spLocks noGrp="1"/>
          </p:cNvSpPr>
          <p:nvPr/>
        </p:nvSpPr>
        <p:spPr>
          <a:xfrm>
            <a:off x="571500" y="6115050"/>
            <a:ext cx="95250" cy="95250"/>
          </a:xfrm>
          <a:prstGeom prst="ellipse">
            <a:avLst/>
          </a:prstGeom>
          <a:solidFill>
            <a:srgbClr val="009566"/>
          </a:solidFill>
          <a:ln w="0">
            <a:solidFill>
              <a:srgbClr val="009566"/>
            </a:solidFill>
          </a:ln>
        </p:spPr>
        <p:txBody>
          <a:bodyPr/>
          <a:lstStyle/>
          <a:p>
            <a:endParaRPr lang="es-MX"/>
          </a:p>
        </p:txBody>
      </p:sp>
      <p:sp>
        <p:nvSpPr>
          <p:cNvPr id="54" name="Rectángulo 53">
            <a:extLst>
              <a:ext uri="{FF2B5EF4-FFF2-40B4-BE49-F238E27FC236}">
                <a16:creationId xmlns:a16="http://schemas.microsoft.com/office/drawing/2014/main" id="{0C32D896-4E5E-C2EE-6B5F-F4897EB0D50E}"/>
              </a:ext>
            </a:extLst>
          </p:cNvPr>
          <p:cNvSpPr>
            <a:spLocks noGrp="1"/>
          </p:cNvSpPr>
          <p:nvPr/>
        </p:nvSpPr>
        <p:spPr>
          <a:xfrm>
            <a:off x="723900" y="6076950"/>
            <a:ext cx="230505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implementado / conectado</a:t>
            </a:r>
          </a:p>
        </p:txBody>
      </p:sp>
      <p:sp>
        <p:nvSpPr>
          <p:cNvPr id="55" name="Elipse 54">
            <a:extLst>
              <a:ext uri="{FF2B5EF4-FFF2-40B4-BE49-F238E27FC236}">
                <a16:creationId xmlns:a16="http://schemas.microsoft.com/office/drawing/2014/main" id="{1DC0B80D-5C53-CEC6-CB61-AA2601A82785}"/>
              </a:ext>
            </a:extLst>
          </p:cNvPr>
          <p:cNvSpPr>
            <a:spLocks noGrp="1"/>
          </p:cNvSpPr>
          <p:nvPr/>
        </p:nvSpPr>
        <p:spPr>
          <a:xfrm>
            <a:off x="3143250" y="6115050"/>
            <a:ext cx="95250" cy="95250"/>
          </a:xfrm>
          <a:prstGeom prst="ellipse">
            <a:avLst/>
          </a:prstGeom>
          <a:solidFill>
            <a:srgbClr val="F39A24"/>
          </a:solidFill>
          <a:ln w="0">
            <a:solidFill>
              <a:srgbClr val="F39A24"/>
            </a:solidFill>
          </a:ln>
        </p:spPr>
        <p:txBody>
          <a:bodyPr/>
          <a:lstStyle/>
          <a:p>
            <a:endParaRPr lang="es-MX"/>
          </a:p>
        </p:txBody>
      </p:sp>
      <p:sp>
        <p:nvSpPr>
          <p:cNvPr id="56" name="Rectángulo 55">
            <a:extLst>
              <a:ext uri="{FF2B5EF4-FFF2-40B4-BE49-F238E27FC236}">
                <a16:creationId xmlns:a16="http://schemas.microsoft.com/office/drawing/2014/main" id="{D3AB1F33-6A1C-2758-90F3-6EC93A29BE01}"/>
              </a:ext>
            </a:extLst>
          </p:cNvPr>
          <p:cNvSpPr>
            <a:spLocks noGrp="1"/>
          </p:cNvSpPr>
          <p:nvPr/>
        </p:nvSpPr>
        <p:spPr>
          <a:xfrm>
            <a:off x="3295650" y="6076950"/>
            <a:ext cx="230505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shadow o en construcción</a:t>
            </a:r>
          </a:p>
        </p:txBody>
      </p:sp>
      <p:sp>
        <p:nvSpPr>
          <p:cNvPr id="57" name="Elipse 56">
            <a:extLst>
              <a:ext uri="{FF2B5EF4-FFF2-40B4-BE49-F238E27FC236}">
                <a16:creationId xmlns:a16="http://schemas.microsoft.com/office/drawing/2014/main" id="{96F20680-037B-744B-3EE0-60BAF6400C2B}"/>
              </a:ext>
            </a:extLst>
          </p:cNvPr>
          <p:cNvSpPr>
            <a:spLocks noGrp="1"/>
          </p:cNvSpPr>
          <p:nvPr/>
        </p:nvSpPr>
        <p:spPr>
          <a:xfrm>
            <a:off x="5715000" y="6115050"/>
            <a:ext cx="95250" cy="95250"/>
          </a:xfrm>
          <a:prstGeom prst="ellipse">
            <a:avLst/>
          </a:prstGeom>
          <a:solidFill>
            <a:srgbClr val="5C2DD2"/>
          </a:solidFill>
          <a:ln w="0">
            <a:solidFill>
              <a:srgbClr val="5C2DD2"/>
            </a:solidFill>
          </a:ln>
        </p:spPr>
        <p:txBody>
          <a:bodyPr/>
          <a:lstStyle/>
          <a:p>
            <a:endParaRPr lang="es-MX"/>
          </a:p>
        </p:txBody>
      </p:sp>
      <p:sp>
        <p:nvSpPr>
          <p:cNvPr id="58" name="Rectángulo 57">
            <a:extLst>
              <a:ext uri="{FF2B5EF4-FFF2-40B4-BE49-F238E27FC236}">
                <a16:creationId xmlns:a16="http://schemas.microsoft.com/office/drawing/2014/main" id="{66C0E123-AC83-F05D-432F-3F6C7C2F0022}"/>
              </a:ext>
            </a:extLst>
          </p:cNvPr>
          <p:cNvSpPr>
            <a:spLocks noGrp="1"/>
          </p:cNvSpPr>
          <p:nvPr/>
        </p:nvSpPr>
        <p:spPr>
          <a:xfrm>
            <a:off x="5867400" y="6076950"/>
            <a:ext cx="230505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objetivo sujeto a evidencia</a:t>
            </a:r>
          </a:p>
        </p:txBody>
      </p:sp>
      <p:sp>
        <p:nvSpPr>
          <p:cNvPr id="25" name="Rectángulo 24">
            <a:extLst>
              <a:ext uri="{FF2B5EF4-FFF2-40B4-BE49-F238E27FC236}">
                <a16:creationId xmlns:a16="http://schemas.microsoft.com/office/drawing/2014/main" id="{BAE92D9E-0219-3467-564B-44852BE6A912}"/>
              </a:ext>
            </a:extLst>
          </p:cNvPr>
          <p:cNvSpPr>
            <a:spLocks noGrp="1"/>
          </p:cNvSpPr>
          <p:nvPr/>
        </p:nvSpPr>
        <p:spPr>
          <a:xfrm rot="19423668">
            <a:off x="4029500" y="2161942"/>
            <a:ext cx="680314" cy="195738"/>
          </a:xfrm>
          <a:prstGeom prst="rect">
            <a:avLst/>
          </a:prstGeom>
          <a:noFill/>
          <a:ln w="0">
            <a:noFill/>
          </a:ln>
        </p:spPr>
        <p:txBody>
          <a:bodyPr anchor="t">
            <a:noAutofit/>
          </a:bodyPr>
          <a:lstStyle/>
          <a:p>
            <a:pPr>
              <a:defRPr sz="900" b="1" i="0">
                <a:solidFill>
                  <a:srgbClr val="5C2DD2"/>
                </a:solidFill>
                <a:latin typeface="Aptos"/>
                <a:ea typeface="Aptos"/>
                <a:cs typeface="Aptos"/>
              </a:defRPr>
            </a:pPr>
            <a:r>
              <a:rPr lang="es-MX" sz="800" b="1" dirty="0">
                <a:solidFill>
                  <a:srgbClr val="00B050"/>
                </a:solidFill>
                <a:latin typeface="Aptos"/>
                <a:ea typeface="Aptos"/>
                <a:cs typeface="Aptos"/>
              </a:rPr>
              <a:t>manejado</a:t>
            </a:r>
            <a:endParaRPr sz="800" b="1" i="0" dirty="0">
              <a:solidFill>
                <a:srgbClr val="00B050"/>
              </a:solidFill>
              <a:latin typeface="Aptos"/>
              <a:ea typeface="Aptos"/>
              <a:cs typeface="Aptos"/>
            </a:endParaRPr>
          </a:p>
        </p:txBody>
      </p:sp>
      <p:sp>
        <p:nvSpPr>
          <p:cNvPr id="67" name="Rectángulo: esquinas redondeadas 66">
            <a:extLst>
              <a:ext uri="{FF2B5EF4-FFF2-40B4-BE49-F238E27FC236}">
                <a16:creationId xmlns:a16="http://schemas.microsoft.com/office/drawing/2014/main" id="{F89EC819-BEDB-67EE-160A-93D63420AF22}"/>
              </a:ext>
            </a:extLst>
          </p:cNvPr>
          <p:cNvSpPr>
            <a:spLocks noGrp="1"/>
          </p:cNvSpPr>
          <p:nvPr/>
        </p:nvSpPr>
        <p:spPr>
          <a:xfrm>
            <a:off x="4789002" y="2775276"/>
            <a:ext cx="1100965" cy="628649"/>
          </a:xfrm>
          <a:prstGeom prst="roundRect">
            <a:avLst>
              <a:gd name="adj" fmla="val 13043"/>
            </a:avLst>
          </a:prstGeom>
          <a:noFill/>
          <a:ln w="9525">
            <a:solidFill>
              <a:srgbClr val="00B050"/>
            </a:solidFill>
            <a:prstDash val="solid"/>
          </a:ln>
        </p:spPr>
        <p:txBody>
          <a:bodyPr/>
          <a:lstStyle/>
          <a:p>
            <a:endParaRPr lang="es-MX">
              <a:solidFill>
                <a:srgbClr val="00B050"/>
              </a:solidFill>
            </a:endParaRPr>
          </a:p>
        </p:txBody>
      </p:sp>
      <p:sp>
        <p:nvSpPr>
          <p:cNvPr id="69" name="Rectángulo 68">
            <a:extLst>
              <a:ext uri="{FF2B5EF4-FFF2-40B4-BE49-F238E27FC236}">
                <a16:creationId xmlns:a16="http://schemas.microsoft.com/office/drawing/2014/main" id="{CBB42055-E90D-59EA-D186-96886C9F45E8}"/>
              </a:ext>
            </a:extLst>
          </p:cNvPr>
          <p:cNvSpPr>
            <a:spLocks noGrp="1"/>
          </p:cNvSpPr>
          <p:nvPr/>
        </p:nvSpPr>
        <p:spPr>
          <a:xfrm>
            <a:off x="4883572" y="2850490"/>
            <a:ext cx="1000125" cy="514750"/>
          </a:xfrm>
          <a:prstGeom prst="rect">
            <a:avLst/>
          </a:prstGeom>
          <a:noFill/>
          <a:ln w="0">
            <a:noFill/>
          </a:ln>
        </p:spPr>
        <p:txBody>
          <a:bodyPr anchor="t">
            <a:normAutofit fontScale="92500" lnSpcReduction="10000"/>
          </a:bodyPr>
          <a:lstStyle/>
          <a:p>
            <a:pPr>
              <a:defRPr sz="1050" b="1" i="0">
                <a:solidFill>
                  <a:srgbClr val="F39A24"/>
                </a:solidFill>
                <a:latin typeface="Aptos"/>
                <a:ea typeface="Aptos"/>
                <a:cs typeface="Aptos"/>
              </a:defRPr>
            </a:pPr>
            <a:r>
              <a:rPr lang="es-MX" sz="1050" b="1" dirty="0">
                <a:solidFill>
                  <a:srgbClr val="00B050"/>
                </a:solidFill>
                <a:latin typeface="Aptos"/>
                <a:ea typeface="Aptos"/>
                <a:cs typeface="Aptos"/>
              </a:rPr>
              <a:t>MENSAJE EFECTIVO PARA AGENTE</a:t>
            </a:r>
            <a:endParaRPr sz="1050" b="1" i="0" dirty="0">
              <a:solidFill>
                <a:srgbClr val="00B050"/>
              </a:solidFill>
              <a:latin typeface="Aptos"/>
              <a:ea typeface="Aptos"/>
              <a:cs typeface="Aptos"/>
            </a:endParaRPr>
          </a:p>
        </p:txBody>
      </p:sp>
      <p:cxnSp>
        <p:nvCxnSpPr>
          <p:cNvPr id="70" name="Conector recto de flecha 69">
            <a:extLst>
              <a:ext uri="{FF2B5EF4-FFF2-40B4-BE49-F238E27FC236}">
                <a16:creationId xmlns:a16="http://schemas.microsoft.com/office/drawing/2014/main" id="{A8E45389-4495-5840-FAAF-466859F52C1A}"/>
              </a:ext>
            </a:extLst>
          </p:cNvPr>
          <p:cNvCxnSpPr>
            <a:cxnSpLocks/>
            <a:stCxn id="14" idx="3"/>
            <a:endCxn id="67" idx="1"/>
          </p:cNvCxnSpPr>
          <p:nvPr/>
        </p:nvCxnSpPr>
        <p:spPr>
          <a:xfrm>
            <a:off x="4076700" y="2724150"/>
            <a:ext cx="712302" cy="365451"/>
          </a:xfrm>
          <a:prstGeom prst="straightConnector1">
            <a:avLst/>
          </a:prstGeom>
          <a:ln w="19050">
            <a:solidFill>
              <a:srgbClr val="00B050"/>
            </a:solidFill>
            <a:prstDash val="solid"/>
            <a:tailEnd type="arrow" w="med" len="med"/>
          </a:ln>
        </p:spPr>
      </p:cxnSp>
      <p:sp>
        <p:nvSpPr>
          <p:cNvPr id="74" name="Rectángulo 73">
            <a:extLst>
              <a:ext uri="{FF2B5EF4-FFF2-40B4-BE49-F238E27FC236}">
                <a16:creationId xmlns:a16="http://schemas.microsoft.com/office/drawing/2014/main" id="{8E2A8CF2-2624-82DD-F8C9-B5444AEDE34A}"/>
              </a:ext>
            </a:extLst>
          </p:cNvPr>
          <p:cNvSpPr>
            <a:spLocks noGrp="1"/>
          </p:cNvSpPr>
          <p:nvPr/>
        </p:nvSpPr>
        <p:spPr>
          <a:xfrm rot="1857819">
            <a:off x="4051182" y="3056556"/>
            <a:ext cx="893174" cy="289249"/>
          </a:xfrm>
          <a:prstGeom prst="rect">
            <a:avLst/>
          </a:prstGeom>
          <a:noFill/>
          <a:ln w="0">
            <a:noFill/>
          </a:ln>
        </p:spPr>
        <p:txBody>
          <a:bodyPr anchor="t">
            <a:noAutofit/>
          </a:bodyPr>
          <a:lstStyle/>
          <a:p>
            <a:pPr>
              <a:defRPr sz="900" b="1" i="0">
                <a:solidFill>
                  <a:srgbClr val="5C2DD2"/>
                </a:solidFill>
                <a:latin typeface="Aptos"/>
                <a:ea typeface="Aptos"/>
                <a:cs typeface="Aptos"/>
              </a:defRPr>
            </a:pPr>
            <a:r>
              <a:rPr lang="es-MX" sz="800" b="1" dirty="0">
                <a:solidFill>
                  <a:srgbClr val="00B050"/>
                </a:solidFill>
                <a:latin typeface="Aptos"/>
                <a:ea typeface="Aptos"/>
                <a:cs typeface="Aptos"/>
              </a:rPr>
              <a:t>No manejado </a:t>
            </a:r>
          </a:p>
          <a:p>
            <a:pPr>
              <a:defRPr sz="900" b="1" i="0">
                <a:solidFill>
                  <a:srgbClr val="5C2DD2"/>
                </a:solidFill>
                <a:latin typeface="Aptos"/>
                <a:ea typeface="Aptos"/>
                <a:cs typeface="Aptos"/>
              </a:defRPr>
            </a:pPr>
            <a:r>
              <a:rPr lang="es-MX" sz="800" b="1" dirty="0">
                <a:solidFill>
                  <a:srgbClr val="00B050"/>
                </a:solidFill>
                <a:latin typeface="Aptos"/>
                <a:ea typeface="Aptos"/>
                <a:cs typeface="Aptos"/>
              </a:rPr>
              <a:t>o residual</a:t>
            </a:r>
            <a:endParaRPr sz="800" b="1" i="0" dirty="0">
              <a:solidFill>
                <a:srgbClr val="00B050"/>
              </a:solidFill>
              <a:latin typeface="Aptos"/>
              <a:ea typeface="Aptos"/>
              <a:cs typeface="Aptos"/>
            </a:endParaRPr>
          </a:p>
        </p:txBody>
      </p:sp>
      <p:cxnSp>
        <p:nvCxnSpPr>
          <p:cNvPr id="76" name="Conector recto de flecha 75">
            <a:extLst>
              <a:ext uri="{FF2B5EF4-FFF2-40B4-BE49-F238E27FC236}">
                <a16:creationId xmlns:a16="http://schemas.microsoft.com/office/drawing/2014/main" id="{6EE525FB-3390-BF83-5079-D54B3A8D4EB8}"/>
              </a:ext>
            </a:extLst>
          </p:cNvPr>
          <p:cNvCxnSpPr>
            <a:cxnSpLocks/>
            <a:stCxn id="17" idx="3"/>
          </p:cNvCxnSpPr>
          <p:nvPr/>
        </p:nvCxnSpPr>
        <p:spPr>
          <a:xfrm>
            <a:off x="5854145" y="2247704"/>
            <a:ext cx="2575480" cy="0"/>
          </a:xfrm>
          <a:prstGeom prst="straightConnector1">
            <a:avLst/>
          </a:prstGeom>
          <a:ln w="19050">
            <a:solidFill>
              <a:srgbClr val="009566"/>
            </a:solidFill>
            <a:prstDash val="solid"/>
            <a:tailEnd type="arrow" w="med" len="med"/>
          </a:ln>
        </p:spPr>
      </p:cxnSp>
    </p:spTree>
    <p:extLst>
      <p:ext uri="{BB962C8B-B14F-4D97-AF65-F5344CB8AC3E}">
        <p14:creationId xmlns:p14="http://schemas.microsoft.com/office/powerpoint/2010/main" val="1725030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ángulo 51">
            <a:extLst>
              <a:ext uri="{FF2B5EF4-FFF2-40B4-BE49-F238E27FC236}">
                <a16:creationId xmlns:a16="http://schemas.microsoft.com/office/drawing/2014/main" id="{28515E7E-D411-4AA3-8A8D-8AAA577654A1}"/>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73E5946A-32A6-4F5A-98FA-A01BC9892E55}"/>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ROUTING DE INTENCIONES</a:t>
            </a:r>
          </a:p>
        </p:txBody>
      </p:sp>
      <p:sp>
        <p:nvSpPr>
          <p:cNvPr id="3" name="Rectángulo 2">
            <a:extLst>
              <a:ext uri="{FF2B5EF4-FFF2-40B4-BE49-F238E27FC236}">
                <a16:creationId xmlns:a16="http://schemas.microsoft.com/office/drawing/2014/main" id="{392629BF-C807-4481-9CA7-5DB4A9EAF4CD}"/>
              </a:ext>
            </a:extLst>
          </p:cNvPr>
          <p:cNvSpPr>
            <a:spLocks noGrp="1"/>
          </p:cNvSpPr>
          <p:nvPr/>
        </p:nvSpPr>
        <p:spPr>
          <a:xfrm>
            <a:off x="571499" y="723072"/>
            <a:ext cx="10600083" cy="466904"/>
          </a:xfrm>
          <a:prstGeom prst="rect">
            <a:avLst/>
          </a:prstGeom>
          <a:noFill/>
          <a:ln w="0">
            <a:noFill/>
          </a:ln>
        </p:spPr>
        <p:txBody>
          <a:bodyPr anchor="t">
            <a:normAutofit fontScale="92500"/>
          </a:bodyPr>
          <a:lstStyle/>
          <a:p>
            <a:pPr>
              <a:defRPr sz="2400" b="1" i="0">
                <a:solidFill>
                  <a:srgbClr val="211D31"/>
                </a:solidFill>
                <a:latin typeface="Aptos"/>
                <a:ea typeface="Aptos"/>
                <a:cs typeface="Aptos"/>
              </a:defRPr>
            </a:pPr>
            <a:r>
              <a:rPr lang="es-MX" sz="2400" b="1" i="0" dirty="0">
                <a:solidFill>
                  <a:srgbClr val="211D31"/>
                </a:solidFill>
                <a:latin typeface="Aptos"/>
                <a:ea typeface="Aptos"/>
                <a:cs typeface="Aptos"/>
              </a:rPr>
              <a:t>Usuario interno: </a:t>
            </a:r>
            <a:r>
              <a:rPr lang="es-ES" sz="2400" b="1" i="0" dirty="0">
                <a:solidFill>
                  <a:srgbClr val="211D31"/>
                </a:solidFill>
                <a:latin typeface="Aptos"/>
                <a:ea typeface="Aptos"/>
                <a:cs typeface="Aptos"/>
              </a:rPr>
              <a:t>un mensaje compuesto se descompone sin perder intención</a:t>
            </a:r>
            <a:endParaRPr sz="2400" b="1" i="0" dirty="0">
              <a:solidFill>
                <a:srgbClr val="211D31"/>
              </a:solidFill>
              <a:latin typeface="Aptos"/>
              <a:ea typeface="Aptos"/>
              <a:cs typeface="Aptos"/>
            </a:endParaRPr>
          </a:p>
        </p:txBody>
      </p:sp>
      <p:sp>
        <p:nvSpPr>
          <p:cNvPr id="4" name="Rectángulo 3">
            <a:extLst>
              <a:ext uri="{FF2B5EF4-FFF2-40B4-BE49-F238E27FC236}">
                <a16:creationId xmlns:a16="http://schemas.microsoft.com/office/drawing/2014/main" id="{61FD7BFD-00BB-4E7F-84B7-EC6ADFCCFFC3}"/>
              </a:ext>
            </a:extLst>
          </p:cNvPr>
          <p:cNvSpPr>
            <a:spLocks noGrp="1"/>
          </p:cNvSpPr>
          <p:nvPr/>
        </p:nvSpPr>
        <p:spPr>
          <a:xfrm>
            <a:off x="571499" y="1211592"/>
            <a:ext cx="10410825" cy="406942"/>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400" b="0" i="0" dirty="0">
                <a:solidFill>
                  <a:srgbClr val="756F91"/>
                </a:solidFill>
                <a:latin typeface="Aptos"/>
                <a:ea typeface="Aptos"/>
                <a:cs typeface="Aptos"/>
              </a:rPr>
              <a:t>El harness protege </a:t>
            </a:r>
            <a:r>
              <a:rPr sz="1400" b="0" i="0" dirty="0" err="1">
                <a:solidFill>
                  <a:srgbClr val="756F91"/>
                </a:solidFill>
                <a:latin typeface="Aptos"/>
                <a:ea typeface="Aptos"/>
                <a:cs typeface="Aptos"/>
              </a:rPr>
              <a:t>decisiones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pendientes</a:t>
            </a:r>
            <a:r>
              <a:rPr sz="1400" b="0" i="0" dirty="0">
                <a:solidFill>
                  <a:srgbClr val="756F91"/>
                </a:solidFill>
                <a:latin typeface="Aptos"/>
                <a:ea typeface="Aptos"/>
                <a:cs typeface="Aptos"/>
              </a:rPr>
              <a:t> y </a:t>
            </a:r>
            <a:r>
              <a:rPr sz="1400" b="0" i="0" dirty="0" err="1">
                <a:solidFill>
                  <a:srgbClr val="756F91"/>
                </a:solidFill>
                <a:latin typeface="Aptos"/>
                <a:ea typeface="Aptos"/>
                <a:cs typeface="Aptos"/>
              </a:rPr>
              <a:t>reenvía</a:t>
            </a:r>
            <a:r>
              <a:rPr sz="1400" b="0" i="0" dirty="0">
                <a:solidFill>
                  <a:srgbClr val="756F91"/>
                </a:solidFill>
                <a:latin typeface="Aptos"/>
                <a:ea typeface="Aptos"/>
                <a:cs typeface="Aptos"/>
              </a:rPr>
              <a:t> al </a:t>
            </a:r>
            <a:r>
              <a:rPr sz="1400" b="0" i="0" dirty="0" err="1">
                <a:solidFill>
                  <a:srgbClr val="756F91"/>
                </a:solidFill>
                <a:latin typeface="Aptos"/>
                <a:ea typeface="Aptos"/>
                <a:cs typeface="Aptos"/>
              </a:rPr>
              <a:t>agente</a:t>
            </a:r>
            <a:r>
              <a:rPr sz="1400" b="0" i="0" dirty="0">
                <a:solidFill>
                  <a:srgbClr val="756F91"/>
                </a:solidFill>
                <a:latin typeface="Aptos"/>
                <a:ea typeface="Aptos"/>
                <a:cs typeface="Aptos"/>
              </a:rPr>
              <a:t> las </a:t>
            </a:r>
            <a:r>
              <a:rPr sz="1400" b="0" i="0" dirty="0" err="1">
                <a:solidFill>
                  <a:srgbClr val="756F91"/>
                </a:solidFill>
                <a:latin typeface="Aptos"/>
                <a:ea typeface="Aptos"/>
                <a:cs typeface="Aptos"/>
              </a:rPr>
              <a:t>peticiones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independientes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que</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ningún</a:t>
            </a:r>
            <a:r>
              <a:rPr sz="1400" b="0" i="0" dirty="0">
                <a:solidFill>
                  <a:srgbClr val="756F91"/>
                </a:solidFill>
                <a:latin typeface="Aptos"/>
                <a:ea typeface="Aptos"/>
                <a:cs typeface="Aptos"/>
              </a:rPr>
              <a:t> gate </a:t>
            </a:r>
            <a:r>
              <a:rPr sz="1400" b="0" i="0" dirty="0" err="1">
                <a:solidFill>
                  <a:srgbClr val="756F91"/>
                </a:solidFill>
                <a:latin typeface="Aptos"/>
                <a:ea typeface="Aptos"/>
                <a:cs typeface="Aptos"/>
              </a:rPr>
              <a:t>maneja</a:t>
            </a:r>
            <a:r>
              <a:rPr sz="1400" b="0" i="0" dirty="0">
                <a:solidFill>
                  <a:srgbClr val="756F91"/>
                </a:solidFill>
                <a:latin typeface="Aptos"/>
                <a:ea typeface="Aptos"/>
                <a:cs typeface="Aptos"/>
              </a:rPr>
              <a:t>.</a:t>
            </a:r>
          </a:p>
        </p:txBody>
      </p:sp>
      <p:pic>
        <p:nvPicPr>
          <p:cNvPr id="56" name="Imagen 55"/>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6888DA26-C9E3-4D68-B49F-F2EA991E191E}"/>
              </a:ext>
            </a:extLst>
          </p:cNvPr>
          <p:cNvSpPr>
            <a:spLocks noGrp="1"/>
          </p:cNvSpPr>
          <p:nvPr/>
        </p:nvSpPr>
        <p:spPr>
          <a:xfrm>
            <a:off x="2200275" y="371474"/>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2D41A6CB-8B30-42F7-BE21-ACDD1D76E178}"/>
              </a:ext>
            </a:extLst>
          </p:cNvPr>
          <p:cNvSpPr>
            <a:spLocks noGrp="1"/>
          </p:cNvSpPr>
          <p:nvPr/>
        </p:nvSpPr>
        <p:spPr>
          <a:xfrm>
            <a:off x="2266950" y="400049"/>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D421AA79-3196-432B-8F2C-03EDA55A5844}"/>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CBAEBF46-4CA5-4176-B5B2-97B433DAE40E}"/>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84DD5BD0-D260-4442-B410-38675AA7A711}"/>
              </a:ext>
            </a:extLst>
          </p:cNvPr>
          <p:cNvSpPr>
            <a:spLocks noGrp="1"/>
          </p:cNvSpPr>
          <p:nvPr/>
        </p:nvSpPr>
        <p:spPr>
          <a:xfrm>
            <a:off x="1476375" y="1622412"/>
            <a:ext cx="5191124" cy="379160"/>
          </a:xfrm>
          <a:prstGeom prst="roundRect">
            <a:avLst>
              <a:gd name="adj" fmla="val 22222"/>
            </a:avLst>
          </a:prstGeom>
          <a:solidFill>
            <a:srgbClr val="211D31"/>
          </a:solidFill>
          <a:ln w="9525">
            <a:solidFill>
              <a:srgbClr val="211D31"/>
            </a:solidFill>
            <a:prstDash val="solid"/>
          </a:ln>
        </p:spPr>
        <p:txBody>
          <a:bodyPr/>
          <a:lstStyle/>
          <a:p>
            <a:endParaRPr lang="es-MX"/>
          </a:p>
        </p:txBody>
      </p:sp>
      <p:sp>
        <p:nvSpPr>
          <p:cNvPr id="11" name="Rectángulo 10">
            <a:extLst>
              <a:ext uri="{FF2B5EF4-FFF2-40B4-BE49-F238E27FC236}">
                <a16:creationId xmlns:a16="http://schemas.microsoft.com/office/drawing/2014/main" id="{0BD8BCA3-4EBE-43BD-A071-FDC93B48E4F1}"/>
              </a:ext>
            </a:extLst>
          </p:cNvPr>
          <p:cNvSpPr>
            <a:spLocks noGrp="1"/>
          </p:cNvSpPr>
          <p:nvPr/>
        </p:nvSpPr>
        <p:spPr>
          <a:xfrm>
            <a:off x="1589847" y="1656785"/>
            <a:ext cx="5000819" cy="320219"/>
          </a:xfrm>
          <a:prstGeom prst="rect">
            <a:avLst/>
          </a:prstGeom>
          <a:noFill/>
          <a:ln w="0">
            <a:noFill/>
          </a:ln>
        </p:spPr>
        <p:txBody>
          <a:bodyPr anchor="t">
            <a:normAutofit fontScale="94444"/>
          </a:bodyPr>
          <a:lstStyle/>
          <a:p>
            <a:pPr>
              <a:defRPr sz="1350" b="1" i="0">
                <a:solidFill>
                  <a:srgbClr val="FFFFFF"/>
                </a:solidFill>
                <a:latin typeface="Aptos"/>
                <a:ea typeface="Aptos"/>
                <a:cs typeface="Aptos"/>
              </a:defRPr>
            </a:pPr>
            <a:r>
              <a:rPr sz="1350" b="1" i="0" dirty="0">
                <a:solidFill>
                  <a:srgbClr val="FFFFFF"/>
                </a:solidFill>
                <a:latin typeface="Aptos"/>
                <a:ea typeface="Aptos"/>
                <a:cs typeface="Aptos"/>
              </a:rPr>
              <a:t>“</a:t>
            </a:r>
            <a:r>
              <a:rPr sz="1350" b="1" i="0" dirty="0" err="1">
                <a:solidFill>
                  <a:srgbClr val="FFFFFF"/>
                </a:solidFill>
                <a:latin typeface="Aptos"/>
                <a:ea typeface="Aptos"/>
                <a:cs typeface="Aptos"/>
              </a:rPr>
              <a:t>Sí</a:t>
            </a:r>
            <a:r>
              <a:rPr sz="1350" b="1" i="0" dirty="0">
                <a:solidFill>
                  <a:srgbClr val="FFFFFF"/>
                </a:solidFill>
                <a:latin typeface="Aptos"/>
                <a:ea typeface="Aptos"/>
                <a:cs typeface="Aptos"/>
              </a:rPr>
              <a:t>, </a:t>
            </a:r>
            <a:r>
              <a:rPr sz="1350" b="1" i="0" dirty="0" err="1">
                <a:solidFill>
                  <a:srgbClr val="FFFFFF"/>
                </a:solidFill>
                <a:latin typeface="Aptos"/>
                <a:ea typeface="Aptos"/>
                <a:cs typeface="Aptos"/>
              </a:rPr>
              <a:t>aprueba</a:t>
            </a:r>
            <a:r>
              <a:rPr sz="1350" b="1" i="0" dirty="0">
                <a:solidFill>
                  <a:srgbClr val="FFFFFF"/>
                </a:solidFill>
                <a:latin typeface="Aptos"/>
                <a:ea typeface="Aptos"/>
                <a:cs typeface="Aptos"/>
              </a:rPr>
              <a:t> el </a:t>
            </a:r>
            <a:r>
              <a:rPr sz="1350" b="1" i="0" dirty="0" err="1">
                <a:solidFill>
                  <a:srgbClr val="FFFFFF"/>
                </a:solidFill>
                <a:latin typeface="Aptos"/>
                <a:ea typeface="Aptos"/>
                <a:cs typeface="Aptos"/>
              </a:rPr>
              <a:t>precio</a:t>
            </a:r>
            <a:r>
              <a:rPr sz="1350" b="1" i="0" dirty="0">
                <a:solidFill>
                  <a:srgbClr val="FFFFFF"/>
                </a:solidFill>
                <a:latin typeface="Aptos"/>
                <a:ea typeface="Aptos"/>
                <a:cs typeface="Aptos"/>
              </a:rPr>
              <a:t> y dime </a:t>
            </a:r>
            <a:r>
              <a:rPr sz="1350" b="1" i="0" dirty="0" err="1">
                <a:solidFill>
                  <a:srgbClr val="FFFFFF"/>
                </a:solidFill>
                <a:latin typeface="Aptos"/>
                <a:ea typeface="Aptos"/>
                <a:cs typeface="Aptos"/>
              </a:rPr>
              <a:t>cuántos</a:t>
            </a:r>
            <a:r>
              <a:rPr sz="1350" b="1" i="0" dirty="0">
                <a:solidFill>
                  <a:srgbClr val="FFFFFF"/>
                </a:solidFill>
                <a:latin typeface="Aptos"/>
                <a:ea typeface="Aptos"/>
                <a:cs typeface="Aptos"/>
              </a:rPr>
              <a:t> leads </a:t>
            </a:r>
            <a:r>
              <a:rPr sz="1350" b="1" i="0" dirty="0" err="1">
                <a:solidFill>
                  <a:srgbClr val="FFFFFF"/>
                </a:solidFill>
                <a:latin typeface="Aptos"/>
                <a:ea typeface="Aptos"/>
                <a:cs typeface="Aptos"/>
              </a:rPr>
              <a:t>tuvimos</a:t>
            </a:r>
            <a:r>
              <a:rPr sz="1350" b="1" i="0" dirty="0">
                <a:solidFill>
                  <a:srgbClr val="FFFFFF"/>
                </a:solidFill>
                <a:latin typeface="Aptos"/>
                <a:ea typeface="Aptos"/>
                <a:cs typeface="Aptos"/>
              </a:rPr>
              <a:t> en </a:t>
            </a:r>
            <a:r>
              <a:rPr sz="1350" b="1" i="0" dirty="0" err="1">
                <a:solidFill>
                  <a:srgbClr val="FFFFFF"/>
                </a:solidFill>
                <a:latin typeface="Aptos"/>
                <a:ea typeface="Aptos"/>
                <a:cs typeface="Aptos"/>
              </a:rPr>
              <a:t>agosto</a:t>
            </a:r>
            <a:r>
              <a:rPr sz="1350" b="1" i="0" dirty="0">
                <a:solidFill>
                  <a:srgbClr val="FFFFFF"/>
                </a:solidFill>
                <a:latin typeface="Aptos"/>
                <a:ea typeface="Aptos"/>
                <a:cs typeface="Aptos"/>
              </a:rPr>
              <a:t>”</a:t>
            </a:r>
          </a:p>
        </p:txBody>
      </p:sp>
      <p:sp>
        <p:nvSpPr>
          <p:cNvPr id="12" name="Rectángulo: esquinas redondeadas 11">
            <a:extLst>
              <a:ext uri="{FF2B5EF4-FFF2-40B4-BE49-F238E27FC236}">
                <a16:creationId xmlns:a16="http://schemas.microsoft.com/office/drawing/2014/main" id="{4E16F4E8-6096-40BB-8666-A0138A918C5A}"/>
              </a:ext>
            </a:extLst>
          </p:cNvPr>
          <p:cNvSpPr>
            <a:spLocks noGrp="1"/>
          </p:cNvSpPr>
          <p:nvPr/>
        </p:nvSpPr>
        <p:spPr>
          <a:xfrm>
            <a:off x="647510" y="2448602"/>
            <a:ext cx="2257615" cy="1002349"/>
          </a:xfrm>
          <a:prstGeom prst="roundRect">
            <a:avLst>
              <a:gd name="adj" fmla="val 13043"/>
            </a:avLst>
          </a:prstGeom>
          <a:solidFill>
            <a:srgbClr val="E3F5ED"/>
          </a:solidFill>
          <a:ln w="9525">
            <a:solidFill>
              <a:srgbClr val="009566"/>
            </a:solidFill>
            <a:prstDash val="solid"/>
          </a:ln>
        </p:spPr>
        <p:txBody>
          <a:bodyPr/>
          <a:lstStyle/>
          <a:p>
            <a:endParaRPr lang="es-MX"/>
          </a:p>
        </p:txBody>
      </p:sp>
      <p:sp>
        <p:nvSpPr>
          <p:cNvPr id="13" name="Rectángulo 12">
            <a:extLst>
              <a:ext uri="{FF2B5EF4-FFF2-40B4-BE49-F238E27FC236}">
                <a16:creationId xmlns:a16="http://schemas.microsoft.com/office/drawing/2014/main" id="{EEA0CEC9-6AC5-44F6-9C18-7412F271442B}"/>
              </a:ext>
            </a:extLst>
          </p:cNvPr>
          <p:cNvSpPr>
            <a:spLocks noGrp="1"/>
          </p:cNvSpPr>
          <p:nvPr/>
        </p:nvSpPr>
        <p:spPr>
          <a:xfrm>
            <a:off x="780860" y="2556428"/>
            <a:ext cx="2209800" cy="285750"/>
          </a:xfrm>
          <a:prstGeom prst="rect">
            <a:avLst/>
          </a:prstGeom>
          <a:noFill/>
          <a:ln w="0">
            <a:noFill/>
          </a:ln>
        </p:spPr>
        <p:txBody>
          <a:bodyPr anchor="t">
            <a:normAutofit/>
          </a:bodyPr>
          <a:lstStyle/>
          <a:p>
            <a:pPr>
              <a:defRPr sz="1050" b="1" i="0">
                <a:solidFill>
                  <a:srgbClr val="009566"/>
                </a:solidFill>
                <a:latin typeface="Aptos"/>
                <a:ea typeface="Aptos"/>
                <a:cs typeface="Aptos"/>
              </a:defRPr>
            </a:pPr>
            <a:r>
              <a:rPr sz="1050" b="1" i="0" dirty="0">
                <a:solidFill>
                  <a:srgbClr val="009566"/>
                </a:solidFill>
                <a:latin typeface="Aptos"/>
                <a:ea typeface="Aptos"/>
                <a:cs typeface="Aptos"/>
              </a:rPr>
              <a:t>1 · PREFILTRO</a:t>
            </a:r>
          </a:p>
        </p:txBody>
      </p:sp>
      <p:sp>
        <p:nvSpPr>
          <p:cNvPr id="14" name="Rectángulo 13">
            <a:extLst>
              <a:ext uri="{FF2B5EF4-FFF2-40B4-BE49-F238E27FC236}">
                <a16:creationId xmlns:a16="http://schemas.microsoft.com/office/drawing/2014/main" id="{B2AD03F0-BE6C-43B0-AB6A-ABDCE5101B98}"/>
              </a:ext>
            </a:extLst>
          </p:cNvPr>
          <p:cNvSpPr>
            <a:spLocks noGrp="1"/>
          </p:cNvSpPr>
          <p:nvPr/>
        </p:nvSpPr>
        <p:spPr>
          <a:xfrm>
            <a:off x="780860" y="2880278"/>
            <a:ext cx="2209800" cy="342900"/>
          </a:xfrm>
          <a:prstGeom prst="rect">
            <a:avLst/>
          </a:prstGeom>
          <a:noFill/>
          <a:ln w="0">
            <a:noFill/>
          </a:ln>
        </p:spPr>
        <p:txBody>
          <a:bodyPr anchor="t">
            <a:normAutofit fontScale="91667"/>
          </a:bodyPr>
          <a:lstStyle/>
          <a:p>
            <a:pPr>
              <a:defRPr sz="900" b="0" i="0">
                <a:solidFill>
                  <a:srgbClr val="756F91"/>
                </a:solidFill>
                <a:latin typeface="Aptos"/>
                <a:ea typeface="Aptos"/>
                <a:cs typeface="Aptos"/>
              </a:defRPr>
            </a:pPr>
            <a:r>
              <a:rPr sz="900" b="0" i="0" dirty="0" err="1">
                <a:solidFill>
                  <a:srgbClr val="756F91"/>
                </a:solidFill>
                <a:latin typeface="Aptos"/>
                <a:ea typeface="Aptos"/>
                <a:cs typeface="Aptos"/>
              </a:rPr>
              <a:t>Conector</a:t>
            </a:r>
            <a:r>
              <a:rPr sz="900" b="0" i="0" dirty="0">
                <a:solidFill>
                  <a:srgbClr val="756F91"/>
                </a:solidFill>
                <a:latin typeface="Aptos"/>
                <a:ea typeface="Aptos"/>
                <a:cs typeface="Aptos"/>
              </a:rPr>
              <a:t> o </a:t>
            </a:r>
            <a:r>
              <a:rPr sz="900" b="0" i="0" dirty="0" err="1">
                <a:solidFill>
                  <a:srgbClr val="756F91"/>
                </a:solidFill>
                <a:latin typeface="Aptos"/>
                <a:ea typeface="Aptos"/>
                <a:cs typeface="Aptos"/>
              </a:rPr>
              <a:t>varias</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cláusulas</a:t>
            </a:r>
            <a:endParaRPr sz="900" b="0" i="0" dirty="0">
              <a:solidFill>
                <a:srgbClr val="756F91"/>
              </a:solidFill>
              <a:latin typeface="Aptos"/>
              <a:ea typeface="Aptos"/>
              <a:cs typeface="Aptos"/>
            </a:endParaRPr>
          </a:p>
          <a:p>
            <a:pPr>
              <a:defRPr sz="900" b="0" i="0">
                <a:solidFill>
                  <a:srgbClr val="756F91"/>
                </a:solidFill>
                <a:latin typeface="Aptos"/>
                <a:ea typeface="Aptos"/>
                <a:cs typeface="Aptos"/>
              </a:defRPr>
            </a:pPr>
            <a:r>
              <a:rPr sz="900" b="0" i="0" dirty="0">
                <a:solidFill>
                  <a:srgbClr val="756F91"/>
                </a:solidFill>
                <a:latin typeface="Aptos"/>
                <a:ea typeface="Aptos"/>
                <a:cs typeface="Aptos"/>
              </a:rPr>
              <a:t>Con </a:t>
            </a:r>
            <a:r>
              <a:rPr sz="900" b="0" i="0" dirty="0" err="1">
                <a:solidFill>
                  <a:srgbClr val="756F91"/>
                </a:solidFill>
                <a:latin typeface="Aptos"/>
                <a:ea typeface="Aptos"/>
                <a:cs typeface="Aptos"/>
              </a:rPr>
              <a:t>decisión</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pendiente</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señal</a:t>
            </a:r>
            <a:r>
              <a:rPr sz="900" b="0" i="0" dirty="0">
                <a:solidFill>
                  <a:srgbClr val="756F91"/>
                </a:solidFill>
                <a:latin typeface="Aptos"/>
                <a:ea typeface="Aptos"/>
                <a:cs typeface="Aptos"/>
              </a:rPr>
              <a:t> de </a:t>
            </a:r>
            <a:r>
              <a:rPr sz="900" b="0" i="0" dirty="0" err="1">
                <a:solidFill>
                  <a:srgbClr val="756F91"/>
                </a:solidFill>
                <a:latin typeface="Aptos"/>
                <a:ea typeface="Aptos"/>
                <a:cs typeface="Aptos"/>
              </a:rPr>
              <a:t>pregunta</a:t>
            </a:r>
            <a:endParaRPr sz="900" b="0" i="0" dirty="0">
              <a:solidFill>
                <a:srgbClr val="756F91"/>
              </a:solidFill>
              <a:latin typeface="Aptos"/>
              <a:ea typeface="Aptos"/>
              <a:cs typeface="Aptos"/>
            </a:endParaRPr>
          </a:p>
        </p:txBody>
      </p:sp>
      <p:sp>
        <p:nvSpPr>
          <p:cNvPr id="15" name="Rectángulo: esquinas redondeadas 14">
            <a:extLst>
              <a:ext uri="{FF2B5EF4-FFF2-40B4-BE49-F238E27FC236}">
                <a16:creationId xmlns:a16="http://schemas.microsoft.com/office/drawing/2014/main" id="{4C9E1E18-A8AB-4553-8ACA-650FDBEC9B4B}"/>
              </a:ext>
            </a:extLst>
          </p:cNvPr>
          <p:cNvSpPr>
            <a:spLocks noGrp="1"/>
          </p:cNvSpPr>
          <p:nvPr/>
        </p:nvSpPr>
        <p:spPr>
          <a:xfrm>
            <a:off x="3126596" y="2448602"/>
            <a:ext cx="2476500" cy="1002349"/>
          </a:xfrm>
          <a:prstGeom prst="roundRect">
            <a:avLst>
              <a:gd name="adj" fmla="val 13043"/>
            </a:avLst>
          </a:prstGeom>
          <a:solidFill>
            <a:srgbClr val="FFF0D7"/>
          </a:solidFill>
          <a:ln w="9525">
            <a:solidFill>
              <a:srgbClr val="F39A24"/>
            </a:solidFill>
            <a:prstDash val="solid"/>
          </a:ln>
        </p:spPr>
        <p:txBody>
          <a:bodyPr/>
          <a:lstStyle/>
          <a:p>
            <a:endParaRPr lang="es-MX"/>
          </a:p>
        </p:txBody>
      </p:sp>
      <p:sp>
        <p:nvSpPr>
          <p:cNvPr id="16" name="Rectángulo 15">
            <a:extLst>
              <a:ext uri="{FF2B5EF4-FFF2-40B4-BE49-F238E27FC236}">
                <a16:creationId xmlns:a16="http://schemas.microsoft.com/office/drawing/2014/main" id="{E494D01E-E183-4A3E-9593-D7EE6BDBB133}"/>
              </a:ext>
            </a:extLst>
          </p:cNvPr>
          <p:cNvSpPr>
            <a:spLocks noGrp="1"/>
          </p:cNvSpPr>
          <p:nvPr/>
        </p:nvSpPr>
        <p:spPr>
          <a:xfrm>
            <a:off x="3259950" y="2556428"/>
            <a:ext cx="2209800" cy="285750"/>
          </a:xfrm>
          <a:prstGeom prst="rect">
            <a:avLst/>
          </a:prstGeom>
          <a:noFill/>
          <a:ln w="0">
            <a:noFill/>
          </a:ln>
        </p:spPr>
        <p:txBody>
          <a:bodyPr anchor="t">
            <a:normAutofit/>
          </a:bodyPr>
          <a:lstStyle/>
          <a:p>
            <a:pPr>
              <a:defRPr sz="1050" b="1" i="0">
                <a:solidFill>
                  <a:srgbClr val="F39A24"/>
                </a:solidFill>
                <a:latin typeface="Aptos"/>
                <a:ea typeface="Aptos"/>
                <a:cs typeface="Aptos"/>
              </a:defRPr>
            </a:pPr>
            <a:r>
              <a:rPr sz="1050" b="1" i="0" dirty="0">
                <a:solidFill>
                  <a:srgbClr val="F39A24"/>
                </a:solidFill>
                <a:latin typeface="Aptos"/>
                <a:ea typeface="Aptos"/>
                <a:cs typeface="Aptos"/>
              </a:rPr>
              <a:t>2 · DECOMPOSER</a:t>
            </a:r>
          </a:p>
        </p:txBody>
      </p:sp>
      <p:sp>
        <p:nvSpPr>
          <p:cNvPr id="17" name="Rectángulo 16">
            <a:extLst>
              <a:ext uri="{FF2B5EF4-FFF2-40B4-BE49-F238E27FC236}">
                <a16:creationId xmlns:a16="http://schemas.microsoft.com/office/drawing/2014/main" id="{F12CEB0E-98A6-40C6-8BEF-E1195D619905}"/>
              </a:ext>
            </a:extLst>
          </p:cNvPr>
          <p:cNvSpPr>
            <a:spLocks noGrp="1"/>
          </p:cNvSpPr>
          <p:nvPr/>
        </p:nvSpPr>
        <p:spPr>
          <a:xfrm>
            <a:off x="3242196" y="2762455"/>
            <a:ext cx="2264438" cy="636201"/>
          </a:xfrm>
          <a:prstGeom prst="rect">
            <a:avLst/>
          </a:prstGeom>
          <a:noFill/>
          <a:ln w="0">
            <a:noFill/>
          </a:ln>
        </p:spPr>
        <p:txBody>
          <a:bodyPr anchor="t">
            <a:noAutofit/>
          </a:bodyPr>
          <a:lstStyle/>
          <a:p>
            <a:pPr marL="171450" indent="-171450">
              <a:buFont typeface="Arial" panose="020B0604020202020204" pitchFamily="34" charset="0"/>
              <a:buChar char="•"/>
              <a:defRPr sz="975" b="0" i="0">
                <a:solidFill>
                  <a:srgbClr val="756F91"/>
                </a:solidFill>
                <a:latin typeface="Aptos"/>
                <a:ea typeface="Aptos"/>
                <a:cs typeface="Aptos"/>
              </a:defRPr>
            </a:pPr>
            <a:r>
              <a:rPr lang="es-MX" sz="800" b="0" i="0" dirty="0">
                <a:solidFill>
                  <a:srgbClr val="756F91"/>
                </a:solidFill>
                <a:latin typeface="Aptos"/>
                <a:ea typeface="Aptos"/>
                <a:cs typeface="Aptos"/>
              </a:rPr>
              <a:t>Llama LLM cuando el </a:t>
            </a:r>
            <a:r>
              <a:rPr lang="es-MX" sz="800" b="0" i="0" dirty="0" err="1">
                <a:solidFill>
                  <a:srgbClr val="756F91"/>
                </a:solidFill>
                <a:latin typeface="Aptos"/>
                <a:ea typeface="Aptos"/>
                <a:cs typeface="Aptos"/>
              </a:rPr>
              <a:t>prefiltro</a:t>
            </a:r>
            <a:r>
              <a:rPr lang="es-MX" sz="800" b="0" i="0" dirty="0">
                <a:solidFill>
                  <a:srgbClr val="756F91"/>
                </a:solidFill>
                <a:latin typeface="Aptos"/>
                <a:ea typeface="Aptos"/>
                <a:cs typeface="Aptos"/>
              </a:rPr>
              <a:t> lo justifica</a:t>
            </a:r>
          </a:p>
          <a:p>
            <a:pPr marL="171450" indent="-171450">
              <a:buFont typeface="Arial" panose="020B0604020202020204" pitchFamily="34" charset="0"/>
              <a:buChar char="•"/>
              <a:defRPr sz="975" b="0" i="0">
                <a:solidFill>
                  <a:srgbClr val="756F91"/>
                </a:solidFill>
                <a:latin typeface="Aptos"/>
                <a:ea typeface="Aptos"/>
                <a:cs typeface="Aptos"/>
              </a:defRPr>
            </a:pPr>
            <a:r>
              <a:rPr sz="800" b="0" i="0" dirty="0">
                <a:solidFill>
                  <a:srgbClr val="756F91"/>
                </a:solidFill>
                <a:latin typeface="Aptos"/>
                <a:ea typeface="Aptos"/>
                <a:cs typeface="Aptos"/>
              </a:rPr>
              <a:t>JSON · 2–4 spans </a:t>
            </a:r>
            <a:r>
              <a:rPr sz="800" b="0" i="0" dirty="0" err="1">
                <a:solidFill>
                  <a:srgbClr val="756F91"/>
                </a:solidFill>
                <a:latin typeface="Aptos"/>
                <a:ea typeface="Aptos"/>
                <a:cs typeface="Aptos"/>
              </a:rPr>
              <a:t>literales</a:t>
            </a:r>
            <a:endParaRPr sz="800"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sz="800" b="0" i="0" dirty="0" err="1">
                <a:solidFill>
                  <a:srgbClr val="756F91"/>
                </a:solidFill>
                <a:latin typeface="Aptos"/>
                <a:ea typeface="Aptos"/>
                <a:cs typeface="Aptos"/>
              </a:rPr>
              <a:t>Sólo</a:t>
            </a:r>
            <a:r>
              <a:rPr sz="800" b="0" i="0" dirty="0">
                <a:solidFill>
                  <a:srgbClr val="756F91"/>
                </a:solidFill>
                <a:latin typeface="Aptos"/>
                <a:ea typeface="Aptos"/>
                <a:cs typeface="Aptos"/>
              </a:rPr>
              <a:t> confianza </a:t>
            </a:r>
            <a:r>
              <a:rPr sz="800" b="0" i="0" dirty="0" err="1">
                <a:solidFill>
                  <a:srgbClr val="756F91"/>
                </a:solidFill>
                <a:latin typeface="Aptos"/>
                <a:ea typeface="Aptos"/>
                <a:cs typeface="Aptos"/>
              </a:rPr>
              <a:t>alta</a:t>
            </a:r>
            <a:r>
              <a:rPr lang="es-MX" sz="800" b="0" i="0" dirty="0">
                <a:solidFill>
                  <a:srgbClr val="756F91"/>
                </a:solidFill>
                <a:latin typeface="Aptos"/>
                <a:ea typeface="Aptos"/>
                <a:cs typeface="Aptos"/>
              </a:rPr>
              <a:t>. En el ejemplo, si el LLM lo hace bien,  identifica 2 intenciones (1 decisión y 1 pregunta)</a:t>
            </a:r>
            <a:endParaRPr sz="800" b="0" i="0" dirty="0">
              <a:solidFill>
                <a:srgbClr val="756F91"/>
              </a:solidFill>
              <a:latin typeface="Aptos"/>
              <a:ea typeface="Aptos"/>
              <a:cs typeface="Aptos"/>
            </a:endParaRPr>
          </a:p>
        </p:txBody>
      </p:sp>
      <p:sp>
        <p:nvSpPr>
          <p:cNvPr id="18" name="Rectángulo: esquinas redondeadas 17">
            <a:extLst>
              <a:ext uri="{FF2B5EF4-FFF2-40B4-BE49-F238E27FC236}">
                <a16:creationId xmlns:a16="http://schemas.microsoft.com/office/drawing/2014/main" id="{AB7FB491-4003-499A-9747-47703D1EC052}"/>
              </a:ext>
            </a:extLst>
          </p:cNvPr>
          <p:cNvSpPr>
            <a:spLocks noGrp="1"/>
          </p:cNvSpPr>
          <p:nvPr/>
        </p:nvSpPr>
        <p:spPr>
          <a:xfrm>
            <a:off x="5818743" y="2438065"/>
            <a:ext cx="2935748" cy="1012886"/>
          </a:xfrm>
          <a:prstGeom prst="roundRect">
            <a:avLst>
              <a:gd name="adj" fmla="val 13043"/>
            </a:avLst>
          </a:prstGeom>
          <a:solidFill>
            <a:srgbClr val="E7ECFB"/>
          </a:solidFill>
          <a:ln w="9525">
            <a:solidFill>
              <a:srgbClr val="4866C6"/>
            </a:solidFill>
            <a:prstDash val="solid"/>
          </a:ln>
        </p:spPr>
        <p:txBody>
          <a:bodyPr/>
          <a:lstStyle/>
          <a:p>
            <a:endParaRPr lang="es-MX"/>
          </a:p>
        </p:txBody>
      </p:sp>
      <p:sp>
        <p:nvSpPr>
          <p:cNvPr id="19" name="Rectángulo 18">
            <a:extLst>
              <a:ext uri="{FF2B5EF4-FFF2-40B4-BE49-F238E27FC236}">
                <a16:creationId xmlns:a16="http://schemas.microsoft.com/office/drawing/2014/main" id="{8AE6E843-B0E2-4D0B-8BA2-FB648F524A02}"/>
              </a:ext>
            </a:extLst>
          </p:cNvPr>
          <p:cNvSpPr>
            <a:spLocks noGrp="1"/>
          </p:cNvSpPr>
          <p:nvPr/>
        </p:nvSpPr>
        <p:spPr>
          <a:xfrm>
            <a:off x="5934344" y="2556428"/>
            <a:ext cx="2209800" cy="285750"/>
          </a:xfrm>
          <a:prstGeom prst="rect">
            <a:avLst/>
          </a:prstGeom>
          <a:noFill/>
          <a:ln w="0">
            <a:noFill/>
          </a:ln>
        </p:spPr>
        <p:txBody>
          <a:bodyPr anchor="t">
            <a:normAutofit/>
          </a:bodyPr>
          <a:lstStyle/>
          <a:p>
            <a:pPr>
              <a:defRPr sz="1050" b="1" i="0">
                <a:solidFill>
                  <a:srgbClr val="4866C6"/>
                </a:solidFill>
                <a:latin typeface="Aptos"/>
                <a:ea typeface="Aptos"/>
                <a:cs typeface="Aptos"/>
              </a:defRPr>
            </a:pPr>
            <a:r>
              <a:rPr sz="1050" b="1" i="0" dirty="0">
                <a:solidFill>
                  <a:srgbClr val="4866C6"/>
                </a:solidFill>
                <a:latin typeface="Aptos"/>
                <a:ea typeface="Aptos"/>
                <a:cs typeface="Aptos"/>
              </a:rPr>
              <a:t>3 · GUARD</a:t>
            </a:r>
          </a:p>
        </p:txBody>
      </p:sp>
      <p:sp>
        <p:nvSpPr>
          <p:cNvPr id="20" name="Rectángulo 19">
            <a:extLst>
              <a:ext uri="{FF2B5EF4-FFF2-40B4-BE49-F238E27FC236}">
                <a16:creationId xmlns:a16="http://schemas.microsoft.com/office/drawing/2014/main" id="{47BB40CE-337F-43BD-BE06-452510B0288E}"/>
              </a:ext>
            </a:extLst>
          </p:cNvPr>
          <p:cNvSpPr>
            <a:spLocks noGrp="1"/>
          </p:cNvSpPr>
          <p:nvPr/>
        </p:nvSpPr>
        <p:spPr>
          <a:xfrm>
            <a:off x="5934344" y="2797967"/>
            <a:ext cx="2810152" cy="482359"/>
          </a:xfrm>
          <a:prstGeom prst="rect">
            <a:avLst/>
          </a:prstGeom>
          <a:noFill/>
          <a:ln w="0">
            <a:noFill/>
          </a:ln>
        </p:spPr>
        <p:txBody>
          <a:bodyPr anchor="t">
            <a:noAutofit/>
          </a:bodyPr>
          <a:lstStyle/>
          <a:p>
            <a:pPr marL="171450" indent="-171450">
              <a:buFont typeface="Arial" panose="020B0604020202020204" pitchFamily="34" charset="0"/>
              <a:buChar char="•"/>
              <a:defRPr sz="975" b="0" i="0">
                <a:solidFill>
                  <a:srgbClr val="756F91"/>
                </a:solidFill>
                <a:latin typeface="Aptos"/>
                <a:ea typeface="Aptos"/>
                <a:cs typeface="Aptos"/>
              </a:defRPr>
            </a:pPr>
            <a:r>
              <a:rPr lang="es-ES" sz="900" b="0" i="0" dirty="0">
                <a:solidFill>
                  <a:srgbClr val="756F91"/>
                </a:solidFill>
                <a:latin typeface="Aptos"/>
                <a:ea typeface="Aptos"/>
                <a:cs typeface="Aptos"/>
              </a:rPr>
              <a:t>Verifica confianza, número de intenciones y que cada </a:t>
            </a:r>
            <a:r>
              <a:rPr lang="es-ES" sz="900" b="0" i="0" dirty="0" err="1">
                <a:solidFill>
                  <a:srgbClr val="756F91"/>
                </a:solidFill>
                <a:latin typeface="Aptos"/>
                <a:ea typeface="Aptos"/>
                <a:cs typeface="Aptos"/>
              </a:rPr>
              <a:t>intent</a:t>
            </a:r>
            <a:r>
              <a:rPr lang="es-ES" sz="900" b="0" i="0" dirty="0">
                <a:solidFill>
                  <a:srgbClr val="756F91"/>
                </a:solidFill>
                <a:latin typeface="Aptos"/>
                <a:ea typeface="Aptos"/>
                <a:cs typeface="Aptos"/>
              </a:rPr>
              <a:t> sea un fragmento literal del mensaje.</a:t>
            </a:r>
            <a:endParaRPr lang="es-MX" sz="900"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sz="900" b="0" i="0" dirty="0" err="1">
                <a:solidFill>
                  <a:srgbClr val="756F91"/>
                </a:solidFill>
                <a:latin typeface="Aptos"/>
                <a:ea typeface="Aptos"/>
                <a:cs typeface="Aptos"/>
              </a:rPr>
              <a:t>Rechaza</a:t>
            </a:r>
            <a:r>
              <a:rPr sz="900" b="0" i="0" dirty="0">
                <a:solidFill>
                  <a:srgbClr val="756F91"/>
                </a:solidFill>
                <a:latin typeface="Aptos"/>
                <a:ea typeface="Aptos"/>
                <a:cs typeface="Aptos"/>
              </a:rPr>
              <a:t> un split </a:t>
            </a:r>
            <a:r>
              <a:rPr sz="900" b="0" i="0" dirty="0" err="1">
                <a:solidFill>
                  <a:srgbClr val="756F91"/>
                </a:solidFill>
                <a:latin typeface="Aptos"/>
                <a:ea typeface="Aptos"/>
                <a:cs typeface="Aptos"/>
              </a:rPr>
              <a:t>dudoso</a:t>
            </a:r>
            <a:r>
              <a:rPr sz="900" b="0" i="0" dirty="0">
                <a:solidFill>
                  <a:srgbClr val="756F91"/>
                </a:solidFill>
                <a:latin typeface="Aptos"/>
                <a:ea typeface="Aptos"/>
                <a:cs typeface="Aptos"/>
              </a:rPr>
              <a:t> o </a:t>
            </a:r>
            <a:r>
              <a:rPr sz="900" b="0" i="0" dirty="0" err="1">
                <a:solidFill>
                  <a:srgbClr val="756F91"/>
                </a:solidFill>
                <a:latin typeface="Aptos"/>
                <a:ea typeface="Aptos"/>
                <a:cs typeface="Aptos"/>
              </a:rPr>
              <a:t>inventado</a:t>
            </a:r>
            <a:endParaRPr sz="900" b="0" i="0" dirty="0">
              <a:solidFill>
                <a:srgbClr val="756F91"/>
              </a:solidFill>
              <a:latin typeface="Aptos"/>
              <a:ea typeface="Aptos"/>
              <a:cs typeface="Aptos"/>
            </a:endParaRPr>
          </a:p>
        </p:txBody>
      </p:sp>
      <p:cxnSp>
        <p:nvCxnSpPr>
          <p:cNvPr id="73" name="Conector recto de flecha 72"/>
          <p:cNvCxnSpPr>
            <a:cxnSpLocks/>
            <a:stCxn id="12" idx="3"/>
            <a:endCxn id="15" idx="1"/>
          </p:cNvCxnSpPr>
          <p:nvPr/>
        </p:nvCxnSpPr>
        <p:spPr>
          <a:xfrm>
            <a:off x="2905125" y="2949777"/>
            <a:ext cx="221471" cy="0"/>
          </a:xfrm>
          <a:prstGeom prst="straightConnector1">
            <a:avLst/>
          </a:prstGeom>
          <a:ln w="19050">
            <a:solidFill>
              <a:srgbClr val="F39A24"/>
            </a:solidFill>
            <a:prstDash val="solid"/>
            <a:tailEnd type="arrow" w="med" len="med"/>
          </a:ln>
        </p:spPr>
      </p:cxnSp>
      <p:cxnSp>
        <p:nvCxnSpPr>
          <p:cNvPr id="74" name="Conector recto de flecha 73"/>
          <p:cNvCxnSpPr>
            <a:cxnSpLocks/>
            <a:stCxn id="15" idx="3"/>
            <a:endCxn id="18" idx="1"/>
          </p:cNvCxnSpPr>
          <p:nvPr/>
        </p:nvCxnSpPr>
        <p:spPr>
          <a:xfrm flipV="1">
            <a:off x="5603096" y="2944508"/>
            <a:ext cx="215647" cy="5269"/>
          </a:xfrm>
          <a:prstGeom prst="straightConnector1">
            <a:avLst/>
          </a:prstGeom>
          <a:ln w="19050">
            <a:solidFill>
              <a:srgbClr val="4866C6"/>
            </a:solidFill>
            <a:prstDash val="solid"/>
            <a:tailEnd type="arrow" w="med" len="med"/>
          </a:ln>
        </p:spPr>
      </p:cxnSp>
      <p:sp>
        <p:nvSpPr>
          <p:cNvPr id="24" name="Rectángulo: esquinas redondeadas 23">
            <a:extLst>
              <a:ext uri="{FF2B5EF4-FFF2-40B4-BE49-F238E27FC236}">
                <a16:creationId xmlns:a16="http://schemas.microsoft.com/office/drawing/2014/main" id="{19CB2DE4-2079-4C53-94E2-7126CE04EADD}"/>
              </a:ext>
            </a:extLst>
          </p:cNvPr>
          <p:cNvSpPr>
            <a:spLocks noGrp="1"/>
          </p:cNvSpPr>
          <p:nvPr/>
        </p:nvSpPr>
        <p:spPr>
          <a:xfrm>
            <a:off x="666750" y="4048125"/>
            <a:ext cx="2790826" cy="952500"/>
          </a:xfrm>
          <a:prstGeom prst="roundRect">
            <a:avLst>
              <a:gd name="adj" fmla="val 12000"/>
            </a:avLst>
          </a:prstGeom>
          <a:solidFill>
            <a:srgbClr val="F8E7F0"/>
          </a:solidFill>
          <a:ln w="9525">
            <a:solidFill>
              <a:srgbClr val="B8497C"/>
            </a:solidFill>
            <a:prstDash val="solid"/>
          </a:ln>
        </p:spPr>
        <p:txBody>
          <a:bodyPr/>
          <a:lstStyle/>
          <a:p>
            <a:endParaRPr lang="es-MX"/>
          </a:p>
        </p:txBody>
      </p:sp>
      <p:sp>
        <p:nvSpPr>
          <p:cNvPr id="25" name="Rectángulo 24">
            <a:extLst>
              <a:ext uri="{FF2B5EF4-FFF2-40B4-BE49-F238E27FC236}">
                <a16:creationId xmlns:a16="http://schemas.microsoft.com/office/drawing/2014/main" id="{B7BEA884-C26E-4F50-88E3-07A1F0CA74D2}"/>
              </a:ext>
            </a:extLst>
          </p:cNvPr>
          <p:cNvSpPr>
            <a:spLocks noGrp="1"/>
          </p:cNvSpPr>
          <p:nvPr/>
        </p:nvSpPr>
        <p:spPr>
          <a:xfrm>
            <a:off x="666750" y="4171950"/>
            <a:ext cx="2790826" cy="285750"/>
          </a:xfrm>
          <a:prstGeom prst="rect">
            <a:avLst/>
          </a:prstGeom>
          <a:noFill/>
          <a:ln w="0">
            <a:noFill/>
          </a:ln>
        </p:spPr>
        <p:txBody>
          <a:bodyPr anchor="t">
            <a:normAutofit fontScale="85000" lnSpcReduction="10000"/>
          </a:bodyPr>
          <a:lstStyle/>
          <a:p>
            <a:pPr>
              <a:defRPr sz="1050" b="1" i="0">
                <a:solidFill>
                  <a:srgbClr val="B8497C"/>
                </a:solidFill>
                <a:latin typeface="Aptos"/>
                <a:ea typeface="Aptos"/>
                <a:cs typeface="Aptos"/>
              </a:defRPr>
            </a:pPr>
            <a:r>
              <a:rPr lang="es-MX" sz="1050" b="1" dirty="0">
                <a:solidFill>
                  <a:srgbClr val="B8497C"/>
                </a:solidFill>
                <a:latin typeface="Aptos"/>
                <a:ea typeface="Aptos"/>
                <a:cs typeface="Aptos"/>
              </a:rPr>
              <a:t>RESULTADO DE INTENT</a:t>
            </a:r>
            <a:r>
              <a:rPr sz="1050" b="1" i="0" dirty="0">
                <a:solidFill>
                  <a:srgbClr val="B8497C"/>
                </a:solidFill>
                <a:latin typeface="Aptos"/>
                <a:ea typeface="Aptos"/>
                <a:cs typeface="Aptos"/>
              </a:rPr>
              <a:t> 1 </a:t>
            </a:r>
            <a:r>
              <a:rPr lang="es-MX" sz="1050" b="1" dirty="0">
                <a:solidFill>
                  <a:srgbClr val="B8497C"/>
                </a:solidFill>
                <a:latin typeface="Aptos"/>
                <a:ea typeface="Aptos"/>
                <a:cs typeface="Aptos"/>
              </a:rPr>
              <a:t>(</a:t>
            </a:r>
            <a:r>
              <a:rPr sz="1050" b="1" i="0" dirty="0">
                <a:solidFill>
                  <a:srgbClr val="B8497C"/>
                </a:solidFill>
                <a:latin typeface="Aptos"/>
                <a:ea typeface="Aptos"/>
                <a:cs typeface="Aptos"/>
              </a:rPr>
              <a:t>DECISIÓN</a:t>
            </a:r>
            <a:r>
              <a:rPr lang="es-MX" sz="1050" b="1" i="0" dirty="0">
                <a:solidFill>
                  <a:srgbClr val="B8497C"/>
                </a:solidFill>
                <a:latin typeface="Aptos"/>
                <a:ea typeface="Aptos"/>
                <a:cs typeface="Aptos"/>
              </a:rPr>
              <a:t>): MANEJADO</a:t>
            </a:r>
            <a:endParaRPr sz="1050" b="1" i="0" dirty="0">
              <a:solidFill>
                <a:srgbClr val="B8497C"/>
              </a:solidFill>
              <a:latin typeface="Aptos"/>
              <a:ea typeface="Aptos"/>
              <a:cs typeface="Aptos"/>
            </a:endParaRPr>
          </a:p>
        </p:txBody>
      </p:sp>
      <p:sp>
        <p:nvSpPr>
          <p:cNvPr id="26" name="Rectángulo 25">
            <a:extLst>
              <a:ext uri="{FF2B5EF4-FFF2-40B4-BE49-F238E27FC236}">
                <a16:creationId xmlns:a16="http://schemas.microsoft.com/office/drawing/2014/main" id="{850B5229-CCB4-48FC-BF5A-EC36A0AAEA1D}"/>
              </a:ext>
            </a:extLst>
          </p:cNvPr>
          <p:cNvSpPr>
            <a:spLocks noGrp="1"/>
          </p:cNvSpPr>
          <p:nvPr/>
        </p:nvSpPr>
        <p:spPr>
          <a:xfrm>
            <a:off x="800100" y="4495800"/>
            <a:ext cx="2447925" cy="419100"/>
          </a:xfrm>
          <a:prstGeom prst="rect">
            <a:avLst/>
          </a:prstGeom>
          <a:noFill/>
          <a:ln w="0">
            <a:noFill/>
          </a:ln>
        </p:spPr>
        <p:txBody>
          <a:bodyPr anchor="t">
            <a:normAutofit/>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a:t>
            </a:r>
            <a:r>
              <a:rPr sz="975" b="0" i="0" dirty="0" err="1">
                <a:solidFill>
                  <a:srgbClr val="756F91"/>
                </a:solidFill>
                <a:latin typeface="Aptos"/>
                <a:ea typeface="Aptos"/>
                <a:cs typeface="Aptos"/>
              </a:rPr>
              <a:t>Sí</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aprueba</a:t>
            </a:r>
            <a:r>
              <a:rPr sz="975" b="0" i="0" dirty="0">
                <a:solidFill>
                  <a:srgbClr val="756F91"/>
                </a:solidFill>
                <a:latin typeface="Aptos"/>
                <a:ea typeface="Aptos"/>
                <a:cs typeface="Aptos"/>
              </a:rPr>
              <a:t> el </a:t>
            </a:r>
            <a:r>
              <a:rPr sz="975" b="0" i="0" dirty="0" err="1">
                <a:solidFill>
                  <a:srgbClr val="756F91"/>
                </a:solidFill>
                <a:latin typeface="Aptos"/>
                <a:ea typeface="Aptos"/>
                <a:cs typeface="Aptos"/>
              </a:rPr>
              <a:t>precio</a:t>
            </a:r>
            <a:r>
              <a:rPr sz="975" b="0" i="0" dirty="0">
                <a:solidFill>
                  <a:srgbClr val="756F91"/>
                </a:solidFill>
                <a:latin typeface="Aptos"/>
                <a:ea typeface="Aptos"/>
                <a:cs typeface="Aptos"/>
              </a:rPr>
              <a:t>”</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El gate </a:t>
            </a:r>
            <a:r>
              <a:rPr sz="975" b="0" i="0" dirty="0" err="1">
                <a:solidFill>
                  <a:srgbClr val="756F91"/>
                </a:solidFill>
                <a:latin typeface="Aptos"/>
                <a:ea typeface="Aptos"/>
                <a:cs typeface="Aptos"/>
              </a:rPr>
              <a:t>valida</a:t>
            </a:r>
            <a:r>
              <a:rPr sz="975" b="0" i="0" dirty="0">
                <a:solidFill>
                  <a:srgbClr val="756F91"/>
                </a:solidFill>
                <a:latin typeface="Aptos"/>
                <a:ea typeface="Aptos"/>
                <a:cs typeface="Aptos"/>
              </a:rPr>
              <a:t> y </a:t>
            </a:r>
            <a:r>
              <a:rPr sz="975" b="0" i="0" dirty="0" err="1">
                <a:solidFill>
                  <a:srgbClr val="756F91"/>
                </a:solidFill>
                <a:latin typeface="Aptos"/>
                <a:ea typeface="Aptos"/>
                <a:cs typeface="Aptos"/>
              </a:rPr>
              <a:t>aplica</a:t>
            </a:r>
            <a:endParaRPr sz="975" b="0" i="0" dirty="0">
              <a:solidFill>
                <a:srgbClr val="756F91"/>
              </a:solidFill>
              <a:latin typeface="Aptos"/>
              <a:ea typeface="Aptos"/>
              <a:cs typeface="Aptos"/>
            </a:endParaRPr>
          </a:p>
        </p:txBody>
      </p:sp>
      <p:sp>
        <p:nvSpPr>
          <p:cNvPr id="27" name="Rectángulo: esquinas redondeadas 26">
            <a:extLst>
              <a:ext uri="{FF2B5EF4-FFF2-40B4-BE49-F238E27FC236}">
                <a16:creationId xmlns:a16="http://schemas.microsoft.com/office/drawing/2014/main" id="{9566367C-0546-4F40-A56B-8FBE45DD8243}"/>
              </a:ext>
            </a:extLst>
          </p:cNvPr>
          <p:cNvSpPr>
            <a:spLocks noGrp="1"/>
          </p:cNvSpPr>
          <p:nvPr/>
        </p:nvSpPr>
        <p:spPr>
          <a:xfrm>
            <a:off x="3590926" y="4048125"/>
            <a:ext cx="3019618" cy="952500"/>
          </a:xfrm>
          <a:prstGeom prst="roundRect">
            <a:avLst>
              <a:gd name="adj" fmla="val 12000"/>
            </a:avLst>
          </a:prstGeom>
          <a:solidFill>
            <a:srgbClr val="EEE8FF"/>
          </a:solidFill>
          <a:ln w="9525">
            <a:solidFill>
              <a:srgbClr val="5C2DD2"/>
            </a:solidFill>
            <a:prstDash val="solid"/>
          </a:ln>
        </p:spPr>
        <p:txBody>
          <a:bodyPr/>
          <a:lstStyle/>
          <a:p>
            <a:endParaRPr lang="es-MX"/>
          </a:p>
        </p:txBody>
      </p:sp>
      <p:sp>
        <p:nvSpPr>
          <p:cNvPr id="28" name="Rectángulo 27">
            <a:extLst>
              <a:ext uri="{FF2B5EF4-FFF2-40B4-BE49-F238E27FC236}">
                <a16:creationId xmlns:a16="http://schemas.microsoft.com/office/drawing/2014/main" id="{E634E44E-A8F5-4BB2-9712-10A1C3AEE344}"/>
              </a:ext>
            </a:extLst>
          </p:cNvPr>
          <p:cNvSpPr>
            <a:spLocks noGrp="1"/>
          </p:cNvSpPr>
          <p:nvPr/>
        </p:nvSpPr>
        <p:spPr>
          <a:xfrm>
            <a:off x="3590926" y="4171950"/>
            <a:ext cx="3019618" cy="285750"/>
          </a:xfrm>
          <a:prstGeom prst="rect">
            <a:avLst/>
          </a:prstGeom>
          <a:noFill/>
          <a:ln w="0">
            <a:noFill/>
          </a:ln>
        </p:spPr>
        <p:txBody>
          <a:bodyPr anchor="t">
            <a:noAutofit/>
          </a:bodyPr>
          <a:lstStyle/>
          <a:p>
            <a:pPr>
              <a:defRPr sz="1050" b="1" i="0">
                <a:solidFill>
                  <a:srgbClr val="5C2DD2"/>
                </a:solidFill>
                <a:latin typeface="Aptos"/>
                <a:ea typeface="Aptos"/>
                <a:cs typeface="Aptos"/>
              </a:defRPr>
            </a:pPr>
            <a:r>
              <a:rPr lang="es-MX" sz="900" b="1" i="0" dirty="0">
                <a:solidFill>
                  <a:srgbClr val="5C2DD2"/>
                </a:solidFill>
                <a:latin typeface="Aptos"/>
                <a:ea typeface="Aptos"/>
                <a:cs typeface="Aptos"/>
              </a:rPr>
              <a:t>RESULTADO DE </a:t>
            </a:r>
            <a:r>
              <a:rPr sz="900" b="1" i="0" dirty="0">
                <a:solidFill>
                  <a:srgbClr val="5C2DD2"/>
                </a:solidFill>
                <a:latin typeface="Aptos"/>
                <a:ea typeface="Aptos"/>
                <a:cs typeface="Aptos"/>
              </a:rPr>
              <a:t>INTENT 2 </a:t>
            </a:r>
            <a:r>
              <a:rPr lang="es-MX" sz="900" b="1" dirty="0">
                <a:solidFill>
                  <a:srgbClr val="5C2DD2"/>
                </a:solidFill>
                <a:latin typeface="Aptos"/>
                <a:ea typeface="Aptos"/>
                <a:cs typeface="Aptos"/>
              </a:rPr>
              <a:t> (</a:t>
            </a:r>
            <a:r>
              <a:rPr sz="900" b="1" i="0" dirty="0">
                <a:solidFill>
                  <a:srgbClr val="5C2DD2"/>
                </a:solidFill>
                <a:latin typeface="Aptos"/>
                <a:ea typeface="Aptos"/>
                <a:cs typeface="Aptos"/>
              </a:rPr>
              <a:t>PREGUNTA</a:t>
            </a:r>
            <a:r>
              <a:rPr lang="es-MX" sz="900" b="1" i="0" dirty="0">
                <a:solidFill>
                  <a:srgbClr val="5C2DD2"/>
                </a:solidFill>
                <a:latin typeface="Aptos"/>
                <a:ea typeface="Aptos"/>
                <a:cs typeface="Aptos"/>
              </a:rPr>
              <a:t>): NO MANEJADO</a:t>
            </a:r>
            <a:endParaRPr sz="900" b="1" i="0" dirty="0">
              <a:solidFill>
                <a:srgbClr val="5C2DD2"/>
              </a:solidFill>
              <a:latin typeface="Aptos"/>
              <a:ea typeface="Aptos"/>
              <a:cs typeface="Aptos"/>
            </a:endParaRPr>
          </a:p>
        </p:txBody>
      </p:sp>
      <p:sp>
        <p:nvSpPr>
          <p:cNvPr id="29" name="Rectángulo 28">
            <a:extLst>
              <a:ext uri="{FF2B5EF4-FFF2-40B4-BE49-F238E27FC236}">
                <a16:creationId xmlns:a16="http://schemas.microsoft.com/office/drawing/2014/main" id="{6EE40C56-34BB-497B-9B8A-9DB86CE2C164}"/>
              </a:ext>
            </a:extLst>
          </p:cNvPr>
          <p:cNvSpPr>
            <a:spLocks noGrp="1"/>
          </p:cNvSpPr>
          <p:nvPr/>
        </p:nvSpPr>
        <p:spPr>
          <a:xfrm>
            <a:off x="3638357" y="4495800"/>
            <a:ext cx="2906344" cy="419100"/>
          </a:xfrm>
          <a:prstGeom prst="rect">
            <a:avLst/>
          </a:prstGeom>
          <a:noFill/>
          <a:ln w="0">
            <a:noFill/>
          </a:ln>
        </p:spPr>
        <p:txBody>
          <a:bodyPr anchor="t">
            <a:normAutofit/>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“dime </a:t>
            </a:r>
            <a:r>
              <a:rPr sz="975" b="0" i="0" dirty="0" err="1">
                <a:solidFill>
                  <a:srgbClr val="756F91"/>
                </a:solidFill>
                <a:latin typeface="Aptos"/>
                <a:ea typeface="Aptos"/>
                <a:cs typeface="Aptos"/>
              </a:rPr>
              <a:t>cuántos</a:t>
            </a:r>
            <a:r>
              <a:rPr sz="975" b="0" i="0" dirty="0">
                <a:solidFill>
                  <a:srgbClr val="756F91"/>
                </a:solidFill>
                <a:latin typeface="Aptos"/>
                <a:ea typeface="Aptos"/>
                <a:cs typeface="Aptos"/>
              </a:rPr>
              <a:t> leads </a:t>
            </a:r>
            <a:r>
              <a:rPr sz="975" b="0" i="0" dirty="0" err="1">
                <a:solidFill>
                  <a:srgbClr val="756F91"/>
                </a:solidFill>
                <a:latin typeface="Aptos"/>
                <a:ea typeface="Aptos"/>
                <a:cs typeface="Aptos"/>
              </a:rPr>
              <a:t>tuvimos</a:t>
            </a:r>
            <a:r>
              <a:rPr sz="975" b="0" i="0" dirty="0">
                <a:solidFill>
                  <a:srgbClr val="756F91"/>
                </a:solidFill>
                <a:latin typeface="Aptos"/>
                <a:ea typeface="Aptos"/>
                <a:cs typeface="Aptos"/>
              </a:rPr>
              <a:t> en </a:t>
            </a:r>
            <a:r>
              <a:rPr sz="975" b="0" i="0" dirty="0" err="1">
                <a:solidFill>
                  <a:srgbClr val="756F91"/>
                </a:solidFill>
                <a:latin typeface="Aptos"/>
                <a:ea typeface="Aptos"/>
                <a:cs typeface="Aptos"/>
              </a:rPr>
              <a:t>agosto</a:t>
            </a:r>
            <a:r>
              <a:rPr sz="975" b="0" i="0" dirty="0">
                <a:solidFill>
                  <a:srgbClr val="756F91"/>
                </a:solidFill>
                <a:latin typeface="Aptos"/>
                <a:ea typeface="Aptos"/>
                <a:cs typeface="Aptos"/>
              </a:rPr>
              <a:t>”</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Ningún</a:t>
            </a:r>
            <a:r>
              <a:rPr sz="975" b="0" i="0" dirty="0">
                <a:solidFill>
                  <a:srgbClr val="756F91"/>
                </a:solidFill>
                <a:latin typeface="Aptos"/>
                <a:ea typeface="Aptos"/>
                <a:cs typeface="Aptos"/>
              </a:rPr>
              <a:t> gate la reclama</a:t>
            </a:r>
          </a:p>
        </p:txBody>
      </p:sp>
      <p:sp>
        <p:nvSpPr>
          <p:cNvPr id="30" name="Rectángulo: esquinas redondeadas 29">
            <a:extLst>
              <a:ext uri="{FF2B5EF4-FFF2-40B4-BE49-F238E27FC236}">
                <a16:creationId xmlns:a16="http://schemas.microsoft.com/office/drawing/2014/main" id="{2375A417-A5DC-4829-89C8-7DF9B8A88237}"/>
              </a:ext>
            </a:extLst>
          </p:cNvPr>
          <p:cNvSpPr>
            <a:spLocks noGrp="1"/>
          </p:cNvSpPr>
          <p:nvPr/>
        </p:nvSpPr>
        <p:spPr>
          <a:xfrm>
            <a:off x="6929852" y="4048125"/>
            <a:ext cx="1258008" cy="952500"/>
          </a:xfrm>
          <a:prstGeom prst="roundRect">
            <a:avLst>
              <a:gd name="adj" fmla="val 12000"/>
            </a:avLst>
          </a:prstGeom>
          <a:solidFill>
            <a:srgbClr val="FFFFFF"/>
          </a:solidFill>
          <a:ln w="9525">
            <a:solidFill>
              <a:srgbClr val="5C2DD2"/>
            </a:solidFill>
            <a:prstDash val="solid"/>
          </a:ln>
        </p:spPr>
        <p:txBody>
          <a:bodyPr/>
          <a:lstStyle/>
          <a:p>
            <a:endParaRPr lang="es-MX"/>
          </a:p>
        </p:txBody>
      </p:sp>
      <p:sp>
        <p:nvSpPr>
          <p:cNvPr id="31" name="Rectángulo 30">
            <a:extLst>
              <a:ext uri="{FF2B5EF4-FFF2-40B4-BE49-F238E27FC236}">
                <a16:creationId xmlns:a16="http://schemas.microsoft.com/office/drawing/2014/main" id="{29DC3DAC-1EB8-4E28-ADBC-7DF1EE1BA819}"/>
              </a:ext>
            </a:extLst>
          </p:cNvPr>
          <p:cNvSpPr>
            <a:spLocks noGrp="1"/>
          </p:cNvSpPr>
          <p:nvPr/>
        </p:nvSpPr>
        <p:spPr>
          <a:xfrm>
            <a:off x="7134225" y="4171950"/>
            <a:ext cx="1495425" cy="285750"/>
          </a:xfrm>
          <a:prstGeom prst="rect">
            <a:avLst/>
          </a:prstGeom>
          <a:noFill/>
          <a:ln w="0">
            <a:noFill/>
          </a:ln>
        </p:spPr>
        <p:txBody>
          <a:bodyPr anchor="t">
            <a:normAutofit/>
          </a:bodyPr>
          <a:lstStyle/>
          <a:p>
            <a:pPr>
              <a:defRPr sz="1050" b="1" i="0">
                <a:solidFill>
                  <a:srgbClr val="5C2DD2"/>
                </a:solidFill>
                <a:latin typeface="Aptos"/>
                <a:ea typeface="Aptos"/>
                <a:cs typeface="Aptos"/>
              </a:defRPr>
            </a:pPr>
            <a:r>
              <a:rPr sz="1050" b="1" i="0" dirty="0">
                <a:solidFill>
                  <a:srgbClr val="5C2DD2"/>
                </a:solidFill>
                <a:latin typeface="Aptos"/>
                <a:ea typeface="Aptos"/>
                <a:cs typeface="Aptos"/>
              </a:rPr>
              <a:t>RESIDUAL</a:t>
            </a:r>
          </a:p>
        </p:txBody>
      </p:sp>
      <p:sp>
        <p:nvSpPr>
          <p:cNvPr id="32" name="Rectángulo 31">
            <a:extLst>
              <a:ext uri="{FF2B5EF4-FFF2-40B4-BE49-F238E27FC236}">
                <a16:creationId xmlns:a16="http://schemas.microsoft.com/office/drawing/2014/main" id="{A7311F93-C72C-4447-8814-68114DDFCA9A}"/>
              </a:ext>
            </a:extLst>
          </p:cNvPr>
          <p:cNvSpPr>
            <a:spLocks noGrp="1"/>
          </p:cNvSpPr>
          <p:nvPr/>
        </p:nvSpPr>
        <p:spPr>
          <a:xfrm>
            <a:off x="6951033" y="4430721"/>
            <a:ext cx="1223100" cy="484179"/>
          </a:xfrm>
          <a:prstGeom prst="rect">
            <a:avLst/>
          </a:prstGeom>
          <a:noFill/>
          <a:ln w="0">
            <a:noFill/>
          </a:ln>
        </p:spPr>
        <p:txBody>
          <a:bodyPr anchor="t">
            <a:noAutofit/>
          </a:bodyPr>
          <a:lstStyle/>
          <a:p>
            <a:pPr>
              <a:defRPr sz="900" b="0" i="0">
                <a:solidFill>
                  <a:srgbClr val="756F91"/>
                </a:solidFill>
                <a:latin typeface="Aptos"/>
                <a:ea typeface="Aptos"/>
                <a:cs typeface="Aptos"/>
              </a:defRPr>
            </a:pPr>
            <a:r>
              <a:rPr lang="es-MX" sz="750" b="0" i="0" dirty="0">
                <a:solidFill>
                  <a:srgbClr val="756F91"/>
                </a:solidFill>
                <a:latin typeface="Aptos"/>
                <a:ea typeface="Aptos"/>
                <a:cs typeface="Aptos"/>
              </a:rPr>
              <a:t>Texto: </a:t>
            </a:r>
            <a:r>
              <a:rPr lang="es-MX" sz="750" dirty="0">
                <a:solidFill>
                  <a:srgbClr val="756F91"/>
                </a:solidFill>
                <a:latin typeface="Aptos"/>
                <a:ea typeface="Aptos"/>
                <a:cs typeface="Aptos"/>
              </a:rPr>
              <a:t>pregunta residual</a:t>
            </a:r>
            <a:endParaRPr lang="es-MX" sz="750" b="0" i="0" dirty="0">
              <a:solidFill>
                <a:srgbClr val="756F91"/>
              </a:solidFill>
              <a:latin typeface="Aptos"/>
              <a:ea typeface="Aptos"/>
              <a:cs typeface="Aptos"/>
            </a:endParaRPr>
          </a:p>
          <a:p>
            <a:pPr>
              <a:defRPr sz="900" b="0" i="0">
                <a:solidFill>
                  <a:srgbClr val="756F91"/>
                </a:solidFill>
                <a:latin typeface="Aptos"/>
                <a:ea typeface="Aptos"/>
                <a:cs typeface="Aptos"/>
              </a:defRPr>
            </a:pPr>
            <a:r>
              <a:rPr sz="750" b="0" i="0" dirty="0">
                <a:solidFill>
                  <a:srgbClr val="756F91"/>
                </a:solidFill>
                <a:latin typeface="Aptos"/>
                <a:ea typeface="Aptos"/>
                <a:cs typeface="Aptos"/>
              </a:rPr>
              <a:t>r</a:t>
            </a:r>
            <a:r>
              <a:rPr lang="es-MX" sz="750" b="0" i="0" dirty="0" err="1">
                <a:solidFill>
                  <a:srgbClr val="756F91"/>
                </a:solidFill>
                <a:latin typeface="Aptos"/>
                <a:ea typeface="Aptos"/>
                <a:cs typeface="Aptos"/>
              </a:rPr>
              <a:t>azón</a:t>
            </a:r>
            <a:r>
              <a:rPr sz="750" b="0" i="0" dirty="0">
                <a:solidFill>
                  <a:srgbClr val="756F91"/>
                </a:solidFill>
                <a:latin typeface="Aptos"/>
                <a:ea typeface="Aptos"/>
                <a:cs typeface="Aptos"/>
              </a:rPr>
              <a:t>:</a:t>
            </a:r>
            <a:r>
              <a:rPr lang="es-MX" sz="750" b="0" i="0" dirty="0">
                <a:solidFill>
                  <a:srgbClr val="756F91"/>
                </a:solidFill>
                <a:latin typeface="Aptos"/>
                <a:ea typeface="Aptos"/>
                <a:cs typeface="Aptos"/>
              </a:rPr>
              <a:t> </a:t>
            </a:r>
            <a:r>
              <a:rPr sz="750" b="0" i="0" dirty="0" err="1">
                <a:solidFill>
                  <a:srgbClr val="756F91"/>
                </a:solidFill>
                <a:latin typeface="Aptos"/>
                <a:ea typeface="Aptos"/>
                <a:cs typeface="Aptos"/>
              </a:rPr>
              <a:t>unmatched_intent</a:t>
            </a:r>
            <a:endParaRPr sz="750" b="0" i="0" dirty="0">
              <a:solidFill>
                <a:srgbClr val="756F91"/>
              </a:solidFill>
              <a:latin typeface="Aptos"/>
              <a:ea typeface="Aptos"/>
              <a:cs typeface="Aptos"/>
            </a:endParaRPr>
          </a:p>
        </p:txBody>
      </p:sp>
      <p:sp>
        <p:nvSpPr>
          <p:cNvPr id="33" name="Rectángulo: esquinas redondeadas 32">
            <a:extLst>
              <a:ext uri="{FF2B5EF4-FFF2-40B4-BE49-F238E27FC236}">
                <a16:creationId xmlns:a16="http://schemas.microsoft.com/office/drawing/2014/main" id="{509B0630-A5C0-40D7-8C66-13E5C3F05C63}"/>
              </a:ext>
            </a:extLst>
          </p:cNvPr>
          <p:cNvSpPr>
            <a:spLocks noGrp="1"/>
          </p:cNvSpPr>
          <p:nvPr/>
        </p:nvSpPr>
        <p:spPr>
          <a:xfrm>
            <a:off x="8507168" y="4048125"/>
            <a:ext cx="3124803" cy="952500"/>
          </a:xfrm>
          <a:prstGeom prst="roundRect">
            <a:avLst>
              <a:gd name="adj" fmla="val 12000"/>
            </a:avLst>
          </a:prstGeom>
          <a:solidFill>
            <a:srgbClr val="E3F5ED"/>
          </a:solidFill>
          <a:ln w="9525">
            <a:solidFill>
              <a:srgbClr val="009566"/>
            </a:solidFill>
            <a:prstDash val="solid"/>
          </a:ln>
        </p:spPr>
        <p:txBody>
          <a:bodyPr/>
          <a:lstStyle/>
          <a:p>
            <a:endParaRPr lang="es-MX"/>
          </a:p>
        </p:txBody>
      </p:sp>
      <p:sp>
        <p:nvSpPr>
          <p:cNvPr id="34" name="Rectángulo 33">
            <a:extLst>
              <a:ext uri="{FF2B5EF4-FFF2-40B4-BE49-F238E27FC236}">
                <a16:creationId xmlns:a16="http://schemas.microsoft.com/office/drawing/2014/main" id="{AAFAB57A-09C7-49DB-9001-90308BB9B1FB}"/>
              </a:ext>
            </a:extLst>
          </p:cNvPr>
          <p:cNvSpPr>
            <a:spLocks noGrp="1"/>
          </p:cNvSpPr>
          <p:nvPr/>
        </p:nvSpPr>
        <p:spPr>
          <a:xfrm>
            <a:off x="9032463" y="4137870"/>
            <a:ext cx="2359438" cy="236999"/>
          </a:xfrm>
          <a:prstGeom prst="rect">
            <a:avLst/>
          </a:prstGeom>
          <a:noFill/>
          <a:ln w="0">
            <a:noFill/>
          </a:ln>
        </p:spPr>
        <p:txBody>
          <a:bodyPr anchor="t">
            <a:normAutofit lnSpcReduction="10000"/>
          </a:bodyPr>
          <a:lstStyle/>
          <a:p>
            <a:pPr>
              <a:defRPr sz="1050" b="1" i="0">
                <a:solidFill>
                  <a:srgbClr val="009566"/>
                </a:solidFill>
                <a:latin typeface="Aptos"/>
                <a:ea typeface="Aptos"/>
                <a:cs typeface="Aptos"/>
              </a:defRPr>
            </a:pPr>
            <a:r>
              <a:rPr lang="es-MX" sz="1050" b="1" dirty="0">
                <a:solidFill>
                  <a:srgbClr val="009566"/>
                </a:solidFill>
                <a:latin typeface="Aptos"/>
                <a:ea typeface="Aptos"/>
                <a:cs typeface="Aptos"/>
              </a:rPr>
              <a:t>AGENT </a:t>
            </a:r>
            <a:r>
              <a:rPr lang="es-MX" sz="1050" b="1" dirty="0" err="1">
                <a:solidFill>
                  <a:srgbClr val="009566"/>
                </a:solidFill>
                <a:latin typeface="Aptos"/>
                <a:ea typeface="Aptos"/>
                <a:cs typeface="Aptos"/>
              </a:rPr>
              <a:t>Runtime</a:t>
            </a:r>
            <a:r>
              <a:rPr lang="es-MX" sz="1050" b="1" dirty="0">
                <a:solidFill>
                  <a:srgbClr val="009566"/>
                </a:solidFill>
                <a:latin typeface="Aptos"/>
                <a:ea typeface="Aptos"/>
                <a:cs typeface="Aptos"/>
              </a:rPr>
              <a:t> </a:t>
            </a:r>
          </a:p>
        </p:txBody>
      </p:sp>
      <p:sp>
        <p:nvSpPr>
          <p:cNvPr id="35" name="Rectángulo 34">
            <a:extLst>
              <a:ext uri="{FF2B5EF4-FFF2-40B4-BE49-F238E27FC236}">
                <a16:creationId xmlns:a16="http://schemas.microsoft.com/office/drawing/2014/main" id="{CC868FCE-3F0C-41BE-9214-0A524BC7D326}"/>
              </a:ext>
            </a:extLst>
          </p:cNvPr>
          <p:cNvSpPr>
            <a:spLocks noGrp="1"/>
          </p:cNvSpPr>
          <p:nvPr/>
        </p:nvSpPr>
        <p:spPr>
          <a:xfrm>
            <a:off x="8520895" y="4340239"/>
            <a:ext cx="3111075" cy="660385"/>
          </a:xfrm>
          <a:prstGeom prst="rect">
            <a:avLst/>
          </a:prstGeom>
          <a:noFill/>
          <a:ln w="0">
            <a:noFill/>
          </a:ln>
        </p:spPr>
        <p:txBody>
          <a:bodyPr anchor="t">
            <a:noAutofit/>
          </a:bodyPr>
          <a:lstStyle/>
          <a:p>
            <a:pPr>
              <a:defRPr sz="900" b="0" i="0">
                <a:solidFill>
                  <a:srgbClr val="756F91"/>
                </a:solidFill>
                <a:latin typeface="Aptos"/>
                <a:ea typeface="Aptos"/>
                <a:cs typeface="Aptos"/>
              </a:defRPr>
            </a:pPr>
            <a:r>
              <a:rPr lang="es-MX" sz="750" b="0" i="0" dirty="0" err="1">
                <a:solidFill>
                  <a:srgbClr val="756F91"/>
                </a:solidFill>
                <a:latin typeface="Aptos"/>
                <a:ea typeface="Aptos"/>
                <a:cs typeface="Aptos"/>
              </a:rPr>
              <a:t>runAgent</a:t>
            </a:r>
            <a:r>
              <a:rPr lang="es-MX" sz="750" b="0" i="0" dirty="0">
                <a:solidFill>
                  <a:srgbClr val="756F91"/>
                </a:solidFill>
                <a:latin typeface="Aptos"/>
                <a:ea typeface="Aptos"/>
                <a:cs typeface="Aptos"/>
              </a:rPr>
              <a:t>(</a:t>
            </a:r>
            <a:r>
              <a:rPr lang="es-MX" sz="750" b="0" i="0" dirty="0" err="1">
                <a:solidFill>
                  <a:srgbClr val="756F91"/>
                </a:solidFill>
                <a:latin typeface="Aptos"/>
                <a:ea typeface="Aptos"/>
                <a:cs typeface="Aptos"/>
              </a:rPr>
              <a:t>message</a:t>
            </a:r>
            <a:r>
              <a:rPr lang="es-MX" sz="750" b="0" i="0" dirty="0">
                <a:solidFill>
                  <a:srgbClr val="756F91"/>
                </a:solidFill>
                <a:latin typeface="Aptos"/>
                <a:ea typeface="Aptos"/>
                <a:cs typeface="Aptos"/>
              </a:rPr>
              <a:t>=</a:t>
            </a:r>
            <a:r>
              <a:rPr lang="es-MX" sz="750" b="0" i="0" dirty="0" err="1">
                <a:solidFill>
                  <a:srgbClr val="756F91"/>
                </a:solidFill>
                <a:latin typeface="Aptos"/>
                <a:ea typeface="Aptos"/>
                <a:cs typeface="Aptos"/>
              </a:rPr>
              <a:t>residual.text</a:t>
            </a:r>
            <a:r>
              <a:rPr lang="es-MX" sz="750" b="0" i="0" dirty="0">
                <a:solidFill>
                  <a:srgbClr val="756F91"/>
                </a:solidFill>
                <a:latin typeface="Aptos"/>
                <a:ea typeface="Aptos"/>
                <a:cs typeface="Aptos"/>
              </a:rPr>
              <a:t>):</a:t>
            </a:r>
          </a:p>
          <a:p>
            <a:pPr marL="171450" indent="-171450">
              <a:buFont typeface="Arial" panose="020B0604020202020204" pitchFamily="34" charset="0"/>
              <a:buChar char="•"/>
              <a:defRPr sz="900" b="0" i="0">
                <a:solidFill>
                  <a:srgbClr val="756F91"/>
                </a:solidFill>
                <a:latin typeface="Aptos"/>
                <a:ea typeface="Aptos"/>
                <a:cs typeface="Aptos"/>
              </a:defRPr>
            </a:pPr>
            <a:r>
              <a:rPr lang="en-US" sz="750" dirty="0" err="1">
                <a:solidFill>
                  <a:srgbClr val="756F91"/>
                </a:solidFill>
                <a:latin typeface="Aptos"/>
                <a:ea typeface="Aptos"/>
                <a:cs typeface="Aptos"/>
              </a:rPr>
              <a:t>Selecciona</a:t>
            </a:r>
            <a:r>
              <a:rPr lang="en-US" sz="750" dirty="0">
                <a:solidFill>
                  <a:srgbClr val="756F91"/>
                </a:solidFill>
                <a:latin typeface="Aptos"/>
                <a:ea typeface="Aptos"/>
                <a:cs typeface="Aptos"/>
              </a:rPr>
              <a:t> Skill + tools </a:t>
            </a:r>
            <a:r>
              <a:rPr lang="en-US" sz="750" dirty="0" err="1">
                <a:solidFill>
                  <a:srgbClr val="756F91"/>
                </a:solidFill>
                <a:latin typeface="Aptos"/>
                <a:ea typeface="Aptos"/>
                <a:cs typeface="Aptos"/>
              </a:rPr>
              <a:t>según</a:t>
            </a:r>
            <a:r>
              <a:rPr lang="en-US" sz="750" dirty="0">
                <a:solidFill>
                  <a:srgbClr val="756F91"/>
                </a:solidFill>
                <a:latin typeface="Aptos"/>
                <a:ea typeface="Aptos"/>
                <a:cs typeface="Aptos"/>
              </a:rPr>
              <a:t> policy,  </a:t>
            </a:r>
            <a:r>
              <a:rPr lang="en-US" sz="750" dirty="0" err="1">
                <a:solidFill>
                  <a:srgbClr val="756F91"/>
                </a:solidFill>
                <a:latin typeface="Aptos"/>
                <a:ea typeface="Aptos"/>
                <a:cs typeface="Aptos"/>
              </a:rPr>
              <a:t>ej</a:t>
            </a:r>
            <a:r>
              <a:rPr lang="en-US" sz="750" dirty="0">
                <a:solidFill>
                  <a:srgbClr val="756F91"/>
                </a:solidFill>
                <a:latin typeface="Aptos"/>
                <a:ea typeface="Aptos"/>
                <a:cs typeface="Aptos"/>
              </a:rPr>
              <a:t>. company-data / </a:t>
            </a:r>
            <a:r>
              <a:rPr lang="en-US" sz="750" dirty="0" err="1">
                <a:solidFill>
                  <a:srgbClr val="756F91"/>
                </a:solidFill>
                <a:latin typeface="Aptos"/>
                <a:ea typeface="Aptos"/>
                <a:cs typeface="Aptos"/>
              </a:rPr>
              <a:t>BigQuery</a:t>
            </a:r>
            <a:r>
              <a:rPr lang="en-US" sz="750" dirty="0">
                <a:solidFill>
                  <a:srgbClr val="756F91"/>
                </a:solidFill>
                <a:latin typeface="Aptos"/>
                <a:ea typeface="Aptos"/>
                <a:cs typeface="Aptos"/>
              </a:rPr>
              <a:t>; </a:t>
            </a:r>
            <a:r>
              <a:rPr lang="en-US" sz="750" dirty="0" err="1">
                <a:solidFill>
                  <a:srgbClr val="756F91"/>
                </a:solidFill>
                <a:latin typeface="Aptos"/>
                <a:ea typeface="Aptos"/>
                <a:cs typeface="Aptos"/>
              </a:rPr>
              <a:t>prepara</a:t>
            </a:r>
            <a:r>
              <a:rPr lang="en-US" sz="750" dirty="0">
                <a:solidFill>
                  <a:srgbClr val="756F91"/>
                </a:solidFill>
                <a:latin typeface="Aptos"/>
                <a:ea typeface="Aptos"/>
                <a:cs typeface="Aptos"/>
              </a:rPr>
              <a:t> prompt/</a:t>
            </a:r>
            <a:r>
              <a:rPr lang="en-US" sz="750" dirty="0" err="1">
                <a:solidFill>
                  <a:srgbClr val="756F91"/>
                </a:solidFill>
                <a:latin typeface="Aptos"/>
                <a:ea typeface="Aptos"/>
                <a:cs typeface="Aptos"/>
              </a:rPr>
              <a:t>contexto</a:t>
            </a:r>
            <a:r>
              <a:rPr lang="en-US" sz="750" dirty="0">
                <a:solidFill>
                  <a:srgbClr val="756F91"/>
                </a:solidFill>
                <a:latin typeface="Aptos"/>
                <a:ea typeface="Aptos"/>
                <a:cs typeface="Aptos"/>
              </a:rPr>
              <a:t>; </a:t>
            </a:r>
            <a:r>
              <a:rPr lang="en-US" sz="750" dirty="0" err="1">
                <a:solidFill>
                  <a:srgbClr val="756F91"/>
                </a:solidFill>
                <a:latin typeface="Aptos"/>
                <a:ea typeface="Aptos"/>
                <a:cs typeface="Aptos"/>
              </a:rPr>
              <a:t>configura</a:t>
            </a:r>
            <a:r>
              <a:rPr lang="en-US" sz="750" dirty="0">
                <a:solidFill>
                  <a:srgbClr val="756F91"/>
                </a:solidFill>
                <a:latin typeface="Aptos"/>
                <a:ea typeface="Aptos"/>
                <a:cs typeface="Aptos"/>
              </a:rPr>
              <a:t> thread y checkpoint </a:t>
            </a:r>
          </a:p>
          <a:p>
            <a:pPr marL="171450" indent="-171450">
              <a:buFont typeface="Arial" panose="020B0604020202020204" pitchFamily="34" charset="0"/>
              <a:buChar char="•"/>
              <a:defRPr sz="900" b="0" i="0">
                <a:solidFill>
                  <a:srgbClr val="756F91"/>
                </a:solidFill>
                <a:latin typeface="Aptos"/>
                <a:ea typeface="Aptos"/>
                <a:cs typeface="Aptos"/>
              </a:defRPr>
            </a:pPr>
            <a:r>
              <a:rPr lang="es-MX" sz="750" b="0" i="0" dirty="0">
                <a:solidFill>
                  <a:srgbClr val="756F91"/>
                </a:solidFill>
                <a:latin typeface="Aptos"/>
                <a:ea typeface="Aptos"/>
                <a:cs typeface="Aptos"/>
              </a:rPr>
              <a:t>Invoca o reanuda </a:t>
            </a:r>
            <a:r>
              <a:rPr lang="es-MX" sz="750" b="0" i="0" dirty="0" err="1">
                <a:solidFill>
                  <a:srgbClr val="756F91"/>
                </a:solidFill>
                <a:latin typeface="Aptos"/>
                <a:ea typeface="Aptos"/>
                <a:cs typeface="Aptos"/>
              </a:rPr>
              <a:t>StateGraph</a:t>
            </a:r>
            <a:r>
              <a:rPr lang="es-MX" sz="750" b="0" i="0" dirty="0">
                <a:solidFill>
                  <a:srgbClr val="756F91"/>
                </a:solidFill>
                <a:latin typeface="Aptos"/>
                <a:ea typeface="Aptos"/>
                <a:cs typeface="Aptos"/>
              </a:rPr>
              <a:t> (que  incluye: </a:t>
            </a:r>
            <a:r>
              <a:rPr lang="es-MX" sz="750" b="0" i="0" dirty="0" err="1">
                <a:solidFill>
                  <a:srgbClr val="756F91"/>
                </a:solidFill>
                <a:latin typeface="Aptos"/>
                <a:ea typeface="Aptos"/>
                <a:cs typeface="Aptos"/>
              </a:rPr>
              <a:t>memory</a:t>
            </a:r>
            <a:r>
              <a:rPr lang="es-MX" sz="750" b="0" i="0" dirty="0">
                <a:solidFill>
                  <a:srgbClr val="756F91"/>
                </a:solidFill>
                <a:latin typeface="Aptos"/>
                <a:ea typeface="Aptos"/>
                <a:cs typeface="Aptos"/>
              </a:rPr>
              <a:t> </a:t>
            </a:r>
            <a:r>
              <a:rPr lang="es-MX" sz="750" b="0" i="0" dirty="0" err="1">
                <a:solidFill>
                  <a:srgbClr val="756F91"/>
                </a:solidFill>
                <a:latin typeface="Aptos"/>
                <a:ea typeface="Aptos"/>
                <a:cs typeface="Aptos"/>
              </a:rPr>
              <a:t>injection</a:t>
            </a:r>
            <a:r>
              <a:rPr lang="es-MX" sz="750" b="0" i="0" dirty="0">
                <a:solidFill>
                  <a:srgbClr val="756F91"/>
                </a:solidFill>
                <a:latin typeface="Aptos"/>
                <a:ea typeface="Aptos"/>
                <a:cs typeface="Aptos"/>
              </a:rPr>
              <a:t>, </a:t>
            </a:r>
            <a:r>
              <a:rPr lang="es-MX" sz="750" b="0" i="0" dirty="0" err="1">
                <a:solidFill>
                  <a:srgbClr val="756F91"/>
                </a:solidFill>
                <a:latin typeface="Aptos"/>
                <a:ea typeface="Aptos"/>
                <a:cs typeface="Aptos"/>
              </a:rPr>
              <a:t>compaction</a:t>
            </a:r>
            <a:r>
              <a:rPr lang="es-MX" sz="750" b="0" i="0" dirty="0">
                <a:solidFill>
                  <a:srgbClr val="756F91"/>
                </a:solidFill>
                <a:latin typeface="Aptos"/>
                <a:ea typeface="Aptos"/>
                <a:cs typeface="Aptos"/>
              </a:rPr>
              <a:t>, y </a:t>
            </a:r>
            <a:r>
              <a:rPr lang="es-MX" sz="750" b="0" i="0" dirty="0" err="1">
                <a:solidFill>
                  <a:srgbClr val="756F91"/>
                </a:solidFill>
                <a:latin typeface="Aptos"/>
                <a:ea typeface="Aptos"/>
                <a:cs typeface="Aptos"/>
              </a:rPr>
              <a:t>agent</a:t>
            </a:r>
            <a:r>
              <a:rPr lang="es-MX" sz="750" b="0" i="0" dirty="0">
                <a:solidFill>
                  <a:srgbClr val="756F91"/>
                </a:solidFill>
                <a:latin typeface="Aptos"/>
                <a:ea typeface="Aptos"/>
                <a:cs typeface="Aptos"/>
              </a:rPr>
              <a:t> + </a:t>
            </a:r>
            <a:r>
              <a:rPr lang="es-MX" sz="750" b="0" i="0" dirty="0" err="1">
                <a:solidFill>
                  <a:srgbClr val="756F91"/>
                </a:solidFill>
                <a:latin typeface="Aptos"/>
                <a:ea typeface="Aptos"/>
                <a:cs typeface="Aptos"/>
              </a:rPr>
              <a:t>tools</a:t>
            </a:r>
            <a:r>
              <a:rPr lang="es-MX" sz="750" b="0" i="0" dirty="0">
                <a:solidFill>
                  <a:srgbClr val="756F91"/>
                </a:solidFill>
                <a:latin typeface="Aptos"/>
                <a:ea typeface="Aptos"/>
                <a:cs typeface="Aptos"/>
              </a:rPr>
              <a:t> + HITL </a:t>
            </a:r>
            <a:r>
              <a:rPr lang="es-MX" sz="750" dirty="0">
                <a:solidFill>
                  <a:srgbClr val="756F91"/>
                </a:solidFill>
                <a:latin typeface="Aptos"/>
                <a:ea typeface="Aptos"/>
                <a:cs typeface="Aptos"/>
              </a:rPr>
              <a:t>+</a:t>
            </a:r>
            <a:r>
              <a:rPr lang="es-MX" sz="750" b="0" i="0" dirty="0">
                <a:solidFill>
                  <a:srgbClr val="756F91"/>
                </a:solidFill>
                <a:latin typeface="Aptos"/>
                <a:ea typeface="Aptos"/>
                <a:cs typeface="Aptos"/>
              </a:rPr>
              <a:t> </a:t>
            </a:r>
            <a:r>
              <a:rPr lang="es-MX" sz="750" b="0" i="0" dirty="0" err="1">
                <a:solidFill>
                  <a:srgbClr val="756F91"/>
                </a:solidFill>
                <a:latin typeface="Aptos"/>
                <a:ea typeface="Aptos"/>
                <a:cs typeface="Aptos"/>
              </a:rPr>
              <a:t>checkpoint</a:t>
            </a:r>
            <a:r>
              <a:rPr lang="es-MX" sz="750" b="0" i="0" dirty="0">
                <a:solidFill>
                  <a:srgbClr val="756F91"/>
                </a:solidFill>
                <a:latin typeface="Aptos"/>
                <a:ea typeface="Aptos"/>
                <a:cs typeface="Aptos"/>
              </a:rPr>
              <a:t>)</a:t>
            </a:r>
          </a:p>
        </p:txBody>
      </p:sp>
      <p:sp>
        <p:nvSpPr>
          <p:cNvPr id="36" name="Rectángulo: esquinas redondeadas 35">
            <a:extLst>
              <a:ext uri="{FF2B5EF4-FFF2-40B4-BE49-F238E27FC236}">
                <a16:creationId xmlns:a16="http://schemas.microsoft.com/office/drawing/2014/main" id="{3242F91C-BA5A-4614-B679-64D108AEF43C}"/>
              </a:ext>
            </a:extLst>
          </p:cNvPr>
          <p:cNvSpPr>
            <a:spLocks noGrp="1"/>
          </p:cNvSpPr>
          <p:nvPr/>
        </p:nvSpPr>
        <p:spPr>
          <a:xfrm>
            <a:off x="1074198" y="5276670"/>
            <a:ext cx="1973802" cy="685800"/>
          </a:xfrm>
          <a:prstGeom prst="roundRect">
            <a:avLst>
              <a:gd name="adj" fmla="val 16667"/>
            </a:avLst>
          </a:prstGeom>
          <a:solidFill>
            <a:srgbClr val="FFFFFF"/>
          </a:solidFill>
          <a:ln w="9525">
            <a:solidFill>
              <a:srgbClr val="B8497C"/>
            </a:solidFill>
            <a:prstDash val="solid"/>
          </a:ln>
        </p:spPr>
        <p:txBody>
          <a:bodyPr/>
          <a:lstStyle/>
          <a:p>
            <a:endParaRPr lang="es-MX"/>
          </a:p>
        </p:txBody>
      </p:sp>
      <p:sp>
        <p:nvSpPr>
          <p:cNvPr id="37" name="Rectángulo 36">
            <a:extLst>
              <a:ext uri="{FF2B5EF4-FFF2-40B4-BE49-F238E27FC236}">
                <a16:creationId xmlns:a16="http://schemas.microsoft.com/office/drawing/2014/main" id="{AAF47109-5ECF-4019-AD7A-3E886D6714BF}"/>
              </a:ext>
            </a:extLst>
          </p:cNvPr>
          <p:cNvSpPr>
            <a:spLocks noGrp="1"/>
          </p:cNvSpPr>
          <p:nvPr/>
        </p:nvSpPr>
        <p:spPr>
          <a:xfrm>
            <a:off x="1143000" y="5381445"/>
            <a:ext cx="1762125" cy="190500"/>
          </a:xfrm>
          <a:prstGeom prst="rect">
            <a:avLst/>
          </a:prstGeom>
          <a:noFill/>
          <a:ln w="0">
            <a:noFill/>
          </a:ln>
        </p:spPr>
        <p:txBody>
          <a:bodyPr anchor="t">
            <a:noAutofit/>
          </a:bodyPr>
          <a:lstStyle/>
          <a:p>
            <a:pPr>
              <a:defRPr sz="975" b="1" i="0">
                <a:solidFill>
                  <a:srgbClr val="B8497C"/>
                </a:solidFill>
                <a:latin typeface="Aptos"/>
                <a:ea typeface="Aptos"/>
                <a:cs typeface="Aptos"/>
              </a:defRPr>
            </a:pPr>
            <a:r>
              <a:rPr sz="900" b="1" i="0" dirty="0">
                <a:solidFill>
                  <a:srgbClr val="B8497C"/>
                </a:solidFill>
                <a:latin typeface="Aptos"/>
                <a:ea typeface="Aptos"/>
                <a:cs typeface="Aptos"/>
              </a:rPr>
              <a:t>ACK DE DECISIÓN</a:t>
            </a:r>
          </a:p>
        </p:txBody>
      </p:sp>
      <p:sp>
        <p:nvSpPr>
          <p:cNvPr id="38" name="Rectángulo 37">
            <a:extLst>
              <a:ext uri="{FF2B5EF4-FFF2-40B4-BE49-F238E27FC236}">
                <a16:creationId xmlns:a16="http://schemas.microsoft.com/office/drawing/2014/main" id="{C0533B73-E83C-4D4A-91E9-A028A6229C21}"/>
              </a:ext>
            </a:extLst>
          </p:cNvPr>
          <p:cNvSpPr>
            <a:spLocks noGrp="1"/>
          </p:cNvSpPr>
          <p:nvPr/>
        </p:nvSpPr>
        <p:spPr>
          <a:xfrm>
            <a:off x="1143000" y="5638620"/>
            <a:ext cx="1762125" cy="171450"/>
          </a:xfrm>
          <a:prstGeom prst="rect">
            <a:avLst/>
          </a:prstGeom>
          <a:noFill/>
          <a:ln w="0">
            <a:noFill/>
          </a:ln>
        </p:spPr>
        <p:txBody>
          <a:bodyPr anchor="t">
            <a:noAutofit/>
          </a:bodyPr>
          <a:lstStyle/>
          <a:p>
            <a:pPr>
              <a:defRPr sz="975" b="0" i="0">
                <a:solidFill>
                  <a:srgbClr val="756F91"/>
                </a:solidFill>
                <a:latin typeface="Aptos"/>
                <a:ea typeface="Aptos"/>
                <a:cs typeface="Aptos"/>
              </a:defRPr>
            </a:pPr>
            <a:r>
              <a:rPr sz="900" b="0" i="0" dirty="0" err="1">
                <a:solidFill>
                  <a:srgbClr val="756F91"/>
                </a:solidFill>
                <a:latin typeface="Aptos"/>
                <a:ea typeface="Aptos"/>
                <a:cs typeface="Aptos"/>
              </a:rPr>
              <a:t>precio</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aprobado</a:t>
            </a:r>
            <a:endParaRPr sz="900" b="0" i="0" dirty="0">
              <a:solidFill>
                <a:srgbClr val="756F91"/>
              </a:solidFill>
              <a:latin typeface="Aptos"/>
              <a:ea typeface="Aptos"/>
              <a:cs typeface="Aptos"/>
            </a:endParaRPr>
          </a:p>
        </p:txBody>
      </p:sp>
      <p:sp>
        <p:nvSpPr>
          <p:cNvPr id="39" name="Rectángulo: esquinas redondeadas 38">
            <a:extLst>
              <a:ext uri="{FF2B5EF4-FFF2-40B4-BE49-F238E27FC236}">
                <a16:creationId xmlns:a16="http://schemas.microsoft.com/office/drawing/2014/main" id="{A41A46D2-5193-46CD-8D36-91DE97E8DE5E}"/>
              </a:ext>
            </a:extLst>
          </p:cNvPr>
          <p:cNvSpPr>
            <a:spLocks noGrp="1"/>
          </p:cNvSpPr>
          <p:nvPr/>
        </p:nvSpPr>
        <p:spPr>
          <a:xfrm>
            <a:off x="6667499" y="5276670"/>
            <a:ext cx="4964471" cy="685800"/>
          </a:xfrm>
          <a:prstGeom prst="roundRect">
            <a:avLst>
              <a:gd name="adj" fmla="val 16667"/>
            </a:avLst>
          </a:prstGeom>
          <a:solidFill>
            <a:srgbClr val="FFFFFF"/>
          </a:solidFill>
          <a:ln w="9525">
            <a:solidFill>
              <a:srgbClr val="009566"/>
            </a:solidFill>
            <a:prstDash val="solid"/>
          </a:ln>
        </p:spPr>
        <p:txBody>
          <a:bodyPr/>
          <a:lstStyle/>
          <a:p>
            <a:endParaRPr lang="es-MX"/>
          </a:p>
        </p:txBody>
      </p:sp>
      <p:sp>
        <p:nvSpPr>
          <p:cNvPr id="40" name="Rectángulo 39">
            <a:extLst>
              <a:ext uri="{FF2B5EF4-FFF2-40B4-BE49-F238E27FC236}">
                <a16:creationId xmlns:a16="http://schemas.microsoft.com/office/drawing/2014/main" id="{EB895DF7-423F-4C86-8324-2DC35A6081E4}"/>
              </a:ext>
            </a:extLst>
          </p:cNvPr>
          <p:cNvSpPr>
            <a:spLocks noGrp="1"/>
          </p:cNvSpPr>
          <p:nvPr/>
        </p:nvSpPr>
        <p:spPr>
          <a:xfrm>
            <a:off x="6810375" y="5381445"/>
            <a:ext cx="4572000" cy="190500"/>
          </a:xfrm>
          <a:prstGeom prst="rect">
            <a:avLst/>
          </a:prstGeom>
          <a:noFill/>
          <a:ln w="0">
            <a:noFill/>
          </a:ln>
        </p:spPr>
        <p:txBody>
          <a:bodyPr anchor="t">
            <a:noAutofit/>
          </a:bodyPr>
          <a:lstStyle/>
          <a:p>
            <a:pPr>
              <a:defRPr sz="975" b="1" i="0">
                <a:solidFill>
                  <a:srgbClr val="009566"/>
                </a:solidFill>
                <a:latin typeface="Aptos"/>
                <a:ea typeface="Aptos"/>
                <a:cs typeface="Aptos"/>
              </a:defRPr>
            </a:pPr>
            <a:r>
              <a:rPr lang="es-MX" sz="900" b="1" i="0" dirty="0">
                <a:solidFill>
                  <a:srgbClr val="009566"/>
                </a:solidFill>
                <a:latin typeface="Aptos"/>
                <a:ea typeface="Aptos"/>
                <a:cs typeface="Aptos"/>
              </a:rPr>
              <a:t>ADAPTADOR DE CANAL / </a:t>
            </a:r>
            <a:r>
              <a:rPr sz="900" b="1" i="0" dirty="0">
                <a:solidFill>
                  <a:srgbClr val="009566"/>
                </a:solidFill>
                <a:latin typeface="Aptos"/>
                <a:ea typeface="Aptos"/>
                <a:cs typeface="Aptos"/>
              </a:rPr>
              <a:t>SALIDA COORDINADA</a:t>
            </a:r>
          </a:p>
        </p:txBody>
      </p:sp>
      <p:sp>
        <p:nvSpPr>
          <p:cNvPr id="41" name="Rectángulo 40">
            <a:extLst>
              <a:ext uri="{FF2B5EF4-FFF2-40B4-BE49-F238E27FC236}">
                <a16:creationId xmlns:a16="http://schemas.microsoft.com/office/drawing/2014/main" id="{E46D86DC-EF9F-4E46-A22E-0EDE12F2DEF3}"/>
              </a:ext>
            </a:extLst>
          </p:cNvPr>
          <p:cNvSpPr>
            <a:spLocks noGrp="1"/>
          </p:cNvSpPr>
          <p:nvPr/>
        </p:nvSpPr>
        <p:spPr>
          <a:xfrm>
            <a:off x="6810375" y="5638620"/>
            <a:ext cx="4572000" cy="171450"/>
          </a:xfrm>
          <a:prstGeom prst="rect">
            <a:avLst/>
          </a:prstGeom>
          <a:noFill/>
          <a:ln w="0">
            <a:noFill/>
          </a:ln>
        </p:spPr>
        <p:txBody>
          <a:bodyPr anchor="t">
            <a:noAutofit/>
          </a:bodyPr>
          <a:lstStyle/>
          <a:p>
            <a:pPr>
              <a:defRPr sz="975" b="0" i="0">
                <a:solidFill>
                  <a:srgbClr val="756F91"/>
                </a:solidFill>
                <a:latin typeface="Aptos"/>
                <a:ea typeface="Aptos"/>
                <a:cs typeface="Aptos"/>
              </a:defRPr>
            </a:pPr>
            <a:r>
              <a:rPr lang="es-ES" sz="900" b="0" i="0" dirty="0">
                <a:solidFill>
                  <a:srgbClr val="756F91"/>
                </a:solidFill>
                <a:latin typeface="Aptos"/>
                <a:ea typeface="Aptos"/>
                <a:cs typeface="Aptos"/>
              </a:rPr>
              <a:t>Web: compone </a:t>
            </a:r>
            <a:r>
              <a:rPr lang="es-ES" sz="900" b="0" i="0" dirty="0" err="1">
                <a:solidFill>
                  <a:srgbClr val="756F91"/>
                </a:solidFill>
                <a:latin typeface="Aptos"/>
                <a:ea typeface="Aptos"/>
                <a:cs typeface="Aptos"/>
              </a:rPr>
              <a:t>ack</a:t>
            </a:r>
            <a:r>
              <a:rPr lang="es-ES" sz="900" b="0" i="0" dirty="0">
                <a:solidFill>
                  <a:srgbClr val="756F91"/>
                </a:solidFill>
                <a:latin typeface="Aptos"/>
                <a:ea typeface="Aptos"/>
                <a:cs typeface="Aptos"/>
              </a:rPr>
              <a:t> + respuesta </a:t>
            </a:r>
            <a:r>
              <a:rPr lang="es-MX" sz="900" dirty="0">
                <a:solidFill>
                  <a:srgbClr val="756F91"/>
                </a:solidFill>
                <a:latin typeface="Aptos"/>
                <a:ea typeface="Aptos"/>
                <a:cs typeface="Aptos"/>
              </a:rPr>
              <a:t>·</a:t>
            </a:r>
            <a:r>
              <a:rPr lang="es-ES" sz="900" b="0" i="0" dirty="0">
                <a:solidFill>
                  <a:srgbClr val="756F91"/>
                </a:solidFill>
                <a:latin typeface="Aptos"/>
                <a:ea typeface="Aptos"/>
                <a:cs typeface="Aptos"/>
              </a:rPr>
              <a:t> Telegram: envía </a:t>
            </a:r>
            <a:r>
              <a:rPr lang="es-ES" sz="900" b="0" i="0" dirty="0" err="1">
                <a:solidFill>
                  <a:srgbClr val="756F91"/>
                </a:solidFill>
                <a:latin typeface="Aptos"/>
                <a:ea typeface="Aptos"/>
                <a:cs typeface="Aptos"/>
              </a:rPr>
              <a:t>ack</a:t>
            </a:r>
            <a:r>
              <a:rPr lang="es-ES" sz="900" b="0" i="0" dirty="0">
                <a:solidFill>
                  <a:srgbClr val="756F91"/>
                </a:solidFill>
                <a:latin typeface="Aptos"/>
                <a:ea typeface="Aptos"/>
                <a:cs typeface="Aptos"/>
              </a:rPr>
              <a:t> y después respuesta</a:t>
            </a:r>
            <a:endParaRPr sz="900" b="0" i="0" dirty="0">
              <a:solidFill>
                <a:srgbClr val="756F91"/>
              </a:solidFill>
              <a:latin typeface="Aptos"/>
              <a:ea typeface="Aptos"/>
              <a:cs typeface="Aptos"/>
            </a:endParaRPr>
          </a:p>
        </p:txBody>
      </p:sp>
      <p:cxnSp>
        <p:nvCxnSpPr>
          <p:cNvPr id="95" name="Conector recto de flecha 94"/>
          <p:cNvCxnSpPr>
            <a:cxnSpLocks/>
            <a:stCxn id="24" idx="2"/>
            <a:endCxn id="36" idx="0"/>
          </p:cNvCxnSpPr>
          <p:nvPr/>
        </p:nvCxnSpPr>
        <p:spPr>
          <a:xfrm flipH="1">
            <a:off x="2061099" y="5000625"/>
            <a:ext cx="1064" cy="276045"/>
          </a:xfrm>
          <a:prstGeom prst="straightConnector1">
            <a:avLst/>
          </a:prstGeom>
          <a:ln w="19050">
            <a:solidFill>
              <a:srgbClr val="B8497C"/>
            </a:solidFill>
            <a:prstDash val="solid"/>
            <a:tailEnd type="arrow" w="med" len="med"/>
          </a:ln>
        </p:spPr>
      </p:cxnSp>
      <p:cxnSp>
        <p:nvCxnSpPr>
          <p:cNvPr id="96" name="Conector recto de flecha 95"/>
          <p:cNvCxnSpPr>
            <a:cxnSpLocks/>
            <a:stCxn id="27" idx="3"/>
            <a:endCxn id="30" idx="1"/>
          </p:cNvCxnSpPr>
          <p:nvPr/>
        </p:nvCxnSpPr>
        <p:spPr>
          <a:xfrm>
            <a:off x="6610544" y="4524375"/>
            <a:ext cx="319308" cy="0"/>
          </a:xfrm>
          <a:prstGeom prst="straightConnector1">
            <a:avLst/>
          </a:prstGeom>
          <a:ln w="19050">
            <a:solidFill>
              <a:srgbClr val="5C2DD2"/>
            </a:solidFill>
            <a:prstDash val="solid"/>
            <a:tailEnd type="arrow" w="med" len="med"/>
          </a:ln>
        </p:spPr>
      </p:cxnSp>
      <p:cxnSp>
        <p:nvCxnSpPr>
          <p:cNvPr id="97" name="Conector recto de flecha 96"/>
          <p:cNvCxnSpPr>
            <a:cxnSpLocks/>
            <a:stCxn id="30" idx="3"/>
            <a:endCxn id="33" idx="1"/>
          </p:cNvCxnSpPr>
          <p:nvPr/>
        </p:nvCxnSpPr>
        <p:spPr>
          <a:xfrm>
            <a:off x="8187860" y="4524375"/>
            <a:ext cx="319308" cy="0"/>
          </a:xfrm>
          <a:prstGeom prst="straightConnector1">
            <a:avLst/>
          </a:prstGeom>
          <a:ln w="19050">
            <a:solidFill>
              <a:srgbClr val="009566"/>
            </a:solidFill>
            <a:prstDash val="solid"/>
            <a:tailEnd type="arrow" w="med" len="med"/>
          </a:ln>
        </p:spPr>
      </p:cxnSp>
      <p:cxnSp>
        <p:nvCxnSpPr>
          <p:cNvPr id="98" name="Conector recto de flecha 97"/>
          <p:cNvCxnSpPr>
            <a:cxnSpLocks/>
            <a:stCxn id="36" idx="3"/>
            <a:endCxn id="39" idx="1"/>
          </p:cNvCxnSpPr>
          <p:nvPr/>
        </p:nvCxnSpPr>
        <p:spPr>
          <a:xfrm>
            <a:off x="3048000" y="5619570"/>
            <a:ext cx="3619499" cy="0"/>
          </a:xfrm>
          <a:prstGeom prst="straightConnector1">
            <a:avLst/>
          </a:prstGeom>
          <a:ln w="19050">
            <a:solidFill>
              <a:srgbClr val="B8497C"/>
            </a:solidFill>
            <a:prstDash val="solid"/>
            <a:tailEnd type="arrow" w="med" len="med"/>
          </a:ln>
        </p:spPr>
      </p:cxnSp>
      <p:cxnSp>
        <p:nvCxnSpPr>
          <p:cNvPr id="99" name="Conector: angular 98"/>
          <p:cNvCxnSpPr>
            <a:cxnSpLocks/>
            <a:stCxn id="33" idx="2"/>
            <a:endCxn id="39" idx="0"/>
          </p:cNvCxnSpPr>
          <p:nvPr/>
        </p:nvCxnSpPr>
        <p:spPr>
          <a:xfrm rot="5400000">
            <a:off x="9471631" y="4678730"/>
            <a:ext cx="276045" cy="919835"/>
          </a:xfrm>
          <a:prstGeom prst="bentConnector3">
            <a:avLst>
              <a:gd name="adj1" fmla="val 50000"/>
            </a:avLst>
          </a:prstGeom>
          <a:ln w="19050">
            <a:solidFill>
              <a:srgbClr val="009566"/>
            </a:solidFill>
            <a:prstDash val="solid"/>
            <a:tailEnd type="arrow" w="med" len="med"/>
          </a:ln>
        </p:spPr>
      </p:cxnSp>
      <p:sp>
        <p:nvSpPr>
          <p:cNvPr id="49" name="Rectángulo 48">
            <a:extLst>
              <a:ext uri="{FF2B5EF4-FFF2-40B4-BE49-F238E27FC236}">
                <a16:creationId xmlns:a16="http://schemas.microsoft.com/office/drawing/2014/main" id="{2B7C6A55-0EA0-4AFD-A797-856EC9ED7E48}"/>
              </a:ext>
            </a:extLst>
          </p:cNvPr>
          <p:cNvSpPr>
            <a:spLocks noGrp="1"/>
          </p:cNvSpPr>
          <p:nvPr/>
        </p:nvSpPr>
        <p:spPr>
          <a:xfrm>
            <a:off x="5136849" y="3833814"/>
            <a:ext cx="2622227" cy="136064"/>
          </a:xfrm>
          <a:prstGeom prst="rect">
            <a:avLst/>
          </a:prstGeom>
          <a:noFill/>
          <a:ln w="0">
            <a:noFill/>
          </a:ln>
        </p:spPr>
        <p:txBody>
          <a:bodyPr anchor="t">
            <a:noAutofit/>
          </a:bodyPr>
          <a:lstStyle/>
          <a:p>
            <a:pPr>
              <a:defRPr sz="900" b="1" i="0">
                <a:solidFill>
                  <a:srgbClr val="5C2DD2"/>
                </a:solidFill>
                <a:latin typeface="Aptos"/>
                <a:ea typeface="Aptos"/>
                <a:cs typeface="Aptos"/>
              </a:defRPr>
            </a:pPr>
            <a:r>
              <a:rPr lang="es-MX" sz="800" b="1" i="0" dirty="0" err="1">
                <a:solidFill>
                  <a:srgbClr val="5C2DD2"/>
                </a:solidFill>
                <a:latin typeface="Aptos"/>
                <a:ea typeface="Aptos"/>
                <a:cs typeface="Aptos"/>
              </a:rPr>
              <a:t>handled</a:t>
            </a:r>
            <a:r>
              <a:rPr lang="es-MX" sz="800" b="1" i="0" dirty="0">
                <a:solidFill>
                  <a:srgbClr val="5C2DD2"/>
                </a:solidFill>
                <a:latin typeface="Aptos"/>
                <a:ea typeface="Aptos"/>
                <a:cs typeface="Aptos"/>
              </a:rPr>
              <a:t>=false; </a:t>
            </a:r>
            <a:r>
              <a:rPr sz="800" b="1" i="0" dirty="0" err="1">
                <a:solidFill>
                  <a:srgbClr val="5C2DD2"/>
                </a:solidFill>
                <a:latin typeface="Aptos"/>
                <a:ea typeface="Aptos"/>
                <a:cs typeface="Aptos"/>
              </a:rPr>
              <a:t>Sólo</a:t>
            </a:r>
            <a:r>
              <a:rPr sz="800" b="1" i="0" dirty="0">
                <a:solidFill>
                  <a:srgbClr val="5C2DD2"/>
                </a:solidFill>
                <a:latin typeface="Aptos"/>
                <a:ea typeface="Aptos"/>
                <a:cs typeface="Aptos"/>
              </a:rPr>
              <a:t> se </a:t>
            </a:r>
            <a:r>
              <a:rPr sz="800" b="1" i="0" dirty="0" err="1">
                <a:solidFill>
                  <a:srgbClr val="5C2DD2"/>
                </a:solidFill>
                <a:latin typeface="Aptos"/>
                <a:ea typeface="Aptos"/>
                <a:cs typeface="Aptos"/>
              </a:rPr>
              <a:t>reenvía</a:t>
            </a:r>
            <a:r>
              <a:rPr sz="800" b="1" i="0" dirty="0">
                <a:solidFill>
                  <a:srgbClr val="5C2DD2"/>
                </a:solidFill>
                <a:latin typeface="Aptos"/>
                <a:ea typeface="Aptos"/>
                <a:cs typeface="Aptos"/>
              </a:rPr>
              <a:t> la </a:t>
            </a:r>
            <a:r>
              <a:rPr sz="800" b="1" i="0" dirty="0" err="1">
                <a:solidFill>
                  <a:srgbClr val="5C2DD2"/>
                </a:solidFill>
                <a:latin typeface="Aptos"/>
                <a:ea typeface="Aptos"/>
                <a:cs typeface="Aptos"/>
              </a:rPr>
              <a:t>pregunta</a:t>
            </a:r>
            <a:r>
              <a:rPr sz="800" b="1" i="0" dirty="0">
                <a:solidFill>
                  <a:srgbClr val="5C2DD2"/>
                </a:solidFill>
                <a:latin typeface="Aptos"/>
                <a:ea typeface="Aptos"/>
                <a:cs typeface="Aptos"/>
              </a:rPr>
              <a:t> residual</a:t>
            </a:r>
          </a:p>
        </p:txBody>
      </p:sp>
      <p:sp>
        <p:nvSpPr>
          <p:cNvPr id="50" name="Rectángulo: esquinas redondeadas 49">
            <a:extLst>
              <a:ext uri="{FF2B5EF4-FFF2-40B4-BE49-F238E27FC236}">
                <a16:creationId xmlns:a16="http://schemas.microsoft.com/office/drawing/2014/main" id="{BE4FF0C3-8DA5-45E4-838D-335E49F090AB}"/>
              </a:ext>
            </a:extLst>
          </p:cNvPr>
          <p:cNvSpPr>
            <a:spLocks noGrp="1"/>
          </p:cNvSpPr>
          <p:nvPr/>
        </p:nvSpPr>
        <p:spPr>
          <a:xfrm>
            <a:off x="666750" y="6104046"/>
            <a:ext cx="10965220" cy="342900"/>
          </a:xfrm>
          <a:prstGeom prst="roundRect">
            <a:avLst>
              <a:gd name="adj" fmla="val 25000"/>
            </a:avLst>
          </a:prstGeom>
          <a:solidFill>
            <a:srgbClr val="211D31"/>
          </a:solidFill>
          <a:ln w="9525">
            <a:solidFill>
              <a:srgbClr val="211D31"/>
            </a:solidFill>
            <a:prstDash val="solid"/>
          </a:ln>
        </p:spPr>
        <p:txBody>
          <a:bodyPr/>
          <a:lstStyle/>
          <a:p>
            <a:pPr algn="ctr"/>
            <a:endParaRPr lang="es-MX" dirty="0"/>
          </a:p>
        </p:txBody>
      </p:sp>
      <p:sp>
        <p:nvSpPr>
          <p:cNvPr id="51" name="Rectángulo 50">
            <a:extLst>
              <a:ext uri="{FF2B5EF4-FFF2-40B4-BE49-F238E27FC236}">
                <a16:creationId xmlns:a16="http://schemas.microsoft.com/office/drawing/2014/main" id="{6EE8067C-6462-4F28-A94F-3A1418C2955E}"/>
              </a:ext>
            </a:extLst>
          </p:cNvPr>
          <p:cNvSpPr>
            <a:spLocks noGrp="1"/>
          </p:cNvSpPr>
          <p:nvPr/>
        </p:nvSpPr>
        <p:spPr>
          <a:xfrm>
            <a:off x="876300" y="6134889"/>
            <a:ext cx="10439400" cy="295274"/>
          </a:xfrm>
          <a:prstGeom prst="rect">
            <a:avLst/>
          </a:prstGeom>
          <a:noFill/>
          <a:ln w="0">
            <a:noFill/>
          </a:ln>
        </p:spPr>
        <p:txBody>
          <a:bodyPr anchor="t">
            <a:noAutofit/>
          </a:bodyPr>
          <a:lstStyle/>
          <a:p>
            <a:pPr algn="ctr">
              <a:defRPr sz="975" b="1" i="0">
                <a:solidFill>
                  <a:srgbClr val="FFFFFF"/>
                </a:solidFill>
                <a:latin typeface="Aptos"/>
                <a:ea typeface="Aptos"/>
                <a:cs typeface="Aptos"/>
              </a:defRPr>
            </a:pPr>
            <a:r>
              <a:rPr sz="1200" b="1" i="0" dirty="0">
                <a:solidFill>
                  <a:srgbClr val="FFFFFF"/>
                </a:solidFill>
                <a:latin typeface="Aptos"/>
                <a:ea typeface="Aptos"/>
                <a:cs typeface="Aptos"/>
              </a:rPr>
              <a:t>Si el split no </a:t>
            </a:r>
            <a:r>
              <a:rPr sz="1200" b="1" i="0" dirty="0" err="1">
                <a:solidFill>
                  <a:srgbClr val="FFFFFF"/>
                </a:solidFill>
                <a:latin typeface="Aptos"/>
                <a:ea typeface="Aptos"/>
                <a:cs typeface="Aptos"/>
              </a:rPr>
              <a:t>pasa</a:t>
            </a:r>
            <a:r>
              <a:rPr sz="1200" b="1" i="0" dirty="0">
                <a:solidFill>
                  <a:srgbClr val="FFFFFF"/>
                </a:solidFill>
                <a:latin typeface="Aptos"/>
                <a:ea typeface="Aptos"/>
                <a:cs typeface="Aptos"/>
              </a:rPr>
              <a:t> el guard, se </a:t>
            </a:r>
            <a:r>
              <a:rPr sz="1200" b="1" i="0" dirty="0" err="1">
                <a:solidFill>
                  <a:srgbClr val="FFFFFF"/>
                </a:solidFill>
                <a:latin typeface="Aptos"/>
                <a:ea typeface="Aptos"/>
                <a:cs typeface="Aptos"/>
              </a:rPr>
              <a:t>conserva</a:t>
            </a:r>
            <a:r>
              <a:rPr sz="1200" b="1" i="0" dirty="0">
                <a:solidFill>
                  <a:srgbClr val="FFFFFF"/>
                </a:solidFill>
                <a:latin typeface="Aptos"/>
                <a:ea typeface="Aptos"/>
                <a:cs typeface="Aptos"/>
              </a:rPr>
              <a:t> el </a:t>
            </a:r>
            <a:r>
              <a:rPr sz="1200" b="1" i="0" dirty="0" err="1">
                <a:solidFill>
                  <a:srgbClr val="FFFFFF"/>
                </a:solidFill>
                <a:latin typeface="Aptos"/>
                <a:ea typeface="Aptos"/>
                <a:cs typeface="Aptos"/>
              </a:rPr>
              <a:t>mensaje</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completo</a:t>
            </a:r>
            <a:r>
              <a:rPr sz="1200" b="1" i="0" dirty="0">
                <a:solidFill>
                  <a:srgbClr val="FFFFFF"/>
                </a:solidFill>
                <a:latin typeface="Aptos"/>
                <a:ea typeface="Aptos"/>
                <a:cs typeface="Aptos"/>
              </a:rPr>
              <a:t>. Si </a:t>
            </a:r>
            <a:r>
              <a:rPr sz="1200" b="1" i="0" dirty="0" err="1">
                <a:solidFill>
                  <a:srgbClr val="FFFFFF"/>
                </a:solidFill>
                <a:latin typeface="Aptos"/>
                <a:ea typeface="Aptos"/>
                <a:cs typeface="Aptos"/>
              </a:rPr>
              <a:t>ningún</a:t>
            </a:r>
            <a:r>
              <a:rPr sz="1200" b="1" i="0" dirty="0">
                <a:solidFill>
                  <a:srgbClr val="FFFFFF"/>
                </a:solidFill>
                <a:latin typeface="Aptos"/>
                <a:ea typeface="Aptos"/>
                <a:cs typeface="Aptos"/>
              </a:rPr>
              <a:t> </a:t>
            </a:r>
            <a:r>
              <a:rPr lang="es-MX" sz="1200" b="1" dirty="0" err="1">
                <a:solidFill>
                  <a:srgbClr val="FFFFFF"/>
                </a:solidFill>
                <a:latin typeface="Aptos"/>
                <a:ea typeface="Aptos"/>
                <a:cs typeface="Aptos"/>
              </a:rPr>
              <a:t>intent</a:t>
            </a:r>
            <a:r>
              <a:rPr lang="es-MX" sz="1200" b="1" dirty="0">
                <a:solidFill>
                  <a:srgbClr val="FFFFFF"/>
                </a:solidFill>
                <a:latin typeface="Aptos"/>
                <a:ea typeface="Aptos"/>
                <a:cs typeface="Aptos"/>
              </a:rPr>
              <a:t> es manejado</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llega</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íntegro</a:t>
            </a:r>
            <a:r>
              <a:rPr sz="1200" b="1" i="0" dirty="0">
                <a:solidFill>
                  <a:srgbClr val="FFFFFF"/>
                </a:solidFill>
                <a:latin typeface="Aptos"/>
                <a:ea typeface="Aptos"/>
                <a:cs typeface="Aptos"/>
              </a:rPr>
              <a:t> al </a:t>
            </a:r>
            <a:r>
              <a:rPr sz="1200" b="1" i="0" dirty="0" err="1">
                <a:solidFill>
                  <a:srgbClr val="FFFFFF"/>
                </a:solidFill>
                <a:latin typeface="Aptos"/>
                <a:ea typeface="Aptos"/>
                <a:cs typeface="Aptos"/>
              </a:rPr>
              <a:t>agente</a:t>
            </a:r>
            <a:r>
              <a:rPr sz="1200" b="1" i="0" dirty="0">
                <a:solidFill>
                  <a:srgbClr val="FFFFFF"/>
                </a:solidFill>
                <a:latin typeface="Aptos"/>
                <a:ea typeface="Aptos"/>
                <a:cs typeface="Aptos"/>
              </a:rPr>
              <a:t>.</a:t>
            </a:r>
          </a:p>
        </p:txBody>
      </p:sp>
      <p:sp>
        <p:nvSpPr>
          <p:cNvPr id="22" name="Rectángulo 21">
            <a:extLst>
              <a:ext uri="{FF2B5EF4-FFF2-40B4-BE49-F238E27FC236}">
                <a16:creationId xmlns:a16="http://schemas.microsoft.com/office/drawing/2014/main" id="{315A7638-5FE8-7F45-2F25-6658AFD0AAF1}"/>
              </a:ext>
            </a:extLst>
          </p:cNvPr>
          <p:cNvSpPr>
            <a:spLocks noGrp="1"/>
          </p:cNvSpPr>
          <p:nvPr/>
        </p:nvSpPr>
        <p:spPr>
          <a:xfrm>
            <a:off x="2067198" y="3692178"/>
            <a:ext cx="2840543" cy="311556"/>
          </a:xfrm>
          <a:prstGeom prst="rect">
            <a:avLst/>
          </a:prstGeom>
          <a:noFill/>
          <a:ln w="0">
            <a:noFill/>
          </a:ln>
        </p:spPr>
        <p:txBody>
          <a:bodyPr anchor="t">
            <a:noAutofit/>
          </a:bodyPr>
          <a:lstStyle/>
          <a:p>
            <a:pPr>
              <a:defRPr sz="900" b="1" i="0">
                <a:solidFill>
                  <a:srgbClr val="5C2DD2"/>
                </a:solidFill>
                <a:latin typeface="Aptos"/>
                <a:ea typeface="Aptos"/>
                <a:cs typeface="Aptos"/>
              </a:defRPr>
            </a:pPr>
            <a:r>
              <a:rPr lang="es-MX" sz="800" b="1" dirty="0" err="1">
                <a:solidFill>
                  <a:srgbClr val="B8497C"/>
                </a:solidFill>
                <a:latin typeface="Aptos"/>
                <a:ea typeface="Aptos"/>
                <a:cs typeface="Aptos"/>
              </a:rPr>
              <a:t>h</a:t>
            </a:r>
            <a:r>
              <a:rPr lang="es-MX" sz="800" b="1" i="0" dirty="0" err="1">
                <a:solidFill>
                  <a:srgbClr val="B8497C"/>
                </a:solidFill>
                <a:latin typeface="Aptos"/>
                <a:ea typeface="Aptos"/>
                <a:cs typeface="Aptos"/>
              </a:rPr>
              <a:t>andled</a:t>
            </a:r>
            <a:r>
              <a:rPr lang="es-MX" sz="800" b="1" i="0" dirty="0">
                <a:solidFill>
                  <a:srgbClr val="B8497C"/>
                </a:solidFill>
                <a:latin typeface="Aptos"/>
                <a:ea typeface="Aptos"/>
                <a:cs typeface="Aptos"/>
              </a:rPr>
              <a:t>=true; Short-</a:t>
            </a:r>
            <a:r>
              <a:rPr lang="es-MX" sz="800" b="1" i="0" dirty="0" err="1">
                <a:solidFill>
                  <a:srgbClr val="B8497C"/>
                </a:solidFill>
                <a:latin typeface="Aptos"/>
                <a:ea typeface="Aptos"/>
                <a:cs typeface="Aptos"/>
              </a:rPr>
              <a:t>circuit</a:t>
            </a:r>
            <a:r>
              <a:rPr lang="es-MX" sz="800" b="1" i="0" dirty="0">
                <a:solidFill>
                  <a:srgbClr val="B8497C"/>
                </a:solidFill>
                <a:latin typeface="Aptos"/>
                <a:ea typeface="Aptos"/>
                <a:cs typeface="Aptos"/>
              </a:rPr>
              <a:t> gobernado, </a:t>
            </a:r>
          </a:p>
          <a:p>
            <a:pPr>
              <a:defRPr sz="900" b="1" i="0">
                <a:solidFill>
                  <a:srgbClr val="5C2DD2"/>
                </a:solidFill>
                <a:latin typeface="Aptos"/>
                <a:ea typeface="Aptos"/>
                <a:cs typeface="Aptos"/>
              </a:defRPr>
            </a:pPr>
            <a:r>
              <a:rPr lang="es-MX" sz="800" b="1" i="0" dirty="0">
                <a:solidFill>
                  <a:srgbClr val="B8497C"/>
                </a:solidFill>
                <a:latin typeface="Aptos"/>
                <a:ea typeface="Aptos"/>
                <a:cs typeface="Aptos"/>
              </a:rPr>
              <a:t>la decisión no entra al </a:t>
            </a:r>
            <a:r>
              <a:rPr lang="es-MX" sz="800" b="1" i="0" dirty="0" err="1">
                <a:solidFill>
                  <a:srgbClr val="B8497C"/>
                </a:solidFill>
                <a:latin typeface="Aptos"/>
                <a:ea typeface="Aptos"/>
                <a:cs typeface="Aptos"/>
              </a:rPr>
              <a:t>StateGraph</a:t>
            </a:r>
            <a:endParaRPr sz="800" b="1" i="0" dirty="0">
              <a:solidFill>
                <a:srgbClr val="B8497C"/>
              </a:solidFill>
              <a:latin typeface="Aptos"/>
              <a:ea typeface="Aptos"/>
              <a:cs typeface="Aptos"/>
            </a:endParaRPr>
          </a:p>
        </p:txBody>
      </p:sp>
      <p:sp>
        <p:nvSpPr>
          <p:cNvPr id="58" name="Rectángulo: esquinas redondeadas 57">
            <a:extLst>
              <a:ext uri="{FF2B5EF4-FFF2-40B4-BE49-F238E27FC236}">
                <a16:creationId xmlns:a16="http://schemas.microsoft.com/office/drawing/2014/main" id="{3530B073-C336-3FE6-4EE8-EC529DCD31B0}"/>
              </a:ext>
            </a:extLst>
          </p:cNvPr>
          <p:cNvSpPr>
            <a:spLocks noGrp="1"/>
          </p:cNvSpPr>
          <p:nvPr/>
        </p:nvSpPr>
        <p:spPr>
          <a:xfrm>
            <a:off x="8970138" y="2448602"/>
            <a:ext cx="2661833" cy="1002349"/>
          </a:xfrm>
          <a:prstGeom prst="roundRect">
            <a:avLst>
              <a:gd name="adj" fmla="val 13043"/>
            </a:avLst>
          </a:prstGeom>
          <a:solidFill>
            <a:srgbClr val="E7ECFB"/>
          </a:solidFill>
          <a:ln w="9525">
            <a:solidFill>
              <a:srgbClr val="4866C6"/>
            </a:solidFill>
            <a:prstDash val="solid"/>
          </a:ln>
        </p:spPr>
        <p:txBody>
          <a:bodyPr/>
          <a:lstStyle/>
          <a:p>
            <a:endParaRPr lang="es-MX"/>
          </a:p>
        </p:txBody>
      </p:sp>
      <p:sp>
        <p:nvSpPr>
          <p:cNvPr id="60" name="Rectángulo 59">
            <a:extLst>
              <a:ext uri="{FF2B5EF4-FFF2-40B4-BE49-F238E27FC236}">
                <a16:creationId xmlns:a16="http://schemas.microsoft.com/office/drawing/2014/main" id="{1157FD43-8E1B-0B7E-C389-51BE37089997}"/>
              </a:ext>
            </a:extLst>
          </p:cNvPr>
          <p:cNvSpPr>
            <a:spLocks noGrp="1"/>
          </p:cNvSpPr>
          <p:nvPr/>
        </p:nvSpPr>
        <p:spPr>
          <a:xfrm>
            <a:off x="9143908" y="2448601"/>
            <a:ext cx="2353506" cy="393577"/>
          </a:xfrm>
          <a:prstGeom prst="rect">
            <a:avLst/>
          </a:prstGeom>
          <a:noFill/>
          <a:ln w="0">
            <a:noFill/>
          </a:ln>
        </p:spPr>
        <p:txBody>
          <a:bodyPr anchor="t">
            <a:normAutofit fontScale="92500" lnSpcReduction="10000"/>
          </a:bodyPr>
          <a:lstStyle/>
          <a:p>
            <a:pPr marL="144000" indent="-144000">
              <a:defRPr sz="1050" b="1" i="0">
                <a:solidFill>
                  <a:srgbClr val="4866C6"/>
                </a:solidFill>
                <a:latin typeface="Aptos"/>
                <a:ea typeface="Aptos"/>
                <a:cs typeface="Aptos"/>
              </a:defRPr>
            </a:pPr>
            <a:r>
              <a:rPr lang="es-MX" sz="1050" b="1" dirty="0">
                <a:solidFill>
                  <a:srgbClr val="4866C6"/>
                </a:solidFill>
                <a:latin typeface="Aptos"/>
                <a:ea typeface="Aptos"/>
                <a:cs typeface="Aptos"/>
              </a:rPr>
              <a:t>4</a:t>
            </a:r>
            <a:r>
              <a:rPr sz="1050" b="1" i="0" dirty="0">
                <a:solidFill>
                  <a:srgbClr val="4866C6"/>
                </a:solidFill>
                <a:latin typeface="Aptos"/>
                <a:ea typeface="Aptos"/>
                <a:cs typeface="Aptos"/>
              </a:rPr>
              <a:t> · </a:t>
            </a:r>
            <a:r>
              <a:rPr lang="es-MX" sz="1050" b="1" dirty="0">
                <a:solidFill>
                  <a:srgbClr val="4866C6"/>
                </a:solidFill>
                <a:latin typeface="Aptos"/>
                <a:ea typeface="Aptos"/>
                <a:cs typeface="Aptos"/>
              </a:rPr>
              <a:t>ROUTER DE PENDIENTES </a:t>
            </a:r>
          </a:p>
          <a:p>
            <a:pPr marL="144000" indent="-144000">
              <a:defRPr sz="1050" b="1" i="0">
                <a:solidFill>
                  <a:srgbClr val="4866C6"/>
                </a:solidFill>
                <a:latin typeface="Aptos"/>
                <a:ea typeface="Aptos"/>
                <a:cs typeface="Aptos"/>
              </a:defRPr>
            </a:pPr>
            <a:r>
              <a:rPr lang="es-MX" sz="1050" b="1" dirty="0">
                <a:solidFill>
                  <a:srgbClr val="4866C6"/>
                </a:solidFill>
                <a:latin typeface="Aptos"/>
                <a:ea typeface="Aptos"/>
                <a:cs typeface="Aptos"/>
              </a:rPr>
              <a:t>      (POR INTENCIÓN)</a:t>
            </a:r>
            <a:endParaRPr sz="1050" b="1" i="0" dirty="0">
              <a:solidFill>
                <a:srgbClr val="4866C6"/>
              </a:solidFill>
              <a:latin typeface="Aptos"/>
              <a:ea typeface="Aptos"/>
              <a:cs typeface="Aptos"/>
            </a:endParaRPr>
          </a:p>
        </p:txBody>
      </p:sp>
      <p:sp>
        <p:nvSpPr>
          <p:cNvPr id="62" name="Rectángulo 61">
            <a:extLst>
              <a:ext uri="{FF2B5EF4-FFF2-40B4-BE49-F238E27FC236}">
                <a16:creationId xmlns:a16="http://schemas.microsoft.com/office/drawing/2014/main" id="{D9E3748E-A4AD-8A5A-9D91-71D2784ECFD7}"/>
              </a:ext>
            </a:extLst>
          </p:cNvPr>
          <p:cNvSpPr>
            <a:spLocks noGrp="1"/>
          </p:cNvSpPr>
          <p:nvPr/>
        </p:nvSpPr>
        <p:spPr>
          <a:xfrm>
            <a:off x="9135029" y="2789089"/>
            <a:ext cx="2496942" cy="482359"/>
          </a:xfrm>
          <a:prstGeom prst="rect">
            <a:avLst/>
          </a:prstGeom>
          <a:noFill/>
          <a:ln w="0">
            <a:noFill/>
          </a:ln>
        </p:spPr>
        <p:txBody>
          <a:bodyPr anchor="t">
            <a:noAutofit/>
          </a:bodyPr>
          <a:lstStyle/>
          <a:p>
            <a:pPr marL="171450" indent="-171450">
              <a:buFont typeface="Arial" panose="020B0604020202020204" pitchFamily="34" charset="0"/>
              <a:buChar char="•"/>
              <a:defRPr sz="975" b="0" i="0">
                <a:solidFill>
                  <a:srgbClr val="756F91"/>
                </a:solidFill>
                <a:latin typeface="Aptos"/>
                <a:ea typeface="Aptos"/>
                <a:cs typeface="Aptos"/>
              </a:defRPr>
            </a:pPr>
            <a:r>
              <a:rPr lang="es-ES" sz="900" b="0" i="0" dirty="0" err="1">
                <a:solidFill>
                  <a:srgbClr val="756F91"/>
                </a:solidFill>
                <a:latin typeface="Aptos"/>
                <a:ea typeface="Aptos"/>
                <a:cs typeface="Aptos"/>
              </a:rPr>
              <a:t>resolvePendingDecisionTurn</a:t>
            </a:r>
            <a:r>
              <a:rPr lang="es-ES" sz="900" b="0" i="0" dirty="0">
                <a:solidFill>
                  <a:srgbClr val="756F91"/>
                </a:solidFill>
                <a:latin typeface="Aptos"/>
                <a:ea typeface="Aptos"/>
                <a:cs typeface="Aptos"/>
              </a:rPr>
              <a:t> por </a:t>
            </a:r>
            <a:r>
              <a:rPr lang="es-ES" sz="900" b="0" i="0" dirty="0" err="1">
                <a:solidFill>
                  <a:srgbClr val="756F91"/>
                </a:solidFill>
                <a:latin typeface="Aptos"/>
                <a:ea typeface="Aptos"/>
                <a:cs typeface="Aptos"/>
              </a:rPr>
              <a:t>intent</a:t>
            </a:r>
            <a:endParaRPr lang="es-ES" sz="900"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lang="es-ES" sz="900" b="0" i="0" dirty="0">
                <a:solidFill>
                  <a:srgbClr val="756F91"/>
                </a:solidFill>
                <a:latin typeface="Aptos"/>
                <a:ea typeface="Aptos"/>
                <a:cs typeface="Aptos"/>
              </a:rPr>
              <a:t>Consulta decisiones pendientes</a:t>
            </a:r>
          </a:p>
          <a:p>
            <a:pPr marL="171450" indent="-171450">
              <a:buFont typeface="Arial" panose="020B0604020202020204" pitchFamily="34" charset="0"/>
              <a:buChar char="•"/>
              <a:defRPr sz="975" b="0" i="0">
                <a:solidFill>
                  <a:srgbClr val="756F91"/>
                </a:solidFill>
                <a:latin typeface="Aptos"/>
                <a:ea typeface="Aptos"/>
                <a:cs typeface="Aptos"/>
              </a:defRPr>
            </a:pPr>
            <a:r>
              <a:rPr lang="es-ES" sz="900" dirty="0">
                <a:solidFill>
                  <a:srgbClr val="756F91"/>
                </a:solidFill>
                <a:latin typeface="Aptos"/>
                <a:ea typeface="Aptos"/>
                <a:cs typeface="Aptos"/>
              </a:rPr>
              <a:t>R</a:t>
            </a:r>
            <a:r>
              <a:rPr lang="es-ES" sz="900" b="0" i="0" dirty="0">
                <a:solidFill>
                  <a:srgbClr val="756F91"/>
                </a:solidFill>
                <a:latin typeface="Aptos"/>
                <a:ea typeface="Aptos"/>
                <a:cs typeface="Aptos"/>
              </a:rPr>
              <a:t>ecorre gates en orden</a:t>
            </a:r>
          </a:p>
          <a:p>
            <a:pPr marL="171450" indent="-171450">
              <a:buFont typeface="Arial" panose="020B0604020202020204" pitchFamily="34" charset="0"/>
              <a:buChar char="•"/>
              <a:defRPr sz="975" b="0" i="0">
                <a:solidFill>
                  <a:srgbClr val="756F91"/>
                </a:solidFill>
                <a:latin typeface="Aptos"/>
                <a:ea typeface="Aptos"/>
                <a:cs typeface="Aptos"/>
              </a:defRPr>
            </a:pPr>
            <a:r>
              <a:rPr lang="es-ES" sz="900" b="0" i="0" dirty="0" err="1">
                <a:solidFill>
                  <a:srgbClr val="756F91"/>
                </a:solidFill>
                <a:latin typeface="Aptos"/>
                <a:ea typeface="Aptos"/>
                <a:cs typeface="Aptos"/>
              </a:rPr>
              <a:t>Devuleve</a:t>
            </a:r>
            <a:r>
              <a:rPr lang="es-ES" sz="900" b="0" i="0" dirty="0">
                <a:solidFill>
                  <a:srgbClr val="756F91"/>
                </a:solidFill>
                <a:latin typeface="Aptos"/>
                <a:ea typeface="Aptos"/>
                <a:cs typeface="Aptos"/>
              </a:rPr>
              <a:t> </a:t>
            </a:r>
            <a:r>
              <a:rPr lang="es-ES" sz="900" b="0" i="0" dirty="0" err="1">
                <a:solidFill>
                  <a:srgbClr val="756F91"/>
                </a:solidFill>
                <a:latin typeface="Aptos"/>
                <a:ea typeface="Aptos"/>
                <a:cs typeface="Aptos"/>
              </a:rPr>
              <a:t>handled:true</a:t>
            </a:r>
            <a:r>
              <a:rPr lang="es-ES" sz="900" b="0" i="0" dirty="0">
                <a:solidFill>
                  <a:srgbClr val="756F91"/>
                </a:solidFill>
                <a:latin typeface="Aptos"/>
                <a:ea typeface="Aptos"/>
                <a:cs typeface="Aptos"/>
              </a:rPr>
              <a:t> o </a:t>
            </a:r>
            <a:r>
              <a:rPr lang="es-ES" sz="900" b="0" i="0" dirty="0" err="1">
                <a:solidFill>
                  <a:srgbClr val="756F91"/>
                </a:solidFill>
                <a:latin typeface="Aptos"/>
                <a:ea typeface="Aptos"/>
                <a:cs typeface="Aptos"/>
              </a:rPr>
              <a:t>handled:false</a:t>
            </a:r>
            <a:endParaRPr sz="900" b="0" i="0" dirty="0">
              <a:solidFill>
                <a:srgbClr val="756F91"/>
              </a:solidFill>
              <a:latin typeface="Aptos"/>
              <a:ea typeface="Aptos"/>
              <a:cs typeface="Aptos"/>
            </a:endParaRPr>
          </a:p>
        </p:txBody>
      </p:sp>
      <p:cxnSp>
        <p:nvCxnSpPr>
          <p:cNvPr id="63" name="Conector recto de flecha 62">
            <a:extLst>
              <a:ext uri="{FF2B5EF4-FFF2-40B4-BE49-F238E27FC236}">
                <a16:creationId xmlns:a16="http://schemas.microsoft.com/office/drawing/2014/main" id="{DB6EAAB5-2FC3-BC30-609B-B6D46AC8795A}"/>
              </a:ext>
            </a:extLst>
          </p:cNvPr>
          <p:cNvCxnSpPr>
            <a:cxnSpLocks/>
          </p:cNvCxnSpPr>
          <p:nvPr/>
        </p:nvCxnSpPr>
        <p:spPr>
          <a:xfrm>
            <a:off x="8758916" y="3022326"/>
            <a:ext cx="211222" cy="0"/>
          </a:xfrm>
          <a:prstGeom prst="straightConnector1">
            <a:avLst/>
          </a:prstGeom>
          <a:ln w="19050">
            <a:solidFill>
              <a:srgbClr val="4866C6"/>
            </a:solidFill>
            <a:prstDash val="solid"/>
            <a:tailEnd type="arrow" w="med" len="med"/>
          </a:ln>
        </p:spPr>
      </p:cxnSp>
      <p:sp>
        <p:nvSpPr>
          <p:cNvPr id="55" name="Rectángulo: esquinas redondeadas 54">
            <a:extLst>
              <a:ext uri="{FF2B5EF4-FFF2-40B4-BE49-F238E27FC236}">
                <a16:creationId xmlns:a16="http://schemas.microsoft.com/office/drawing/2014/main" id="{A7F840C4-06FC-DE51-A8B4-17B79F589DEB}"/>
              </a:ext>
            </a:extLst>
          </p:cNvPr>
          <p:cNvSpPr>
            <a:spLocks noGrp="1"/>
          </p:cNvSpPr>
          <p:nvPr/>
        </p:nvSpPr>
        <p:spPr>
          <a:xfrm>
            <a:off x="495059" y="2116055"/>
            <a:ext cx="11249266" cy="1434548"/>
          </a:xfrm>
          <a:prstGeom prst="roundRect">
            <a:avLst>
              <a:gd name="adj" fmla="val 4571"/>
            </a:avLst>
          </a:prstGeom>
          <a:noFill/>
          <a:ln w="9525">
            <a:solidFill>
              <a:schemeClr val="bg1">
                <a:lumMod val="75000"/>
              </a:schemeClr>
            </a:solidFill>
            <a:prstDash val="dash"/>
          </a:ln>
        </p:spPr>
        <p:txBody>
          <a:bodyPr/>
          <a:lstStyle/>
          <a:p>
            <a:endParaRPr lang="es-MX"/>
          </a:p>
        </p:txBody>
      </p:sp>
      <p:sp>
        <p:nvSpPr>
          <p:cNvPr id="59" name="Rectángulo 58">
            <a:extLst>
              <a:ext uri="{FF2B5EF4-FFF2-40B4-BE49-F238E27FC236}">
                <a16:creationId xmlns:a16="http://schemas.microsoft.com/office/drawing/2014/main" id="{206B9605-EF08-6A1A-6D9E-3D84E61851AD}"/>
              </a:ext>
            </a:extLst>
          </p:cNvPr>
          <p:cNvSpPr>
            <a:spLocks noGrp="1"/>
          </p:cNvSpPr>
          <p:nvPr/>
        </p:nvSpPr>
        <p:spPr>
          <a:xfrm>
            <a:off x="4225672" y="2095362"/>
            <a:ext cx="4403978" cy="285979"/>
          </a:xfrm>
          <a:prstGeom prst="rect">
            <a:avLst/>
          </a:prstGeom>
          <a:noFill/>
          <a:ln w="0">
            <a:noFill/>
          </a:ln>
        </p:spPr>
        <p:txBody>
          <a:bodyPr anchor="t">
            <a:noAutofit/>
          </a:bodyPr>
          <a:lstStyle/>
          <a:p>
            <a:pPr>
              <a:defRPr sz="975" b="0" i="0">
                <a:solidFill>
                  <a:srgbClr val="756F91"/>
                </a:solidFill>
                <a:latin typeface="Aptos"/>
                <a:ea typeface="Aptos"/>
                <a:cs typeface="Aptos"/>
              </a:defRPr>
            </a:pPr>
            <a:r>
              <a:rPr lang="es-ES" sz="1200" b="0" i="0" dirty="0">
                <a:solidFill>
                  <a:srgbClr val="756F91"/>
                </a:solidFill>
                <a:latin typeface="Aptos"/>
                <a:ea typeface="Aptos"/>
                <a:cs typeface="Aptos"/>
              </a:rPr>
              <a:t>ORQUESTADOR: </a:t>
            </a:r>
            <a:r>
              <a:rPr lang="es-ES" sz="1200" b="0" i="0" dirty="0" err="1">
                <a:solidFill>
                  <a:srgbClr val="756F91"/>
                </a:solidFill>
                <a:latin typeface="Aptos"/>
                <a:ea typeface="Aptos"/>
                <a:cs typeface="Aptos"/>
              </a:rPr>
              <a:t>resolveDecomposedPendingDecisionTurn</a:t>
            </a:r>
            <a:r>
              <a:rPr lang="es-ES" sz="1200" b="0" i="0" dirty="0">
                <a:solidFill>
                  <a:srgbClr val="756F91"/>
                </a:solidFill>
                <a:latin typeface="Aptos"/>
                <a:ea typeface="Aptos"/>
                <a:cs typeface="Aptos"/>
              </a:rPr>
              <a:t>(...)</a:t>
            </a:r>
            <a:endParaRPr sz="1200" b="0" i="0" dirty="0">
              <a:solidFill>
                <a:srgbClr val="756F91"/>
              </a:solidFill>
              <a:latin typeface="Aptos"/>
              <a:ea typeface="Aptos"/>
              <a:cs typeface="Aptos"/>
            </a:endParaRPr>
          </a:p>
        </p:txBody>
      </p:sp>
      <p:cxnSp>
        <p:nvCxnSpPr>
          <p:cNvPr id="72" name="Conector: angular 71"/>
          <p:cNvCxnSpPr>
            <a:cxnSpLocks/>
            <a:stCxn id="10" idx="2"/>
            <a:endCxn id="12" idx="0"/>
          </p:cNvCxnSpPr>
          <p:nvPr/>
        </p:nvCxnSpPr>
        <p:spPr>
          <a:xfrm rot="5400000">
            <a:off x="2700613" y="1077278"/>
            <a:ext cx="447030" cy="2295619"/>
          </a:xfrm>
          <a:prstGeom prst="bentConnector3">
            <a:avLst>
              <a:gd name="adj1" fmla="val 50000"/>
            </a:avLst>
          </a:prstGeom>
          <a:ln w="19050">
            <a:solidFill>
              <a:srgbClr val="009566"/>
            </a:solidFill>
            <a:prstDash val="solid"/>
            <a:tailEnd type="arrow" w="med" len="med"/>
          </a:ln>
        </p:spPr>
      </p:cxnSp>
      <p:cxnSp>
        <p:nvCxnSpPr>
          <p:cNvPr id="93" name="Conector: angular 92"/>
          <p:cNvCxnSpPr>
            <a:cxnSpLocks/>
            <a:stCxn id="58" idx="2"/>
            <a:endCxn id="24" idx="0"/>
          </p:cNvCxnSpPr>
          <p:nvPr/>
        </p:nvCxnSpPr>
        <p:spPr>
          <a:xfrm rot="5400000">
            <a:off x="5883022" y="-369908"/>
            <a:ext cx="597174" cy="8238892"/>
          </a:xfrm>
          <a:prstGeom prst="bentConnector3">
            <a:avLst>
              <a:gd name="adj1" fmla="val 36620"/>
            </a:avLst>
          </a:prstGeom>
          <a:ln w="19050">
            <a:solidFill>
              <a:srgbClr val="B8497C"/>
            </a:solidFill>
            <a:prstDash val="solid"/>
            <a:tailEnd type="arrow" w="med" len="med"/>
          </a:ln>
        </p:spPr>
      </p:cxnSp>
      <p:cxnSp>
        <p:nvCxnSpPr>
          <p:cNvPr id="94" name="Conector: angular 93"/>
          <p:cNvCxnSpPr>
            <a:cxnSpLocks/>
            <a:stCxn id="58" idx="2"/>
            <a:endCxn id="27" idx="0"/>
          </p:cNvCxnSpPr>
          <p:nvPr/>
        </p:nvCxnSpPr>
        <p:spPr>
          <a:xfrm rot="5400000">
            <a:off x="7402308" y="1149378"/>
            <a:ext cx="597174" cy="5200320"/>
          </a:xfrm>
          <a:prstGeom prst="bentConnector3">
            <a:avLst>
              <a:gd name="adj1" fmla="val 50000"/>
            </a:avLst>
          </a:prstGeom>
          <a:ln w="19050">
            <a:solidFill>
              <a:srgbClr val="5C2DD2"/>
            </a:solidFill>
            <a:prstDash val="solid"/>
            <a:tailEnd type="arrow" w="med" len="med"/>
          </a:ln>
        </p:spPr>
      </p:cxnSp>
    </p:spTree>
    <p:extLst>
      <p:ext uri="{BB962C8B-B14F-4D97-AF65-F5344CB8AC3E}">
        <p14:creationId xmlns:p14="http://schemas.microsoft.com/office/powerpoint/2010/main" val="1533104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ángulo 43">
            <a:extLst>
              <a:ext uri="{FF2B5EF4-FFF2-40B4-BE49-F238E27FC236}">
                <a16:creationId xmlns:a16="http://schemas.microsoft.com/office/drawing/2014/main" id="{D822070D-A213-4E15-8677-D4CEFB016916}"/>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9DB7DC1F-C142-422E-A195-1CB7D5A6384D}"/>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ROUTING DE INTENCIONES</a:t>
            </a:r>
          </a:p>
        </p:txBody>
      </p:sp>
      <p:sp>
        <p:nvSpPr>
          <p:cNvPr id="3" name="Rectángulo 2">
            <a:extLst>
              <a:ext uri="{FF2B5EF4-FFF2-40B4-BE49-F238E27FC236}">
                <a16:creationId xmlns:a16="http://schemas.microsoft.com/office/drawing/2014/main" id="{7EF66BE9-A975-465D-A2D0-0762499ECAA0}"/>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Tres preguntas, una sola ejecución agéntica</a:t>
            </a:r>
          </a:p>
        </p:txBody>
      </p:sp>
      <p:sp>
        <p:nvSpPr>
          <p:cNvPr id="4" name="Rectángulo 3">
            <a:extLst>
              <a:ext uri="{FF2B5EF4-FFF2-40B4-BE49-F238E27FC236}">
                <a16:creationId xmlns:a16="http://schemas.microsoft.com/office/drawing/2014/main" id="{6E98ECF9-21AB-4791-BE1C-1E93F4665A1B}"/>
              </a:ext>
            </a:extLst>
          </p:cNvPr>
          <p:cNvSpPr>
            <a:spLocks noGrp="1"/>
          </p:cNvSpPr>
          <p:nvPr/>
        </p:nvSpPr>
        <p:spPr>
          <a:xfrm>
            <a:off x="571500" y="1232145"/>
            <a:ext cx="10763250" cy="523875"/>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300" b="0" i="0" dirty="0">
                <a:solidFill>
                  <a:srgbClr val="756F91"/>
                </a:solidFill>
                <a:latin typeface="Aptos"/>
                <a:ea typeface="Aptos"/>
                <a:cs typeface="Aptos"/>
              </a:rPr>
              <a:t>El decomposer </a:t>
            </a:r>
            <a:r>
              <a:rPr sz="1300" b="0" i="0" dirty="0" err="1">
                <a:solidFill>
                  <a:srgbClr val="756F91"/>
                </a:solidFill>
                <a:latin typeface="Aptos"/>
                <a:ea typeface="Aptos"/>
                <a:cs typeface="Aptos"/>
              </a:rPr>
              <a:t>puede</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reconocer</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tres</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inten</a:t>
            </a:r>
            <a:r>
              <a:rPr lang="es-MX" sz="1300" b="0" i="0" dirty="0" err="1">
                <a:solidFill>
                  <a:srgbClr val="756F91"/>
                </a:solidFill>
                <a:latin typeface="Aptos"/>
                <a:ea typeface="Aptos"/>
                <a:cs typeface="Aptos"/>
              </a:rPr>
              <a:t>ciones</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si</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ningún</a:t>
            </a:r>
            <a:r>
              <a:rPr sz="1300" b="0" i="0" dirty="0">
                <a:solidFill>
                  <a:srgbClr val="756F91"/>
                </a:solidFill>
                <a:latin typeface="Aptos"/>
                <a:ea typeface="Aptos"/>
                <a:cs typeface="Aptos"/>
              </a:rPr>
              <a:t> gate </a:t>
            </a:r>
            <a:r>
              <a:rPr sz="1300" b="0" i="0" dirty="0" err="1">
                <a:solidFill>
                  <a:srgbClr val="756F91"/>
                </a:solidFill>
                <a:latin typeface="Aptos"/>
                <a:ea typeface="Aptos"/>
                <a:cs typeface="Aptos"/>
              </a:rPr>
              <a:t>los</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maneja</a:t>
            </a:r>
            <a:r>
              <a:rPr sz="1300" b="0" i="0" dirty="0">
                <a:solidFill>
                  <a:srgbClr val="756F91"/>
                </a:solidFill>
                <a:latin typeface="Aptos"/>
                <a:ea typeface="Aptos"/>
                <a:cs typeface="Aptos"/>
              </a:rPr>
              <a:t>, Gu OS </a:t>
            </a:r>
            <a:r>
              <a:rPr sz="1300" b="0" i="0" dirty="0" err="1">
                <a:solidFill>
                  <a:srgbClr val="756F91"/>
                </a:solidFill>
                <a:latin typeface="Aptos"/>
                <a:ea typeface="Aptos"/>
                <a:cs typeface="Aptos"/>
              </a:rPr>
              <a:t>conserva</a:t>
            </a:r>
            <a:r>
              <a:rPr sz="1300" b="0" i="0" dirty="0">
                <a:solidFill>
                  <a:srgbClr val="756F91"/>
                </a:solidFill>
                <a:latin typeface="Aptos"/>
                <a:ea typeface="Aptos"/>
                <a:cs typeface="Aptos"/>
              </a:rPr>
              <a:t> el </a:t>
            </a:r>
            <a:r>
              <a:rPr sz="1300" b="0" i="0" dirty="0" err="1">
                <a:solidFill>
                  <a:srgbClr val="756F91"/>
                </a:solidFill>
                <a:latin typeface="Aptos"/>
                <a:ea typeface="Aptos"/>
                <a:cs typeface="Aptos"/>
              </a:rPr>
              <a:t>mensaje</a:t>
            </a:r>
            <a:r>
              <a:rPr sz="1300" b="0" i="0" dirty="0">
                <a:solidFill>
                  <a:srgbClr val="756F91"/>
                </a:solidFill>
                <a:latin typeface="Aptos"/>
                <a:ea typeface="Aptos"/>
                <a:cs typeface="Aptos"/>
              </a:rPr>
              <a:t> original y lo </a:t>
            </a:r>
            <a:r>
              <a:rPr sz="1300" b="0" i="0" dirty="0" err="1">
                <a:solidFill>
                  <a:srgbClr val="756F91"/>
                </a:solidFill>
                <a:latin typeface="Aptos"/>
                <a:ea typeface="Aptos"/>
                <a:cs typeface="Aptos"/>
              </a:rPr>
              <a:t>entrega</a:t>
            </a:r>
            <a:r>
              <a:rPr sz="1300" b="0" i="0" dirty="0">
                <a:solidFill>
                  <a:srgbClr val="756F91"/>
                </a:solidFill>
                <a:latin typeface="Aptos"/>
                <a:ea typeface="Aptos"/>
                <a:cs typeface="Aptos"/>
              </a:rPr>
              <a:t> </a:t>
            </a:r>
            <a:r>
              <a:rPr sz="1300" b="0" i="0" dirty="0" err="1">
                <a:solidFill>
                  <a:srgbClr val="756F91"/>
                </a:solidFill>
                <a:latin typeface="Aptos"/>
                <a:ea typeface="Aptos"/>
                <a:cs typeface="Aptos"/>
              </a:rPr>
              <a:t>una</a:t>
            </a:r>
            <a:r>
              <a:rPr sz="1300" b="0" i="0" dirty="0">
                <a:solidFill>
                  <a:srgbClr val="756F91"/>
                </a:solidFill>
                <a:latin typeface="Aptos"/>
                <a:ea typeface="Aptos"/>
                <a:cs typeface="Aptos"/>
              </a:rPr>
              <a:t> sola </a:t>
            </a:r>
            <a:r>
              <a:rPr sz="1300" b="0" i="0" dirty="0" err="1">
                <a:solidFill>
                  <a:srgbClr val="756F91"/>
                </a:solidFill>
                <a:latin typeface="Aptos"/>
                <a:ea typeface="Aptos"/>
                <a:cs typeface="Aptos"/>
              </a:rPr>
              <a:t>vez</a:t>
            </a:r>
            <a:r>
              <a:rPr sz="1300" b="0" i="0" dirty="0">
                <a:solidFill>
                  <a:srgbClr val="756F91"/>
                </a:solidFill>
                <a:latin typeface="Aptos"/>
                <a:ea typeface="Aptos"/>
                <a:cs typeface="Aptos"/>
              </a:rPr>
              <a:t> al </a:t>
            </a:r>
            <a:r>
              <a:rPr sz="1300" b="0" i="0" dirty="0" err="1">
                <a:solidFill>
                  <a:srgbClr val="756F91"/>
                </a:solidFill>
                <a:latin typeface="Aptos"/>
                <a:ea typeface="Aptos"/>
                <a:cs typeface="Aptos"/>
              </a:rPr>
              <a:t>agente</a:t>
            </a:r>
            <a:r>
              <a:rPr sz="1300" b="0" i="0" dirty="0">
                <a:solidFill>
                  <a:srgbClr val="756F91"/>
                </a:solidFill>
                <a:latin typeface="Aptos"/>
                <a:ea typeface="Aptos"/>
                <a:cs typeface="Aptos"/>
              </a:rPr>
              <a:t>.</a:t>
            </a:r>
          </a:p>
        </p:txBody>
      </p:sp>
      <p:pic>
        <p:nvPicPr>
          <p:cNvPr id="48" name="Imagen 47"/>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9693D936-186B-4143-89C0-278FCAED222F}"/>
              </a:ext>
            </a:extLst>
          </p:cNvPr>
          <p:cNvSpPr>
            <a:spLocks noGrp="1"/>
          </p:cNvSpPr>
          <p:nvPr/>
        </p:nvSpPr>
        <p:spPr>
          <a:xfrm>
            <a:off x="2214562" y="355894"/>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6B814CFA-D2AB-454E-BF50-49AE24F2C807}"/>
              </a:ext>
            </a:extLst>
          </p:cNvPr>
          <p:cNvSpPr>
            <a:spLocks noGrp="1"/>
          </p:cNvSpPr>
          <p:nvPr/>
        </p:nvSpPr>
        <p:spPr>
          <a:xfrm>
            <a:off x="2281237" y="384469"/>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69974A49-4B71-4E25-A9D3-9EE10F4E94A0}"/>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4CED562F-6E14-4BE2-9CC6-686797D92621}"/>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B4B2C7D0-D0A4-480B-A799-822A4B76955E}"/>
              </a:ext>
            </a:extLst>
          </p:cNvPr>
          <p:cNvSpPr>
            <a:spLocks noGrp="1"/>
          </p:cNvSpPr>
          <p:nvPr/>
        </p:nvSpPr>
        <p:spPr>
          <a:xfrm>
            <a:off x="2703445" y="1726979"/>
            <a:ext cx="7146234" cy="429915"/>
          </a:xfrm>
          <a:prstGeom prst="roundRect">
            <a:avLst>
              <a:gd name="adj" fmla="val 20690"/>
            </a:avLst>
          </a:prstGeom>
          <a:solidFill>
            <a:srgbClr val="211D31"/>
          </a:solidFill>
          <a:ln w="9525">
            <a:solidFill>
              <a:srgbClr val="211D31"/>
            </a:solidFill>
            <a:prstDash val="solid"/>
          </a:ln>
        </p:spPr>
        <p:txBody>
          <a:bodyPr/>
          <a:lstStyle/>
          <a:p>
            <a:endParaRPr lang="es-MX"/>
          </a:p>
        </p:txBody>
      </p:sp>
      <p:sp>
        <p:nvSpPr>
          <p:cNvPr id="11" name="Rectángulo 10">
            <a:extLst>
              <a:ext uri="{FF2B5EF4-FFF2-40B4-BE49-F238E27FC236}">
                <a16:creationId xmlns:a16="http://schemas.microsoft.com/office/drawing/2014/main" id="{BBD8DDF3-D32F-47A2-8468-4FDE35877AC2}"/>
              </a:ext>
            </a:extLst>
          </p:cNvPr>
          <p:cNvSpPr>
            <a:spLocks noGrp="1"/>
          </p:cNvSpPr>
          <p:nvPr/>
        </p:nvSpPr>
        <p:spPr>
          <a:xfrm>
            <a:off x="2832651" y="1777942"/>
            <a:ext cx="6917635" cy="377295"/>
          </a:xfrm>
          <a:prstGeom prst="rect">
            <a:avLst/>
          </a:prstGeom>
          <a:noFill/>
          <a:ln w="0">
            <a:noFill/>
          </a:ln>
        </p:spPr>
        <p:txBody>
          <a:bodyPr anchor="t">
            <a:noAutofit/>
          </a:bodyPr>
          <a:lstStyle/>
          <a:p>
            <a:pPr algn="ctr">
              <a:defRPr sz="1275" b="1" i="0">
                <a:solidFill>
                  <a:srgbClr val="FFFFFF"/>
                </a:solidFill>
                <a:latin typeface="Aptos"/>
                <a:ea typeface="Aptos"/>
                <a:cs typeface="Aptos"/>
              </a:defRPr>
            </a:pPr>
            <a:r>
              <a:rPr sz="1300" b="1" i="0" dirty="0">
                <a:solidFill>
                  <a:srgbClr val="FFFFFF"/>
                </a:solidFill>
                <a:latin typeface="Aptos"/>
                <a:ea typeface="Aptos"/>
                <a:cs typeface="Aptos"/>
              </a:rPr>
              <a:t>“¿</a:t>
            </a:r>
            <a:r>
              <a:rPr sz="1300" b="1" i="0" dirty="0" err="1">
                <a:solidFill>
                  <a:srgbClr val="FFFFFF"/>
                </a:solidFill>
                <a:latin typeface="Aptos"/>
                <a:ea typeface="Aptos"/>
                <a:cs typeface="Aptos"/>
              </a:rPr>
              <a:t>Cuántos</a:t>
            </a:r>
            <a:r>
              <a:rPr sz="1300" b="1" i="0" dirty="0">
                <a:solidFill>
                  <a:srgbClr val="FFFFFF"/>
                </a:solidFill>
                <a:latin typeface="Aptos"/>
                <a:ea typeface="Aptos"/>
                <a:cs typeface="Aptos"/>
              </a:rPr>
              <a:t> leads </a:t>
            </a:r>
            <a:r>
              <a:rPr sz="1300" b="1" i="0" dirty="0" err="1">
                <a:solidFill>
                  <a:srgbClr val="FFFFFF"/>
                </a:solidFill>
                <a:latin typeface="Aptos"/>
                <a:ea typeface="Aptos"/>
                <a:cs typeface="Aptos"/>
              </a:rPr>
              <a:t>tuvimos</a:t>
            </a:r>
            <a:r>
              <a:rPr sz="1300" b="1" i="0" dirty="0">
                <a:solidFill>
                  <a:srgbClr val="FFFFFF"/>
                </a:solidFill>
                <a:latin typeface="Aptos"/>
                <a:ea typeface="Aptos"/>
                <a:cs typeface="Aptos"/>
              </a:rPr>
              <a:t>, </a:t>
            </a:r>
            <a:r>
              <a:rPr sz="1300" b="1" i="0" dirty="0" err="1">
                <a:solidFill>
                  <a:srgbClr val="FFFFFF"/>
                </a:solidFill>
                <a:latin typeface="Aptos"/>
                <a:ea typeface="Aptos"/>
                <a:cs typeface="Aptos"/>
              </a:rPr>
              <a:t>cuántas</a:t>
            </a:r>
            <a:r>
              <a:rPr sz="1300" b="1" i="0" dirty="0">
                <a:solidFill>
                  <a:srgbClr val="FFFFFF"/>
                </a:solidFill>
                <a:latin typeface="Aptos"/>
                <a:ea typeface="Aptos"/>
                <a:cs typeface="Aptos"/>
              </a:rPr>
              <a:t> visitas se </a:t>
            </a:r>
            <a:r>
              <a:rPr sz="1300" b="1" i="0" dirty="0" err="1">
                <a:solidFill>
                  <a:srgbClr val="FFFFFF"/>
                </a:solidFill>
                <a:latin typeface="Aptos"/>
                <a:ea typeface="Aptos"/>
                <a:cs typeface="Aptos"/>
              </a:rPr>
              <a:t>realizaron</a:t>
            </a:r>
            <a:r>
              <a:rPr sz="1300" b="1" i="0" dirty="0">
                <a:solidFill>
                  <a:srgbClr val="FFFFFF"/>
                </a:solidFill>
                <a:latin typeface="Aptos"/>
                <a:ea typeface="Aptos"/>
                <a:cs typeface="Aptos"/>
              </a:rPr>
              <a:t> y </a:t>
            </a:r>
            <a:r>
              <a:rPr sz="1300" b="1" i="0" dirty="0" err="1">
                <a:solidFill>
                  <a:srgbClr val="FFFFFF"/>
                </a:solidFill>
                <a:latin typeface="Aptos"/>
                <a:ea typeface="Aptos"/>
                <a:cs typeface="Aptos"/>
              </a:rPr>
              <a:t>cuál</a:t>
            </a:r>
            <a:r>
              <a:rPr sz="1300" b="1" i="0" dirty="0">
                <a:solidFill>
                  <a:srgbClr val="FFFFFF"/>
                </a:solidFill>
                <a:latin typeface="Aptos"/>
                <a:ea typeface="Aptos"/>
                <a:cs typeface="Aptos"/>
              </a:rPr>
              <a:t> </a:t>
            </a:r>
            <a:r>
              <a:rPr sz="1300" b="1" i="0" dirty="0" err="1">
                <a:solidFill>
                  <a:srgbClr val="FFFFFF"/>
                </a:solidFill>
                <a:latin typeface="Aptos"/>
                <a:ea typeface="Aptos"/>
                <a:cs typeface="Aptos"/>
              </a:rPr>
              <a:t>fue</a:t>
            </a:r>
            <a:r>
              <a:rPr sz="1300" b="1" i="0" dirty="0">
                <a:solidFill>
                  <a:srgbClr val="FFFFFF"/>
                </a:solidFill>
                <a:latin typeface="Aptos"/>
                <a:ea typeface="Aptos"/>
                <a:cs typeface="Aptos"/>
              </a:rPr>
              <a:t> la </a:t>
            </a:r>
            <a:r>
              <a:rPr sz="1300" b="1" i="0" dirty="0" err="1">
                <a:solidFill>
                  <a:srgbClr val="FFFFFF"/>
                </a:solidFill>
                <a:latin typeface="Aptos"/>
                <a:ea typeface="Aptos"/>
                <a:cs typeface="Aptos"/>
              </a:rPr>
              <a:t>tasa</a:t>
            </a:r>
            <a:r>
              <a:rPr sz="1300" b="1" i="0" dirty="0">
                <a:solidFill>
                  <a:srgbClr val="FFFFFF"/>
                </a:solidFill>
                <a:latin typeface="Aptos"/>
                <a:ea typeface="Aptos"/>
                <a:cs typeface="Aptos"/>
              </a:rPr>
              <a:t> de </a:t>
            </a:r>
            <a:r>
              <a:rPr sz="1300" b="1" i="0" dirty="0" err="1">
                <a:solidFill>
                  <a:srgbClr val="FFFFFF"/>
                </a:solidFill>
                <a:latin typeface="Aptos"/>
                <a:ea typeface="Aptos"/>
                <a:cs typeface="Aptos"/>
              </a:rPr>
              <a:t>conversión</a:t>
            </a:r>
            <a:r>
              <a:rPr sz="1300" b="1" i="0" dirty="0">
                <a:solidFill>
                  <a:srgbClr val="FFFFFF"/>
                </a:solidFill>
                <a:latin typeface="Aptos"/>
                <a:ea typeface="Aptos"/>
                <a:cs typeface="Aptos"/>
              </a:rPr>
              <a:t>?”</a:t>
            </a:r>
          </a:p>
        </p:txBody>
      </p:sp>
      <p:sp>
        <p:nvSpPr>
          <p:cNvPr id="12" name="Rectángulo: esquinas redondeadas 11">
            <a:extLst>
              <a:ext uri="{FF2B5EF4-FFF2-40B4-BE49-F238E27FC236}">
                <a16:creationId xmlns:a16="http://schemas.microsoft.com/office/drawing/2014/main" id="{8F085313-E372-4C27-A659-97DBCDA5820D}"/>
              </a:ext>
            </a:extLst>
          </p:cNvPr>
          <p:cNvSpPr>
            <a:spLocks noGrp="1"/>
          </p:cNvSpPr>
          <p:nvPr/>
        </p:nvSpPr>
        <p:spPr>
          <a:xfrm>
            <a:off x="4476750" y="2394377"/>
            <a:ext cx="3238500" cy="685800"/>
          </a:xfrm>
          <a:prstGeom prst="roundRect">
            <a:avLst>
              <a:gd name="adj" fmla="val 16667"/>
            </a:avLst>
          </a:prstGeom>
          <a:solidFill>
            <a:srgbClr val="FFF0D7"/>
          </a:solidFill>
          <a:ln w="9525">
            <a:solidFill>
              <a:srgbClr val="F39A24"/>
            </a:solidFill>
            <a:prstDash val="solid"/>
          </a:ln>
        </p:spPr>
        <p:txBody>
          <a:bodyPr/>
          <a:lstStyle/>
          <a:p>
            <a:endParaRPr lang="es-MX"/>
          </a:p>
        </p:txBody>
      </p:sp>
      <p:sp>
        <p:nvSpPr>
          <p:cNvPr id="13" name="Rectángulo 12">
            <a:extLst>
              <a:ext uri="{FF2B5EF4-FFF2-40B4-BE49-F238E27FC236}">
                <a16:creationId xmlns:a16="http://schemas.microsoft.com/office/drawing/2014/main" id="{2CE6A128-2F6B-438C-90D1-FEDAA656D9CA}"/>
              </a:ext>
            </a:extLst>
          </p:cNvPr>
          <p:cNvSpPr>
            <a:spLocks noGrp="1"/>
          </p:cNvSpPr>
          <p:nvPr/>
        </p:nvSpPr>
        <p:spPr>
          <a:xfrm>
            <a:off x="4610100" y="2518202"/>
            <a:ext cx="2971800" cy="285750"/>
          </a:xfrm>
          <a:prstGeom prst="rect">
            <a:avLst/>
          </a:prstGeom>
          <a:noFill/>
          <a:ln w="0">
            <a:noFill/>
          </a:ln>
        </p:spPr>
        <p:txBody>
          <a:bodyPr anchor="t">
            <a:normAutofit/>
          </a:bodyPr>
          <a:lstStyle/>
          <a:p>
            <a:pPr>
              <a:defRPr sz="1050" b="1" i="0">
                <a:solidFill>
                  <a:srgbClr val="F39A24"/>
                </a:solidFill>
                <a:latin typeface="Aptos"/>
                <a:ea typeface="Aptos"/>
                <a:cs typeface="Aptos"/>
              </a:defRPr>
            </a:pPr>
            <a:r>
              <a:rPr sz="1050" b="1" i="0">
                <a:solidFill>
                  <a:srgbClr val="F39A24"/>
                </a:solidFill>
                <a:latin typeface="Aptos"/>
                <a:ea typeface="Aptos"/>
                <a:cs typeface="Aptos"/>
              </a:rPr>
              <a:t>DECOMPOSER (LLM) + GUARD</a:t>
            </a:r>
          </a:p>
        </p:txBody>
      </p:sp>
      <p:sp>
        <p:nvSpPr>
          <p:cNvPr id="14" name="Rectángulo 13">
            <a:extLst>
              <a:ext uri="{FF2B5EF4-FFF2-40B4-BE49-F238E27FC236}">
                <a16:creationId xmlns:a16="http://schemas.microsoft.com/office/drawing/2014/main" id="{FF40828C-A96D-4F67-8BC4-0004175047F4}"/>
              </a:ext>
            </a:extLst>
          </p:cNvPr>
          <p:cNvSpPr>
            <a:spLocks noGrp="1"/>
          </p:cNvSpPr>
          <p:nvPr/>
        </p:nvSpPr>
        <p:spPr>
          <a:xfrm>
            <a:off x="4610100" y="2842052"/>
            <a:ext cx="2971800" cy="152400"/>
          </a:xfrm>
          <a:prstGeom prst="rect">
            <a:avLst/>
          </a:prstGeom>
          <a:noFill/>
          <a:ln w="0">
            <a:noFill/>
          </a:ln>
        </p:spPr>
        <p:txBody>
          <a:bodyPr anchor="t">
            <a:noAutofit/>
          </a:bodyPr>
          <a:lstStyle/>
          <a:p>
            <a:pPr>
              <a:defRPr sz="900" b="0" i="0">
                <a:solidFill>
                  <a:srgbClr val="756F91"/>
                </a:solidFill>
                <a:latin typeface="Aptos"/>
                <a:ea typeface="Aptos"/>
                <a:cs typeface="Aptos"/>
              </a:defRPr>
            </a:pPr>
            <a:r>
              <a:rPr sz="900" b="0" i="0" dirty="0">
                <a:solidFill>
                  <a:srgbClr val="756F91"/>
                </a:solidFill>
                <a:latin typeface="Aptos"/>
                <a:ea typeface="Aptos"/>
                <a:cs typeface="Aptos"/>
              </a:rPr>
              <a:t>3 spans </a:t>
            </a:r>
            <a:r>
              <a:rPr sz="900" b="0" i="0" dirty="0" err="1">
                <a:solidFill>
                  <a:srgbClr val="756F91"/>
                </a:solidFill>
                <a:latin typeface="Aptos"/>
                <a:ea typeface="Aptos"/>
                <a:cs typeface="Aptos"/>
              </a:rPr>
              <a:t>literales</a:t>
            </a:r>
            <a:r>
              <a:rPr sz="900" b="0" i="0" dirty="0">
                <a:solidFill>
                  <a:srgbClr val="756F91"/>
                </a:solidFill>
                <a:latin typeface="Aptos"/>
                <a:ea typeface="Aptos"/>
                <a:cs typeface="Aptos"/>
              </a:rPr>
              <a:t> · confianza </a:t>
            </a:r>
            <a:r>
              <a:rPr sz="900" b="0" i="0" dirty="0" err="1">
                <a:solidFill>
                  <a:srgbClr val="756F91"/>
                </a:solidFill>
                <a:latin typeface="Aptos"/>
                <a:ea typeface="Aptos"/>
                <a:cs typeface="Aptos"/>
              </a:rPr>
              <a:t>alta</a:t>
            </a:r>
            <a:r>
              <a:rPr sz="900" b="0" i="0" dirty="0">
                <a:solidFill>
                  <a:srgbClr val="756F91"/>
                </a:solidFill>
                <a:latin typeface="Aptos"/>
                <a:ea typeface="Aptos"/>
                <a:cs typeface="Aptos"/>
              </a:rPr>
              <a:t> · </a:t>
            </a:r>
            <a:r>
              <a:rPr sz="900" b="0" i="0" dirty="0" err="1">
                <a:solidFill>
                  <a:srgbClr val="756F91"/>
                </a:solidFill>
                <a:latin typeface="Aptos"/>
                <a:ea typeface="Aptos"/>
                <a:cs typeface="Aptos"/>
              </a:rPr>
              <a:t>máximo</a:t>
            </a:r>
            <a:r>
              <a:rPr sz="900" b="0" i="0" dirty="0">
                <a:solidFill>
                  <a:srgbClr val="756F91"/>
                </a:solidFill>
                <a:latin typeface="Aptos"/>
                <a:ea typeface="Aptos"/>
                <a:cs typeface="Aptos"/>
              </a:rPr>
              <a:t> 4</a:t>
            </a:r>
          </a:p>
        </p:txBody>
      </p:sp>
      <p:cxnSp>
        <p:nvCxnSpPr>
          <p:cNvPr id="58" name="Conector recto de flecha 57"/>
          <p:cNvCxnSpPr>
            <a:cxnSpLocks/>
            <a:endCxn id="12" idx="0"/>
          </p:cNvCxnSpPr>
          <p:nvPr/>
        </p:nvCxnSpPr>
        <p:spPr>
          <a:xfrm>
            <a:off x="6096000" y="2174655"/>
            <a:ext cx="0" cy="219722"/>
          </a:xfrm>
          <a:prstGeom prst="straightConnector1">
            <a:avLst/>
          </a:prstGeom>
          <a:ln w="19050">
            <a:solidFill>
              <a:srgbClr val="F39A24"/>
            </a:solidFill>
            <a:prstDash val="solid"/>
            <a:tailEnd type="arrow" w="med" len="med"/>
          </a:ln>
        </p:spPr>
      </p:cxnSp>
      <p:sp>
        <p:nvSpPr>
          <p:cNvPr id="16" name="Rectángulo: esquinas redondeadas 15">
            <a:extLst>
              <a:ext uri="{FF2B5EF4-FFF2-40B4-BE49-F238E27FC236}">
                <a16:creationId xmlns:a16="http://schemas.microsoft.com/office/drawing/2014/main" id="{F98936B5-E6C4-4115-AC7D-34996EBBB131}"/>
              </a:ext>
            </a:extLst>
          </p:cNvPr>
          <p:cNvSpPr>
            <a:spLocks noGrp="1"/>
          </p:cNvSpPr>
          <p:nvPr/>
        </p:nvSpPr>
        <p:spPr>
          <a:xfrm>
            <a:off x="762000" y="3421780"/>
            <a:ext cx="2381250" cy="838200"/>
          </a:xfrm>
          <a:prstGeom prst="roundRect">
            <a:avLst>
              <a:gd name="adj" fmla="val 13636"/>
            </a:avLst>
          </a:prstGeom>
          <a:solidFill>
            <a:srgbClr val="EEE8FF"/>
          </a:solidFill>
          <a:ln w="9525">
            <a:solidFill>
              <a:srgbClr val="5C2DD2"/>
            </a:solidFill>
            <a:prstDash val="solid"/>
          </a:ln>
        </p:spPr>
        <p:txBody>
          <a:bodyPr/>
          <a:lstStyle/>
          <a:p>
            <a:endParaRPr lang="es-MX"/>
          </a:p>
        </p:txBody>
      </p:sp>
      <p:sp>
        <p:nvSpPr>
          <p:cNvPr id="17" name="Rectángulo 16">
            <a:extLst>
              <a:ext uri="{FF2B5EF4-FFF2-40B4-BE49-F238E27FC236}">
                <a16:creationId xmlns:a16="http://schemas.microsoft.com/office/drawing/2014/main" id="{B2F52681-06C5-4D5F-8124-B67E920E05D9}"/>
              </a:ext>
            </a:extLst>
          </p:cNvPr>
          <p:cNvSpPr>
            <a:spLocks noGrp="1"/>
          </p:cNvSpPr>
          <p:nvPr/>
        </p:nvSpPr>
        <p:spPr>
          <a:xfrm>
            <a:off x="895350" y="3545605"/>
            <a:ext cx="2114550" cy="285750"/>
          </a:xfrm>
          <a:prstGeom prst="rect">
            <a:avLst/>
          </a:prstGeom>
          <a:noFill/>
          <a:ln w="0">
            <a:noFill/>
          </a:ln>
        </p:spPr>
        <p:txBody>
          <a:bodyPr anchor="t">
            <a:normAutofit/>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INTENT 1 · LEADS</a:t>
            </a:r>
          </a:p>
        </p:txBody>
      </p:sp>
      <p:sp>
        <p:nvSpPr>
          <p:cNvPr id="18" name="Rectángulo 17">
            <a:extLst>
              <a:ext uri="{FF2B5EF4-FFF2-40B4-BE49-F238E27FC236}">
                <a16:creationId xmlns:a16="http://schemas.microsoft.com/office/drawing/2014/main" id="{F8DD25A5-C316-4DAD-8F18-01762E36D916}"/>
              </a:ext>
            </a:extLst>
          </p:cNvPr>
          <p:cNvSpPr>
            <a:spLocks noGrp="1"/>
          </p:cNvSpPr>
          <p:nvPr/>
        </p:nvSpPr>
        <p:spPr>
          <a:xfrm>
            <a:off x="895350" y="3869455"/>
            <a:ext cx="2114550" cy="304800"/>
          </a:xfrm>
          <a:prstGeom prst="rect">
            <a:avLst/>
          </a:prstGeom>
          <a:noFill/>
          <a:ln w="0">
            <a:noFill/>
          </a:ln>
        </p:spPr>
        <p:txBody>
          <a:bodyPr anchor="t">
            <a:normAutofit/>
          </a:bodyPr>
          <a:lstStyle/>
          <a:p>
            <a:pPr>
              <a:defRPr sz="900" b="0" i="0">
                <a:solidFill>
                  <a:srgbClr val="756F91"/>
                </a:solidFill>
                <a:latin typeface="Aptos"/>
                <a:ea typeface="Aptos"/>
                <a:cs typeface="Aptos"/>
              </a:defRPr>
            </a:pPr>
            <a:r>
              <a:rPr sz="900" b="0" i="0" dirty="0">
                <a:solidFill>
                  <a:srgbClr val="756F91"/>
                </a:solidFill>
                <a:latin typeface="Aptos"/>
                <a:ea typeface="Aptos"/>
                <a:cs typeface="Aptos"/>
              </a:rPr>
              <a:t>“¿</a:t>
            </a:r>
            <a:r>
              <a:rPr sz="900" b="0" i="0" dirty="0" err="1">
                <a:solidFill>
                  <a:srgbClr val="756F91"/>
                </a:solidFill>
                <a:latin typeface="Aptos"/>
                <a:ea typeface="Aptos"/>
                <a:cs typeface="Aptos"/>
              </a:rPr>
              <a:t>Cuántos</a:t>
            </a:r>
            <a:r>
              <a:rPr sz="900" b="0" i="0" dirty="0">
                <a:solidFill>
                  <a:srgbClr val="756F91"/>
                </a:solidFill>
                <a:latin typeface="Aptos"/>
                <a:ea typeface="Aptos"/>
                <a:cs typeface="Aptos"/>
              </a:rPr>
              <a:t> leads </a:t>
            </a:r>
            <a:r>
              <a:rPr sz="900" b="0" i="0" dirty="0" err="1">
                <a:solidFill>
                  <a:srgbClr val="756F91"/>
                </a:solidFill>
                <a:latin typeface="Aptos"/>
                <a:ea typeface="Aptos"/>
                <a:cs typeface="Aptos"/>
              </a:rPr>
              <a:t>tuvimos</a:t>
            </a:r>
            <a:r>
              <a:rPr sz="900" b="0" i="0" dirty="0">
                <a:solidFill>
                  <a:srgbClr val="756F91"/>
                </a:solidFill>
                <a:latin typeface="Aptos"/>
                <a:ea typeface="Aptos"/>
                <a:cs typeface="Aptos"/>
              </a:rPr>
              <a:t>?”</a:t>
            </a:r>
          </a:p>
        </p:txBody>
      </p:sp>
      <p:sp>
        <p:nvSpPr>
          <p:cNvPr id="19" name="Rectángulo: esquinas redondeadas 18">
            <a:extLst>
              <a:ext uri="{FF2B5EF4-FFF2-40B4-BE49-F238E27FC236}">
                <a16:creationId xmlns:a16="http://schemas.microsoft.com/office/drawing/2014/main" id="{5A1ABA6C-BDE7-4FC7-827B-CC38D48C4274}"/>
              </a:ext>
            </a:extLst>
          </p:cNvPr>
          <p:cNvSpPr>
            <a:spLocks noGrp="1"/>
          </p:cNvSpPr>
          <p:nvPr/>
        </p:nvSpPr>
        <p:spPr>
          <a:xfrm>
            <a:off x="3476625" y="3421780"/>
            <a:ext cx="2381250" cy="838200"/>
          </a:xfrm>
          <a:prstGeom prst="roundRect">
            <a:avLst>
              <a:gd name="adj" fmla="val 13636"/>
            </a:avLst>
          </a:prstGeom>
          <a:solidFill>
            <a:srgbClr val="EEE8FF"/>
          </a:solidFill>
          <a:ln w="9525">
            <a:solidFill>
              <a:srgbClr val="5C2DD2"/>
            </a:solidFill>
            <a:prstDash val="solid"/>
          </a:ln>
        </p:spPr>
        <p:txBody>
          <a:bodyPr/>
          <a:lstStyle/>
          <a:p>
            <a:endParaRPr lang="es-MX"/>
          </a:p>
        </p:txBody>
      </p:sp>
      <p:sp>
        <p:nvSpPr>
          <p:cNvPr id="20" name="Rectángulo 19">
            <a:extLst>
              <a:ext uri="{FF2B5EF4-FFF2-40B4-BE49-F238E27FC236}">
                <a16:creationId xmlns:a16="http://schemas.microsoft.com/office/drawing/2014/main" id="{2D19B56E-E292-40F7-9512-44A2CA99118F}"/>
              </a:ext>
            </a:extLst>
          </p:cNvPr>
          <p:cNvSpPr>
            <a:spLocks noGrp="1"/>
          </p:cNvSpPr>
          <p:nvPr/>
        </p:nvSpPr>
        <p:spPr>
          <a:xfrm>
            <a:off x="3609975" y="3545605"/>
            <a:ext cx="2114550" cy="285750"/>
          </a:xfrm>
          <a:prstGeom prst="rect">
            <a:avLst/>
          </a:prstGeom>
          <a:noFill/>
          <a:ln w="0">
            <a:noFill/>
          </a:ln>
        </p:spPr>
        <p:txBody>
          <a:bodyPr anchor="t">
            <a:normAutofit/>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INTENT 2 · VISITAS</a:t>
            </a:r>
          </a:p>
        </p:txBody>
      </p:sp>
      <p:sp>
        <p:nvSpPr>
          <p:cNvPr id="21" name="Rectángulo 20">
            <a:extLst>
              <a:ext uri="{FF2B5EF4-FFF2-40B4-BE49-F238E27FC236}">
                <a16:creationId xmlns:a16="http://schemas.microsoft.com/office/drawing/2014/main" id="{E495B26D-0AA9-45F1-8D15-8D5741FAC056}"/>
              </a:ext>
            </a:extLst>
          </p:cNvPr>
          <p:cNvSpPr>
            <a:spLocks noGrp="1"/>
          </p:cNvSpPr>
          <p:nvPr/>
        </p:nvSpPr>
        <p:spPr>
          <a:xfrm>
            <a:off x="3609975" y="3869455"/>
            <a:ext cx="2114550" cy="304800"/>
          </a:xfrm>
          <a:prstGeom prst="rect">
            <a:avLst/>
          </a:prstGeom>
          <a:noFill/>
          <a:ln w="0">
            <a:noFill/>
          </a:ln>
        </p:spPr>
        <p:txBody>
          <a:bodyPr anchor="t">
            <a:normAutofit/>
          </a:bodyPr>
          <a:lstStyle/>
          <a:p>
            <a:pPr>
              <a:defRPr sz="900" b="0" i="0">
                <a:solidFill>
                  <a:srgbClr val="756F91"/>
                </a:solidFill>
                <a:latin typeface="Aptos"/>
                <a:ea typeface="Aptos"/>
                <a:cs typeface="Aptos"/>
              </a:defRPr>
            </a:pPr>
            <a:r>
              <a:rPr sz="900" b="0" i="0" dirty="0">
                <a:solidFill>
                  <a:srgbClr val="756F91"/>
                </a:solidFill>
                <a:latin typeface="Aptos"/>
                <a:ea typeface="Aptos"/>
                <a:cs typeface="Aptos"/>
              </a:rPr>
              <a:t>“¿</a:t>
            </a:r>
            <a:r>
              <a:rPr sz="900" b="0" i="0" dirty="0" err="1">
                <a:solidFill>
                  <a:srgbClr val="756F91"/>
                </a:solidFill>
                <a:latin typeface="Aptos"/>
                <a:ea typeface="Aptos"/>
                <a:cs typeface="Aptos"/>
              </a:rPr>
              <a:t>Cuántas</a:t>
            </a:r>
            <a:r>
              <a:rPr sz="900" b="0" i="0" dirty="0">
                <a:solidFill>
                  <a:srgbClr val="756F91"/>
                </a:solidFill>
                <a:latin typeface="Aptos"/>
                <a:ea typeface="Aptos"/>
                <a:cs typeface="Aptos"/>
              </a:rPr>
              <a:t> visitas se </a:t>
            </a:r>
            <a:r>
              <a:rPr sz="900" b="0" i="0" dirty="0" err="1">
                <a:solidFill>
                  <a:srgbClr val="756F91"/>
                </a:solidFill>
                <a:latin typeface="Aptos"/>
                <a:ea typeface="Aptos"/>
                <a:cs typeface="Aptos"/>
              </a:rPr>
              <a:t>realizaron</a:t>
            </a:r>
            <a:r>
              <a:rPr sz="900" b="0" i="0" dirty="0">
                <a:solidFill>
                  <a:srgbClr val="756F91"/>
                </a:solidFill>
                <a:latin typeface="Aptos"/>
                <a:ea typeface="Aptos"/>
                <a:cs typeface="Aptos"/>
              </a:rPr>
              <a:t>?”</a:t>
            </a:r>
          </a:p>
        </p:txBody>
      </p:sp>
      <p:sp>
        <p:nvSpPr>
          <p:cNvPr id="22" name="Rectángulo: esquinas redondeadas 21">
            <a:extLst>
              <a:ext uri="{FF2B5EF4-FFF2-40B4-BE49-F238E27FC236}">
                <a16:creationId xmlns:a16="http://schemas.microsoft.com/office/drawing/2014/main" id="{F9181B82-A6D9-4B74-98C3-B2E983D10D9E}"/>
              </a:ext>
            </a:extLst>
          </p:cNvPr>
          <p:cNvSpPr>
            <a:spLocks noGrp="1"/>
          </p:cNvSpPr>
          <p:nvPr/>
        </p:nvSpPr>
        <p:spPr>
          <a:xfrm>
            <a:off x="6191250" y="3421780"/>
            <a:ext cx="2381250" cy="838200"/>
          </a:xfrm>
          <a:prstGeom prst="roundRect">
            <a:avLst>
              <a:gd name="adj" fmla="val 13636"/>
            </a:avLst>
          </a:prstGeom>
          <a:solidFill>
            <a:srgbClr val="EEE8FF"/>
          </a:solidFill>
          <a:ln w="9525">
            <a:solidFill>
              <a:srgbClr val="5C2DD2"/>
            </a:solidFill>
            <a:prstDash val="solid"/>
          </a:ln>
        </p:spPr>
        <p:txBody>
          <a:bodyPr/>
          <a:lstStyle/>
          <a:p>
            <a:endParaRPr lang="es-MX"/>
          </a:p>
        </p:txBody>
      </p:sp>
      <p:sp>
        <p:nvSpPr>
          <p:cNvPr id="23" name="Rectángulo 22">
            <a:extLst>
              <a:ext uri="{FF2B5EF4-FFF2-40B4-BE49-F238E27FC236}">
                <a16:creationId xmlns:a16="http://schemas.microsoft.com/office/drawing/2014/main" id="{FA650E86-50DF-47C7-8577-BA43CBBE4800}"/>
              </a:ext>
            </a:extLst>
          </p:cNvPr>
          <p:cNvSpPr>
            <a:spLocks noGrp="1"/>
          </p:cNvSpPr>
          <p:nvPr/>
        </p:nvSpPr>
        <p:spPr>
          <a:xfrm>
            <a:off x="6324600" y="3545605"/>
            <a:ext cx="2114550" cy="285750"/>
          </a:xfrm>
          <a:prstGeom prst="rect">
            <a:avLst/>
          </a:prstGeom>
          <a:noFill/>
          <a:ln w="0">
            <a:noFill/>
          </a:ln>
        </p:spPr>
        <p:txBody>
          <a:bodyPr anchor="t">
            <a:normAutofit/>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INTENT 3 · CONVERSIÓN</a:t>
            </a:r>
          </a:p>
        </p:txBody>
      </p:sp>
      <p:sp>
        <p:nvSpPr>
          <p:cNvPr id="24" name="Rectángulo 23">
            <a:extLst>
              <a:ext uri="{FF2B5EF4-FFF2-40B4-BE49-F238E27FC236}">
                <a16:creationId xmlns:a16="http://schemas.microsoft.com/office/drawing/2014/main" id="{1B550619-DD1F-4856-8F86-9E8EC719C42A}"/>
              </a:ext>
            </a:extLst>
          </p:cNvPr>
          <p:cNvSpPr>
            <a:spLocks noGrp="1"/>
          </p:cNvSpPr>
          <p:nvPr/>
        </p:nvSpPr>
        <p:spPr>
          <a:xfrm>
            <a:off x="6324600" y="3869455"/>
            <a:ext cx="2114550" cy="304800"/>
          </a:xfrm>
          <a:prstGeom prst="rect">
            <a:avLst/>
          </a:prstGeom>
          <a:noFill/>
          <a:ln w="0">
            <a:noFill/>
          </a:ln>
        </p:spPr>
        <p:txBody>
          <a:bodyPr anchor="t">
            <a:normAutofit/>
          </a:bodyPr>
          <a:lstStyle/>
          <a:p>
            <a:pPr>
              <a:defRPr sz="900" b="0" i="0">
                <a:solidFill>
                  <a:srgbClr val="756F91"/>
                </a:solidFill>
                <a:latin typeface="Aptos"/>
                <a:ea typeface="Aptos"/>
                <a:cs typeface="Aptos"/>
              </a:defRPr>
            </a:pPr>
            <a:r>
              <a:rPr sz="900" b="0" i="0">
                <a:solidFill>
                  <a:srgbClr val="756F91"/>
                </a:solidFill>
                <a:latin typeface="Aptos"/>
                <a:ea typeface="Aptos"/>
                <a:cs typeface="Aptos"/>
              </a:rPr>
              <a:t>“¿Cuál fue la tasa de conversión?”</a:t>
            </a:r>
          </a:p>
        </p:txBody>
      </p:sp>
      <p:cxnSp>
        <p:nvCxnSpPr>
          <p:cNvPr id="68" name="Conector: angular 67"/>
          <p:cNvCxnSpPr>
            <a:cxnSpLocks/>
            <a:endCxn id="16" idx="0"/>
          </p:cNvCxnSpPr>
          <p:nvPr/>
        </p:nvCxnSpPr>
        <p:spPr>
          <a:xfrm flipH="1">
            <a:off x="1952625" y="3097930"/>
            <a:ext cx="4143375" cy="323850"/>
          </a:xfrm>
          <a:prstGeom prst="bentConnector4">
            <a:avLst>
              <a:gd name="adj1" fmla="val 0"/>
              <a:gd name="adj2" fmla="val 50000"/>
            </a:avLst>
          </a:prstGeom>
          <a:ln w="19050">
            <a:solidFill>
              <a:srgbClr val="5C2DD2"/>
            </a:solidFill>
            <a:prstDash val="solid"/>
            <a:tailEnd type="arrow" w="med" len="med"/>
          </a:ln>
        </p:spPr>
      </p:cxnSp>
      <p:cxnSp>
        <p:nvCxnSpPr>
          <p:cNvPr id="69" name="Conector: angular 68"/>
          <p:cNvCxnSpPr>
            <a:cxnSpLocks/>
            <a:endCxn id="19" idx="0"/>
          </p:cNvCxnSpPr>
          <p:nvPr/>
        </p:nvCxnSpPr>
        <p:spPr>
          <a:xfrm flipH="1">
            <a:off x="4667250" y="3097930"/>
            <a:ext cx="1428750" cy="323850"/>
          </a:xfrm>
          <a:prstGeom prst="bentConnector4">
            <a:avLst>
              <a:gd name="adj1" fmla="val 0"/>
              <a:gd name="adj2" fmla="val 50000"/>
            </a:avLst>
          </a:prstGeom>
          <a:ln w="19050">
            <a:solidFill>
              <a:srgbClr val="5C2DD2"/>
            </a:solidFill>
            <a:prstDash val="solid"/>
            <a:tailEnd type="arrow" w="med" len="med"/>
          </a:ln>
        </p:spPr>
      </p:cxnSp>
      <p:cxnSp>
        <p:nvCxnSpPr>
          <p:cNvPr id="70" name="Conector: angular 69"/>
          <p:cNvCxnSpPr>
            <a:cxnSpLocks/>
            <a:endCxn id="22" idx="0"/>
          </p:cNvCxnSpPr>
          <p:nvPr/>
        </p:nvCxnSpPr>
        <p:spPr>
          <a:xfrm>
            <a:off x="6096000" y="3097930"/>
            <a:ext cx="1285875" cy="323850"/>
          </a:xfrm>
          <a:prstGeom prst="bentConnector4">
            <a:avLst>
              <a:gd name="adj1" fmla="val 0"/>
              <a:gd name="adj2" fmla="val 50000"/>
            </a:avLst>
          </a:prstGeom>
          <a:ln w="19050">
            <a:solidFill>
              <a:srgbClr val="5C2DD2"/>
            </a:solidFill>
            <a:prstDash val="solid"/>
            <a:tailEnd type="arrow" w="med" len="med"/>
          </a:ln>
        </p:spPr>
      </p:cxnSp>
      <p:sp>
        <p:nvSpPr>
          <p:cNvPr id="28" name="Rectángulo: esquinas redondeadas 27">
            <a:extLst>
              <a:ext uri="{FF2B5EF4-FFF2-40B4-BE49-F238E27FC236}">
                <a16:creationId xmlns:a16="http://schemas.microsoft.com/office/drawing/2014/main" id="{D9B46FD0-4EE2-454B-8037-5F55E4F75E02}"/>
              </a:ext>
            </a:extLst>
          </p:cNvPr>
          <p:cNvSpPr>
            <a:spLocks noGrp="1"/>
          </p:cNvSpPr>
          <p:nvPr/>
        </p:nvSpPr>
        <p:spPr>
          <a:xfrm>
            <a:off x="904875" y="4587348"/>
            <a:ext cx="7239000" cy="638174"/>
          </a:xfrm>
          <a:prstGeom prst="roundRect">
            <a:avLst>
              <a:gd name="adj" fmla="val 15789"/>
            </a:avLst>
          </a:prstGeom>
          <a:solidFill>
            <a:srgbClr val="E7ECFB"/>
          </a:solidFill>
          <a:ln w="9525">
            <a:solidFill>
              <a:srgbClr val="4866C6"/>
            </a:solidFill>
            <a:prstDash val="solid"/>
          </a:ln>
        </p:spPr>
        <p:txBody>
          <a:bodyPr/>
          <a:lstStyle/>
          <a:p>
            <a:endParaRPr lang="es-MX"/>
          </a:p>
        </p:txBody>
      </p:sp>
      <p:sp>
        <p:nvSpPr>
          <p:cNvPr id="29" name="Rectángulo 28">
            <a:extLst>
              <a:ext uri="{FF2B5EF4-FFF2-40B4-BE49-F238E27FC236}">
                <a16:creationId xmlns:a16="http://schemas.microsoft.com/office/drawing/2014/main" id="{B002EFB1-3AA9-44D0-86E0-3F44C0B7575A}"/>
              </a:ext>
            </a:extLst>
          </p:cNvPr>
          <p:cNvSpPr>
            <a:spLocks noGrp="1"/>
          </p:cNvSpPr>
          <p:nvPr/>
        </p:nvSpPr>
        <p:spPr>
          <a:xfrm>
            <a:off x="1038225" y="4711173"/>
            <a:ext cx="6972300" cy="285750"/>
          </a:xfrm>
          <a:prstGeom prst="rect">
            <a:avLst/>
          </a:prstGeom>
          <a:noFill/>
          <a:ln w="0">
            <a:noFill/>
          </a:ln>
        </p:spPr>
        <p:txBody>
          <a:bodyPr anchor="t">
            <a:normAutofit/>
          </a:bodyPr>
          <a:lstStyle/>
          <a:p>
            <a:pPr>
              <a:defRPr sz="975" b="1" i="0">
                <a:solidFill>
                  <a:srgbClr val="4866C6"/>
                </a:solidFill>
                <a:latin typeface="Aptos"/>
                <a:ea typeface="Aptos"/>
                <a:cs typeface="Aptos"/>
              </a:defRPr>
            </a:pPr>
            <a:r>
              <a:rPr sz="975" b="1" i="0">
                <a:solidFill>
                  <a:srgbClr val="4866C6"/>
                </a:solidFill>
                <a:latin typeface="Aptos"/>
                <a:ea typeface="Aptos"/>
                <a:cs typeface="Aptos"/>
              </a:rPr>
              <a:t>CADA INTENT RECORRE EL ROUTER DE DECISIONES PENDIENTES</a:t>
            </a:r>
          </a:p>
        </p:txBody>
      </p:sp>
      <p:sp>
        <p:nvSpPr>
          <p:cNvPr id="30" name="Rectángulo 29">
            <a:extLst>
              <a:ext uri="{FF2B5EF4-FFF2-40B4-BE49-F238E27FC236}">
                <a16:creationId xmlns:a16="http://schemas.microsoft.com/office/drawing/2014/main" id="{280F0D9E-BC59-49A2-BF55-43616CD610F6}"/>
              </a:ext>
            </a:extLst>
          </p:cNvPr>
          <p:cNvSpPr>
            <a:spLocks noGrp="1"/>
          </p:cNvSpPr>
          <p:nvPr/>
        </p:nvSpPr>
        <p:spPr>
          <a:xfrm>
            <a:off x="1038225" y="4946243"/>
            <a:ext cx="6972300" cy="190500"/>
          </a:xfrm>
          <a:prstGeom prst="rect">
            <a:avLst/>
          </a:prstGeom>
          <a:noFill/>
          <a:ln w="0">
            <a:noFill/>
          </a:ln>
        </p:spPr>
        <p:txBody>
          <a:bodyPr anchor="t">
            <a:noAutofit/>
          </a:bodyPr>
          <a:lstStyle/>
          <a:p>
            <a:pPr>
              <a:defRPr sz="825" b="0" i="0">
                <a:solidFill>
                  <a:srgbClr val="756F91"/>
                </a:solidFill>
                <a:latin typeface="Aptos"/>
                <a:ea typeface="Aptos"/>
                <a:cs typeface="Aptos"/>
              </a:defRPr>
            </a:pPr>
            <a:r>
              <a:rPr sz="900" b="0" i="0" dirty="0" err="1">
                <a:solidFill>
                  <a:srgbClr val="756F91"/>
                </a:solidFill>
                <a:latin typeface="Aptos"/>
                <a:ea typeface="Aptos"/>
                <a:cs typeface="Aptos"/>
              </a:rPr>
              <a:t>resolvePendingDecisionTurn</a:t>
            </a:r>
            <a:r>
              <a:rPr sz="900" b="0" i="0" dirty="0">
                <a:solidFill>
                  <a:srgbClr val="756F91"/>
                </a:solidFill>
                <a:latin typeface="Aptos"/>
                <a:ea typeface="Aptos"/>
                <a:cs typeface="Aptos"/>
              </a:rPr>
              <a:t> se </a:t>
            </a:r>
            <a:r>
              <a:rPr sz="900" b="0" i="0" dirty="0" err="1">
                <a:solidFill>
                  <a:srgbClr val="756F91"/>
                </a:solidFill>
                <a:latin typeface="Aptos"/>
                <a:ea typeface="Aptos"/>
                <a:cs typeface="Aptos"/>
              </a:rPr>
              <a:t>evalúa</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secuencialmente</a:t>
            </a:r>
            <a:r>
              <a:rPr sz="900" b="0" i="0" dirty="0">
                <a:solidFill>
                  <a:srgbClr val="756F91"/>
                </a:solidFill>
                <a:latin typeface="Aptos"/>
                <a:ea typeface="Aptos"/>
                <a:cs typeface="Aptos"/>
              </a:rPr>
              <a:t> → </a:t>
            </a:r>
            <a:r>
              <a:rPr sz="900" b="0" i="0" dirty="0" err="1">
                <a:solidFill>
                  <a:srgbClr val="756F91"/>
                </a:solidFill>
                <a:latin typeface="Aptos"/>
                <a:ea typeface="Aptos"/>
                <a:cs typeface="Aptos"/>
              </a:rPr>
              <a:t>los</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tres</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resultados</a:t>
            </a:r>
            <a:r>
              <a:rPr sz="900" b="0" i="0" dirty="0">
                <a:solidFill>
                  <a:srgbClr val="756F91"/>
                </a:solidFill>
                <a:latin typeface="Aptos"/>
                <a:ea typeface="Aptos"/>
                <a:cs typeface="Aptos"/>
              </a:rPr>
              <a:t> son </a:t>
            </a:r>
            <a:r>
              <a:rPr sz="900" b="0" i="0" dirty="0" err="1">
                <a:solidFill>
                  <a:srgbClr val="756F91"/>
                </a:solidFill>
                <a:latin typeface="Aptos"/>
                <a:ea typeface="Aptos"/>
                <a:cs typeface="Aptos"/>
              </a:rPr>
              <a:t>handled:false</a:t>
            </a:r>
            <a:endParaRPr sz="900" b="0" i="0" dirty="0">
              <a:solidFill>
                <a:srgbClr val="756F91"/>
              </a:solidFill>
              <a:latin typeface="Aptos"/>
              <a:ea typeface="Aptos"/>
              <a:cs typeface="Aptos"/>
            </a:endParaRPr>
          </a:p>
        </p:txBody>
      </p:sp>
      <p:cxnSp>
        <p:nvCxnSpPr>
          <p:cNvPr id="74" name="Conector: angular 73"/>
          <p:cNvCxnSpPr>
            <a:cxnSpLocks/>
            <a:stCxn id="16" idx="2"/>
            <a:endCxn id="28" idx="0"/>
          </p:cNvCxnSpPr>
          <p:nvPr/>
        </p:nvCxnSpPr>
        <p:spPr>
          <a:xfrm rot="16200000" flipH="1">
            <a:off x="3074816" y="3137789"/>
            <a:ext cx="327368" cy="2571750"/>
          </a:xfrm>
          <a:prstGeom prst="bentConnector3">
            <a:avLst>
              <a:gd name="adj1" fmla="val 50000"/>
            </a:avLst>
          </a:prstGeom>
          <a:ln w="14288">
            <a:solidFill>
              <a:srgbClr val="4866C6"/>
            </a:solidFill>
            <a:prstDash val="solid"/>
            <a:tailEnd type="arrow" w="med" len="med"/>
          </a:ln>
        </p:spPr>
      </p:cxnSp>
      <p:cxnSp>
        <p:nvCxnSpPr>
          <p:cNvPr id="75" name="Conector: angular 74"/>
          <p:cNvCxnSpPr>
            <a:cxnSpLocks/>
            <a:stCxn id="19" idx="2"/>
            <a:endCxn id="28" idx="0"/>
          </p:cNvCxnSpPr>
          <p:nvPr/>
        </p:nvCxnSpPr>
        <p:spPr>
          <a:xfrm rot="5400000">
            <a:off x="4432129" y="4352227"/>
            <a:ext cx="327368" cy="142875"/>
          </a:xfrm>
          <a:prstGeom prst="bentConnector3">
            <a:avLst>
              <a:gd name="adj1" fmla="val 50000"/>
            </a:avLst>
          </a:prstGeom>
          <a:ln w="14288">
            <a:solidFill>
              <a:srgbClr val="4866C6"/>
            </a:solidFill>
            <a:prstDash val="solid"/>
            <a:tailEnd type="arrow" w="med" len="med"/>
          </a:ln>
        </p:spPr>
      </p:cxnSp>
      <p:cxnSp>
        <p:nvCxnSpPr>
          <p:cNvPr id="76" name="Conector: angular 75"/>
          <p:cNvCxnSpPr>
            <a:cxnSpLocks/>
            <a:stCxn id="22" idx="2"/>
            <a:endCxn id="28" idx="0"/>
          </p:cNvCxnSpPr>
          <p:nvPr/>
        </p:nvCxnSpPr>
        <p:spPr>
          <a:xfrm rot="5400000">
            <a:off x="5789441" y="2994914"/>
            <a:ext cx="327368" cy="2857500"/>
          </a:xfrm>
          <a:prstGeom prst="bentConnector3">
            <a:avLst>
              <a:gd name="adj1" fmla="val 50000"/>
            </a:avLst>
          </a:prstGeom>
          <a:ln w="14288">
            <a:solidFill>
              <a:srgbClr val="4866C6"/>
            </a:solidFill>
            <a:prstDash val="solid"/>
            <a:tailEnd type="arrow" w="med" len="med"/>
          </a:ln>
        </p:spPr>
      </p:cxnSp>
      <p:sp>
        <p:nvSpPr>
          <p:cNvPr id="34" name="Rectángulo: esquinas redondeadas 33">
            <a:extLst>
              <a:ext uri="{FF2B5EF4-FFF2-40B4-BE49-F238E27FC236}">
                <a16:creationId xmlns:a16="http://schemas.microsoft.com/office/drawing/2014/main" id="{1EC48B7C-FD3D-4D74-8F5A-D0D003C7A93E}"/>
              </a:ext>
            </a:extLst>
          </p:cNvPr>
          <p:cNvSpPr>
            <a:spLocks noGrp="1"/>
          </p:cNvSpPr>
          <p:nvPr/>
        </p:nvSpPr>
        <p:spPr>
          <a:xfrm>
            <a:off x="8524875" y="4587348"/>
            <a:ext cx="2905125" cy="638174"/>
          </a:xfrm>
          <a:prstGeom prst="roundRect">
            <a:avLst>
              <a:gd name="adj" fmla="val 15789"/>
            </a:avLst>
          </a:prstGeom>
          <a:solidFill>
            <a:srgbClr val="FFFFFF"/>
          </a:solidFill>
          <a:ln w="9525">
            <a:solidFill>
              <a:srgbClr val="B8497C"/>
            </a:solidFill>
            <a:prstDash val="solid"/>
          </a:ln>
        </p:spPr>
        <p:txBody>
          <a:bodyPr/>
          <a:lstStyle/>
          <a:p>
            <a:endParaRPr lang="es-MX"/>
          </a:p>
        </p:txBody>
      </p:sp>
      <p:sp>
        <p:nvSpPr>
          <p:cNvPr id="35" name="Rectángulo 34">
            <a:extLst>
              <a:ext uri="{FF2B5EF4-FFF2-40B4-BE49-F238E27FC236}">
                <a16:creationId xmlns:a16="http://schemas.microsoft.com/office/drawing/2014/main" id="{794F9EE8-EF88-4F45-9188-C4EF44D97983}"/>
              </a:ext>
            </a:extLst>
          </p:cNvPr>
          <p:cNvSpPr>
            <a:spLocks noGrp="1"/>
          </p:cNvSpPr>
          <p:nvPr/>
        </p:nvSpPr>
        <p:spPr>
          <a:xfrm>
            <a:off x="8658225" y="4711173"/>
            <a:ext cx="2638425" cy="285750"/>
          </a:xfrm>
          <a:prstGeom prst="rect">
            <a:avLst/>
          </a:prstGeom>
          <a:noFill/>
          <a:ln w="0">
            <a:noFill/>
          </a:ln>
        </p:spPr>
        <p:txBody>
          <a:bodyPr anchor="t">
            <a:normAutofit/>
          </a:bodyPr>
          <a:lstStyle/>
          <a:p>
            <a:pPr>
              <a:defRPr sz="975" b="1" i="0">
                <a:solidFill>
                  <a:srgbClr val="B8497C"/>
                </a:solidFill>
                <a:latin typeface="Aptos"/>
                <a:ea typeface="Aptos"/>
                <a:cs typeface="Aptos"/>
              </a:defRPr>
            </a:pPr>
            <a:r>
              <a:rPr sz="975" b="1" i="0">
                <a:solidFill>
                  <a:srgbClr val="B8497C"/>
                </a:solidFill>
                <a:latin typeface="Aptos"/>
                <a:ea typeface="Aptos"/>
                <a:cs typeface="Aptos"/>
              </a:rPr>
              <a:t>0 INTENTS MANEJADOS</a:t>
            </a:r>
          </a:p>
        </p:txBody>
      </p:sp>
      <p:sp>
        <p:nvSpPr>
          <p:cNvPr id="36" name="Rectángulo 35">
            <a:extLst>
              <a:ext uri="{FF2B5EF4-FFF2-40B4-BE49-F238E27FC236}">
                <a16:creationId xmlns:a16="http://schemas.microsoft.com/office/drawing/2014/main" id="{4AED7763-89EE-4A8A-9916-A9B926FAF537}"/>
              </a:ext>
            </a:extLst>
          </p:cNvPr>
          <p:cNvSpPr>
            <a:spLocks noGrp="1"/>
          </p:cNvSpPr>
          <p:nvPr/>
        </p:nvSpPr>
        <p:spPr>
          <a:xfrm>
            <a:off x="8658225" y="4917021"/>
            <a:ext cx="2676525" cy="228600"/>
          </a:xfrm>
          <a:prstGeom prst="rect">
            <a:avLst/>
          </a:prstGeom>
          <a:noFill/>
          <a:ln w="0">
            <a:noFill/>
          </a:ln>
        </p:spPr>
        <p:txBody>
          <a:bodyPr anchor="t">
            <a:noAutofit/>
          </a:bodyPr>
          <a:lstStyle/>
          <a:p>
            <a:pPr>
              <a:defRPr sz="750" b="0" i="0">
                <a:solidFill>
                  <a:srgbClr val="756F91"/>
                </a:solidFill>
                <a:latin typeface="Aptos"/>
                <a:ea typeface="Aptos"/>
                <a:cs typeface="Aptos"/>
              </a:defRPr>
            </a:pPr>
            <a:r>
              <a:rPr sz="900" b="0" i="0" dirty="0" err="1">
                <a:solidFill>
                  <a:srgbClr val="756F91"/>
                </a:solidFill>
                <a:latin typeface="Aptos"/>
                <a:ea typeface="Aptos"/>
                <a:cs typeface="Aptos"/>
              </a:rPr>
              <a:t>composePendingDecisionTurns</a:t>
            </a:r>
            <a:r>
              <a:rPr sz="900" b="0" i="0" dirty="0">
                <a:solidFill>
                  <a:srgbClr val="756F91"/>
                </a:solidFill>
                <a:latin typeface="Aptos"/>
                <a:ea typeface="Aptos"/>
                <a:cs typeface="Aptos"/>
              </a:rPr>
              <a:t> → { </a:t>
            </a:r>
            <a:r>
              <a:rPr sz="900" b="0" i="0" dirty="0" err="1">
                <a:solidFill>
                  <a:srgbClr val="756F91"/>
                </a:solidFill>
                <a:latin typeface="Aptos"/>
                <a:ea typeface="Aptos"/>
                <a:cs typeface="Aptos"/>
              </a:rPr>
              <a:t>handled:false</a:t>
            </a:r>
            <a:r>
              <a:rPr sz="900" b="0" i="0" dirty="0">
                <a:solidFill>
                  <a:srgbClr val="756F91"/>
                </a:solidFill>
                <a:latin typeface="Aptos"/>
                <a:ea typeface="Aptos"/>
                <a:cs typeface="Aptos"/>
              </a:rPr>
              <a:t> }</a:t>
            </a:r>
          </a:p>
        </p:txBody>
      </p:sp>
      <p:sp>
        <p:nvSpPr>
          <p:cNvPr id="37" name="Rectángulo: esquinas redondeadas 36">
            <a:extLst>
              <a:ext uri="{FF2B5EF4-FFF2-40B4-BE49-F238E27FC236}">
                <a16:creationId xmlns:a16="http://schemas.microsoft.com/office/drawing/2014/main" id="{D7C69B53-9A3E-40E8-99FF-C3E37647BECF}"/>
              </a:ext>
            </a:extLst>
          </p:cNvPr>
          <p:cNvSpPr>
            <a:spLocks noGrp="1"/>
          </p:cNvSpPr>
          <p:nvPr/>
        </p:nvSpPr>
        <p:spPr>
          <a:xfrm>
            <a:off x="4762500" y="5476875"/>
            <a:ext cx="6667500" cy="695325"/>
          </a:xfrm>
          <a:prstGeom prst="roundRect">
            <a:avLst>
              <a:gd name="adj" fmla="val 16438"/>
            </a:avLst>
          </a:prstGeom>
          <a:solidFill>
            <a:srgbClr val="E3F5ED"/>
          </a:solidFill>
          <a:ln w="9525">
            <a:solidFill>
              <a:srgbClr val="009566"/>
            </a:solidFill>
            <a:prstDash val="solid"/>
          </a:ln>
        </p:spPr>
        <p:txBody>
          <a:bodyPr/>
          <a:lstStyle/>
          <a:p>
            <a:endParaRPr lang="es-MX"/>
          </a:p>
        </p:txBody>
      </p:sp>
      <p:sp>
        <p:nvSpPr>
          <p:cNvPr id="38" name="Rectángulo 37">
            <a:extLst>
              <a:ext uri="{FF2B5EF4-FFF2-40B4-BE49-F238E27FC236}">
                <a16:creationId xmlns:a16="http://schemas.microsoft.com/office/drawing/2014/main" id="{7339322A-E555-4AF6-B1C3-B00E45D3771E}"/>
              </a:ext>
            </a:extLst>
          </p:cNvPr>
          <p:cNvSpPr>
            <a:spLocks noGrp="1"/>
          </p:cNvSpPr>
          <p:nvPr/>
        </p:nvSpPr>
        <p:spPr>
          <a:xfrm>
            <a:off x="4895850" y="5538554"/>
            <a:ext cx="6400800" cy="285750"/>
          </a:xfrm>
          <a:prstGeom prst="rect">
            <a:avLst/>
          </a:prstGeom>
          <a:noFill/>
          <a:ln w="0">
            <a:noFill/>
          </a:ln>
        </p:spPr>
        <p:txBody>
          <a:bodyPr anchor="t">
            <a:normAutofit/>
          </a:bodyPr>
          <a:lstStyle/>
          <a:p>
            <a:pPr>
              <a:defRPr sz="975" b="1" i="0">
                <a:solidFill>
                  <a:srgbClr val="009566"/>
                </a:solidFill>
                <a:latin typeface="Aptos"/>
                <a:ea typeface="Aptos"/>
                <a:cs typeface="Aptos"/>
              </a:defRPr>
            </a:pPr>
            <a:r>
              <a:rPr sz="975" b="1" i="0" dirty="0" err="1">
                <a:solidFill>
                  <a:srgbClr val="009566"/>
                </a:solidFill>
                <a:latin typeface="Aptos"/>
                <a:ea typeface="Aptos"/>
                <a:cs typeface="Aptos"/>
              </a:rPr>
              <a:t>runAgent</a:t>
            </a:r>
            <a:r>
              <a:rPr sz="975" b="1" i="0" dirty="0">
                <a:solidFill>
                  <a:srgbClr val="009566"/>
                </a:solidFill>
                <a:latin typeface="Aptos"/>
                <a:ea typeface="Aptos"/>
                <a:cs typeface="Aptos"/>
              </a:rPr>
              <a:t>(MENSAJE ORIGINAL COMPLETO</a:t>
            </a:r>
            <a:r>
              <a:rPr lang="es-MX" sz="975" b="1" i="0" dirty="0">
                <a:solidFill>
                  <a:srgbClr val="009566"/>
                </a:solidFill>
                <a:latin typeface="Aptos"/>
                <a:ea typeface="Aptos"/>
                <a:cs typeface="Aptos"/>
              </a:rPr>
              <a:t> con las 3 preguntas</a:t>
            </a:r>
            <a:r>
              <a:rPr sz="975" b="1" i="0" dirty="0">
                <a:solidFill>
                  <a:srgbClr val="009566"/>
                </a:solidFill>
                <a:latin typeface="Aptos"/>
                <a:ea typeface="Aptos"/>
                <a:cs typeface="Aptos"/>
              </a:rPr>
              <a:t>)</a:t>
            </a:r>
            <a:r>
              <a:rPr lang="es-MX" sz="975" b="1" i="0" dirty="0">
                <a:solidFill>
                  <a:srgbClr val="009566"/>
                </a:solidFill>
                <a:latin typeface="Aptos"/>
                <a:ea typeface="Aptos"/>
                <a:cs typeface="Aptos"/>
              </a:rPr>
              <a:t> </a:t>
            </a:r>
            <a:r>
              <a:rPr lang="es-MX" sz="975" b="1" i="0" dirty="0">
                <a:solidFill>
                  <a:srgbClr val="009566"/>
                </a:solidFill>
                <a:latin typeface="Aptos"/>
                <a:ea typeface="Aptos"/>
                <a:cs typeface="Aptos"/>
                <a:sym typeface="Wingdings" panose="05000000000000000000" pitchFamily="2" charset="2"/>
              </a:rPr>
              <a:t> </a:t>
            </a:r>
            <a:r>
              <a:rPr lang="es-MX" sz="975" b="1" i="0" dirty="0" err="1">
                <a:solidFill>
                  <a:srgbClr val="009566"/>
                </a:solidFill>
                <a:latin typeface="Aptos"/>
                <a:ea typeface="Aptos"/>
                <a:cs typeface="Aptos"/>
                <a:sym typeface="Wingdings" panose="05000000000000000000" pitchFamily="2" charset="2"/>
              </a:rPr>
              <a:t>StateGraph</a:t>
            </a:r>
            <a:endParaRPr sz="975" b="1" i="0" dirty="0">
              <a:solidFill>
                <a:srgbClr val="009566"/>
              </a:solidFill>
              <a:latin typeface="Aptos"/>
              <a:ea typeface="Aptos"/>
              <a:cs typeface="Aptos"/>
            </a:endParaRPr>
          </a:p>
        </p:txBody>
      </p:sp>
      <p:sp>
        <p:nvSpPr>
          <p:cNvPr id="39" name="Rectángulo 38">
            <a:extLst>
              <a:ext uri="{FF2B5EF4-FFF2-40B4-BE49-F238E27FC236}">
                <a16:creationId xmlns:a16="http://schemas.microsoft.com/office/drawing/2014/main" id="{5A2CF6B0-5306-4C40-987D-4480C5339B4F}"/>
              </a:ext>
            </a:extLst>
          </p:cNvPr>
          <p:cNvSpPr>
            <a:spLocks noGrp="1"/>
          </p:cNvSpPr>
          <p:nvPr/>
        </p:nvSpPr>
        <p:spPr>
          <a:xfrm>
            <a:off x="4895850" y="5755869"/>
            <a:ext cx="6400800" cy="368606"/>
          </a:xfrm>
          <a:prstGeom prst="rect">
            <a:avLst/>
          </a:prstGeom>
          <a:noFill/>
          <a:ln w="0">
            <a:noFill/>
          </a:ln>
        </p:spPr>
        <p:txBody>
          <a:bodyPr anchor="t">
            <a:noAutofit/>
          </a:bodyPr>
          <a:lstStyle/>
          <a:p>
            <a:pPr marL="171450" indent="-171450">
              <a:buFont typeface="Arial" panose="020B0604020202020204" pitchFamily="34" charset="0"/>
              <a:buChar char="•"/>
              <a:defRPr sz="750" b="0" i="0">
                <a:solidFill>
                  <a:srgbClr val="756F91"/>
                </a:solidFill>
                <a:latin typeface="Aptos"/>
                <a:ea typeface="Aptos"/>
                <a:cs typeface="Aptos"/>
              </a:defRPr>
            </a:pPr>
            <a:r>
              <a:rPr lang="es-ES" sz="900" b="0" i="0" dirty="0">
                <a:solidFill>
                  <a:srgbClr val="756F91"/>
                </a:solidFill>
                <a:latin typeface="Aptos"/>
                <a:ea typeface="Aptos"/>
                <a:cs typeface="Aptos"/>
              </a:rPr>
              <a:t>Una invocación de </a:t>
            </a:r>
            <a:r>
              <a:rPr lang="es-ES" sz="900" b="0" i="0" dirty="0" err="1">
                <a:solidFill>
                  <a:srgbClr val="756F91"/>
                </a:solidFill>
                <a:latin typeface="Aptos"/>
                <a:ea typeface="Aptos"/>
                <a:cs typeface="Aptos"/>
              </a:rPr>
              <a:t>runAgent</a:t>
            </a:r>
            <a:r>
              <a:rPr lang="es-ES" sz="900" b="0" i="0" dirty="0">
                <a:solidFill>
                  <a:srgbClr val="756F91"/>
                </a:solidFill>
                <a:latin typeface="Aptos"/>
                <a:ea typeface="Aptos"/>
                <a:cs typeface="Aptos"/>
              </a:rPr>
              <a:t> · una Skill dominante o ninguna · una ejecución del </a:t>
            </a:r>
            <a:r>
              <a:rPr lang="es-ES" sz="900" b="0" i="0" dirty="0" err="1">
                <a:solidFill>
                  <a:srgbClr val="756F91"/>
                </a:solidFill>
                <a:latin typeface="Aptos"/>
                <a:ea typeface="Aptos"/>
                <a:cs typeface="Aptos"/>
              </a:rPr>
              <a:t>StateGraph</a:t>
            </a:r>
            <a:endParaRPr sz="900" b="0" i="0" dirty="0">
              <a:solidFill>
                <a:srgbClr val="756F91"/>
              </a:solidFill>
              <a:latin typeface="Aptos"/>
              <a:ea typeface="Aptos"/>
              <a:cs typeface="Aptos"/>
            </a:endParaRPr>
          </a:p>
          <a:p>
            <a:pPr marL="171450" indent="-171450">
              <a:buFont typeface="Arial" panose="020B0604020202020204" pitchFamily="34" charset="0"/>
              <a:buChar char="•"/>
              <a:defRPr sz="750" b="0" i="0">
                <a:solidFill>
                  <a:srgbClr val="756F91"/>
                </a:solidFill>
                <a:latin typeface="Aptos"/>
                <a:ea typeface="Aptos"/>
                <a:cs typeface="Aptos"/>
              </a:defRPr>
            </a:pPr>
            <a:r>
              <a:rPr sz="900" b="0" i="0" dirty="0">
                <a:solidFill>
                  <a:srgbClr val="756F91"/>
                </a:solidFill>
                <a:latin typeface="Aptos"/>
                <a:ea typeface="Aptos"/>
                <a:cs typeface="Aptos"/>
              </a:rPr>
              <a:t>No </a:t>
            </a:r>
            <a:r>
              <a:rPr sz="900" b="0" i="0" dirty="0" err="1">
                <a:solidFill>
                  <a:srgbClr val="756F91"/>
                </a:solidFill>
                <a:latin typeface="Aptos"/>
                <a:ea typeface="Aptos"/>
                <a:cs typeface="Aptos"/>
              </a:rPr>
              <a:t>crea</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tres</a:t>
            </a:r>
            <a:r>
              <a:rPr sz="900" b="0" i="0" dirty="0">
                <a:solidFill>
                  <a:srgbClr val="756F91"/>
                </a:solidFill>
                <a:latin typeface="Aptos"/>
                <a:ea typeface="Aptos"/>
                <a:cs typeface="Aptos"/>
              </a:rPr>
              <a:t> residuals </a:t>
            </a:r>
            <a:r>
              <a:rPr sz="900" b="0" i="0" dirty="0" err="1">
                <a:solidFill>
                  <a:srgbClr val="756F91"/>
                </a:solidFill>
                <a:latin typeface="Aptos"/>
                <a:ea typeface="Aptos"/>
                <a:cs typeface="Aptos"/>
              </a:rPr>
              <a:t>ni</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tres</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ejecuciones</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separadas</a:t>
            </a:r>
            <a:endParaRPr sz="900" b="0" i="0" dirty="0">
              <a:solidFill>
                <a:srgbClr val="756F91"/>
              </a:solidFill>
              <a:latin typeface="Aptos"/>
              <a:ea typeface="Aptos"/>
              <a:cs typeface="Aptos"/>
            </a:endParaRPr>
          </a:p>
        </p:txBody>
      </p:sp>
      <p:cxnSp>
        <p:nvCxnSpPr>
          <p:cNvPr id="83" name="Conector recto de flecha 82"/>
          <p:cNvCxnSpPr>
            <a:cxnSpLocks/>
            <a:stCxn id="28" idx="3"/>
            <a:endCxn id="34" idx="1"/>
          </p:cNvCxnSpPr>
          <p:nvPr/>
        </p:nvCxnSpPr>
        <p:spPr>
          <a:xfrm>
            <a:off x="8143875" y="4906435"/>
            <a:ext cx="381000" cy="0"/>
          </a:xfrm>
          <a:prstGeom prst="straightConnector1">
            <a:avLst/>
          </a:prstGeom>
          <a:ln w="19050">
            <a:solidFill>
              <a:srgbClr val="B8497C"/>
            </a:solidFill>
            <a:prstDash val="solid"/>
            <a:tailEnd type="arrow" w="med" len="med"/>
          </a:ln>
        </p:spPr>
      </p:cxnSp>
      <p:cxnSp>
        <p:nvCxnSpPr>
          <p:cNvPr id="84" name="Conector: angular 83"/>
          <p:cNvCxnSpPr>
            <a:cxnSpLocks/>
            <a:stCxn id="34" idx="2"/>
            <a:endCxn id="37" idx="0"/>
          </p:cNvCxnSpPr>
          <p:nvPr/>
        </p:nvCxnSpPr>
        <p:spPr>
          <a:xfrm rot="5400000">
            <a:off x="8911168" y="4410604"/>
            <a:ext cx="251353" cy="1881188"/>
          </a:xfrm>
          <a:prstGeom prst="bentConnector3">
            <a:avLst>
              <a:gd name="adj1" fmla="val 50000"/>
            </a:avLst>
          </a:prstGeom>
          <a:ln w="19050">
            <a:solidFill>
              <a:srgbClr val="009566"/>
            </a:solidFill>
            <a:prstDash val="solid"/>
            <a:tailEnd type="arrow" w="med" len="med"/>
          </a:ln>
        </p:spPr>
      </p:cxnSp>
      <p:sp>
        <p:nvSpPr>
          <p:cNvPr id="42" name="Rectángulo: esquinas redondeadas 41">
            <a:extLst>
              <a:ext uri="{FF2B5EF4-FFF2-40B4-BE49-F238E27FC236}">
                <a16:creationId xmlns:a16="http://schemas.microsoft.com/office/drawing/2014/main" id="{2D33CCBC-6103-40A6-A39C-43E2B68129D9}"/>
              </a:ext>
            </a:extLst>
          </p:cNvPr>
          <p:cNvSpPr>
            <a:spLocks noGrp="1"/>
          </p:cNvSpPr>
          <p:nvPr/>
        </p:nvSpPr>
        <p:spPr>
          <a:xfrm>
            <a:off x="666750" y="6257924"/>
            <a:ext cx="10858500" cy="276125"/>
          </a:xfrm>
          <a:prstGeom prst="roundRect">
            <a:avLst>
              <a:gd name="adj" fmla="val 33333"/>
            </a:avLst>
          </a:prstGeom>
          <a:solidFill>
            <a:srgbClr val="211D31"/>
          </a:solidFill>
          <a:ln w="9525">
            <a:solidFill>
              <a:srgbClr val="211D31"/>
            </a:solidFill>
            <a:prstDash val="solid"/>
          </a:ln>
        </p:spPr>
        <p:txBody>
          <a:bodyPr/>
          <a:lstStyle/>
          <a:p>
            <a:endParaRPr lang="es-MX"/>
          </a:p>
        </p:txBody>
      </p:sp>
      <p:sp>
        <p:nvSpPr>
          <p:cNvPr id="43" name="Rectángulo 42">
            <a:extLst>
              <a:ext uri="{FF2B5EF4-FFF2-40B4-BE49-F238E27FC236}">
                <a16:creationId xmlns:a16="http://schemas.microsoft.com/office/drawing/2014/main" id="{424DC17A-E28F-44C3-9B9D-0764450126E6}"/>
              </a:ext>
            </a:extLst>
          </p:cNvPr>
          <p:cNvSpPr>
            <a:spLocks noGrp="1"/>
          </p:cNvSpPr>
          <p:nvPr/>
        </p:nvSpPr>
        <p:spPr>
          <a:xfrm>
            <a:off x="857250" y="6259866"/>
            <a:ext cx="10477500" cy="260644"/>
          </a:xfrm>
          <a:prstGeom prst="rect">
            <a:avLst/>
          </a:prstGeom>
          <a:noFill/>
          <a:ln w="0">
            <a:noFill/>
          </a:ln>
        </p:spPr>
        <p:txBody>
          <a:bodyPr anchor="t">
            <a:noAutofit/>
          </a:bodyPr>
          <a:lstStyle/>
          <a:p>
            <a:pPr algn="ctr">
              <a:defRPr sz="750" b="1" i="0">
                <a:solidFill>
                  <a:srgbClr val="FFFFFF"/>
                </a:solidFill>
                <a:latin typeface="Aptos"/>
                <a:ea typeface="Aptos"/>
                <a:cs typeface="Aptos"/>
              </a:defRPr>
            </a:pPr>
            <a:r>
              <a:rPr lang="es-ES" sz="1200" b="1" i="0" dirty="0">
                <a:solidFill>
                  <a:srgbClr val="FFFFFF"/>
                </a:solidFill>
                <a:latin typeface="Aptos"/>
                <a:ea typeface="Aptos"/>
                <a:cs typeface="Aptos"/>
              </a:rPr>
              <a:t>0 manejados → se conserva el mensaje original completo → una sola invocación de </a:t>
            </a:r>
            <a:r>
              <a:rPr lang="es-ES" sz="1200" b="1" i="0" dirty="0" err="1">
                <a:solidFill>
                  <a:srgbClr val="FFFFFF"/>
                </a:solidFill>
                <a:latin typeface="Aptos"/>
                <a:ea typeface="Aptos"/>
                <a:cs typeface="Aptos"/>
              </a:rPr>
              <a:t>runAgent</a:t>
            </a:r>
            <a:endParaRPr sz="1200" b="1" i="0" dirty="0">
              <a:solidFill>
                <a:srgbClr val="FFFFFF"/>
              </a:solidFill>
              <a:latin typeface="Aptos"/>
              <a:ea typeface="Aptos"/>
              <a:cs typeface="Aptos"/>
            </a:endParaRPr>
          </a:p>
        </p:txBody>
      </p:sp>
    </p:spTree>
    <p:extLst>
      <p:ext uri="{BB962C8B-B14F-4D97-AF65-F5344CB8AC3E}">
        <p14:creationId xmlns:p14="http://schemas.microsoft.com/office/powerpoint/2010/main" val="338663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Rectángulo 53">
            <a:extLst>
              <a:ext uri="{FF2B5EF4-FFF2-40B4-BE49-F238E27FC236}">
                <a16:creationId xmlns:a16="http://schemas.microsoft.com/office/drawing/2014/main" id="{29D6C276-1E7C-409E-9EB0-E063F4E1C96A}"/>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1C5C62BB-29C4-4249-AF69-E7B3F2369D08}"/>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ESCALAS DE EJECUCIÓN</a:t>
            </a:r>
          </a:p>
        </p:txBody>
      </p:sp>
      <p:sp>
        <p:nvSpPr>
          <p:cNvPr id="3" name="Rectángulo 2">
            <a:extLst>
              <a:ext uri="{FF2B5EF4-FFF2-40B4-BE49-F238E27FC236}">
                <a16:creationId xmlns:a16="http://schemas.microsoft.com/office/drawing/2014/main" id="{87DC6D5D-7B67-4B3E-860D-D826465C72A2}"/>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Turno, runAgent y StateGraph no son lo mismo</a:t>
            </a:r>
          </a:p>
        </p:txBody>
      </p:sp>
      <p:sp>
        <p:nvSpPr>
          <p:cNvPr id="4" name="Rectángulo 3">
            <a:extLst>
              <a:ext uri="{FF2B5EF4-FFF2-40B4-BE49-F238E27FC236}">
                <a16:creationId xmlns:a16="http://schemas.microsoft.com/office/drawing/2014/main" id="{8389D483-FBA0-4E91-97A1-8D11C415FBCC}"/>
              </a:ext>
            </a:extLst>
          </p:cNvPr>
          <p:cNvSpPr>
            <a:spLocks noGrp="1"/>
          </p:cNvSpPr>
          <p:nvPr/>
        </p:nvSpPr>
        <p:spPr>
          <a:xfrm>
            <a:off x="571499" y="1409700"/>
            <a:ext cx="10480371" cy="523875"/>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400" b="0" i="0" dirty="0">
                <a:solidFill>
                  <a:srgbClr val="756F91"/>
                </a:solidFill>
                <a:latin typeface="Aptos"/>
                <a:ea typeface="Aptos"/>
                <a:cs typeface="Aptos"/>
              </a:rPr>
              <a:t>Un </a:t>
            </a:r>
            <a:r>
              <a:rPr sz="1400" b="0" i="0" dirty="0" err="1">
                <a:solidFill>
                  <a:srgbClr val="756F91"/>
                </a:solidFill>
                <a:latin typeface="Aptos"/>
                <a:ea typeface="Aptos"/>
                <a:cs typeface="Aptos"/>
              </a:rPr>
              <a:t>turno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puede</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terminar</a:t>
            </a:r>
            <a:r>
              <a:rPr sz="1400" b="0" i="0" dirty="0">
                <a:solidFill>
                  <a:srgbClr val="756F91"/>
                </a:solidFill>
                <a:latin typeface="Aptos"/>
                <a:ea typeface="Aptos"/>
                <a:cs typeface="Aptos"/>
              </a:rPr>
              <a:t> antes del </a:t>
            </a:r>
            <a:r>
              <a:rPr sz="1400" b="0" i="0" dirty="0" err="1">
                <a:solidFill>
                  <a:srgbClr val="756F91"/>
                </a:solidFill>
                <a:latin typeface="Aptos"/>
                <a:ea typeface="Aptos"/>
                <a:cs typeface="Aptos"/>
              </a:rPr>
              <a:t>agente</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runAgent</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prepara</a:t>
            </a:r>
            <a:r>
              <a:rPr sz="1400" b="0" i="0" dirty="0">
                <a:solidFill>
                  <a:srgbClr val="756F91"/>
                </a:solidFill>
                <a:latin typeface="Aptos"/>
                <a:ea typeface="Aptos"/>
                <a:cs typeface="Aptos"/>
              </a:rPr>
              <a:t> la </a:t>
            </a:r>
            <a:r>
              <a:rPr sz="1400" b="0" i="0" dirty="0" err="1">
                <a:solidFill>
                  <a:srgbClr val="756F91"/>
                </a:solidFill>
                <a:latin typeface="Aptos"/>
                <a:ea typeface="Aptos"/>
                <a:cs typeface="Aptos"/>
              </a:rPr>
              <a:t>ejecución</a:t>
            </a:r>
            <a:r>
              <a:rPr sz="1400" b="0" i="0" dirty="0">
                <a:solidFill>
                  <a:srgbClr val="756F91"/>
                </a:solidFill>
                <a:latin typeface="Aptos"/>
                <a:ea typeface="Aptos"/>
                <a:cs typeface="Aptos"/>
              </a:rPr>
              <a:t> y el </a:t>
            </a:r>
            <a:r>
              <a:rPr sz="1400" b="0" i="0" dirty="0" err="1">
                <a:solidFill>
                  <a:srgbClr val="756F91"/>
                </a:solidFill>
                <a:latin typeface="Aptos"/>
                <a:ea typeface="Aptos"/>
                <a:cs typeface="Aptos"/>
              </a:rPr>
              <a:t>StateGraph</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gobierna</a:t>
            </a:r>
            <a:r>
              <a:rPr sz="1400" b="0" i="0" dirty="0">
                <a:solidFill>
                  <a:srgbClr val="756F91"/>
                </a:solidFill>
                <a:latin typeface="Aptos"/>
                <a:ea typeface="Aptos"/>
                <a:cs typeface="Aptos"/>
              </a:rPr>
              <a:t> el loop </a:t>
            </a:r>
            <a:r>
              <a:rPr sz="1400" b="0" i="0" dirty="0" err="1">
                <a:solidFill>
                  <a:srgbClr val="756F91"/>
                </a:solidFill>
                <a:latin typeface="Aptos"/>
                <a:ea typeface="Aptos"/>
                <a:cs typeface="Aptos"/>
              </a:rPr>
              <a:t>interno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agente</a:t>
            </a:r>
            <a:r>
              <a:rPr sz="1400" b="0" i="0" dirty="0">
                <a:solidFill>
                  <a:srgbClr val="756F91"/>
                </a:solidFill>
                <a:latin typeface="Aptos"/>
                <a:ea typeface="Aptos"/>
                <a:cs typeface="Aptos"/>
              </a:rPr>
              <a:t>–tools.</a:t>
            </a:r>
          </a:p>
        </p:txBody>
      </p:sp>
      <p:pic>
        <p:nvPicPr>
          <p:cNvPr id="58" name="Imagen 57"/>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206622C9-D00E-401E-9AD6-46CBC5AC2D58}"/>
              </a:ext>
            </a:extLst>
          </p:cNvPr>
          <p:cNvSpPr>
            <a:spLocks noGrp="1"/>
          </p:cNvSpPr>
          <p:nvPr/>
        </p:nvSpPr>
        <p:spPr>
          <a:xfrm>
            <a:off x="2223028" y="356080"/>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B6112DE8-D8AF-4C0D-A42A-ADC549DB7DDF}"/>
              </a:ext>
            </a:extLst>
          </p:cNvPr>
          <p:cNvSpPr>
            <a:spLocks noGrp="1"/>
          </p:cNvSpPr>
          <p:nvPr/>
        </p:nvSpPr>
        <p:spPr>
          <a:xfrm>
            <a:off x="2289703" y="384655"/>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C074439C-412A-4D61-B17C-17AC84A15E7B}"/>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853D4428-DA50-43CA-8A0D-74C159911C96}"/>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823B532F-22F8-498F-9A55-4AE4C89824AB}"/>
              </a:ext>
            </a:extLst>
          </p:cNvPr>
          <p:cNvSpPr>
            <a:spLocks noGrp="1"/>
          </p:cNvSpPr>
          <p:nvPr/>
        </p:nvSpPr>
        <p:spPr>
          <a:xfrm>
            <a:off x="410985" y="3216586"/>
            <a:ext cx="1381125" cy="876300"/>
          </a:xfrm>
          <a:prstGeom prst="roundRect">
            <a:avLst>
              <a:gd name="adj" fmla="val 13043"/>
            </a:avLst>
          </a:prstGeom>
          <a:solidFill>
            <a:srgbClr val="F4F3F7"/>
          </a:solidFill>
          <a:ln w="9525">
            <a:solidFill>
              <a:srgbClr val="756F91"/>
            </a:solidFill>
            <a:prstDash val="solid"/>
          </a:ln>
        </p:spPr>
        <p:txBody>
          <a:bodyPr/>
          <a:lstStyle/>
          <a:p>
            <a:endParaRPr lang="es-MX"/>
          </a:p>
        </p:txBody>
      </p:sp>
      <p:sp>
        <p:nvSpPr>
          <p:cNvPr id="11" name="Rectángulo 10">
            <a:extLst>
              <a:ext uri="{FF2B5EF4-FFF2-40B4-BE49-F238E27FC236}">
                <a16:creationId xmlns:a16="http://schemas.microsoft.com/office/drawing/2014/main" id="{389DF659-0BED-446E-A9F0-67FEC06FE9BE}"/>
              </a:ext>
            </a:extLst>
          </p:cNvPr>
          <p:cNvSpPr>
            <a:spLocks noGrp="1"/>
          </p:cNvSpPr>
          <p:nvPr/>
        </p:nvSpPr>
        <p:spPr>
          <a:xfrm>
            <a:off x="544335" y="3340411"/>
            <a:ext cx="1114425" cy="285750"/>
          </a:xfrm>
          <a:prstGeom prst="rect">
            <a:avLst/>
          </a:prstGeom>
          <a:noFill/>
          <a:ln w="0">
            <a:noFill/>
          </a:ln>
        </p:spPr>
        <p:txBody>
          <a:bodyPr anchor="t">
            <a:normAutofit/>
          </a:bodyPr>
          <a:lstStyle/>
          <a:p>
            <a:pPr>
              <a:defRPr sz="1050" b="1" i="0">
                <a:solidFill>
                  <a:srgbClr val="211D31"/>
                </a:solidFill>
                <a:latin typeface="Aptos"/>
                <a:ea typeface="Aptos"/>
                <a:cs typeface="Aptos"/>
              </a:defRPr>
            </a:pPr>
            <a:r>
              <a:rPr sz="1050" b="1" i="0" dirty="0">
                <a:solidFill>
                  <a:srgbClr val="211D31"/>
                </a:solidFill>
                <a:latin typeface="Aptos"/>
                <a:ea typeface="Aptos"/>
                <a:cs typeface="Aptos"/>
              </a:rPr>
              <a:t>INTERACCIÓN</a:t>
            </a:r>
          </a:p>
        </p:txBody>
      </p:sp>
      <p:sp>
        <p:nvSpPr>
          <p:cNvPr id="12" name="Rectángulo 11">
            <a:extLst>
              <a:ext uri="{FF2B5EF4-FFF2-40B4-BE49-F238E27FC236}">
                <a16:creationId xmlns:a16="http://schemas.microsoft.com/office/drawing/2014/main" id="{083A3A61-8676-4191-B358-23B8D77CBCEE}"/>
              </a:ext>
            </a:extLst>
          </p:cNvPr>
          <p:cNvSpPr>
            <a:spLocks noGrp="1"/>
          </p:cNvSpPr>
          <p:nvPr/>
        </p:nvSpPr>
        <p:spPr>
          <a:xfrm>
            <a:off x="544335" y="3664261"/>
            <a:ext cx="1114425" cy="342900"/>
          </a:xfrm>
          <a:prstGeom prst="rect">
            <a:avLst/>
          </a:prstGeom>
          <a:noFill/>
          <a:ln w="0">
            <a:noFill/>
          </a:ln>
        </p:spPr>
        <p:txBody>
          <a:bodyPr anchor="t">
            <a:normAutofit fontScale="91667"/>
          </a:bodyPr>
          <a:lstStyle/>
          <a:p>
            <a:pPr marL="171450" indent="-171450">
              <a:buFont typeface="Arial" panose="020B0604020202020204" pitchFamily="34" charset="0"/>
              <a:buChar char="•"/>
              <a:defRPr sz="900" b="0" i="0">
                <a:solidFill>
                  <a:srgbClr val="756F91"/>
                </a:solidFill>
                <a:latin typeface="Aptos"/>
                <a:ea typeface="Aptos"/>
                <a:cs typeface="Aptos"/>
              </a:defRPr>
            </a:pPr>
            <a:r>
              <a:rPr sz="900" b="0" i="0" dirty="0" err="1">
                <a:solidFill>
                  <a:srgbClr val="756F91"/>
                </a:solidFill>
                <a:latin typeface="Aptos"/>
                <a:ea typeface="Aptos"/>
                <a:cs typeface="Aptos"/>
              </a:rPr>
              <a:t>mensaje</a:t>
            </a:r>
            <a:r>
              <a:rPr sz="900" b="0" i="0" dirty="0">
                <a:solidFill>
                  <a:srgbClr val="756F91"/>
                </a:solidFill>
                <a:latin typeface="Aptos"/>
                <a:ea typeface="Aptos"/>
                <a:cs typeface="Aptos"/>
              </a:rPr>
              <a:t> · click</a:t>
            </a:r>
          </a:p>
          <a:p>
            <a:pPr marL="171450" indent="-171450">
              <a:buFont typeface="Arial" panose="020B0604020202020204" pitchFamily="34" charset="0"/>
              <a:buChar char="•"/>
              <a:defRPr sz="900" b="0" i="0">
                <a:solidFill>
                  <a:srgbClr val="756F91"/>
                </a:solidFill>
                <a:latin typeface="Aptos"/>
                <a:ea typeface="Aptos"/>
                <a:cs typeface="Aptos"/>
              </a:defRPr>
            </a:pPr>
            <a:r>
              <a:rPr sz="900" b="0" i="0" dirty="0" err="1">
                <a:solidFill>
                  <a:srgbClr val="756F91"/>
                </a:solidFill>
                <a:latin typeface="Aptos"/>
                <a:ea typeface="Aptos"/>
                <a:cs typeface="Aptos"/>
              </a:rPr>
              <a:t>evento</a:t>
            </a:r>
            <a:r>
              <a:rPr sz="900" b="0" i="0" dirty="0">
                <a:solidFill>
                  <a:srgbClr val="756F91"/>
                </a:solidFill>
                <a:latin typeface="Aptos"/>
                <a:ea typeface="Aptos"/>
                <a:cs typeface="Aptos"/>
              </a:rPr>
              <a:t> · resume</a:t>
            </a:r>
          </a:p>
        </p:txBody>
      </p:sp>
      <p:sp>
        <p:nvSpPr>
          <p:cNvPr id="13" name="Rectángulo: esquinas redondeadas 12">
            <a:extLst>
              <a:ext uri="{FF2B5EF4-FFF2-40B4-BE49-F238E27FC236}">
                <a16:creationId xmlns:a16="http://schemas.microsoft.com/office/drawing/2014/main" id="{A5AF85F6-74A9-4459-BEDB-CD8656CB5E06}"/>
              </a:ext>
            </a:extLst>
          </p:cNvPr>
          <p:cNvSpPr>
            <a:spLocks noGrp="1"/>
          </p:cNvSpPr>
          <p:nvPr/>
        </p:nvSpPr>
        <p:spPr>
          <a:xfrm>
            <a:off x="2032000" y="2095499"/>
            <a:ext cx="9843911" cy="3648075"/>
          </a:xfrm>
          <a:prstGeom prst="roundRect">
            <a:avLst>
              <a:gd name="adj" fmla="val 4571"/>
            </a:avLst>
          </a:prstGeom>
          <a:solidFill>
            <a:srgbClr val="FFFFFF"/>
          </a:solidFill>
          <a:ln w="9525">
            <a:solidFill>
              <a:srgbClr val="5C2DD2"/>
            </a:solidFill>
            <a:prstDash val="solid"/>
          </a:ln>
        </p:spPr>
        <p:txBody>
          <a:bodyPr/>
          <a:lstStyle/>
          <a:p>
            <a:endParaRPr lang="es-MX"/>
          </a:p>
        </p:txBody>
      </p:sp>
      <p:sp>
        <p:nvSpPr>
          <p:cNvPr id="14" name="Rectángulo: esquinas redondeadas 13">
            <a:extLst>
              <a:ext uri="{FF2B5EF4-FFF2-40B4-BE49-F238E27FC236}">
                <a16:creationId xmlns:a16="http://schemas.microsoft.com/office/drawing/2014/main" id="{7C29A2C3-931D-44ED-B928-588A24E22D64}"/>
              </a:ext>
            </a:extLst>
          </p:cNvPr>
          <p:cNvSpPr>
            <a:spLocks noGrp="1"/>
          </p:cNvSpPr>
          <p:nvPr/>
        </p:nvSpPr>
        <p:spPr>
          <a:xfrm>
            <a:off x="2476500" y="2257425"/>
            <a:ext cx="2047875" cy="266700"/>
          </a:xfrm>
          <a:prstGeom prst="roundRect">
            <a:avLst>
              <a:gd name="adj" fmla="val 50000"/>
            </a:avLst>
          </a:prstGeom>
          <a:solidFill>
            <a:srgbClr val="5C2DD2"/>
          </a:solidFill>
          <a:ln w="9525">
            <a:solidFill>
              <a:srgbClr val="5C2DD2"/>
            </a:solidFill>
            <a:prstDash val="solid"/>
          </a:ln>
        </p:spPr>
        <p:txBody>
          <a:bodyPr/>
          <a:lstStyle/>
          <a:p>
            <a:endParaRPr lang="es-MX"/>
          </a:p>
        </p:txBody>
      </p:sp>
      <p:sp>
        <p:nvSpPr>
          <p:cNvPr id="15" name="Rectángulo 14">
            <a:extLst>
              <a:ext uri="{FF2B5EF4-FFF2-40B4-BE49-F238E27FC236}">
                <a16:creationId xmlns:a16="http://schemas.microsoft.com/office/drawing/2014/main" id="{1F5683F7-87C1-41AE-BA34-7087E7B6A618}"/>
              </a:ext>
            </a:extLst>
          </p:cNvPr>
          <p:cNvSpPr>
            <a:spLocks noGrp="1"/>
          </p:cNvSpPr>
          <p:nvPr/>
        </p:nvSpPr>
        <p:spPr>
          <a:xfrm>
            <a:off x="2543175" y="2286000"/>
            <a:ext cx="19145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dirty="0">
                <a:solidFill>
                  <a:srgbClr val="FFFFFF"/>
                </a:solidFill>
                <a:latin typeface="Aptos"/>
                <a:ea typeface="Aptos"/>
                <a:cs typeface="Aptos"/>
              </a:rPr>
              <a:t>TURNO CONVERSACIONAL</a:t>
            </a:r>
          </a:p>
        </p:txBody>
      </p:sp>
      <p:sp>
        <p:nvSpPr>
          <p:cNvPr id="16" name="Rectángulo 15">
            <a:extLst>
              <a:ext uri="{FF2B5EF4-FFF2-40B4-BE49-F238E27FC236}">
                <a16:creationId xmlns:a16="http://schemas.microsoft.com/office/drawing/2014/main" id="{4CB74C38-6980-4C7D-B0B8-0F4326904D21}"/>
              </a:ext>
            </a:extLst>
          </p:cNvPr>
          <p:cNvSpPr>
            <a:spLocks noGrp="1"/>
          </p:cNvSpPr>
          <p:nvPr/>
        </p:nvSpPr>
        <p:spPr>
          <a:xfrm>
            <a:off x="4609153" y="2244017"/>
            <a:ext cx="6899917" cy="285750"/>
          </a:xfrm>
          <a:prstGeom prst="rect">
            <a:avLst/>
          </a:prstGeom>
          <a:noFill/>
          <a:ln w="0">
            <a:noFill/>
          </a:ln>
        </p:spPr>
        <p:txBody>
          <a:bodyPr anchor="t">
            <a:noAutofit/>
          </a:bodyPr>
          <a:lstStyle/>
          <a:p>
            <a:pPr>
              <a:defRPr sz="975" b="0" i="0">
                <a:solidFill>
                  <a:srgbClr val="756F91"/>
                </a:solidFill>
                <a:latin typeface="Aptos"/>
                <a:ea typeface="Aptos"/>
                <a:cs typeface="Aptos"/>
              </a:defRPr>
            </a:pPr>
            <a:r>
              <a:rPr sz="1400" b="0" i="0" dirty="0" err="1">
                <a:solidFill>
                  <a:srgbClr val="756F91"/>
                </a:solidFill>
                <a:latin typeface="Aptos"/>
                <a:ea typeface="Aptos"/>
                <a:cs typeface="Aptos"/>
              </a:rPr>
              <a:t>Procesamiento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coordinado</a:t>
            </a:r>
            <a:r>
              <a:rPr sz="1400" b="0" i="0" dirty="0">
                <a:solidFill>
                  <a:srgbClr val="756F91"/>
                </a:solidFill>
                <a:latin typeface="Aptos"/>
                <a:ea typeface="Aptos"/>
                <a:cs typeface="Aptos"/>
              </a:rPr>
              <a:t> de </a:t>
            </a:r>
            <a:r>
              <a:rPr sz="1400" b="0" i="0" dirty="0" err="1">
                <a:solidFill>
                  <a:srgbClr val="756F91"/>
                </a:solidFill>
                <a:latin typeface="Aptos"/>
                <a:ea typeface="Aptos"/>
                <a:cs typeface="Aptos"/>
              </a:rPr>
              <a:t>una</a:t>
            </a:r>
            <a:r>
              <a:rPr sz="1400" b="0" i="0" dirty="0">
                <a:solidFill>
                  <a:srgbClr val="756F91"/>
                </a:solidFill>
                <a:latin typeface="Aptos"/>
                <a:ea typeface="Aptos"/>
                <a:cs typeface="Aptos"/>
              </a:rPr>
              <a:t> entrada hasta </a:t>
            </a:r>
            <a:r>
              <a:rPr sz="1400" b="0" i="0" dirty="0" err="1">
                <a:solidFill>
                  <a:srgbClr val="756F91"/>
                </a:solidFill>
                <a:latin typeface="Aptos"/>
                <a:ea typeface="Aptos"/>
                <a:cs typeface="Aptos"/>
              </a:rPr>
              <a:t>producir</a:t>
            </a:r>
            <a:r>
              <a:rPr sz="1400" b="0" i="0" dirty="0">
                <a:solidFill>
                  <a:srgbClr val="756F91"/>
                </a:solidFill>
                <a:latin typeface="Aptos"/>
                <a:ea typeface="Aptos"/>
                <a:cs typeface="Aptos"/>
              </a:rPr>
              <a:t> salida, pausa o short-circuit</a:t>
            </a:r>
          </a:p>
        </p:txBody>
      </p:sp>
      <p:sp>
        <p:nvSpPr>
          <p:cNvPr id="17" name="Rectángulo 16">
            <a:extLst>
              <a:ext uri="{FF2B5EF4-FFF2-40B4-BE49-F238E27FC236}">
                <a16:creationId xmlns:a16="http://schemas.microsoft.com/office/drawing/2014/main" id="{AEB25585-18CF-411B-8890-240298D35F44}"/>
              </a:ext>
            </a:extLst>
          </p:cNvPr>
          <p:cNvSpPr>
            <a:spLocks noGrp="1"/>
          </p:cNvSpPr>
          <p:nvPr/>
        </p:nvSpPr>
        <p:spPr>
          <a:xfrm>
            <a:off x="1773060" y="3492811"/>
            <a:ext cx="361950" cy="323850"/>
          </a:xfrm>
          <a:prstGeom prst="rect">
            <a:avLst/>
          </a:prstGeom>
          <a:noFill/>
          <a:ln w="0">
            <a:noFill/>
          </a:ln>
        </p:spPr>
        <p:txBody>
          <a:bodyPr anchor="t">
            <a:normAutofit fontScale="87113" lnSpcReduction="20000"/>
          </a:bodyPr>
          <a:lstStyle/>
          <a:p>
            <a:pPr>
              <a:defRPr sz="1950" b="1" i="0">
                <a:solidFill>
                  <a:srgbClr val="5C2DD2"/>
                </a:solidFill>
                <a:latin typeface="Aptos"/>
                <a:ea typeface="Aptos"/>
                <a:cs typeface="Aptos"/>
              </a:defRPr>
            </a:pPr>
            <a:r>
              <a:rPr sz="1950" b="1" i="0">
                <a:solidFill>
                  <a:srgbClr val="5C2DD2"/>
                </a:solidFill>
                <a:latin typeface="Aptos"/>
                <a:ea typeface="Aptos"/>
                <a:cs typeface="Aptos"/>
              </a:rPr>
              <a:t>→</a:t>
            </a:r>
          </a:p>
        </p:txBody>
      </p:sp>
      <p:sp>
        <p:nvSpPr>
          <p:cNvPr id="18" name="Rectángulo 17">
            <a:extLst>
              <a:ext uri="{FF2B5EF4-FFF2-40B4-BE49-F238E27FC236}">
                <a16:creationId xmlns:a16="http://schemas.microsoft.com/office/drawing/2014/main" id="{E0206B42-AB64-49B6-9DD4-749AE0E5422E}"/>
              </a:ext>
            </a:extLst>
          </p:cNvPr>
          <p:cNvSpPr>
            <a:spLocks noGrp="1"/>
          </p:cNvSpPr>
          <p:nvPr/>
        </p:nvSpPr>
        <p:spPr>
          <a:xfrm>
            <a:off x="2571750" y="2927352"/>
            <a:ext cx="2857500" cy="228600"/>
          </a:xfrm>
          <a:prstGeom prst="rect">
            <a:avLst/>
          </a:prstGeom>
          <a:noFill/>
          <a:ln w="0">
            <a:noFill/>
          </a:ln>
        </p:spPr>
        <p:txBody>
          <a:bodyPr anchor="t">
            <a:normAutofit fontScale="85714"/>
          </a:bodyPr>
          <a:lstStyle/>
          <a:p>
            <a:pPr>
              <a:defRPr sz="1050" b="1" i="0">
                <a:solidFill>
                  <a:srgbClr val="B8497C"/>
                </a:solidFill>
                <a:latin typeface="Aptos"/>
                <a:ea typeface="Aptos"/>
                <a:cs typeface="Aptos"/>
              </a:defRPr>
            </a:pPr>
            <a:r>
              <a:rPr sz="1050" b="1" i="0">
                <a:solidFill>
                  <a:srgbClr val="B8497C"/>
                </a:solidFill>
                <a:latin typeface="Aptos"/>
                <a:ea typeface="Aptos"/>
                <a:cs typeface="Aptos"/>
              </a:rPr>
              <a:t>FUERA DEL STATEGRAPH</a:t>
            </a:r>
          </a:p>
        </p:txBody>
      </p:sp>
      <p:sp>
        <p:nvSpPr>
          <p:cNvPr id="19" name="Rectángulo: esquinas redondeadas 18">
            <a:extLst>
              <a:ext uri="{FF2B5EF4-FFF2-40B4-BE49-F238E27FC236}">
                <a16:creationId xmlns:a16="http://schemas.microsoft.com/office/drawing/2014/main" id="{36280F28-5EA5-4EDD-99EF-7ABD39313328}"/>
              </a:ext>
            </a:extLst>
          </p:cNvPr>
          <p:cNvSpPr>
            <a:spLocks noGrp="1"/>
          </p:cNvSpPr>
          <p:nvPr/>
        </p:nvSpPr>
        <p:spPr>
          <a:xfrm>
            <a:off x="2349804" y="3251202"/>
            <a:ext cx="1872724" cy="1028700"/>
          </a:xfrm>
          <a:prstGeom prst="roundRect">
            <a:avLst>
              <a:gd name="adj" fmla="val 11111"/>
            </a:avLst>
          </a:prstGeom>
          <a:solidFill>
            <a:srgbClr val="F8E7F0"/>
          </a:solidFill>
          <a:ln w="9525">
            <a:solidFill>
              <a:srgbClr val="B8497C"/>
            </a:solidFill>
            <a:prstDash val="solid"/>
          </a:ln>
        </p:spPr>
        <p:txBody>
          <a:bodyPr/>
          <a:lstStyle/>
          <a:p>
            <a:endParaRPr lang="es-MX"/>
          </a:p>
        </p:txBody>
      </p:sp>
      <p:sp>
        <p:nvSpPr>
          <p:cNvPr id="20" name="Rectángulo 19">
            <a:extLst>
              <a:ext uri="{FF2B5EF4-FFF2-40B4-BE49-F238E27FC236}">
                <a16:creationId xmlns:a16="http://schemas.microsoft.com/office/drawing/2014/main" id="{1C8785B3-70B2-4B4C-B27E-AAA45A7ABD38}"/>
              </a:ext>
            </a:extLst>
          </p:cNvPr>
          <p:cNvSpPr>
            <a:spLocks noGrp="1"/>
          </p:cNvSpPr>
          <p:nvPr/>
        </p:nvSpPr>
        <p:spPr>
          <a:xfrm>
            <a:off x="2411014" y="3375027"/>
            <a:ext cx="1781829" cy="285750"/>
          </a:xfrm>
          <a:prstGeom prst="rect">
            <a:avLst/>
          </a:prstGeom>
          <a:noFill/>
          <a:ln w="0">
            <a:noFill/>
          </a:ln>
        </p:spPr>
        <p:txBody>
          <a:bodyPr anchor="t">
            <a:normAutofit/>
          </a:bodyPr>
          <a:lstStyle/>
          <a:p>
            <a:pPr>
              <a:defRPr sz="1050" b="1" i="0">
                <a:solidFill>
                  <a:srgbClr val="B8497C"/>
                </a:solidFill>
                <a:latin typeface="Aptos"/>
                <a:ea typeface="Aptos"/>
                <a:cs typeface="Aptos"/>
              </a:defRPr>
            </a:pPr>
            <a:r>
              <a:rPr lang="es-MX" sz="1050" b="1" i="0" dirty="0">
                <a:solidFill>
                  <a:srgbClr val="B8497C"/>
                </a:solidFill>
                <a:latin typeface="Aptos"/>
                <a:ea typeface="Aptos"/>
                <a:cs typeface="Aptos"/>
              </a:rPr>
              <a:t>ROUTING PREVIO </a:t>
            </a:r>
            <a:r>
              <a:rPr sz="1050" b="1" i="0" dirty="0">
                <a:solidFill>
                  <a:srgbClr val="B8497C"/>
                </a:solidFill>
                <a:latin typeface="Aptos"/>
                <a:ea typeface="Aptos"/>
                <a:cs typeface="Aptos"/>
              </a:rPr>
              <a:t>/ GATES</a:t>
            </a:r>
          </a:p>
        </p:txBody>
      </p:sp>
      <p:sp>
        <p:nvSpPr>
          <p:cNvPr id="21" name="Rectángulo 20">
            <a:extLst>
              <a:ext uri="{FF2B5EF4-FFF2-40B4-BE49-F238E27FC236}">
                <a16:creationId xmlns:a16="http://schemas.microsoft.com/office/drawing/2014/main" id="{4A50449E-6CAB-436B-93D5-8D288E3495A2}"/>
              </a:ext>
            </a:extLst>
          </p:cNvPr>
          <p:cNvSpPr>
            <a:spLocks noGrp="1"/>
          </p:cNvSpPr>
          <p:nvPr/>
        </p:nvSpPr>
        <p:spPr>
          <a:xfrm>
            <a:off x="2483154" y="3698877"/>
            <a:ext cx="1652106" cy="495300"/>
          </a:xfrm>
          <a:prstGeom prst="rect">
            <a:avLst/>
          </a:prstGeom>
          <a:noFill/>
          <a:ln w="0">
            <a:noFill/>
          </a:ln>
        </p:spPr>
        <p:txBody>
          <a:bodyPr anchor="t">
            <a:normAutofit fontScale="98148" lnSpcReduction="10000"/>
          </a:bodyPr>
          <a:lstStyle/>
          <a:p>
            <a:pPr marL="171450" indent="-171450">
              <a:buFont typeface="Arial" panose="020B0604020202020204" pitchFamily="34" charset="0"/>
              <a:buChar char="•"/>
              <a:defRPr sz="900" b="0" i="0">
                <a:solidFill>
                  <a:srgbClr val="756F91"/>
                </a:solidFill>
                <a:latin typeface="Aptos"/>
                <a:ea typeface="Aptos"/>
                <a:cs typeface="Aptos"/>
              </a:defRPr>
            </a:pPr>
            <a:r>
              <a:rPr sz="900" b="0" i="0" dirty="0">
                <a:solidFill>
                  <a:srgbClr val="756F91"/>
                </a:solidFill>
                <a:latin typeface="Aptos"/>
                <a:ea typeface="Aptos"/>
                <a:cs typeface="Aptos"/>
              </a:rPr>
              <a:t>Routing </a:t>
            </a:r>
            <a:r>
              <a:rPr sz="900" b="0" i="0" dirty="0" err="1">
                <a:solidFill>
                  <a:srgbClr val="756F91"/>
                </a:solidFill>
                <a:latin typeface="Aptos"/>
                <a:ea typeface="Aptos"/>
                <a:cs typeface="Aptos"/>
              </a:rPr>
              <a:t>previo</a:t>
            </a:r>
            <a:endParaRPr sz="900" b="0" i="0" dirty="0">
              <a:solidFill>
                <a:srgbClr val="756F91"/>
              </a:solidFill>
              <a:latin typeface="Aptos"/>
              <a:ea typeface="Aptos"/>
              <a:cs typeface="Aptos"/>
            </a:endParaRPr>
          </a:p>
          <a:p>
            <a:pPr marL="171450" indent="-171450">
              <a:buFont typeface="Arial" panose="020B0604020202020204" pitchFamily="34" charset="0"/>
              <a:buChar char="•"/>
              <a:defRPr sz="900" b="0" i="0">
                <a:solidFill>
                  <a:srgbClr val="756F91"/>
                </a:solidFill>
                <a:latin typeface="Aptos"/>
                <a:ea typeface="Aptos"/>
                <a:cs typeface="Aptos"/>
              </a:defRPr>
            </a:pPr>
            <a:r>
              <a:rPr sz="900" b="0" i="0" dirty="0" err="1">
                <a:solidFill>
                  <a:srgbClr val="756F91"/>
                </a:solidFill>
                <a:latin typeface="Aptos"/>
                <a:ea typeface="Aptos"/>
                <a:cs typeface="Aptos"/>
              </a:rPr>
              <a:t>Puede</a:t>
            </a:r>
            <a:r>
              <a:rPr sz="900" b="0" i="0" dirty="0">
                <a:solidFill>
                  <a:srgbClr val="756F91"/>
                </a:solidFill>
                <a:latin typeface="Aptos"/>
                <a:ea typeface="Aptos"/>
                <a:cs typeface="Aptos"/>
              </a:rPr>
              <a:t> responder o </a:t>
            </a:r>
            <a:r>
              <a:rPr sz="900" b="0" i="0" dirty="0" err="1">
                <a:solidFill>
                  <a:srgbClr val="756F91"/>
                </a:solidFill>
                <a:latin typeface="Aptos"/>
                <a:ea typeface="Aptos"/>
                <a:cs typeface="Aptos"/>
              </a:rPr>
              <a:t>hacer</a:t>
            </a:r>
            <a:r>
              <a:rPr sz="900" b="0" i="0" dirty="0">
                <a:solidFill>
                  <a:srgbClr val="756F91"/>
                </a:solidFill>
                <a:latin typeface="Aptos"/>
                <a:ea typeface="Aptos"/>
                <a:cs typeface="Aptos"/>
              </a:rPr>
              <a:t> short-circuit</a:t>
            </a:r>
          </a:p>
        </p:txBody>
      </p:sp>
      <p:sp>
        <p:nvSpPr>
          <p:cNvPr id="25" name="Rectángulo 24">
            <a:extLst>
              <a:ext uri="{FF2B5EF4-FFF2-40B4-BE49-F238E27FC236}">
                <a16:creationId xmlns:a16="http://schemas.microsoft.com/office/drawing/2014/main" id="{B82BC588-1298-4AD6-8356-7BF73C16BFDD}"/>
              </a:ext>
            </a:extLst>
          </p:cNvPr>
          <p:cNvSpPr>
            <a:spLocks noGrp="1"/>
          </p:cNvSpPr>
          <p:nvPr/>
        </p:nvSpPr>
        <p:spPr>
          <a:xfrm>
            <a:off x="4430181" y="3557456"/>
            <a:ext cx="428625" cy="323850"/>
          </a:xfrm>
          <a:prstGeom prst="rect">
            <a:avLst/>
          </a:prstGeom>
          <a:noFill/>
          <a:ln w="0">
            <a:noFill/>
          </a:ln>
        </p:spPr>
        <p:txBody>
          <a:bodyPr anchor="t">
            <a:normAutofit fontScale="88833" lnSpcReduction="20000"/>
          </a:bodyPr>
          <a:lstStyle/>
          <a:p>
            <a:pPr>
              <a:defRPr sz="1875" b="1" i="0">
                <a:solidFill>
                  <a:srgbClr val="009566"/>
                </a:solidFill>
                <a:latin typeface="Aptos"/>
                <a:ea typeface="Aptos"/>
                <a:cs typeface="Aptos"/>
              </a:defRPr>
            </a:pPr>
            <a:r>
              <a:rPr sz="1875" b="1" i="0" dirty="0">
                <a:solidFill>
                  <a:srgbClr val="009566"/>
                </a:solidFill>
                <a:latin typeface="Aptos"/>
                <a:ea typeface="Aptos"/>
                <a:cs typeface="Aptos"/>
              </a:rPr>
              <a:t>→</a:t>
            </a:r>
          </a:p>
        </p:txBody>
      </p:sp>
      <p:sp>
        <p:nvSpPr>
          <p:cNvPr id="44" name="Rectángulo: esquinas redondeadas 43">
            <a:extLst>
              <a:ext uri="{FF2B5EF4-FFF2-40B4-BE49-F238E27FC236}">
                <a16:creationId xmlns:a16="http://schemas.microsoft.com/office/drawing/2014/main" id="{8E5452AF-01C7-4AA7-9844-CB33C81DFEF5}"/>
              </a:ext>
            </a:extLst>
          </p:cNvPr>
          <p:cNvSpPr>
            <a:spLocks noGrp="1"/>
          </p:cNvSpPr>
          <p:nvPr/>
        </p:nvSpPr>
        <p:spPr>
          <a:xfrm>
            <a:off x="2349804" y="4508502"/>
            <a:ext cx="1872724" cy="819150"/>
          </a:xfrm>
          <a:prstGeom prst="roundRect">
            <a:avLst>
              <a:gd name="adj" fmla="val 13953"/>
            </a:avLst>
          </a:prstGeom>
          <a:solidFill>
            <a:srgbClr val="FFFFFF"/>
          </a:solidFill>
          <a:ln w="9525">
            <a:solidFill>
              <a:srgbClr val="B8497C"/>
            </a:solidFill>
            <a:prstDash val="solid"/>
          </a:ln>
        </p:spPr>
        <p:txBody>
          <a:bodyPr/>
          <a:lstStyle/>
          <a:p>
            <a:endParaRPr lang="es-MX"/>
          </a:p>
        </p:txBody>
      </p:sp>
      <p:sp>
        <p:nvSpPr>
          <p:cNvPr id="45" name="Rectángulo 44">
            <a:extLst>
              <a:ext uri="{FF2B5EF4-FFF2-40B4-BE49-F238E27FC236}">
                <a16:creationId xmlns:a16="http://schemas.microsoft.com/office/drawing/2014/main" id="{AEE57FD6-FEBB-4DD2-A377-48C9D857E6BE}"/>
              </a:ext>
            </a:extLst>
          </p:cNvPr>
          <p:cNvSpPr>
            <a:spLocks noGrp="1"/>
          </p:cNvSpPr>
          <p:nvPr/>
        </p:nvSpPr>
        <p:spPr>
          <a:xfrm>
            <a:off x="2483154" y="4632327"/>
            <a:ext cx="1828800" cy="285750"/>
          </a:xfrm>
          <a:prstGeom prst="rect">
            <a:avLst/>
          </a:prstGeom>
          <a:noFill/>
          <a:ln w="0">
            <a:noFill/>
          </a:ln>
        </p:spPr>
        <p:txBody>
          <a:bodyPr anchor="t">
            <a:normAutofit/>
          </a:bodyPr>
          <a:lstStyle/>
          <a:p>
            <a:pPr>
              <a:defRPr sz="900" b="1" i="0">
                <a:solidFill>
                  <a:srgbClr val="B8497C"/>
                </a:solidFill>
                <a:latin typeface="Aptos"/>
                <a:ea typeface="Aptos"/>
                <a:cs typeface="Aptos"/>
              </a:defRPr>
            </a:pPr>
            <a:r>
              <a:rPr sz="900" b="1" i="0" dirty="0">
                <a:solidFill>
                  <a:srgbClr val="B8497C"/>
                </a:solidFill>
                <a:latin typeface="Aptos"/>
                <a:ea typeface="Aptos"/>
                <a:cs typeface="Aptos"/>
              </a:rPr>
              <a:t>SALIDA SIN GRAPH</a:t>
            </a:r>
          </a:p>
        </p:txBody>
      </p:sp>
      <p:sp>
        <p:nvSpPr>
          <p:cNvPr id="46" name="Rectángulo 45">
            <a:extLst>
              <a:ext uri="{FF2B5EF4-FFF2-40B4-BE49-F238E27FC236}">
                <a16:creationId xmlns:a16="http://schemas.microsoft.com/office/drawing/2014/main" id="{ECC6FFD0-5698-43C3-B1F6-36BA01537E8F}"/>
              </a:ext>
            </a:extLst>
          </p:cNvPr>
          <p:cNvSpPr>
            <a:spLocks noGrp="1"/>
          </p:cNvSpPr>
          <p:nvPr/>
        </p:nvSpPr>
        <p:spPr>
          <a:xfrm>
            <a:off x="2483154" y="4956177"/>
            <a:ext cx="1828800" cy="285750"/>
          </a:xfrm>
          <a:prstGeom prst="rect">
            <a:avLst/>
          </a:prstGeom>
          <a:noFill/>
          <a:ln w="0">
            <a:noFill/>
          </a:ln>
        </p:spPr>
        <p:txBody>
          <a:bodyPr anchor="t">
            <a:normAutofit/>
          </a:bodyPr>
          <a:lstStyle/>
          <a:p>
            <a:pPr>
              <a:defRPr sz="900" b="0" i="0">
                <a:solidFill>
                  <a:srgbClr val="756F91"/>
                </a:solidFill>
                <a:latin typeface="Aptos"/>
                <a:ea typeface="Aptos"/>
                <a:cs typeface="Aptos"/>
              </a:defRPr>
            </a:pPr>
            <a:r>
              <a:rPr sz="900" b="0" i="0" dirty="0">
                <a:solidFill>
                  <a:srgbClr val="756F91"/>
                </a:solidFill>
                <a:latin typeface="Aptos"/>
                <a:ea typeface="Aptos"/>
                <a:cs typeface="Aptos"/>
              </a:rPr>
              <a:t>ack · intake · </a:t>
            </a:r>
            <a:r>
              <a:rPr sz="900" b="0" i="0" dirty="0" err="1">
                <a:solidFill>
                  <a:srgbClr val="756F91"/>
                </a:solidFill>
                <a:latin typeface="Aptos"/>
                <a:ea typeface="Aptos"/>
                <a:cs typeface="Aptos"/>
              </a:rPr>
              <a:t>decisi</a:t>
            </a:r>
            <a:r>
              <a:rPr lang="es-MX" sz="900" dirty="0">
                <a:solidFill>
                  <a:srgbClr val="756F91"/>
                </a:solidFill>
                <a:latin typeface="Aptos"/>
                <a:ea typeface="Aptos"/>
                <a:cs typeface="Aptos"/>
              </a:rPr>
              <a:t>o</a:t>
            </a:r>
            <a:r>
              <a:rPr sz="900" b="0" i="0" dirty="0">
                <a:solidFill>
                  <a:srgbClr val="756F91"/>
                </a:solidFill>
                <a:latin typeface="Aptos"/>
                <a:ea typeface="Aptos"/>
                <a:cs typeface="Aptos"/>
              </a:rPr>
              <a:t>n</a:t>
            </a:r>
          </a:p>
        </p:txBody>
      </p:sp>
      <p:sp>
        <p:nvSpPr>
          <p:cNvPr id="47" name="Rectángulo 46">
            <a:extLst>
              <a:ext uri="{FF2B5EF4-FFF2-40B4-BE49-F238E27FC236}">
                <a16:creationId xmlns:a16="http://schemas.microsoft.com/office/drawing/2014/main" id="{C942CF3F-3C3C-400A-9CC1-1E01C97F0E10}"/>
              </a:ext>
            </a:extLst>
          </p:cNvPr>
          <p:cNvSpPr>
            <a:spLocks noGrp="1"/>
          </p:cNvSpPr>
          <p:nvPr/>
        </p:nvSpPr>
        <p:spPr>
          <a:xfrm>
            <a:off x="3283254" y="4279902"/>
            <a:ext cx="228600" cy="323850"/>
          </a:xfrm>
          <a:prstGeom prst="rect">
            <a:avLst/>
          </a:prstGeom>
          <a:noFill/>
          <a:ln w="0">
            <a:noFill/>
          </a:ln>
        </p:spPr>
        <p:txBody>
          <a:bodyPr anchor="t">
            <a:normAutofit fontScale="95684" lnSpcReduction="10000"/>
          </a:bodyPr>
          <a:lstStyle/>
          <a:p>
            <a:pPr>
              <a:defRPr sz="1650" b="1" i="0">
                <a:solidFill>
                  <a:srgbClr val="B8497C"/>
                </a:solidFill>
                <a:latin typeface="Aptos"/>
                <a:ea typeface="Aptos"/>
                <a:cs typeface="Aptos"/>
              </a:defRPr>
            </a:pPr>
            <a:r>
              <a:rPr sz="1650" b="1" i="0">
                <a:solidFill>
                  <a:srgbClr val="B8497C"/>
                </a:solidFill>
                <a:latin typeface="Aptos"/>
                <a:ea typeface="Aptos"/>
                <a:cs typeface="Aptos"/>
              </a:rPr>
              <a:t>↓</a:t>
            </a:r>
          </a:p>
        </p:txBody>
      </p:sp>
      <p:sp>
        <p:nvSpPr>
          <p:cNvPr id="52" name="Rectángulo: esquinas redondeadas 51">
            <a:extLst>
              <a:ext uri="{FF2B5EF4-FFF2-40B4-BE49-F238E27FC236}">
                <a16:creationId xmlns:a16="http://schemas.microsoft.com/office/drawing/2014/main" id="{DC548C66-6E3E-4FBF-95A3-D1A9C36BBD86}"/>
              </a:ext>
            </a:extLst>
          </p:cNvPr>
          <p:cNvSpPr>
            <a:spLocks noGrp="1"/>
          </p:cNvSpPr>
          <p:nvPr/>
        </p:nvSpPr>
        <p:spPr>
          <a:xfrm>
            <a:off x="619125" y="5810250"/>
            <a:ext cx="11256786" cy="495300"/>
          </a:xfrm>
          <a:prstGeom prst="roundRect">
            <a:avLst>
              <a:gd name="adj" fmla="val 19231"/>
            </a:avLst>
          </a:prstGeom>
          <a:solidFill>
            <a:srgbClr val="211D31"/>
          </a:solidFill>
          <a:ln w="9525">
            <a:solidFill>
              <a:srgbClr val="211D31"/>
            </a:solidFill>
            <a:prstDash val="solid"/>
          </a:ln>
        </p:spPr>
        <p:txBody>
          <a:bodyPr/>
          <a:lstStyle/>
          <a:p>
            <a:endParaRPr lang="es-MX"/>
          </a:p>
        </p:txBody>
      </p:sp>
      <p:sp>
        <p:nvSpPr>
          <p:cNvPr id="53" name="Rectángulo 52">
            <a:extLst>
              <a:ext uri="{FF2B5EF4-FFF2-40B4-BE49-F238E27FC236}">
                <a16:creationId xmlns:a16="http://schemas.microsoft.com/office/drawing/2014/main" id="{4BB765D6-D327-4F47-ADF2-99CC7014030B}"/>
              </a:ext>
            </a:extLst>
          </p:cNvPr>
          <p:cNvSpPr>
            <a:spLocks noGrp="1"/>
          </p:cNvSpPr>
          <p:nvPr/>
        </p:nvSpPr>
        <p:spPr>
          <a:xfrm>
            <a:off x="800100" y="5892092"/>
            <a:ext cx="10886300" cy="280108"/>
          </a:xfrm>
          <a:prstGeom prst="rect">
            <a:avLst/>
          </a:prstGeom>
          <a:noFill/>
          <a:ln w="0">
            <a:noFill/>
          </a:ln>
        </p:spPr>
        <p:txBody>
          <a:bodyPr anchor="t">
            <a:noAutofit/>
          </a:bodyPr>
          <a:lstStyle/>
          <a:p>
            <a:pPr>
              <a:defRPr sz="900" b="1" i="0">
                <a:solidFill>
                  <a:srgbClr val="FFFFFF"/>
                </a:solidFill>
                <a:latin typeface="Aptos"/>
                <a:ea typeface="Aptos"/>
                <a:cs typeface="Aptos"/>
              </a:defRPr>
            </a:pPr>
            <a:r>
              <a:rPr sz="1200" b="1" i="0" dirty="0">
                <a:solidFill>
                  <a:srgbClr val="FFFFFF"/>
                </a:solidFill>
                <a:latin typeface="Aptos"/>
                <a:ea typeface="Aptos"/>
                <a:cs typeface="Aptos"/>
              </a:rPr>
              <a:t>Gate-only: 0 graph  ·  </a:t>
            </a:r>
            <a:r>
              <a:rPr lang="es-ES" sz="1200" b="1" i="0" dirty="0">
                <a:solidFill>
                  <a:srgbClr val="FFFFFF"/>
                </a:solidFill>
                <a:latin typeface="Aptos"/>
                <a:ea typeface="Aptos"/>
                <a:cs typeface="Aptos"/>
              </a:rPr>
              <a:t>Turno con agente: 1 ejecución del </a:t>
            </a:r>
            <a:r>
              <a:rPr lang="es-ES" sz="1200" b="1" i="0" dirty="0" err="1">
                <a:solidFill>
                  <a:srgbClr val="FFFFFF"/>
                </a:solidFill>
                <a:latin typeface="Aptos"/>
                <a:ea typeface="Aptos"/>
                <a:cs typeface="Aptos"/>
              </a:rPr>
              <a:t>StateGraph</a:t>
            </a:r>
            <a:r>
              <a:rPr sz="1200" b="1" i="0" dirty="0">
                <a:solidFill>
                  <a:srgbClr val="FFFFFF"/>
                </a:solidFill>
                <a:latin typeface="Aptos"/>
                <a:ea typeface="Aptos"/>
                <a:cs typeface="Aptos"/>
              </a:rPr>
              <a:t> ·  HITL: pausa y resume el </a:t>
            </a:r>
            <a:r>
              <a:rPr sz="1200" b="1" i="0" dirty="0" err="1">
                <a:solidFill>
                  <a:srgbClr val="FFFFFF"/>
                </a:solidFill>
                <a:latin typeface="Aptos"/>
                <a:ea typeface="Aptos"/>
                <a:cs typeface="Aptos"/>
              </a:rPr>
              <a:t>mismo</a:t>
            </a:r>
            <a:r>
              <a:rPr sz="1200" b="1" i="0" dirty="0">
                <a:solidFill>
                  <a:srgbClr val="FFFFFF"/>
                </a:solidFill>
                <a:latin typeface="Aptos"/>
                <a:ea typeface="Aptos"/>
                <a:cs typeface="Aptos"/>
              </a:rPr>
              <a:t> checkpoint  ·  Graph: </a:t>
            </a:r>
            <a:r>
              <a:rPr sz="1200" b="1" i="0" dirty="0" err="1">
                <a:solidFill>
                  <a:srgbClr val="FFFFFF"/>
                </a:solidFill>
                <a:latin typeface="Aptos"/>
                <a:ea typeface="Aptos"/>
                <a:cs typeface="Aptos"/>
              </a:rPr>
              <a:t>varias</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llamadas</a:t>
            </a:r>
            <a:r>
              <a:rPr sz="1200" b="1" i="0" dirty="0">
                <a:solidFill>
                  <a:srgbClr val="FFFFFF"/>
                </a:solidFill>
                <a:latin typeface="Aptos"/>
                <a:ea typeface="Aptos"/>
                <a:cs typeface="Aptos"/>
              </a:rPr>
              <a:t> de </a:t>
            </a:r>
            <a:r>
              <a:rPr sz="1200" b="1" i="0" dirty="0" err="1">
                <a:solidFill>
                  <a:srgbClr val="FFFFFF"/>
                </a:solidFill>
                <a:latin typeface="Aptos"/>
                <a:ea typeface="Aptos"/>
                <a:cs typeface="Aptos"/>
              </a:rPr>
              <a:t>modelo</a:t>
            </a:r>
            <a:r>
              <a:rPr sz="1200" b="1" i="0" dirty="0">
                <a:solidFill>
                  <a:srgbClr val="FFFFFF"/>
                </a:solidFill>
                <a:latin typeface="Aptos"/>
                <a:ea typeface="Aptos"/>
                <a:cs typeface="Aptos"/>
              </a:rPr>
              <a:t>/tools</a:t>
            </a:r>
          </a:p>
        </p:txBody>
      </p:sp>
      <p:sp>
        <p:nvSpPr>
          <p:cNvPr id="55" name="Rectángulo: esquinas redondeadas 54">
            <a:extLst>
              <a:ext uri="{FF2B5EF4-FFF2-40B4-BE49-F238E27FC236}">
                <a16:creationId xmlns:a16="http://schemas.microsoft.com/office/drawing/2014/main" id="{33ED7CC1-01BA-EED1-0F79-8F4059205664}"/>
              </a:ext>
            </a:extLst>
          </p:cNvPr>
          <p:cNvSpPr>
            <a:spLocks noGrp="1"/>
          </p:cNvSpPr>
          <p:nvPr/>
        </p:nvSpPr>
        <p:spPr>
          <a:xfrm>
            <a:off x="4977034" y="2609849"/>
            <a:ext cx="6803982" cy="2162945"/>
          </a:xfrm>
          <a:prstGeom prst="roundRect">
            <a:avLst>
              <a:gd name="adj" fmla="val 4571"/>
            </a:avLst>
          </a:prstGeom>
          <a:solidFill>
            <a:srgbClr val="FFFFFF"/>
          </a:solidFill>
          <a:ln w="9525">
            <a:solidFill>
              <a:schemeClr val="bg1">
                <a:lumMod val="75000"/>
              </a:schemeClr>
            </a:solidFill>
            <a:prstDash val="dash"/>
          </a:ln>
        </p:spPr>
        <p:txBody>
          <a:bodyPr/>
          <a:lstStyle/>
          <a:p>
            <a:endParaRPr lang="es-MX"/>
          </a:p>
        </p:txBody>
      </p:sp>
      <p:sp>
        <p:nvSpPr>
          <p:cNvPr id="22" name="Rectángulo: esquinas redondeadas 21">
            <a:extLst>
              <a:ext uri="{FF2B5EF4-FFF2-40B4-BE49-F238E27FC236}">
                <a16:creationId xmlns:a16="http://schemas.microsoft.com/office/drawing/2014/main" id="{C2F2CD51-2F29-4869-89E5-B0AF10CACE1B}"/>
              </a:ext>
            </a:extLst>
          </p:cNvPr>
          <p:cNvSpPr>
            <a:spLocks noGrp="1"/>
          </p:cNvSpPr>
          <p:nvPr/>
        </p:nvSpPr>
        <p:spPr>
          <a:xfrm>
            <a:off x="5253038" y="3108327"/>
            <a:ext cx="2271712" cy="1314450"/>
          </a:xfrm>
          <a:prstGeom prst="roundRect">
            <a:avLst>
              <a:gd name="adj" fmla="val 8696"/>
            </a:avLst>
          </a:prstGeom>
          <a:solidFill>
            <a:srgbClr val="E3F5ED"/>
          </a:solidFill>
          <a:ln w="9525">
            <a:solidFill>
              <a:srgbClr val="009566"/>
            </a:solidFill>
            <a:prstDash val="solid"/>
          </a:ln>
        </p:spPr>
        <p:txBody>
          <a:bodyPr/>
          <a:lstStyle/>
          <a:p>
            <a:endParaRPr lang="es-MX"/>
          </a:p>
        </p:txBody>
      </p:sp>
      <p:sp>
        <p:nvSpPr>
          <p:cNvPr id="23" name="Rectángulo 22">
            <a:extLst>
              <a:ext uri="{FF2B5EF4-FFF2-40B4-BE49-F238E27FC236}">
                <a16:creationId xmlns:a16="http://schemas.microsoft.com/office/drawing/2014/main" id="{72E3E044-B8E9-4645-8E83-B2E05478F989}"/>
              </a:ext>
            </a:extLst>
          </p:cNvPr>
          <p:cNvSpPr>
            <a:spLocks noGrp="1"/>
          </p:cNvSpPr>
          <p:nvPr/>
        </p:nvSpPr>
        <p:spPr>
          <a:xfrm>
            <a:off x="5362395" y="3232152"/>
            <a:ext cx="2060451" cy="285750"/>
          </a:xfrm>
          <a:prstGeom prst="rect">
            <a:avLst/>
          </a:prstGeom>
          <a:noFill/>
          <a:ln w="0">
            <a:noFill/>
          </a:ln>
        </p:spPr>
        <p:txBody>
          <a:bodyPr anchor="t">
            <a:normAutofit/>
          </a:bodyPr>
          <a:lstStyle/>
          <a:p>
            <a:pPr>
              <a:defRPr sz="1125" b="1" i="0">
                <a:solidFill>
                  <a:srgbClr val="009566"/>
                </a:solidFill>
                <a:latin typeface="Aptos"/>
                <a:ea typeface="Aptos"/>
                <a:cs typeface="Aptos"/>
              </a:defRPr>
            </a:pPr>
            <a:r>
              <a:rPr sz="1125" b="1" i="0" dirty="0" err="1">
                <a:solidFill>
                  <a:srgbClr val="009566"/>
                </a:solidFill>
                <a:latin typeface="Aptos"/>
                <a:ea typeface="Aptos"/>
                <a:cs typeface="Aptos"/>
              </a:rPr>
              <a:t>runAgent</a:t>
            </a:r>
            <a:r>
              <a:rPr sz="1125" b="1" i="0" dirty="0">
                <a:solidFill>
                  <a:srgbClr val="009566"/>
                </a:solidFill>
                <a:latin typeface="Aptos"/>
                <a:ea typeface="Aptos"/>
                <a:cs typeface="Aptos"/>
              </a:rPr>
              <a:t>(…)</a:t>
            </a:r>
          </a:p>
        </p:txBody>
      </p:sp>
      <p:sp>
        <p:nvSpPr>
          <p:cNvPr id="24" name="Rectángulo 23">
            <a:extLst>
              <a:ext uri="{FF2B5EF4-FFF2-40B4-BE49-F238E27FC236}">
                <a16:creationId xmlns:a16="http://schemas.microsoft.com/office/drawing/2014/main" id="{AF118828-D550-485B-B57A-281388161EAA}"/>
              </a:ext>
            </a:extLst>
          </p:cNvPr>
          <p:cNvSpPr>
            <a:spLocks noGrp="1"/>
          </p:cNvSpPr>
          <p:nvPr/>
        </p:nvSpPr>
        <p:spPr>
          <a:xfrm>
            <a:off x="5362395" y="3556002"/>
            <a:ext cx="2060451" cy="781050"/>
          </a:xfrm>
          <a:prstGeom prst="rect">
            <a:avLst/>
          </a:prstGeom>
          <a:noFill/>
          <a:ln w="0">
            <a:noFill/>
          </a:ln>
        </p:spPr>
        <p:txBody>
          <a:bodyPr anchor="t">
            <a:normAutofit/>
          </a:bodyPr>
          <a:lstStyle/>
          <a:p>
            <a:pPr marL="171450" indent="-171450">
              <a:buFont typeface="Arial" panose="020B0604020202020204" pitchFamily="34" charset="0"/>
              <a:buChar char="•"/>
              <a:defRPr sz="900" b="0" i="0">
                <a:solidFill>
                  <a:srgbClr val="756F91"/>
                </a:solidFill>
                <a:latin typeface="Aptos"/>
                <a:ea typeface="Aptos"/>
                <a:cs typeface="Aptos"/>
              </a:defRPr>
            </a:pPr>
            <a:r>
              <a:rPr sz="900" b="0" i="0" dirty="0" err="1">
                <a:solidFill>
                  <a:srgbClr val="756F91"/>
                </a:solidFill>
                <a:latin typeface="Aptos"/>
                <a:ea typeface="Aptos"/>
                <a:cs typeface="Aptos"/>
              </a:rPr>
              <a:t>Entrypoint</a:t>
            </a:r>
            <a:r>
              <a:rPr sz="900" b="0" i="0" dirty="0">
                <a:solidFill>
                  <a:srgbClr val="756F91"/>
                </a:solidFill>
                <a:latin typeface="Aptos"/>
                <a:ea typeface="Aptos"/>
                <a:cs typeface="Aptos"/>
              </a:rPr>
              <a:t> TypeScript</a:t>
            </a:r>
          </a:p>
          <a:p>
            <a:pPr marL="171450" indent="-171450">
              <a:buFont typeface="Arial" panose="020B0604020202020204" pitchFamily="34" charset="0"/>
              <a:buChar char="•"/>
              <a:defRPr sz="900" b="0" i="0">
                <a:solidFill>
                  <a:srgbClr val="756F91"/>
                </a:solidFill>
                <a:latin typeface="Aptos"/>
                <a:ea typeface="Aptos"/>
                <a:cs typeface="Aptos"/>
              </a:defRPr>
            </a:pPr>
            <a:r>
              <a:rPr sz="900" b="0" i="0" dirty="0" err="1">
                <a:solidFill>
                  <a:srgbClr val="756F91"/>
                </a:solidFill>
                <a:latin typeface="Aptos"/>
                <a:ea typeface="Aptos"/>
                <a:cs typeface="Aptos"/>
              </a:rPr>
              <a:t>Prepara</a:t>
            </a:r>
            <a:r>
              <a:rPr sz="900" b="0" i="0" dirty="0">
                <a:solidFill>
                  <a:srgbClr val="756F91"/>
                </a:solidFill>
                <a:latin typeface="Aptos"/>
                <a:ea typeface="Aptos"/>
                <a:cs typeface="Aptos"/>
              </a:rPr>
              <a:t> </a:t>
            </a:r>
            <a:r>
              <a:rPr sz="900" b="0" i="0" dirty="0" err="1">
                <a:solidFill>
                  <a:srgbClr val="756F91"/>
                </a:solidFill>
                <a:latin typeface="Aptos"/>
                <a:ea typeface="Aptos"/>
                <a:cs typeface="Aptos"/>
              </a:rPr>
              <a:t>modelo</a:t>
            </a:r>
            <a:r>
              <a:rPr sz="900" b="0" i="0" dirty="0">
                <a:solidFill>
                  <a:srgbClr val="756F91"/>
                </a:solidFill>
                <a:latin typeface="Aptos"/>
                <a:ea typeface="Aptos"/>
                <a:cs typeface="Aptos"/>
              </a:rPr>
              <a:t> y </a:t>
            </a:r>
            <a:r>
              <a:rPr sz="900" b="0" i="0" dirty="0" err="1">
                <a:solidFill>
                  <a:srgbClr val="756F91"/>
                </a:solidFill>
                <a:latin typeface="Aptos"/>
                <a:ea typeface="Aptos"/>
                <a:cs typeface="Aptos"/>
              </a:rPr>
              <a:t>contexto</a:t>
            </a:r>
            <a:r>
              <a:rPr lang="es-MX" sz="900" b="0" i="0" dirty="0">
                <a:solidFill>
                  <a:srgbClr val="756F91"/>
                </a:solidFill>
                <a:latin typeface="Aptos"/>
                <a:ea typeface="Aptos"/>
                <a:cs typeface="Aptos"/>
              </a:rPr>
              <a:t> base</a:t>
            </a:r>
            <a:endParaRPr sz="900" b="0" i="0" dirty="0">
              <a:solidFill>
                <a:srgbClr val="756F91"/>
              </a:solidFill>
              <a:latin typeface="Aptos"/>
              <a:ea typeface="Aptos"/>
              <a:cs typeface="Aptos"/>
            </a:endParaRPr>
          </a:p>
          <a:p>
            <a:pPr marL="171450" indent="-171450">
              <a:buFont typeface="Arial" panose="020B0604020202020204" pitchFamily="34" charset="0"/>
              <a:buChar char="•"/>
              <a:defRPr sz="900" b="0" i="0">
                <a:solidFill>
                  <a:srgbClr val="756F91"/>
                </a:solidFill>
                <a:latin typeface="Aptos"/>
                <a:ea typeface="Aptos"/>
                <a:cs typeface="Aptos"/>
              </a:defRPr>
            </a:pPr>
            <a:r>
              <a:rPr sz="900" b="0" i="0" dirty="0">
                <a:solidFill>
                  <a:srgbClr val="756F91"/>
                </a:solidFill>
                <a:latin typeface="Aptos"/>
                <a:ea typeface="Aptos"/>
                <a:cs typeface="Aptos"/>
              </a:rPr>
              <a:t>Skill · tools · policy</a:t>
            </a:r>
          </a:p>
          <a:p>
            <a:pPr marL="171450" indent="-171450">
              <a:buFont typeface="Arial" panose="020B0604020202020204" pitchFamily="34" charset="0"/>
              <a:buChar char="•"/>
              <a:defRPr sz="900" b="0" i="0">
                <a:solidFill>
                  <a:srgbClr val="756F91"/>
                </a:solidFill>
                <a:latin typeface="Aptos"/>
                <a:ea typeface="Aptos"/>
                <a:cs typeface="Aptos"/>
              </a:defRPr>
            </a:pPr>
            <a:r>
              <a:rPr sz="900" b="0" i="0" dirty="0" err="1">
                <a:solidFill>
                  <a:srgbClr val="756F91"/>
                </a:solidFill>
                <a:latin typeface="Aptos"/>
                <a:ea typeface="Aptos"/>
                <a:cs typeface="Aptos"/>
              </a:rPr>
              <a:t>checkpointer</a:t>
            </a:r>
            <a:r>
              <a:rPr sz="900" b="0" i="0" dirty="0">
                <a:solidFill>
                  <a:srgbClr val="756F91"/>
                </a:solidFill>
                <a:latin typeface="Aptos"/>
                <a:ea typeface="Aptos"/>
                <a:cs typeface="Aptos"/>
              </a:rPr>
              <a:t> + thread</a:t>
            </a:r>
          </a:p>
        </p:txBody>
      </p:sp>
      <p:sp>
        <p:nvSpPr>
          <p:cNvPr id="27" name="Rectángulo: esquinas redondeadas 26">
            <a:extLst>
              <a:ext uri="{FF2B5EF4-FFF2-40B4-BE49-F238E27FC236}">
                <a16:creationId xmlns:a16="http://schemas.microsoft.com/office/drawing/2014/main" id="{942A4ECD-C194-40EE-B2B0-5E8EE88C81E9}"/>
              </a:ext>
            </a:extLst>
          </p:cNvPr>
          <p:cNvSpPr>
            <a:spLocks noGrp="1"/>
          </p:cNvSpPr>
          <p:nvPr/>
        </p:nvSpPr>
        <p:spPr>
          <a:xfrm>
            <a:off x="8175320" y="2886844"/>
            <a:ext cx="3401161" cy="1809750"/>
          </a:xfrm>
          <a:prstGeom prst="roundRect">
            <a:avLst>
              <a:gd name="adj" fmla="val 7368"/>
            </a:avLst>
          </a:prstGeom>
          <a:solidFill>
            <a:srgbClr val="EEE8FF"/>
          </a:solidFill>
          <a:ln w="9525">
            <a:solidFill>
              <a:srgbClr val="5C2DD2"/>
            </a:solidFill>
            <a:prstDash val="solid"/>
          </a:ln>
        </p:spPr>
        <p:txBody>
          <a:bodyPr/>
          <a:lstStyle/>
          <a:p>
            <a:endParaRPr lang="es-MX"/>
          </a:p>
        </p:txBody>
      </p:sp>
      <p:sp>
        <p:nvSpPr>
          <p:cNvPr id="28" name="Rectángulo: esquinas redondeadas 27">
            <a:extLst>
              <a:ext uri="{FF2B5EF4-FFF2-40B4-BE49-F238E27FC236}">
                <a16:creationId xmlns:a16="http://schemas.microsoft.com/office/drawing/2014/main" id="{2D894564-C29C-4E1A-B167-21071EE85746}"/>
              </a:ext>
            </a:extLst>
          </p:cNvPr>
          <p:cNvSpPr>
            <a:spLocks noGrp="1"/>
          </p:cNvSpPr>
          <p:nvPr/>
        </p:nvSpPr>
        <p:spPr>
          <a:xfrm>
            <a:off x="8746821" y="3010669"/>
            <a:ext cx="2190750" cy="266700"/>
          </a:xfrm>
          <a:prstGeom prst="roundRect">
            <a:avLst>
              <a:gd name="adj" fmla="val 50000"/>
            </a:avLst>
          </a:prstGeom>
          <a:solidFill>
            <a:schemeClr val="accent2">
              <a:lumMod val="75000"/>
            </a:schemeClr>
          </a:solidFill>
          <a:ln w="9525">
            <a:solidFill>
              <a:srgbClr val="5C2DD2"/>
            </a:solidFill>
            <a:prstDash val="solid"/>
          </a:ln>
        </p:spPr>
        <p:txBody>
          <a:bodyPr/>
          <a:lstStyle/>
          <a:p>
            <a:endParaRPr lang="es-MX"/>
          </a:p>
        </p:txBody>
      </p:sp>
      <p:sp>
        <p:nvSpPr>
          <p:cNvPr id="29" name="Rectángulo 28">
            <a:extLst>
              <a:ext uri="{FF2B5EF4-FFF2-40B4-BE49-F238E27FC236}">
                <a16:creationId xmlns:a16="http://schemas.microsoft.com/office/drawing/2014/main" id="{EB5ADFF6-F903-492E-BC55-AB5E3F247BA4}"/>
              </a:ext>
            </a:extLst>
          </p:cNvPr>
          <p:cNvSpPr>
            <a:spLocks noGrp="1"/>
          </p:cNvSpPr>
          <p:nvPr/>
        </p:nvSpPr>
        <p:spPr>
          <a:xfrm>
            <a:off x="8813496" y="3039244"/>
            <a:ext cx="2057400"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dirty="0">
                <a:solidFill>
                  <a:srgbClr val="FFFFFF"/>
                </a:solidFill>
                <a:latin typeface="Aptos"/>
                <a:ea typeface="Aptos"/>
                <a:cs typeface="Aptos"/>
              </a:rPr>
              <a:t>DENTRO DEL STATEGRAPH</a:t>
            </a:r>
          </a:p>
        </p:txBody>
      </p:sp>
      <p:sp>
        <p:nvSpPr>
          <p:cNvPr id="30" name="Rectángulo: esquinas redondeadas 29">
            <a:extLst>
              <a:ext uri="{FF2B5EF4-FFF2-40B4-BE49-F238E27FC236}">
                <a16:creationId xmlns:a16="http://schemas.microsoft.com/office/drawing/2014/main" id="{BE4D3696-84BE-4A65-A82B-65A33D979599}"/>
              </a:ext>
            </a:extLst>
          </p:cNvPr>
          <p:cNvSpPr>
            <a:spLocks noGrp="1"/>
          </p:cNvSpPr>
          <p:nvPr/>
        </p:nvSpPr>
        <p:spPr>
          <a:xfrm>
            <a:off x="8306911" y="3486919"/>
            <a:ext cx="904875" cy="552450"/>
          </a:xfrm>
          <a:prstGeom prst="roundRect">
            <a:avLst>
              <a:gd name="adj" fmla="val 20690"/>
            </a:avLst>
          </a:prstGeom>
          <a:solidFill>
            <a:srgbClr val="FFF0D7"/>
          </a:solidFill>
          <a:ln w="9525">
            <a:solidFill>
              <a:srgbClr val="F39A24"/>
            </a:solidFill>
            <a:prstDash val="solid"/>
          </a:ln>
        </p:spPr>
        <p:txBody>
          <a:bodyPr/>
          <a:lstStyle/>
          <a:p>
            <a:endParaRPr lang="es-MX"/>
          </a:p>
        </p:txBody>
      </p:sp>
      <p:sp>
        <p:nvSpPr>
          <p:cNvPr id="31" name="Rectángulo 30">
            <a:extLst>
              <a:ext uri="{FF2B5EF4-FFF2-40B4-BE49-F238E27FC236}">
                <a16:creationId xmlns:a16="http://schemas.microsoft.com/office/drawing/2014/main" id="{A04BCF4C-706B-414E-9D87-E9BCF7A198C8}"/>
              </a:ext>
            </a:extLst>
          </p:cNvPr>
          <p:cNvSpPr>
            <a:spLocks noGrp="1"/>
          </p:cNvSpPr>
          <p:nvPr/>
        </p:nvSpPr>
        <p:spPr>
          <a:xfrm>
            <a:off x="8369886" y="3556003"/>
            <a:ext cx="763989" cy="415216"/>
          </a:xfrm>
          <a:prstGeom prst="rect">
            <a:avLst/>
          </a:prstGeom>
          <a:noFill/>
          <a:ln w="0">
            <a:noFill/>
          </a:ln>
        </p:spPr>
        <p:txBody>
          <a:bodyPr anchor="t">
            <a:normAutofit/>
          </a:bodyPr>
          <a:lstStyle/>
          <a:p>
            <a:pPr>
              <a:defRPr sz="900" b="1" i="0">
                <a:solidFill>
                  <a:srgbClr val="F39A24"/>
                </a:solidFill>
                <a:latin typeface="Aptos"/>
                <a:ea typeface="Aptos"/>
                <a:cs typeface="Aptos"/>
              </a:defRPr>
            </a:pPr>
            <a:r>
              <a:rPr lang="es-MX" sz="900" b="1" dirty="0">
                <a:solidFill>
                  <a:srgbClr val="F39A24"/>
                </a:solidFill>
                <a:latin typeface="Aptos"/>
                <a:ea typeface="Aptos"/>
                <a:cs typeface="Aptos"/>
              </a:rPr>
              <a:t>m</a:t>
            </a:r>
            <a:r>
              <a:rPr sz="900" b="1" i="0" dirty="0" err="1">
                <a:solidFill>
                  <a:srgbClr val="F39A24"/>
                </a:solidFill>
                <a:latin typeface="Aptos"/>
                <a:ea typeface="Aptos"/>
                <a:cs typeface="Aptos"/>
              </a:rPr>
              <a:t>emory</a:t>
            </a:r>
            <a:r>
              <a:rPr lang="es-MX" sz="900" b="1" i="0" dirty="0">
                <a:solidFill>
                  <a:srgbClr val="F39A24"/>
                </a:solidFill>
                <a:latin typeface="Aptos"/>
                <a:ea typeface="Aptos"/>
                <a:cs typeface="Aptos"/>
              </a:rPr>
              <a:t> </a:t>
            </a:r>
            <a:r>
              <a:rPr lang="es-MX" sz="900" b="1" i="0" dirty="0" err="1">
                <a:solidFill>
                  <a:srgbClr val="F39A24"/>
                </a:solidFill>
                <a:latin typeface="Aptos"/>
                <a:ea typeface="Aptos"/>
                <a:cs typeface="Aptos"/>
              </a:rPr>
              <a:t>injection</a:t>
            </a:r>
            <a:endParaRPr sz="900" b="1" i="0" dirty="0">
              <a:solidFill>
                <a:srgbClr val="F39A24"/>
              </a:solidFill>
              <a:latin typeface="Aptos"/>
              <a:ea typeface="Aptos"/>
              <a:cs typeface="Aptos"/>
            </a:endParaRPr>
          </a:p>
        </p:txBody>
      </p:sp>
      <p:sp>
        <p:nvSpPr>
          <p:cNvPr id="32" name="Rectángulo: esquinas redondeadas 31">
            <a:extLst>
              <a:ext uri="{FF2B5EF4-FFF2-40B4-BE49-F238E27FC236}">
                <a16:creationId xmlns:a16="http://schemas.microsoft.com/office/drawing/2014/main" id="{24BCCCC4-49C3-475C-81B4-64B4344B982C}"/>
              </a:ext>
            </a:extLst>
          </p:cNvPr>
          <p:cNvSpPr>
            <a:spLocks noGrp="1"/>
          </p:cNvSpPr>
          <p:nvPr/>
        </p:nvSpPr>
        <p:spPr>
          <a:xfrm>
            <a:off x="9434562" y="3486919"/>
            <a:ext cx="1000125" cy="552450"/>
          </a:xfrm>
          <a:prstGeom prst="roundRect">
            <a:avLst>
              <a:gd name="adj" fmla="val 20690"/>
            </a:avLst>
          </a:prstGeom>
          <a:solidFill>
            <a:srgbClr val="FFF0D7"/>
          </a:solidFill>
          <a:ln w="9525">
            <a:solidFill>
              <a:srgbClr val="F39A24"/>
            </a:solidFill>
            <a:prstDash val="solid"/>
          </a:ln>
        </p:spPr>
        <p:txBody>
          <a:bodyPr/>
          <a:lstStyle/>
          <a:p>
            <a:endParaRPr lang="es-MX" sz="900"/>
          </a:p>
        </p:txBody>
      </p:sp>
      <p:sp>
        <p:nvSpPr>
          <p:cNvPr id="33" name="Rectángulo 32">
            <a:extLst>
              <a:ext uri="{FF2B5EF4-FFF2-40B4-BE49-F238E27FC236}">
                <a16:creationId xmlns:a16="http://schemas.microsoft.com/office/drawing/2014/main" id="{F434E310-06CE-4823-A684-6FA3DFCCAD7F}"/>
              </a:ext>
            </a:extLst>
          </p:cNvPr>
          <p:cNvSpPr>
            <a:spLocks noGrp="1"/>
          </p:cNvSpPr>
          <p:nvPr/>
        </p:nvSpPr>
        <p:spPr>
          <a:xfrm>
            <a:off x="9529812" y="3610744"/>
            <a:ext cx="816095" cy="285750"/>
          </a:xfrm>
          <a:prstGeom prst="rect">
            <a:avLst/>
          </a:prstGeom>
          <a:noFill/>
          <a:ln w="0">
            <a:noFill/>
          </a:ln>
        </p:spPr>
        <p:txBody>
          <a:bodyPr anchor="t">
            <a:noAutofit/>
          </a:bodyPr>
          <a:lstStyle/>
          <a:p>
            <a:pPr>
              <a:defRPr sz="750" b="1" i="0">
                <a:solidFill>
                  <a:srgbClr val="F39A24"/>
                </a:solidFill>
                <a:latin typeface="Aptos"/>
                <a:ea typeface="Aptos"/>
                <a:cs typeface="Aptos"/>
              </a:defRPr>
            </a:pPr>
            <a:r>
              <a:rPr sz="900" b="1" i="0" dirty="0">
                <a:solidFill>
                  <a:srgbClr val="F39A24"/>
                </a:solidFill>
                <a:latin typeface="Aptos"/>
                <a:ea typeface="Aptos"/>
                <a:cs typeface="Aptos"/>
              </a:rPr>
              <a:t>compaction</a:t>
            </a:r>
          </a:p>
        </p:txBody>
      </p:sp>
      <p:sp>
        <p:nvSpPr>
          <p:cNvPr id="34" name="Rectángulo: esquinas redondeadas 33">
            <a:extLst>
              <a:ext uri="{FF2B5EF4-FFF2-40B4-BE49-F238E27FC236}">
                <a16:creationId xmlns:a16="http://schemas.microsoft.com/office/drawing/2014/main" id="{ACBC7DE2-23C2-4E43-8CE6-96EE7BAD115F}"/>
              </a:ext>
            </a:extLst>
          </p:cNvPr>
          <p:cNvSpPr>
            <a:spLocks noGrp="1"/>
          </p:cNvSpPr>
          <p:nvPr/>
        </p:nvSpPr>
        <p:spPr>
          <a:xfrm>
            <a:off x="10604196" y="3486919"/>
            <a:ext cx="845328" cy="552450"/>
          </a:xfrm>
          <a:prstGeom prst="roundRect">
            <a:avLst>
              <a:gd name="adj" fmla="val 20690"/>
            </a:avLst>
          </a:prstGeom>
          <a:solidFill>
            <a:srgbClr val="FFFFFF"/>
          </a:solidFill>
          <a:ln w="9525">
            <a:solidFill>
              <a:srgbClr val="5C2DD2"/>
            </a:solidFill>
            <a:prstDash val="solid"/>
          </a:ln>
        </p:spPr>
        <p:txBody>
          <a:bodyPr/>
          <a:lstStyle/>
          <a:p>
            <a:endParaRPr lang="es-MX" sz="900"/>
          </a:p>
        </p:txBody>
      </p:sp>
      <p:sp>
        <p:nvSpPr>
          <p:cNvPr id="35" name="Rectángulo 34">
            <a:extLst>
              <a:ext uri="{FF2B5EF4-FFF2-40B4-BE49-F238E27FC236}">
                <a16:creationId xmlns:a16="http://schemas.microsoft.com/office/drawing/2014/main" id="{80A49BA8-E459-4212-A8C3-6D865B0FC03B}"/>
              </a:ext>
            </a:extLst>
          </p:cNvPr>
          <p:cNvSpPr>
            <a:spLocks noGrp="1"/>
          </p:cNvSpPr>
          <p:nvPr/>
        </p:nvSpPr>
        <p:spPr>
          <a:xfrm>
            <a:off x="10587610" y="3548597"/>
            <a:ext cx="906069" cy="489022"/>
          </a:xfrm>
          <a:prstGeom prst="rect">
            <a:avLst/>
          </a:prstGeom>
          <a:noFill/>
          <a:ln w="0">
            <a:noFill/>
          </a:ln>
        </p:spPr>
        <p:txBody>
          <a:bodyPr anchor="t">
            <a:noAutofit/>
          </a:bodyPr>
          <a:lstStyle/>
          <a:p>
            <a:pPr>
              <a:defRPr sz="900" b="1" i="0">
                <a:solidFill>
                  <a:srgbClr val="5C2DD2"/>
                </a:solidFill>
                <a:latin typeface="Aptos"/>
                <a:ea typeface="Aptos"/>
                <a:cs typeface="Aptos"/>
              </a:defRPr>
            </a:pPr>
            <a:r>
              <a:rPr lang="es-MX" sz="900" b="1" i="0" dirty="0">
                <a:solidFill>
                  <a:srgbClr val="5C2DD2"/>
                </a:solidFill>
                <a:latin typeface="Aptos"/>
                <a:ea typeface="Aptos"/>
                <a:cs typeface="Aptos"/>
              </a:rPr>
              <a:t>a</a:t>
            </a:r>
            <a:r>
              <a:rPr sz="900" b="1" i="0" dirty="0">
                <a:solidFill>
                  <a:srgbClr val="5C2DD2"/>
                </a:solidFill>
                <a:latin typeface="Aptos"/>
                <a:ea typeface="Aptos"/>
                <a:cs typeface="Aptos"/>
              </a:rPr>
              <a:t>gent</a:t>
            </a:r>
            <a:r>
              <a:rPr lang="es-ES" sz="900" b="1" i="0" dirty="0">
                <a:solidFill>
                  <a:srgbClr val="5C2DD2"/>
                </a:solidFill>
                <a:latin typeface="Aptos"/>
                <a:ea typeface="Aptos"/>
                <a:cs typeface="Aptos"/>
              </a:rPr>
              <a:t>e con</a:t>
            </a:r>
            <a:r>
              <a:rPr lang="es-MX" sz="900" b="1" i="0" dirty="0">
                <a:solidFill>
                  <a:srgbClr val="5C2DD2"/>
                </a:solidFill>
                <a:latin typeface="Aptos"/>
                <a:ea typeface="Aptos"/>
                <a:cs typeface="Aptos"/>
              </a:rPr>
              <a:t> modelo (LLM)</a:t>
            </a:r>
            <a:endParaRPr sz="900" b="1" i="0" dirty="0">
              <a:solidFill>
                <a:srgbClr val="5C2DD2"/>
              </a:solidFill>
              <a:latin typeface="Aptos"/>
              <a:ea typeface="Aptos"/>
              <a:cs typeface="Aptos"/>
            </a:endParaRPr>
          </a:p>
        </p:txBody>
      </p:sp>
      <p:sp>
        <p:nvSpPr>
          <p:cNvPr id="36" name="Rectángulo: esquinas redondeadas 35">
            <a:extLst>
              <a:ext uri="{FF2B5EF4-FFF2-40B4-BE49-F238E27FC236}">
                <a16:creationId xmlns:a16="http://schemas.microsoft.com/office/drawing/2014/main" id="{2192C3C6-1867-4141-BF76-E78D0CEC49BC}"/>
              </a:ext>
            </a:extLst>
          </p:cNvPr>
          <p:cNvSpPr>
            <a:spLocks noGrp="1"/>
          </p:cNvSpPr>
          <p:nvPr/>
        </p:nvSpPr>
        <p:spPr>
          <a:xfrm>
            <a:off x="10584408" y="4222285"/>
            <a:ext cx="865116" cy="400050"/>
          </a:xfrm>
          <a:prstGeom prst="roundRect">
            <a:avLst>
              <a:gd name="adj" fmla="val 28571"/>
            </a:avLst>
          </a:prstGeom>
          <a:solidFill>
            <a:srgbClr val="E3F5ED"/>
          </a:solidFill>
          <a:ln w="9525">
            <a:solidFill>
              <a:srgbClr val="009566"/>
            </a:solidFill>
            <a:prstDash val="solid"/>
          </a:ln>
        </p:spPr>
        <p:txBody>
          <a:bodyPr/>
          <a:lstStyle/>
          <a:p>
            <a:endParaRPr lang="es-MX" sz="900"/>
          </a:p>
        </p:txBody>
      </p:sp>
      <p:sp>
        <p:nvSpPr>
          <p:cNvPr id="37" name="Rectángulo 36">
            <a:extLst>
              <a:ext uri="{FF2B5EF4-FFF2-40B4-BE49-F238E27FC236}">
                <a16:creationId xmlns:a16="http://schemas.microsoft.com/office/drawing/2014/main" id="{33AC089C-F26F-4A83-92C2-AAAFAFC762B2}"/>
              </a:ext>
            </a:extLst>
          </p:cNvPr>
          <p:cNvSpPr>
            <a:spLocks noGrp="1"/>
          </p:cNvSpPr>
          <p:nvPr/>
        </p:nvSpPr>
        <p:spPr>
          <a:xfrm>
            <a:off x="10717757" y="4283687"/>
            <a:ext cx="542925" cy="285750"/>
          </a:xfrm>
          <a:prstGeom prst="rect">
            <a:avLst/>
          </a:prstGeom>
          <a:noFill/>
          <a:ln w="0">
            <a:noFill/>
          </a:ln>
        </p:spPr>
        <p:txBody>
          <a:bodyPr anchor="t">
            <a:normAutofit/>
          </a:bodyPr>
          <a:lstStyle/>
          <a:p>
            <a:pPr>
              <a:defRPr sz="825" b="1" i="0">
                <a:solidFill>
                  <a:srgbClr val="009566"/>
                </a:solidFill>
                <a:latin typeface="Aptos"/>
                <a:ea typeface="Aptos"/>
                <a:cs typeface="Aptos"/>
              </a:defRPr>
            </a:pPr>
            <a:r>
              <a:rPr sz="900" b="1" i="0" dirty="0">
                <a:solidFill>
                  <a:srgbClr val="009566"/>
                </a:solidFill>
                <a:latin typeface="Aptos"/>
                <a:ea typeface="Aptos"/>
                <a:cs typeface="Aptos"/>
              </a:rPr>
              <a:t>tools</a:t>
            </a:r>
          </a:p>
        </p:txBody>
      </p:sp>
      <p:sp>
        <p:nvSpPr>
          <p:cNvPr id="38" name="Rectángulo 37">
            <a:extLst>
              <a:ext uri="{FF2B5EF4-FFF2-40B4-BE49-F238E27FC236}">
                <a16:creationId xmlns:a16="http://schemas.microsoft.com/office/drawing/2014/main" id="{3EBA5A9A-5F82-4185-9D93-59D0036845CE}"/>
              </a:ext>
            </a:extLst>
          </p:cNvPr>
          <p:cNvSpPr>
            <a:spLocks noGrp="1"/>
          </p:cNvSpPr>
          <p:nvPr/>
        </p:nvSpPr>
        <p:spPr>
          <a:xfrm>
            <a:off x="9184504" y="3558123"/>
            <a:ext cx="161925" cy="266700"/>
          </a:xfrm>
          <a:prstGeom prst="rect">
            <a:avLst/>
          </a:prstGeom>
          <a:noFill/>
          <a:ln w="0">
            <a:noFill/>
          </a:ln>
        </p:spPr>
        <p:txBody>
          <a:bodyPr anchor="t">
            <a:noAutofit/>
          </a:bodyPr>
          <a:lstStyle/>
          <a:p>
            <a:pPr>
              <a:defRPr sz="1275" b="1" i="0">
                <a:solidFill>
                  <a:srgbClr val="F39A24"/>
                </a:solidFill>
                <a:latin typeface="Aptos"/>
                <a:ea typeface="Aptos"/>
                <a:cs typeface="Aptos"/>
              </a:defRPr>
            </a:pPr>
            <a:r>
              <a:rPr sz="1700" b="1" i="0" dirty="0">
                <a:solidFill>
                  <a:srgbClr val="F39A24"/>
                </a:solidFill>
                <a:latin typeface="Aptos"/>
                <a:ea typeface="Aptos"/>
                <a:cs typeface="Aptos"/>
              </a:rPr>
              <a:t>→</a:t>
            </a:r>
          </a:p>
        </p:txBody>
      </p:sp>
      <p:sp>
        <p:nvSpPr>
          <p:cNvPr id="39" name="Rectángulo 38">
            <a:extLst>
              <a:ext uri="{FF2B5EF4-FFF2-40B4-BE49-F238E27FC236}">
                <a16:creationId xmlns:a16="http://schemas.microsoft.com/office/drawing/2014/main" id="{60CD5D3D-8C3F-4F0C-8841-C04DF0A800FF}"/>
              </a:ext>
            </a:extLst>
          </p:cNvPr>
          <p:cNvSpPr>
            <a:spLocks noGrp="1"/>
          </p:cNvSpPr>
          <p:nvPr/>
        </p:nvSpPr>
        <p:spPr>
          <a:xfrm>
            <a:off x="10371894" y="3558123"/>
            <a:ext cx="161925" cy="266700"/>
          </a:xfrm>
          <a:prstGeom prst="rect">
            <a:avLst/>
          </a:prstGeom>
          <a:noFill/>
          <a:ln w="0">
            <a:noFill/>
          </a:ln>
        </p:spPr>
        <p:txBody>
          <a:bodyPr anchor="t">
            <a:noAutofit/>
          </a:bodyPr>
          <a:lstStyle/>
          <a:p>
            <a:pPr>
              <a:defRPr sz="1275" b="1" i="0">
                <a:solidFill>
                  <a:srgbClr val="5C2DD2"/>
                </a:solidFill>
                <a:latin typeface="Aptos"/>
                <a:ea typeface="Aptos"/>
                <a:cs typeface="Aptos"/>
              </a:defRPr>
            </a:pPr>
            <a:r>
              <a:rPr sz="1700" b="1" i="0" dirty="0">
                <a:solidFill>
                  <a:srgbClr val="5C2DD2"/>
                </a:solidFill>
                <a:latin typeface="Aptos"/>
                <a:ea typeface="Aptos"/>
                <a:cs typeface="Aptos"/>
              </a:rPr>
              <a:t>→</a:t>
            </a:r>
          </a:p>
        </p:txBody>
      </p:sp>
      <p:sp>
        <p:nvSpPr>
          <p:cNvPr id="40" name="Rectángulo 39">
            <a:extLst>
              <a:ext uri="{FF2B5EF4-FFF2-40B4-BE49-F238E27FC236}">
                <a16:creationId xmlns:a16="http://schemas.microsoft.com/office/drawing/2014/main" id="{A4E68F48-3057-4496-A540-58D26F473941}"/>
              </a:ext>
            </a:extLst>
          </p:cNvPr>
          <p:cNvSpPr>
            <a:spLocks noGrp="1"/>
          </p:cNvSpPr>
          <p:nvPr/>
        </p:nvSpPr>
        <p:spPr>
          <a:xfrm>
            <a:off x="10823271" y="3957526"/>
            <a:ext cx="228600" cy="266700"/>
          </a:xfrm>
          <a:prstGeom prst="rect">
            <a:avLst/>
          </a:prstGeom>
          <a:noFill/>
          <a:ln w="0">
            <a:noFill/>
          </a:ln>
        </p:spPr>
        <p:txBody>
          <a:bodyPr anchor="t">
            <a:noAutofit/>
          </a:bodyPr>
          <a:lstStyle/>
          <a:p>
            <a:pPr>
              <a:defRPr sz="1350" b="1" i="0">
                <a:solidFill>
                  <a:srgbClr val="5C2DD2"/>
                </a:solidFill>
                <a:latin typeface="Aptos"/>
                <a:ea typeface="Aptos"/>
                <a:cs typeface="Aptos"/>
              </a:defRPr>
            </a:pPr>
            <a:r>
              <a:rPr sz="1700" b="1" i="0" dirty="0">
                <a:solidFill>
                  <a:srgbClr val="5C2DD2"/>
                </a:solidFill>
                <a:latin typeface="Aptos"/>
                <a:ea typeface="Aptos"/>
                <a:cs typeface="Aptos"/>
              </a:rPr>
              <a:t>↓</a:t>
            </a:r>
          </a:p>
        </p:txBody>
      </p:sp>
      <p:sp>
        <p:nvSpPr>
          <p:cNvPr id="41" name="Rectángulo 40">
            <a:extLst>
              <a:ext uri="{FF2B5EF4-FFF2-40B4-BE49-F238E27FC236}">
                <a16:creationId xmlns:a16="http://schemas.microsoft.com/office/drawing/2014/main" id="{53D4A6C5-0FAC-4183-AB04-881ACF477CB0}"/>
              </a:ext>
            </a:extLst>
          </p:cNvPr>
          <p:cNvSpPr>
            <a:spLocks noGrp="1"/>
          </p:cNvSpPr>
          <p:nvPr/>
        </p:nvSpPr>
        <p:spPr>
          <a:xfrm>
            <a:off x="9864232" y="4067857"/>
            <a:ext cx="722855" cy="471224"/>
          </a:xfrm>
          <a:prstGeom prst="rect">
            <a:avLst/>
          </a:prstGeom>
          <a:noFill/>
          <a:ln w="0">
            <a:noFill/>
          </a:ln>
        </p:spPr>
        <p:txBody>
          <a:bodyPr anchor="t">
            <a:normAutofit fontScale="92500" lnSpcReduction="10000"/>
          </a:bodyPr>
          <a:lstStyle/>
          <a:p>
            <a:pPr>
              <a:defRPr sz="675" b="1" i="0">
                <a:solidFill>
                  <a:srgbClr val="009566"/>
                </a:solidFill>
                <a:latin typeface="Aptos"/>
                <a:ea typeface="Aptos"/>
                <a:cs typeface="Aptos"/>
              </a:defRPr>
            </a:pPr>
            <a:r>
              <a:rPr sz="1700" b="1" i="0" dirty="0">
                <a:solidFill>
                  <a:srgbClr val="009566"/>
                </a:solidFill>
                <a:latin typeface="Aptos"/>
                <a:ea typeface="Aptos"/>
                <a:cs typeface="Aptos"/>
              </a:rPr>
              <a:t>↖</a:t>
            </a:r>
            <a:r>
              <a:rPr sz="900" b="1" i="0" dirty="0">
                <a:solidFill>
                  <a:srgbClr val="009566"/>
                </a:solidFill>
                <a:latin typeface="Aptos"/>
                <a:ea typeface="Aptos"/>
                <a:cs typeface="Aptos"/>
              </a:rPr>
              <a:t> </a:t>
            </a:r>
            <a:endParaRPr lang="es-MX" sz="900" b="1" i="0" dirty="0">
              <a:solidFill>
                <a:srgbClr val="009566"/>
              </a:solidFill>
              <a:latin typeface="Aptos"/>
              <a:ea typeface="Aptos"/>
              <a:cs typeface="Aptos"/>
            </a:endParaRPr>
          </a:p>
          <a:p>
            <a:pPr>
              <a:defRPr sz="675" b="1" i="0">
                <a:solidFill>
                  <a:srgbClr val="009566"/>
                </a:solidFill>
                <a:latin typeface="Aptos"/>
                <a:ea typeface="Aptos"/>
                <a:cs typeface="Aptos"/>
              </a:defRPr>
            </a:pPr>
            <a:r>
              <a:rPr sz="1000" b="1" i="0" dirty="0" err="1">
                <a:solidFill>
                  <a:srgbClr val="009566"/>
                </a:solidFill>
                <a:latin typeface="Aptos"/>
                <a:ea typeface="Aptos"/>
                <a:cs typeface="Aptos"/>
              </a:rPr>
              <a:t>resultado</a:t>
            </a:r>
            <a:endParaRPr sz="1000" b="1" i="0" dirty="0">
              <a:solidFill>
                <a:srgbClr val="009566"/>
              </a:solidFill>
              <a:latin typeface="Aptos"/>
              <a:ea typeface="Aptos"/>
              <a:cs typeface="Aptos"/>
            </a:endParaRPr>
          </a:p>
        </p:txBody>
      </p:sp>
      <p:sp>
        <p:nvSpPr>
          <p:cNvPr id="42" name="Rectángulo 41">
            <a:extLst>
              <a:ext uri="{FF2B5EF4-FFF2-40B4-BE49-F238E27FC236}">
                <a16:creationId xmlns:a16="http://schemas.microsoft.com/office/drawing/2014/main" id="{2C941BEB-5DF8-4C61-A46A-B1F3AFB7A281}"/>
              </a:ext>
            </a:extLst>
          </p:cNvPr>
          <p:cNvSpPr>
            <a:spLocks noGrp="1"/>
          </p:cNvSpPr>
          <p:nvPr/>
        </p:nvSpPr>
        <p:spPr>
          <a:xfrm>
            <a:off x="7746696" y="3603627"/>
            <a:ext cx="428625" cy="323850"/>
          </a:xfrm>
          <a:prstGeom prst="rect">
            <a:avLst/>
          </a:prstGeom>
          <a:noFill/>
          <a:ln w="0">
            <a:noFill/>
          </a:ln>
        </p:spPr>
        <p:txBody>
          <a:bodyPr anchor="t">
            <a:normAutofit fontScale="88833" lnSpcReduction="20000"/>
          </a:bodyPr>
          <a:lstStyle/>
          <a:p>
            <a:pPr>
              <a:defRPr sz="1875" b="1" i="0">
                <a:solidFill>
                  <a:srgbClr val="5C2DD2"/>
                </a:solidFill>
                <a:latin typeface="Aptos"/>
                <a:ea typeface="Aptos"/>
                <a:cs typeface="Aptos"/>
              </a:defRPr>
            </a:pPr>
            <a:r>
              <a:rPr sz="1875" b="1" i="0" dirty="0">
                <a:solidFill>
                  <a:srgbClr val="5C2DD2"/>
                </a:solidFill>
                <a:latin typeface="Aptos"/>
                <a:ea typeface="Aptos"/>
                <a:cs typeface="Aptos"/>
              </a:rPr>
              <a:t>→</a:t>
            </a:r>
          </a:p>
        </p:txBody>
      </p:sp>
      <p:sp>
        <p:nvSpPr>
          <p:cNvPr id="43" name="Rectángulo 42">
            <a:extLst>
              <a:ext uri="{FF2B5EF4-FFF2-40B4-BE49-F238E27FC236}">
                <a16:creationId xmlns:a16="http://schemas.microsoft.com/office/drawing/2014/main" id="{4FFA2E59-0E92-4CF1-965F-6D9E541B896C}"/>
              </a:ext>
            </a:extLst>
          </p:cNvPr>
          <p:cNvSpPr>
            <a:spLocks noGrp="1"/>
          </p:cNvSpPr>
          <p:nvPr/>
        </p:nvSpPr>
        <p:spPr>
          <a:xfrm>
            <a:off x="7534275" y="3237331"/>
            <a:ext cx="722008" cy="371475"/>
          </a:xfrm>
          <a:prstGeom prst="rect">
            <a:avLst/>
          </a:prstGeom>
          <a:noFill/>
          <a:ln w="0">
            <a:noFill/>
          </a:ln>
        </p:spPr>
        <p:txBody>
          <a:bodyPr anchor="t">
            <a:noAutofit/>
          </a:bodyPr>
          <a:lstStyle/>
          <a:p>
            <a:pPr>
              <a:defRPr sz="825" b="1" i="0">
                <a:solidFill>
                  <a:srgbClr val="5C2DD2"/>
                </a:solidFill>
                <a:latin typeface="Aptos"/>
                <a:ea typeface="Aptos"/>
                <a:cs typeface="Aptos"/>
              </a:defRPr>
            </a:pPr>
            <a:r>
              <a:rPr sz="1000" b="1" i="0" dirty="0" err="1">
                <a:solidFill>
                  <a:srgbClr val="5C2DD2"/>
                </a:solidFill>
                <a:latin typeface="Aptos"/>
                <a:ea typeface="Aptos"/>
                <a:cs typeface="Aptos"/>
              </a:rPr>
              <a:t>invoca</a:t>
            </a:r>
            <a:r>
              <a:rPr sz="1000" b="1" i="0" dirty="0">
                <a:solidFill>
                  <a:srgbClr val="5C2DD2"/>
                </a:solidFill>
                <a:latin typeface="Aptos"/>
                <a:ea typeface="Aptos"/>
                <a:cs typeface="Aptos"/>
              </a:rPr>
              <a:t> o </a:t>
            </a:r>
            <a:r>
              <a:rPr sz="1000" b="1" i="0" dirty="0" err="1">
                <a:solidFill>
                  <a:srgbClr val="5C2DD2"/>
                </a:solidFill>
                <a:latin typeface="Aptos"/>
                <a:ea typeface="Aptos"/>
                <a:cs typeface="Aptos"/>
              </a:rPr>
              <a:t>reanuda</a:t>
            </a:r>
            <a:endParaRPr sz="1000" b="1" i="0" dirty="0">
              <a:solidFill>
                <a:srgbClr val="5C2DD2"/>
              </a:solidFill>
              <a:latin typeface="Aptos"/>
              <a:ea typeface="Aptos"/>
              <a:cs typeface="Aptos"/>
            </a:endParaRPr>
          </a:p>
        </p:txBody>
      </p:sp>
      <p:sp>
        <p:nvSpPr>
          <p:cNvPr id="48" name="Rectángulo: esquinas redondeadas 47">
            <a:extLst>
              <a:ext uri="{FF2B5EF4-FFF2-40B4-BE49-F238E27FC236}">
                <a16:creationId xmlns:a16="http://schemas.microsoft.com/office/drawing/2014/main" id="{60CDE35F-99F0-4839-827F-E404F8FF0F4E}"/>
              </a:ext>
            </a:extLst>
          </p:cNvPr>
          <p:cNvSpPr>
            <a:spLocks noGrp="1"/>
          </p:cNvSpPr>
          <p:nvPr/>
        </p:nvSpPr>
        <p:spPr>
          <a:xfrm>
            <a:off x="5095875" y="4969752"/>
            <a:ext cx="6413196" cy="631058"/>
          </a:xfrm>
          <a:prstGeom prst="roundRect">
            <a:avLst>
              <a:gd name="adj" fmla="val 16667"/>
            </a:avLst>
          </a:prstGeom>
          <a:solidFill>
            <a:srgbClr val="FFFFFF"/>
          </a:solidFill>
          <a:ln w="9525">
            <a:solidFill>
              <a:srgbClr val="009566"/>
            </a:solidFill>
            <a:prstDash val="solid"/>
          </a:ln>
        </p:spPr>
        <p:txBody>
          <a:bodyPr/>
          <a:lstStyle/>
          <a:p>
            <a:endParaRPr lang="es-MX"/>
          </a:p>
        </p:txBody>
      </p:sp>
      <p:sp>
        <p:nvSpPr>
          <p:cNvPr id="49" name="Rectángulo 48">
            <a:extLst>
              <a:ext uri="{FF2B5EF4-FFF2-40B4-BE49-F238E27FC236}">
                <a16:creationId xmlns:a16="http://schemas.microsoft.com/office/drawing/2014/main" id="{C8A909A7-4185-4082-ADC5-7BC2FCA4CC67}"/>
              </a:ext>
            </a:extLst>
          </p:cNvPr>
          <p:cNvSpPr>
            <a:spLocks noGrp="1"/>
          </p:cNvSpPr>
          <p:nvPr/>
        </p:nvSpPr>
        <p:spPr>
          <a:xfrm>
            <a:off x="5229225" y="5038835"/>
            <a:ext cx="5924550" cy="285750"/>
          </a:xfrm>
          <a:prstGeom prst="rect">
            <a:avLst/>
          </a:prstGeom>
          <a:noFill/>
          <a:ln w="0">
            <a:noFill/>
          </a:ln>
        </p:spPr>
        <p:txBody>
          <a:bodyPr anchor="t">
            <a:normAutofit/>
          </a:bodyPr>
          <a:lstStyle/>
          <a:p>
            <a:pPr>
              <a:defRPr sz="900" b="1" i="0">
                <a:solidFill>
                  <a:srgbClr val="009566"/>
                </a:solidFill>
                <a:latin typeface="Aptos"/>
                <a:ea typeface="Aptos"/>
                <a:cs typeface="Aptos"/>
              </a:defRPr>
            </a:pPr>
            <a:r>
              <a:rPr sz="900" b="1" i="0">
                <a:solidFill>
                  <a:srgbClr val="009566"/>
                </a:solidFill>
                <a:latin typeface="Aptos"/>
                <a:ea typeface="Aptos"/>
                <a:cs typeface="Aptos"/>
              </a:rPr>
              <a:t>AGENT OUTPUT → ADAPTADOR DE CANAL</a:t>
            </a:r>
          </a:p>
        </p:txBody>
      </p:sp>
      <p:sp>
        <p:nvSpPr>
          <p:cNvPr id="50" name="Rectángulo 49">
            <a:extLst>
              <a:ext uri="{FF2B5EF4-FFF2-40B4-BE49-F238E27FC236}">
                <a16:creationId xmlns:a16="http://schemas.microsoft.com/office/drawing/2014/main" id="{1D6F6A40-1AEA-4228-81FB-CC2159B6B130}"/>
              </a:ext>
            </a:extLst>
          </p:cNvPr>
          <p:cNvSpPr>
            <a:spLocks noGrp="1"/>
          </p:cNvSpPr>
          <p:nvPr/>
        </p:nvSpPr>
        <p:spPr>
          <a:xfrm>
            <a:off x="5229225" y="5305535"/>
            <a:ext cx="5924550" cy="209550"/>
          </a:xfrm>
          <a:prstGeom prst="rect">
            <a:avLst/>
          </a:prstGeom>
          <a:noFill/>
          <a:ln w="0">
            <a:noFill/>
          </a:ln>
        </p:spPr>
        <p:txBody>
          <a:bodyPr anchor="t">
            <a:noAutofit/>
          </a:bodyPr>
          <a:lstStyle/>
          <a:p>
            <a:pPr>
              <a:defRPr sz="825" b="0" i="0">
                <a:solidFill>
                  <a:srgbClr val="756F91"/>
                </a:solidFill>
                <a:latin typeface="Aptos"/>
                <a:ea typeface="Aptos"/>
                <a:cs typeface="Aptos"/>
              </a:defRPr>
            </a:pPr>
            <a:r>
              <a:rPr sz="900" b="0" i="0" dirty="0" err="1">
                <a:solidFill>
                  <a:srgbClr val="756F91"/>
                </a:solidFill>
                <a:latin typeface="Aptos"/>
                <a:ea typeface="Aptos"/>
                <a:cs typeface="Aptos"/>
              </a:rPr>
              <a:t>respuesta</a:t>
            </a:r>
            <a:r>
              <a:rPr sz="900" b="0" i="0" dirty="0">
                <a:solidFill>
                  <a:srgbClr val="756F91"/>
                </a:solidFill>
                <a:latin typeface="Aptos"/>
                <a:ea typeface="Aptos"/>
                <a:cs typeface="Aptos"/>
              </a:rPr>
              <a:t> · tool confirmation · pausa HITL · error </a:t>
            </a:r>
            <a:r>
              <a:rPr sz="900" b="0" i="0" dirty="0" err="1">
                <a:solidFill>
                  <a:srgbClr val="756F91"/>
                </a:solidFill>
                <a:latin typeface="Aptos"/>
                <a:ea typeface="Aptos"/>
                <a:cs typeface="Aptos"/>
              </a:rPr>
              <a:t>normalizado</a:t>
            </a:r>
            <a:endParaRPr sz="900" b="0" i="0" dirty="0">
              <a:solidFill>
                <a:srgbClr val="756F91"/>
              </a:solidFill>
              <a:latin typeface="Aptos"/>
              <a:ea typeface="Aptos"/>
              <a:cs typeface="Aptos"/>
            </a:endParaRPr>
          </a:p>
        </p:txBody>
      </p:sp>
      <p:sp>
        <p:nvSpPr>
          <p:cNvPr id="51" name="Rectángulo 50">
            <a:extLst>
              <a:ext uri="{FF2B5EF4-FFF2-40B4-BE49-F238E27FC236}">
                <a16:creationId xmlns:a16="http://schemas.microsoft.com/office/drawing/2014/main" id="{901D7FD7-4D31-4DF3-8569-AE21378BA4DA}"/>
              </a:ext>
            </a:extLst>
          </p:cNvPr>
          <p:cNvSpPr>
            <a:spLocks noGrp="1"/>
          </p:cNvSpPr>
          <p:nvPr/>
        </p:nvSpPr>
        <p:spPr>
          <a:xfrm>
            <a:off x="9736774" y="4685856"/>
            <a:ext cx="228600" cy="190500"/>
          </a:xfrm>
          <a:prstGeom prst="rect">
            <a:avLst/>
          </a:prstGeom>
          <a:noFill/>
          <a:ln w="0">
            <a:noFill/>
          </a:ln>
        </p:spPr>
        <p:txBody>
          <a:bodyPr anchor="t">
            <a:noAutofit/>
          </a:bodyPr>
          <a:lstStyle/>
          <a:p>
            <a:pPr>
              <a:defRPr sz="1275" b="1" i="0">
                <a:solidFill>
                  <a:srgbClr val="009566"/>
                </a:solidFill>
                <a:latin typeface="Aptos"/>
                <a:ea typeface="Aptos"/>
                <a:cs typeface="Aptos"/>
              </a:defRPr>
            </a:pPr>
            <a:r>
              <a:rPr sz="1700" b="1" i="0" dirty="0">
                <a:solidFill>
                  <a:srgbClr val="009566"/>
                </a:solidFill>
                <a:latin typeface="Aptos"/>
                <a:ea typeface="Aptos"/>
                <a:cs typeface="Aptos"/>
              </a:rPr>
              <a:t>↓</a:t>
            </a:r>
          </a:p>
        </p:txBody>
      </p:sp>
      <p:sp>
        <p:nvSpPr>
          <p:cNvPr id="26" name="Rectángulo 25">
            <a:extLst>
              <a:ext uri="{FF2B5EF4-FFF2-40B4-BE49-F238E27FC236}">
                <a16:creationId xmlns:a16="http://schemas.microsoft.com/office/drawing/2014/main" id="{3E856E50-A387-457A-AAE7-FA283FEAB96A}"/>
              </a:ext>
            </a:extLst>
          </p:cNvPr>
          <p:cNvSpPr>
            <a:spLocks noGrp="1"/>
          </p:cNvSpPr>
          <p:nvPr/>
        </p:nvSpPr>
        <p:spPr>
          <a:xfrm>
            <a:off x="4208235" y="3201796"/>
            <a:ext cx="805094" cy="266700"/>
          </a:xfrm>
          <a:prstGeom prst="rect">
            <a:avLst/>
          </a:prstGeom>
          <a:noFill/>
          <a:ln w="0">
            <a:noFill/>
          </a:ln>
        </p:spPr>
        <p:txBody>
          <a:bodyPr anchor="t">
            <a:noAutofit/>
          </a:bodyPr>
          <a:lstStyle/>
          <a:p>
            <a:pPr>
              <a:defRPr sz="825" b="1" i="0">
                <a:solidFill>
                  <a:srgbClr val="009566"/>
                </a:solidFill>
                <a:latin typeface="Aptos"/>
                <a:ea typeface="Aptos"/>
                <a:cs typeface="Aptos"/>
              </a:defRPr>
            </a:pPr>
            <a:r>
              <a:rPr sz="1000" b="1" i="0" dirty="0" err="1">
                <a:solidFill>
                  <a:srgbClr val="009566"/>
                </a:solidFill>
                <a:latin typeface="Aptos"/>
                <a:ea typeface="Aptos"/>
                <a:cs typeface="Aptos"/>
              </a:rPr>
              <a:t>si</a:t>
            </a:r>
            <a:r>
              <a:rPr sz="1000" b="1" i="0" dirty="0">
                <a:solidFill>
                  <a:srgbClr val="009566"/>
                </a:solidFill>
                <a:latin typeface="Aptos"/>
                <a:ea typeface="Aptos"/>
                <a:cs typeface="Aptos"/>
              </a:rPr>
              <a:t> </a:t>
            </a:r>
            <a:r>
              <a:rPr sz="1000" b="1" i="0" dirty="0" err="1">
                <a:solidFill>
                  <a:srgbClr val="009566"/>
                </a:solidFill>
                <a:latin typeface="Aptos"/>
                <a:ea typeface="Aptos"/>
                <a:cs typeface="Aptos"/>
              </a:rPr>
              <a:t>requiere</a:t>
            </a:r>
            <a:r>
              <a:rPr sz="1000" b="1" i="0" dirty="0">
                <a:solidFill>
                  <a:srgbClr val="009566"/>
                </a:solidFill>
                <a:latin typeface="Aptos"/>
                <a:ea typeface="Aptos"/>
                <a:cs typeface="Aptos"/>
              </a:rPr>
              <a:t> </a:t>
            </a:r>
            <a:r>
              <a:rPr sz="1000" b="1" i="0" dirty="0" err="1">
                <a:solidFill>
                  <a:srgbClr val="009566"/>
                </a:solidFill>
                <a:latin typeface="Aptos"/>
                <a:ea typeface="Aptos"/>
                <a:cs typeface="Aptos"/>
              </a:rPr>
              <a:t>agente</a:t>
            </a:r>
            <a:endParaRPr sz="1000" b="1" i="0" dirty="0">
              <a:solidFill>
                <a:srgbClr val="009566"/>
              </a:solidFill>
              <a:latin typeface="Aptos"/>
              <a:ea typeface="Aptos"/>
              <a:cs typeface="Aptos"/>
            </a:endParaRPr>
          </a:p>
        </p:txBody>
      </p:sp>
      <p:sp>
        <p:nvSpPr>
          <p:cNvPr id="57" name="Rectángulo 56">
            <a:extLst>
              <a:ext uri="{FF2B5EF4-FFF2-40B4-BE49-F238E27FC236}">
                <a16:creationId xmlns:a16="http://schemas.microsoft.com/office/drawing/2014/main" id="{B5B6CE2E-336F-8479-32F5-C7A9DD6206C9}"/>
              </a:ext>
            </a:extLst>
          </p:cNvPr>
          <p:cNvSpPr>
            <a:spLocks noGrp="1"/>
          </p:cNvSpPr>
          <p:nvPr/>
        </p:nvSpPr>
        <p:spPr>
          <a:xfrm>
            <a:off x="7160483" y="2603189"/>
            <a:ext cx="1146428" cy="316591"/>
          </a:xfrm>
          <a:prstGeom prst="rect">
            <a:avLst/>
          </a:prstGeom>
          <a:noFill/>
          <a:ln w="0">
            <a:noFill/>
          </a:ln>
        </p:spPr>
        <p:txBody>
          <a:bodyPr anchor="t">
            <a:noAutofit/>
          </a:bodyPr>
          <a:lstStyle/>
          <a:p>
            <a:pPr>
              <a:defRPr sz="975" b="0" i="0">
                <a:solidFill>
                  <a:srgbClr val="756F91"/>
                </a:solidFill>
                <a:latin typeface="Aptos"/>
                <a:ea typeface="Aptos"/>
                <a:cs typeface="Aptos"/>
              </a:defRPr>
            </a:pPr>
            <a:r>
              <a:rPr lang="es-ES" sz="1200" b="0" i="0" dirty="0">
                <a:solidFill>
                  <a:srgbClr val="756F91"/>
                </a:solidFill>
                <a:latin typeface="Aptos"/>
                <a:ea typeface="Aptos"/>
                <a:cs typeface="Aptos"/>
              </a:rPr>
              <a:t>Agent </a:t>
            </a:r>
            <a:r>
              <a:rPr lang="es-ES" sz="1200" b="0" i="0" dirty="0" err="1">
                <a:solidFill>
                  <a:srgbClr val="756F91"/>
                </a:solidFill>
                <a:latin typeface="Aptos"/>
                <a:ea typeface="Aptos"/>
                <a:cs typeface="Aptos"/>
              </a:rPr>
              <a:t>runtime</a:t>
            </a:r>
            <a:endParaRPr sz="1200" b="0" i="0" dirty="0">
              <a:solidFill>
                <a:srgbClr val="756F91"/>
              </a:solidFill>
              <a:latin typeface="Aptos"/>
              <a:ea typeface="Aptos"/>
              <a:cs typeface="Aptos"/>
            </a:endParaRPr>
          </a:p>
        </p:txBody>
      </p:sp>
    </p:spTree>
    <p:extLst>
      <p:ext uri="{BB962C8B-B14F-4D97-AF65-F5344CB8AC3E}">
        <p14:creationId xmlns:p14="http://schemas.microsoft.com/office/powerpoint/2010/main" val="2073044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635" name="Shape 0">
            <a:extLst>
              <a:ext uri="{FF2B5EF4-FFF2-40B4-BE49-F238E27FC236}">
                <a16:creationId xmlns:a16="http://schemas.microsoft.com/office/drawing/2014/main" id="{4B4172A0-99B8-4508-9E7D-AFCBD1AC0962}"/>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636" name="Text 1">
            <a:extLst>
              <a:ext uri="{FF2B5EF4-FFF2-40B4-BE49-F238E27FC236}">
                <a16:creationId xmlns:a16="http://schemas.microsoft.com/office/drawing/2014/main" id="{4B280F5E-4D21-42CD-8612-7B82CCB3F3DF}"/>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lang="en-US" sz="1200" b="1" u="none" dirty="0">
                <a:solidFill>
                  <a:srgbClr val="5F2CCB"/>
                </a:solidFill>
                <a:latin typeface="Aptos"/>
                <a:ea typeface="Aptos"/>
                <a:cs typeface="Aptos"/>
              </a:rPr>
              <a:t>EL STATEGRAPH ACTUAL SEPARA HOUSEKEEPING, RAZONAMIENTO Y EJECUCIÓN</a:t>
            </a:r>
            <a:endParaRPr lang="en-US" sz="1200" b="0" u="none" dirty="0">
              <a:solidFill>
                <a:srgbClr val="000000"/>
              </a:solidFill>
              <a:latin typeface="Arial"/>
              <a:ea typeface="Arial"/>
              <a:cs typeface="Arial"/>
            </a:endParaRPr>
          </a:p>
        </p:txBody>
      </p:sp>
      <p:sp>
        <p:nvSpPr>
          <p:cNvPr id="637" name="Text 2">
            <a:extLst>
              <a:ext uri="{FF2B5EF4-FFF2-40B4-BE49-F238E27FC236}">
                <a16:creationId xmlns:a16="http://schemas.microsoft.com/office/drawing/2014/main" id="{A317ACC4-F6DE-40CA-B510-C02C45113F27}"/>
              </a:ext>
            </a:extLst>
          </p:cNvPr>
          <p:cNvSpPr>
            <a:spLocks noGrp="1"/>
          </p:cNvSpPr>
          <p:nvPr/>
        </p:nvSpPr>
        <p:spPr>
          <a:xfrm>
            <a:off x="566999" y="804600"/>
            <a:ext cx="10698120"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dirty="0">
                <a:solidFill>
                  <a:srgbClr val="151327"/>
                </a:solidFill>
                <a:latin typeface="Aptos Display"/>
                <a:ea typeface="Aptos Display"/>
                <a:cs typeface="Aptos Display"/>
              </a:rPr>
              <a:t>El </a:t>
            </a:r>
            <a:r>
              <a:rPr sz="2600" b="1" u="none" dirty="0" err="1">
                <a:solidFill>
                  <a:srgbClr val="151327"/>
                </a:solidFill>
                <a:latin typeface="Aptos Display"/>
                <a:ea typeface="Aptos Display"/>
                <a:cs typeface="Aptos Display"/>
              </a:rPr>
              <a:t>turno</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entra</a:t>
            </a:r>
            <a:r>
              <a:rPr lang="es-MX" sz="2600" b="1" u="none" dirty="0">
                <a:solidFill>
                  <a:srgbClr val="151327"/>
                </a:solidFill>
                <a:latin typeface="Aptos Display"/>
                <a:ea typeface="Aptos Display"/>
                <a:cs typeface="Aptos Display"/>
              </a:rPr>
              <a:t> al grafo del agente</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por</a:t>
            </a:r>
            <a:r>
              <a:rPr sz="2600" b="1" u="none" dirty="0">
                <a:solidFill>
                  <a:srgbClr val="151327"/>
                </a:solidFill>
                <a:latin typeface="Aptos Display"/>
                <a:ea typeface="Aptos Display"/>
                <a:cs typeface="Aptos Display"/>
              </a:rPr>
              <a:t> memory injection, </a:t>
            </a:r>
            <a:r>
              <a:rPr sz="2600" b="1" u="none" dirty="0" err="1">
                <a:solidFill>
                  <a:srgbClr val="151327"/>
                </a:solidFill>
                <a:latin typeface="Aptos Display"/>
                <a:ea typeface="Aptos Display"/>
                <a:cs typeface="Aptos Display"/>
              </a:rPr>
              <a:t>atraviesa</a:t>
            </a:r>
            <a:r>
              <a:rPr sz="2600" b="1" u="none" dirty="0">
                <a:solidFill>
                  <a:srgbClr val="151327"/>
                </a:solidFill>
                <a:latin typeface="Aptos Display"/>
                <a:ea typeface="Aptos Display"/>
                <a:cs typeface="Aptos Display"/>
              </a:rPr>
              <a:t> compaction y </a:t>
            </a:r>
            <a:r>
              <a:rPr sz="2600" b="1" u="none" dirty="0" err="1">
                <a:solidFill>
                  <a:srgbClr val="151327"/>
                </a:solidFill>
                <a:latin typeface="Aptos Display"/>
                <a:ea typeface="Aptos Display"/>
                <a:cs typeface="Aptos Display"/>
              </a:rPr>
              <a:t>alterna</a:t>
            </a:r>
            <a:r>
              <a:rPr sz="2600" b="1" u="none" dirty="0">
                <a:solidFill>
                  <a:srgbClr val="151327"/>
                </a:solidFill>
                <a:latin typeface="Aptos Display"/>
                <a:ea typeface="Aptos Display"/>
                <a:cs typeface="Aptos Display"/>
              </a:rPr>
              <a:t> agent ↔ tools hasta </a:t>
            </a:r>
            <a:r>
              <a:rPr sz="2600" b="1" u="none" dirty="0" err="1">
                <a:solidFill>
                  <a:srgbClr val="151327"/>
                </a:solidFill>
                <a:latin typeface="Aptos Display"/>
                <a:ea typeface="Aptos Display"/>
                <a:cs typeface="Aptos Display"/>
              </a:rPr>
              <a:t>respuesta</a:t>
            </a:r>
            <a:r>
              <a:rPr sz="2600" b="1" u="none" dirty="0">
                <a:solidFill>
                  <a:srgbClr val="151327"/>
                </a:solidFill>
                <a:latin typeface="Aptos Display"/>
                <a:ea typeface="Aptos Display"/>
                <a:cs typeface="Aptos Display"/>
              </a:rPr>
              <a:t> o </a:t>
            </a:r>
            <a:r>
              <a:rPr sz="2600" b="1" u="none" dirty="0" err="1">
                <a:solidFill>
                  <a:srgbClr val="151327"/>
                </a:solidFill>
                <a:latin typeface="Aptos Display"/>
                <a:ea typeface="Aptos Display"/>
                <a:cs typeface="Aptos Display"/>
              </a:rPr>
              <a:t>límite</a:t>
            </a:r>
            <a:r>
              <a:rPr sz="2600" b="1" u="none" dirty="0">
                <a:solidFill>
                  <a:srgbClr val="151327"/>
                </a:solidFill>
                <a:latin typeface="Aptos Display"/>
                <a:ea typeface="Aptos Display"/>
                <a:cs typeface="Aptos Display"/>
              </a:rPr>
              <a:t>.</a:t>
            </a:r>
            <a:endParaRPr sz="2600" b="0" u="none" dirty="0">
              <a:solidFill>
                <a:srgbClr val="000000"/>
              </a:solidFill>
              <a:latin typeface="Arial"/>
              <a:ea typeface="Arial"/>
              <a:cs typeface="Arial"/>
            </a:endParaRPr>
          </a:p>
        </p:txBody>
      </p:sp>
      <p:sp>
        <p:nvSpPr>
          <p:cNvPr id="638" name="Text 3">
            <a:extLst>
              <a:ext uri="{FF2B5EF4-FFF2-40B4-BE49-F238E27FC236}">
                <a16:creationId xmlns:a16="http://schemas.microsoft.com/office/drawing/2014/main" id="{4042EA47-16DE-4A48-954E-C520CD2F38A3}"/>
              </a:ext>
            </a:extLst>
          </p:cNvPr>
          <p:cNvSpPr>
            <a:spLocks noGrp="1"/>
          </p:cNvSpPr>
          <p:nvPr/>
        </p:nvSpPr>
        <p:spPr>
          <a:xfrm>
            <a:off x="567000" y="1649075"/>
            <a:ext cx="10698120" cy="56451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b="0" u="none" dirty="0">
                <a:solidFill>
                  <a:srgbClr val="6F6888"/>
                </a:solidFill>
                <a:latin typeface="Aptos"/>
                <a:ea typeface="Aptos"/>
                <a:cs typeface="Aptos"/>
              </a:rPr>
              <a:t>El </a:t>
            </a:r>
            <a:r>
              <a:rPr b="0" u="none" dirty="0" err="1">
                <a:solidFill>
                  <a:srgbClr val="6F6888"/>
                </a:solidFill>
                <a:latin typeface="Aptos"/>
                <a:ea typeface="Aptos"/>
                <a:cs typeface="Aptos"/>
              </a:rPr>
              <a:t>gra</a:t>
            </a:r>
            <a:r>
              <a:rPr lang="es-MX" b="0" u="none" dirty="0">
                <a:solidFill>
                  <a:srgbClr val="6F6888"/>
                </a:solidFill>
                <a:latin typeface="Aptos"/>
                <a:ea typeface="Aptos"/>
                <a:cs typeface="Aptos"/>
              </a:rPr>
              <a:t>fo</a:t>
            </a:r>
            <a:r>
              <a:rPr b="0" u="none" dirty="0">
                <a:solidFill>
                  <a:srgbClr val="6F6888"/>
                </a:solidFill>
                <a:latin typeface="Aptos"/>
                <a:ea typeface="Aptos"/>
                <a:cs typeface="Aptos"/>
              </a:rPr>
              <a:t> del </a:t>
            </a:r>
            <a:r>
              <a:rPr b="0" u="none" dirty="0" err="1">
                <a:solidFill>
                  <a:srgbClr val="6F6888"/>
                </a:solidFill>
                <a:latin typeface="Aptos"/>
                <a:ea typeface="Aptos"/>
                <a:cs typeface="Aptos"/>
              </a:rPr>
              <a:t>turno</a:t>
            </a:r>
            <a:r>
              <a:rPr b="0" u="none" dirty="0">
                <a:solidFill>
                  <a:srgbClr val="6F6888"/>
                </a:solidFill>
                <a:latin typeface="Aptos"/>
                <a:ea typeface="Aptos"/>
                <a:cs typeface="Aptos"/>
              </a:rPr>
              <a:t> no es el Case lifecycle: uno dura </a:t>
            </a:r>
            <a:r>
              <a:rPr b="0" u="none" dirty="0" err="1">
                <a:solidFill>
                  <a:srgbClr val="6F6888"/>
                </a:solidFill>
                <a:latin typeface="Aptos"/>
                <a:ea typeface="Aptos"/>
                <a:cs typeface="Aptos"/>
              </a:rPr>
              <a:t>segundos</a:t>
            </a:r>
            <a:r>
              <a:rPr lang="es-MX" dirty="0">
                <a:solidFill>
                  <a:srgbClr val="6F6888"/>
                </a:solidFill>
                <a:latin typeface="Aptos"/>
                <a:ea typeface="Aptos"/>
                <a:cs typeface="Aptos"/>
              </a:rPr>
              <a:t>,</a:t>
            </a:r>
            <a:r>
              <a:rPr b="0" u="none" dirty="0">
                <a:solidFill>
                  <a:srgbClr val="6F6888"/>
                </a:solidFill>
                <a:latin typeface="Aptos"/>
                <a:ea typeface="Aptos"/>
                <a:cs typeface="Aptos"/>
              </a:rPr>
              <a:t> el </a:t>
            </a:r>
            <a:r>
              <a:rPr b="0" u="none" dirty="0" err="1">
                <a:solidFill>
                  <a:srgbClr val="6F6888"/>
                </a:solidFill>
                <a:latin typeface="Aptos"/>
                <a:ea typeface="Aptos"/>
                <a:cs typeface="Aptos"/>
              </a:rPr>
              <a:t>otro</a:t>
            </a:r>
            <a:r>
              <a:rPr b="0" u="none" dirty="0">
                <a:solidFill>
                  <a:srgbClr val="6F6888"/>
                </a:solidFill>
                <a:latin typeface="Aptos"/>
                <a:ea typeface="Aptos"/>
                <a:cs typeface="Aptos"/>
              </a:rPr>
              <a:t> </a:t>
            </a:r>
            <a:r>
              <a:rPr b="0" u="none" dirty="0" err="1">
                <a:solidFill>
                  <a:srgbClr val="6F6888"/>
                </a:solidFill>
                <a:latin typeface="Aptos"/>
                <a:ea typeface="Aptos"/>
                <a:cs typeface="Aptos"/>
              </a:rPr>
              <a:t>conserva</a:t>
            </a:r>
            <a:r>
              <a:rPr b="0" u="none" dirty="0">
                <a:solidFill>
                  <a:srgbClr val="6F6888"/>
                </a:solidFill>
                <a:latin typeface="Aptos"/>
                <a:ea typeface="Aptos"/>
                <a:cs typeface="Aptos"/>
              </a:rPr>
              <a:t> </a:t>
            </a:r>
            <a:r>
              <a:rPr b="0" u="none" dirty="0" err="1">
                <a:solidFill>
                  <a:srgbClr val="6F6888"/>
                </a:solidFill>
                <a:latin typeface="Aptos"/>
                <a:ea typeface="Aptos"/>
                <a:cs typeface="Aptos"/>
              </a:rPr>
              <a:t>responsabilidad</a:t>
            </a:r>
            <a:r>
              <a:rPr lang="es-ES" b="0" u="none" dirty="0">
                <a:solidFill>
                  <a:srgbClr val="6F6888"/>
                </a:solidFill>
                <a:latin typeface="Aptos"/>
                <a:ea typeface="Aptos"/>
                <a:cs typeface="Aptos"/>
              </a:rPr>
              <a:t> por el tiempo que sea necesario</a:t>
            </a:r>
            <a:r>
              <a:rPr b="0" u="none" dirty="0">
                <a:solidFill>
                  <a:srgbClr val="6F6888"/>
                </a:solidFill>
                <a:latin typeface="Aptos"/>
                <a:ea typeface="Aptos"/>
                <a:cs typeface="Aptos"/>
              </a:rPr>
              <a:t>.</a:t>
            </a:r>
            <a:endParaRPr b="0" u="none" dirty="0">
              <a:solidFill>
                <a:srgbClr val="000000"/>
              </a:solidFill>
              <a:latin typeface="Arial"/>
              <a:ea typeface="Arial"/>
              <a:cs typeface="Arial"/>
            </a:endParaRPr>
          </a:p>
        </p:txBody>
      </p:sp>
      <p:sp>
        <p:nvSpPr>
          <p:cNvPr id="640" name="Text 5">
            <a:extLst>
              <a:ext uri="{FF2B5EF4-FFF2-40B4-BE49-F238E27FC236}">
                <a16:creationId xmlns:a16="http://schemas.microsoft.com/office/drawing/2014/main" id="{71EEBA0C-6625-4B78-9AA1-1C627BEE1115}"/>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641" name="Text 6">
            <a:extLst>
              <a:ext uri="{FF2B5EF4-FFF2-40B4-BE49-F238E27FC236}">
                <a16:creationId xmlns:a16="http://schemas.microsoft.com/office/drawing/2014/main" id="{CE3EE3EE-0098-404D-8978-5893FCC08782}"/>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642" name="Text 7">
            <a:extLst>
              <a:ext uri="{FF2B5EF4-FFF2-40B4-BE49-F238E27FC236}">
                <a16:creationId xmlns:a16="http://schemas.microsoft.com/office/drawing/2014/main" id="{ADA63A47-13B1-42C4-8EE0-76B5F1619E3E}"/>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3</a:t>
            </a:r>
            <a:endParaRPr sz="800" b="0" u="none">
              <a:solidFill>
                <a:srgbClr val="000000"/>
              </a:solidFill>
              <a:latin typeface="Arial"/>
              <a:ea typeface="Arial"/>
              <a:cs typeface="Arial"/>
            </a:endParaRPr>
          </a:p>
        </p:txBody>
      </p:sp>
      <p:sp>
        <p:nvSpPr>
          <p:cNvPr id="643" name="Shape 8">
            <a:extLst>
              <a:ext uri="{FF2B5EF4-FFF2-40B4-BE49-F238E27FC236}">
                <a16:creationId xmlns:a16="http://schemas.microsoft.com/office/drawing/2014/main" id="{12D6034E-F669-430F-B740-CE69B0B5AF8F}"/>
              </a:ext>
            </a:extLst>
          </p:cNvPr>
          <p:cNvSpPr>
            <a:spLocks noGrp="1"/>
          </p:cNvSpPr>
          <p:nvPr/>
        </p:nvSpPr>
        <p:spPr>
          <a:xfrm>
            <a:off x="682247" y="2564506"/>
            <a:ext cx="502560" cy="50256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4" name="Text 9">
            <a:extLst>
              <a:ext uri="{FF2B5EF4-FFF2-40B4-BE49-F238E27FC236}">
                <a16:creationId xmlns:a16="http://schemas.microsoft.com/office/drawing/2014/main" id="{23DE94D4-7EF1-47E1-BD23-51001D3CB0D1}"/>
              </a:ext>
            </a:extLst>
          </p:cNvPr>
          <p:cNvSpPr>
            <a:spLocks noGrp="1"/>
          </p:cNvSpPr>
          <p:nvPr/>
        </p:nvSpPr>
        <p:spPr>
          <a:xfrm>
            <a:off x="682247" y="2683306"/>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1</a:t>
            </a:r>
            <a:endParaRPr sz="1600" b="0" u="none">
              <a:solidFill>
                <a:srgbClr val="000000"/>
              </a:solidFill>
              <a:latin typeface="Arial"/>
              <a:ea typeface="Arial"/>
              <a:cs typeface="Arial"/>
            </a:endParaRPr>
          </a:p>
        </p:txBody>
      </p:sp>
      <p:sp>
        <p:nvSpPr>
          <p:cNvPr id="645" name="Shape 10">
            <a:extLst>
              <a:ext uri="{FF2B5EF4-FFF2-40B4-BE49-F238E27FC236}">
                <a16:creationId xmlns:a16="http://schemas.microsoft.com/office/drawing/2014/main" id="{B6E1A1F0-643D-4CB3-91D2-55BCB19BAE3A}"/>
              </a:ext>
            </a:extLst>
          </p:cNvPr>
          <p:cNvSpPr>
            <a:spLocks noGrp="1"/>
          </p:cNvSpPr>
          <p:nvPr/>
        </p:nvSpPr>
        <p:spPr>
          <a:xfrm>
            <a:off x="1305017" y="2473066"/>
            <a:ext cx="10142983" cy="8740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46" name="Text 11">
            <a:extLst>
              <a:ext uri="{FF2B5EF4-FFF2-40B4-BE49-F238E27FC236}">
                <a16:creationId xmlns:a16="http://schemas.microsoft.com/office/drawing/2014/main" id="{FB714849-831E-4414-A7C0-FA5B33752BAB}"/>
              </a:ext>
            </a:extLst>
          </p:cNvPr>
          <p:cNvSpPr>
            <a:spLocks noGrp="1"/>
          </p:cNvSpPr>
          <p:nvPr/>
        </p:nvSpPr>
        <p:spPr>
          <a:xfrm>
            <a:off x="1447060" y="2610225"/>
            <a:ext cx="9689900" cy="23644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dirty="0">
                <a:solidFill>
                  <a:srgbClr val="151327"/>
                </a:solidFill>
                <a:latin typeface="Aptos Display"/>
                <a:ea typeface="Aptos Display"/>
                <a:cs typeface="Aptos Display"/>
              </a:rPr>
              <a:t>1 · </a:t>
            </a:r>
            <a:r>
              <a:rPr sz="1600" b="1" u="none" dirty="0" err="1">
                <a:solidFill>
                  <a:srgbClr val="151327"/>
                </a:solidFill>
                <a:latin typeface="Aptos Display"/>
                <a:ea typeface="Aptos Display"/>
                <a:cs typeface="Aptos Display"/>
              </a:rPr>
              <a:t>Preparar</a:t>
            </a:r>
            <a:r>
              <a:rPr sz="1600" b="1" u="none" dirty="0">
                <a:solidFill>
                  <a:srgbClr val="151327"/>
                </a:solidFill>
                <a:latin typeface="Aptos Display"/>
                <a:ea typeface="Aptos Display"/>
                <a:cs typeface="Aptos Display"/>
              </a:rPr>
              <a:t> </a:t>
            </a:r>
            <a:r>
              <a:rPr sz="1600" b="1" u="none" dirty="0" err="1">
                <a:solidFill>
                  <a:srgbClr val="151327"/>
                </a:solidFill>
                <a:latin typeface="Aptos Display"/>
                <a:ea typeface="Aptos Display"/>
                <a:cs typeface="Aptos Display"/>
              </a:rPr>
              <a:t>contexto</a:t>
            </a:r>
            <a:r>
              <a:rPr lang="es-MX" sz="1600" b="1" u="none" dirty="0">
                <a:solidFill>
                  <a:srgbClr val="151327"/>
                </a:solidFill>
                <a:latin typeface="Aptos Display"/>
                <a:ea typeface="Aptos Display"/>
                <a:cs typeface="Aptos Display"/>
              </a:rPr>
              <a:t> adicional</a:t>
            </a:r>
            <a:endParaRPr sz="1600" b="0" u="none" dirty="0">
              <a:solidFill>
                <a:srgbClr val="000000"/>
              </a:solidFill>
              <a:latin typeface="Arial"/>
              <a:ea typeface="Arial"/>
              <a:cs typeface="Arial"/>
            </a:endParaRPr>
          </a:p>
        </p:txBody>
      </p:sp>
      <p:sp>
        <p:nvSpPr>
          <p:cNvPr id="647" name="Text 12">
            <a:extLst>
              <a:ext uri="{FF2B5EF4-FFF2-40B4-BE49-F238E27FC236}">
                <a16:creationId xmlns:a16="http://schemas.microsoft.com/office/drawing/2014/main" id="{BAC24C04-E92C-4CF9-9793-4F4548B9E311}"/>
              </a:ext>
            </a:extLst>
          </p:cNvPr>
          <p:cNvSpPr>
            <a:spLocks noGrp="1"/>
          </p:cNvSpPr>
          <p:nvPr/>
        </p:nvSpPr>
        <p:spPr>
          <a:xfrm>
            <a:off x="1496217" y="2893689"/>
            <a:ext cx="9841983" cy="32637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1" u="none" dirty="0" err="1">
                <a:solidFill>
                  <a:srgbClr val="6F6888"/>
                </a:solidFill>
                <a:latin typeface="Aptos"/>
                <a:ea typeface="Aptos"/>
                <a:cs typeface="Aptos"/>
              </a:rPr>
              <a:t>memory_injection</a:t>
            </a:r>
            <a:r>
              <a:rPr sz="1600" b="1" u="none" dirty="0">
                <a:solidFill>
                  <a:srgbClr val="6F6888"/>
                </a:solidFill>
                <a:latin typeface="Aptos"/>
                <a:ea typeface="Aptos"/>
                <a:cs typeface="Aptos"/>
              </a:rPr>
              <a:t> </a:t>
            </a:r>
            <a:r>
              <a:rPr sz="1600" b="0" u="none" dirty="0" err="1">
                <a:solidFill>
                  <a:srgbClr val="6F6888"/>
                </a:solidFill>
                <a:latin typeface="Aptos"/>
                <a:ea typeface="Aptos"/>
                <a:cs typeface="Aptos"/>
              </a:rPr>
              <a:t>recupera</a:t>
            </a:r>
            <a:r>
              <a:rPr sz="1600" b="0" u="none" dirty="0">
                <a:solidFill>
                  <a:srgbClr val="6F6888"/>
                </a:solidFill>
                <a:latin typeface="Aptos"/>
                <a:ea typeface="Aptos"/>
                <a:cs typeface="Aptos"/>
              </a:rPr>
              <a:t> </a:t>
            </a:r>
            <a:r>
              <a:rPr lang="es-MX" sz="1600" b="0" u="none" dirty="0">
                <a:solidFill>
                  <a:srgbClr val="6F6888"/>
                </a:solidFill>
                <a:latin typeface="Aptos"/>
                <a:ea typeface="Aptos"/>
                <a:cs typeface="Aptos"/>
              </a:rPr>
              <a:t>e inyecta recuerdos personales relevantes</a:t>
            </a:r>
            <a:r>
              <a:rPr sz="1600" b="0" u="none" dirty="0">
                <a:solidFill>
                  <a:srgbClr val="6F6888"/>
                </a:solidFill>
                <a:latin typeface="Aptos"/>
                <a:ea typeface="Aptos"/>
                <a:cs typeface="Aptos"/>
              </a:rPr>
              <a:t>; </a:t>
            </a:r>
            <a:r>
              <a:rPr sz="1600" b="1" u="none" dirty="0">
                <a:solidFill>
                  <a:srgbClr val="6F6888"/>
                </a:solidFill>
                <a:latin typeface="Aptos"/>
                <a:ea typeface="Aptos"/>
                <a:cs typeface="Aptos"/>
              </a:rPr>
              <a:t>compaction</a:t>
            </a:r>
            <a:r>
              <a:rPr sz="1600" b="0" u="none" dirty="0">
                <a:solidFill>
                  <a:srgbClr val="6F6888"/>
                </a:solidFill>
                <a:latin typeface="Aptos"/>
                <a:ea typeface="Aptos"/>
                <a:cs typeface="Aptos"/>
              </a:rPr>
              <a:t> </a:t>
            </a:r>
            <a:r>
              <a:rPr sz="1600" b="0" u="none" dirty="0" err="1">
                <a:solidFill>
                  <a:srgbClr val="6F6888"/>
                </a:solidFill>
                <a:latin typeface="Aptos"/>
                <a:ea typeface="Aptos"/>
                <a:cs typeface="Aptos"/>
              </a:rPr>
              <a:t>controla</a:t>
            </a:r>
            <a:r>
              <a:rPr sz="1600" b="0" u="none" dirty="0">
                <a:solidFill>
                  <a:srgbClr val="6F6888"/>
                </a:solidFill>
                <a:latin typeface="Aptos"/>
                <a:ea typeface="Aptos"/>
                <a:cs typeface="Aptos"/>
              </a:rPr>
              <a:t> el context budget.</a:t>
            </a:r>
            <a:endParaRPr sz="1600" b="0" u="none" dirty="0">
              <a:solidFill>
                <a:srgbClr val="000000"/>
              </a:solidFill>
              <a:latin typeface="Arial"/>
              <a:ea typeface="Arial"/>
              <a:cs typeface="Arial"/>
            </a:endParaRPr>
          </a:p>
        </p:txBody>
      </p:sp>
      <p:sp>
        <p:nvSpPr>
          <p:cNvPr id="648" name="Shape 13">
            <a:extLst>
              <a:ext uri="{FF2B5EF4-FFF2-40B4-BE49-F238E27FC236}">
                <a16:creationId xmlns:a16="http://schemas.microsoft.com/office/drawing/2014/main" id="{8A45D319-DDF4-4CA6-B83C-A8E760C13EF3}"/>
              </a:ext>
            </a:extLst>
          </p:cNvPr>
          <p:cNvSpPr>
            <a:spLocks noGrp="1"/>
          </p:cNvSpPr>
          <p:nvPr/>
        </p:nvSpPr>
        <p:spPr>
          <a:xfrm>
            <a:off x="682247" y="3635476"/>
            <a:ext cx="502560" cy="50256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9" name="Text 14">
            <a:extLst>
              <a:ext uri="{FF2B5EF4-FFF2-40B4-BE49-F238E27FC236}">
                <a16:creationId xmlns:a16="http://schemas.microsoft.com/office/drawing/2014/main" id="{D7576710-1C3E-4618-B46A-CF4EB01DA9BC}"/>
              </a:ext>
            </a:extLst>
          </p:cNvPr>
          <p:cNvSpPr>
            <a:spLocks noGrp="1"/>
          </p:cNvSpPr>
          <p:nvPr/>
        </p:nvSpPr>
        <p:spPr>
          <a:xfrm>
            <a:off x="682247" y="3754636"/>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2</a:t>
            </a:r>
            <a:endParaRPr sz="1600" b="0" u="none">
              <a:solidFill>
                <a:srgbClr val="000000"/>
              </a:solidFill>
              <a:latin typeface="Arial"/>
              <a:ea typeface="Arial"/>
              <a:cs typeface="Arial"/>
            </a:endParaRPr>
          </a:p>
        </p:txBody>
      </p:sp>
      <p:sp>
        <p:nvSpPr>
          <p:cNvPr id="650" name="Shape 15">
            <a:extLst>
              <a:ext uri="{FF2B5EF4-FFF2-40B4-BE49-F238E27FC236}">
                <a16:creationId xmlns:a16="http://schemas.microsoft.com/office/drawing/2014/main" id="{3316F20E-57CA-453A-AA64-97C6A8DBA74C}"/>
              </a:ext>
            </a:extLst>
          </p:cNvPr>
          <p:cNvSpPr>
            <a:spLocks noGrp="1"/>
          </p:cNvSpPr>
          <p:nvPr/>
        </p:nvSpPr>
        <p:spPr>
          <a:xfrm>
            <a:off x="1305017" y="3544036"/>
            <a:ext cx="10142983" cy="9838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1" name="Text 16">
            <a:extLst>
              <a:ext uri="{FF2B5EF4-FFF2-40B4-BE49-F238E27FC236}">
                <a16:creationId xmlns:a16="http://schemas.microsoft.com/office/drawing/2014/main" id="{B5CEC699-69E3-4A7B-806A-89B814E56356}"/>
              </a:ext>
            </a:extLst>
          </p:cNvPr>
          <p:cNvSpPr>
            <a:spLocks noGrp="1"/>
          </p:cNvSpPr>
          <p:nvPr/>
        </p:nvSpPr>
        <p:spPr>
          <a:xfrm>
            <a:off x="1496217" y="3635476"/>
            <a:ext cx="9640743" cy="26517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dirty="0">
                <a:solidFill>
                  <a:srgbClr val="151327"/>
                </a:solidFill>
                <a:latin typeface="Aptos Display"/>
                <a:ea typeface="Aptos Display"/>
                <a:cs typeface="Aptos Display"/>
              </a:rPr>
              <a:t>2 · </a:t>
            </a:r>
            <a:r>
              <a:rPr sz="1600" b="1" u="none" dirty="0" err="1">
                <a:solidFill>
                  <a:srgbClr val="151327"/>
                </a:solidFill>
                <a:latin typeface="Aptos Display"/>
                <a:ea typeface="Aptos Display"/>
                <a:cs typeface="Aptos Display"/>
              </a:rPr>
              <a:t>Razonar</a:t>
            </a:r>
            <a:r>
              <a:rPr sz="1600" b="1" u="none" dirty="0">
                <a:solidFill>
                  <a:srgbClr val="151327"/>
                </a:solidFill>
                <a:latin typeface="Aptos Display"/>
                <a:ea typeface="Aptos Display"/>
                <a:cs typeface="Aptos Display"/>
              </a:rPr>
              <a:t> y </a:t>
            </a:r>
            <a:r>
              <a:rPr sz="1600" b="1" u="none" dirty="0" err="1">
                <a:solidFill>
                  <a:srgbClr val="151327"/>
                </a:solidFill>
                <a:latin typeface="Aptos Display"/>
                <a:ea typeface="Aptos Display"/>
                <a:cs typeface="Aptos Display"/>
              </a:rPr>
              <a:t>actuar</a:t>
            </a:r>
            <a:endParaRPr sz="1600" b="0" u="none" dirty="0">
              <a:solidFill>
                <a:srgbClr val="000000"/>
              </a:solidFill>
              <a:latin typeface="Arial"/>
              <a:ea typeface="Arial"/>
              <a:cs typeface="Arial"/>
            </a:endParaRPr>
          </a:p>
        </p:txBody>
      </p:sp>
      <p:sp>
        <p:nvSpPr>
          <p:cNvPr id="652" name="Text 17">
            <a:extLst>
              <a:ext uri="{FF2B5EF4-FFF2-40B4-BE49-F238E27FC236}">
                <a16:creationId xmlns:a16="http://schemas.microsoft.com/office/drawing/2014/main" id="{13196C10-1A9F-4692-B12C-4D0017F73B7F}"/>
              </a:ext>
            </a:extLst>
          </p:cNvPr>
          <p:cNvSpPr>
            <a:spLocks noGrp="1"/>
          </p:cNvSpPr>
          <p:nvPr/>
        </p:nvSpPr>
        <p:spPr>
          <a:xfrm>
            <a:off x="1554515" y="3898723"/>
            <a:ext cx="9527725" cy="49772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lang="es-MX" sz="1600" b="0" u="none" dirty="0">
                <a:solidFill>
                  <a:srgbClr val="6F6888"/>
                </a:solidFill>
                <a:latin typeface="Aptos"/>
                <a:ea typeface="Aptos"/>
                <a:cs typeface="Aptos"/>
              </a:rPr>
              <a:t>El </a:t>
            </a:r>
            <a:r>
              <a:rPr lang="es-MX" sz="1600" b="1" u="none" dirty="0">
                <a:solidFill>
                  <a:srgbClr val="6F6888"/>
                </a:solidFill>
                <a:latin typeface="Aptos"/>
                <a:ea typeface="Aptos"/>
                <a:cs typeface="Aptos"/>
              </a:rPr>
              <a:t>agente con modelo (LLM) </a:t>
            </a:r>
            <a:r>
              <a:rPr sz="1600" b="0" u="none" dirty="0">
                <a:solidFill>
                  <a:srgbClr val="6F6888"/>
                </a:solidFill>
                <a:latin typeface="Aptos"/>
                <a:ea typeface="Aptos"/>
                <a:cs typeface="Aptos"/>
              </a:rPr>
              <a:t>decide; </a:t>
            </a:r>
            <a:r>
              <a:rPr sz="1600" b="1" u="none" dirty="0">
                <a:solidFill>
                  <a:srgbClr val="6F6888"/>
                </a:solidFill>
                <a:latin typeface="Aptos"/>
                <a:ea typeface="Aptos"/>
                <a:cs typeface="Aptos"/>
              </a:rPr>
              <a:t>tools</a:t>
            </a:r>
            <a:r>
              <a:rPr sz="1600" b="0" u="none" dirty="0">
                <a:solidFill>
                  <a:srgbClr val="6F6888"/>
                </a:solidFill>
                <a:latin typeface="Aptos"/>
                <a:ea typeface="Aptos"/>
                <a:cs typeface="Aptos"/>
              </a:rPr>
              <a:t> </a:t>
            </a:r>
            <a:r>
              <a:rPr sz="1600" b="0" u="none" dirty="0" err="1">
                <a:solidFill>
                  <a:srgbClr val="6F6888"/>
                </a:solidFill>
                <a:latin typeface="Aptos"/>
                <a:ea typeface="Aptos"/>
                <a:cs typeface="Aptos"/>
              </a:rPr>
              <a:t>ejecuta</a:t>
            </a:r>
            <a:r>
              <a:rPr sz="1600" b="0" u="none" dirty="0">
                <a:solidFill>
                  <a:srgbClr val="6F6888"/>
                </a:solidFill>
                <a:latin typeface="Aptos"/>
                <a:ea typeface="Aptos"/>
                <a:cs typeface="Aptos"/>
              </a:rPr>
              <a:t>, </a:t>
            </a:r>
            <a:r>
              <a:rPr sz="1600" b="0" u="none" dirty="0" err="1">
                <a:solidFill>
                  <a:srgbClr val="6F6888"/>
                </a:solidFill>
                <a:latin typeface="Aptos"/>
                <a:ea typeface="Aptos"/>
                <a:cs typeface="Aptos"/>
              </a:rPr>
              <a:t>deduplica</a:t>
            </a:r>
            <a:r>
              <a:rPr sz="1600" b="0" u="none" dirty="0">
                <a:solidFill>
                  <a:srgbClr val="6F6888"/>
                </a:solidFill>
                <a:latin typeface="Aptos"/>
                <a:ea typeface="Aptos"/>
                <a:cs typeface="Aptos"/>
              </a:rPr>
              <a:t>, </a:t>
            </a:r>
            <a:r>
              <a:rPr sz="1600" b="0" u="none" dirty="0" err="1">
                <a:solidFill>
                  <a:srgbClr val="6F6888"/>
                </a:solidFill>
                <a:latin typeface="Aptos"/>
                <a:ea typeface="Aptos"/>
                <a:cs typeface="Aptos"/>
              </a:rPr>
              <a:t>deniega</a:t>
            </a:r>
            <a:r>
              <a:rPr sz="1600" b="0" u="none" dirty="0">
                <a:solidFill>
                  <a:srgbClr val="6F6888"/>
                </a:solidFill>
                <a:latin typeface="Aptos"/>
                <a:ea typeface="Aptos"/>
                <a:cs typeface="Aptos"/>
              </a:rPr>
              <a:t> o </a:t>
            </a:r>
            <a:r>
              <a:rPr sz="1600" b="0" u="none" dirty="0" err="1">
                <a:solidFill>
                  <a:srgbClr val="6F6888"/>
                </a:solidFill>
                <a:latin typeface="Aptos"/>
                <a:ea typeface="Aptos"/>
                <a:cs typeface="Aptos"/>
              </a:rPr>
              <a:t>interrumpe</a:t>
            </a:r>
            <a:r>
              <a:rPr sz="1600" b="0" u="none" dirty="0">
                <a:solidFill>
                  <a:srgbClr val="6F6888"/>
                </a:solidFill>
                <a:latin typeface="Aptos"/>
                <a:ea typeface="Aptos"/>
                <a:cs typeface="Aptos"/>
              </a:rPr>
              <a:t> para HITL.</a:t>
            </a:r>
            <a:endParaRPr sz="1600" b="0" u="none" dirty="0">
              <a:solidFill>
                <a:srgbClr val="000000"/>
              </a:solidFill>
              <a:latin typeface="Arial"/>
              <a:ea typeface="Arial"/>
              <a:cs typeface="Arial"/>
            </a:endParaRPr>
          </a:p>
        </p:txBody>
      </p:sp>
      <p:sp>
        <p:nvSpPr>
          <p:cNvPr id="653" name="Shape 18">
            <a:extLst>
              <a:ext uri="{FF2B5EF4-FFF2-40B4-BE49-F238E27FC236}">
                <a16:creationId xmlns:a16="http://schemas.microsoft.com/office/drawing/2014/main" id="{0FC8D6BA-D3ED-47B8-A7D2-5146AB2D23EE}"/>
              </a:ext>
            </a:extLst>
          </p:cNvPr>
          <p:cNvSpPr>
            <a:spLocks noGrp="1"/>
          </p:cNvSpPr>
          <p:nvPr/>
        </p:nvSpPr>
        <p:spPr>
          <a:xfrm>
            <a:off x="682247" y="4806196"/>
            <a:ext cx="502560" cy="502560"/>
          </a:xfrm>
          <a:prstGeom prst="ellipse">
            <a:avLst/>
          </a:prstGeom>
          <a:solidFill>
            <a:srgbClr val="F39A2B"/>
          </a:solidFill>
          <a:ln w="12700">
            <a:solidFill>
              <a:srgbClr val="F39A2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4" name="Text 19">
            <a:extLst>
              <a:ext uri="{FF2B5EF4-FFF2-40B4-BE49-F238E27FC236}">
                <a16:creationId xmlns:a16="http://schemas.microsoft.com/office/drawing/2014/main" id="{4F61BFFD-984D-4A21-BD93-BD34B8ED8096}"/>
              </a:ext>
            </a:extLst>
          </p:cNvPr>
          <p:cNvSpPr>
            <a:spLocks noGrp="1"/>
          </p:cNvSpPr>
          <p:nvPr/>
        </p:nvSpPr>
        <p:spPr>
          <a:xfrm>
            <a:off x="682247" y="4924996"/>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3</a:t>
            </a:r>
            <a:endParaRPr sz="1600" b="0" u="none">
              <a:solidFill>
                <a:srgbClr val="000000"/>
              </a:solidFill>
              <a:latin typeface="Arial"/>
              <a:ea typeface="Arial"/>
              <a:cs typeface="Arial"/>
            </a:endParaRPr>
          </a:p>
        </p:txBody>
      </p:sp>
      <p:sp>
        <p:nvSpPr>
          <p:cNvPr id="655" name="Shape 20">
            <a:extLst>
              <a:ext uri="{FF2B5EF4-FFF2-40B4-BE49-F238E27FC236}">
                <a16:creationId xmlns:a16="http://schemas.microsoft.com/office/drawing/2014/main" id="{D654FDA2-D2EC-4A10-AF26-C70C8AFC9042}"/>
              </a:ext>
            </a:extLst>
          </p:cNvPr>
          <p:cNvSpPr>
            <a:spLocks noGrp="1"/>
          </p:cNvSpPr>
          <p:nvPr/>
        </p:nvSpPr>
        <p:spPr>
          <a:xfrm>
            <a:off x="1305017" y="4714755"/>
            <a:ext cx="10142983" cy="983867"/>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6" name="Text 21">
            <a:extLst>
              <a:ext uri="{FF2B5EF4-FFF2-40B4-BE49-F238E27FC236}">
                <a16:creationId xmlns:a16="http://schemas.microsoft.com/office/drawing/2014/main" id="{ED1153E9-3E03-42F4-8EB2-CCB63C127452}"/>
              </a:ext>
            </a:extLst>
          </p:cNvPr>
          <p:cNvSpPr>
            <a:spLocks noGrp="1"/>
          </p:cNvSpPr>
          <p:nvPr/>
        </p:nvSpPr>
        <p:spPr>
          <a:xfrm>
            <a:off x="1554515" y="4896468"/>
            <a:ext cx="9582445" cy="17490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dirty="0">
                <a:solidFill>
                  <a:srgbClr val="151327"/>
                </a:solidFill>
                <a:latin typeface="Aptos Display"/>
                <a:ea typeface="Aptos Display"/>
                <a:cs typeface="Aptos Display"/>
              </a:rPr>
              <a:t>3 · </a:t>
            </a:r>
            <a:r>
              <a:rPr sz="1600" b="1" u="none" dirty="0" err="1">
                <a:solidFill>
                  <a:srgbClr val="151327"/>
                </a:solidFill>
                <a:latin typeface="Aptos Display"/>
                <a:ea typeface="Aptos Display"/>
                <a:cs typeface="Aptos Display"/>
              </a:rPr>
              <a:t>Terminar</a:t>
            </a:r>
            <a:r>
              <a:rPr sz="1600" b="1" u="none" dirty="0">
                <a:solidFill>
                  <a:srgbClr val="151327"/>
                </a:solidFill>
                <a:latin typeface="Aptos Display"/>
                <a:ea typeface="Aptos Display"/>
                <a:cs typeface="Aptos Display"/>
              </a:rPr>
              <a:t> o </a:t>
            </a:r>
            <a:r>
              <a:rPr sz="1600" b="1" u="none" dirty="0" err="1">
                <a:solidFill>
                  <a:srgbClr val="151327"/>
                </a:solidFill>
                <a:latin typeface="Aptos Display"/>
                <a:ea typeface="Aptos Display"/>
                <a:cs typeface="Aptos Display"/>
              </a:rPr>
              <a:t>continuar</a:t>
            </a:r>
            <a:endParaRPr sz="1600" b="0" u="none" dirty="0">
              <a:solidFill>
                <a:srgbClr val="000000"/>
              </a:solidFill>
              <a:latin typeface="Arial"/>
              <a:ea typeface="Arial"/>
              <a:cs typeface="Arial"/>
            </a:endParaRPr>
          </a:p>
        </p:txBody>
      </p:sp>
      <p:sp>
        <p:nvSpPr>
          <p:cNvPr id="657" name="Text 22">
            <a:extLst>
              <a:ext uri="{FF2B5EF4-FFF2-40B4-BE49-F238E27FC236}">
                <a16:creationId xmlns:a16="http://schemas.microsoft.com/office/drawing/2014/main" id="{3E5A96B2-07AB-46B3-9B63-F790773C9791}"/>
              </a:ext>
            </a:extLst>
          </p:cNvPr>
          <p:cNvSpPr>
            <a:spLocks noGrp="1"/>
          </p:cNvSpPr>
          <p:nvPr/>
        </p:nvSpPr>
        <p:spPr>
          <a:xfrm>
            <a:off x="1612130" y="5238342"/>
            <a:ext cx="9470110" cy="36518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lang="es-MX" sz="1600" b="0" u="none" dirty="0">
                <a:solidFill>
                  <a:srgbClr val="6F6888"/>
                </a:solidFill>
                <a:latin typeface="Aptos"/>
                <a:ea typeface="Aptos"/>
                <a:cs typeface="Aptos"/>
              </a:rPr>
              <a:t>El </a:t>
            </a:r>
            <a:r>
              <a:rPr lang="es-MX" sz="1600" b="1" u="none" dirty="0">
                <a:solidFill>
                  <a:srgbClr val="6F6888"/>
                </a:solidFill>
                <a:latin typeface="Aptos"/>
                <a:ea typeface="Aptos"/>
                <a:cs typeface="Aptos"/>
              </a:rPr>
              <a:t>resultado de una t</a:t>
            </a:r>
            <a:r>
              <a:rPr sz="1600" b="1" u="none" dirty="0" err="1">
                <a:solidFill>
                  <a:srgbClr val="6F6888"/>
                </a:solidFill>
                <a:latin typeface="Aptos"/>
                <a:ea typeface="Aptos"/>
                <a:cs typeface="Aptos"/>
              </a:rPr>
              <a:t>ool</a:t>
            </a:r>
            <a:r>
              <a:rPr sz="1600" b="1" u="none" dirty="0">
                <a:solidFill>
                  <a:srgbClr val="6F6888"/>
                </a:solidFill>
                <a:latin typeface="Aptos"/>
                <a:ea typeface="Aptos"/>
                <a:cs typeface="Aptos"/>
              </a:rPr>
              <a:t> </a:t>
            </a:r>
            <a:r>
              <a:rPr sz="1600" b="0" u="none" dirty="0" err="1">
                <a:solidFill>
                  <a:srgbClr val="6F6888"/>
                </a:solidFill>
                <a:latin typeface="Aptos"/>
                <a:ea typeface="Aptos"/>
                <a:cs typeface="Aptos"/>
              </a:rPr>
              <a:t>vuelve</a:t>
            </a:r>
            <a:r>
              <a:rPr sz="1600" b="0" u="none" dirty="0">
                <a:solidFill>
                  <a:srgbClr val="6F6888"/>
                </a:solidFill>
                <a:latin typeface="Aptos"/>
                <a:ea typeface="Aptos"/>
                <a:cs typeface="Aptos"/>
              </a:rPr>
              <a:t> </a:t>
            </a:r>
            <a:r>
              <a:rPr sz="1600" b="0" u="none" dirty="0" err="1">
                <a:solidFill>
                  <a:srgbClr val="6F6888"/>
                </a:solidFill>
                <a:latin typeface="Aptos"/>
                <a:ea typeface="Aptos"/>
                <a:cs typeface="Aptos"/>
              </a:rPr>
              <a:t>por</a:t>
            </a:r>
            <a:r>
              <a:rPr sz="1600" b="0" u="none" dirty="0">
                <a:solidFill>
                  <a:srgbClr val="6F6888"/>
                </a:solidFill>
                <a:latin typeface="Aptos"/>
                <a:ea typeface="Aptos"/>
                <a:cs typeface="Aptos"/>
              </a:rPr>
              <a:t> compaction; sin tool call o al </a:t>
            </a:r>
            <a:r>
              <a:rPr sz="1600" b="0" u="none" dirty="0" err="1">
                <a:solidFill>
                  <a:srgbClr val="6F6888"/>
                </a:solidFill>
                <a:latin typeface="Aptos"/>
                <a:ea typeface="Aptos"/>
                <a:cs typeface="Aptos"/>
              </a:rPr>
              <a:t>límite</a:t>
            </a:r>
            <a:r>
              <a:rPr sz="1600" b="0" u="none" dirty="0">
                <a:solidFill>
                  <a:srgbClr val="6F6888"/>
                </a:solidFill>
                <a:latin typeface="Aptos"/>
                <a:ea typeface="Aptos"/>
                <a:cs typeface="Aptos"/>
              </a:rPr>
              <a:t> termina el run.</a:t>
            </a:r>
            <a:endParaRPr sz="1600" b="0" u="none" dirty="0">
              <a:solidFill>
                <a:srgbClr val="000000"/>
              </a:solidFill>
              <a:latin typeface="Arial"/>
              <a:ea typeface="Arial"/>
              <a:cs typeface="Arial"/>
            </a:endParaRPr>
          </a:p>
        </p:txBody>
      </p:sp>
      <p:sp>
        <p:nvSpPr>
          <p:cNvPr id="658" name="Shape 23">
            <a:extLst>
              <a:ext uri="{FF2B5EF4-FFF2-40B4-BE49-F238E27FC236}">
                <a16:creationId xmlns:a16="http://schemas.microsoft.com/office/drawing/2014/main" id="{F6668194-9FAE-481C-A98E-28238609DE8E}"/>
              </a:ext>
            </a:extLst>
          </p:cNvPr>
          <p:cNvSpPr>
            <a:spLocks noGrp="1"/>
          </p:cNvSpPr>
          <p:nvPr/>
        </p:nvSpPr>
        <p:spPr>
          <a:xfrm>
            <a:off x="868680" y="5884537"/>
            <a:ext cx="10725480" cy="616121"/>
          </a:xfrm>
          <a:prstGeom prst="roundRect">
            <a:avLst>
              <a:gd name="adj" fmla="val 15385"/>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659" name="Text 24">
            <a:extLst>
              <a:ext uri="{FF2B5EF4-FFF2-40B4-BE49-F238E27FC236}">
                <a16:creationId xmlns:a16="http://schemas.microsoft.com/office/drawing/2014/main" id="{5F78741C-658D-4901-9569-67A1323FFA9D}"/>
              </a:ext>
            </a:extLst>
          </p:cNvPr>
          <p:cNvSpPr>
            <a:spLocks noGrp="1"/>
          </p:cNvSpPr>
          <p:nvPr/>
        </p:nvSpPr>
        <p:spPr>
          <a:xfrm>
            <a:off x="1007918" y="5995115"/>
            <a:ext cx="10440082" cy="4429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lang="es-MX" sz="1400" b="1" dirty="0">
                <a:solidFill>
                  <a:srgbClr val="FFFFFF"/>
                </a:solidFill>
                <a:latin typeface="Aptos"/>
                <a:ea typeface="Aptos"/>
                <a:cs typeface="Aptos"/>
              </a:rPr>
              <a:t>agente</a:t>
            </a:r>
            <a:r>
              <a:rPr lang="es-MX" sz="1400" b="1" u="none" dirty="0">
                <a:solidFill>
                  <a:srgbClr val="FFFFFF"/>
                </a:solidFill>
                <a:latin typeface="Aptos"/>
                <a:ea typeface="Aptos"/>
                <a:cs typeface="Aptos"/>
              </a:rPr>
              <a:t> </a:t>
            </a:r>
            <a:r>
              <a:rPr sz="1400" b="1" u="none" dirty="0">
                <a:solidFill>
                  <a:srgbClr val="FFFFFF"/>
                </a:solidFill>
                <a:latin typeface="Aptos"/>
                <a:ea typeface="Aptos"/>
                <a:cs typeface="Aptos"/>
              </a:rPr>
              <a:t>→ tools → compaction → agent</a:t>
            </a:r>
            <a:r>
              <a:rPr lang="es-MX" sz="1400" b="1" u="none" dirty="0">
                <a:solidFill>
                  <a:srgbClr val="FFFFFF"/>
                </a:solidFill>
                <a:latin typeface="Aptos"/>
                <a:ea typeface="Aptos"/>
                <a:cs typeface="Aptos"/>
              </a:rPr>
              <a:t>e</a:t>
            </a:r>
          </a:p>
          <a:p>
            <a:pPr algn="ctr" defTabSz="914400">
              <a:lnSpc>
                <a:spcPct val="100000"/>
              </a:lnSpc>
              <a:buNone/>
              <a:tabLst>
                <a:tab pos="0" algn="l"/>
              </a:tabLst>
            </a:pPr>
            <a:r>
              <a:rPr lang="es-ES" sz="1400" b="1" u="none" dirty="0">
                <a:solidFill>
                  <a:srgbClr val="FFFFFF"/>
                </a:solidFill>
                <a:latin typeface="Aptos"/>
                <a:ea typeface="Aptos"/>
                <a:cs typeface="Aptos"/>
              </a:rPr>
              <a:t>El modelo decide responder o solicitar </a:t>
            </a:r>
            <a:r>
              <a:rPr lang="es-ES" sz="1400" b="1" u="none" dirty="0" err="1">
                <a:solidFill>
                  <a:srgbClr val="FFFFFF"/>
                </a:solidFill>
                <a:latin typeface="Aptos"/>
                <a:ea typeface="Aptos"/>
                <a:cs typeface="Aptos"/>
              </a:rPr>
              <a:t>tools</a:t>
            </a:r>
            <a:r>
              <a:rPr lang="es-ES" sz="1400" b="1" u="none" dirty="0">
                <a:solidFill>
                  <a:srgbClr val="FFFFFF"/>
                </a:solidFill>
                <a:latin typeface="Aptos"/>
                <a:ea typeface="Aptos"/>
                <a:cs typeface="Aptos"/>
              </a:rPr>
              <a:t>; el </a:t>
            </a:r>
            <a:r>
              <a:rPr lang="es-ES" sz="1400" b="1" u="none" dirty="0" err="1">
                <a:solidFill>
                  <a:srgbClr val="FFFFFF"/>
                </a:solidFill>
                <a:latin typeface="Aptos"/>
                <a:ea typeface="Aptos"/>
                <a:cs typeface="Aptos"/>
              </a:rPr>
              <a:t>runtime</a:t>
            </a:r>
            <a:r>
              <a:rPr lang="es-ES" sz="1400" b="1" u="none" dirty="0">
                <a:solidFill>
                  <a:srgbClr val="FFFFFF"/>
                </a:solidFill>
                <a:latin typeface="Aptos"/>
                <a:ea typeface="Aptos"/>
                <a:cs typeface="Aptos"/>
              </a:rPr>
              <a:t> impone controles y límites</a:t>
            </a:r>
            <a:endParaRPr sz="1400" b="1" u="none" dirty="0">
              <a:solidFill>
                <a:srgbClr val="FFFFFF"/>
              </a:solidFill>
              <a:latin typeface="Aptos"/>
              <a:ea typeface="Aptos"/>
              <a:cs typeface="Aptos"/>
            </a:endParaRPr>
          </a:p>
        </p:txBody>
      </p:sp>
      <p:pic>
        <p:nvPicPr>
          <p:cNvPr id="685"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188071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ángulo 66">
            <a:extLst>
              <a:ext uri="{FF2B5EF4-FFF2-40B4-BE49-F238E27FC236}">
                <a16:creationId xmlns:a16="http://schemas.microsoft.com/office/drawing/2014/main" id="{F842B6AD-D23A-4DDB-9C98-0C4BC8E961FC}"/>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052CC926-D6A9-443B-8D4C-B8957DC9F004}"/>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RUNTIME ACTUAL</a:t>
            </a:r>
          </a:p>
        </p:txBody>
      </p:sp>
      <p:sp>
        <p:nvSpPr>
          <p:cNvPr id="3" name="Rectángulo 2">
            <a:extLst>
              <a:ext uri="{FF2B5EF4-FFF2-40B4-BE49-F238E27FC236}">
                <a16:creationId xmlns:a16="http://schemas.microsoft.com/office/drawing/2014/main" id="{4C913BD3-8984-4FC1-A7DE-268F93DB4C4C}"/>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StateGraph actual del loop agente–tools</a:t>
            </a:r>
          </a:p>
        </p:txBody>
      </p:sp>
      <p:sp>
        <p:nvSpPr>
          <p:cNvPr id="4" name="Rectángulo 3">
            <a:extLst>
              <a:ext uri="{FF2B5EF4-FFF2-40B4-BE49-F238E27FC236}">
                <a16:creationId xmlns:a16="http://schemas.microsoft.com/office/drawing/2014/main" id="{A8D06899-B88F-4B37-B923-487234BDA311}"/>
              </a:ext>
            </a:extLst>
          </p:cNvPr>
          <p:cNvSpPr>
            <a:spLocks noGrp="1"/>
          </p:cNvSpPr>
          <p:nvPr/>
        </p:nvSpPr>
        <p:spPr>
          <a:xfrm>
            <a:off x="571499" y="1250676"/>
            <a:ext cx="10363199" cy="523875"/>
          </a:xfrm>
          <a:prstGeom prst="rect">
            <a:avLst/>
          </a:prstGeom>
          <a:noFill/>
          <a:ln w="0">
            <a:noFill/>
          </a:ln>
        </p:spPr>
        <p:txBody>
          <a:bodyPr anchor="t">
            <a:normAutofit/>
          </a:bodyPr>
          <a:lstStyle/>
          <a:p>
            <a:pPr>
              <a:defRPr sz="1275" b="0" i="0">
                <a:solidFill>
                  <a:srgbClr val="756F91"/>
                </a:solidFill>
                <a:latin typeface="Aptos"/>
                <a:ea typeface="Aptos"/>
                <a:cs typeface="Aptos"/>
              </a:defRPr>
            </a:pPr>
            <a:r>
              <a:rPr lang="es-ES" sz="1400" b="0" i="0" dirty="0" err="1">
                <a:solidFill>
                  <a:srgbClr val="756F91"/>
                </a:solidFill>
                <a:latin typeface="Aptos"/>
                <a:ea typeface="Aptos"/>
                <a:cs typeface="Aptos"/>
              </a:rPr>
              <a:t>runAgent</a:t>
            </a:r>
            <a:r>
              <a:rPr lang="es-ES" sz="1400" b="0" i="0" dirty="0">
                <a:solidFill>
                  <a:srgbClr val="756F91"/>
                </a:solidFill>
                <a:latin typeface="Aptos"/>
                <a:ea typeface="Aptos"/>
                <a:cs typeface="Aptos"/>
              </a:rPr>
              <a:t> prepara la ejecución; el </a:t>
            </a:r>
            <a:r>
              <a:rPr lang="es-ES" sz="1400" b="0" i="0" dirty="0" err="1">
                <a:solidFill>
                  <a:srgbClr val="756F91"/>
                </a:solidFill>
                <a:latin typeface="Aptos"/>
                <a:ea typeface="Aptos"/>
                <a:cs typeface="Aptos"/>
              </a:rPr>
              <a:t>StateGraph</a:t>
            </a:r>
            <a:r>
              <a:rPr lang="es-ES" sz="1400" b="0" i="0" dirty="0">
                <a:solidFill>
                  <a:srgbClr val="756F91"/>
                </a:solidFill>
                <a:latin typeface="Aptos"/>
                <a:ea typeface="Aptos"/>
                <a:cs typeface="Aptos"/>
              </a:rPr>
              <a:t> inyecta memoria, controla el contexto y gobierna el </a:t>
            </a:r>
            <a:r>
              <a:rPr lang="es-ES" sz="1400" b="0" i="0" dirty="0" err="1">
                <a:solidFill>
                  <a:srgbClr val="756F91"/>
                </a:solidFill>
                <a:latin typeface="Aptos"/>
                <a:ea typeface="Aptos"/>
                <a:cs typeface="Aptos"/>
              </a:rPr>
              <a:t>loop</a:t>
            </a:r>
            <a:r>
              <a:rPr lang="es-ES" sz="1400" b="0" i="0" dirty="0">
                <a:solidFill>
                  <a:srgbClr val="756F91"/>
                </a:solidFill>
                <a:latin typeface="Aptos"/>
                <a:ea typeface="Aptos"/>
                <a:cs typeface="Aptos"/>
              </a:rPr>
              <a:t> modelo–</a:t>
            </a:r>
            <a:r>
              <a:rPr lang="es-ES" sz="1400" b="0" i="0" dirty="0" err="1">
                <a:solidFill>
                  <a:srgbClr val="756F91"/>
                </a:solidFill>
                <a:latin typeface="Aptos"/>
                <a:ea typeface="Aptos"/>
                <a:cs typeface="Aptos"/>
              </a:rPr>
              <a:t>tools</a:t>
            </a:r>
            <a:r>
              <a:rPr sz="1400" b="0" i="0" dirty="0">
                <a:solidFill>
                  <a:srgbClr val="756F91"/>
                </a:solidFill>
                <a:latin typeface="Aptos"/>
                <a:ea typeface="Aptos"/>
                <a:cs typeface="Aptos"/>
              </a:rPr>
              <a:t>.</a:t>
            </a:r>
          </a:p>
        </p:txBody>
      </p:sp>
      <p:pic>
        <p:nvPicPr>
          <p:cNvPr id="71" name="Imagen 70"/>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21694584-6D65-4A02-9309-47C9FA644E07}"/>
              </a:ext>
            </a:extLst>
          </p:cNvPr>
          <p:cNvSpPr>
            <a:spLocks noGrp="1"/>
          </p:cNvSpPr>
          <p:nvPr/>
        </p:nvSpPr>
        <p:spPr>
          <a:xfrm>
            <a:off x="1808922" y="352425"/>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D2879D8B-0C20-47E1-AADB-FEF4ABD60EBD}"/>
              </a:ext>
            </a:extLst>
          </p:cNvPr>
          <p:cNvSpPr>
            <a:spLocks noGrp="1"/>
          </p:cNvSpPr>
          <p:nvPr/>
        </p:nvSpPr>
        <p:spPr>
          <a:xfrm>
            <a:off x="1875597" y="381000"/>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CD320488-D750-478C-9D96-EE3C27953198}"/>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FEFEA127-DC2A-42CE-8F29-0FCD5CDA6C36}"/>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AEC05E5F-61F3-4648-AD8E-77F6DE182FB1}"/>
              </a:ext>
            </a:extLst>
          </p:cNvPr>
          <p:cNvSpPr>
            <a:spLocks noGrp="1"/>
          </p:cNvSpPr>
          <p:nvPr/>
        </p:nvSpPr>
        <p:spPr>
          <a:xfrm>
            <a:off x="428626" y="1851706"/>
            <a:ext cx="1539322" cy="1762125"/>
          </a:xfrm>
          <a:prstGeom prst="roundRect">
            <a:avLst>
              <a:gd name="adj" fmla="val 15000"/>
            </a:avLst>
          </a:prstGeom>
          <a:solidFill>
            <a:srgbClr val="E9E7EF"/>
          </a:solidFill>
          <a:ln w="9525">
            <a:solidFill>
              <a:srgbClr val="E9E7EF"/>
            </a:solidFill>
            <a:prstDash val="solid"/>
          </a:ln>
        </p:spPr>
        <p:txBody>
          <a:bodyPr/>
          <a:lstStyle/>
          <a:p>
            <a:endParaRPr lang="es-MX"/>
          </a:p>
        </p:txBody>
      </p:sp>
      <p:sp>
        <p:nvSpPr>
          <p:cNvPr id="11" name="Rectángulo 10">
            <a:extLst>
              <a:ext uri="{FF2B5EF4-FFF2-40B4-BE49-F238E27FC236}">
                <a16:creationId xmlns:a16="http://schemas.microsoft.com/office/drawing/2014/main" id="{B4273211-E890-4E66-9B23-9A98FDD48121}"/>
              </a:ext>
            </a:extLst>
          </p:cNvPr>
          <p:cNvSpPr>
            <a:spLocks noGrp="1"/>
          </p:cNvSpPr>
          <p:nvPr/>
        </p:nvSpPr>
        <p:spPr>
          <a:xfrm>
            <a:off x="438273" y="1988242"/>
            <a:ext cx="1539322" cy="588807"/>
          </a:xfrm>
          <a:prstGeom prst="rect">
            <a:avLst/>
          </a:prstGeom>
          <a:noFill/>
          <a:ln w="0">
            <a:noFill/>
          </a:ln>
        </p:spPr>
        <p:txBody>
          <a:bodyPr anchor="t">
            <a:noAutofit/>
          </a:bodyPr>
          <a:lstStyle/>
          <a:p>
            <a:pPr>
              <a:defRPr sz="1050" b="1" i="0">
                <a:solidFill>
                  <a:srgbClr val="211D31"/>
                </a:solidFill>
                <a:latin typeface="Aptos"/>
                <a:ea typeface="Aptos"/>
                <a:cs typeface="Aptos"/>
              </a:defRPr>
            </a:pPr>
            <a:r>
              <a:rPr lang="es-MX" sz="1100" b="1" i="0" dirty="0">
                <a:solidFill>
                  <a:srgbClr val="211D31"/>
                </a:solidFill>
                <a:latin typeface="Aptos"/>
                <a:ea typeface="Aptos"/>
                <a:cs typeface="Aptos"/>
              </a:rPr>
              <a:t>Entrada preparada para el STATEGRAPH por </a:t>
            </a:r>
            <a:r>
              <a:rPr lang="es-MX" sz="1100" b="1" i="0" dirty="0" err="1">
                <a:solidFill>
                  <a:srgbClr val="211D31"/>
                </a:solidFill>
                <a:latin typeface="Aptos"/>
                <a:ea typeface="Aptos"/>
                <a:cs typeface="Aptos"/>
              </a:rPr>
              <a:t>runAgent</a:t>
            </a:r>
            <a:endParaRPr sz="1100" b="1" i="0" dirty="0">
              <a:solidFill>
                <a:srgbClr val="211D31"/>
              </a:solidFill>
              <a:latin typeface="Aptos"/>
              <a:ea typeface="Aptos"/>
              <a:cs typeface="Aptos"/>
            </a:endParaRPr>
          </a:p>
        </p:txBody>
      </p:sp>
      <p:sp>
        <p:nvSpPr>
          <p:cNvPr id="12" name="Rectángulo 11">
            <a:extLst>
              <a:ext uri="{FF2B5EF4-FFF2-40B4-BE49-F238E27FC236}">
                <a16:creationId xmlns:a16="http://schemas.microsoft.com/office/drawing/2014/main" id="{4A33DFEA-3618-4D66-9888-DA6BC2416158}"/>
              </a:ext>
            </a:extLst>
          </p:cNvPr>
          <p:cNvSpPr>
            <a:spLocks noGrp="1"/>
          </p:cNvSpPr>
          <p:nvPr/>
        </p:nvSpPr>
        <p:spPr>
          <a:xfrm>
            <a:off x="438274" y="2594348"/>
            <a:ext cx="1529674" cy="357393"/>
          </a:xfrm>
          <a:prstGeom prst="rect">
            <a:avLst/>
          </a:prstGeom>
          <a:noFill/>
          <a:ln w="0">
            <a:noFill/>
          </a:ln>
        </p:spPr>
        <p:txBody>
          <a:bodyPr anchor="t">
            <a:noAutofit/>
          </a:bodyPr>
          <a:lstStyle/>
          <a:p>
            <a:pPr marL="171450" indent="-171450">
              <a:buFont typeface="Arial" panose="020B0604020202020204" pitchFamily="34" charset="0"/>
              <a:buChar char="•"/>
              <a:defRPr sz="900" b="0" i="0">
                <a:solidFill>
                  <a:srgbClr val="756F91"/>
                </a:solidFill>
                <a:latin typeface="Aptos"/>
                <a:ea typeface="Aptos"/>
                <a:cs typeface="Aptos"/>
              </a:defRPr>
            </a:pPr>
            <a:r>
              <a:rPr lang="es-MX" sz="900" b="0" i="0" dirty="0">
                <a:solidFill>
                  <a:srgbClr val="756F91"/>
                </a:solidFill>
                <a:latin typeface="Aptos"/>
                <a:ea typeface="Aptos"/>
                <a:cs typeface="Aptos"/>
              </a:rPr>
              <a:t>mensaje efectivo + historia reciente/corta</a:t>
            </a:r>
          </a:p>
          <a:p>
            <a:pPr marL="171450" indent="-171450">
              <a:buFont typeface="Arial" panose="020B0604020202020204" pitchFamily="34" charset="0"/>
              <a:buChar char="•"/>
              <a:defRPr sz="900" b="0" i="0">
                <a:solidFill>
                  <a:srgbClr val="756F91"/>
                </a:solidFill>
                <a:latin typeface="Aptos"/>
                <a:ea typeface="Aptos"/>
                <a:cs typeface="Aptos"/>
              </a:defRPr>
            </a:pPr>
            <a:r>
              <a:rPr lang="es-MX" sz="900" b="0" i="0" dirty="0" err="1">
                <a:solidFill>
                  <a:srgbClr val="756F91"/>
                </a:solidFill>
                <a:latin typeface="Aptos"/>
                <a:ea typeface="Aptos"/>
                <a:cs typeface="Aptos"/>
              </a:rPr>
              <a:t>system</a:t>
            </a:r>
            <a:r>
              <a:rPr lang="es-MX" sz="900" b="0" i="0" dirty="0">
                <a:solidFill>
                  <a:srgbClr val="756F91"/>
                </a:solidFill>
                <a:latin typeface="Aptos"/>
                <a:ea typeface="Aptos"/>
                <a:cs typeface="Aptos"/>
              </a:rPr>
              <a:t> </a:t>
            </a:r>
            <a:r>
              <a:rPr lang="es-MX" sz="900" b="0" i="0" dirty="0" err="1">
                <a:solidFill>
                  <a:srgbClr val="756F91"/>
                </a:solidFill>
                <a:latin typeface="Aptos"/>
                <a:ea typeface="Aptos"/>
                <a:cs typeface="Aptos"/>
              </a:rPr>
              <a:t>prompt</a:t>
            </a:r>
            <a:r>
              <a:rPr lang="es-MX" sz="900" b="0" i="0" dirty="0">
                <a:solidFill>
                  <a:srgbClr val="756F91"/>
                </a:solidFill>
                <a:latin typeface="Aptos"/>
                <a:ea typeface="Aptos"/>
                <a:cs typeface="Aptos"/>
              </a:rPr>
              <a:t> + Skill/contexto de </a:t>
            </a:r>
            <a:r>
              <a:rPr lang="es-MX" sz="900" b="0" i="0" dirty="0" err="1">
                <a:solidFill>
                  <a:srgbClr val="756F91"/>
                </a:solidFill>
                <a:latin typeface="Aptos"/>
                <a:ea typeface="Aptos"/>
                <a:cs typeface="Aptos"/>
              </a:rPr>
              <a:t>tenant</a:t>
            </a:r>
            <a:endParaRPr lang="es-MX" sz="900" b="0" i="0" dirty="0">
              <a:solidFill>
                <a:srgbClr val="756F91"/>
              </a:solidFill>
              <a:latin typeface="Aptos"/>
              <a:ea typeface="Aptos"/>
              <a:cs typeface="Aptos"/>
            </a:endParaRPr>
          </a:p>
          <a:p>
            <a:pPr marL="171450" indent="-171450">
              <a:buFont typeface="Arial" panose="020B0604020202020204" pitchFamily="34" charset="0"/>
              <a:buChar char="•"/>
              <a:defRPr sz="900" b="0" i="0">
                <a:solidFill>
                  <a:srgbClr val="756F91"/>
                </a:solidFill>
                <a:latin typeface="Aptos"/>
                <a:ea typeface="Aptos"/>
                <a:cs typeface="Aptos"/>
              </a:defRPr>
            </a:pPr>
            <a:r>
              <a:rPr lang="es-MX" sz="900" b="0" i="0" dirty="0" err="1">
                <a:solidFill>
                  <a:srgbClr val="756F91"/>
                </a:solidFill>
                <a:latin typeface="Aptos"/>
                <a:ea typeface="Aptos"/>
                <a:cs typeface="Aptos"/>
              </a:rPr>
              <a:t>tools</a:t>
            </a:r>
            <a:r>
              <a:rPr lang="es-MX" sz="900" b="0" i="0" dirty="0">
                <a:solidFill>
                  <a:srgbClr val="756F91"/>
                </a:solidFill>
                <a:latin typeface="Aptos"/>
                <a:ea typeface="Aptos"/>
                <a:cs typeface="Aptos"/>
              </a:rPr>
              <a:t>, </a:t>
            </a:r>
            <a:r>
              <a:rPr lang="es-MX" sz="900" b="0" i="0" dirty="0" err="1">
                <a:solidFill>
                  <a:srgbClr val="756F91"/>
                </a:solidFill>
                <a:latin typeface="Aptos"/>
                <a:ea typeface="Aptos"/>
                <a:cs typeface="Aptos"/>
              </a:rPr>
              <a:t>policy</a:t>
            </a:r>
            <a:r>
              <a:rPr lang="es-MX" sz="900" b="0" i="0" dirty="0">
                <a:solidFill>
                  <a:srgbClr val="756F91"/>
                </a:solidFill>
                <a:latin typeface="Aptos"/>
                <a:ea typeface="Aptos"/>
                <a:cs typeface="Aptos"/>
              </a:rPr>
              <a:t> y </a:t>
            </a:r>
            <a:r>
              <a:rPr lang="es-MX" sz="900" b="0" i="0" dirty="0" err="1">
                <a:solidFill>
                  <a:srgbClr val="756F91"/>
                </a:solidFill>
                <a:latin typeface="Aptos"/>
                <a:ea typeface="Aptos"/>
                <a:cs typeface="Aptos"/>
              </a:rPr>
              <a:t>checkpoint</a:t>
            </a:r>
            <a:endParaRPr sz="900" b="0" i="0" dirty="0">
              <a:solidFill>
                <a:srgbClr val="756F91"/>
              </a:solidFill>
              <a:latin typeface="Aptos"/>
              <a:ea typeface="Aptos"/>
              <a:cs typeface="Aptos"/>
            </a:endParaRPr>
          </a:p>
        </p:txBody>
      </p:sp>
      <p:sp>
        <p:nvSpPr>
          <p:cNvPr id="13" name="Rectángulo: esquinas redondeadas 12">
            <a:extLst>
              <a:ext uri="{FF2B5EF4-FFF2-40B4-BE49-F238E27FC236}">
                <a16:creationId xmlns:a16="http://schemas.microsoft.com/office/drawing/2014/main" id="{5BF428E9-8EAB-429C-857D-6D4E2B86223E}"/>
              </a:ext>
            </a:extLst>
          </p:cNvPr>
          <p:cNvSpPr>
            <a:spLocks noGrp="1"/>
          </p:cNvSpPr>
          <p:nvPr/>
        </p:nvSpPr>
        <p:spPr>
          <a:xfrm>
            <a:off x="2190750" y="2109168"/>
            <a:ext cx="1762125" cy="1238250"/>
          </a:xfrm>
          <a:prstGeom prst="roundRect">
            <a:avLst>
              <a:gd name="adj" fmla="val 9231"/>
            </a:avLst>
          </a:prstGeom>
          <a:solidFill>
            <a:srgbClr val="FFF0D7"/>
          </a:solidFill>
          <a:ln w="9525">
            <a:solidFill>
              <a:srgbClr val="F39A24"/>
            </a:solidFill>
            <a:prstDash val="solid"/>
          </a:ln>
        </p:spPr>
        <p:txBody>
          <a:bodyPr/>
          <a:lstStyle/>
          <a:p>
            <a:endParaRPr lang="es-MX"/>
          </a:p>
        </p:txBody>
      </p:sp>
      <p:sp>
        <p:nvSpPr>
          <p:cNvPr id="14" name="Rectángulo 13">
            <a:extLst>
              <a:ext uri="{FF2B5EF4-FFF2-40B4-BE49-F238E27FC236}">
                <a16:creationId xmlns:a16="http://schemas.microsoft.com/office/drawing/2014/main" id="{431444BE-352A-4D7C-9F89-4D4E4A1EA88E}"/>
              </a:ext>
            </a:extLst>
          </p:cNvPr>
          <p:cNvSpPr>
            <a:spLocks noGrp="1"/>
          </p:cNvSpPr>
          <p:nvPr/>
        </p:nvSpPr>
        <p:spPr>
          <a:xfrm>
            <a:off x="2324100" y="2232993"/>
            <a:ext cx="1495425" cy="285750"/>
          </a:xfrm>
          <a:prstGeom prst="rect">
            <a:avLst/>
          </a:prstGeom>
          <a:noFill/>
          <a:ln w="0">
            <a:noFill/>
          </a:ln>
        </p:spPr>
        <p:txBody>
          <a:bodyPr anchor="t">
            <a:normAutofit/>
          </a:bodyPr>
          <a:lstStyle/>
          <a:p>
            <a:pPr>
              <a:defRPr sz="1125" b="1" i="0">
                <a:solidFill>
                  <a:srgbClr val="F39A24"/>
                </a:solidFill>
                <a:latin typeface="Aptos"/>
                <a:ea typeface="Aptos"/>
                <a:cs typeface="Aptos"/>
              </a:defRPr>
            </a:pPr>
            <a:r>
              <a:rPr sz="1125" b="1" i="0" dirty="0" err="1">
                <a:solidFill>
                  <a:srgbClr val="F39A24"/>
                </a:solidFill>
                <a:latin typeface="Aptos"/>
                <a:ea typeface="Aptos"/>
                <a:cs typeface="Aptos"/>
              </a:rPr>
              <a:t>memory_injection</a:t>
            </a:r>
            <a:endParaRPr sz="1125" b="1" i="0" dirty="0">
              <a:solidFill>
                <a:srgbClr val="F39A24"/>
              </a:solidFill>
              <a:latin typeface="Aptos"/>
              <a:ea typeface="Aptos"/>
              <a:cs typeface="Aptos"/>
            </a:endParaRPr>
          </a:p>
        </p:txBody>
      </p:sp>
      <p:sp>
        <p:nvSpPr>
          <p:cNvPr id="15" name="Rectángulo 14">
            <a:extLst>
              <a:ext uri="{FF2B5EF4-FFF2-40B4-BE49-F238E27FC236}">
                <a16:creationId xmlns:a16="http://schemas.microsoft.com/office/drawing/2014/main" id="{4C388566-BC47-42D6-B701-F96BBF84CB8D}"/>
              </a:ext>
            </a:extLst>
          </p:cNvPr>
          <p:cNvSpPr>
            <a:spLocks noGrp="1"/>
          </p:cNvSpPr>
          <p:nvPr/>
        </p:nvSpPr>
        <p:spPr>
          <a:xfrm>
            <a:off x="2286000" y="2556843"/>
            <a:ext cx="1600199" cy="704850"/>
          </a:xfrm>
          <a:prstGeom prst="rect">
            <a:avLst/>
          </a:prstGeom>
          <a:noFill/>
          <a:ln w="0">
            <a:noFill/>
          </a:ln>
        </p:spPr>
        <p:txBody>
          <a:bodyPr anchor="t">
            <a:normAutofit fontScale="925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00" b="0" i="0" dirty="0">
                <a:solidFill>
                  <a:srgbClr val="756F91"/>
                </a:solidFill>
                <a:latin typeface="Aptos"/>
                <a:ea typeface="Aptos"/>
                <a:cs typeface="Aptos"/>
              </a:rPr>
              <a:t>Embedding + retrieval</a:t>
            </a:r>
          </a:p>
          <a:p>
            <a:pPr marL="171450" indent="-171450">
              <a:buFont typeface="Arial" panose="020B0604020202020204" pitchFamily="34" charset="0"/>
              <a:buChar char="•"/>
              <a:defRPr sz="975" b="0" i="0">
                <a:solidFill>
                  <a:srgbClr val="756F91"/>
                </a:solidFill>
                <a:latin typeface="Aptos"/>
                <a:ea typeface="Aptos"/>
                <a:cs typeface="Aptos"/>
              </a:defRPr>
            </a:pPr>
            <a:r>
              <a:rPr sz="900" b="0" i="0" dirty="0" err="1">
                <a:solidFill>
                  <a:srgbClr val="756F91"/>
                </a:solidFill>
                <a:latin typeface="Aptos"/>
                <a:ea typeface="Aptos"/>
                <a:cs typeface="Aptos"/>
              </a:rPr>
              <a:t>Señal</a:t>
            </a:r>
            <a:r>
              <a:rPr sz="900" b="0" i="0" dirty="0">
                <a:solidFill>
                  <a:srgbClr val="756F91"/>
                </a:solidFill>
                <a:latin typeface="Aptos"/>
                <a:ea typeface="Aptos"/>
                <a:cs typeface="Aptos"/>
              </a:rPr>
              <a:t> topic shift</a:t>
            </a:r>
          </a:p>
          <a:p>
            <a:pPr marL="171450" indent="-171450">
              <a:buFont typeface="Arial" panose="020B0604020202020204" pitchFamily="34" charset="0"/>
              <a:buChar char="•"/>
              <a:defRPr sz="975" b="0" i="0">
                <a:solidFill>
                  <a:srgbClr val="756F91"/>
                </a:solidFill>
                <a:latin typeface="Aptos"/>
                <a:ea typeface="Aptos"/>
                <a:cs typeface="Aptos"/>
              </a:defRPr>
            </a:pPr>
            <a:r>
              <a:rPr lang="es-MX" sz="900" b="0" i="0" dirty="0">
                <a:solidFill>
                  <a:srgbClr val="756F91"/>
                </a:solidFill>
                <a:latin typeface="Aptos"/>
                <a:ea typeface="Aptos"/>
                <a:cs typeface="Aptos"/>
              </a:rPr>
              <a:t>Bloque de memoria acotado en el </a:t>
            </a:r>
            <a:r>
              <a:rPr lang="es-MX" sz="900" b="0" i="0" dirty="0" err="1">
                <a:solidFill>
                  <a:srgbClr val="756F91"/>
                </a:solidFill>
                <a:latin typeface="Aptos"/>
                <a:ea typeface="Aptos"/>
                <a:cs typeface="Aptos"/>
              </a:rPr>
              <a:t>SystemMessage</a:t>
            </a:r>
            <a:endParaRPr sz="900" b="0" i="0" dirty="0">
              <a:solidFill>
                <a:srgbClr val="756F91"/>
              </a:solidFill>
              <a:latin typeface="Aptos"/>
              <a:ea typeface="Aptos"/>
              <a:cs typeface="Aptos"/>
            </a:endParaRPr>
          </a:p>
        </p:txBody>
      </p:sp>
      <p:sp>
        <p:nvSpPr>
          <p:cNvPr id="16" name="Rectángulo: esquinas redondeadas 15">
            <a:extLst>
              <a:ext uri="{FF2B5EF4-FFF2-40B4-BE49-F238E27FC236}">
                <a16:creationId xmlns:a16="http://schemas.microsoft.com/office/drawing/2014/main" id="{5E5D0B3A-772E-401D-B55A-E0D9D3C08198}"/>
              </a:ext>
            </a:extLst>
          </p:cNvPr>
          <p:cNvSpPr>
            <a:spLocks noGrp="1"/>
          </p:cNvSpPr>
          <p:nvPr/>
        </p:nvSpPr>
        <p:spPr>
          <a:xfrm>
            <a:off x="4333875" y="2109168"/>
            <a:ext cx="1714500" cy="1238250"/>
          </a:xfrm>
          <a:prstGeom prst="roundRect">
            <a:avLst>
              <a:gd name="adj" fmla="val 9231"/>
            </a:avLst>
          </a:prstGeom>
          <a:solidFill>
            <a:srgbClr val="FFF0D7"/>
          </a:solidFill>
          <a:ln w="9525">
            <a:solidFill>
              <a:srgbClr val="F39A24"/>
            </a:solidFill>
            <a:prstDash val="solid"/>
          </a:ln>
        </p:spPr>
        <p:txBody>
          <a:bodyPr/>
          <a:lstStyle/>
          <a:p>
            <a:endParaRPr lang="es-MX"/>
          </a:p>
        </p:txBody>
      </p:sp>
      <p:sp>
        <p:nvSpPr>
          <p:cNvPr id="17" name="Rectángulo 16">
            <a:extLst>
              <a:ext uri="{FF2B5EF4-FFF2-40B4-BE49-F238E27FC236}">
                <a16:creationId xmlns:a16="http://schemas.microsoft.com/office/drawing/2014/main" id="{87390189-A3C9-4C24-8155-C896954CF295}"/>
              </a:ext>
            </a:extLst>
          </p:cNvPr>
          <p:cNvSpPr>
            <a:spLocks noGrp="1"/>
          </p:cNvSpPr>
          <p:nvPr/>
        </p:nvSpPr>
        <p:spPr>
          <a:xfrm>
            <a:off x="4467225" y="2232993"/>
            <a:ext cx="1447800" cy="285750"/>
          </a:xfrm>
          <a:prstGeom prst="rect">
            <a:avLst/>
          </a:prstGeom>
          <a:noFill/>
          <a:ln w="0">
            <a:noFill/>
          </a:ln>
        </p:spPr>
        <p:txBody>
          <a:bodyPr anchor="t">
            <a:normAutofit/>
          </a:bodyPr>
          <a:lstStyle/>
          <a:p>
            <a:pPr>
              <a:defRPr sz="1125" b="1" i="0">
                <a:solidFill>
                  <a:srgbClr val="F39A24"/>
                </a:solidFill>
                <a:latin typeface="Aptos"/>
                <a:ea typeface="Aptos"/>
                <a:cs typeface="Aptos"/>
              </a:defRPr>
            </a:pPr>
            <a:r>
              <a:rPr sz="1125" b="1" i="0" dirty="0">
                <a:solidFill>
                  <a:srgbClr val="F39A24"/>
                </a:solidFill>
                <a:latin typeface="Aptos"/>
                <a:ea typeface="Aptos"/>
                <a:cs typeface="Aptos"/>
              </a:rPr>
              <a:t>compaction</a:t>
            </a:r>
          </a:p>
        </p:txBody>
      </p:sp>
      <p:sp>
        <p:nvSpPr>
          <p:cNvPr id="18" name="Rectángulo 17">
            <a:extLst>
              <a:ext uri="{FF2B5EF4-FFF2-40B4-BE49-F238E27FC236}">
                <a16:creationId xmlns:a16="http://schemas.microsoft.com/office/drawing/2014/main" id="{05EA5335-66C5-43A2-B84F-C83FBE248AC8}"/>
              </a:ext>
            </a:extLst>
          </p:cNvPr>
          <p:cNvSpPr>
            <a:spLocks noGrp="1"/>
          </p:cNvSpPr>
          <p:nvPr/>
        </p:nvSpPr>
        <p:spPr>
          <a:xfrm>
            <a:off x="4384735" y="2547965"/>
            <a:ext cx="1619249" cy="790574"/>
          </a:xfrm>
          <a:prstGeom prst="rect">
            <a:avLst/>
          </a:prstGeom>
          <a:noFill/>
          <a:ln w="0">
            <a:noFill/>
          </a:ln>
        </p:spPr>
        <p:txBody>
          <a:bodyPr anchor="t">
            <a:normAutofit fontScale="85000"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Evalúa</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microcompact</a:t>
            </a:r>
            <a:r>
              <a:rPr lang="es-MX" sz="975" b="0" i="0" dirty="0">
                <a:solidFill>
                  <a:srgbClr val="756F91"/>
                </a:solidFill>
                <a:latin typeface="Aptos"/>
                <a:ea typeface="Aptos"/>
                <a:cs typeface="Aptos"/>
              </a:rPr>
              <a:t>ar resultados antiguos de </a:t>
            </a:r>
            <a:r>
              <a:rPr lang="es-MX" sz="975" b="0" i="0" dirty="0" err="1">
                <a:solidFill>
                  <a:srgbClr val="756F91"/>
                </a:solidFill>
                <a:latin typeface="Aptos"/>
                <a:ea typeface="Aptos"/>
                <a:cs typeface="Aptos"/>
              </a:rPr>
              <a:t>tools</a:t>
            </a:r>
            <a:endParaRPr sz="975"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Conserva</a:t>
            </a:r>
            <a:r>
              <a:rPr sz="975" b="0" i="0" dirty="0">
                <a:solidFill>
                  <a:srgbClr val="756F91"/>
                </a:solidFill>
                <a:latin typeface="Aptos"/>
                <a:ea typeface="Aptos"/>
                <a:cs typeface="Aptos"/>
              </a:rPr>
              <a:t> 5 </a:t>
            </a:r>
            <a:r>
              <a:rPr sz="975" b="0" i="0" dirty="0" err="1">
                <a:solidFill>
                  <a:srgbClr val="756F91"/>
                </a:solidFill>
                <a:latin typeface="Aptos"/>
                <a:ea typeface="Aptos"/>
                <a:cs typeface="Aptos"/>
              </a:rPr>
              <a:t>resultados</a:t>
            </a:r>
            <a:endParaRPr sz="975"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lang="es-ES" sz="975" b="0" i="0" dirty="0">
                <a:solidFill>
                  <a:srgbClr val="756F91"/>
                </a:solidFill>
                <a:latin typeface="Aptos"/>
                <a:ea typeface="Aptos"/>
                <a:cs typeface="Aptos"/>
              </a:rPr>
              <a:t>Resume el historial cuando la ocupación estimada alcanza el umbral del 80%</a:t>
            </a:r>
            <a:endParaRPr sz="975" b="0" i="0" dirty="0">
              <a:solidFill>
                <a:srgbClr val="756F91"/>
              </a:solidFill>
              <a:latin typeface="Aptos"/>
              <a:ea typeface="Aptos"/>
              <a:cs typeface="Aptos"/>
            </a:endParaRPr>
          </a:p>
        </p:txBody>
      </p:sp>
      <p:sp>
        <p:nvSpPr>
          <p:cNvPr id="19" name="Rectángulo: esquinas redondeadas 18">
            <a:extLst>
              <a:ext uri="{FF2B5EF4-FFF2-40B4-BE49-F238E27FC236}">
                <a16:creationId xmlns:a16="http://schemas.microsoft.com/office/drawing/2014/main" id="{B21F9E26-A985-4CD2-8D2F-156AF8B4B62D}"/>
              </a:ext>
            </a:extLst>
          </p:cNvPr>
          <p:cNvSpPr>
            <a:spLocks noGrp="1"/>
          </p:cNvSpPr>
          <p:nvPr/>
        </p:nvSpPr>
        <p:spPr>
          <a:xfrm>
            <a:off x="6572250" y="2109168"/>
            <a:ext cx="1714500" cy="1238250"/>
          </a:xfrm>
          <a:prstGeom prst="roundRect">
            <a:avLst>
              <a:gd name="adj" fmla="val 9231"/>
            </a:avLst>
          </a:prstGeom>
          <a:solidFill>
            <a:srgbClr val="EEE8FF"/>
          </a:solidFill>
          <a:ln w="9525">
            <a:solidFill>
              <a:srgbClr val="5C2DD2"/>
            </a:solidFill>
            <a:prstDash val="solid"/>
          </a:ln>
        </p:spPr>
        <p:txBody>
          <a:bodyPr/>
          <a:lstStyle/>
          <a:p>
            <a:endParaRPr lang="es-MX"/>
          </a:p>
        </p:txBody>
      </p:sp>
      <p:sp>
        <p:nvSpPr>
          <p:cNvPr id="20" name="Rectángulo 19">
            <a:extLst>
              <a:ext uri="{FF2B5EF4-FFF2-40B4-BE49-F238E27FC236}">
                <a16:creationId xmlns:a16="http://schemas.microsoft.com/office/drawing/2014/main" id="{00EFC3C6-FDC3-451D-BCDB-26F031302046}"/>
              </a:ext>
            </a:extLst>
          </p:cNvPr>
          <p:cNvSpPr>
            <a:spLocks noGrp="1"/>
          </p:cNvSpPr>
          <p:nvPr/>
        </p:nvSpPr>
        <p:spPr>
          <a:xfrm>
            <a:off x="6652331" y="2232993"/>
            <a:ext cx="1634415" cy="381000"/>
          </a:xfrm>
          <a:prstGeom prst="rect">
            <a:avLst/>
          </a:prstGeom>
          <a:noFill/>
          <a:ln w="0">
            <a:noFill/>
          </a:ln>
        </p:spPr>
        <p:txBody>
          <a:bodyPr anchor="t">
            <a:normAutofit fontScale="92500" lnSpcReduction="20000"/>
          </a:bodyPr>
          <a:lstStyle/>
          <a:p>
            <a:pPr>
              <a:defRPr sz="1200" b="1" i="0">
                <a:solidFill>
                  <a:srgbClr val="5C2DD2"/>
                </a:solidFill>
                <a:latin typeface="Aptos"/>
                <a:ea typeface="Aptos"/>
                <a:cs typeface="Aptos"/>
              </a:defRPr>
            </a:pPr>
            <a:r>
              <a:rPr lang="es-MX" sz="1200" b="1" i="0" dirty="0">
                <a:solidFill>
                  <a:srgbClr val="5C2DD2"/>
                </a:solidFill>
                <a:latin typeface="Aptos"/>
                <a:ea typeface="Aptos"/>
                <a:cs typeface="Aptos"/>
              </a:rPr>
              <a:t>a</a:t>
            </a:r>
            <a:r>
              <a:rPr sz="1200" b="1" i="0" dirty="0">
                <a:solidFill>
                  <a:srgbClr val="5C2DD2"/>
                </a:solidFill>
                <a:latin typeface="Aptos"/>
                <a:ea typeface="Aptos"/>
                <a:cs typeface="Aptos"/>
              </a:rPr>
              <a:t>gent</a:t>
            </a:r>
            <a:r>
              <a:rPr lang="es-MX" sz="1200" b="1" i="0" dirty="0">
                <a:solidFill>
                  <a:srgbClr val="5C2DD2"/>
                </a:solidFill>
                <a:latin typeface="Aptos"/>
                <a:ea typeface="Aptos"/>
                <a:cs typeface="Aptos"/>
              </a:rPr>
              <a:t>e con modelo/LLM</a:t>
            </a:r>
            <a:endParaRPr sz="1200" b="1" i="0" dirty="0">
              <a:solidFill>
                <a:srgbClr val="5C2DD2"/>
              </a:solidFill>
              <a:latin typeface="Aptos"/>
              <a:ea typeface="Aptos"/>
              <a:cs typeface="Aptos"/>
            </a:endParaRPr>
          </a:p>
        </p:txBody>
      </p:sp>
      <p:sp>
        <p:nvSpPr>
          <p:cNvPr id="21" name="Rectángulo 20">
            <a:extLst>
              <a:ext uri="{FF2B5EF4-FFF2-40B4-BE49-F238E27FC236}">
                <a16:creationId xmlns:a16="http://schemas.microsoft.com/office/drawing/2014/main" id="{0A907FC0-4CFC-49A2-8AAA-0CF2B81BF171}"/>
              </a:ext>
            </a:extLst>
          </p:cNvPr>
          <p:cNvSpPr>
            <a:spLocks noGrp="1"/>
          </p:cNvSpPr>
          <p:nvPr/>
        </p:nvSpPr>
        <p:spPr>
          <a:xfrm>
            <a:off x="6705600" y="2556843"/>
            <a:ext cx="1447800" cy="704850"/>
          </a:xfrm>
          <a:prstGeom prst="rect">
            <a:avLst/>
          </a:prstGeom>
          <a:noFill/>
          <a:ln w="0">
            <a:noFill/>
          </a:ln>
        </p:spPr>
        <p:txBody>
          <a:bodyPr anchor="t">
            <a:normAutofit/>
          </a:bodyPr>
          <a:lstStyle/>
          <a:p>
            <a:pPr marL="171450" indent="-171450">
              <a:buFont typeface="Arial" panose="020B0604020202020204" pitchFamily="34" charset="0"/>
              <a:buChar char="•"/>
              <a:defRPr sz="1050" b="0" i="0">
                <a:solidFill>
                  <a:srgbClr val="756F91"/>
                </a:solidFill>
                <a:latin typeface="Aptos"/>
                <a:ea typeface="Aptos"/>
                <a:cs typeface="Aptos"/>
              </a:defRPr>
            </a:pPr>
            <a:r>
              <a:rPr sz="900" b="0" i="0" dirty="0" err="1">
                <a:solidFill>
                  <a:srgbClr val="756F91"/>
                </a:solidFill>
                <a:latin typeface="Aptos"/>
                <a:ea typeface="Aptos"/>
                <a:cs typeface="Aptos"/>
              </a:rPr>
              <a:t>Razonar</a:t>
            </a:r>
            <a:endParaRPr sz="9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900" b="0" i="0" dirty="0">
                <a:solidFill>
                  <a:srgbClr val="756F91"/>
                </a:solidFill>
                <a:latin typeface="Aptos"/>
                <a:ea typeface="Aptos"/>
                <a:cs typeface="Aptos"/>
              </a:rPr>
              <a:t>Responder</a:t>
            </a:r>
          </a:p>
          <a:p>
            <a:pPr marL="171450" indent="-171450">
              <a:buFont typeface="Arial" panose="020B0604020202020204" pitchFamily="34" charset="0"/>
              <a:buChar char="•"/>
              <a:defRPr sz="1050" b="0" i="0">
                <a:solidFill>
                  <a:srgbClr val="756F91"/>
                </a:solidFill>
                <a:latin typeface="Aptos"/>
                <a:ea typeface="Aptos"/>
                <a:cs typeface="Aptos"/>
              </a:defRPr>
            </a:pPr>
            <a:r>
              <a:rPr sz="900" b="0" i="0" dirty="0" err="1">
                <a:solidFill>
                  <a:srgbClr val="756F91"/>
                </a:solidFill>
                <a:latin typeface="Aptos"/>
                <a:ea typeface="Aptos"/>
                <a:cs typeface="Aptos"/>
              </a:rPr>
              <a:t>Solicitar</a:t>
            </a:r>
            <a:r>
              <a:rPr sz="900" b="0" i="0" dirty="0">
                <a:solidFill>
                  <a:srgbClr val="756F91"/>
                </a:solidFill>
                <a:latin typeface="Aptos"/>
                <a:ea typeface="Aptos"/>
                <a:cs typeface="Aptos"/>
              </a:rPr>
              <a:t> tool</a:t>
            </a:r>
          </a:p>
        </p:txBody>
      </p:sp>
      <p:sp>
        <p:nvSpPr>
          <p:cNvPr id="22" name="Rectángulo: esquinas redondeadas 21">
            <a:extLst>
              <a:ext uri="{FF2B5EF4-FFF2-40B4-BE49-F238E27FC236}">
                <a16:creationId xmlns:a16="http://schemas.microsoft.com/office/drawing/2014/main" id="{BB2D9740-74DD-4F14-A3FD-2C848B9C0121}"/>
              </a:ext>
            </a:extLst>
          </p:cNvPr>
          <p:cNvSpPr>
            <a:spLocks noGrp="1"/>
          </p:cNvSpPr>
          <p:nvPr/>
        </p:nvSpPr>
        <p:spPr>
          <a:xfrm>
            <a:off x="10048875" y="2347293"/>
            <a:ext cx="1428750" cy="762000"/>
          </a:xfrm>
          <a:prstGeom prst="roundRect">
            <a:avLst>
              <a:gd name="adj" fmla="val 15000"/>
            </a:avLst>
          </a:prstGeom>
          <a:solidFill>
            <a:srgbClr val="E9E7EF"/>
          </a:solidFill>
          <a:ln w="9525">
            <a:solidFill>
              <a:srgbClr val="E9E7EF"/>
            </a:solidFill>
            <a:prstDash val="solid"/>
          </a:ln>
        </p:spPr>
        <p:txBody>
          <a:bodyPr/>
          <a:lstStyle/>
          <a:p>
            <a:endParaRPr lang="es-MX"/>
          </a:p>
        </p:txBody>
      </p:sp>
      <p:sp>
        <p:nvSpPr>
          <p:cNvPr id="23" name="Rectángulo 22">
            <a:extLst>
              <a:ext uri="{FF2B5EF4-FFF2-40B4-BE49-F238E27FC236}">
                <a16:creationId xmlns:a16="http://schemas.microsoft.com/office/drawing/2014/main" id="{55786860-B40B-4558-808A-1D75BC4D30D1}"/>
              </a:ext>
            </a:extLst>
          </p:cNvPr>
          <p:cNvSpPr>
            <a:spLocks noGrp="1"/>
          </p:cNvSpPr>
          <p:nvPr/>
        </p:nvSpPr>
        <p:spPr>
          <a:xfrm>
            <a:off x="10182225" y="2471118"/>
            <a:ext cx="1162050" cy="285750"/>
          </a:xfrm>
          <a:prstGeom prst="rect">
            <a:avLst/>
          </a:prstGeom>
          <a:noFill/>
          <a:ln w="0">
            <a:noFill/>
          </a:ln>
        </p:spPr>
        <p:txBody>
          <a:bodyPr anchor="t">
            <a:normAutofit/>
          </a:bodyPr>
          <a:lstStyle/>
          <a:p>
            <a:pPr>
              <a:defRPr sz="1200" b="1" i="0">
                <a:solidFill>
                  <a:srgbClr val="211D31"/>
                </a:solidFill>
                <a:latin typeface="Aptos"/>
                <a:ea typeface="Aptos"/>
                <a:cs typeface="Aptos"/>
              </a:defRPr>
            </a:pPr>
            <a:r>
              <a:rPr sz="1200" b="1" i="0" dirty="0">
                <a:solidFill>
                  <a:srgbClr val="211D31"/>
                </a:solidFill>
                <a:latin typeface="Aptos"/>
                <a:ea typeface="Aptos"/>
                <a:cs typeface="Aptos"/>
              </a:rPr>
              <a:t>END</a:t>
            </a:r>
          </a:p>
        </p:txBody>
      </p:sp>
      <p:sp>
        <p:nvSpPr>
          <p:cNvPr id="24" name="Rectángulo 23">
            <a:extLst>
              <a:ext uri="{FF2B5EF4-FFF2-40B4-BE49-F238E27FC236}">
                <a16:creationId xmlns:a16="http://schemas.microsoft.com/office/drawing/2014/main" id="{E4518860-C401-4A75-B6B7-FF9F19BA29D5}"/>
              </a:ext>
            </a:extLst>
          </p:cNvPr>
          <p:cNvSpPr>
            <a:spLocks noGrp="1"/>
          </p:cNvSpPr>
          <p:nvPr/>
        </p:nvSpPr>
        <p:spPr>
          <a:xfrm>
            <a:off x="10182225" y="2794968"/>
            <a:ext cx="1162050" cy="228600"/>
          </a:xfrm>
          <a:prstGeom prst="rect">
            <a:avLst/>
          </a:prstGeom>
          <a:noFill/>
          <a:ln w="0">
            <a:noFill/>
          </a:ln>
        </p:spPr>
        <p:txBody>
          <a:bodyPr anchor="t">
            <a:noAutofit/>
          </a:bodyPr>
          <a:lstStyle/>
          <a:p>
            <a:pPr>
              <a:defRPr sz="900" b="0" i="0">
                <a:solidFill>
                  <a:srgbClr val="756F91"/>
                </a:solidFill>
                <a:latin typeface="Aptos"/>
                <a:ea typeface="Aptos"/>
                <a:cs typeface="Aptos"/>
              </a:defRPr>
            </a:pPr>
            <a:r>
              <a:rPr sz="900" b="0" i="0" dirty="0" err="1">
                <a:solidFill>
                  <a:srgbClr val="756F91"/>
                </a:solidFill>
                <a:latin typeface="Aptos"/>
                <a:ea typeface="Aptos"/>
                <a:cs typeface="Aptos"/>
              </a:rPr>
              <a:t>respuesta</a:t>
            </a:r>
            <a:r>
              <a:rPr sz="900" b="0" i="0" dirty="0">
                <a:solidFill>
                  <a:srgbClr val="756F91"/>
                </a:solidFill>
                <a:latin typeface="Aptos"/>
                <a:ea typeface="Aptos"/>
                <a:cs typeface="Aptos"/>
              </a:rPr>
              <a:t> o </a:t>
            </a:r>
            <a:r>
              <a:rPr sz="900" b="0" i="0" dirty="0" err="1">
                <a:solidFill>
                  <a:srgbClr val="756F91"/>
                </a:solidFill>
                <a:latin typeface="Aptos"/>
                <a:ea typeface="Aptos"/>
                <a:cs typeface="Aptos"/>
              </a:rPr>
              <a:t>límite</a:t>
            </a:r>
            <a:endParaRPr sz="900" b="0" i="0" dirty="0">
              <a:solidFill>
                <a:srgbClr val="756F91"/>
              </a:solidFill>
              <a:latin typeface="Aptos"/>
              <a:ea typeface="Aptos"/>
              <a:cs typeface="Aptos"/>
            </a:endParaRPr>
          </a:p>
        </p:txBody>
      </p:sp>
      <p:sp>
        <p:nvSpPr>
          <p:cNvPr id="25" name="Rectángulo: esquinas redondeadas 24">
            <a:extLst>
              <a:ext uri="{FF2B5EF4-FFF2-40B4-BE49-F238E27FC236}">
                <a16:creationId xmlns:a16="http://schemas.microsoft.com/office/drawing/2014/main" id="{27E61BC0-50C2-489A-A609-FDDC3CE9426C}"/>
              </a:ext>
            </a:extLst>
          </p:cNvPr>
          <p:cNvSpPr>
            <a:spLocks noGrp="1"/>
          </p:cNvSpPr>
          <p:nvPr/>
        </p:nvSpPr>
        <p:spPr>
          <a:xfrm>
            <a:off x="6403568" y="3871293"/>
            <a:ext cx="2047875" cy="1190625"/>
          </a:xfrm>
          <a:prstGeom prst="roundRect">
            <a:avLst>
              <a:gd name="adj" fmla="val 9600"/>
            </a:avLst>
          </a:prstGeom>
          <a:solidFill>
            <a:srgbClr val="E3F5ED"/>
          </a:solidFill>
          <a:ln w="9525">
            <a:solidFill>
              <a:srgbClr val="009566"/>
            </a:solidFill>
            <a:prstDash val="solid"/>
          </a:ln>
        </p:spPr>
        <p:txBody>
          <a:bodyPr/>
          <a:lstStyle/>
          <a:p>
            <a:endParaRPr lang="es-MX"/>
          </a:p>
        </p:txBody>
      </p:sp>
      <p:sp>
        <p:nvSpPr>
          <p:cNvPr id="26" name="Rectángulo 25">
            <a:extLst>
              <a:ext uri="{FF2B5EF4-FFF2-40B4-BE49-F238E27FC236}">
                <a16:creationId xmlns:a16="http://schemas.microsoft.com/office/drawing/2014/main" id="{6C1677DF-2C37-427A-88C1-35071DF94B4D}"/>
              </a:ext>
            </a:extLst>
          </p:cNvPr>
          <p:cNvSpPr>
            <a:spLocks noGrp="1"/>
          </p:cNvSpPr>
          <p:nvPr/>
        </p:nvSpPr>
        <p:spPr>
          <a:xfrm>
            <a:off x="6536918" y="3995118"/>
            <a:ext cx="1781175" cy="285750"/>
          </a:xfrm>
          <a:prstGeom prst="rect">
            <a:avLst/>
          </a:prstGeom>
          <a:noFill/>
          <a:ln w="0">
            <a:noFill/>
          </a:ln>
        </p:spPr>
        <p:txBody>
          <a:bodyPr anchor="t">
            <a:normAutofit/>
          </a:bodyPr>
          <a:lstStyle/>
          <a:p>
            <a:pPr>
              <a:defRPr sz="1200" b="1" i="0">
                <a:solidFill>
                  <a:srgbClr val="009566"/>
                </a:solidFill>
                <a:latin typeface="Aptos"/>
                <a:ea typeface="Aptos"/>
                <a:cs typeface="Aptos"/>
              </a:defRPr>
            </a:pPr>
            <a:r>
              <a:rPr sz="1200" b="1" i="0">
                <a:solidFill>
                  <a:srgbClr val="009566"/>
                </a:solidFill>
                <a:latin typeface="Aptos"/>
                <a:ea typeface="Aptos"/>
                <a:cs typeface="Aptos"/>
              </a:rPr>
              <a:t>tools</a:t>
            </a:r>
          </a:p>
        </p:txBody>
      </p:sp>
      <p:sp>
        <p:nvSpPr>
          <p:cNvPr id="27" name="Rectángulo 26">
            <a:extLst>
              <a:ext uri="{FF2B5EF4-FFF2-40B4-BE49-F238E27FC236}">
                <a16:creationId xmlns:a16="http://schemas.microsoft.com/office/drawing/2014/main" id="{745CE167-5084-48CB-84F3-24372427C14B}"/>
              </a:ext>
            </a:extLst>
          </p:cNvPr>
          <p:cNvSpPr>
            <a:spLocks noGrp="1"/>
          </p:cNvSpPr>
          <p:nvPr/>
        </p:nvSpPr>
        <p:spPr>
          <a:xfrm>
            <a:off x="6536918" y="4318968"/>
            <a:ext cx="1781175" cy="657225"/>
          </a:xfrm>
          <a:prstGeom prst="rect">
            <a:avLst/>
          </a:prstGeom>
          <a:noFill/>
          <a:ln w="0">
            <a:noFill/>
          </a:ln>
        </p:spPr>
        <p:txBody>
          <a:bodyPr anchor="t">
            <a:normAutofit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Resolver tool + policy</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HITL </a:t>
            </a:r>
            <a:r>
              <a:rPr sz="975" b="0" i="0" dirty="0" err="1">
                <a:solidFill>
                  <a:srgbClr val="756F91"/>
                </a:solidFill>
                <a:latin typeface="Aptos"/>
                <a:ea typeface="Aptos"/>
                <a:cs typeface="Aptos"/>
              </a:rPr>
              <a:t>cuando</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aplica</a:t>
            </a:r>
            <a:endParaRPr sz="975" b="0" i="0" dirty="0">
              <a:solidFill>
                <a:srgbClr val="756F91"/>
              </a:solidFill>
              <a:latin typeface="Aptos"/>
              <a:ea typeface="Aptos"/>
              <a:cs typeface="Aptos"/>
            </a:endParaRP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Ejecutar</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auditar</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normalizar</a:t>
            </a:r>
            <a:endParaRPr sz="975" b="0" i="0" dirty="0">
              <a:solidFill>
                <a:srgbClr val="756F91"/>
              </a:solidFill>
              <a:latin typeface="Aptos"/>
              <a:ea typeface="Aptos"/>
              <a:cs typeface="Aptos"/>
            </a:endParaRPr>
          </a:p>
        </p:txBody>
      </p:sp>
      <p:sp>
        <p:nvSpPr>
          <p:cNvPr id="28" name="Rectángulo: esquinas redondeadas 27">
            <a:extLst>
              <a:ext uri="{FF2B5EF4-FFF2-40B4-BE49-F238E27FC236}">
                <a16:creationId xmlns:a16="http://schemas.microsoft.com/office/drawing/2014/main" id="{D035886F-04EF-485C-995A-6C6FF5A5ED84}"/>
              </a:ext>
            </a:extLst>
          </p:cNvPr>
          <p:cNvSpPr>
            <a:spLocks noGrp="1"/>
          </p:cNvSpPr>
          <p:nvPr/>
        </p:nvSpPr>
        <p:spPr>
          <a:xfrm>
            <a:off x="9618591" y="3966543"/>
            <a:ext cx="1905000" cy="1000125"/>
          </a:xfrm>
          <a:prstGeom prst="roundRect">
            <a:avLst>
              <a:gd name="adj" fmla="val 11429"/>
            </a:avLst>
          </a:prstGeom>
          <a:solidFill>
            <a:srgbClr val="E7ECFB"/>
          </a:solidFill>
          <a:ln w="9525">
            <a:solidFill>
              <a:srgbClr val="4866C6"/>
            </a:solidFill>
            <a:prstDash val="solid"/>
          </a:ln>
        </p:spPr>
        <p:txBody>
          <a:bodyPr/>
          <a:lstStyle/>
          <a:p>
            <a:endParaRPr lang="es-MX"/>
          </a:p>
        </p:txBody>
      </p:sp>
      <p:sp>
        <p:nvSpPr>
          <p:cNvPr id="29" name="Rectángulo 28">
            <a:extLst>
              <a:ext uri="{FF2B5EF4-FFF2-40B4-BE49-F238E27FC236}">
                <a16:creationId xmlns:a16="http://schemas.microsoft.com/office/drawing/2014/main" id="{FC42B6E0-5AC8-405E-A4DA-DE7293030CF5}"/>
              </a:ext>
            </a:extLst>
          </p:cNvPr>
          <p:cNvSpPr>
            <a:spLocks noGrp="1"/>
          </p:cNvSpPr>
          <p:nvPr/>
        </p:nvSpPr>
        <p:spPr>
          <a:xfrm>
            <a:off x="9751941" y="4090368"/>
            <a:ext cx="1638300" cy="285750"/>
          </a:xfrm>
          <a:prstGeom prst="rect">
            <a:avLst/>
          </a:prstGeom>
          <a:noFill/>
          <a:ln w="0">
            <a:noFill/>
          </a:ln>
        </p:spPr>
        <p:txBody>
          <a:bodyPr anchor="t">
            <a:normAutofit/>
          </a:bodyPr>
          <a:lstStyle/>
          <a:p>
            <a:pPr>
              <a:defRPr sz="1125" b="1" i="0">
                <a:solidFill>
                  <a:srgbClr val="4866C6"/>
                </a:solidFill>
                <a:latin typeface="Aptos"/>
                <a:ea typeface="Aptos"/>
                <a:cs typeface="Aptos"/>
              </a:defRPr>
            </a:pPr>
            <a:r>
              <a:rPr sz="1125" b="1" i="0">
                <a:solidFill>
                  <a:srgbClr val="4866C6"/>
                </a:solidFill>
                <a:latin typeface="Aptos"/>
                <a:ea typeface="Aptos"/>
                <a:cs typeface="Aptos"/>
              </a:rPr>
              <a:t>PAUSA HITL</a:t>
            </a:r>
          </a:p>
        </p:txBody>
      </p:sp>
      <p:sp>
        <p:nvSpPr>
          <p:cNvPr id="30" name="Rectángulo 29">
            <a:extLst>
              <a:ext uri="{FF2B5EF4-FFF2-40B4-BE49-F238E27FC236}">
                <a16:creationId xmlns:a16="http://schemas.microsoft.com/office/drawing/2014/main" id="{50E82A2C-A2CA-4A56-B87F-BC5D2F524673}"/>
              </a:ext>
            </a:extLst>
          </p:cNvPr>
          <p:cNvSpPr>
            <a:spLocks noGrp="1"/>
          </p:cNvSpPr>
          <p:nvPr/>
        </p:nvSpPr>
        <p:spPr>
          <a:xfrm>
            <a:off x="9751941" y="4414218"/>
            <a:ext cx="1638300" cy="466725"/>
          </a:xfrm>
          <a:prstGeom prst="rect">
            <a:avLst/>
          </a:prstGeom>
          <a:noFill/>
          <a:ln w="0">
            <a:noFill/>
          </a:ln>
        </p:spPr>
        <p:txBody>
          <a:bodyPr anchor="t">
            <a:normAutofit fontScale="925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Confirmación</a:t>
            </a:r>
            <a:r>
              <a:rPr sz="975" b="0" i="0" dirty="0">
                <a:solidFill>
                  <a:srgbClr val="756F91"/>
                </a:solidFill>
                <a:latin typeface="Aptos"/>
                <a:ea typeface="Aptos"/>
                <a:cs typeface="Aptos"/>
              </a:rPr>
              <a:t> humana</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Resume con checkpoint</a:t>
            </a:r>
          </a:p>
        </p:txBody>
      </p:sp>
      <p:cxnSp>
        <p:nvCxnSpPr>
          <p:cNvPr id="97" name="Conector recto de flecha 96"/>
          <p:cNvCxnSpPr>
            <a:cxnSpLocks/>
            <a:stCxn id="10" idx="3"/>
            <a:endCxn id="13" idx="1"/>
          </p:cNvCxnSpPr>
          <p:nvPr/>
        </p:nvCxnSpPr>
        <p:spPr>
          <a:xfrm flipV="1">
            <a:off x="1967948" y="2728293"/>
            <a:ext cx="222802" cy="4476"/>
          </a:xfrm>
          <a:prstGeom prst="straightConnector1">
            <a:avLst/>
          </a:prstGeom>
          <a:ln w="19050">
            <a:solidFill>
              <a:srgbClr val="F39A24"/>
            </a:solidFill>
            <a:prstDash val="solid"/>
            <a:tailEnd type="arrow" w="med" len="med"/>
          </a:ln>
        </p:spPr>
      </p:cxnSp>
      <p:cxnSp>
        <p:nvCxnSpPr>
          <p:cNvPr id="98" name="Conector recto de flecha 97"/>
          <p:cNvCxnSpPr>
            <a:stCxn id="13" idx="3"/>
            <a:endCxn id="16" idx="1"/>
          </p:cNvCxnSpPr>
          <p:nvPr/>
        </p:nvCxnSpPr>
        <p:spPr>
          <a:xfrm>
            <a:off x="3952875" y="2728293"/>
            <a:ext cx="381000" cy="0"/>
          </a:xfrm>
          <a:prstGeom prst="straightConnector1">
            <a:avLst/>
          </a:prstGeom>
          <a:ln w="19050">
            <a:solidFill>
              <a:srgbClr val="F39A24"/>
            </a:solidFill>
            <a:prstDash val="solid"/>
            <a:tailEnd type="arrow" w="med" len="med"/>
          </a:ln>
        </p:spPr>
      </p:cxnSp>
      <p:cxnSp>
        <p:nvCxnSpPr>
          <p:cNvPr id="99" name="Conector recto de flecha 98"/>
          <p:cNvCxnSpPr>
            <a:stCxn id="16" idx="3"/>
            <a:endCxn id="19" idx="1"/>
          </p:cNvCxnSpPr>
          <p:nvPr/>
        </p:nvCxnSpPr>
        <p:spPr>
          <a:xfrm>
            <a:off x="6048375" y="2728293"/>
            <a:ext cx="523875" cy="0"/>
          </a:xfrm>
          <a:prstGeom prst="straightConnector1">
            <a:avLst/>
          </a:prstGeom>
          <a:ln w="19050">
            <a:solidFill>
              <a:srgbClr val="5C2DD2"/>
            </a:solidFill>
            <a:prstDash val="solid"/>
            <a:tailEnd type="arrow" w="med" len="med"/>
          </a:ln>
        </p:spPr>
      </p:cxnSp>
      <p:cxnSp>
        <p:nvCxnSpPr>
          <p:cNvPr id="100" name="Conector recto de flecha 99"/>
          <p:cNvCxnSpPr>
            <a:stCxn id="19" idx="3"/>
            <a:endCxn id="22" idx="1"/>
          </p:cNvCxnSpPr>
          <p:nvPr/>
        </p:nvCxnSpPr>
        <p:spPr>
          <a:xfrm>
            <a:off x="8286750" y="2728293"/>
            <a:ext cx="1762125" cy="0"/>
          </a:xfrm>
          <a:prstGeom prst="straightConnector1">
            <a:avLst/>
          </a:prstGeom>
          <a:ln w="19050">
            <a:solidFill>
              <a:srgbClr val="5C2DD2"/>
            </a:solidFill>
            <a:prstDash val="solid"/>
            <a:tailEnd type="arrow" w="med" len="med"/>
          </a:ln>
        </p:spPr>
      </p:cxnSp>
      <p:cxnSp>
        <p:nvCxnSpPr>
          <p:cNvPr id="101" name="Conector: angular 100"/>
          <p:cNvCxnSpPr>
            <a:stCxn id="19" idx="2"/>
            <a:endCxn id="25" idx="0"/>
          </p:cNvCxnSpPr>
          <p:nvPr/>
        </p:nvCxnSpPr>
        <p:spPr>
          <a:xfrm rot="5400000">
            <a:off x="7166566" y="3608358"/>
            <a:ext cx="523875" cy="1994"/>
          </a:xfrm>
          <a:prstGeom prst="bentConnector3">
            <a:avLst>
              <a:gd name="adj1" fmla="val 50000"/>
            </a:avLst>
          </a:prstGeom>
          <a:ln w="19050">
            <a:solidFill>
              <a:srgbClr val="5C2DD2"/>
            </a:solidFill>
            <a:prstDash val="solid"/>
            <a:tailEnd type="arrow" w="med" len="med"/>
          </a:ln>
        </p:spPr>
      </p:cxnSp>
      <p:cxnSp>
        <p:nvCxnSpPr>
          <p:cNvPr id="102" name="Conector: angular 101"/>
          <p:cNvCxnSpPr>
            <a:stCxn id="25" idx="1"/>
            <a:endCxn id="16" idx="2"/>
          </p:cNvCxnSpPr>
          <p:nvPr/>
        </p:nvCxnSpPr>
        <p:spPr>
          <a:xfrm rot="10800000">
            <a:off x="5191126" y="3347418"/>
            <a:ext cx="1212443" cy="1119188"/>
          </a:xfrm>
          <a:prstGeom prst="bentConnector2">
            <a:avLst/>
          </a:prstGeom>
          <a:ln w="19050">
            <a:solidFill>
              <a:srgbClr val="009566"/>
            </a:solidFill>
            <a:prstDash val="solid"/>
            <a:tailEnd type="arrow" w="med" len="med"/>
          </a:ln>
        </p:spPr>
      </p:cxnSp>
      <p:cxnSp>
        <p:nvCxnSpPr>
          <p:cNvPr id="103" name="Conector recto de flecha 102"/>
          <p:cNvCxnSpPr>
            <a:stCxn id="25" idx="3"/>
            <a:endCxn id="28" idx="1"/>
          </p:cNvCxnSpPr>
          <p:nvPr/>
        </p:nvCxnSpPr>
        <p:spPr>
          <a:xfrm>
            <a:off x="8451443" y="4466606"/>
            <a:ext cx="1167148" cy="0"/>
          </a:xfrm>
          <a:prstGeom prst="straightConnector1">
            <a:avLst/>
          </a:prstGeom>
          <a:ln w="19050">
            <a:solidFill>
              <a:srgbClr val="4866C6"/>
            </a:solidFill>
            <a:prstDash val="solid"/>
            <a:tailEnd type="arrow" w="med" len="med"/>
          </a:ln>
        </p:spPr>
      </p:cxnSp>
      <p:sp>
        <p:nvSpPr>
          <p:cNvPr id="38" name="Conector recto 37">
            <a:extLst>
              <a:ext uri="{FF2B5EF4-FFF2-40B4-BE49-F238E27FC236}">
                <a16:creationId xmlns:a16="http://schemas.microsoft.com/office/drawing/2014/main" id="{063CB51D-FD31-4675-A158-3524F07814D4}"/>
              </a:ext>
            </a:extLst>
          </p:cNvPr>
          <p:cNvSpPr>
            <a:spLocks noGrp="1"/>
          </p:cNvSpPr>
          <p:nvPr/>
        </p:nvSpPr>
        <p:spPr>
          <a:xfrm>
            <a:off x="10382250" y="4966668"/>
            <a:ext cx="0" cy="238125"/>
          </a:xfrm>
          <a:prstGeom prst="line">
            <a:avLst/>
          </a:prstGeom>
          <a:noFill/>
          <a:ln w="19050">
            <a:solidFill>
              <a:srgbClr val="4866C6"/>
            </a:solidFill>
            <a:prstDash val="dash"/>
          </a:ln>
        </p:spPr>
        <p:txBody>
          <a:bodyPr/>
          <a:lstStyle/>
          <a:p>
            <a:endParaRPr lang="es-MX"/>
          </a:p>
        </p:txBody>
      </p:sp>
      <p:sp>
        <p:nvSpPr>
          <p:cNvPr id="39" name="Conector recto 38">
            <a:extLst>
              <a:ext uri="{FF2B5EF4-FFF2-40B4-BE49-F238E27FC236}">
                <a16:creationId xmlns:a16="http://schemas.microsoft.com/office/drawing/2014/main" id="{8495A474-779F-43BA-8FBE-E930B055B820}"/>
              </a:ext>
            </a:extLst>
          </p:cNvPr>
          <p:cNvSpPr>
            <a:spLocks noGrp="1"/>
          </p:cNvSpPr>
          <p:nvPr/>
        </p:nvSpPr>
        <p:spPr>
          <a:xfrm>
            <a:off x="7620000" y="5214732"/>
            <a:ext cx="2762250" cy="0"/>
          </a:xfrm>
          <a:prstGeom prst="line">
            <a:avLst/>
          </a:prstGeom>
          <a:noFill/>
          <a:ln w="19050">
            <a:solidFill>
              <a:srgbClr val="4866C6"/>
            </a:solidFill>
            <a:prstDash val="dash"/>
          </a:ln>
        </p:spPr>
        <p:txBody>
          <a:bodyPr/>
          <a:lstStyle/>
          <a:p>
            <a:endParaRPr lang="es-MX"/>
          </a:p>
        </p:txBody>
      </p:sp>
      <p:sp>
        <p:nvSpPr>
          <p:cNvPr id="40" name="Conector recto 39">
            <a:extLst>
              <a:ext uri="{FF2B5EF4-FFF2-40B4-BE49-F238E27FC236}">
                <a16:creationId xmlns:a16="http://schemas.microsoft.com/office/drawing/2014/main" id="{4ED33632-224E-4F4C-A938-CB555DDD80C7}"/>
              </a:ext>
            </a:extLst>
          </p:cNvPr>
          <p:cNvSpPr>
            <a:spLocks noGrp="1"/>
          </p:cNvSpPr>
          <p:nvPr/>
        </p:nvSpPr>
        <p:spPr>
          <a:xfrm>
            <a:off x="7620000" y="5071857"/>
            <a:ext cx="0" cy="142875"/>
          </a:xfrm>
          <a:prstGeom prst="line">
            <a:avLst/>
          </a:prstGeom>
          <a:noFill/>
          <a:ln w="19050">
            <a:solidFill>
              <a:srgbClr val="4866C6"/>
            </a:solidFill>
            <a:prstDash val="dash"/>
          </a:ln>
        </p:spPr>
        <p:txBody>
          <a:bodyPr/>
          <a:lstStyle/>
          <a:p>
            <a:endParaRPr lang="es-MX"/>
          </a:p>
        </p:txBody>
      </p:sp>
      <p:sp>
        <p:nvSpPr>
          <p:cNvPr id="41" name="Rectángulo 40">
            <a:extLst>
              <a:ext uri="{FF2B5EF4-FFF2-40B4-BE49-F238E27FC236}">
                <a16:creationId xmlns:a16="http://schemas.microsoft.com/office/drawing/2014/main" id="{4E84ABC2-0FF4-4CCA-ABDF-EEB026B17534}"/>
              </a:ext>
            </a:extLst>
          </p:cNvPr>
          <p:cNvSpPr>
            <a:spLocks noGrp="1"/>
          </p:cNvSpPr>
          <p:nvPr/>
        </p:nvSpPr>
        <p:spPr>
          <a:xfrm>
            <a:off x="6806026" y="3461718"/>
            <a:ext cx="1095375" cy="190500"/>
          </a:xfrm>
          <a:prstGeom prst="rect">
            <a:avLst/>
          </a:prstGeom>
          <a:noFill/>
          <a:ln w="0">
            <a:noFill/>
          </a:ln>
        </p:spPr>
        <p:txBody>
          <a:bodyPr anchor="t">
            <a:noAutofit/>
          </a:bodyPr>
          <a:lstStyle/>
          <a:p>
            <a:pPr>
              <a:defRPr sz="900" b="1" i="0">
                <a:solidFill>
                  <a:srgbClr val="5C2DD2"/>
                </a:solidFill>
                <a:latin typeface="Aptos"/>
                <a:ea typeface="Aptos"/>
                <a:cs typeface="Aptos"/>
              </a:defRPr>
            </a:pPr>
            <a:r>
              <a:rPr sz="900" b="1" i="0" dirty="0">
                <a:solidFill>
                  <a:srgbClr val="5C2DD2"/>
                </a:solidFill>
                <a:latin typeface="Aptos"/>
                <a:ea typeface="Aptos"/>
                <a:cs typeface="Aptos"/>
              </a:rPr>
              <a:t>tool call</a:t>
            </a:r>
          </a:p>
        </p:txBody>
      </p:sp>
      <p:sp>
        <p:nvSpPr>
          <p:cNvPr id="42" name="Rectángulo 41">
            <a:extLst>
              <a:ext uri="{FF2B5EF4-FFF2-40B4-BE49-F238E27FC236}">
                <a16:creationId xmlns:a16="http://schemas.microsoft.com/office/drawing/2014/main" id="{AC57BFBE-B42F-4AC5-9485-55874A2DB93E}"/>
              </a:ext>
            </a:extLst>
          </p:cNvPr>
          <p:cNvSpPr>
            <a:spLocks noGrp="1"/>
          </p:cNvSpPr>
          <p:nvPr/>
        </p:nvSpPr>
        <p:spPr>
          <a:xfrm>
            <a:off x="4989250" y="4525961"/>
            <a:ext cx="1407533" cy="241507"/>
          </a:xfrm>
          <a:prstGeom prst="rect">
            <a:avLst/>
          </a:prstGeom>
          <a:noFill/>
          <a:ln w="0">
            <a:noFill/>
          </a:ln>
        </p:spPr>
        <p:txBody>
          <a:bodyPr anchor="t">
            <a:noAutofit/>
          </a:bodyPr>
          <a:lstStyle/>
          <a:p>
            <a:pPr>
              <a:defRPr sz="900" b="1" i="0">
                <a:solidFill>
                  <a:srgbClr val="009566"/>
                </a:solidFill>
                <a:latin typeface="Aptos"/>
                <a:ea typeface="Aptos"/>
                <a:cs typeface="Aptos"/>
              </a:defRPr>
            </a:pPr>
            <a:r>
              <a:rPr sz="900" b="1" i="0" dirty="0" err="1">
                <a:solidFill>
                  <a:srgbClr val="009566"/>
                </a:solidFill>
                <a:latin typeface="Aptos"/>
                <a:ea typeface="Aptos"/>
                <a:cs typeface="Aptos"/>
              </a:rPr>
              <a:t>ToolMessage</a:t>
            </a:r>
            <a:r>
              <a:rPr sz="900" b="1" i="0" dirty="0">
                <a:solidFill>
                  <a:srgbClr val="009566"/>
                </a:solidFill>
                <a:latin typeface="Aptos"/>
                <a:ea typeface="Aptos"/>
                <a:cs typeface="Aptos"/>
              </a:rPr>
              <a:t>(s) / </a:t>
            </a:r>
            <a:r>
              <a:rPr sz="900" b="1" i="0" dirty="0" err="1">
                <a:solidFill>
                  <a:srgbClr val="009566"/>
                </a:solidFill>
                <a:latin typeface="Aptos"/>
                <a:ea typeface="Aptos"/>
                <a:cs typeface="Aptos"/>
              </a:rPr>
              <a:t>resultado</a:t>
            </a:r>
            <a:r>
              <a:rPr sz="900" b="1" i="0" dirty="0">
                <a:solidFill>
                  <a:srgbClr val="009566"/>
                </a:solidFill>
                <a:latin typeface="Aptos"/>
                <a:ea typeface="Aptos"/>
                <a:cs typeface="Aptos"/>
              </a:rPr>
              <a:t> </a:t>
            </a:r>
            <a:r>
              <a:rPr sz="900" b="1" i="0" dirty="0" err="1">
                <a:solidFill>
                  <a:srgbClr val="009566"/>
                </a:solidFill>
                <a:latin typeface="Aptos"/>
                <a:ea typeface="Aptos"/>
                <a:cs typeface="Aptos"/>
              </a:rPr>
              <a:t>normalizado</a:t>
            </a:r>
            <a:endParaRPr sz="900" b="1" i="0" dirty="0">
              <a:solidFill>
                <a:srgbClr val="009566"/>
              </a:solidFill>
              <a:latin typeface="Aptos"/>
              <a:ea typeface="Aptos"/>
              <a:cs typeface="Aptos"/>
            </a:endParaRPr>
          </a:p>
        </p:txBody>
      </p:sp>
      <p:sp>
        <p:nvSpPr>
          <p:cNvPr id="43" name="Rectángulo 42">
            <a:extLst>
              <a:ext uri="{FF2B5EF4-FFF2-40B4-BE49-F238E27FC236}">
                <a16:creationId xmlns:a16="http://schemas.microsoft.com/office/drawing/2014/main" id="{01CF5A1F-E830-42EE-89AF-0A9DA332AA3F}"/>
              </a:ext>
            </a:extLst>
          </p:cNvPr>
          <p:cNvSpPr>
            <a:spLocks noGrp="1"/>
          </p:cNvSpPr>
          <p:nvPr/>
        </p:nvSpPr>
        <p:spPr>
          <a:xfrm>
            <a:off x="8467724" y="2340870"/>
            <a:ext cx="1485901" cy="340423"/>
          </a:xfrm>
          <a:prstGeom prst="rect">
            <a:avLst/>
          </a:prstGeom>
          <a:noFill/>
          <a:ln w="0">
            <a:noFill/>
          </a:ln>
        </p:spPr>
        <p:txBody>
          <a:bodyPr anchor="t">
            <a:noAutofit/>
          </a:bodyPr>
          <a:lstStyle/>
          <a:p>
            <a:pPr>
              <a:defRPr sz="900" b="0" i="0">
                <a:solidFill>
                  <a:srgbClr val="756F91"/>
                </a:solidFill>
                <a:latin typeface="Aptos"/>
                <a:ea typeface="Aptos"/>
                <a:cs typeface="Aptos"/>
              </a:defRPr>
            </a:pPr>
            <a:r>
              <a:rPr sz="900" b="0" i="0" dirty="0">
                <a:solidFill>
                  <a:srgbClr val="756F91"/>
                </a:solidFill>
                <a:latin typeface="Aptos"/>
                <a:ea typeface="Aptos"/>
                <a:cs typeface="Aptos"/>
              </a:rPr>
              <a:t>sin tool call</a:t>
            </a:r>
            <a:r>
              <a:rPr lang="es-MX" sz="900" b="0" i="0" dirty="0">
                <a:solidFill>
                  <a:srgbClr val="756F91"/>
                </a:solidFill>
                <a:latin typeface="Aptos"/>
                <a:ea typeface="Aptos"/>
                <a:cs typeface="Aptos"/>
              </a:rPr>
              <a:t>, </a:t>
            </a:r>
            <a:r>
              <a:rPr sz="900" b="0" i="0" dirty="0" err="1">
                <a:solidFill>
                  <a:srgbClr val="756F91"/>
                </a:solidFill>
                <a:latin typeface="Aptos"/>
                <a:ea typeface="Aptos"/>
                <a:cs typeface="Aptos"/>
              </a:rPr>
              <a:t>límite</a:t>
            </a:r>
            <a:r>
              <a:rPr lang="es-MX" sz="900" b="0" i="0" dirty="0">
                <a:solidFill>
                  <a:srgbClr val="756F91"/>
                </a:solidFill>
                <a:latin typeface="Aptos"/>
                <a:ea typeface="Aptos"/>
                <a:cs typeface="Aptos"/>
              </a:rPr>
              <a:t> o resultado terminal</a:t>
            </a:r>
            <a:endParaRPr sz="900" b="0" i="0" dirty="0">
              <a:solidFill>
                <a:srgbClr val="756F91"/>
              </a:solidFill>
              <a:latin typeface="Aptos"/>
              <a:ea typeface="Aptos"/>
              <a:cs typeface="Aptos"/>
            </a:endParaRPr>
          </a:p>
        </p:txBody>
      </p:sp>
      <p:sp>
        <p:nvSpPr>
          <p:cNvPr id="44" name="Rectángulo 43">
            <a:extLst>
              <a:ext uri="{FF2B5EF4-FFF2-40B4-BE49-F238E27FC236}">
                <a16:creationId xmlns:a16="http://schemas.microsoft.com/office/drawing/2014/main" id="{9F50ADB5-4B74-4217-BA2C-C09D8E2B349A}"/>
              </a:ext>
            </a:extLst>
          </p:cNvPr>
          <p:cNvSpPr>
            <a:spLocks noGrp="1"/>
          </p:cNvSpPr>
          <p:nvPr/>
        </p:nvSpPr>
        <p:spPr>
          <a:xfrm>
            <a:off x="8469201" y="4063974"/>
            <a:ext cx="1179623" cy="371472"/>
          </a:xfrm>
          <a:prstGeom prst="rect">
            <a:avLst/>
          </a:prstGeom>
          <a:noFill/>
          <a:ln w="0">
            <a:noFill/>
          </a:ln>
        </p:spPr>
        <p:txBody>
          <a:bodyPr anchor="t">
            <a:noAutofit/>
          </a:bodyPr>
          <a:lstStyle/>
          <a:p>
            <a:pPr>
              <a:defRPr sz="825" b="0" i="0">
                <a:solidFill>
                  <a:srgbClr val="4866C6"/>
                </a:solidFill>
                <a:latin typeface="Aptos"/>
                <a:ea typeface="Aptos"/>
                <a:cs typeface="Aptos"/>
              </a:defRPr>
            </a:pPr>
            <a:r>
              <a:rPr sz="900" b="0" i="0" dirty="0">
                <a:solidFill>
                  <a:srgbClr val="4866C6"/>
                </a:solidFill>
                <a:latin typeface="Aptos"/>
                <a:ea typeface="Aptos"/>
                <a:cs typeface="Aptos"/>
              </a:rPr>
              <a:t>interrupt: policy </a:t>
            </a:r>
            <a:r>
              <a:rPr sz="900" b="0" i="0" dirty="0" err="1">
                <a:solidFill>
                  <a:srgbClr val="4866C6"/>
                </a:solidFill>
                <a:latin typeface="Aptos"/>
                <a:ea typeface="Aptos"/>
                <a:cs typeface="Aptos"/>
              </a:rPr>
              <a:t>exige</a:t>
            </a:r>
            <a:r>
              <a:rPr sz="900" b="0" i="0" dirty="0">
                <a:solidFill>
                  <a:srgbClr val="4866C6"/>
                </a:solidFill>
                <a:latin typeface="Aptos"/>
                <a:ea typeface="Aptos"/>
                <a:cs typeface="Aptos"/>
              </a:rPr>
              <a:t> </a:t>
            </a:r>
            <a:r>
              <a:rPr sz="900" b="0" i="0" dirty="0" err="1">
                <a:solidFill>
                  <a:srgbClr val="4866C6"/>
                </a:solidFill>
                <a:latin typeface="Aptos"/>
                <a:ea typeface="Aptos"/>
                <a:cs typeface="Aptos"/>
              </a:rPr>
              <a:t>confirmación</a:t>
            </a:r>
            <a:endParaRPr sz="900" b="0" i="0" dirty="0">
              <a:solidFill>
                <a:srgbClr val="4866C6"/>
              </a:solidFill>
              <a:latin typeface="Aptos"/>
              <a:ea typeface="Aptos"/>
              <a:cs typeface="Aptos"/>
            </a:endParaRPr>
          </a:p>
        </p:txBody>
      </p:sp>
      <p:sp>
        <p:nvSpPr>
          <p:cNvPr id="45" name="Rectángulo 44">
            <a:extLst>
              <a:ext uri="{FF2B5EF4-FFF2-40B4-BE49-F238E27FC236}">
                <a16:creationId xmlns:a16="http://schemas.microsoft.com/office/drawing/2014/main" id="{9EE32B32-F908-4383-AAC2-31BC1D92171B}"/>
              </a:ext>
            </a:extLst>
          </p:cNvPr>
          <p:cNvSpPr>
            <a:spLocks noGrp="1"/>
          </p:cNvSpPr>
          <p:nvPr/>
        </p:nvSpPr>
        <p:spPr>
          <a:xfrm>
            <a:off x="8458846" y="4688805"/>
            <a:ext cx="1300498" cy="393121"/>
          </a:xfrm>
          <a:prstGeom prst="rect">
            <a:avLst/>
          </a:prstGeom>
          <a:noFill/>
          <a:ln w="0">
            <a:noFill/>
          </a:ln>
        </p:spPr>
        <p:txBody>
          <a:bodyPr anchor="t">
            <a:noAutofit/>
          </a:bodyPr>
          <a:lstStyle/>
          <a:p>
            <a:pPr>
              <a:defRPr sz="750" b="1" i="0">
                <a:solidFill>
                  <a:srgbClr val="4866C6"/>
                </a:solidFill>
                <a:latin typeface="Aptos"/>
                <a:ea typeface="Aptos"/>
                <a:cs typeface="Aptos"/>
              </a:defRPr>
            </a:pPr>
            <a:r>
              <a:rPr lang="es-ES" sz="900" i="0" dirty="0">
                <a:solidFill>
                  <a:srgbClr val="4866C6"/>
                </a:solidFill>
                <a:latin typeface="Aptos"/>
                <a:ea typeface="Aptos"/>
                <a:cs typeface="Aptos"/>
              </a:rPr>
              <a:t>reanuda el nodo interrumpido desde el mismo </a:t>
            </a:r>
            <a:r>
              <a:rPr lang="es-ES" sz="900" i="0" dirty="0" err="1">
                <a:solidFill>
                  <a:srgbClr val="4866C6"/>
                </a:solidFill>
                <a:latin typeface="Aptos"/>
                <a:ea typeface="Aptos"/>
                <a:cs typeface="Aptos"/>
              </a:rPr>
              <a:t>checkpoint</a:t>
            </a:r>
            <a:endParaRPr sz="900" i="0" dirty="0">
              <a:solidFill>
                <a:srgbClr val="4866C6"/>
              </a:solidFill>
              <a:latin typeface="Aptos"/>
              <a:ea typeface="Aptos"/>
              <a:cs typeface="Aptos"/>
            </a:endParaRPr>
          </a:p>
        </p:txBody>
      </p:sp>
      <p:sp>
        <p:nvSpPr>
          <p:cNvPr id="46" name="Conector recto 45">
            <a:extLst>
              <a:ext uri="{FF2B5EF4-FFF2-40B4-BE49-F238E27FC236}">
                <a16:creationId xmlns:a16="http://schemas.microsoft.com/office/drawing/2014/main" id="{CA938417-2183-4860-B4E2-5E4CEF0302BD}"/>
              </a:ext>
            </a:extLst>
          </p:cNvPr>
          <p:cNvSpPr>
            <a:spLocks noGrp="1"/>
          </p:cNvSpPr>
          <p:nvPr/>
        </p:nvSpPr>
        <p:spPr>
          <a:xfrm>
            <a:off x="7124700" y="1842468"/>
            <a:ext cx="0" cy="266700"/>
          </a:xfrm>
          <a:prstGeom prst="line">
            <a:avLst/>
          </a:prstGeom>
          <a:noFill/>
          <a:ln w="19050">
            <a:solidFill>
              <a:srgbClr val="B8497C"/>
            </a:solidFill>
            <a:prstDash val="dash"/>
          </a:ln>
        </p:spPr>
        <p:txBody>
          <a:bodyPr/>
          <a:lstStyle/>
          <a:p>
            <a:endParaRPr lang="es-MX"/>
          </a:p>
        </p:txBody>
      </p:sp>
      <p:sp>
        <p:nvSpPr>
          <p:cNvPr id="47" name="Conector recto 46">
            <a:extLst>
              <a:ext uri="{FF2B5EF4-FFF2-40B4-BE49-F238E27FC236}">
                <a16:creationId xmlns:a16="http://schemas.microsoft.com/office/drawing/2014/main" id="{BC1C2032-C1B8-44B3-AF63-FBECC16283C7}"/>
              </a:ext>
            </a:extLst>
          </p:cNvPr>
          <p:cNvSpPr>
            <a:spLocks noGrp="1"/>
          </p:cNvSpPr>
          <p:nvPr/>
        </p:nvSpPr>
        <p:spPr>
          <a:xfrm>
            <a:off x="7124700" y="1842468"/>
            <a:ext cx="742950" cy="0"/>
          </a:xfrm>
          <a:prstGeom prst="line">
            <a:avLst/>
          </a:prstGeom>
          <a:noFill/>
          <a:ln w="19050">
            <a:solidFill>
              <a:srgbClr val="B8497C"/>
            </a:solidFill>
            <a:prstDash val="dash"/>
          </a:ln>
        </p:spPr>
        <p:txBody>
          <a:bodyPr/>
          <a:lstStyle/>
          <a:p>
            <a:endParaRPr lang="es-MX"/>
          </a:p>
        </p:txBody>
      </p:sp>
      <p:sp>
        <p:nvSpPr>
          <p:cNvPr id="48" name="Conector recto 47">
            <a:extLst>
              <a:ext uri="{FF2B5EF4-FFF2-40B4-BE49-F238E27FC236}">
                <a16:creationId xmlns:a16="http://schemas.microsoft.com/office/drawing/2014/main" id="{FEAC8C76-14EF-4D93-8086-A7F6376F0C7A}"/>
              </a:ext>
            </a:extLst>
          </p:cNvPr>
          <p:cNvSpPr>
            <a:spLocks noGrp="1"/>
          </p:cNvSpPr>
          <p:nvPr/>
        </p:nvSpPr>
        <p:spPr>
          <a:xfrm>
            <a:off x="7867650" y="1842468"/>
            <a:ext cx="0" cy="266700"/>
          </a:xfrm>
          <a:prstGeom prst="line">
            <a:avLst/>
          </a:prstGeom>
          <a:noFill/>
          <a:ln w="19050">
            <a:solidFill>
              <a:srgbClr val="B8497C"/>
            </a:solidFill>
            <a:prstDash val="dash"/>
          </a:ln>
        </p:spPr>
        <p:txBody>
          <a:bodyPr/>
          <a:lstStyle/>
          <a:p>
            <a:endParaRPr lang="es-MX"/>
          </a:p>
        </p:txBody>
      </p:sp>
      <p:sp>
        <p:nvSpPr>
          <p:cNvPr id="49" name="Rectángulo 48">
            <a:extLst>
              <a:ext uri="{FF2B5EF4-FFF2-40B4-BE49-F238E27FC236}">
                <a16:creationId xmlns:a16="http://schemas.microsoft.com/office/drawing/2014/main" id="{903C2806-680D-4C71-ADAE-6C24DC46E7EE}"/>
              </a:ext>
            </a:extLst>
          </p:cNvPr>
          <p:cNvSpPr>
            <a:spLocks noGrp="1"/>
          </p:cNvSpPr>
          <p:nvPr/>
        </p:nvSpPr>
        <p:spPr>
          <a:xfrm>
            <a:off x="6785428" y="1623393"/>
            <a:ext cx="1596571" cy="189258"/>
          </a:xfrm>
          <a:prstGeom prst="rect">
            <a:avLst/>
          </a:prstGeom>
          <a:noFill/>
          <a:ln w="0">
            <a:noFill/>
          </a:ln>
        </p:spPr>
        <p:txBody>
          <a:bodyPr anchor="t">
            <a:noAutofit/>
          </a:bodyPr>
          <a:lstStyle/>
          <a:p>
            <a:pPr>
              <a:defRPr sz="825" b="0" i="0">
                <a:solidFill>
                  <a:srgbClr val="B8497C"/>
                </a:solidFill>
                <a:latin typeface="Aptos"/>
                <a:ea typeface="Aptos"/>
                <a:cs typeface="Aptos"/>
              </a:defRPr>
            </a:pPr>
            <a:r>
              <a:rPr sz="800" b="0" i="0" dirty="0" err="1">
                <a:solidFill>
                  <a:srgbClr val="B8497C"/>
                </a:solidFill>
                <a:latin typeface="Aptos"/>
                <a:ea typeface="Aptos"/>
                <a:cs typeface="Aptos"/>
              </a:rPr>
              <a:t>corrección</a:t>
            </a:r>
            <a:r>
              <a:rPr sz="800" b="0" i="0" dirty="0">
                <a:solidFill>
                  <a:srgbClr val="B8497C"/>
                </a:solidFill>
                <a:latin typeface="Aptos"/>
                <a:ea typeface="Aptos"/>
                <a:cs typeface="Aptos"/>
              </a:rPr>
              <a:t> interna </a:t>
            </a:r>
            <a:r>
              <a:rPr sz="800" b="0" i="0" dirty="0" err="1">
                <a:solidFill>
                  <a:srgbClr val="B8497C"/>
                </a:solidFill>
                <a:latin typeface="Aptos"/>
                <a:ea typeface="Aptos"/>
                <a:cs typeface="Aptos"/>
              </a:rPr>
              <a:t>acotada</a:t>
            </a:r>
            <a:endParaRPr sz="800" b="0" i="0" dirty="0">
              <a:solidFill>
                <a:srgbClr val="B8497C"/>
              </a:solidFill>
              <a:latin typeface="Aptos"/>
              <a:ea typeface="Aptos"/>
              <a:cs typeface="Aptos"/>
            </a:endParaRPr>
          </a:p>
        </p:txBody>
      </p:sp>
      <p:sp>
        <p:nvSpPr>
          <p:cNvPr id="50" name="Rectángulo: esquinas redondeadas 49">
            <a:extLst>
              <a:ext uri="{FF2B5EF4-FFF2-40B4-BE49-F238E27FC236}">
                <a16:creationId xmlns:a16="http://schemas.microsoft.com/office/drawing/2014/main" id="{DA20D7F5-44E3-40CF-B255-28C0E1C6581B}"/>
              </a:ext>
            </a:extLst>
          </p:cNvPr>
          <p:cNvSpPr>
            <a:spLocks noGrp="1"/>
          </p:cNvSpPr>
          <p:nvPr/>
        </p:nvSpPr>
        <p:spPr>
          <a:xfrm>
            <a:off x="619125" y="5391564"/>
            <a:ext cx="3238500" cy="863046"/>
          </a:xfrm>
          <a:prstGeom prst="roundRect">
            <a:avLst>
              <a:gd name="adj" fmla="val 16667"/>
            </a:avLst>
          </a:prstGeom>
          <a:solidFill>
            <a:srgbClr val="FFFFFF"/>
          </a:solidFill>
          <a:ln w="9525">
            <a:solidFill>
              <a:srgbClr val="E9E7EF"/>
            </a:solidFill>
            <a:prstDash val="solid"/>
          </a:ln>
        </p:spPr>
        <p:txBody>
          <a:bodyPr/>
          <a:lstStyle/>
          <a:p>
            <a:endParaRPr lang="es-MX"/>
          </a:p>
        </p:txBody>
      </p:sp>
      <p:sp>
        <p:nvSpPr>
          <p:cNvPr id="51" name="Rectángulo 50">
            <a:extLst>
              <a:ext uri="{FF2B5EF4-FFF2-40B4-BE49-F238E27FC236}">
                <a16:creationId xmlns:a16="http://schemas.microsoft.com/office/drawing/2014/main" id="{B5E1143C-28C0-4613-B591-7AE38786C89A}"/>
              </a:ext>
            </a:extLst>
          </p:cNvPr>
          <p:cNvSpPr>
            <a:spLocks noGrp="1"/>
          </p:cNvSpPr>
          <p:nvPr/>
        </p:nvSpPr>
        <p:spPr>
          <a:xfrm>
            <a:off x="752475" y="5515389"/>
            <a:ext cx="2971800" cy="285750"/>
          </a:xfrm>
          <a:prstGeom prst="rect">
            <a:avLst/>
          </a:prstGeom>
          <a:noFill/>
          <a:ln w="0">
            <a:noFill/>
          </a:ln>
        </p:spPr>
        <p:txBody>
          <a:bodyPr anchor="t">
            <a:normAutofit/>
          </a:bodyPr>
          <a:lstStyle/>
          <a:p>
            <a:pPr>
              <a:defRPr sz="900" b="1" i="0">
                <a:solidFill>
                  <a:srgbClr val="5C2DD2"/>
                </a:solidFill>
                <a:latin typeface="Aptos"/>
                <a:ea typeface="Aptos"/>
                <a:cs typeface="Aptos"/>
              </a:defRPr>
            </a:pPr>
            <a:r>
              <a:rPr sz="900" b="1" i="0" dirty="0">
                <a:solidFill>
                  <a:srgbClr val="5C2DD2"/>
                </a:solidFill>
                <a:latin typeface="Aptos"/>
                <a:ea typeface="Aptos"/>
                <a:cs typeface="Aptos"/>
              </a:rPr>
              <a:t>CHECKPOINT Y THREAD</a:t>
            </a:r>
          </a:p>
        </p:txBody>
      </p:sp>
      <p:sp>
        <p:nvSpPr>
          <p:cNvPr id="52" name="Rectángulo 51">
            <a:extLst>
              <a:ext uri="{FF2B5EF4-FFF2-40B4-BE49-F238E27FC236}">
                <a16:creationId xmlns:a16="http://schemas.microsoft.com/office/drawing/2014/main" id="{0E9A17EB-EF7E-4E28-BB3B-ED334AD96262}"/>
              </a:ext>
            </a:extLst>
          </p:cNvPr>
          <p:cNvSpPr>
            <a:spLocks noGrp="1"/>
          </p:cNvSpPr>
          <p:nvPr/>
        </p:nvSpPr>
        <p:spPr>
          <a:xfrm>
            <a:off x="752475" y="5737641"/>
            <a:ext cx="2971800" cy="365678"/>
          </a:xfrm>
          <a:prstGeom prst="rect">
            <a:avLst/>
          </a:prstGeom>
          <a:noFill/>
          <a:ln w="0">
            <a:noFill/>
          </a:ln>
        </p:spPr>
        <p:txBody>
          <a:bodyPr anchor="t">
            <a:noAutofit/>
          </a:bodyPr>
          <a:lstStyle/>
          <a:p>
            <a:pPr>
              <a:defRPr sz="825" b="0" i="0">
                <a:solidFill>
                  <a:srgbClr val="756F91"/>
                </a:solidFill>
                <a:latin typeface="Aptos"/>
                <a:ea typeface="Aptos"/>
                <a:cs typeface="Aptos"/>
              </a:defRPr>
            </a:pPr>
            <a:r>
              <a:rPr lang="es-ES" sz="980" b="0" i="0" dirty="0">
                <a:solidFill>
                  <a:srgbClr val="756F91"/>
                </a:solidFill>
                <a:latin typeface="Aptos"/>
                <a:ea typeface="Aptos"/>
                <a:cs typeface="Aptos"/>
              </a:rPr>
              <a:t>Un resume reutiliza el </a:t>
            </a:r>
            <a:r>
              <a:rPr lang="es-ES" sz="980" b="0" i="0" dirty="0" err="1">
                <a:solidFill>
                  <a:srgbClr val="756F91"/>
                </a:solidFill>
                <a:latin typeface="Aptos"/>
                <a:ea typeface="Aptos"/>
                <a:cs typeface="Aptos"/>
              </a:rPr>
              <a:t>thread</a:t>
            </a:r>
            <a:r>
              <a:rPr lang="es-ES" sz="980" b="0" i="0" dirty="0">
                <a:solidFill>
                  <a:srgbClr val="756F91"/>
                </a:solidFill>
                <a:latin typeface="Aptos"/>
                <a:ea typeface="Aptos"/>
                <a:cs typeface="Aptos"/>
              </a:rPr>
              <a:t> del </a:t>
            </a:r>
            <a:r>
              <a:rPr lang="es-ES" sz="980" b="0" i="0" dirty="0" err="1">
                <a:solidFill>
                  <a:srgbClr val="756F91"/>
                </a:solidFill>
                <a:latin typeface="Aptos"/>
                <a:ea typeface="Aptos"/>
                <a:cs typeface="Aptos"/>
              </a:rPr>
              <a:t>checkpoint</a:t>
            </a:r>
            <a:r>
              <a:rPr lang="es-ES" sz="980" b="0" i="0" dirty="0">
                <a:solidFill>
                  <a:srgbClr val="756F91"/>
                </a:solidFill>
                <a:latin typeface="Aptos"/>
                <a:ea typeface="Aptos"/>
                <a:cs typeface="Aptos"/>
              </a:rPr>
              <a:t>. Una ejecución nueva recibe otro </a:t>
            </a:r>
            <a:r>
              <a:rPr lang="es-ES" sz="980" b="0" i="0" dirty="0" err="1">
                <a:solidFill>
                  <a:srgbClr val="756F91"/>
                </a:solidFill>
                <a:latin typeface="Aptos"/>
                <a:ea typeface="Aptos"/>
                <a:cs typeface="Aptos"/>
              </a:rPr>
              <a:t>thread</a:t>
            </a:r>
            <a:r>
              <a:rPr lang="es-ES" sz="980" b="0" i="0" dirty="0">
                <a:solidFill>
                  <a:srgbClr val="756F91"/>
                </a:solidFill>
                <a:latin typeface="Aptos"/>
                <a:ea typeface="Aptos"/>
                <a:cs typeface="Aptos"/>
              </a:rPr>
              <a:t> id.</a:t>
            </a:r>
          </a:p>
          <a:p>
            <a:pPr>
              <a:defRPr sz="825" b="0" i="0">
                <a:solidFill>
                  <a:srgbClr val="756F91"/>
                </a:solidFill>
                <a:latin typeface="Aptos"/>
                <a:ea typeface="Aptos"/>
                <a:cs typeface="Aptos"/>
              </a:defRPr>
            </a:pPr>
            <a:endParaRPr sz="980" b="0" i="0" dirty="0">
              <a:solidFill>
                <a:srgbClr val="756F91"/>
              </a:solidFill>
              <a:latin typeface="Aptos"/>
              <a:ea typeface="Aptos"/>
              <a:cs typeface="Aptos"/>
            </a:endParaRPr>
          </a:p>
        </p:txBody>
      </p:sp>
      <p:sp>
        <p:nvSpPr>
          <p:cNvPr id="53" name="Rectángulo: esquinas redondeadas 52">
            <a:extLst>
              <a:ext uri="{FF2B5EF4-FFF2-40B4-BE49-F238E27FC236}">
                <a16:creationId xmlns:a16="http://schemas.microsoft.com/office/drawing/2014/main" id="{D49C7ECE-C656-405A-84C7-CD0D3C265974}"/>
              </a:ext>
            </a:extLst>
          </p:cNvPr>
          <p:cNvSpPr>
            <a:spLocks noGrp="1"/>
          </p:cNvSpPr>
          <p:nvPr/>
        </p:nvSpPr>
        <p:spPr>
          <a:xfrm>
            <a:off x="4476750" y="5391563"/>
            <a:ext cx="3238500" cy="863043"/>
          </a:xfrm>
          <a:prstGeom prst="roundRect">
            <a:avLst>
              <a:gd name="adj" fmla="val 16667"/>
            </a:avLst>
          </a:prstGeom>
          <a:solidFill>
            <a:srgbClr val="FFFFFF"/>
          </a:solidFill>
          <a:ln w="9525">
            <a:solidFill>
              <a:srgbClr val="E9E7EF"/>
            </a:solidFill>
            <a:prstDash val="solid"/>
          </a:ln>
        </p:spPr>
        <p:txBody>
          <a:bodyPr/>
          <a:lstStyle/>
          <a:p>
            <a:endParaRPr lang="es-MX"/>
          </a:p>
        </p:txBody>
      </p:sp>
      <p:sp>
        <p:nvSpPr>
          <p:cNvPr id="54" name="Rectángulo 53">
            <a:extLst>
              <a:ext uri="{FF2B5EF4-FFF2-40B4-BE49-F238E27FC236}">
                <a16:creationId xmlns:a16="http://schemas.microsoft.com/office/drawing/2014/main" id="{AA523D5A-D759-4C95-B019-9EE2BA73BA90}"/>
              </a:ext>
            </a:extLst>
          </p:cNvPr>
          <p:cNvSpPr>
            <a:spLocks noGrp="1"/>
          </p:cNvSpPr>
          <p:nvPr/>
        </p:nvSpPr>
        <p:spPr>
          <a:xfrm>
            <a:off x="4610100" y="5515389"/>
            <a:ext cx="2971800" cy="285750"/>
          </a:xfrm>
          <a:prstGeom prst="rect">
            <a:avLst/>
          </a:prstGeom>
          <a:noFill/>
          <a:ln w="0">
            <a:noFill/>
          </a:ln>
        </p:spPr>
        <p:txBody>
          <a:bodyPr anchor="t">
            <a:normAutofit/>
          </a:bodyPr>
          <a:lstStyle/>
          <a:p>
            <a:pPr>
              <a:defRPr sz="900" b="1" i="0">
                <a:solidFill>
                  <a:srgbClr val="F39A24"/>
                </a:solidFill>
                <a:latin typeface="Aptos"/>
                <a:ea typeface="Aptos"/>
                <a:cs typeface="Aptos"/>
              </a:defRPr>
            </a:pPr>
            <a:r>
              <a:rPr sz="900" b="1" i="0">
                <a:solidFill>
                  <a:srgbClr val="F39A24"/>
                </a:solidFill>
                <a:latin typeface="Aptos"/>
                <a:ea typeface="Aptos"/>
                <a:cs typeface="Aptos"/>
              </a:rPr>
              <a:t>CONTROL ACOTADO</a:t>
            </a:r>
          </a:p>
        </p:txBody>
      </p:sp>
      <p:sp>
        <p:nvSpPr>
          <p:cNvPr id="55" name="Rectángulo 54">
            <a:extLst>
              <a:ext uri="{FF2B5EF4-FFF2-40B4-BE49-F238E27FC236}">
                <a16:creationId xmlns:a16="http://schemas.microsoft.com/office/drawing/2014/main" id="{69962131-89B5-4790-9520-BB74B6568FC5}"/>
              </a:ext>
            </a:extLst>
          </p:cNvPr>
          <p:cNvSpPr>
            <a:spLocks noGrp="1"/>
          </p:cNvSpPr>
          <p:nvPr/>
        </p:nvSpPr>
        <p:spPr>
          <a:xfrm>
            <a:off x="4610100" y="5737641"/>
            <a:ext cx="2971800" cy="365678"/>
          </a:xfrm>
          <a:prstGeom prst="rect">
            <a:avLst/>
          </a:prstGeom>
          <a:noFill/>
          <a:ln w="0">
            <a:noFill/>
          </a:ln>
        </p:spPr>
        <p:txBody>
          <a:bodyPr anchor="t">
            <a:noAutofit/>
          </a:bodyPr>
          <a:lstStyle/>
          <a:p>
            <a:pPr>
              <a:defRPr sz="825" b="0" i="0">
                <a:solidFill>
                  <a:srgbClr val="756F91"/>
                </a:solidFill>
                <a:latin typeface="Aptos"/>
                <a:ea typeface="Aptos"/>
                <a:cs typeface="Aptos"/>
              </a:defRPr>
            </a:pPr>
            <a:r>
              <a:rPr sz="980" b="0" i="0" dirty="0">
                <a:solidFill>
                  <a:srgbClr val="756F91"/>
                </a:solidFill>
                <a:latin typeface="Aptos"/>
                <a:ea typeface="Aptos"/>
                <a:cs typeface="Aptos"/>
              </a:rPr>
              <a:t>10 </a:t>
            </a:r>
            <a:r>
              <a:rPr sz="980" b="0" i="0" dirty="0" err="1">
                <a:solidFill>
                  <a:srgbClr val="756F91"/>
                </a:solidFill>
                <a:latin typeface="Aptos"/>
                <a:ea typeface="Aptos"/>
                <a:cs typeface="Aptos"/>
              </a:rPr>
              <a:t>iteraciones</a:t>
            </a:r>
            <a:r>
              <a:rPr lang="es-MX" sz="980" b="0" i="0" dirty="0">
                <a:solidFill>
                  <a:srgbClr val="756F91"/>
                </a:solidFill>
                <a:latin typeface="Aptos"/>
                <a:ea typeface="Aptos"/>
                <a:cs typeface="Aptos"/>
              </a:rPr>
              <a:t> máx.</a:t>
            </a:r>
            <a:r>
              <a:rPr sz="980" b="0" i="0" dirty="0">
                <a:solidFill>
                  <a:srgbClr val="756F91"/>
                </a:solidFill>
                <a:latin typeface="Aptos"/>
                <a:ea typeface="Aptos"/>
                <a:cs typeface="Aptos"/>
              </a:rPr>
              <a:t> · breaker de compaction · retry sin </a:t>
            </a:r>
            <a:r>
              <a:rPr sz="980" b="0" i="0" dirty="0" err="1">
                <a:solidFill>
                  <a:srgbClr val="756F91"/>
                </a:solidFill>
                <a:latin typeface="Aptos"/>
                <a:ea typeface="Aptos"/>
                <a:cs typeface="Aptos"/>
              </a:rPr>
              <a:t>nueva</a:t>
            </a:r>
            <a:r>
              <a:rPr sz="980" b="0" i="0" dirty="0">
                <a:solidFill>
                  <a:srgbClr val="756F91"/>
                </a:solidFill>
                <a:latin typeface="Aptos"/>
                <a:ea typeface="Aptos"/>
                <a:cs typeface="Aptos"/>
              </a:rPr>
              <a:t> </a:t>
            </a:r>
            <a:r>
              <a:rPr sz="980" b="0" i="0" dirty="0" err="1">
                <a:solidFill>
                  <a:srgbClr val="756F91"/>
                </a:solidFill>
                <a:latin typeface="Aptos"/>
                <a:ea typeface="Aptos"/>
                <a:cs typeface="Aptos"/>
              </a:rPr>
              <a:t>autoridad</a:t>
            </a:r>
            <a:endParaRPr sz="980" b="0" i="0" dirty="0">
              <a:solidFill>
                <a:srgbClr val="756F91"/>
              </a:solidFill>
              <a:latin typeface="Aptos"/>
              <a:ea typeface="Aptos"/>
              <a:cs typeface="Aptos"/>
            </a:endParaRPr>
          </a:p>
        </p:txBody>
      </p:sp>
      <p:sp>
        <p:nvSpPr>
          <p:cNvPr id="56" name="Rectángulo: esquinas redondeadas 55">
            <a:extLst>
              <a:ext uri="{FF2B5EF4-FFF2-40B4-BE49-F238E27FC236}">
                <a16:creationId xmlns:a16="http://schemas.microsoft.com/office/drawing/2014/main" id="{4ADB48F8-7524-4CCF-8AC0-DCAFFCD2DB0C}"/>
              </a:ext>
            </a:extLst>
          </p:cNvPr>
          <p:cNvSpPr>
            <a:spLocks noGrp="1"/>
          </p:cNvSpPr>
          <p:nvPr/>
        </p:nvSpPr>
        <p:spPr>
          <a:xfrm>
            <a:off x="8334375" y="5391564"/>
            <a:ext cx="3238500" cy="863042"/>
          </a:xfrm>
          <a:prstGeom prst="roundRect">
            <a:avLst>
              <a:gd name="adj" fmla="val 16667"/>
            </a:avLst>
          </a:prstGeom>
          <a:solidFill>
            <a:srgbClr val="FFFFFF"/>
          </a:solidFill>
          <a:ln w="9525">
            <a:solidFill>
              <a:srgbClr val="E9E7EF"/>
            </a:solidFill>
            <a:prstDash val="solid"/>
          </a:ln>
        </p:spPr>
        <p:txBody>
          <a:bodyPr/>
          <a:lstStyle/>
          <a:p>
            <a:endParaRPr lang="es-MX"/>
          </a:p>
        </p:txBody>
      </p:sp>
      <p:sp>
        <p:nvSpPr>
          <p:cNvPr id="57" name="Rectángulo 56">
            <a:extLst>
              <a:ext uri="{FF2B5EF4-FFF2-40B4-BE49-F238E27FC236}">
                <a16:creationId xmlns:a16="http://schemas.microsoft.com/office/drawing/2014/main" id="{3DF58900-5FB5-43EA-BA42-C3860DAE4194}"/>
              </a:ext>
            </a:extLst>
          </p:cNvPr>
          <p:cNvSpPr>
            <a:spLocks noGrp="1"/>
          </p:cNvSpPr>
          <p:nvPr/>
        </p:nvSpPr>
        <p:spPr>
          <a:xfrm>
            <a:off x="8467725" y="5515389"/>
            <a:ext cx="2971800" cy="285750"/>
          </a:xfrm>
          <a:prstGeom prst="rect">
            <a:avLst/>
          </a:prstGeom>
          <a:noFill/>
          <a:ln w="0">
            <a:noFill/>
          </a:ln>
        </p:spPr>
        <p:txBody>
          <a:bodyPr anchor="t">
            <a:normAutofit/>
          </a:bodyPr>
          <a:lstStyle/>
          <a:p>
            <a:pPr>
              <a:defRPr sz="900" b="1" i="0">
                <a:solidFill>
                  <a:srgbClr val="009566"/>
                </a:solidFill>
                <a:latin typeface="Aptos"/>
                <a:ea typeface="Aptos"/>
                <a:cs typeface="Aptos"/>
              </a:defRPr>
            </a:pPr>
            <a:r>
              <a:rPr sz="900" b="1" i="0">
                <a:solidFill>
                  <a:srgbClr val="009566"/>
                </a:solidFill>
                <a:latin typeface="Aptos"/>
                <a:ea typeface="Aptos"/>
                <a:cs typeface="Aptos"/>
              </a:rPr>
              <a:t>FUERA DEL GRAPH</a:t>
            </a:r>
          </a:p>
        </p:txBody>
      </p:sp>
      <p:sp>
        <p:nvSpPr>
          <p:cNvPr id="58" name="Rectángulo 57">
            <a:extLst>
              <a:ext uri="{FF2B5EF4-FFF2-40B4-BE49-F238E27FC236}">
                <a16:creationId xmlns:a16="http://schemas.microsoft.com/office/drawing/2014/main" id="{F161A052-9B3F-474B-8AEB-0C12B8453A31}"/>
              </a:ext>
            </a:extLst>
          </p:cNvPr>
          <p:cNvSpPr>
            <a:spLocks noGrp="1"/>
          </p:cNvSpPr>
          <p:nvPr/>
        </p:nvSpPr>
        <p:spPr>
          <a:xfrm>
            <a:off x="8467725" y="5737641"/>
            <a:ext cx="2971800" cy="365678"/>
          </a:xfrm>
          <a:prstGeom prst="rect">
            <a:avLst/>
          </a:prstGeom>
          <a:noFill/>
          <a:ln w="0">
            <a:noFill/>
          </a:ln>
        </p:spPr>
        <p:txBody>
          <a:bodyPr anchor="t">
            <a:noAutofit/>
          </a:bodyPr>
          <a:lstStyle/>
          <a:p>
            <a:pPr>
              <a:defRPr sz="825" b="0" i="0">
                <a:solidFill>
                  <a:srgbClr val="756F91"/>
                </a:solidFill>
                <a:latin typeface="Aptos"/>
                <a:ea typeface="Aptos"/>
                <a:cs typeface="Aptos"/>
              </a:defRPr>
            </a:pPr>
            <a:r>
              <a:rPr sz="980" b="0" i="0" dirty="0">
                <a:solidFill>
                  <a:srgbClr val="756F91"/>
                </a:solidFill>
                <a:latin typeface="Aptos"/>
                <a:ea typeface="Aptos"/>
                <a:cs typeface="Aptos"/>
              </a:rPr>
              <a:t>Memory flush </a:t>
            </a:r>
            <a:r>
              <a:rPr lang="es-MX" sz="980" b="0" i="0" dirty="0" err="1">
                <a:solidFill>
                  <a:srgbClr val="756F91"/>
                </a:solidFill>
                <a:latin typeface="Aptos"/>
                <a:ea typeface="Aptos"/>
                <a:cs typeface="Aptos"/>
              </a:rPr>
              <a:t>post-turn</a:t>
            </a:r>
            <a:r>
              <a:rPr lang="es-MX" sz="980" b="0" i="0" dirty="0">
                <a:solidFill>
                  <a:srgbClr val="756F91"/>
                </a:solidFill>
                <a:latin typeface="Aptos"/>
                <a:ea typeface="Aptos"/>
                <a:cs typeface="Aptos"/>
              </a:rPr>
              <a:t>  </a:t>
            </a:r>
            <a:r>
              <a:rPr sz="980" b="0" i="0" dirty="0">
                <a:solidFill>
                  <a:srgbClr val="756F91"/>
                </a:solidFill>
                <a:latin typeface="Aptos"/>
                <a:ea typeface="Aptos"/>
                <a:cs typeface="Aptos"/>
              </a:rPr>
              <a:t>· Case/Work loops</a:t>
            </a:r>
            <a:r>
              <a:rPr lang="es-MX" sz="980" b="0" i="0" dirty="0">
                <a:solidFill>
                  <a:srgbClr val="756F91"/>
                </a:solidFill>
                <a:latin typeface="Aptos"/>
                <a:ea typeface="Aptos"/>
                <a:cs typeface="Aptos"/>
              </a:rPr>
              <a:t> viven bajo otros dueños</a:t>
            </a:r>
            <a:r>
              <a:rPr sz="980" b="0" i="0" dirty="0">
                <a:solidFill>
                  <a:srgbClr val="756F91"/>
                </a:solidFill>
                <a:latin typeface="Aptos"/>
                <a:ea typeface="Aptos"/>
                <a:cs typeface="Aptos"/>
              </a:rPr>
              <a:t> · wrap-up sin tools</a:t>
            </a:r>
            <a:endParaRPr lang="es-MX" sz="980" b="0" i="0" dirty="0">
              <a:solidFill>
                <a:srgbClr val="756F91"/>
              </a:solidFill>
              <a:latin typeface="Aptos"/>
              <a:ea typeface="Aptos"/>
              <a:cs typeface="Aptos"/>
            </a:endParaRPr>
          </a:p>
        </p:txBody>
      </p:sp>
      <p:sp>
        <p:nvSpPr>
          <p:cNvPr id="59" name="Elipse 58">
            <a:extLst>
              <a:ext uri="{FF2B5EF4-FFF2-40B4-BE49-F238E27FC236}">
                <a16:creationId xmlns:a16="http://schemas.microsoft.com/office/drawing/2014/main" id="{42F784EF-209E-497B-A7E3-8F2DF8E2E895}"/>
              </a:ext>
            </a:extLst>
          </p:cNvPr>
          <p:cNvSpPr>
            <a:spLocks noGrp="1"/>
          </p:cNvSpPr>
          <p:nvPr/>
        </p:nvSpPr>
        <p:spPr>
          <a:xfrm>
            <a:off x="619125" y="6378435"/>
            <a:ext cx="95250" cy="95250"/>
          </a:xfrm>
          <a:prstGeom prst="ellipse">
            <a:avLst/>
          </a:prstGeom>
          <a:solidFill>
            <a:srgbClr val="5C2DD2"/>
          </a:solidFill>
          <a:ln w="0">
            <a:solidFill>
              <a:srgbClr val="5C2DD2"/>
            </a:solidFill>
          </a:ln>
        </p:spPr>
        <p:txBody>
          <a:bodyPr/>
          <a:lstStyle/>
          <a:p>
            <a:endParaRPr lang="es-MX"/>
          </a:p>
        </p:txBody>
      </p:sp>
      <p:sp>
        <p:nvSpPr>
          <p:cNvPr id="60" name="Rectángulo 59">
            <a:extLst>
              <a:ext uri="{FF2B5EF4-FFF2-40B4-BE49-F238E27FC236}">
                <a16:creationId xmlns:a16="http://schemas.microsoft.com/office/drawing/2014/main" id="{195CA151-665B-49BB-B9A2-2ABB08064183}"/>
              </a:ext>
            </a:extLst>
          </p:cNvPr>
          <p:cNvSpPr>
            <a:spLocks noGrp="1"/>
          </p:cNvSpPr>
          <p:nvPr/>
        </p:nvSpPr>
        <p:spPr>
          <a:xfrm>
            <a:off x="771525" y="6340335"/>
            <a:ext cx="20193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mediado por modelo</a:t>
            </a:r>
          </a:p>
        </p:txBody>
      </p:sp>
      <p:sp>
        <p:nvSpPr>
          <p:cNvPr id="61" name="Elipse 60">
            <a:extLst>
              <a:ext uri="{FF2B5EF4-FFF2-40B4-BE49-F238E27FC236}">
                <a16:creationId xmlns:a16="http://schemas.microsoft.com/office/drawing/2014/main" id="{1EB0CD9E-DF15-4DF3-8796-AF329B1AA68A}"/>
              </a:ext>
            </a:extLst>
          </p:cNvPr>
          <p:cNvSpPr>
            <a:spLocks noGrp="1"/>
          </p:cNvSpPr>
          <p:nvPr/>
        </p:nvSpPr>
        <p:spPr>
          <a:xfrm>
            <a:off x="2905125" y="6378435"/>
            <a:ext cx="95250" cy="95250"/>
          </a:xfrm>
          <a:prstGeom prst="ellipse">
            <a:avLst/>
          </a:prstGeom>
          <a:solidFill>
            <a:srgbClr val="F39A24"/>
          </a:solidFill>
          <a:ln w="0">
            <a:solidFill>
              <a:srgbClr val="F39A24"/>
            </a:solidFill>
          </a:ln>
        </p:spPr>
        <p:txBody>
          <a:bodyPr/>
          <a:lstStyle/>
          <a:p>
            <a:endParaRPr lang="es-MX"/>
          </a:p>
        </p:txBody>
      </p:sp>
      <p:sp>
        <p:nvSpPr>
          <p:cNvPr id="62" name="Rectángulo 61">
            <a:extLst>
              <a:ext uri="{FF2B5EF4-FFF2-40B4-BE49-F238E27FC236}">
                <a16:creationId xmlns:a16="http://schemas.microsoft.com/office/drawing/2014/main" id="{ED245EFB-F201-469E-9AEE-D91D83ABD9D4}"/>
              </a:ext>
            </a:extLst>
          </p:cNvPr>
          <p:cNvSpPr>
            <a:spLocks noGrp="1"/>
          </p:cNvSpPr>
          <p:nvPr/>
        </p:nvSpPr>
        <p:spPr>
          <a:xfrm>
            <a:off x="3057525" y="6340335"/>
            <a:ext cx="20193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híbrido de contexto</a:t>
            </a:r>
          </a:p>
        </p:txBody>
      </p:sp>
      <p:sp>
        <p:nvSpPr>
          <p:cNvPr id="63" name="Elipse 62">
            <a:extLst>
              <a:ext uri="{FF2B5EF4-FFF2-40B4-BE49-F238E27FC236}">
                <a16:creationId xmlns:a16="http://schemas.microsoft.com/office/drawing/2014/main" id="{6084ECAF-EF5B-465E-8EAF-D87BF4D97A36}"/>
              </a:ext>
            </a:extLst>
          </p:cNvPr>
          <p:cNvSpPr>
            <a:spLocks noGrp="1"/>
          </p:cNvSpPr>
          <p:nvPr/>
        </p:nvSpPr>
        <p:spPr>
          <a:xfrm>
            <a:off x="5191125" y="6378435"/>
            <a:ext cx="95250" cy="95250"/>
          </a:xfrm>
          <a:prstGeom prst="ellipse">
            <a:avLst/>
          </a:prstGeom>
          <a:solidFill>
            <a:srgbClr val="009566"/>
          </a:solidFill>
          <a:ln w="0">
            <a:solidFill>
              <a:srgbClr val="009566"/>
            </a:solidFill>
          </a:ln>
        </p:spPr>
        <p:txBody>
          <a:bodyPr/>
          <a:lstStyle/>
          <a:p>
            <a:endParaRPr lang="es-MX"/>
          </a:p>
        </p:txBody>
      </p:sp>
      <p:sp>
        <p:nvSpPr>
          <p:cNvPr id="64" name="Rectángulo 63">
            <a:extLst>
              <a:ext uri="{FF2B5EF4-FFF2-40B4-BE49-F238E27FC236}">
                <a16:creationId xmlns:a16="http://schemas.microsoft.com/office/drawing/2014/main" id="{D30A5B34-9254-40DC-B6C4-0030AECEF55C}"/>
              </a:ext>
            </a:extLst>
          </p:cNvPr>
          <p:cNvSpPr>
            <a:spLocks noGrp="1"/>
          </p:cNvSpPr>
          <p:nvPr/>
        </p:nvSpPr>
        <p:spPr>
          <a:xfrm>
            <a:off x="5343525" y="6340335"/>
            <a:ext cx="20193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determinístico / gobernado</a:t>
            </a:r>
          </a:p>
        </p:txBody>
      </p:sp>
      <p:sp>
        <p:nvSpPr>
          <p:cNvPr id="65" name="Elipse 64">
            <a:extLst>
              <a:ext uri="{FF2B5EF4-FFF2-40B4-BE49-F238E27FC236}">
                <a16:creationId xmlns:a16="http://schemas.microsoft.com/office/drawing/2014/main" id="{9A1753E6-0DBF-44F5-85A0-DFD43C590D62}"/>
              </a:ext>
            </a:extLst>
          </p:cNvPr>
          <p:cNvSpPr>
            <a:spLocks noGrp="1"/>
          </p:cNvSpPr>
          <p:nvPr/>
        </p:nvSpPr>
        <p:spPr>
          <a:xfrm>
            <a:off x="7477125" y="6378435"/>
            <a:ext cx="95250" cy="95250"/>
          </a:xfrm>
          <a:prstGeom prst="ellipse">
            <a:avLst/>
          </a:prstGeom>
          <a:solidFill>
            <a:srgbClr val="4866C6"/>
          </a:solidFill>
          <a:ln w="0">
            <a:solidFill>
              <a:srgbClr val="4866C6"/>
            </a:solidFill>
          </a:ln>
        </p:spPr>
        <p:txBody>
          <a:bodyPr/>
          <a:lstStyle/>
          <a:p>
            <a:endParaRPr lang="es-MX"/>
          </a:p>
        </p:txBody>
      </p:sp>
      <p:sp>
        <p:nvSpPr>
          <p:cNvPr id="66" name="Rectángulo 65">
            <a:extLst>
              <a:ext uri="{FF2B5EF4-FFF2-40B4-BE49-F238E27FC236}">
                <a16:creationId xmlns:a16="http://schemas.microsoft.com/office/drawing/2014/main" id="{4B4D097F-7A93-4315-B93D-1A8CBD08E928}"/>
              </a:ext>
            </a:extLst>
          </p:cNvPr>
          <p:cNvSpPr>
            <a:spLocks noGrp="1"/>
          </p:cNvSpPr>
          <p:nvPr/>
        </p:nvSpPr>
        <p:spPr>
          <a:xfrm>
            <a:off x="7629525" y="6340335"/>
            <a:ext cx="20193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intervención humana</a:t>
            </a:r>
          </a:p>
        </p:txBody>
      </p:sp>
    </p:spTree>
    <p:extLst>
      <p:ext uri="{BB962C8B-B14F-4D97-AF65-F5344CB8AC3E}">
        <p14:creationId xmlns:p14="http://schemas.microsoft.com/office/powerpoint/2010/main" val="1815790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18" name="Shape 0">
            <a:extLst>
              <a:ext uri="{FF2B5EF4-FFF2-40B4-BE49-F238E27FC236}">
                <a16:creationId xmlns:a16="http://schemas.microsoft.com/office/drawing/2014/main" id="{4BBAACC3-A791-45E5-90BD-10F6EBE250E8}"/>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19" name="Text 1">
            <a:extLst>
              <a:ext uri="{FF2B5EF4-FFF2-40B4-BE49-F238E27FC236}">
                <a16:creationId xmlns:a16="http://schemas.microsoft.com/office/drawing/2014/main" id="{F1D40F3B-2F08-4C83-9264-68BFDA97A0B2}"/>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MODEL POLICY: UN ROL, UNA EXIGENCIA</a:t>
            </a:r>
            <a:endParaRPr sz="1200" b="0" u="none">
              <a:solidFill>
                <a:srgbClr val="000000"/>
              </a:solidFill>
              <a:latin typeface="Arial"/>
              <a:ea typeface="Arial"/>
              <a:cs typeface="Arial"/>
            </a:endParaRPr>
          </a:p>
        </p:txBody>
      </p:sp>
      <p:sp>
        <p:nvSpPr>
          <p:cNvPr id="420" name="Text 2">
            <a:extLst>
              <a:ext uri="{FF2B5EF4-FFF2-40B4-BE49-F238E27FC236}">
                <a16:creationId xmlns:a16="http://schemas.microsoft.com/office/drawing/2014/main" id="{9F9F0B0F-11C7-4191-AD06-C27263CE56EF}"/>
              </a:ext>
            </a:extLst>
          </p:cNvPr>
          <p:cNvSpPr>
            <a:spLocks noGrp="1"/>
          </p:cNvSpPr>
          <p:nvPr/>
        </p:nvSpPr>
        <p:spPr>
          <a:xfrm>
            <a:off x="567000" y="831234"/>
            <a:ext cx="10195200" cy="712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dirty="0">
                <a:solidFill>
                  <a:srgbClr val="151327"/>
                </a:solidFill>
                <a:latin typeface="Aptos Display"/>
                <a:ea typeface="Aptos Display"/>
                <a:cs typeface="Aptos Display"/>
              </a:rPr>
              <a:t>Gu OS </a:t>
            </a:r>
            <a:r>
              <a:rPr sz="2600" b="1" u="none" dirty="0" err="1">
                <a:solidFill>
                  <a:srgbClr val="151327"/>
                </a:solidFill>
                <a:latin typeface="Aptos Display"/>
                <a:ea typeface="Aptos Display"/>
                <a:cs typeface="Aptos Display"/>
              </a:rPr>
              <a:t>separa</a:t>
            </a:r>
            <a:r>
              <a:rPr sz="2600" b="1" u="none" dirty="0">
                <a:solidFill>
                  <a:srgbClr val="151327"/>
                </a:solidFill>
                <a:latin typeface="Aptos Display"/>
                <a:ea typeface="Aptos Display"/>
                <a:cs typeface="Aptos Display"/>
              </a:rPr>
              <a:t> </a:t>
            </a:r>
            <a:r>
              <a:rPr lang="es-MX" sz="2600" b="1" u="none" dirty="0">
                <a:solidFill>
                  <a:srgbClr val="151327"/>
                </a:solidFill>
                <a:latin typeface="Aptos Display"/>
                <a:ea typeface="Aptos Display"/>
                <a:cs typeface="Aptos Display"/>
              </a:rPr>
              <a:t>razonamiento</a:t>
            </a:r>
            <a:r>
              <a:rPr sz="2600" b="1" u="none" dirty="0">
                <a:solidFill>
                  <a:srgbClr val="151327"/>
                </a:solidFill>
                <a:latin typeface="Aptos Display"/>
                <a:ea typeface="Aptos Display"/>
                <a:cs typeface="Aptos Display"/>
              </a:rPr>
              <a:t> general, compact</a:t>
            </a:r>
            <a:r>
              <a:rPr lang="es-MX" sz="2600" b="1" u="none" dirty="0" err="1">
                <a:solidFill>
                  <a:srgbClr val="151327"/>
                </a:solidFill>
                <a:latin typeface="Aptos Display"/>
                <a:ea typeface="Aptos Display"/>
                <a:cs typeface="Aptos Display"/>
              </a:rPr>
              <a:t>ación</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selec</a:t>
            </a:r>
            <a:r>
              <a:rPr lang="es-MX" sz="2600" b="1" u="none" dirty="0" err="1">
                <a:solidFill>
                  <a:srgbClr val="151327"/>
                </a:solidFill>
                <a:latin typeface="Aptos Display"/>
                <a:ea typeface="Aptos Display"/>
                <a:cs typeface="Aptos Display"/>
              </a:rPr>
              <a:t>ción</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clas</a:t>
            </a:r>
            <a:r>
              <a:rPr lang="es-MX" sz="2600" b="1" u="none" dirty="0" err="1">
                <a:solidFill>
                  <a:srgbClr val="151327"/>
                </a:solidFill>
                <a:latin typeface="Aptos Display"/>
                <a:ea typeface="Aptos Display"/>
                <a:cs typeface="Aptos Display"/>
              </a:rPr>
              <a:t>ificadores</a:t>
            </a:r>
            <a:r>
              <a:rPr lang="es-MX" sz="2600" b="1" u="none" dirty="0">
                <a:solidFill>
                  <a:srgbClr val="151327"/>
                </a:solidFill>
                <a:latin typeface="Aptos Display"/>
                <a:ea typeface="Aptos Display"/>
                <a:cs typeface="Aptos Display"/>
              </a:rPr>
              <a:t> y jueces</a:t>
            </a:r>
            <a:r>
              <a:rPr sz="2600" b="1" u="none" dirty="0">
                <a:solidFill>
                  <a:srgbClr val="151327"/>
                </a:solidFill>
                <a:latin typeface="Aptos Display"/>
                <a:ea typeface="Aptos Display"/>
                <a:cs typeface="Aptos Display"/>
              </a:rPr>
              <a:t>.</a:t>
            </a:r>
            <a:endParaRPr sz="2600" b="0" u="none" dirty="0">
              <a:solidFill>
                <a:srgbClr val="000000"/>
              </a:solidFill>
              <a:latin typeface="Arial"/>
              <a:ea typeface="Arial"/>
              <a:cs typeface="Arial"/>
            </a:endParaRPr>
          </a:p>
        </p:txBody>
      </p:sp>
      <p:sp>
        <p:nvSpPr>
          <p:cNvPr id="421" name="Text 3">
            <a:extLst>
              <a:ext uri="{FF2B5EF4-FFF2-40B4-BE49-F238E27FC236}">
                <a16:creationId xmlns:a16="http://schemas.microsoft.com/office/drawing/2014/main" id="{7C9920B2-0B9C-405A-8FC2-3066958F1F12}"/>
              </a:ext>
            </a:extLst>
          </p:cNvPr>
          <p:cNvSpPr>
            <a:spLocks noGrp="1"/>
          </p:cNvSpPr>
          <p:nvPr/>
        </p:nvSpPr>
        <p:spPr>
          <a:xfrm>
            <a:off x="567000" y="1722964"/>
            <a:ext cx="106981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b="0" u="none" dirty="0">
                <a:solidFill>
                  <a:srgbClr val="6F6888"/>
                </a:solidFill>
                <a:latin typeface="Aptos"/>
                <a:ea typeface="Aptos"/>
                <a:cs typeface="Aptos"/>
              </a:rPr>
              <a:t>Los defaults son </a:t>
            </a:r>
            <a:r>
              <a:rPr b="0" u="none" dirty="0" err="1">
                <a:solidFill>
                  <a:srgbClr val="6F6888"/>
                </a:solidFill>
                <a:latin typeface="Aptos"/>
                <a:ea typeface="Aptos"/>
                <a:cs typeface="Aptos"/>
              </a:rPr>
              <a:t>configuración</a:t>
            </a:r>
            <a:r>
              <a:rPr b="0" u="none" dirty="0">
                <a:solidFill>
                  <a:srgbClr val="6F6888"/>
                </a:solidFill>
                <a:latin typeface="Aptos"/>
                <a:ea typeface="Aptos"/>
                <a:cs typeface="Aptos"/>
              </a:rPr>
              <a:t> con env overrides; no </a:t>
            </a:r>
            <a:r>
              <a:rPr lang="es-MX" b="0" u="none" dirty="0" err="1">
                <a:solidFill>
                  <a:srgbClr val="6F6888"/>
                </a:solidFill>
                <a:latin typeface="Aptos"/>
                <a:ea typeface="Aptos"/>
                <a:cs typeface="Aptos"/>
              </a:rPr>
              <a:t>docrina</a:t>
            </a:r>
            <a:r>
              <a:rPr lang="es-MX" b="0" u="none" dirty="0">
                <a:solidFill>
                  <a:srgbClr val="6F6888"/>
                </a:solidFill>
                <a:latin typeface="Aptos"/>
                <a:ea typeface="Aptos"/>
                <a:cs typeface="Aptos"/>
              </a:rPr>
              <a:t> del </a:t>
            </a:r>
            <a:r>
              <a:rPr b="0" u="none" dirty="0">
                <a:solidFill>
                  <a:srgbClr val="6F6888"/>
                </a:solidFill>
                <a:latin typeface="Aptos"/>
                <a:ea typeface="Aptos"/>
                <a:cs typeface="Aptos"/>
              </a:rPr>
              <a:t>product</a:t>
            </a:r>
            <a:r>
              <a:rPr lang="es-MX" b="0" u="none" dirty="0">
                <a:solidFill>
                  <a:srgbClr val="6F6888"/>
                </a:solidFill>
                <a:latin typeface="Aptos"/>
                <a:ea typeface="Aptos"/>
                <a:cs typeface="Aptos"/>
              </a:rPr>
              <a:t>o</a:t>
            </a:r>
            <a:r>
              <a:rPr b="0" u="none" dirty="0">
                <a:solidFill>
                  <a:srgbClr val="6F6888"/>
                </a:solidFill>
                <a:latin typeface="Aptos"/>
                <a:ea typeface="Aptos"/>
                <a:cs typeface="Aptos"/>
              </a:rPr>
              <a:t>.</a:t>
            </a:r>
            <a:endParaRPr b="0" u="none" dirty="0">
              <a:solidFill>
                <a:srgbClr val="000000"/>
              </a:solidFill>
              <a:latin typeface="Arial"/>
              <a:ea typeface="Arial"/>
              <a:cs typeface="Arial"/>
            </a:endParaRPr>
          </a:p>
        </p:txBody>
      </p:sp>
      <p:sp>
        <p:nvSpPr>
          <p:cNvPr id="423" name="Text 5">
            <a:extLst>
              <a:ext uri="{FF2B5EF4-FFF2-40B4-BE49-F238E27FC236}">
                <a16:creationId xmlns:a16="http://schemas.microsoft.com/office/drawing/2014/main" id="{45E5FF60-280C-4427-B9EE-702C6AC4B0BA}"/>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24" name="Text 6">
            <a:extLst>
              <a:ext uri="{FF2B5EF4-FFF2-40B4-BE49-F238E27FC236}">
                <a16:creationId xmlns:a16="http://schemas.microsoft.com/office/drawing/2014/main" id="{2C7BE918-435D-46D0-A72D-6BFEFE98180D}"/>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25" name="Text 7">
            <a:extLst>
              <a:ext uri="{FF2B5EF4-FFF2-40B4-BE49-F238E27FC236}">
                <a16:creationId xmlns:a16="http://schemas.microsoft.com/office/drawing/2014/main" id="{2B7BB1E1-E16A-4C69-80F5-FD1C55C36297}"/>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4</a:t>
            </a:r>
            <a:endParaRPr sz="700" b="0" u="none">
              <a:solidFill>
                <a:srgbClr val="000000"/>
              </a:solidFill>
              <a:latin typeface="Arial"/>
              <a:ea typeface="Arial"/>
              <a:cs typeface="Arial"/>
            </a:endParaRPr>
          </a:p>
        </p:txBody>
      </p:sp>
      <p:sp>
        <p:nvSpPr>
          <p:cNvPr id="426" name="Shape 8">
            <a:extLst>
              <a:ext uri="{FF2B5EF4-FFF2-40B4-BE49-F238E27FC236}">
                <a16:creationId xmlns:a16="http://schemas.microsoft.com/office/drawing/2014/main" id="{9CCD3A35-0D41-4B31-AFFE-F330AE1968C2}"/>
              </a:ext>
            </a:extLst>
          </p:cNvPr>
          <p:cNvSpPr>
            <a:spLocks noGrp="1"/>
          </p:cNvSpPr>
          <p:nvPr/>
        </p:nvSpPr>
        <p:spPr>
          <a:xfrm>
            <a:off x="822960" y="2649424"/>
            <a:ext cx="3200040" cy="2239920"/>
          </a:xfrm>
          <a:prstGeom prst="roundRect">
            <a:avLst>
              <a:gd name="adj" fmla="val 4082"/>
            </a:avLst>
          </a:prstGeom>
          <a:solidFill>
            <a:srgbClr val="FFFFFF"/>
          </a:solidFill>
          <a:ln w="12700">
            <a:solidFill>
              <a:srgbClr val="078C53"/>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27" name="Text 9">
            <a:extLst>
              <a:ext uri="{FF2B5EF4-FFF2-40B4-BE49-F238E27FC236}">
                <a16:creationId xmlns:a16="http://schemas.microsoft.com/office/drawing/2014/main" id="{2B4765C8-6BF1-46F9-A8A3-80AAFFECDE1A}"/>
              </a:ext>
            </a:extLst>
          </p:cNvPr>
          <p:cNvSpPr>
            <a:spLocks noGrp="1"/>
          </p:cNvSpPr>
          <p:nvPr/>
        </p:nvSpPr>
        <p:spPr>
          <a:xfrm>
            <a:off x="96012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078C53"/>
                </a:solidFill>
                <a:latin typeface="Aptos"/>
                <a:ea typeface="Aptos"/>
                <a:cs typeface="Aptos"/>
              </a:rPr>
              <a:t>MAIN</a:t>
            </a:r>
            <a:endParaRPr sz="1200" b="0" u="none">
              <a:solidFill>
                <a:srgbClr val="000000"/>
              </a:solidFill>
              <a:latin typeface="Arial"/>
              <a:ea typeface="Arial"/>
              <a:cs typeface="Arial"/>
            </a:endParaRPr>
          </a:p>
        </p:txBody>
      </p:sp>
      <p:sp>
        <p:nvSpPr>
          <p:cNvPr id="428" name="Text 10">
            <a:extLst>
              <a:ext uri="{FF2B5EF4-FFF2-40B4-BE49-F238E27FC236}">
                <a16:creationId xmlns:a16="http://schemas.microsoft.com/office/drawing/2014/main" id="{7F134683-F6F3-4A27-96B2-A8C1CE8A07F5}"/>
              </a:ext>
            </a:extLst>
          </p:cNvPr>
          <p:cNvSpPr>
            <a:spLocks noGrp="1"/>
          </p:cNvSpPr>
          <p:nvPr/>
        </p:nvSpPr>
        <p:spPr>
          <a:xfrm>
            <a:off x="102420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Reasoning + tools</a:t>
            </a:r>
            <a:endParaRPr b="0" u="none">
              <a:solidFill>
                <a:srgbClr val="000000"/>
              </a:solidFill>
              <a:latin typeface="Arial"/>
              <a:ea typeface="Arial"/>
              <a:cs typeface="Arial"/>
            </a:endParaRPr>
          </a:p>
        </p:txBody>
      </p:sp>
      <p:sp>
        <p:nvSpPr>
          <p:cNvPr id="429" name="Text 11">
            <a:extLst>
              <a:ext uri="{FF2B5EF4-FFF2-40B4-BE49-F238E27FC236}">
                <a16:creationId xmlns:a16="http://schemas.microsoft.com/office/drawing/2014/main" id="{9D304FCD-FA8D-4F73-ABAC-B561272A6512}"/>
              </a:ext>
            </a:extLst>
          </p:cNvPr>
          <p:cNvSpPr>
            <a:spLocks noGrp="1"/>
          </p:cNvSpPr>
          <p:nvPr/>
        </p:nvSpPr>
        <p:spPr>
          <a:xfrm>
            <a:off x="107892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openai/gpt-5.4-mini: turno interactivo y classifiers por default.</a:t>
            </a:r>
            <a:endParaRPr sz="1400" b="0" u="none">
              <a:solidFill>
                <a:srgbClr val="000000"/>
              </a:solidFill>
              <a:latin typeface="Arial"/>
              <a:ea typeface="Arial"/>
              <a:cs typeface="Arial"/>
            </a:endParaRPr>
          </a:p>
        </p:txBody>
      </p:sp>
      <p:sp>
        <p:nvSpPr>
          <p:cNvPr id="430" name="Shape 12">
            <a:extLst>
              <a:ext uri="{FF2B5EF4-FFF2-40B4-BE49-F238E27FC236}">
                <a16:creationId xmlns:a16="http://schemas.microsoft.com/office/drawing/2014/main" id="{EF787178-85ED-45E2-B753-CA0056CFE17A}"/>
              </a:ext>
            </a:extLst>
          </p:cNvPr>
          <p:cNvSpPr>
            <a:spLocks noGrp="1"/>
          </p:cNvSpPr>
          <p:nvPr/>
        </p:nvSpPr>
        <p:spPr>
          <a:xfrm>
            <a:off x="4526280" y="2649424"/>
            <a:ext cx="3200040" cy="2239920"/>
          </a:xfrm>
          <a:prstGeom prst="roundRect">
            <a:avLst>
              <a:gd name="adj" fmla="val 4082"/>
            </a:avLst>
          </a:prstGeom>
          <a:solidFill>
            <a:srgbClr val="FFFFFF"/>
          </a:solidFill>
          <a:ln w="12700">
            <a:solidFill>
              <a:srgbClr val="F39A2B"/>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31" name="Text 13">
            <a:extLst>
              <a:ext uri="{FF2B5EF4-FFF2-40B4-BE49-F238E27FC236}">
                <a16:creationId xmlns:a16="http://schemas.microsoft.com/office/drawing/2014/main" id="{255F5FB9-074F-4C28-876F-51D8F78DF680}"/>
              </a:ext>
            </a:extLst>
          </p:cNvPr>
          <p:cNvSpPr>
            <a:spLocks noGrp="1"/>
          </p:cNvSpPr>
          <p:nvPr/>
        </p:nvSpPr>
        <p:spPr>
          <a:xfrm>
            <a:off x="466344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F39A2B"/>
                </a:solidFill>
                <a:latin typeface="Aptos"/>
                <a:ea typeface="Aptos"/>
                <a:cs typeface="Aptos"/>
              </a:rPr>
              <a:t>SUPPORT</a:t>
            </a:r>
            <a:endParaRPr sz="1200" b="0" u="none">
              <a:solidFill>
                <a:srgbClr val="000000"/>
              </a:solidFill>
              <a:latin typeface="Arial"/>
              <a:ea typeface="Arial"/>
              <a:cs typeface="Arial"/>
            </a:endParaRPr>
          </a:p>
        </p:txBody>
      </p:sp>
      <p:sp>
        <p:nvSpPr>
          <p:cNvPr id="432" name="Text 14">
            <a:extLst>
              <a:ext uri="{FF2B5EF4-FFF2-40B4-BE49-F238E27FC236}">
                <a16:creationId xmlns:a16="http://schemas.microsoft.com/office/drawing/2014/main" id="{861EC238-409B-4970-A121-1C58F1D0D043}"/>
              </a:ext>
            </a:extLst>
          </p:cNvPr>
          <p:cNvSpPr>
            <a:spLocks noGrp="1"/>
          </p:cNvSpPr>
          <p:nvPr/>
        </p:nvSpPr>
        <p:spPr>
          <a:xfrm>
            <a:off x="472752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Compactar y seleccionar</a:t>
            </a:r>
            <a:endParaRPr b="0" u="none">
              <a:solidFill>
                <a:srgbClr val="000000"/>
              </a:solidFill>
              <a:latin typeface="Arial"/>
              <a:ea typeface="Arial"/>
              <a:cs typeface="Arial"/>
            </a:endParaRPr>
          </a:p>
        </p:txBody>
      </p:sp>
      <p:sp>
        <p:nvSpPr>
          <p:cNvPr id="433" name="Text 15">
            <a:extLst>
              <a:ext uri="{FF2B5EF4-FFF2-40B4-BE49-F238E27FC236}">
                <a16:creationId xmlns:a16="http://schemas.microsoft.com/office/drawing/2014/main" id="{02F20FE0-34C2-48B1-BC9A-D3E177900EEF}"/>
              </a:ext>
            </a:extLst>
          </p:cNvPr>
          <p:cNvSpPr>
            <a:spLocks noGrp="1"/>
          </p:cNvSpPr>
          <p:nvPr/>
        </p:nvSpPr>
        <p:spPr>
          <a:xfrm>
            <a:off x="478224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Haiku: compaction, memory flush, skill selector y reviewer.</a:t>
            </a:r>
            <a:endParaRPr sz="1400" b="0" u="none">
              <a:solidFill>
                <a:srgbClr val="000000"/>
              </a:solidFill>
              <a:latin typeface="Arial"/>
              <a:ea typeface="Arial"/>
              <a:cs typeface="Arial"/>
            </a:endParaRPr>
          </a:p>
        </p:txBody>
      </p:sp>
      <p:sp>
        <p:nvSpPr>
          <p:cNvPr id="434" name="Shape 16">
            <a:extLst>
              <a:ext uri="{FF2B5EF4-FFF2-40B4-BE49-F238E27FC236}">
                <a16:creationId xmlns:a16="http://schemas.microsoft.com/office/drawing/2014/main" id="{CA0E0125-49B3-48E2-A0AD-93A7A8B1A518}"/>
              </a:ext>
            </a:extLst>
          </p:cNvPr>
          <p:cNvSpPr>
            <a:spLocks noGrp="1"/>
          </p:cNvSpPr>
          <p:nvPr/>
        </p:nvSpPr>
        <p:spPr>
          <a:xfrm>
            <a:off x="8229600" y="2649424"/>
            <a:ext cx="3200040" cy="2239920"/>
          </a:xfrm>
          <a:prstGeom prst="roundRect">
            <a:avLst>
              <a:gd name="adj" fmla="val 4082"/>
            </a:avLst>
          </a:prstGeom>
          <a:solidFill>
            <a:srgbClr val="FFFFFF"/>
          </a:solidFill>
          <a:ln w="12700">
            <a:solidFill>
              <a:srgbClr val="A84A7A"/>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35" name="Text 17">
            <a:extLst>
              <a:ext uri="{FF2B5EF4-FFF2-40B4-BE49-F238E27FC236}">
                <a16:creationId xmlns:a16="http://schemas.microsoft.com/office/drawing/2014/main" id="{DC8AAC41-512E-4C1D-B2D3-D6B006038F75}"/>
              </a:ext>
            </a:extLst>
          </p:cNvPr>
          <p:cNvSpPr>
            <a:spLocks noGrp="1"/>
          </p:cNvSpPr>
          <p:nvPr/>
        </p:nvSpPr>
        <p:spPr>
          <a:xfrm>
            <a:off x="836676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A84A7A"/>
                </a:solidFill>
                <a:latin typeface="Aptos"/>
                <a:ea typeface="Aptos"/>
                <a:cs typeface="Aptos"/>
              </a:rPr>
              <a:t>ESCALATION</a:t>
            </a:r>
            <a:endParaRPr sz="1200" b="0" u="none">
              <a:solidFill>
                <a:srgbClr val="000000"/>
              </a:solidFill>
              <a:latin typeface="Arial"/>
              <a:ea typeface="Arial"/>
              <a:cs typeface="Arial"/>
            </a:endParaRPr>
          </a:p>
        </p:txBody>
      </p:sp>
      <p:sp>
        <p:nvSpPr>
          <p:cNvPr id="436" name="Text 18">
            <a:extLst>
              <a:ext uri="{FF2B5EF4-FFF2-40B4-BE49-F238E27FC236}">
                <a16:creationId xmlns:a16="http://schemas.microsoft.com/office/drawing/2014/main" id="{B0807840-7344-4FCC-92B2-FAF7C3C584F6}"/>
              </a:ext>
            </a:extLst>
          </p:cNvPr>
          <p:cNvSpPr>
            <a:spLocks noGrp="1"/>
          </p:cNvSpPr>
          <p:nvPr/>
        </p:nvSpPr>
        <p:spPr>
          <a:xfrm>
            <a:off x="843084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Juicio independiente</a:t>
            </a:r>
            <a:endParaRPr b="0" u="none">
              <a:solidFill>
                <a:srgbClr val="000000"/>
              </a:solidFill>
              <a:latin typeface="Arial"/>
              <a:ea typeface="Arial"/>
              <a:cs typeface="Arial"/>
            </a:endParaRPr>
          </a:p>
        </p:txBody>
      </p:sp>
      <p:sp>
        <p:nvSpPr>
          <p:cNvPr id="437" name="Text 19">
            <a:extLst>
              <a:ext uri="{FF2B5EF4-FFF2-40B4-BE49-F238E27FC236}">
                <a16:creationId xmlns:a16="http://schemas.microsoft.com/office/drawing/2014/main" id="{B127B4FC-74A3-4F76-8BAF-C6AE0C023639}"/>
              </a:ext>
            </a:extLst>
          </p:cNvPr>
          <p:cNvSpPr>
            <a:spLocks noGrp="1"/>
          </p:cNvSpPr>
          <p:nvPr/>
        </p:nvSpPr>
        <p:spPr>
          <a:xfrm>
            <a:off x="848556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Modelos más capaces para judge/escalation y roles especializados.</a:t>
            </a:r>
            <a:endParaRPr sz="1400" b="0" u="none">
              <a:solidFill>
                <a:srgbClr val="000000"/>
              </a:solidFill>
              <a:latin typeface="Arial"/>
              <a:ea typeface="Arial"/>
              <a:cs typeface="Arial"/>
            </a:endParaRPr>
          </a:p>
        </p:txBody>
      </p:sp>
      <p:sp>
        <p:nvSpPr>
          <p:cNvPr id="438" name="Shape 20">
            <a:extLst>
              <a:ext uri="{FF2B5EF4-FFF2-40B4-BE49-F238E27FC236}">
                <a16:creationId xmlns:a16="http://schemas.microsoft.com/office/drawing/2014/main" id="{F50A24BA-26B8-41DD-8033-EE393E903416}"/>
              </a:ext>
            </a:extLst>
          </p:cNvPr>
          <p:cNvSpPr>
            <a:spLocks noGrp="1"/>
          </p:cNvSpPr>
          <p:nvPr/>
        </p:nvSpPr>
        <p:spPr>
          <a:xfrm>
            <a:off x="2240280" y="5730953"/>
            <a:ext cx="7726320" cy="640345"/>
          </a:xfrm>
          <a:prstGeom prst="roundRect">
            <a:avLst>
              <a:gd name="adj" fmla="val 16000"/>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b="0" u="none">
              <a:solidFill>
                <a:srgbClr val="FFFFFF"/>
              </a:solidFill>
              <a:latin typeface="Arial"/>
              <a:ea typeface="Arial"/>
              <a:cs typeface="Arial"/>
            </a:endParaRPr>
          </a:p>
        </p:txBody>
      </p:sp>
      <p:sp>
        <p:nvSpPr>
          <p:cNvPr id="439" name="Text 21">
            <a:extLst>
              <a:ext uri="{FF2B5EF4-FFF2-40B4-BE49-F238E27FC236}">
                <a16:creationId xmlns:a16="http://schemas.microsoft.com/office/drawing/2014/main" id="{8BF542F8-67AE-4291-AE4A-D1D2D0297474}"/>
              </a:ext>
            </a:extLst>
          </p:cNvPr>
          <p:cNvSpPr>
            <a:spLocks noGrp="1"/>
          </p:cNvSpPr>
          <p:nvPr/>
        </p:nvSpPr>
        <p:spPr>
          <a:xfrm>
            <a:off x="2516826" y="5868472"/>
            <a:ext cx="7218948"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8606"/>
          </a:bodyPr>
          <a:lstStyle/>
          <a:p>
            <a:pPr algn="ctr" defTabSz="914400">
              <a:lnSpc>
                <a:spcPct val="100000"/>
              </a:lnSpc>
              <a:buNone/>
              <a:tabLst>
                <a:tab pos="0" algn="l"/>
              </a:tabLst>
            </a:pPr>
            <a:r>
              <a:rPr b="1" u="none">
                <a:solidFill>
                  <a:srgbClr val="FFFFFF"/>
                </a:solidFill>
                <a:latin typeface="Aptos"/>
                <a:ea typeface="Aptos"/>
                <a:cs typeface="Aptos"/>
              </a:rPr>
              <a:t>Model policy calibra capacidad, costo y evidencia sin reescribir el harness.</a:t>
            </a:r>
            <a:endParaRPr b="0" u="none">
              <a:solidFill>
                <a:srgbClr val="000000"/>
              </a:solidFill>
              <a:latin typeface="Arial"/>
              <a:ea typeface="Arial"/>
              <a:cs typeface="Arial"/>
            </a:endParaRPr>
          </a:p>
        </p:txBody>
      </p:sp>
      <p:pic>
        <p:nvPicPr>
          <p:cNvPr id="462"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787834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ángulo 49">
            <a:extLst>
              <a:ext uri="{FF2B5EF4-FFF2-40B4-BE49-F238E27FC236}">
                <a16:creationId xmlns:a16="http://schemas.microsoft.com/office/drawing/2014/main" id="{B1D60D24-5293-4D06-811E-E79C1E626527}"/>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21FE18C2-BDDC-427D-91F3-5BB554F556BD}"/>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dirty="0">
                <a:solidFill>
                  <a:srgbClr val="5C2DD2"/>
                </a:solidFill>
                <a:latin typeface="Aptos"/>
                <a:ea typeface="Aptos"/>
                <a:cs typeface="Aptos"/>
              </a:rPr>
              <a:t>MODELOS EN EL </a:t>
            </a:r>
            <a:r>
              <a:rPr lang="es-MX" sz="1050" b="1" dirty="0">
                <a:solidFill>
                  <a:srgbClr val="5C2DD2"/>
                </a:solidFill>
                <a:latin typeface="Aptos"/>
                <a:ea typeface="Aptos"/>
                <a:cs typeface="Aptos"/>
              </a:rPr>
              <a:t>GU OS </a:t>
            </a:r>
            <a:r>
              <a:rPr sz="1050" b="1" i="0" dirty="0">
                <a:solidFill>
                  <a:srgbClr val="5C2DD2"/>
                </a:solidFill>
                <a:latin typeface="Aptos"/>
                <a:ea typeface="Aptos"/>
                <a:cs typeface="Aptos"/>
              </a:rPr>
              <a:t>RUNTIME</a:t>
            </a:r>
          </a:p>
        </p:txBody>
      </p:sp>
      <p:sp>
        <p:nvSpPr>
          <p:cNvPr id="3" name="Rectángulo 2">
            <a:extLst>
              <a:ext uri="{FF2B5EF4-FFF2-40B4-BE49-F238E27FC236}">
                <a16:creationId xmlns:a16="http://schemas.microsoft.com/office/drawing/2014/main" id="{F4771561-E293-4F46-8A15-A9CBB7EC26FA}"/>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Un turno puede usar varios modelos, pero no todos en cada request</a:t>
            </a:r>
          </a:p>
        </p:txBody>
      </p:sp>
      <p:sp>
        <p:nvSpPr>
          <p:cNvPr id="4" name="Rectángulo 3">
            <a:extLst>
              <a:ext uri="{FF2B5EF4-FFF2-40B4-BE49-F238E27FC236}">
                <a16:creationId xmlns:a16="http://schemas.microsoft.com/office/drawing/2014/main" id="{9C6A940E-9F1C-4D0E-A00E-E2C18D8C9611}"/>
              </a:ext>
            </a:extLst>
          </p:cNvPr>
          <p:cNvSpPr>
            <a:spLocks noGrp="1"/>
          </p:cNvSpPr>
          <p:nvPr/>
        </p:nvSpPr>
        <p:spPr>
          <a:xfrm>
            <a:off x="571499" y="1300371"/>
            <a:ext cx="10570265" cy="523875"/>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400" b="0" i="0" dirty="0">
                <a:solidFill>
                  <a:srgbClr val="756F91"/>
                </a:solidFill>
                <a:latin typeface="Aptos"/>
                <a:ea typeface="Aptos"/>
                <a:cs typeface="Aptos"/>
              </a:rPr>
              <a:t>Cada </a:t>
            </a:r>
            <a:r>
              <a:rPr sz="1400" b="0" i="0" dirty="0" err="1">
                <a:solidFill>
                  <a:srgbClr val="756F91"/>
                </a:solidFill>
                <a:latin typeface="Aptos"/>
                <a:ea typeface="Aptos"/>
                <a:cs typeface="Aptos"/>
              </a:rPr>
              <a:t>llamada</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posee</a:t>
            </a:r>
            <a:r>
              <a:rPr sz="1400" b="0" i="0" dirty="0">
                <a:solidFill>
                  <a:srgbClr val="756F91"/>
                </a:solidFill>
                <a:latin typeface="Aptos"/>
                <a:ea typeface="Aptos"/>
                <a:cs typeface="Aptos"/>
              </a:rPr>
              <a:t> un </a:t>
            </a:r>
            <a:r>
              <a:rPr sz="1400" b="0" i="0" dirty="0" err="1">
                <a:solidFill>
                  <a:srgbClr val="756F91"/>
                </a:solidFill>
                <a:latin typeface="Aptos"/>
                <a:ea typeface="Aptos"/>
                <a:cs typeface="Aptos"/>
              </a:rPr>
              <a:t>rol</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concreto</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Algunos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modelos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clasifican</a:t>
            </a:r>
            <a:r>
              <a:rPr sz="1400" b="0" i="0" dirty="0">
                <a:solidFill>
                  <a:srgbClr val="756F91"/>
                </a:solidFill>
                <a:latin typeface="Aptos"/>
                <a:ea typeface="Aptos"/>
                <a:cs typeface="Aptos"/>
              </a:rPr>
              <a:t> antes del graph, </a:t>
            </a:r>
            <a:r>
              <a:rPr sz="1400" b="0" i="0" dirty="0" err="1">
                <a:solidFill>
                  <a:srgbClr val="756F91"/>
                </a:solidFill>
                <a:latin typeface="Aptos"/>
                <a:ea typeface="Aptos"/>
                <a:cs typeface="Aptos"/>
              </a:rPr>
              <a:t>otros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operan</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dentro</a:t>
            </a:r>
            <a:r>
              <a:rPr sz="1400" b="0" i="0" dirty="0">
                <a:solidFill>
                  <a:srgbClr val="756F91"/>
                </a:solidFill>
                <a:latin typeface="Aptos"/>
                <a:ea typeface="Aptos"/>
                <a:cs typeface="Aptos"/>
              </a:rPr>
              <a:t> de </a:t>
            </a:r>
            <a:r>
              <a:rPr sz="1400" b="0" i="0" dirty="0" err="1">
                <a:solidFill>
                  <a:srgbClr val="756F91"/>
                </a:solidFill>
                <a:latin typeface="Aptos"/>
                <a:ea typeface="Aptos"/>
                <a:cs typeface="Aptos"/>
              </a:rPr>
              <a:t>nodos</a:t>
            </a:r>
            <a:r>
              <a:rPr sz="1400" b="0" i="0" dirty="0">
                <a:solidFill>
                  <a:srgbClr val="756F91"/>
                </a:solidFill>
                <a:latin typeface="Aptos"/>
                <a:ea typeface="Aptos"/>
                <a:cs typeface="Aptos"/>
              </a:rPr>
              <a:t> o tools y </a:t>
            </a:r>
            <a:r>
              <a:rPr sz="1400" b="0" i="0" dirty="0" err="1">
                <a:solidFill>
                  <a:srgbClr val="756F91"/>
                </a:solidFill>
                <a:latin typeface="Aptos"/>
                <a:ea typeface="Aptos"/>
                <a:cs typeface="Aptos"/>
              </a:rPr>
              <a:t>otros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consolidan</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después</a:t>
            </a:r>
            <a:r>
              <a:rPr sz="1400" b="0" i="0" dirty="0">
                <a:solidFill>
                  <a:srgbClr val="756F91"/>
                </a:solidFill>
                <a:latin typeface="Aptos"/>
                <a:ea typeface="Aptos"/>
                <a:cs typeface="Aptos"/>
              </a:rPr>
              <a:t>.</a:t>
            </a:r>
          </a:p>
        </p:txBody>
      </p:sp>
      <p:pic>
        <p:nvPicPr>
          <p:cNvPr id="54" name="Imagen 53"/>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413DBC30-BA38-4F8E-86A9-DE70E9433F18}"/>
              </a:ext>
            </a:extLst>
          </p:cNvPr>
          <p:cNvSpPr>
            <a:spLocks noGrp="1"/>
          </p:cNvSpPr>
          <p:nvPr/>
        </p:nvSpPr>
        <p:spPr>
          <a:xfrm>
            <a:off x="2544621" y="352425"/>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1AC78B01-AACC-4273-BF28-9A4B2F0D3782}"/>
              </a:ext>
            </a:extLst>
          </p:cNvPr>
          <p:cNvSpPr>
            <a:spLocks noGrp="1"/>
          </p:cNvSpPr>
          <p:nvPr/>
        </p:nvSpPr>
        <p:spPr>
          <a:xfrm>
            <a:off x="2611296" y="381000"/>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C2976E8E-624C-4B63-B068-D021F3392F07}"/>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0114A366-840E-4C3B-B819-9C89D58D199D}"/>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F15EF910-D508-4ECD-A9B9-56FAA1B264A6}"/>
              </a:ext>
            </a:extLst>
          </p:cNvPr>
          <p:cNvSpPr>
            <a:spLocks noGrp="1"/>
          </p:cNvSpPr>
          <p:nvPr/>
        </p:nvSpPr>
        <p:spPr>
          <a:xfrm>
            <a:off x="571500" y="2095500"/>
            <a:ext cx="3333750" cy="3143250"/>
          </a:xfrm>
          <a:prstGeom prst="roundRect">
            <a:avLst>
              <a:gd name="adj" fmla="val 4242"/>
            </a:avLst>
          </a:prstGeom>
          <a:solidFill>
            <a:srgbClr val="FFFFFF"/>
          </a:solidFill>
          <a:ln w="9525">
            <a:solidFill>
              <a:srgbClr val="B8497C"/>
            </a:solidFill>
            <a:prstDash val="solid"/>
          </a:ln>
        </p:spPr>
        <p:txBody>
          <a:bodyPr/>
          <a:lstStyle/>
          <a:p>
            <a:endParaRPr lang="es-MX"/>
          </a:p>
        </p:txBody>
      </p:sp>
      <p:sp>
        <p:nvSpPr>
          <p:cNvPr id="11" name="Rectángulo: esquinas redondeadas 10">
            <a:extLst>
              <a:ext uri="{FF2B5EF4-FFF2-40B4-BE49-F238E27FC236}">
                <a16:creationId xmlns:a16="http://schemas.microsoft.com/office/drawing/2014/main" id="{DE0DCB1D-9A9C-42F4-A15F-8E3C4854D2DE}"/>
              </a:ext>
            </a:extLst>
          </p:cNvPr>
          <p:cNvSpPr>
            <a:spLocks noGrp="1"/>
          </p:cNvSpPr>
          <p:nvPr/>
        </p:nvSpPr>
        <p:spPr>
          <a:xfrm>
            <a:off x="4429125" y="2095500"/>
            <a:ext cx="3333750" cy="3143250"/>
          </a:xfrm>
          <a:prstGeom prst="roundRect">
            <a:avLst>
              <a:gd name="adj" fmla="val 4242"/>
            </a:avLst>
          </a:prstGeom>
          <a:solidFill>
            <a:srgbClr val="FFFFFF"/>
          </a:solidFill>
          <a:ln w="9525">
            <a:solidFill>
              <a:srgbClr val="5C2DD2"/>
            </a:solidFill>
            <a:prstDash val="solid"/>
          </a:ln>
        </p:spPr>
        <p:txBody>
          <a:bodyPr/>
          <a:lstStyle/>
          <a:p>
            <a:endParaRPr lang="es-MX"/>
          </a:p>
        </p:txBody>
      </p:sp>
      <p:sp>
        <p:nvSpPr>
          <p:cNvPr id="12" name="Rectángulo: esquinas redondeadas 11">
            <a:extLst>
              <a:ext uri="{FF2B5EF4-FFF2-40B4-BE49-F238E27FC236}">
                <a16:creationId xmlns:a16="http://schemas.microsoft.com/office/drawing/2014/main" id="{237F7863-86C6-4313-9D15-BA1386E1AA32}"/>
              </a:ext>
            </a:extLst>
          </p:cNvPr>
          <p:cNvSpPr>
            <a:spLocks noGrp="1"/>
          </p:cNvSpPr>
          <p:nvPr/>
        </p:nvSpPr>
        <p:spPr>
          <a:xfrm>
            <a:off x="8286750" y="2095500"/>
            <a:ext cx="3333750" cy="3143250"/>
          </a:xfrm>
          <a:prstGeom prst="roundRect">
            <a:avLst>
              <a:gd name="adj" fmla="val 4242"/>
            </a:avLst>
          </a:prstGeom>
          <a:solidFill>
            <a:srgbClr val="FFFFFF"/>
          </a:solidFill>
          <a:ln w="9525">
            <a:solidFill>
              <a:srgbClr val="009566"/>
            </a:solidFill>
            <a:prstDash val="solid"/>
          </a:ln>
        </p:spPr>
        <p:txBody>
          <a:bodyPr/>
          <a:lstStyle/>
          <a:p>
            <a:endParaRPr lang="es-MX"/>
          </a:p>
        </p:txBody>
      </p:sp>
      <p:sp>
        <p:nvSpPr>
          <p:cNvPr id="13" name="Rectángulo: esquinas redondeadas 12">
            <a:extLst>
              <a:ext uri="{FF2B5EF4-FFF2-40B4-BE49-F238E27FC236}">
                <a16:creationId xmlns:a16="http://schemas.microsoft.com/office/drawing/2014/main" id="{68E296D8-5270-43AD-998E-D4088364CB9F}"/>
              </a:ext>
            </a:extLst>
          </p:cNvPr>
          <p:cNvSpPr>
            <a:spLocks noGrp="1"/>
          </p:cNvSpPr>
          <p:nvPr/>
        </p:nvSpPr>
        <p:spPr>
          <a:xfrm>
            <a:off x="1381125" y="2257425"/>
            <a:ext cx="1714500" cy="266700"/>
          </a:xfrm>
          <a:prstGeom prst="roundRect">
            <a:avLst>
              <a:gd name="adj" fmla="val 50000"/>
            </a:avLst>
          </a:prstGeom>
          <a:solidFill>
            <a:srgbClr val="B8497C"/>
          </a:solidFill>
          <a:ln w="9525">
            <a:solidFill>
              <a:srgbClr val="B8497C"/>
            </a:solidFill>
            <a:prstDash val="solid"/>
          </a:ln>
        </p:spPr>
        <p:txBody>
          <a:bodyPr/>
          <a:lstStyle/>
          <a:p>
            <a:endParaRPr lang="es-MX"/>
          </a:p>
        </p:txBody>
      </p:sp>
      <p:sp>
        <p:nvSpPr>
          <p:cNvPr id="14" name="Rectángulo 13">
            <a:extLst>
              <a:ext uri="{FF2B5EF4-FFF2-40B4-BE49-F238E27FC236}">
                <a16:creationId xmlns:a16="http://schemas.microsoft.com/office/drawing/2014/main" id="{627FCF55-CD5B-4F96-AE52-57CE9BA768F6}"/>
              </a:ext>
            </a:extLst>
          </p:cNvPr>
          <p:cNvSpPr>
            <a:spLocks noGrp="1"/>
          </p:cNvSpPr>
          <p:nvPr/>
        </p:nvSpPr>
        <p:spPr>
          <a:xfrm>
            <a:off x="1447800" y="2286000"/>
            <a:ext cx="1581150" cy="20955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000" b="1" i="0" dirty="0">
                <a:solidFill>
                  <a:srgbClr val="FFFFFF"/>
                </a:solidFill>
                <a:latin typeface="Aptos"/>
                <a:ea typeface="Aptos"/>
                <a:cs typeface="Aptos"/>
              </a:rPr>
              <a:t>ANTES DEL GRAPH</a:t>
            </a:r>
          </a:p>
        </p:txBody>
      </p:sp>
      <p:sp>
        <p:nvSpPr>
          <p:cNvPr id="15" name="Rectángulo: esquinas redondeadas 14">
            <a:extLst>
              <a:ext uri="{FF2B5EF4-FFF2-40B4-BE49-F238E27FC236}">
                <a16:creationId xmlns:a16="http://schemas.microsoft.com/office/drawing/2014/main" id="{6A098A46-2826-4D97-8BCD-60506D0F82BF}"/>
              </a:ext>
            </a:extLst>
          </p:cNvPr>
          <p:cNvSpPr>
            <a:spLocks noGrp="1"/>
          </p:cNvSpPr>
          <p:nvPr/>
        </p:nvSpPr>
        <p:spPr>
          <a:xfrm>
            <a:off x="5238750" y="2257425"/>
            <a:ext cx="1714500" cy="266700"/>
          </a:xfrm>
          <a:prstGeom prst="roundRect">
            <a:avLst>
              <a:gd name="adj" fmla="val 50000"/>
            </a:avLst>
          </a:prstGeom>
          <a:solidFill>
            <a:srgbClr val="5C2DD2"/>
          </a:solidFill>
          <a:ln w="9525">
            <a:solidFill>
              <a:srgbClr val="5C2DD2"/>
            </a:solidFill>
            <a:prstDash val="solid"/>
          </a:ln>
        </p:spPr>
        <p:txBody>
          <a:bodyPr/>
          <a:lstStyle/>
          <a:p>
            <a:endParaRPr lang="es-MX"/>
          </a:p>
        </p:txBody>
      </p:sp>
      <p:sp>
        <p:nvSpPr>
          <p:cNvPr id="16" name="Rectángulo 15">
            <a:extLst>
              <a:ext uri="{FF2B5EF4-FFF2-40B4-BE49-F238E27FC236}">
                <a16:creationId xmlns:a16="http://schemas.microsoft.com/office/drawing/2014/main" id="{0CCB307B-E660-4F13-A98C-CAFAA50CE501}"/>
              </a:ext>
            </a:extLst>
          </p:cNvPr>
          <p:cNvSpPr>
            <a:spLocks noGrp="1"/>
          </p:cNvSpPr>
          <p:nvPr/>
        </p:nvSpPr>
        <p:spPr>
          <a:xfrm>
            <a:off x="5305425" y="2286000"/>
            <a:ext cx="1581150" cy="20955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000" b="1" i="0" dirty="0">
                <a:solidFill>
                  <a:srgbClr val="FFFFFF"/>
                </a:solidFill>
                <a:latin typeface="Aptos"/>
                <a:ea typeface="Aptos"/>
                <a:cs typeface="Aptos"/>
              </a:rPr>
              <a:t>DENTRO DEL GRAPH</a:t>
            </a:r>
          </a:p>
        </p:txBody>
      </p:sp>
      <p:sp>
        <p:nvSpPr>
          <p:cNvPr id="17" name="Rectángulo: esquinas redondeadas 16">
            <a:extLst>
              <a:ext uri="{FF2B5EF4-FFF2-40B4-BE49-F238E27FC236}">
                <a16:creationId xmlns:a16="http://schemas.microsoft.com/office/drawing/2014/main" id="{F7B923F7-EE89-4776-9B0C-56BFCD0640AB}"/>
              </a:ext>
            </a:extLst>
          </p:cNvPr>
          <p:cNvSpPr>
            <a:spLocks noGrp="1"/>
          </p:cNvSpPr>
          <p:nvPr/>
        </p:nvSpPr>
        <p:spPr>
          <a:xfrm>
            <a:off x="9048750" y="2257425"/>
            <a:ext cx="1809750"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18" name="Rectángulo 17">
            <a:extLst>
              <a:ext uri="{FF2B5EF4-FFF2-40B4-BE49-F238E27FC236}">
                <a16:creationId xmlns:a16="http://schemas.microsoft.com/office/drawing/2014/main" id="{1A513B3C-FC8E-4E95-83F2-6D8F8461FFB4}"/>
              </a:ext>
            </a:extLst>
          </p:cNvPr>
          <p:cNvSpPr>
            <a:spLocks noGrp="1"/>
          </p:cNvSpPr>
          <p:nvPr/>
        </p:nvSpPr>
        <p:spPr>
          <a:xfrm>
            <a:off x="9115425" y="2286000"/>
            <a:ext cx="1676400" cy="20955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000" b="1" i="0" dirty="0">
                <a:solidFill>
                  <a:srgbClr val="FFFFFF"/>
                </a:solidFill>
                <a:latin typeface="Aptos"/>
                <a:ea typeface="Aptos"/>
                <a:cs typeface="Aptos"/>
              </a:rPr>
              <a:t>DESPUÉS / OTROS LOOPS</a:t>
            </a:r>
          </a:p>
        </p:txBody>
      </p:sp>
      <p:sp>
        <p:nvSpPr>
          <p:cNvPr id="19" name="Rectángulo 18">
            <a:extLst>
              <a:ext uri="{FF2B5EF4-FFF2-40B4-BE49-F238E27FC236}">
                <a16:creationId xmlns:a16="http://schemas.microsoft.com/office/drawing/2014/main" id="{D41190D3-EB15-4EDB-893F-F8052328EB23}"/>
              </a:ext>
            </a:extLst>
          </p:cNvPr>
          <p:cNvSpPr>
            <a:spLocks noGrp="1"/>
          </p:cNvSpPr>
          <p:nvPr/>
        </p:nvSpPr>
        <p:spPr>
          <a:xfrm>
            <a:off x="790575" y="2781300"/>
            <a:ext cx="2857500" cy="209550"/>
          </a:xfrm>
          <a:prstGeom prst="rect">
            <a:avLst/>
          </a:prstGeom>
          <a:noFill/>
          <a:ln w="0">
            <a:noFill/>
          </a:ln>
        </p:spPr>
        <p:txBody>
          <a:bodyPr anchor="t">
            <a:noAutofit/>
          </a:bodyPr>
          <a:lstStyle/>
          <a:p>
            <a:pPr>
              <a:defRPr sz="1125" b="1" i="0">
                <a:solidFill>
                  <a:srgbClr val="B8497C"/>
                </a:solidFill>
                <a:latin typeface="Aptos"/>
                <a:ea typeface="Aptos"/>
                <a:cs typeface="Aptos"/>
              </a:defRPr>
            </a:pPr>
            <a:r>
              <a:rPr sz="1200" b="1" i="0" dirty="0">
                <a:solidFill>
                  <a:srgbClr val="B8497C"/>
                </a:solidFill>
                <a:latin typeface="Aptos"/>
                <a:ea typeface="Aptos"/>
                <a:cs typeface="Aptos"/>
              </a:rPr>
              <a:t>Pending-decision / decomposer</a:t>
            </a:r>
          </a:p>
        </p:txBody>
      </p:sp>
      <p:sp>
        <p:nvSpPr>
          <p:cNvPr id="20" name="Rectángulo 19">
            <a:extLst>
              <a:ext uri="{FF2B5EF4-FFF2-40B4-BE49-F238E27FC236}">
                <a16:creationId xmlns:a16="http://schemas.microsoft.com/office/drawing/2014/main" id="{D0032AF5-C472-4E1C-A9D1-2A96BFD1225B}"/>
              </a:ext>
            </a:extLst>
          </p:cNvPr>
          <p:cNvSpPr>
            <a:spLocks noGrp="1"/>
          </p:cNvSpPr>
          <p:nvPr/>
        </p:nvSpPr>
        <p:spPr>
          <a:xfrm>
            <a:off x="790575" y="301942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dirty="0">
                <a:solidFill>
                  <a:srgbClr val="756F91"/>
                </a:solidFill>
                <a:latin typeface="Aptos"/>
                <a:ea typeface="Aptos"/>
                <a:cs typeface="Aptos"/>
              </a:rPr>
              <a:t>GPT-5.4-mini · </a:t>
            </a:r>
            <a:r>
              <a:rPr sz="1000" b="0" i="0" dirty="0" err="1">
                <a:solidFill>
                  <a:srgbClr val="756F91"/>
                </a:solidFill>
                <a:latin typeface="Aptos"/>
                <a:ea typeface="Aptos"/>
                <a:cs typeface="Aptos"/>
              </a:rPr>
              <a:t>condicional</a:t>
            </a:r>
            <a:endParaRPr sz="1000" b="0" i="0" dirty="0">
              <a:solidFill>
                <a:srgbClr val="756F91"/>
              </a:solidFill>
              <a:latin typeface="Aptos"/>
              <a:ea typeface="Aptos"/>
              <a:cs typeface="Aptos"/>
            </a:endParaRPr>
          </a:p>
        </p:txBody>
      </p:sp>
      <p:sp>
        <p:nvSpPr>
          <p:cNvPr id="21" name="Rectángulo 20">
            <a:extLst>
              <a:ext uri="{FF2B5EF4-FFF2-40B4-BE49-F238E27FC236}">
                <a16:creationId xmlns:a16="http://schemas.microsoft.com/office/drawing/2014/main" id="{136A9765-CE86-4F0A-89C1-C19509FFE458}"/>
              </a:ext>
            </a:extLst>
          </p:cNvPr>
          <p:cNvSpPr>
            <a:spLocks noGrp="1"/>
          </p:cNvSpPr>
          <p:nvPr/>
        </p:nvSpPr>
        <p:spPr>
          <a:xfrm>
            <a:off x="790575" y="3448050"/>
            <a:ext cx="2857500" cy="209550"/>
          </a:xfrm>
          <a:prstGeom prst="rect">
            <a:avLst/>
          </a:prstGeom>
          <a:noFill/>
          <a:ln w="0">
            <a:noFill/>
          </a:ln>
        </p:spPr>
        <p:txBody>
          <a:bodyPr anchor="t">
            <a:noAutofit/>
          </a:bodyPr>
          <a:lstStyle/>
          <a:p>
            <a:pPr>
              <a:defRPr sz="1125" b="1" i="0">
                <a:solidFill>
                  <a:srgbClr val="B8497C"/>
                </a:solidFill>
                <a:latin typeface="Aptos"/>
                <a:ea typeface="Aptos"/>
                <a:cs typeface="Aptos"/>
              </a:defRPr>
            </a:pPr>
            <a:r>
              <a:rPr sz="1200" b="1" i="0">
                <a:solidFill>
                  <a:srgbClr val="B8497C"/>
                </a:solidFill>
                <a:latin typeface="Aptos"/>
                <a:ea typeface="Aptos"/>
                <a:cs typeface="Aptos"/>
              </a:rPr>
              <a:t>Operational classifier</a:t>
            </a:r>
          </a:p>
        </p:txBody>
      </p:sp>
      <p:sp>
        <p:nvSpPr>
          <p:cNvPr id="22" name="Rectángulo 21">
            <a:extLst>
              <a:ext uri="{FF2B5EF4-FFF2-40B4-BE49-F238E27FC236}">
                <a16:creationId xmlns:a16="http://schemas.microsoft.com/office/drawing/2014/main" id="{0C57C3C5-3282-498D-8A5E-8078E515FEC4}"/>
              </a:ext>
            </a:extLst>
          </p:cNvPr>
          <p:cNvSpPr>
            <a:spLocks noGrp="1"/>
          </p:cNvSpPr>
          <p:nvPr/>
        </p:nvSpPr>
        <p:spPr>
          <a:xfrm>
            <a:off x="790575" y="368617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GPT-5.4-mini · condicional</a:t>
            </a:r>
          </a:p>
        </p:txBody>
      </p:sp>
      <p:sp>
        <p:nvSpPr>
          <p:cNvPr id="23" name="Rectángulo 22">
            <a:extLst>
              <a:ext uri="{FF2B5EF4-FFF2-40B4-BE49-F238E27FC236}">
                <a16:creationId xmlns:a16="http://schemas.microsoft.com/office/drawing/2014/main" id="{3B170CD8-694B-41D4-B8DB-FB7DA7B08CAF}"/>
              </a:ext>
            </a:extLst>
          </p:cNvPr>
          <p:cNvSpPr>
            <a:spLocks noGrp="1"/>
          </p:cNvSpPr>
          <p:nvPr/>
        </p:nvSpPr>
        <p:spPr>
          <a:xfrm>
            <a:off x="790575" y="4114800"/>
            <a:ext cx="2857500" cy="209550"/>
          </a:xfrm>
          <a:prstGeom prst="rect">
            <a:avLst/>
          </a:prstGeom>
          <a:noFill/>
          <a:ln w="0">
            <a:noFill/>
          </a:ln>
        </p:spPr>
        <p:txBody>
          <a:bodyPr anchor="t">
            <a:noAutofit/>
          </a:bodyPr>
          <a:lstStyle/>
          <a:p>
            <a:pPr>
              <a:defRPr sz="1125" b="1" i="0">
                <a:solidFill>
                  <a:srgbClr val="B8497C"/>
                </a:solidFill>
                <a:latin typeface="Aptos"/>
                <a:ea typeface="Aptos"/>
                <a:cs typeface="Aptos"/>
              </a:defRPr>
            </a:pPr>
            <a:r>
              <a:rPr sz="1200" b="1" i="0">
                <a:solidFill>
                  <a:srgbClr val="B8497C"/>
                </a:solidFill>
                <a:latin typeface="Aptos"/>
                <a:ea typeface="Aptos"/>
                <a:cs typeface="Aptos"/>
              </a:rPr>
              <a:t>Skill selector</a:t>
            </a:r>
          </a:p>
        </p:txBody>
      </p:sp>
      <p:sp>
        <p:nvSpPr>
          <p:cNvPr id="24" name="Rectángulo 23">
            <a:extLst>
              <a:ext uri="{FF2B5EF4-FFF2-40B4-BE49-F238E27FC236}">
                <a16:creationId xmlns:a16="http://schemas.microsoft.com/office/drawing/2014/main" id="{2F55A6B5-8F92-4045-9FCF-0A0BFB169554}"/>
              </a:ext>
            </a:extLst>
          </p:cNvPr>
          <p:cNvSpPr>
            <a:spLocks noGrp="1"/>
          </p:cNvSpPr>
          <p:nvPr/>
        </p:nvSpPr>
        <p:spPr>
          <a:xfrm>
            <a:off x="790575" y="435292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Claude Haiku 4.5 · pre-graph</a:t>
            </a:r>
          </a:p>
        </p:txBody>
      </p:sp>
      <p:sp>
        <p:nvSpPr>
          <p:cNvPr id="25" name="Rectángulo 24">
            <a:extLst>
              <a:ext uri="{FF2B5EF4-FFF2-40B4-BE49-F238E27FC236}">
                <a16:creationId xmlns:a16="http://schemas.microsoft.com/office/drawing/2014/main" id="{3DA9D776-527B-44DE-8EC3-9C2EA214DE3E}"/>
              </a:ext>
            </a:extLst>
          </p:cNvPr>
          <p:cNvSpPr>
            <a:spLocks noGrp="1"/>
          </p:cNvSpPr>
          <p:nvPr/>
        </p:nvSpPr>
        <p:spPr>
          <a:xfrm>
            <a:off x="4648200" y="2781300"/>
            <a:ext cx="2857500" cy="209550"/>
          </a:xfrm>
          <a:prstGeom prst="rect">
            <a:avLst/>
          </a:prstGeom>
          <a:noFill/>
          <a:ln w="0">
            <a:noFill/>
          </a:ln>
        </p:spPr>
        <p:txBody>
          <a:bodyPr anchor="t">
            <a:noAutofit/>
          </a:bodyPr>
          <a:lstStyle/>
          <a:p>
            <a:pPr>
              <a:defRPr sz="1125" b="1" i="0">
                <a:solidFill>
                  <a:srgbClr val="5C2DD2"/>
                </a:solidFill>
                <a:latin typeface="Aptos"/>
                <a:ea typeface="Aptos"/>
                <a:cs typeface="Aptos"/>
              </a:defRPr>
            </a:pPr>
            <a:r>
              <a:rPr sz="1200" b="1" i="0">
                <a:solidFill>
                  <a:srgbClr val="5C2DD2"/>
                </a:solidFill>
                <a:latin typeface="Aptos"/>
                <a:ea typeface="Aptos"/>
                <a:cs typeface="Aptos"/>
              </a:rPr>
              <a:t>memory_injection</a:t>
            </a:r>
          </a:p>
        </p:txBody>
      </p:sp>
      <p:sp>
        <p:nvSpPr>
          <p:cNvPr id="26" name="Rectángulo 25">
            <a:extLst>
              <a:ext uri="{FF2B5EF4-FFF2-40B4-BE49-F238E27FC236}">
                <a16:creationId xmlns:a16="http://schemas.microsoft.com/office/drawing/2014/main" id="{7212D0A3-BF51-40B3-8365-750F207D5BE6}"/>
              </a:ext>
            </a:extLst>
          </p:cNvPr>
          <p:cNvSpPr>
            <a:spLocks noGrp="1"/>
          </p:cNvSpPr>
          <p:nvPr/>
        </p:nvSpPr>
        <p:spPr>
          <a:xfrm>
            <a:off x="4648200" y="300037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Gemini Embedding 001 · una vez</a:t>
            </a:r>
          </a:p>
        </p:txBody>
      </p:sp>
      <p:sp>
        <p:nvSpPr>
          <p:cNvPr id="27" name="Rectángulo 26">
            <a:extLst>
              <a:ext uri="{FF2B5EF4-FFF2-40B4-BE49-F238E27FC236}">
                <a16:creationId xmlns:a16="http://schemas.microsoft.com/office/drawing/2014/main" id="{0362E14C-235F-4CAC-9993-B2F25822BC73}"/>
              </a:ext>
            </a:extLst>
          </p:cNvPr>
          <p:cNvSpPr>
            <a:spLocks noGrp="1"/>
          </p:cNvSpPr>
          <p:nvPr/>
        </p:nvSpPr>
        <p:spPr>
          <a:xfrm>
            <a:off x="4648200" y="3333750"/>
            <a:ext cx="2857500" cy="209550"/>
          </a:xfrm>
          <a:prstGeom prst="rect">
            <a:avLst/>
          </a:prstGeom>
          <a:noFill/>
          <a:ln w="0">
            <a:noFill/>
          </a:ln>
        </p:spPr>
        <p:txBody>
          <a:bodyPr anchor="t">
            <a:noAutofit/>
          </a:bodyPr>
          <a:lstStyle/>
          <a:p>
            <a:pPr>
              <a:defRPr sz="1125" b="1" i="0">
                <a:solidFill>
                  <a:srgbClr val="5C2DD2"/>
                </a:solidFill>
                <a:latin typeface="Aptos"/>
                <a:ea typeface="Aptos"/>
                <a:cs typeface="Aptos"/>
              </a:defRPr>
            </a:pPr>
            <a:r>
              <a:rPr sz="1200" b="1" i="0">
                <a:solidFill>
                  <a:srgbClr val="5C2DD2"/>
                </a:solidFill>
                <a:latin typeface="Aptos"/>
                <a:ea typeface="Aptos"/>
                <a:cs typeface="Aptos"/>
              </a:rPr>
              <a:t>compaction</a:t>
            </a:r>
          </a:p>
        </p:txBody>
      </p:sp>
      <p:sp>
        <p:nvSpPr>
          <p:cNvPr id="28" name="Rectángulo 27">
            <a:extLst>
              <a:ext uri="{FF2B5EF4-FFF2-40B4-BE49-F238E27FC236}">
                <a16:creationId xmlns:a16="http://schemas.microsoft.com/office/drawing/2014/main" id="{BC658C74-5A24-4376-BEF5-E0EEC4D53CA8}"/>
              </a:ext>
            </a:extLst>
          </p:cNvPr>
          <p:cNvSpPr>
            <a:spLocks noGrp="1"/>
          </p:cNvSpPr>
          <p:nvPr/>
        </p:nvSpPr>
        <p:spPr>
          <a:xfrm>
            <a:off x="4648200" y="355282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Haiku 4.5 · sólo al umbral</a:t>
            </a:r>
          </a:p>
        </p:txBody>
      </p:sp>
      <p:sp>
        <p:nvSpPr>
          <p:cNvPr id="29" name="Rectángulo 28">
            <a:extLst>
              <a:ext uri="{FF2B5EF4-FFF2-40B4-BE49-F238E27FC236}">
                <a16:creationId xmlns:a16="http://schemas.microsoft.com/office/drawing/2014/main" id="{F55BD72C-2B26-48A1-8C5E-DF22C0BFF6C7}"/>
              </a:ext>
            </a:extLst>
          </p:cNvPr>
          <p:cNvSpPr>
            <a:spLocks noGrp="1"/>
          </p:cNvSpPr>
          <p:nvPr/>
        </p:nvSpPr>
        <p:spPr>
          <a:xfrm>
            <a:off x="4648200" y="3886200"/>
            <a:ext cx="2857500" cy="209550"/>
          </a:xfrm>
          <a:prstGeom prst="rect">
            <a:avLst/>
          </a:prstGeom>
          <a:noFill/>
          <a:ln w="0">
            <a:noFill/>
          </a:ln>
        </p:spPr>
        <p:txBody>
          <a:bodyPr anchor="t">
            <a:noAutofit/>
          </a:bodyPr>
          <a:lstStyle/>
          <a:p>
            <a:pPr>
              <a:defRPr sz="1125" b="1" i="0">
                <a:solidFill>
                  <a:srgbClr val="5C2DD2"/>
                </a:solidFill>
                <a:latin typeface="Aptos"/>
                <a:ea typeface="Aptos"/>
                <a:cs typeface="Aptos"/>
              </a:defRPr>
            </a:pPr>
            <a:r>
              <a:rPr sz="1200" b="1" i="0">
                <a:solidFill>
                  <a:srgbClr val="5C2DD2"/>
                </a:solidFill>
                <a:latin typeface="Aptos"/>
                <a:ea typeface="Aptos"/>
                <a:cs typeface="Aptos"/>
              </a:rPr>
              <a:t>agent</a:t>
            </a:r>
          </a:p>
        </p:txBody>
      </p:sp>
      <p:sp>
        <p:nvSpPr>
          <p:cNvPr id="30" name="Rectángulo 29">
            <a:extLst>
              <a:ext uri="{FF2B5EF4-FFF2-40B4-BE49-F238E27FC236}">
                <a16:creationId xmlns:a16="http://schemas.microsoft.com/office/drawing/2014/main" id="{C611C8F3-67E9-4E96-A78F-D0724F384385}"/>
              </a:ext>
            </a:extLst>
          </p:cNvPr>
          <p:cNvSpPr>
            <a:spLocks noGrp="1"/>
          </p:cNvSpPr>
          <p:nvPr/>
        </p:nvSpPr>
        <p:spPr>
          <a:xfrm>
            <a:off x="4648200" y="410527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GPT-5.4-mini · una o más veces</a:t>
            </a:r>
          </a:p>
        </p:txBody>
      </p:sp>
      <p:sp>
        <p:nvSpPr>
          <p:cNvPr id="31" name="Rectángulo 30">
            <a:extLst>
              <a:ext uri="{FF2B5EF4-FFF2-40B4-BE49-F238E27FC236}">
                <a16:creationId xmlns:a16="http://schemas.microsoft.com/office/drawing/2014/main" id="{BD3108DF-5CFF-4C22-A83B-28730C7603AF}"/>
              </a:ext>
            </a:extLst>
          </p:cNvPr>
          <p:cNvSpPr>
            <a:spLocks noGrp="1"/>
          </p:cNvSpPr>
          <p:nvPr/>
        </p:nvSpPr>
        <p:spPr>
          <a:xfrm>
            <a:off x="4648200" y="4438650"/>
            <a:ext cx="2857500" cy="209550"/>
          </a:xfrm>
          <a:prstGeom prst="rect">
            <a:avLst/>
          </a:prstGeom>
          <a:noFill/>
          <a:ln w="0">
            <a:noFill/>
          </a:ln>
        </p:spPr>
        <p:txBody>
          <a:bodyPr anchor="t">
            <a:noAutofit/>
          </a:bodyPr>
          <a:lstStyle/>
          <a:p>
            <a:pPr>
              <a:defRPr sz="1125" b="1" i="0">
                <a:solidFill>
                  <a:srgbClr val="5C2DD2"/>
                </a:solidFill>
                <a:latin typeface="Aptos"/>
                <a:ea typeface="Aptos"/>
                <a:cs typeface="Aptos"/>
              </a:defRPr>
            </a:pPr>
            <a:r>
              <a:rPr sz="1200" b="1" i="0">
                <a:solidFill>
                  <a:srgbClr val="5C2DD2"/>
                </a:solidFill>
                <a:latin typeface="Aptos"/>
                <a:ea typeface="Aptos"/>
                <a:cs typeface="Aptos"/>
              </a:rPr>
              <a:t>tool especializada</a:t>
            </a:r>
          </a:p>
        </p:txBody>
      </p:sp>
      <p:sp>
        <p:nvSpPr>
          <p:cNvPr id="32" name="Rectángulo 31">
            <a:extLst>
              <a:ext uri="{FF2B5EF4-FFF2-40B4-BE49-F238E27FC236}">
                <a16:creationId xmlns:a16="http://schemas.microsoft.com/office/drawing/2014/main" id="{79D0CA48-29F7-45D2-849E-86C9D96D8EBB}"/>
              </a:ext>
            </a:extLst>
          </p:cNvPr>
          <p:cNvSpPr>
            <a:spLocks noGrp="1"/>
          </p:cNvSpPr>
          <p:nvPr/>
        </p:nvSpPr>
        <p:spPr>
          <a:xfrm>
            <a:off x="4648200" y="465772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p. ej. GPT-4.1-mini para visión/copy</a:t>
            </a:r>
          </a:p>
        </p:txBody>
      </p:sp>
      <p:sp>
        <p:nvSpPr>
          <p:cNvPr id="33" name="Rectángulo 32">
            <a:extLst>
              <a:ext uri="{FF2B5EF4-FFF2-40B4-BE49-F238E27FC236}">
                <a16:creationId xmlns:a16="http://schemas.microsoft.com/office/drawing/2014/main" id="{BB40AB79-4384-42EF-8655-041C6533D2E5}"/>
              </a:ext>
            </a:extLst>
          </p:cNvPr>
          <p:cNvSpPr>
            <a:spLocks noGrp="1"/>
          </p:cNvSpPr>
          <p:nvPr/>
        </p:nvSpPr>
        <p:spPr>
          <a:xfrm>
            <a:off x="8505825" y="2781300"/>
            <a:ext cx="2857500" cy="209550"/>
          </a:xfrm>
          <a:prstGeom prst="rect">
            <a:avLst/>
          </a:prstGeom>
          <a:noFill/>
          <a:ln w="0">
            <a:noFill/>
          </a:ln>
        </p:spPr>
        <p:txBody>
          <a:bodyPr anchor="t">
            <a:noAutofit/>
          </a:bodyPr>
          <a:lstStyle/>
          <a:p>
            <a:pPr>
              <a:defRPr sz="1125" b="1" i="0">
                <a:solidFill>
                  <a:srgbClr val="009566"/>
                </a:solidFill>
                <a:latin typeface="Aptos"/>
                <a:ea typeface="Aptos"/>
                <a:cs typeface="Aptos"/>
              </a:defRPr>
            </a:pPr>
            <a:r>
              <a:rPr sz="1200" b="1" i="0">
                <a:solidFill>
                  <a:srgbClr val="009566"/>
                </a:solidFill>
                <a:latin typeface="Aptos"/>
                <a:ea typeface="Aptos"/>
                <a:cs typeface="Aptos"/>
              </a:rPr>
              <a:t>Memory flush</a:t>
            </a:r>
          </a:p>
        </p:txBody>
      </p:sp>
      <p:sp>
        <p:nvSpPr>
          <p:cNvPr id="34" name="Rectángulo 33">
            <a:extLst>
              <a:ext uri="{FF2B5EF4-FFF2-40B4-BE49-F238E27FC236}">
                <a16:creationId xmlns:a16="http://schemas.microsoft.com/office/drawing/2014/main" id="{27C7955B-F8AE-4A8C-9E74-88A19485277F}"/>
              </a:ext>
            </a:extLst>
          </p:cNvPr>
          <p:cNvSpPr>
            <a:spLocks noGrp="1"/>
          </p:cNvSpPr>
          <p:nvPr/>
        </p:nvSpPr>
        <p:spPr>
          <a:xfrm>
            <a:off x="8505825" y="300037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Haiku 4.5 + embeddings · por trigger</a:t>
            </a:r>
          </a:p>
        </p:txBody>
      </p:sp>
      <p:sp>
        <p:nvSpPr>
          <p:cNvPr id="35" name="Rectángulo 34">
            <a:extLst>
              <a:ext uri="{FF2B5EF4-FFF2-40B4-BE49-F238E27FC236}">
                <a16:creationId xmlns:a16="http://schemas.microsoft.com/office/drawing/2014/main" id="{3A013E83-277E-471F-95B2-F07446840E41}"/>
              </a:ext>
            </a:extLst>
          </p:cNvPr>
          <p:cNvSpPr>
            <a:spLocks noGrp="1"/>
          </p:cNvSpPr>
          <p:nvPr/>
        </p:nvSpPr>
        <p:spPr>
          <a:xfrm>
            <a:off x="8505825" y="3333750"/>
            <a:ext cx="2857500" cy="209550"/>
          </a:xfrm>
          <a:prstGeom prst="rect">
            <a:avLst/>
          </a:prstGeom>
          <a:noFill/>
          <a:ln w="0">
            <a:noFill/>
          </a:ln>
        </p:spPr>
        <p:txBody>
          <a:bodyPr anchor="t">
            <a:noAutofit/>
          </a:bodyPr>
          <a:lstStyle/>
          <a:p>
            <a:pPr>
              <a:defRPr sz="1125" b="1" i="0">
                <a:solidFill>
                  <a:srgbClr val="009566"/>
                </a:solidFill>
                <a:latin typeface="Aptos"/>
                <a:ea typeface="Aptos"/>
                <a:cs typeface="Aptos"/>
              </a:defRPr>
            </a:pPr>
            <a:r>
              <a:rPr sz="1200" b="1" i="0">
                <a:solidFill>
                  <a:srgbClr val="009566"/>
                </a:solidFill>
                <a:latin typeface="Aptos"/>
                <a:ea typeface="Aptos"/>
                <a:cs typeface="Aptos"/>
              </a:rPr>
              <a:t>Business Brain reviewer</a:t>
            </a:r>
          </a:p>
        </p:txBody>
      </p:sp>
      <p:sp>
        <p:nvSpPr>
          <p:cNvPr id="36" name="Rectángulo 35">
            <a:extLst>
              <a:ext uri="{FF2B5EF4-FFF2-40B4-BE49-F238E27FC236}">
                <a16:creationId xmlns:a16="http://schemas.microsoft.com/office/drawing/2014/main" id="{B0E733D7-CE5F-4B6A-AF32-09C39BD8EC54}"/>
              </a:ext>
            </a:extLst>
          </p:cNvPr>
          <p:cNvSpPr>
            <a:spLocks noGrp="1"/>
          </p:cNvSpPr>
          <p:nvPr/>
        </p:nvSpPr>
        <p:spPr>
          <a:xfrm>
            <a:off x="8505825" y="355282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Haiku 4.5 · Settings / revisión</a:t>
            </a:r>
          </a:p>
        </p:txBody>
      </p:sp>
      <p:sp>
        <p:nvSpPr>
          <p:cNvPr id="37" name="Rectángulo 36">
            <a:extLst>
              <a:ext uri="{FF2B5EF4-FFF2-40B4-BE49-F238E27FC236}">
                <a16:creationId xmlns:a16="http://schemas.microsoft.com/office/drawing/2014/main" id="{78D44935-7372-4A65-A2B1-846B4C83817C}"/>
              </a:ext>
            </a:extLst>
          </p:cNvPr>
          <p:cNvSpPr>
            <a:spLocks noGrp="1"/>
          </p:cNvSpPr>
          <p:nvPr/>
        </p:nvSpPr>
        <p:spPr>
          <a:xfrm>
            <a:off x="8505825" y="3886200"/>
            <a:ext cx="2857500" cy="209550"/>
          </a:xfrm>
          <a:prstGeom prst="rect">
            <a:avLst/>
          </a:prstGeom>
          <a:noFill/>
          <a:ln w="0">
            <a:noFill/>
          </a:ln>
        </p:spPr>
        <p:txBody>
          <a:bodyPr anchor="t">
            <a:noAutofit/>
          </a:bodyPr>
          <a:lstStyle/>
          <a:p>
            <a:pPr>
              <a:defRPr sz="1125" b="1" i="0">
                <a:solidFill>
                  <a:srgbClr val="009566"/>
                </a:solidFill>
                <a:latin typeface="Aptos"/>
                <a:ea typeface="Aptos"/>
                <a:cs typeface="Aptos"/>
              </a:defRPr>
            </a:pPr>
            <a:r>
              <a:rPr sz="1200" b="1" i="0">
                <a:solidFill>
                  <a:srgbClr val="009566"/>
                </a:solidFill>
                <a:latin typeface="Aptos"/>
                <a:ea typeface="Aptos"/>
                <a:cs typeface="Aptos"/>
              </a:rPr>
              <a:t>R1 / workflow workers</a:t>
            </a:r>
          </a:p>
        </p:txBody>
      </p:sp>
      <p:sp>
        <p:nvSpPr>
          <p:cNvPr id="38" name="Rectángulo 37">
            <a:extLst>
              <a:ext uri="{FF2B5EF4-FFF2-40B4-BE49-F238E27FC236}">
                <a16:creationId xmlns:a16="http://schemas.microsoft.com/office/drawing/2014/main" id="{86E3CD6E-1AC4-4E32-8E0E-9EE7469E84DE}"/>
              </a:ext>
            </a:extLst>
          </p:cNvPr>
          <p:cNvSpPr>
            <a:spLocks noGrp="1"/>
          </p:cNvSpPr>
          <p:nvPr/>
        </p:nvSpPr>
        <p:spPr>
          <a:xfrm>
            <a:off x="8505825" y="410527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Clasificadores, verifiers y judges</a:t>
            </a:r>
          </a:p>
        </p:txBody>
      </p:sp>
      <p:sp>
        <p:nvSpPr>
          <p:cNvPr id="39" name="Rectángulo 38">
            <a:extLst>
              <a:ext uri="{FF2B5EF4-FFF2-40B4-BE49-F238E27FC236}">
                <a16:creationId xmlns:a16="http://schemas.microsoft.com/office/drawing/2014/main" id="{6C099425-DB15-4A13-B234-37C1646E9341}"/>
              </a:ext>
            </a:extLst>
          </p:cNvPr>
          <p:cNvSpPr>
            <a:spLocks noGrp="1"/>
          </p:cNvSpPr>
          <p:nvPr/>
        </p:nvSpPr>
        <p:spPr>
          <a:xfrm>
            <a:off x="8505825" y="4438650"/>
            <a:ext cx="2857500" cy="209550"/>
          </a:xfrm>
          <a:prstGeom prst="rect">
            <a:avLst/>
          </a:prstGeom>
          <a:noFill/>
          <a:ln w="0">
            <a:noFill/>
          </a:ln>
        </p:spPr>
        <p:txBody>
          <a:bodyPr anchor="t">
            <a:noAutofit/>
          </a:bodyPr>
          <a:lstStyle/>
          <a:p>
            <a:pPr>
              <a:defRPr sz="1125" b="1" i="0">
                <a:solidFill>
                  <a:srgbClr val="009566"/>
                </a:solidFill>
                <a:latin typeface="Aptos"/>
                <a:ea typeface="Aptos"/>
                <a:cs typeface="Aptos"/>
              </a:defRPr>
            </a:pPr>
            <a:r>
              <a:rPr sz="1200" b="1" i="0">
                <a:solidFill>
                  <a:srgbClr val="009566"/>
                </a:solidFill>
                <a:latin typeface="Aptos"/>
                <a:ea typeface="Aptos"/>
                <a:cs typeface="Aptos"/>
              </a:rPr>
              <a:t>Studio</a:t>
            </a:r>
          </a:p>
        </p:txBody>
      </p:sp>
      <p:sp>
        <p:nvSpPr>
          <p:cNvPr id="40" name="Rectángulo 39">
            <a:extLst>
              <a:ext uri="{FF2B5EF4-FFF2-40B4-BE49-F238E27FC236}">
                <a16:creationId xmlns:a16="http://schemas.microsoft.com/office/drawing/2014/main" id="{BD1F3D49-3D2B-4BB6-AD48-C4D722D0056D}"/>
              </a:ext>
            </a:extLst>
          </p:cNvPr>
          <p:cNvSpPr>
            <a:spLocks noGrp="1"/>
          </p:cNvSpPr>
          <p:nvPr/>
        </p:nvSpPr>
        <p:spPr>
          <a:xfrm>
            <a:off x="8505825" y="4657725"/>
            <a:ext cx="2857500" cy="190500"/>
          </a:xfrm>
          <a:prstGeom prst="rect">
            <a:avLst/>
          </a:prstGeom>
          <a:noFill/>
          <a:ln w="0">
            <a:noFill/>
          </a:ln>
        </p:spPr>
        <p:txBody>
          <a:bodyPr anchor="t">
            <a:noAutofit/>
          </a:bodyPr>
          <a:lstStyle/>
          <a:p>
            <a:pPr>
              <a:defRPr sz="1050" b="0" i="0">
                <a:solidFill>
                  <a:srgbClr val="756F91"/>
                </a:solidFill>
                <a:latin typeface="Aptos"/>
                <a:ea typeface="Aptos"/>
                <a:cs typeface="Aptos"/>
              </a:defRPr>
            </a:pPr>
            <a:r>
              <a:rPr sz="1000" b="0" i="0">
                <a:solidFill>
                  <a:srgbClr val="756F91"/>
                </a:solidFill>
                <a:latin typeface="Aptos"/>
                <a:ea typeface="Aptos"/>
                <a:cs typeface="Aptos"/>
              </a:rPr>
              <a:t>Primario económico + escalamiento explícito</a:t>
            </a:r>
          </a:p>
        </p:txBody>
      </p:sp>
      <p:sp>
        <p:nvSpPr>
          <p:cNvPr id="41" name="Rectángulo: esquinas redondeadas 40">
            <a:extLst>
              <a:ext uri="{FF2B5EF4-FFF2-40B4-BE49-F238E27FC236}">
                <a16:creationId xmlns:a16="http://schemas.microsoft.com/office/drawing/2014/main" id="{0C4DDC35-0B17-4686-BA19-5545C736D707}"/>
              </a:ext>
            </a:extLst>
          </p:cNvPr>
          <p:cNvSpPr>
            <a:spLocks noGrp="1"/>
          </p:cNvSpPr>
          <p:nvPr/>
        </p:nvSpPr>
        <p:spPr>
          <a:xfrm>
            <a:off x="571500" y="5524500"/>
            <a:ext cx="11049000" cy="514350"/>
          </a:xfrm>
          <a:prstGeom prst="roundRect">
            <a:avLst>
              <a:gd name="adj" fmla="val 18519"/>
            </a:avLst>
          </a:prstGeom>
          <a:solidFill>
            <a:srgbClr val="211D31"/>
          </a:solidFill>
          <a:ln w="9525">
            <a:solidFill>
              <a:srgbClr val="211D31"/>
            </a:solidFill>
            <a:prstDash val="solid"/>
          </a:ln>
        </p:spPr>
        <p:txBody>
          <a:bodyPr/>
          <a:lstStyle/>
          <a:p>
            <a:endParaRPr lang="es-MX"/>
          </a:p>
        </p:txBody>
      </p:sp>
      <p:sp>
        <p:nvSpPr>
          <p:cNvPr id="42" name="Rectángulo 41">
            <a:extLst>
              <a:ext uri="{FF2B5EF4-FFF2-40B4-BE49-F238E27FC236}">
                <a16:creationId xmlns:a16="http://schemas.microsoft.com/office/drawing/2014/main" id="{C40A0B9C-4E7D-4E7B-9FB1-F8659743E6E4}"/>
              </a:ext>
            </a:extLst>
          </p:cNvPr>
          <p:cNvSpPr>
            <a:spLocks noGrp="1"/>
          </p:cNvSpPr>
          <p:nvPr/>
        </p:nvSpPr>
        <p:spPr>
          <a:xfrm>
            <a:off x="781050" y="5618094"/>
            <a:ext cx="1809750" cy="228600"/>
          </a:xfrm>
          <a:prstGeom prst="rect">
            <a:avLst/>
          </a:prstGeom>
          <a:noFill/>
          <a:ln w="0">
            <a:noFill/>
          </a:ln>
        </p:spPr>
        <p:txBody>
          <a:bodyPr anchor="t">
            <a:noAutofit/>
          </a:bodyPr>
          <a:lstStyle/>
          <a:p>
            <a:pPr>
              <a:defRPr sz="1200" b="1" i="0">
                <a:solidFill>
                  <a:srgbClr val="F39A24"/>
                </a:solidFill>
                <a:latin typeface="Aptos"/>
                <a:ea typeface="Aptos"/>
                <a:cs typeface="Aptos"/>
              </a:defRPr>
            </a:pPr>
            <a:r>
              <a:rPr sz="1400" b="1" i="0" dirty="0" err="1">
                <a:solidFill>
                  <a:srgbClr val="F39A24"/>
                </a:solidFill>
                <a:latin typeface="Aptos"/>
                <a:ea typeface="Aptos"/>
                <a:cs typeface="Aptos"/>
              </a:rPr>
              <a:t>Nodo</a:t>
            </a:r>
            <a:r>
              <a:rPr sz="1400" b="1" i="0" dirty="0">
                <a:solidFill>
                  <a:srgbClr val="F39A24"/>
                </a:solidFill>
                <a:latin typeface="Aptos"/>
                <a:ea typeface="Aptos"/>
                <a:cs typeface="Aptos"/>
              </a:rPr>
              <a:t> ≠ model call</a:t>
            </a:r>
          </a:p>
        </p:txBody>
      </p:sp>
      <p:sp>
        <p:nvSpPr>
          <p:cNvPr id="43" name="Rectángulo 42">
            <a:extLst>
              <a:ext uri="{FF2B5EF4-FFF2-40B4-BE49-F238E27FC236}">
                <a16:creationId xmlns:a16="http://schemas.microsoft.com/office/drawing/2014/main" id="{75FCE1D8-6DE8-467C-98CA-6FDD4B94A696}"/>
              </a:ext>
            </a:extLst>
          </p:cNvPr>
          <p:cNvSpPr>
            <a:spLocks noGrp="1"/>
          </p:cNvSpPr>
          <p:nvPr/>
        </p:nvSpPr>
        <p:spPr>
          <a:xfrm>
            <a:off x="2619375" y="5629275"/>
            <a:ext cx="8763000" cy="266700"/>
          </a:xfrm>
          <a:prstGeom prst="rect">
            <a:avLst/>
          </a:prstGeom>
          <a:noFill/>
          <a:ln w="0">
            <a:noFill/>
          </a:ln>
        </p:spPr>
        <p:txBody>
          <a:bodyPr anchor="t">
            <a:noAutofit/>
          </a:bodyPr>
          <a:lstStyle/>
          <a:p>
            <a:pPr>
              <a:defRPr sz="1200" b="1" i="0">
                <a:solidFill>
                  <a:srgbClr val="FFFFFF"/>
                </a:solidFill>
                <a:latin typeface="Aptos"/>
                <a:ea typeface="Aptos"/>
                <a:cs typeface="Aptos"/>
              </a:defRPr>
            </a:pPr>
            <a:r>
              <a:rPr sz="1400" b="1" i="0" dirty="0">
                <a:solidFill>
                  <a:srgbClr val="FFFFFF"/>
                </a:solidFill>
                <a:latin typeface="Aptos"/>
                <a:ea typeface="Aptos"/>
                <a:cs typeface="Aptos"/>
              </a:rPr>
              <a:t>Un </a:t>
            </a:r>
            <a:r>
              <a:rPr sz="1400" b="1" i="0" dirty="0" err="1">
                <a:solidFill>
                  <a:srgbClr val="FFFFFF"/>
                </a:solidFill>
                <a:latin typeface="Aptos"/>
                <a:ea typeface="Aptos"/>
                <a:cs typeface="Aptos"/>
              </a:rPr>
              <a:t>nodo</a:t>
            </a:r>
            <a:r>
              <a:rPr sz="1400" b="1" i="0" dirty="0">
                <a:solidFill>
                  <a:srgbClr val="FFFFFF"/>
                </a:solidFill>
                <a:latin typeface="Aptos"/>
                <a:ea typeface="Aptos"/>
                <a:cs typeface="Aptos"/>
              </a:rPr>
              <a:t> </a:t>
            </a:r>
            <a:r>
              <a:rPr sz="1400" b="1" i="0" dirty="0" err="1">
                <a:solidFill>
                  <a:srgbClr val="FFFFFF"/>
                </a:solidFill>
                <a:latin typeface="Aptos"/>
                <a:ea typeface="Aptos"/>
                <a:cs typeface="Aptos"/>
              </a:rPr>
              <a:t>puede</a:t>
            </a:r>
            <a:r>
              <a:rPr sz="1400" b="1" i="0" dirty="0">
                <a:solidFill>
                  <a:srgbClr val="FFFFFF"/>
                </a:solidFill>
                <a:latin typeface="Aptos"/>
                <a:ea typeface="Aptos"/>
                <a:cs typeface="Aptos"/>
              </a:rPr>
              <a:t> ser </a:t>
            </a:r>
            <a:r>
              <a:rPr sz="1400" b="1" i="0" dirty="0" err="1">
                <a:solidFill>
                  <a:srgbClr val="FFFFFF"/>
                </a:solidFill>
                <a:latin typeface="Aptos"/>
                <a:ea typeface="Aptos"/>
                <a:cs typeface="Aptos"/>
              </a:rPr>
              <a:t>determinístico</a:t>
            </a:r>
            <a:r>
              <a:rPr sz="1400" b="1" i="0" dirty="0">
                <a:solidFill>
                  <a:srgbClr val="FFFFFF"/>
                </a:solidFill>
                <a:latin typeface="Aptos"/>
                <a:ea typeface="Aptos"/>
                <a:cs typeface="Aptos"/>
              </a:rPr>
              <a:t>, </a:t>
            </a:r>
            <a:r>
              <a:rPr sz="1400" b="1" i="0" dirty="0" err="1">
                <a:solidFill>
                  <a:srgbClr val="FFFFFF"/>
                </a:solidFill>
                <a:latin typeface="Aptos"/>
                <a:ea typeface="Aptos"/>
                <a:cs typeface="Aptos"/>
              </a:rPr>
              <a:t>llamar</a:t>
            </a:r>
            <a:r>
              <a:rPr sz="1400" b="1" i="0" dirty="0">
                <a:solidFill>
                  <a:srgbClr val="FFFFFF"/>
                </a:solidFill>
                <a:latin typeface="Aptos"/>
                <a:ea typeface="Aptos"/>
                <a:cs typeface="Aptos"/>
              </a:rPr>
              <a:t> un </a:t>
            </a:r>
            <a:r>
              <a:rPr sz="1400" b="1" i="0" dirty="0" err="1">
                <a:solidFill>
                  <a:srgbClr val="FFFFFF"/>
                </a:solidFill>
                <a:latin typeface="Aptos"/>
                <a:ea typeface="Aptos"/>
                <a:cs typeface="Aptos"/>
              </a:rPr>
              <a:t>modelo</a:t>
            </a:r>
            <a:r>
              <a:rPr sz="1400" b="1" i="0" dirty="0">
                <a:solidFill>
                  <a:srgbClr val="FFFFFF"/>
                </a:solidFill>
                <a:latin typeface="Aptos"/>
                <a:ea typeface="Aptos"/>
                <a:cs typeface="Aptos"/>
              </a:rPr>
              <a:t> o </a:t>
            </a:r>
            <a:r>
              <a:rPr sz="1400" b="1" i="0" dirty="0" err="1">
                <a:solidFill>
                  <a:srgbClr val="FFFFFF"/>
                </a:solidFill>
                <a:latin typeface="Aptos"/>
                <a:ea typeface="Aptos"/>
                <a:cs typeface="Aptos"/>
              </a:rPr>
              <a:t>ejecutar</a:t>
            </a:r>
            <a:r>
              <a:rPr sz="1400" b="1" i="0" dirty="0">
                <a:solidFill>
                  <a:srgbClr val="FFFFFF"/>
                </a:solidFill>
                <a:latin typeface="Aptos"/>
                <a:ea typeface="Aptos"/>
                <a:cs typeface="Aptos"/>
              </a:rPr>
              <a:t> </a:t>
            </a:r>
            <a:r>
              <a:rPr sz="1400" b="1" i="0" dirty="0" err="1">
                <a:solidFill>
                  <a:srgbClr val="FFFFFF"/>
                </a:solidFill>
                <a:latin typeface="Aptos"/>
                <a:ea typeface="Aptos"/>
                <a:cs typeface="Aptos"/>
              </a:rPr>
              <a:t>una</a:t>
            </a:r>
            <a:r>
              <a:rPr sz="1400" b="1" i="0" dirty="0">
                <a:solidFill>
                  <a:srgbClr val="FFFFFF"/>
                </a:solidFill>
                <a:latin typeface="Aptos"/>
                <a:ea typeface="Aptos"/>
                <a:cs typeface="Aptos"/>
              </a:rPr>
              <a:t> tool </a:t>
            </a:r>
            <a:r>
              <a:rPr sz="1400" b="1" i="0" dirty="0" err="1">
                <a:solidFill>
                  <a:srgbClr val="FFFFFF"/>
                </a:solidFill>
                <a:latin typeface="Aptos"/>
                <a:ea typeface="Aptos"/>
                <a:cs typeface="Aptos"/>
              </a:rPr>
              <a:t>que</a:t>
            </a:r>
            <a:r>
              <a:rPr sz="1400" b="1" i="0" dirty="0">
                <a:solidFill>
                  <a:srgbClr val="FFFFFF"/>
                </a:solidFill>
                <a:latin typeface="Aptos"/>
                <a:ea typeface="Aptos"/>
                <a:cs typeface="Aptos"/>
              </a:rPr>
              <a:t> a </a:t>
            </a:r>
            <a:r>
              <a:rPr sz="1400" b="1" i="0" dirty="0" err="1">
                <a:solidFill>
                  <a:srgbClr val="FFFFFF"/>
                </a:solidFill>
                <a:latin typeface="Aptos"/>
                <a:ea typeface="Aptos"/>
                <a:cs typeface="Aptos"/>
              </a:rPr>
              <a:t>su</a:t>
            </a:r>
            <a:r>
              <a:rPr sz="1400" b="1" i="0" dirty="0">
                <a:solidFill>
                  <a:srgbClr val="FFFFFF"/>
                </a:solidFill>
                <a:latin typeface="Aptos"/>
                <a:ea typeface="Aptos"/>
                <a:cs typeface="Aptos"/>
              </a:rPr>
              <a:t> </a:t>
            </a:r>
            <a:r>
              <a:rPr sz="1400" b="1" i="0" dirty="0" err="1">
                <a:solidFill>
                  <a:srgbClr val="FFFFFF"/>
                </a:solidFill>
                <a:latin typeface="Aptos"/>
                <a:ea typeface="Aptos"/>
                <a:cs typeface="Aptos"/>
              </a:rPr>
              <a:t>vez</a:t>
            </a:r>
            <a:r>
              <a:rPr sz="1400" b="1" i="0" dirty="0">
                <a:solidFill>
                  <a:srgbClr val="FFFFFF"/>
                </a:solidFill>
                <a:latin typeface="Aptos"/>
                <a:ea typeface="Aptos"/>
                <a:cs typeface="Aptos"/>
              </a:rPr>
              <a:t> use </a:t>
            </a:r>
            <a:r>
              <a:rPr sz="1400" b="1" i="0" dirty="0" err="1">
                <a:solidFill>
                  <a:srgbClr val="FFFFFF"/>
                </a:solidFill>
                <a:latin typeface="Aptos"/>
                <a:ea typeface="Aptos"/>
                <a:cs typeface="Aptos"/>
              </a:rPr>
              <a:t>otro</a:t>
            </a:r>
            <a:r>
              <a:rPr sz="1400" b="1" i="0" dirty="0">
                <a:solidFill>
                  <a:srgbClr val="FFFFFF"/>
                </a:solidFill>
                <a:latin typeface="Aptos"/>
                <a:ea typeface="Aptos"/>
                <a:cs typeface="Aptos"/>
              </a:rPr>
              <a:t> </a:t>
            </a:r>
            <a:r>
              <a:rPr sz="1400" b="1" i="0" dirty="0" err="1">
                <a:solidFill>
                  <a:srgbClr val="FFFFFF"/>
                </a:solidFill>
                <a:latin typeface="Aptos"/>
                <a:ea typeface="Aptos"/>
                <a:cs typeface="Aptos"/>
              </a:rPr>
              <a:t>modelo</a:t>
            </a:r>
            <a:r>
              <a:rPr sz="1400" b="1" i="0" dirty="0">
                <a:solidFill>
                  <a:srgbClr val="FFFFFF"/>
                </a:solidFill>
                <a:latin typeface="Aptos"/>
                <a:ea typeface="Aptos"/>
                <a:cs typeface="Aptos"/>
              </a:rPr>
              <a:t>.</a:t>
            </a:r>
          </a:p>
        </p:txBody>
      </p:sp>
      <p:sp>
        <p:nvSpPr>
          <p:cNvPr id="44" name="Elipse 43">
            <a:extLst>
              <a:ext uri="{FF2B5EF4-FFF2-40B4-BE49-F238E27FC236}">
                <a16:creationId xmlns:a16="http://schemas.microsoft.com/office/drawing/2014/main" id="{8C171485-EE5A-43FA-A5C0-CEF1F7FE482B}"/>
              </a:ext>
            </a:extLst>
          </p:cNvPr>
          <p:cNvSpPr>
            <a:spLocks noGrp="1"/>
          </p:cNvSpPr>
          <p:nvPr/>
        </p:nvSpPr>
        <p:spPr>
          <a:xfrm>
            <a:off x="1524000" y="6210300"/>
            <a:ext cx="95250" cy="95250"/>
          </a:xfrm>
          <a:prstGeom prst="ellipse">
            <a:avLst/>
          </a:prstGeom>
          <a:solidFill>
            <a:srgbClr val="5C2DD2"/>
          </a:solidFill>
          <a:ln w="0">
            <a:solidFill>
              <a:srgbClr val="5C2DD2"/>
            </a:solidFill>
          </a:ln>
        </p:spPr>
        <p:txBody>
          <a:bodyPr/>
          <a:lstStyle/>
          <a:p>
            <a:endParaRPr lang="es-MX"/>
          </a:p>
        </p:txBody>
      </p:sp>
      <p:sp>
        <p:nvSpPr>
          <p:cNvPr id="45" name="Rectángulo 44">
            <a:extLst>
              <a:ext uri="{FF2B5EF4-FFF2-40B4-BE49-F238E27FC236}">
                <a16:creationId xmlns:a16="http://schemas.microsoft.com/office/drawing/2014/main" id="{3CE3AF41-BFEA-46AE-8604-B5CF1B9733D7}"/>
              </a:ext>
            </a:extLst>
          </p:cNvPr>
          <p:cNvSpPr>
            <a:spLocks noGrp="1"/>
          </p:cNvSpPr>
          <p:nvPr/>
        </p:nvSpPr>
        <p:spPr>
          <a:xfrm>
            <a:off x="1676400" y="6172200"/>
            <a:ext cx="25908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siempre en turno normal</a:t>
            </a:r>
          </a:p>
        </p:txBody>
      </p:sp>
      <p:sp>
        <p:nvSpPr>
          <p:cNvPr id="46" name="Elipse 45">
            <a:extLst>
              <a:ext uri="{FF2B5EF4-FFF2-40B4-BE49-F238E27FC236}">
                <a16:creationId xmlns:a16="http://schemas.microsoft.com/office/drawing/2014/main" id="{3D123A40-F631-45BE-8BFA-227CB5620404}"/>
              </a:ext>
            </a:extLst>
          </p:cNvPr>
          <p:cNvSpPr>
            <a:spLocks noGrp="1"/>
          </p:cNvSpPr>
          <p:nvPr/>
        </p:nvSpPr>
        <p:spPr>
          <a:xfrm>
            <a:off x="4381500" y="6210300"/>
            <a:ext cx="95250" cy="95250"/>
          </a:xfrm>
          <a:prstGeom prst="ellipse">
            <a:avLst/>
          </a:prstGeom>
          <a:solidFill>
            <a:srgbClr val="F39A24"/>
          </a:solidFill>
          <a:ln w="0">
            <a:solidFill>
              <a:srgbClr val="F39A24"/>
            </a:solidFill>
          </a:ln>
        </p:spPr>
        <p:txBody>
          <a:bodyPr/>
          <a:lstStyle/>
          <a:p>
            <a:endParaRPr lang="es-MX"/>
          </a:p>
        </p:txBody>
      </p:sp>
      <p:sp>
        <p:nvSpPr>
          <p:cNvPr id="47" name="Rectángulo 46">
            <a:extLst>
              <a:ext uri="{FF2B5EF4-FFF2-40B4-BE49-F238E27FC236}">
                <a16:creationId xmlns:a16="http://schemas.microsoft.com/office/drawing/2014/main" id="{AA31D8C9-D740-4A65-A2F1-699349DB24D4}"/>
              </a:ext>
            </a:extLst>
          </p:cNvPr>
          <p:cNvSpPr>
            <a:spLocks noGrp="1"/>
          </p:cNvSpPr>
          <p:nvPr/>
        </p:nvSpPr>
        <p:spPr>
          <a:xfrm>
            <a:off x="4533900" y="6172200"/>
            <a:ext cx="25908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condicional</a:t>
            </a:r>
          </a:p>
        </p:txBody>
      </p:sp>
      <p:sp>
        <p:nvSpPr>
          <p:cNvPr id="48" name="Elipse 47">
            <a:extLst>
              <a:ext uri="{FF2B5EF4-FFF2-40B4-BE49-F238E27FC236}">
                <a16:creationId xmlns:a16="http://schemas.microsoft.com/office/drawing/2014/main" id="{2A0C1ECC-EDDF-4CF9-AF9A-409ED86AD605}"/>
              </a:ext>
            </a:extLst>
          </p:cNvPr>
          <p:cNvSpPr>
            <a:spLocks noGrp="1"/>
          </p:cNvSpPr>
          <p:nvPr/>
        </p:nvSpPr>
        <p:spPr>
          <a:xfrm>
            <a:off x="7239000" y="6210300"/>
            <a:ext cx="95250" cy="95250"/>
          </a:xfrm>
          <a:prstGeom prst="ellipse">
            <a:avLst/>
          </a:prstGeom>
          <a:solidFill>
            <a:srgbClr val="009566"/>
          </a:solidFill>
          <a:ln w="0">
            <a:solidFill>
              <a:srgbClr val="009566"/>
            </a:solidFill>
          </a:ln>
        </p:spPr>
        <p:txBody>
          <a:bodyPr/>
          <a:lstStyle/>
          <a:p>
            <a:endParaRPr lang="es-MX"/>
          </a:p>
        </p:txBody>
      </p:sp>
      <p:sp>
        <p:nvSpPr>
          <p:cNvPr id="49" name="Rectángulo 48">
            <a:extLst>
              <a:ext uri="{FF2B5EF4-FFF2-40B4-BE49-F238E27FC236}">
                <a16:creationId xmlns:a16="http://schemas.microsoft.com/office/drawing/2014/main" id="{EF934848-AB0C-4902-B443-5D4095F97A8B}"/>
              </a:ext>
            </a:extLst>
          </p:cNvPr>
          <p:cNvSpPr>
            <a:spLocks noGrp="1"/>
          </p:cNvSpPr>
          <p:nvPr/>
        </p:nvSpPr>
        <p:spPr>
          <a:xfrm>
            <a:off x="7391400" y="6172200"/>
            <a:ext cx="2590800" cy="190500"/>
          </a:xfrm>
          <a:prstGeom prst="rect">
            <a:avLst/>
          </a:prstGeom>
          <a:noFill/>
          <a:ln w="0">
            <a:noFill/>
          </a:ln>
        </p:spPr>
        <p:txBody>
          <a:bodyPr anchor="t">
            <a:normAutofit fontScale="86288" lnSpcReduction="10000"/>
          </a:bodyPr>
          <a:lstStyle/>
          <a:p>
            <a:pPr>
              <a:defRPr sz="825" b="0" i="0">
                <a:solidFill>
                  <a:srgbClr val="756F91"/>
                </a:solidFill>
                <a:latin typeface="Aptos"/>
                <a:ea typeface="Aptos"/>
                <a:cs typeface="Aptos"/>
              </a:defRPr>
            </a:pPr>
            <a:r>
              <a:rPr sz="825" b="0" i="0">
                <a:solidFill>
                  <a:srgbClr val="756F91"/>
                </a:solidFill>
                <a:latin typeface="Aptos"/>
                <a:ea typeface="Aptos"/>
                <a:cs typeface="Aptos"/>
              </a:rPr>
              <a:t>fuera del StateGraph</a:t>
            </a:r>
          </a:p>
        </p:txBody>
      </p:sp>
    </p:spTree>
    <p:extLst>
      <p:ext uri="{BB962C8B-B14F-4D97-AF65-F5344CB8AC3E}">
        <p14:creationId xmlns:p14="http://schemas.microsoft.com/office/powerpoint/2010/main" val="206470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9684E0C4-6447-4CE2-8B2E-AA3B2923AA3E}"/>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A4D2681E-07F8-4491-8944-CB95625D14C5}"/>
              </a:ext>
            </a:extLst>
          </p:cNvPr>
          <p:cNvSpPr>
            <a:spLocks noGrp="1"/>
          </p:cNvSpPr>
          <p:nvPr/>
        </p:nvSpPr>
        <p:spPr>
          <a:xfrm>
            <a:off x="571500" y="400050"/>
            <a:ext cx="885825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ACTUAL · CONFIGURACIÓN</a:t>
            </a:r>
          </a:p>
        </p:txBody>
      </p:sp>
      <p:sp>
        <p:nvSpPr>
          <p:cNvPr id="3" name="Rectángulo 2">
            <a:extLst>
              <a:ext uri="{FF2B5EF4-FFF2-40B4-BE49-F238E27FC236}">
                <a16:creationId xmlns:a16="http://schemas.microsoft.com/office/drawing/2014/main" id="{516D9AB2-19B4-4EA9-BE80-F50E7B10DB0F}"/>
              </a:ext>
            </a:extLst>
          </p:cNvPr>
          <p:cNvSpPr>
            <a:spLocks noGrp="1"/>
          </p:cNvSpPr>
          <p:nvPr/>
        </p:nvSpPr>
        <p:spPr>
          <a:xfrm>
            <a:off x="571500" y="742950"/>
            <a:ext cx="10287000" cy="704850"/>
          </a:xfrm>
          <a:prstGeom prst="rect">
            <a:avLst/>
          </a:prstGeom>
          <a:noFill/>
          <a:ln w="0">
            <a:noFill/>
          </a:ln>
        </p:spPr>
        <p:txBody>
          <a:bodyPr anchor="t">
            <a:normAutofit/>
          </a:bodyPr>
          <a:lstStyle/>
          <a:p>
            <a:pPr>
              <a:defRPr sz="2400" b="1" i="0">
                <a:solidFill>
                  <a:srgbClr val="1F1B30"/>
                </a:solidFill>
                <a:latin typeface="Aptos"/>
                <a:ea typeface="Aptos"/>
                <a:cs typeface="Aptos"/>
              </a:defRPr>
            </a:pPr>
            <a:r>
              <a:rPr sz="2400" b="1" i="0" dirty="0" err="1">
                <a:solidFill>
                  <a:srgbClr val="1F1B30"/>
                </a:solidFill>
                <a:latin typeface="Aptos"/>
                <a:ea typeface="Aptos"/>
                <a:cs typeface="Aptos"/>
              </a:rPr>
              <a:t>Portafolio</a:t>
            </a:r>
            <a:r>
              <a:rPr sz="2400" b="1" i="0" dirty="0">
                <a:solidFill>
                  <a:srgbClr val="1F1B30"/>
                </a:solidFill>
                <a:latin typeface="Aptos"/>
                <a:ea typeface="Aptos"/>
                <a:cs typeface="Aptos"/>
              </a:rPr>
              <a:t> de </a:t>
            </a:r>
            <a:r>
              <a:rPr sz="2400" b="1" i="0" dirty="0" err="1">
                <a:solidFill>
                  <a:srgbClr val="1F1B30"/>
                </a:solidFill>
                <a:latin typeface="Aptos"/>
                <a:ea typeface="Aptos"/>
                <a:cs typeface="Aptos"/>
              </a:rPr>
              <a:t>modelos</a:t>
            </a:r>
            <a:r>
              <a:rPr sz="2400" b="1" i="0" dirty="0">
                <a:solidFill>
                  <a:srgbClr val="1F1B30"/>
                </a:solidFill>
                <a:latin typeface="Aptos"/>
                <a:ea typeface="Aptos"/>
                <a:cs typeface="Aptos"/>
              </a:rPr>
              <a:t> en el </a:t>
            </a:r>
            <a:r>
              <a:rPr lang="es-MX" sz="2400" b="1" dirty="0" err="1">
                <a:solidFill>
                  <a:srgbClr val="1F1B30"/>
                </a:solidFill>
                <a:latin typeface="Aptos"/>
                <a:ea typeface="Aptos"/>
                <a:cs typeface="Aptos"/>
              </a:rPr>
              <a:t>Gu</a:t>
            </a:r>
            <a:r>
              <a:rPr lang="es-MX" sz="2400" b="1" dirty="0">
                <a:solidFill>
                  <a:srgbClr val="1F1B30"/>
                </a:solidFill>
                <a:latin typeface="Aptos"/>
                <a:ea typeface="Aptos"/>
                <a:cs typeface="Aptos"/>
              </a:rPr>
              <a:t> OS </a:t>
            </a:r>
            <a:r>
              <a:rPr sz="2400" b="1" i="0" dirty="0">
                <a:solidFill>
                  <a:srgbClr val="1F1B30"/>
                </a:solidFill>
                <a:latin typeface="Aptos"/>
                <a:ea typeface="Aptos"/>
                <a:cs typeface="Aptos"/>
              </a:rPr>
              <a:t>runtime actual</a:t>
            </a:r>
          </a:p>
        </p:txBody>
      </p:sp>
      <p:sp>
        <p:nvSpPr>
          <p:cNvPr id="4" name="Rectángulo 3">
            <a:extLst>
              <a:ext uri="{FF2B5EF4-FFF2-40B4-BE49-F238E27FC236}">
                <a16:creationId xmlns:a16="http://schemas.microsoft.com/office/drawing/2014/main" id="{965A57FB-E763-4270-890C-FE63942FEFE8}"/>
              </a:ext>
            </a:extLst>
          </p:cNvPr>
          <p:cNvSpPr>
            <a:spLocks noGrp="1"/>
          </p:cNvSpPr>
          <p:nvPr/>
        </p:nvSpPr>
        <p:spPr>
          <a:xfrm>
            <a:off x="571500" y="1428750"/>
            <a:ext cx="10572750" cy="476250"/>
          </a:xfrm>
          <a:prstGeom prst="rect">
            <a:avLst/>
          </a:prstGeom>
          <a:noFill/>
          <a:ln w="0">
            <a:noFill/>
          </a:ln>
        </p:spPr>
        <p:txBody>
          <a:bodyPr anchor="t">
            <a:normAutofit/>
          </a:bodyPr>
          <a:lstStyle/>
          <a:p>
            <a:pPr>
              <a:defRPr sz="1350" b="0" i="0">
                <a:solidFill>
                  <a:srgbClr val="756F91"/>
                </a:solidFill>
                <a:latin typeface="Aptos"/>
                <a:ea typeface="Aptos"/>
                <a:cs typeface="Aptos"/>
              </a:defRPr>
            </a:pPr>
            <a:r>
              <a:rPr sz="1350" b="0" i="0">
                <a:solidFill>
                  <a:srgbClr val="756F91"/>
                </a:solidFill>
                <a:latin typeface="Aptos"/>
                <a:ea typeface="Aptos"/>
                <a:cs typeface="Aptos"/>
              </a:rPr>
              <a:t>Los defaults asignan cada trabajo a una clase de modelo. Las variables de entorno pueden sustituirlos sin cambiar la doctrina.</a:t>
            </a:r>
          </a:p>
        </p:txBody>
      </p:sp>
      <p:pic>
        <p:nvPicPr>
          <p:cNvPr id="36" name="Imagen 35"/>
          <p:cNvPicPr>
            <a:picLocks noChangeAspect="1"/>
          </p:cNvPicPr>
          <p:nvPr/>
        </p:nvPicPr>
        <p:blipFill>
          <a:blip r:embed="rId3"/>
          <a:stretch/>
        </p:blipFill>
        <p:spPr>
          <a:xfrm>
            <a:off x="11068826" y="361950"/>
            <a:ext cx="617574" cy="514350"/>
          </a:xfrm>
          <a:prstGeom prst="rect">
            <a:avLst/>
          </a:prstGeom>
        </p:spPr>
      </p:pic>
      <p:sp>
        <p:nvSpPr>
          <p:cNvPr id="6" name="Rectángulo: esquinas redondeadas 5">
            <a:extLst>
              <a:ext uri="{FF2B5EF4-FFF2-40B4-BE49-F238E27FC236}">
                <a16:creationId xmlns:a16="http://schemas.microsoft.com/office/drawing/2014/main" id="{60DE89C2-63BB-4827-849E-E388CEB283B9}"/>
              </a:ext>
            </a:extLst>
          </p:cNvPr>
          <p:cNvSpPr>
            <a:spLocks noGrp="1"/>
          </p:cNvSpPr>
          <p:nvPr/>
        </p:nvSpPr>
        <p:spPr>
          <a:xfrm>
            <a:off x="2276845" y="381000"/>
            <a:ext cx="1619250"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68CCFDE4-06DA-4792-8D9E-87EB9D36335A}"/>
              </a:ext>
            </a:extLst>
          </p:cNvPr>
          <p:cNvSpPr>
            <a:spLocks noGrp="1"/>
          </p:cNvSpPr>
          <p:nvPr/>
        </p:nvSpPr>
        <p:spPr>
          <a:xfrm>
            <a:off x="2353045" y="409575"/>
            <a:ext cx="1466850" cy="190500"/>
          </a:xfrm>
          <a:prstGeom prst="rect">
            <a:avLst/>
          </a:prstGeom>
          <a:noFill/>
          <a:ln w="0">
            <a:noFill/>
          </a:ln>
        </p:spPr>
        <p:txBody>
          <a:bodyPr anchor="t">
            <a:normAutofit fontScale="79722"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05052224-630B-4366-ACDE-3E84E5439FF9}"/>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5A3CF459-55B8-47FC-A57C-B3B445BD60FA}"/>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B6C523DC-CA4B-462B-BE15-169FCC6058E1}"/>
              </a:ext>
            </a:extLst>
          </p:cNvPr>
          <p:cNvSpPr>
            <a:spLocks noGrp="1"/>
          </p:cNvSpPr>
          <p:nvPr/>
        </p:nvSpPr>
        <p:spPr>
          <a:xfrm>
            <a:off x="647700" y="2095500"/>
            <a:ext cx="10858500" cy="781050"/>
          </a:xfrm>
          <a:prstGeom prst="roundRect">
            <a:avLst>
              <a:gd name="adj" fmla="val 14634"/>
            </a:avLst>
          </a:prstGeom>
          <a:solidFill>
            <a:srgbClr val="FFFFFF"/>
          </a:solidFill>
          <a:ln w="9525">
            <a:solidFill>
              <a:srgbClr val="E9E7EF"/>
            </a:solidFill>
            <a:prstDash val="solid"/>
          </a:ln>
        </p:spPr>
        <p:txBody>
          <a:bodyPr/>
          <a:lstStyle/>
          <a:p>
            <a:endParaRPr lang="es-MX"/>
          </a:p>
        </p:txBody>
      </p:sp>
      <p:sp>
        <p:nvSpPr>
          <p:cNvPr id="11" name="Rectángulo: esquinas redondeadas 10">
            <a:extLst>
              <a:ext uri="{FF2B5EF4-FFF2-40B4-BE49-F238E27FC236}">
                <a16:creationId xmlns:a16="http://schemas.microsoft.com/office/drawing/2014/main" id="{3FDE31F0-B55D-46C4-89B0-AEC80B8CB3FC}"/>
              </a:ext>
            </a:extLst>
          </p:cNvPr>
          <p:cNvSpPr>
            <a:spLocks noGrp="1"/>
          </p:cNvSpPr>
          <p:nvPr/>
        </p:nvSpPr>
        <p:spPr>
          <a:xfrm>
            <a:off x="819150" y="2343150"/>
            <a:ext cx="1714500" cy="266700"/>
          </a:xfrm>
          <a:prstGeom prst="roundRect">
            <a:avLst>
              <a:gd name="adj" fmla="val 50000"/>
            </a:avLst>
          </a:prstGeom>
          <a:solidFill>
            <a:srgbClr val="5C2DD2"/>
          </a:solidFill>
          <a:ln w="9525">
            <a:solidFill>
              <a:srgbClr val="5C2DD2"/>
            </a:solidFill>
            <a:prstDash val="solid"/>
          </a:ln>
        </p:spPr>
        <p:txBody>
          <a:bodyPr/>
          <a:lstStyle/>
          <a:p>
            <a:endParaRPr lang="es-MX"/>
          </a:p>
        </p:txBody>
      </p:sp>
      <p:sp>
        <p:nvSpPr>
          <p:cNvPr id="12" name="Rectángulo 11">
            <a:extLst>
              <a:ext uri="{FF2B5EF4-FFF2-40B4-BE49-F238E27FC236}">
                <a16:creationId xmlns:a16="http://schemas.microsoft.com/office/drawing/2014/main" id="{0A2A4ED8-5EE9-4AA5-B70B-80116A69340D}"/>
              </a:ext>
            </a:extLst>
          </p:cNvPr>
          <p:cNvSpPr>
            <a:spLocks noGrp="1"/>
          </p:cNvSpPr>
          <p:nvPr/>
        </p:nvSpPr>
        <p:spPr>
          <a:xfrm>
            <a:off x="895350" y="2351847"/>
            <a:ext cx="1562100" cy="19050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200" b="1" i="0" dirty="0">
                <a:solidFill>
                  <a:srgbClr val="FFFFFF"/>
                </a:solidFill>
                <a:latin typeface="Aptos"/>
                <a:ea typeface="Aptos"/>
                <a:cs typeface="Aptos"/>
              </a:rPr>
              <a:t>GPT-5.4-mini</a:t>
            </a:r>
          </a:p>
        </p:txBody>
      </p:sp>
      <p:sp>
        <p:nvSpPr>
          <p:cNvPr id="13" name="Rectángulo 12">
            <a:extLst>
              <a:ext uri="{FF2B5EF4-FFF2-40B4-BE49-F238E27FC236}">
                <a16:creationId xmlns:a16="http://schemas.microsoft.com/office/drawing/2014/main" id="{49CD0EB0-D21A-4B90-9273-08FE54D94869}"/>
              </a:ext>
            </a:extLst>
          </p:cNvPr>
          <p:cNvSpPr>
            <a:spLocks noGrp="1"/>
          </p:cNvSpPr>
          <p:nvPr/>
        </p:nvSpPr>
        <p:spPr>
          <a:xfrm>
            <a:off x="2781300" y="2228850"/>
            <a:ext cx="3143250" cy="266700"/>
          </a:xfrm>
          <a:prstGeom prst="rect">
            <a:avLst/>
          </a:prstGeom>
          <a:noFill/>
          <a:ln w="0">
            <a:noFill/>
          </a:ln>
        </p:spPr>
        <p:txBody>
          <a:bodyPr anchor="t">
            <a:normAutofit fontScale="85185"/>
          </a:bodyPr>
          <a:lstStyle/>
          <a:p>
            <a:pPr>
              <a:defRPr sz="1350" b="1" i="0">
                <a:solidFill>
                  <a:srgbClr val="5C2DD2"/>
                </a:solidFill>
                <a:latin typeface="Aptos"/>
                <a:ea typeface="Aptos"/>
                <a:cs typeface="Aptos"/>
              </a:defRPr>
            </a:pPr>
            <a:r>
              <a:rPr sz="1350" b="1" i="0">
                <a:solidFill>
                  <a:srgbClr val="5C2DD2"/>
                </a:solidFill>
                <a:latin typeface="Aptos"/>
                <a:ea typeface="Aptos"/>
                <a:cs typeface="Aptos"/>
              </a:rPr>
              <a:t>Razonamiento y juicio estructurado</a:t>
            </a:r>
          </a:p>
        </p:txBody>
      </p:sp>
      <p:sp>
        <p:nvSpPr>
          <p:cNvPr id="14" name="Rectángulo 13">
            <a:extLst>
              <a:ext uri="{FF2B5EF4-FFF2-40B4-BE49-F238E27FC236}">
                <a16:creationId xmlns:a16="http://schemas.microsoft.com/office/drawing/2014/main" id="{FE8FF363-1A55-44D8-A6A7-3706FE283D34}"/>
              </a:ext>
            </a:extLst>
          </p:cNvPr>
          <p:cNvSpPr>
            <a:spLocks noGrp="1"/>
          </p:cNvSpPr>
          <p:nvPr/>
        </p:nvSpPr>
        <p:spPr>
          <a:xfrm>
            <a:off x="2781300" y="2505075"/>
            <a:ext cx="8429625" cy="285750"/>
          </a:xfrm>
          <a:prstGeom prst="rect">
            <a:avLst/>
          </a:prstGeom>
          <a:noFill/>
          <a:ln w="0">
            <a:noFill/>
          </a:ln>
        </p:spPr>
        <p:txBody>
          <a:bodyPr anchor="t">
            <a:normAutofit fontScale="80937" lnSpcReduction="10000"/>
          </a:bodyPr>
          <a:lstStyle/>
          <a:p>
            <a:pPr>
              <a:defRPr sz="1125" b="0" i="0">
                <a:solidFill>
                  <a:srgbClr val="756F91"/>
                </a:solidFill>
                <a:latin typeface="Aptos"/>
                <a:ea typeface="Aptos"/>
                <a:cs typeface="Aptos"/>
              </a:defRPr>
            </a:pPr>
            <a:r>
              <a:rPr sz="1125" b="0" i="0">
                <a:solidFill>
                  <a:srgbClr val="756F91"/>
                </a:solidFill>
                <a:latin typeface="Aptos"/>
                <a:ea typeface="Aptos"/>
                <a:cs typeface="Aptos"/>
              </a:rPr>
              <a:t>Agente principal · clasificador conversacional · admission R1 · continuidad duplicate/supersession · verifier, decomposer y compiler de workflows · Studio primario</a:t>
            </a:r>
          </a:p>
        </p:txBody>
      </p:sp>
      <p:sp>
        <p:nvSpPr>
          <p:cNvPr id="15" name="Rectángulo: esquinas redondeadas 14">
            <a:extLst>
              <a:ext uri="{FF2B5EF4-FFF2-40B4-BE49-F238E27FC236}">
                <a16:creationId xmlns:a16="http://schemas.microsoft.com/office/drawing/2014/main" id="{5B9B6431-9A2E-4415-AE07-376CA3AA2440}"/>
              </a:ext>
            </a:extLst>
          </p:cNvPr>
          <p:cNvSpPr>
            <a:spLocks noGrp="1"/>
          </p:cNvSpPr>
          <p:nvPr/>
        </p:nvSpPr>
        <p:spPr>
          <a:xfrm>
            <a:off x="647700" y="3009900"/>
            <a:ext cx="10858500" cy="781050"/>
          </a:xfrm>
          <a:prstGeom prst="roundRect">
            <a:avLst>
              <a:gd name="adj" fmla="val 14634"/>
            </a:avLst>
          </a:prstGeom>
          <a:solidFill>
            <a:srgbClr val="FFFFFF"/>
          </a:solidFill>
          <a:ln w="9525">
            <a:solidFill>
              <a:srgbClr val="E9E7EF"/>
            </a:solidFill>
            <a:prstDash val="solid"/>
          </a:ln>
        </p:spPr>
        <p:txBody>
          <a:bodyPr/>
          <a:lstStyle/>
          <a:p>
            <a:endParaRPr lang="es-MX"/>
          </a:p>
        </p:txBody>
      </p:sp>
      <p:sp>
        <p:nvSpPr>
          <p:cNvPr id="16" name="Rectángulo: esquinas redondeadas 15">
            <a:extLst>
              <a:ext uri="{FF2B5EF4-FFF2-40B4-BE49-F238E27FC236}">
                <a16:creationId xmlns:a16="http://schemas.microsoft.com/office/drawing/2014/main" id="{177B41B4-98C0-4F44-BF4C-D43B4495C439}"/>
              </a:ext>
            </a:extLst>
          </p:cNvPr>
          <p:cNvSpPr>
            <a:spLocks noGrp="1"/>
          </p:cNvSpPr>
          <p:nvPr/>
        </p:nvSpPr>
        <p:spPr>
          <a:xfrm>
            <a:off x="819150" y="3257550"/>
            <a:ext cx="1714500" cy="266700"/>
          </a:xfrm>
          <a:prstGeom prst="roundRect">
            <a:avLst>
              <a:gd name="adj" fmla="val 50000"/>
            </a:avLst>
          </a:prstGeom>
          <a:solidFill>
            <a:srgbClr val="F39A24"/>
          </a:solidFill>
          <a:ln w="9525">
            <a:solidFill>
              <a:srgbClr val="F39A24"/>
            </a:solidFill>
            <a:prstDash val="solid"/>
          </a:ln>
        </p:spPr>
        <p:txBody>
          <a:bodyPr/>
          <a:lstStyle/>
          <a:p>
            <a:endParaRPr lang="es-MX"/>
          </a:p>
        </p:txBody>
      </p:sp>
      <p:sp>
        <p:nvSpPr>
          <p:cNvPr id="17" name="Rectángulo 16">
            <a:extLst>
              <a:ext uri="{FF2B5EF4-FFF2-40B4-BE49-F238E27FC236}">
                <a16:creationId xmlns:a16="http://schemas.microsoft.com/office/drawing/2014/main" id="{21C74566-5C64-4F9A-AABC-1A4E4726192A}"/>
              </a:ext>
            </a:extLst>
          </p:cNvPr>
          <p:cNvSpPr>
            <a:spLocks noGrp="1"/>
          </p:cNvSpPr>
          <p:nvPr/>
        </p:nvSpPr>
        <p:spPr>
          <a:xfrm>
            <a:off x="895350" y="3276186"/>
            <a:ext cx="1562100" cy="19050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200" b="1" i="0" dirty="0">
                <a:solidFill>
                  <a:srgbClr val="FFFFFF"/>
                </a:solidFill>
                <a:latin typeface="Aptos"/>
                <a:ea typeface="Aptos"/>
                <a:cs typeface="Aptos"/>
              </a:rPr>
              <a:t>Claude Haiku 4.5</a:t>
            </a:r>
          </a:p>
        </p:txBody>
      </p:sp>
      <p:sp>
        <p:nvSpPr>
          <p:cNvPr id="18" name="Rectángulo 17">
            <a:extLst>
              <a:ext uri="{FF2B5EF4-FFF2-40B4-BE49-F238E27FC236}">
                <a16:creationId xmlns:a16="http://schemas.microsoft.com/office/drawing/2014/main" id="{CEB7CA8B-2F9C-4131-BEA9-2F5D76F709BC}"/>
              </a:ext>
            </a:extLst>
          </p:cNvPr>
          <p:cNvSpPr>
            <a:spLocks noGrp="1"/>
          </p:cNvSpPr>
          <p:nvPr/>
        </p:nvSpPr>
        <p:spPr>
          <a:xfrm>
            <a:off x="2781300" y="3143250"/>
            <a:ext cx="3143250" cy="266700"/>
          </a:xfrm>
          <a:prstGeom prst="rect">
            <a:avLst/>
          </a:prstGeom>
          <a:noFill/>
          <a:ln w="0">
            <a:noFill/>
          </a:ln>
        </p:spPr>
        <p:txBody>
          <a:bodyPr anchor="t">
            <a:normAutofit fontScale="85185"/>
          </a:bodyPr>
          <a:lstStyle/>
          <a:p>
            <a:pPr>
              <a:defRPr sz="1350" b="1" i="0">
                <a:solidFill>
                  <a:srgbClr val="F39A24"/>
                </a:solidFill>
                <a:latin typeface="Aptos"/>
                <a:ea typeface="Aptos"/>
                <a:cs typeface="Aptos"/>
              </a:defRPr>
            </a:pPr>
            <a:r>
              <a:rPr sz="1350" b="1" i="0">
                <a:solidFill>
                  <a:srgbClr val="F39A24"/>
                </a:solidFill>
                <a:latin typeface="Aptos"/>
                <a:ea typeface="Aptos"/>
                <a:cs typeface="Aptos"/>
              </a:rPr>
              <a:t>Compresión y selección</a:t>
            </a:r>
          </a:p>
        </p:txBody>
      </p:sp>
      <p:sp>
        <p:nvSpPr>
          <p:cNvPr id="19" name="Rectángulo 18">
            <a:extLst>
              <a:ext uri="{FF2B5EF4-FFF2-40B4-BE49-F238E27FC236}">
                <a16:creationId xmlns:a16="http://schemas.microsoft.com/office/drawing/2014/main" id="{16222940-33C6-4736-B046-93335568F5D6}"/>
              </a:ext>
            </a:extLst>
          </p:cNvPr>
          <p:cNvSpPr>
            <a:spLocks noGrp="1"/>
          </p:cNvSpPr>
          <p:nvPr/>
        </p:nvSpPr>
        <p:spPr>
          <a:xfrm>
            <a:off x="2781300" y="3419475"/>
            <a:ext cx="8429625" cy="285750"/>
          </a:xfrm>
          <a:prstGeom prst="rect">
            <a:avLst/>
          </a:prstGeom>
          <a:noFill/>
          <a:ln w="0">
            <a:noFill/>
          </a:ln>
        </p:spPr>
        <p:txBody>
          <a:bodyPr anchor="t">
            <a:normAutofit/>
          </a:bodyPr>
          <a:lstStyle/>
          <a:p>
            <a:pPr>
              <a:defRPr sz="1125" b="0" i="0">
                <a:solidFill>
                  <a:srgbClr val="756F91"/>
                </a:solidFill>
                <a:latin typeface="Aptos"/>
                <a:ea typeface="Aptos"/>
                <a:cs typeface="Aptos"/>
              </a:defRPr>
            </a:pPr>
            <a:r>
              <a:rPr sz="1125" b="0" i="0">
                <a:solidFill>
                  <a:srgbClr val="756F91"/>
                </a:solidFill>
                <a:latin typeface="Aptos"/>
                <a:ea typeface="Aptos"/>
                <a:cs typeface="Aptos"/>
              </a:rPr>
              <a:t>Compaction · extracción en memory flush · selector de Skill pre-graph · reviewer del Business Brain</a:t>
            </a:r>
          </a:p>
        </p:txBody>
      </p:sp>
      <p:sp>
        <p:nvSpPr>
          <p:cNvPr id="20" name="Rectángulo: esquinas redondeadas 19">
            <a:extLst>
              <a:ext uri="{FF2B5EF4-FFF2-40B4-BE49-F238E27FC236}">
                <a16:creationId xmlns:a16="http://schemas.microsoft.com/office/drawing/2014/main" id="{339A483C-B9F4-4DB0-B7DA-EEB420D84F58}"/>
              </a:ext>
            </a:extLst>
          </p:cNvPr>
          <p:cNvSpPr>
            <a:spLocks noGrp="1"/>
          </p:cNvSpPr>
          <p:nvPr/>
        </p:nvSpPr>
        <p:spPr>
          <a:xfrm>
            <a:off x="647700" y="3924300"/>
            <a:ext cx="10858500" cy="781050"/>
          </a:xfrm>
          <a:prstGeom prst="roundRect">
            <a:avLst>
              <a:gd name="adj" fmla="val 14634"/>
            </a:avLst>
          </a:prstGeom>
          <a:solidFill>
            <a:srgbClr val="FFFFFF"/>
          </a:solidFill>
          <a:ln w="9525">
            <a:solidFill>
              <a:srgbClr val="E9E7EF"/>
            </a:solidFill>
            <a:prstDash val="solid"/>
          </a:ln>
        </p:spPr>
        <p:txBody>
          <a:bodyPr/>
          <a:lstStyle/>
          <a:p>
            <a:endParaRPr lang="es-MX"/>
          </a:p>
        </p:txBody>
      </p:sp>
      <p:sp>
        <p:nvSpPr>
          <p:cNvPr id="21" name="Rectángulo: esquinas redondeadas 20">
            <a:extLst>
              <a:ext uri="{FF2B5EF4-FFF2-40B4-BE49-F238E27FC236}">
                <a16:creationId xmlns:a16="http://schemas.microsoft.com/office/drawing/2014/main" id="{6AA3BBC5-9F38-4BAF-B0E4-813E172467D6}"/>
              </a:ext>
            </a:extLst>
          </p:cNvPr>
          <p:cNvSpPr>
            <a:spLocks noGrp="1"/>
          </p:cNvSpPr>
          <p:nvPr/>
        </p:nvSpPr>
        <p:spPr>
          <a:xfrm>
            <a:off x="819150" y="4171950"/>
            <a:ext cx="1714500" cy="266700"/>
          </a:xfrm>
          <a:prstGeom prst="roundRect">
            <a:avLst>
              <a:gd name="adj" fmla="val 50000"/>
            </a:avLst>
          </a:prstGeom>
          <a:solidFill>
            <a:srgbClr val="4866C6"/>
          </a:solidFill>
          <a:ln w="9525">
            <a:solidFill>
              <a:srgbClr val="4866C6"/>
            </a:solidFill>
            <a:prstDash val="solid"/>
          </a:ln>
        </p:spPr>
        <p:txBody>
          <a:bodyPr/>
          <a:lstStyle/>
          <a:p>
            <a:endParaRPr lang="es-MX"/>
          </a:p>
        </p:txBody>
      </p:sp>
      <p:sp>
        <p:nvSpPr>
          <p:cNvPr id="22" name="Rectángulo 21">
            <a:extLst>
              <a:ext uri="{FF2B5EF4-FFF2-40B4-BE49-F238E27FC236}">
                <a16:creationId xmlns:a16="http://schemas.microsoft.com/office/drawing/2014/main" id="{F3BE5D23-B0B5-4C64-B80E-5926C8F05B98}"/>
              </a:ext>
            </a:extLst>
          </p:cNvPr>
          <p:cNvSpPr>
            <a:spLocks noGrp="1"/>
          </p:cNvSpPr>
          <p:nvPr/>
        </p:nvSpPr>
        <p:spPr>
          <a:xfrm>
            <a:off x="895350" y="4190586"/>
            <a:ext cx="1562100" cy="19050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200" b="1" i="0" dirty="0">
                <a:solidFill>
                  <a:srgbClr val="FFFFFF"/>
                </a:solidFill>
                <a:latin typeface="Aptos"/>
                <a:ea typeface="Aptos"/>
                <a:cs typeface="Aptos"/>
              </a:rPr>
              <a:t>GPT-4.1-mini</a:t>
            </a:r>
          </a:p>
        </p:txBody>
      </p:sp>
      <p:sp>
        <p:nvSpPr>
          <p:cNvPr id="23" name="Rectángulo 22">
            <a:extLst>
              <a:ext uri="{FF2B5EF4-FFF2-40B4-BE49-F238E27FC236}">
                <a16:creationId xmlns:a16="http://schemas.microsoft.com/office/drawing/2014/main" id="{9B2960C3-A371-4232-BD35-4FDB5161A213}"/>
              </a:ext>
            </a:extLst>
          </p:cNvPr>
          <p:cNvSpPr>
            <a:spLocks noGrp="1"/>
          </p:cNvSpPr>
          <p:nvPr/>
        </p:nvSpPr>
        <p:spPr>
          <a:xfrm>
            <a:off x="2781300" y="4057650"/>
            <a:ext cx="3143250" cy="266700"/>
          </a:xfrm>
          <a:prstGeom prst="rect">
            <a:avLst/>
          </a:prstGeom>
          <a:noFill/>
          <a:ln w="0">
            <a:noFill/>
          </a:ln>
        </p:spPr>
        <p:txBody>
          <a:bodyPr anchor="t">
            <a:normAutofit fontScale="85185"/>
          </a:bodyPr>
          <a:lstStyle/>
          <a:p>
            <a:pPr>
              <a:defRPr sz="1350" b="1" i="0">
                <a:solidFill>
                  <a:srgbClr val="4866C6"/>
                </a:solidFill>
                <a:latin typeface="Aptos"/>
                <a:ea typeface="Aptos"/>
                <a:cs typeface="Aptos"/>
              </a:defRPr>
            </a:pPr>
            <a:r>
              <a:rPr sz="1350" b="1" i="0">
                <a:solidFill>
                  <a:srgbClr val="4866C6"/>
                </a:solidFill>
                <a:latin typeface="Aptos"/>
                <a:ea typeface="Aptos"/>
                <a:cs typeface="Aptos"/>
              </a:rPr>
              <a:t>Percepción y copy especializados</a:t>
            </a:r>
          </a:p>
        </p:txBody>
      </p:sp>
      <p:sp>
        <p:nvSpPr>
          <p:cNvPr id="24" name="Rectángulo 23">
            <a:extLst>
              <a:ext uri="{FF2B5EF4-FFF2-40B4-BE49-F238E27FC236}">
                <a16:creationId xmlns:a16="http://schemas.microsoft.com/office/drawing/2014/main" id="{F9F9B720-12DF-4273-B32C-ECF8CFE89535}"/>
              </a:ext>
            </a:extLst>
          </p:cNvPr>
          <p:cNvSpPr>
            <a:spLocks noGrp="1"/>
          </p:cNvSpPr>
          <p:nvPr/>
        </p:nvSpPr>
        <p:spPr>
          <a:xfrm>
            <a:off x="2781300" y="4333875"/>
            <a:ext cx="8429625" cy="285750"/>
          </a:xfrm>
          <a:prstGeom prst="rect">
            <a:avLst/>
          </a:prstGeom>
          <a:noFill/>
          <a:ln w="0">
            <a:noFill/>
          </a:ln>
        </p:spPr>
        <p:txBody>
          <a:bodyPr anchor="t">
            <a:normAutofit/>
          </a:bodyPr>
          <a:lstStyle/>
          <a:p>
            <a:pPr>
              <a:defRPr sz="1125" b="0" i="0">
                <a:solidFill>
                  <a:srgbClr val="756F91"/>
                </a:solidFill>
                <a:latin typeface="Aptos"/>
                <a:ea typeface="Aptos"/>
                <a:cs typeface="Aptos"/>
              </a:defRPr>
            </a:pPr>
            <a:r>
              <a:rPr sz="1125" b="0" i="0">
                <a:solidFill>
                  <a:srgbClr val="756F91"/>
                </a:solidFill>
                <a:latin typeface="Aptos"/>
                <a:ea typeface="Aptos"/>
                <a:cs typeface="Aptos"/>
              </a:rPr>
              <a:t>Análisis de imágenes de propiedades · redacción de descripciones de listings</a:t>
            </a:r>
          </a:p>
        </p:txBody>
      </p:sp>
      <p:sp>
        <p:nvSpPr>
          <p:cNvPr id="25" name="Rectángulo: esquinas redondeadas 24">
            <a:extLst>
              <a:ext uri="{FF2B5EF4-FFF2-40B4-BE49-F238E27FC236}">
                <a16:creationId xmlns:a16="http://schemas.microsoft.com/office/drawing/2014/main" id="{A826A78B-0DEE-47A9-A4CC-ACB338C28433}"/>
              </a:ext>
            </a:extLst>
          </p:cNvPr>
          <p:cNvSpPr>
            <a:spLocks noGrp="1"/>
          </p:cNvSpPr>
          <p:nvPr/>
        </p:nvSpPr>
        <p:spPr>
          <a:xfrm>
            <a:off x="647700" y="4838700"/>
            <a:ext cx="10858500" cy="781050"/>
          </a:xfrm>
          <a:prstGeom prst="roundRect">
            <a:avLst>
              <a:gd name="adj" fmla="val 14634"/>
            </a:avLst>
          </a:prstGeom>
          <a:solidFill>
            <a:srgbClr val="FFFFFF"/>
          </a:solidFill>
          <a:ln w="9525">
            <a:solidFill>
              <a:srgbClr val="E9E7EF"/>
            </a:solidFill>
            <a:prstDash val="solid"/>
          </a:ln>
        </p:spPr>
        <p:txBody>
          <a:bodyPr/>
          <a:lstStyle/>
          <a:p>
            <a:endParaRPr lang="es-MX"/>
          </a:p>
        </p:txBody>
      </p:sp>
      <p:sp>
        <p:nvSpPr>
          <p:cNvPr id="26" name="Rectángulo: esquinas redondeadas 25">
            <a:extLst>
              <a:ext uri="{FF2B5EF4-FFF2-40B4-BE49-F238E27FC236}">
                <a16:creationId xmlns:a16="http://schemas.microsoft.com/office/drawing/2014/main" id="{61CBDF64-1CE2-4ADB-8BBA-78849F66649A}"/>
              </a:ext>
            </a:extLst>
          </p:cNvPr>
          <p:cNvSpPr>
            <a:spLocks noGrp="1"/>
          </p:cNvSpPr>
          <p:nvPr/>
        </p:nvSpPr>
        <p:spPr>
          <a:xfrm>
            <a:off x="819150" y="5086350"/>
            <a:ext cx="1714500" cy="266700"/>
          </a:xfrm>
          <a:prstGeom prst="roundRect">
            <a:avLst>
              <a:gd name="adj" fmla="val 50000"/>
            </a:avLst>
          </a:prstGeom>
          <a:solidFill>
            <a:srgbClr val="B8497C"/>
          </a:solidFill>
          <a:ln w="9525">
            <a:solidFill>
              <a:srgbClr val="B8497C"/>
            </a:solidFill>
            <a:prstDash val="solid"/>
          </a:ln>
        </p:spPr>
        <p:txBody>
          <a:bodyPr/>
          <a:lstStyle/>
          <a:p>
            <a:endParaRPr lang="es-MX"/>
          </a:p>
        </p:txBody>
      </p:sp>
      <p:sp>
        <p:nvSpPr>
          <p:cNvPr id="27" name="Rectángulo 26">
            <a:extLst>
              <a:ext uri="{FF2B5EF4-FFF2-40B4-BE49-F238E27FC236}">
                <a16:creationId xmlns:a16="http://schemas.microsoft.com/office/drawing/2014/main" id="{7D37BAAE-51C6-498F-B1E7-C97034E05CBF}"/>
              </a:ext>
            </a:extLst>
          </p:cNvPr>
          <p:cNvSpPr>
            <a:spLocks noGrp="1"/>
          </p:cNvSpPr>
          <p:nvPr/>
        </p:nvSpPr>
        <p:spPr>
          <a:xfrm>
            <a:off x="895350" y="5095047"/>
            <a:ext cx="1562100" cy="190500"/>
          </a:xfrm>
          <a:prstGeom prst="rect">
            <a:avLst/>
          </a:prstGeom>
          <a:noFill/>
          <a:ln w="0">
            <a:noFill/>
          </a:ln>
        </p:spPr>
        <p:txBody>
          <a:bodyPr anchor="t">
            <a:noAutofit/>
          </a:bodyPr>
          <a:lstStyle/>
          <a:p>
            <a:pPr>
              <a:defRPr sz="900" b="1" i="0">
                <a:solidFill>
                  <a:srgbClr val="FFFFFF"/>
                </a:solidFill>
                <a:latin typeface="Aptos"/>
                <a:ea typeface="Aptos"/>
                <a:cs typeface="Aptos"/>
              </a:defRPr>
            </a:pPr>
            <a:r>
              <a:rPr sz="1200" b="1" i="0" dirty="0">
                <a:solidFill>
                  <a:srgbClr val="FFFFFF"/>
                </a:solidFill>
                <a:latin typeface="Aptos"/>
                <a:ea typeface="Aptos"/>
                <a:cs typeface="Aptos"/>
              </a:rPr>
              <a:t>Claude Opus 5</a:t>
            </a:r>
          </a:p>
        </p:txBody>
      </p:sp>
      <p:sp>
        <p:nvSpPr>
          <p:cNvPr id="28" name="Rectángulo 27">
            <a:extLst>
              <a:ext uri="{FF2B5EF4-FFF2-40B4-BE49-F238E27FC236}">
                <a16:creationId xmlns:a16="http://schemas.microsoft.com/office/drawing/2014/main" id="{FF91F8DA-6E47-4DAB-918C-7C92ABCE5C73}"/>
              </a:ext>
            </a:extLst>
          </p:cNvPr>
          <p:cNvSpPr>
            <a:spLocks noGrp="1"/>
          </p:cNvSpPr>
          <p:nvPr/>
        </p:nvSpPr>
        <p:spPr>
          <a:xfrm>
            <a:off x="2781300" y="4972050"/>
            <a:ext cx="3143250" cy="266700"/>
          </a:xfrm>
          <a:prstGeom prst="rect">
            <a:avLst/>
          </a:prstGeom>
          <a:noFill/>
          <a:ln w="0">
            <a:noFill/>
          </a:ln>
        </p:spPr>
        <p:txBody>
          <a:bodyPr anchor="t">
            <a:normAutofit fontScale="85185"/>
          </a:bodyPr>
          <a:lstStyle/>
          <a:p>
            <a:pPr>
              <a:defRPr sz="1350" b="1" i="0">
                <a:solidFill>
                  <a:srgbClr val="B8497C"/>
                </a:solidFill>
                <a:latin typeface="Aptos"/>
                <a:ea typeface="Aptos"/>
                <a:cs typeface="Aptos"/>
              </a:defRPr>
            </a:pPr>
            <a:r>
              <a:rPr sz="1350" b="1" i="0">
                <a:solidFill>
                  <a:srgbClr val="B8497C"/>
                </a:solidFill>
                <a:latin typeface="Aptos"/>
                <a:ea typeface="Aptos"/>
                <a:cs typeface="Aptos"/>
              </a:rPr>
              <a:t>Escalamiento y juicio independiente</a:t>
            </a:r>
          </a:p>
        </p:txBody>
      </p:sp>
      <p:sp>
        <p:nvSpPr>
          <p:cNvPr id="29" name="Rectángulo 28">
            <a:extLst>
              <a:ext uri="{FF2B5EF4-FFF2-40B4-BE49-F238E27FC236}">
                <a16:creationId xmlns:a16="http://schemas.microsoft.com/office/drawing/2014/main" id="{94881302-E1D3-4F4F-97C5-54BE382231EF}"/>
              </a:ext>
            </a:extLst>
          </p:cNvPr>
          <p:cNvSpPr>
            <a:spLocks noGrp="1"/>
          </p:cNvSpPr>
          <p:nvPr/>
        </p:nvSpPr>
        <p:spPr>
          <a:xfrm>
            <a:off x="2781300" y="5248275"/>
            <a:ext cx="8429625" cy="285750"/>
          </a:xfrm>
          <a:prstGeom prst="rect">
            <a:avLst/>
          </a:prstGeom>
          <a:noFill/>
          <a:ln w="0">
            <a:noFill/>
          </a:ln>
        </p:spPr>
        <p:txBody>
          <a:bodyPr anchor="t">
            <a:normAutofit/>
          </a:bodyPr>
          <a:lstStyle/>
          <a:p>
            <a:pPr>
              <a:defRPr sz="1125" b="0" i="0">
                <a:solidFill>
                  <a:srgbClr val="756F91"/>
                </a:solidFill>
                <a:latin typeface="Aptos"/>
                <a:ea typeface="Aptos"/>
                <a:cs typeface="Aptos"/>
              </a:defRPr>
            </a:pPr>
            <a:r>
              <a:rPr sz="1125" b="0" i="0">
                <a:solidFill>
                  <a:srgbClr val="756F91"/>
                </a:solidFill>
                <a:latin typeface="Aptos"/>
                <a:ea typeface="Aptos"/>
                <a:cs typeface="Aptos"/>
              </a:rPr>
              <a:t>Operational judge de workflows · reparación en Studio · capability coding · nivel de escalamiento</a:t>
            </a:r>
          </a:p>
        </p:txBody>
      </p:sp>
      <p:sp>
        <p:nvSpPr>
          <p:cNvPr id="30" name="Rectángulo 29">
            <a:extLst>
              <a:ext uri="{FF2B5EF4-FFF2-40B4-BE49-F238E27FC236}">
                <a16:creationId xmlns:a16="http://schemas.microsoft.com/office/drawing/2014/main" id="{E97D6D8F-2F87-41E8-B28C-A2D279504978}"/>
              </a:ext>
            </a:extLst>
          </p:cNvPr>
          <p:cNvSpPr>
            <a:spLocks noGrp="1"/>
          </p:cNvSpPr>
          <p:nvPr/>
        </p:nvSpPr>
        <p:spPr>
          <a:xfrm>
            <a:off x="647700" y="5867400"/>
            <a:ext cx="7239000" cy="209550"/>
          </a:xfrm>
          <a:prstGeom prst="rect">
            <a:avLst/>
          </a:prstGeom>
          <a:noFill/>
          <a:ln w="0">
            <a:noFill/>
          </a:ln>
        </p:spPr>
        <p:txBody>
          <a:bodyPr anchor="t">
            <a:normAutofit fontScale="83889" lnSpcReduction="20000"/>
          </a:bodyPr>
          <a:lstStyle/>
          <a:p>
            <a:pPr>
              <a:defRPr sz="1125" b="1" i="0">
                <a:solidFill>
                  <a:srgbClr val="1F1B30"/>
                </a:solidFill>
                <a:latin typeface="Aptos"/>
                <a:ea typeface="Aptos"/>
                <a:cs typeface="Aptos"/>
              </a:defRPr>
            </a:pPr>
            <a:r>
              <a:rPr sz="1125" b="1" i="0">
                <a:solidFill>
                  <a:srgbClr val="1F1B30"/>
                </a:solidFill>
                <a:latin typeface="Aptos"/>
                <a:ea typeface="Aptos"/>
                <a:cs typeface="Aptos"/>
              </a:rPr>
              <a:t>Son defaults de código, no un compromiso permanente con un proveedor.</a:t>
            </a:r>
          </a:p>
        </p:txBody>
      </p:sp>
      <p:sp>
        <p:nvSpPr>
          <p:cNvPr id="31" name="Rectángulo 30">
            <a:extLst>
              <a:ext uri="{FF2B5EF4-FFF2-40B4-BE49-F238E27FC236}">
                <a16:creationId xmlns:a16="http://schemas.microsoft.com/office/drawing/2014/main" id="{CFCE8F0A-C8DD-4761-9867-CEFD3D368F58}"/>
              </a:ext>
            </a:extLst>
          </p:cNvPr>
          <p:cNvSpPr>
            <a:spLocks noGrp="1"/>
          </p:cNvSpPr>
          <p:nvPr/>
        </p:nvSpPr>
        <p:spPr>
          <a:xfrm>
            <a:off x="7239000" y="5867400"/>
            <a:ext cx="4267200" cy="209550"/>
          </a:xfrm>
          <a:prstGeom prst="rect">
            <a:avLst/>
          </a:prstGeom>
          <a:noFill/>
          <a:ln w="0">
            <a:noFill/>
          </a:ln>
        </p:spPr>
        <p:txBody>
          <a:bodyPr anchor="t">
            <a:normAutofit fontScale="81309" lnSpcReduction="20000"/>
          </a:bodyPr>
          <a:lstStyle/>
          <a:p>
            <a:pPr>
              <a:defRPr sz="1050" b="0" i="0">
                <a:solidFill>
                  <a:srgbClr val="756F91"/>
                </a:solidFill>
                <a:latin typeface="Aptos"/>
                <a:ea typeface="Aptos"/>
                <a:cs typeface="Aptos"/>
              </a:defRPr>
            </a:pPr>
            <a:r>
              <a:rPr sz="1050" b="0" i="0">
                <a:solidFill>
                  <a:srgbClr val="756F91"/>
                </a:solidFill>
                <a:latin typeface="Aptos"/>
                <a:ea typeface="Aptos"/>
                <a:cs typeface="Aptos"/>
              </a:rPr>
              <a:t>Metering registra model id + role; la policy evoluciona con evidencia.</a:t>
            </a:r>
          </a:p>
        </p:txBody>
      </p:sp>
    </p:spTree>
    <p:extLst>
      <p:ext uri="{BB962C8B-B14F-4D97-AF65-F5344CB8AC3E}">
        <p14:creationId xmlns:p14="http://schemas.microsoft.com/office/powerpoint/2010/main" val="42478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ángulo 30">
            <a:extLst>
              <a:ext uri="{FF2B5EF4-FFF2-40B4-BE49-F238E27FC236}">
                <a16:creationId xmlns:a16="http://schemas.microsoft.com/office/drawing/2014/main" id="{D3D9A14C-02DC-49CE-BDD7-9DB7A5C78013}"/>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FB831239-F7B9-4730-BD64-081EEF45FABC}"/>
              </a:ext>
            </a:extLst>
          </p:cNvPr>
          <p:cNvSpPr>
            <a:spLocks noGrp="1"/>
          </p:cNvSpPr>
          <p:nvPr/>
        </p:nvSpPr>
        <p:spPr>
          <a:xfrm>
            <a:off x="571500" y="400050"/>
            <a:ext cx="885825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MODEL POLICY</a:t>
            </a:r>
          </a:p>
        </p:txBody>
      </p:sp>
      <p:sp>
        <p:nvSpPr>
          <p:cNvPr id="3" name="Rectángulo 2">
            <a:extLst>
              <a:ext uri="{FF2B5EF4-FFF2-40B4-BE49-F238E27FC236}">
                <a16:creationId xmlns:a16="http://schemas.microsoft.com/office/drawing/2014/main" id="{2BD8E293-380A-41D5-996A-B6AB363B15CA}"/>
              </a:ext>
            </a:extLst>
          </p:cNvPr>
          <p:cNvSpPr>
            <a:spLocks noGrp="1"/>
          </p:cNvSpPr>
          <p:nvPr/>
        </p:nvSpPr>
        <p:spPr>
          <a:xfrm>
            <a:off x="571500" y="742950"/>
            <a:ext cx="10287000" cy="704850"/>
          </a:xfrm>
          <a:prstGeom prst="rect">
            <a:avLst/>
          </a:prstGeom>
          <a:noFill/>
          <a:ln w="0">
            <a:noFill/>
          </a:ln>
        </p:spPr>
        <p:txBody>
          <a:bodyPr anchor="t">
            <a:normAutofit/>
          </a:bodyPr>
          <a:lstStyle/>
          <a:p>
            <a:pPr>
              <a:defRPr sz="2400" b="1" i="0">
                <a:solidFill>
                  <a:srgbClr val="1F1B30"/>
                </a:solidFill>
                <a:latin typeface="Aptos"/>
                <a:ea typeface="Aptos"/>
                <a:cs typeface="Aptos"/>
              </a:defRPr>
            </a:pPr>
            <a:r>
              <a:rPr sz="2400" b="1" i="0">
                <a:solidFill>
                  <a:srgbClr val="1F1B30"/>
                </a:solidFill>
                <a:latin typeface="Aptos"/>
                <a:ea typeface="Aptos"/>
                <a:cs typeface="Aptos"/>
              </a:rPr>
              <a:t>La selección de modelo sigue el contrato de trabajo</a:t>
            </a:r>
          </a:p>
        </p:txBody>
      </p:sp>
      <p:sp>
        <p:nvSpPr>
          <p:cNvPr id="4" name="Rectángulo 3">
            <a:extLst>
              <a:ext uri="{FF2B5EF4-FFF2-40B4-BE49-F238E27FC236}">
                <a16:creationId xmlns:a16="http://schemas.microsoft.com/office/drawing/2014/main" id="{B56AAA2F-A1F8-4C68-AE09-48DF5647EF96}"/>
              </a:ext>
            </a:extLst>
          </p:cNvPr>
          <p:cNvSpPr>
            <a:spLocks noGrp="1"/>
          </p:cNvSpPr>
          <p:nvPr/>
        </p:nvSpPr>
        <p:spPr>
          <a:xfrm>
            <a:off x="571500" y="1428750"/>
            <a:ext cx="10572750" cy="476250"/>
          </a:xfrm>
          <a:prstGeom prst="rect">
            <a:avLst/>
          </a:prstGeom>
          <a:noFill/>
          <a:ln w="0">
            <a:noFill/>
          </a:ln>
        </p:spPr>
        <p:txBody>
          <a:bodyPr anchor="t">
            <a:normAutofit/>
          </a:bodyPr>
          <a:lstStyle/>
          <a:p>
            <a:pPr>
              <a:defRPr sz="1350" b="0" i="0">
                <a:solidFill>
                  <a:srgbClr val="756F91"/>
                </a:solidFill>
                <a:latin typeface="Aptos"/>
                <a:ea typeface="Aptos"/>
                <a:cs typeface="Aptos"/>
              </a:defRPr>
            </a:pPr>
            <a:r>
              <a:rPr sz="1350" b="0" i="0">
                <a:solidFill>
                  <a:srgbClr val="756F91"/>
                </a:solidFill>
                <a:latin typeface="Aptos"/>
                <a:ea typeface="Aptos"/>
                <a:cs typeface="Aptos"/>
              </a:rPr>
              <a:t>Rol, consecuencia y requisitos de evidencia determinan la elección. Los controles determinísticos permanecen fuera del modelo.</a:t>
            </a:r>
          </a:p>
        </p:txBody>
      </p:sp>
      <p:pic>
        <p:nvPicPr>
          <p:cNvPr id="35" name="Imagen 34"/>
          <p:cNvPicPr>
            <a:picLocks noChangeAspect="1"/>
          </p:cNvPicPr>
          <p:nvPr/>
        </p:nvPicPr>
        <p:blipFill>
          <a:blip r:embed="rId3"/>
          <a:stretch/>
        </p:blipFill>
        <p:spPr>
          <a:xfrm>
            <a:off x="11068826" y="361950"/>
            <a:ext cx="617574" cy="514350"/>
          </a:xfrm>
          <a:prstGeom prst="rect">
            <a:avLst/>
          </a:prstGeom>
        </p:spPr>
      </p:pic>
      <p:sp>
        <p:nvSpPr>
          <p:cNvPr id="6" name="Rectángulo: esquinas redondeadas 5">
            <a:extLst>
              <a:ext uri="{FF2B5EF4-FFF2-40B4-BE49-F238E27FC236}">
                <a16:creationId xmlns:a16="http://schemas.microsoft.com/office/drawing/2014/main" id="{171DA32D-0644-414D-ADB0-05FC97803AB7}"/>
              </a:ext>
            </a:extLst>
          </p:cNvPr>
          <p:cNvSpPr>
            <a:spLocks noGrp="1"/>
          </p:cNvSpPr>
          <p:nvPr/>
        </p:nvSpPr>
        <p:spPr>
          <a:xfrm>
            <a:off x="1714500" y="371475"/>
            <a:ext cx="1619250"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7497B5D8-BF7D-4C5D-A43E-C19D85DD0555}"/>
              </a:ext>
            </a:extLst>
          </p:cNvPr>
          <p:cNvSpPr>
            <a:spLocks noGrp="1"/>
          </p:cNvSpPr>
          <p:nvPr/>
        </p:nvSpPr>
        <p:spPr>
          <a:xfrm>
            <a:off x="1790700" y="400050"/>
            <a:ext cx="1466850" cy="190500"/>
          </a:xfrm>
          <a:prstGeom prst="rect">
            <a:avLst/>
          </a:prstGeom>
          <a:noFill/>
          <a:ln w="0">
            <a:noFill/>
          </a:ln>
        </p:spPr>
        <p:txBody>
          <a:bodyPr anchor="t">
            <a:normAutofit fontScale="79722"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 + EVOLUCIÓN</a:t>
            </a:r>
          </a:p>
        </p:txBody>
      </p:sp>
      <p:sp>
        <p:nvSpPr>
          <p:cNvPr id="8" name="Rectángulo 7">
            <a:extLst>
              <a:ext uri="{FF2B5EF4-FFF2-40B4-BE49-F238E27FC236}">
                <a16:creationId xmlns:a16="http://schemas.microsoft.com/office/drawing/2014/main" id="{3C91288B-7791-404C-90F4-BF29190B85E8}"/>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A005C83D-9913-4F61-9257-E3E1E8941C82}"/>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AFB727CD-46B8-46FB-9000-95DBC93981F1}"/>
              </a:ext>
            </a:extLst>
          </p:cNvPr>
          <p:cNvSpPr>
            <a:spLocks noGrp="1"/>
          </p:cNvSpPr>
          <p:nvPr/>
        </p:nvSpPr>
        <p:spPr>
          <a:xfrm>
            <a:off x="742950" y="2238375"/>
            <a:ext cx="2000250" cy="1333500"/>
          </a:xfrm>
          <a:prstGeom prst="roundRect">
            <a:avLst>
              <a:gd name="adj" fmla="val 8571"/>
            </a:avLst>
          </a:prstGeom>
          <a:solidFill>
            <a:srgbClr val="EEE8FF"/>
          </a:solidFill>
          <a:ln w="9525">
            <a:solidFill>
              <a:srgbClr val="5C2DD2"/>
            </a:solidFill>
            <a:prstDash val="solid"/>
          </a:ln>
        </p:spPr>
        <p:txBody>
          <a:bodyPr/>
          <a:lstStyle/>
          <a:p>
            <a:endParaRPr lang="es-MX"/>
          </a:p>
        </p:txBody>
      </p:sp>
      <p:sp>
        <p:nvSpPr>
          <p:cNvPr id="11" name="Rectángulo 10">
            <a:extLst>
              <a:ext uri="{FF2B5EF4-FFF2-40B4-BE49-F238E27FC236}">
                <a16:creationId xmlns:a16="http://schemas.microsoft.com/office/drawing/2014/main" id="{6E14EDC5-19BC-4E10-A04F-D45117589D0B}"/>
              </a:ext>
            </a:extLst>
          </p:cNvPr>
          <p:cNvSpPr>
            <a:spLocks noGrp="1"/>
          </p:cNvSpPr>
          <p:nvPr/>
        </p:nvSpPr>
        <p:spPr>
          <a:xfrm>
            <a:off x="895350" y="2362200"/>
            <a:ext cx="1695450" cy="285750"/>
          </a:xfrm>
          <a:prstGeom prst="rect">
            <a:avLst/>
          </a:prstGeom>
          <a:noFill/>
          <a:ln w="0">
            <a:noFill/>
          </a:ln>
        </p:spPr>
        <p:txBody>
          <a:bodyPr anchor="t">
            <a:normAutofit fontScale="87503"/>
          </a:bodyPr>
          <a:lstStyle/>
          <a:p>
            <a:pPr>
              <a:defRPr sz="1275" b="1" i="0">
                <a:solidFill>
                  <a:srgbClr val="5C2DD2"/>
                </a:solidFill>
                <a:latin typeface="Aptos"/>
                <a:ea typeface="Aptos"/>
                <a:cs typeface="Aptos"/>
              </a:defRPr>
            </a:pPr>
            <a:r>
              <a:rPr sz="1275" b="1" i="0">
                <a:solidFill>
                  <a:srgbClr val="5C2DD2"/>
                </a:solidFill>
                <a:latin typeface="Aptos"/>
                <a:ea typeface="Aptos"/>
                <a:cs typeface="Aptos"/>
              </a:rPr>
              <a:t>1 · Contrato de trabajo</a:t>
            </a:r>
          </a:p>
        </p:txBody>
      </p:sp>
      <p:sp>
        <p:nvSpPr>
          <p:cNvPr id="12" name="Rectángulo 11">
            <a:extLst>
              <a:ext uri="{FF2B5EF4-FFF2-40B4-BE49-F238E27FC236}">
                <a16:creationId xmlns:a16="http://schemas.microsoft.com/office/drawing/2014/main" id="{1BF4A554-4D58-4EDB-9F92-AD54196C2008}"/>
              </a:ext>
            </a:extLst>
          </p:cNvPr>
          <p:cNvSpPr>
            <a:spLocks noGrp="1"/>
          </p:cNvSpPr>
          <p:nvPr/>
        </p:nvSpPr>
        <p:spPr>
          <a:xfrm>
            <a:off x="895350" y="2695575"/>
            <a:ext cx="1695450" cy="781050"/>
          </a:xfrm>
          <a:prstGeom prst="rect">
            <a:avLst/>
          </a:prstGeom>
          <a:noFill/>
          <a:ln w="0">
            <a:noFill/>
          </a:ln>
        </p:spPr>
        <p:txBody>
          <a:bodyPr anchor="t">
            <a:normAutofit fontScale="94271"/>
          </a:bodyPr>
          <a:lstStyle/>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Rol</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Output schema</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Latencia</a:t>
            </a:r>
            <a:r>
              <a:rPr sz="1200" b="0" i="0" dirty="0">
                <a:solidFill>
                  <a:srgbClr val="756F91"/>
                </a:solidFill>
                <a:latin typeface="Aptos"/>
                <a:ea typeface="Aptos"/>
                <a:cs typeface="Aptos"/>
              </a:rPr>
              <a:t> y </a:t>
            </a:r>
            <a:r>
              <a:rPr sz="1200" b="0" i="0" dirty="0" err="1">
                <a:solidFill>
                  <a:srgbClr val="756F91"/>
                </a:solidFill>
                <a:latin typeface="Aptos"/>
                <a:ea typeface="Aptos"/>
                <a:cs typeface="Aptos"/>
              </a:rPr>
              <a:t>costo</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Consecuencia</a:t>
            </a:r>
            <a:endParaRPr sz="1200" b="0" i="0" dirty="0">
              <a:solidFill>
                <a:srgbClr val="756F91"/>
              </a:solidFill>
              <a:latin typeface="Aptos"/>
              <a:ea typeface="Aptos"/>
              <a:cs typeface="Aptos"/>
            </a:endParaRPr>
          </a:p>
        </p:txBody>
      </p:sp>
      <p:sp>
        <p:nvSpPr>
          <p:cNvPr id="13" name="Rectángulo: esquinas redondeadas 12">
            <a:extLst>
              <a:ext uri="{FF2B5EF4-FFF2-40B4-BE49-F238E27FC236}">
                <a16:creationId xmlns:a16="http://schemas.microsoft.com/office/drawing/2014/main" id="{03BC7B7D-8039-4E9E-ACBF-4A718C76967B}"/>
              </a:ext>
            </a:extLst>
          </p:cNvPr>
          <p:cNvSpPr>
            <a:spLocks noGrp="1"/>
          </p:cNvSpPr>
          <p:nvPr/>
        </p:nvSpPr>
        <p:spPr>
          <a:xfrm>
            <a:off x="3333750" y="2238375"/>
            <a:ext cx="2095500" cy="1333500"/>
          </a:xfrm>
          <a:prstGeom prst="roundRect">
            <a:avLst>
              <a:gd name="adj" fmla="val 8571"/>
            </a:avLst>
          </a:prstGeom>
          <a:solidFill>
            <a:srgbClr val="FFF0D7"/>
          </a:solidFill>
          <a:ln w="9525">
            <a:solidFill>
              <a:srgbClr val="F39A24"/>
            </a:solidFill>
            <a:prstDash val="solid"/>
          </a:ln>
        </p:spPr>
        <p:txBody>
          <a:bodyPr/>
          <a:lstStyle/>
          <a:p>
            <a:endParaRPr lang="es-MX"/>
          </a:p>
        </p:txBody>
      </p:sp>
      <p:sp>
        <p:nvSpPr>
          <p:cNvPr id="14" name="Rectángulo 13">
            <a:extLst>
              <a:ext uri="{FF2B5EF4-FFF2-40B4-BE49-F238E27FC236}">
                <a16:creationId xmlns:a16="http://schemas.microsoft.com/office/drawing/2014/main" id="{F0E24F54-E055-4F89-875B-67A9B2C331B2}"/>
              </a:ext>
            </a:extLst>
          </p:cNvPr>
          <p:cNvSpPr>
            <a:spLocks noGrp="1"/>
          </p:cNvSpPr>
          <p:nvPr/>
        </p:nvSpPr>
        <p:spPr>
          <a:xfrm>
            <a:off x="3486150" y="2362200"/>
            <a:ext cx="1790700" cy="285750"/>
          </a:xfrm>
          <a:prstGeom prst="rect">
            <a:avLst/>
          </a:prstGeom>
          <a:noFill/>
          <a:ln w="0">
            <a:noFill/>
          </a:ln>
        </p:spPr>
        <p:txBody>
          <a:bodyPr anchor="t">
            <a:normAutofit/>
          </a:bodyPr>
          <a:lstStyle/>
          <a:p>
            <a:pPr>
              <a:defRPr sz="1275" b="1" i="0">
                <a:solidFill>
                  <a:srgbClr val="F39A24"/>
                </a:solidFill>
                <a:latin typeface="Aptos"/>
                <a:ea typeface="Aptos"/>
                <a:cs typeface="Aptos"/>
              </a:defRPr>
            </a:pPr>
            <a:r>
              <a:rPr sz="1275" b="1" i="0">
                <a:solidFill>
                  <a:srgbClr val="F39A24"/>
                </a:solidFill>
                <a:latin typeface="Aptos"/>
                <a:ea typeface="Aptos"/>
                <a:cs typeface="Aptos"/>
              </a:rPr>
              <a:t>2 · Model policy</a:t>
            </a:r>
          </a:p>
        </p:txBody>
      </p:sp>
      <p:sp>
        <p:nvSpPr>
          <p:cNvPr id="15" name="Rectángulo 14">
            <a:extLst>
              <a:ext uri="{FF2B5EF4-FFF2-40B4-BE49-F238E27FC236}">
                <a16:creationId xmlns:a16="http://schemas.microsoft.com/office/drawing/2014/main" id="{0AA6403C-F950-411B-B28C-4FC2BE9C26ED}"/>
              </a:ext>
            </a:extLst>
          </p:cNvPr>
          <p:cNvSpPr>
            <a:spLocks noGrp="1"/>
          </p:cNvSpPr>
          <p:nvPr/>
        </p:nvSpPr>
        <p:spPr>
          <a:xfrm>
            <a:off x="3486150" y="2695575"/>
            <a:ext cx="1790700" cy="781050"/>
          </a:xfrm>
          <a:prstGeom prst="rect">
            <a:avLst/>
          </a:prstGeom>
          <a:noFill/>
          <a:ln w="0">
            <a:noFill/>
          </a:ln>
        </p:spPr>
        <p:txBody>
          <a:bodyPr anchor="t">
            <a:normAutofit fontScale="86771"/>
          </a:bodyPr>
          <a:lstStyle/>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Default </a:t>
            </a:r>
            <a:r>
              <a:rPr sz="1200" b="0" i="0" dirty="0" err="1">
                <a:solidFill>
                  <a:srgbClr val="756F91"/>
                </a:solidFill>
                <a:latin typeface="Aptos"/>
                <a:ea typeface="Aptos"/>
                <a:cs typeface="Aptos"/>
              </a:rPr>
              <a:t>por</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rol</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Override </a:t>
            </a:r>
            <a:r>
              <a:rPr sz="1200" b="0" i="0" dirty="0" err="1">
                <a:solidFill>
                  <a:srgbClr val="756F91"/>
                </a:solidFill>
                <a:latin typeface="Aptos"/>
                <a:ea typeface="Aptos"/>
                <a:cs typeface="Aptos"/>
              </a:rPr>
              <a:t>por</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entorno</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Primario</a:t>
            </a:r>
            <a:r>
              <a:rPr sz="1200" b="0" i="0" dirty="0">
                <a:solidFill>
                  <a:srgbClr val="756F91"/>
                </a:solidFill>
                <a:latin typeface="Aptos"/>
                <a:ea typeface="Aptos"/>
                <a:cs typeface="Aptos"/>
              </a:rPr>
              <a:t> o escalation</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Temperatura</a:t>
            </a:r>
            <a:r>
              <a:rPr sz="1200" b="0" i="0" dirty="0">
                <a:solidFill>
                  <a:srgbClr val="756F91"/>
                </a:solidFill>
                <a:latin typeface="Aptos"/>
                <a:ea typeface="Aptos"/>
                <a:cs typeface="Aptos"/>
              </a:rPr>
              <a:t> / token cap</a:t>
            </a:r>
          </a:p>
        </p:txBody>
      </p:sp>
      <p:sp>
        <p:nvSpPr>
          <p:cNvPr id="16" name="Rectángulo: esquinas redondeadas 15">
            <a:extLst>
              <a:ext uri="{FF2B5EF4-FFF2-40B4-BE49-F238E27FC236}">
                <a16:creationId xmlns:a16="http://schemas.microsoft.com/office/drawing/2014/main" id="{0D738252-DF23-43EA-BCC4-9ABD2FA55FE9}"/>
              </a:ext>
            </a:extLst>
          </p:cNvPr>
          <p:cNvSpPr>
            <a:spLocks noGrp="1"/>
          </p:cNvSpPr>
          <p:nvPr/>
        </p:nvSpPr>
        <p:spPr>
          <a:xfrm>
            <a:off x="6019800" y="2238375"/>
            <a:ext cx="2095500" cy="1333500"/>
          </a:xfrm>
          <a:prstGeom prst="roundRect">
            <a:avLst>
              <a:gd name="adj" fmla="val 8571"/>
            </a:avLst>
          </a:prstGeom>
          <a:solidFill>
            <a:srgbClr val="E3F5ED"/>
          </a:solidFill>
          <a:ln w="9525">
            <a:solidFill>
              <a:srgbClr val="009566"/>
            </a:solidFill>
            <a:prstDash val="solid"/>
          </a:ln>
        </p:spPr>
        <p:txBody>
          <a:bodyPr/>
          <a:lstStyle/>
          <a:p>
            <a:endParaRPr lang="es-MX"/>
          </a:p>
        </p:txBody>
      </p:sp>
      <p:sp>
        <p:nvSpPr>
          <p:cNvPr id="17" name="Rectángulo 16">
            <a:extLst>
              <a:ext uri="{FF2B5EF4-FFF2-40B4-BE49-F238E27FC236}">
                <a16:creationId xmlns:a16="http://schemas.microsoft.com/office/drawing/2014/main" id="{AD3F372E-A417-4332-AF2C-CB56E4B32EE7}"/>
              </a:ext>
            </a:extLst>
          </p:cNvPr>
          <p:cNvSpPr>
            <a:spLocks noGrp="1"/>
          </p:cNvSpPr>
          <p:nvPr/>
        </p:nvSpPr>
        <p:spPr>
          <a:xfrm>
            <a:off x="6172200" y="2362200"/>
            <a:ext cx="1790700" cy="285750"/>
          </a:xfrm>
          <a:prstGeom prst="rect">
            <a:avLst/>
          </a:prstGeom>
          <a:noFill/>
          <a:ln w="0">
            <a:noFill/>
          </a:ln>
        </p:spPr>
        <p:txBody>
          <a:bodyPr anchor="t">
            <a:normAutofit fontScale="78491" lnSpcReduction="10000"/>
          </a:bodyPr>
          <a:lstStyle/>
          <a:p>
            <a:pPr>
              <a:defRPr sz="1275" b="1" i="0">
                <a:solidFill>
                  <a:srgbClr val="009566"/>
                </a:solidFill>
                <a:latin typeface="Aptos"/>
                <a:ea typeface="Aptos"/>
                <a:cs typeface="Aptos"/>
              </a:defRPr>
            </a:pPr>
            <a:r>
              <a:rPr sz="1275" b="1" i="0">
                <a:solidFill>
                  <a:srgbClr val="009566"/>
                </a:solidFill>
                <a:latin typeface="Aptos"/>
                <a:ea typeface="Aptos"/>
                <a:cs typeface="Aptos"/>
              </a:rPr>
              <a:t>3 · Resultado estructurado</a:t>
            </a:r>
          </a:p>
        </p:txBody>
      </p:sp>
      <p:sp>
        <p:nvSpPr>
          <p:cNvPr id="18" name="Rectángulo 17">
            <a:extLst>
              <a:ext uri="{FF2B5EF4-FFF2-40B4-BE49-F238E27FC236}">
                <a16:creationId xmlns:a16="http://schemas.microsoft.com/office/drawing/2014/main" id="{419FE1D5-A71C-4874-9FD1-46F2948850E0}"/>
              </a:ext>
            </a:extLst>
          </p:cNvPr>
          <p:cNvSpPr>
            <a:spLocks noGrp="1"/>
          </p:cNvSpPr>
          <p:nvPr/>
        </p:nvSpPr>
        <p:spPr>
          <a:xfrm>
            <a:off x="6172200" y="2695575"/>
            <a:ext cx="1790700" cy="781050"/>
          </a:xfrm>
          <a:prstGeom prst="rect">
            <a:avLst/>
          </a:prstGeom>
          <a:noFill/>
          <a:ln w="0">
            <a:noFill/>
          </a:ln>
        </p:spPr>
        <p:txBody>
          <a:bodyPr anchor="t">
            <a:normAutofit fontScale="94271"/>
          </a:bodyPr>
          <a:lstStyle/>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Output </a:t>
            </a:r>
            <a:r>
              <a:rPr sz="1200" b="0" i="0" dirty="0" err="1">
                <a:solidFill>
                  <a:srgbClr val="756F91"/>
                </a:solidFill>
                <a:latin typeface="Aptos"/>
                <a:ea typeface="Aptos"/>
                <a:cs typeface="Aptos"/>
              </a:rPr>
              <a:t>tipado</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Confianza / rationale</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Rechazo</a:t>
            </a:r>
            <a:r>
              <a:rPr sz="1200" b="0" i="0" dirty="0">
                <a:solidFill>
                  <a:srgbClr val="756F91"/>
                </a:solidFill>
                <a:latin typeface="Aptos"/>
                <a:ea typeface="Aptos"/>
                <a:cs typeface="Aptos"/>
              </a:rPr>
              <a:t> o </a:t>
            </a:r>
            <a:r>
              <a:rPr sz="1200" b="0" i="0" dirty="0" err="1">
                <a:solidFill>
                  <a:srgbClr val="756F91"/>
                </a:solidFill>
                <a:latin typeface="Aptos"/>
                <a:ea typeface="Aptos"/>
                <a:cs typeface="Aptos"/>
              </a:rPr>
              <a:t>propuesta</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Sin </a:t>
            </a:r>
            <a:r>
              <a:rPr sz="1200" b="0" i="0" dirty="0" err="1">
                <a:solidFill>
                  <a:srgbClr val="756F91"/>
                </a:solidFill>
                <a:latin typeface="Aptos"/>
                <a:ea typeface="Aptos"/>
                <a:cs typeface="Aptos"/>
              </a:rPr>
              <a:t>permiso</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implícito</a:t>
            </a:r>
            <a:endParaRPr sz="1200" b="0" i="0" dirty="0">
              <a:solidFill>
                <a:srgbClr val="756F91"/>
              </a:solidFill>
              <a:latin typeface="Aptos"/>
              <a:ea typeface="Aptos"/>
              <a:cs typeface="Aptos"/>
            </a:endParaRPr>
          </a:p>
        </p:txBody>
      </p:sp>
      <p:sp>
        <p:nvSpPr>
          <p:cNvPr id="19" name="Rectángulo: esquinas redondeadas 18">
            <a:extLst>
              <a:ext uri="{FF2B5EF4-FFF2-40B4-BE49-F238E27FC236}">
                <a16:creationId xmlns:a16="http://schemas.microsoft.com/office/drawing/2014/main" id="{16B935FD-2E2D-426A-9D0F-2B416322BADB}"/>
              </a:ext>
            </a:extLst>
          </p:cNvPr>
          <p:cNvSpPr>
            <a:spLocks noGrp="1"/>
          </p:cNvSpPr>
          <p:nvPr/>
        </p:nvSpPr>
        <p:spPr>
          <a:xfrm>
            <a:off x="8705850" y="2238375"/>
            <a:ext cx="2286000" cy="1333500"/>
          </a:xfrm>
          <a:prstGeom prst="roundRect">
            <a:avLst>
              <a:gd name="adj" fmla="val 8571"/>
            </a:avLst>
          </a:prstGeom>
          <a:solidFill>
            <a:srgbClr val="E7ECFB"/>
          </a:solidFill>
          <a:ln w="9525">
            <a:solidFill>
              <a:srgbClr val="4866C6"/>
            </a:solidFill>
            <a:prstDash val="solid"/>
          </a:ln>
        </p:spPr>
        <p:txBody>
          <a:bodyPr/>
          <a:lstStyle/>
          <a:p>
            <a:endParaRPr lang="es-MX"/>
          </a:p>
        </p:txBody>
      </p:sp>
      <p:sp>
        <p:nvSpPr>
          <p:cNvPr id="20" name="Rectángulo 19">
            <a:extLst>
              <a:ext uri="{FF2B5EF4-FFF2-40B4-BE49-F238E27FC236}">
                <a16:creationId xmlns:a16="http://schemas.microsoft.com/office/drawing/2014/main" id="{AAB17EFA-6DB2-4848-933D-A62446963638}"/>
              </a:ext>
            </a:extLst>
          </p:cNvPr>
          <p:cNvSpPr>
            <a:spLocks noGrp="1"/>
          </p:cNvSpPr>
          <p:nvPr/>
        </p:nvSpPr>
        <p:spPr>
          <a:xfrm>
            <a:off x="8858250" y="2362200"/>
            <a:ext cx="1981200" cy="285750"/>
          </a:xfrm>
          <a:prstGeom prst="rect">
            <a:avLst/>
          </a:prstGeom>
          <a:noFill/>
          <a:ln w="0">
            <a:noFill/>
          </a:ln>
        </p:spPr>
        <p:txBody>
          <a:bodyPr anchor="t">
            <a:normAutofit fontScale="97150"/>
          </a:bodyPr>
          <a:lstStyle/>
          <a:p>
            <a:pPr>
              <a:defRPr sz="1275" b="1" i="0">
                <a:solidFill>
                  <a:srgbClr val="4866C6"/>
                </a:solidFill>
                <a:latin typeface="Aptos"/>
                <a:ea typeface="Aptos"/>
                <a:cs typeface="Aptos"/>
              </a:defRPr>
            </a:pPr>
            <a:r>
              <a:rPr sz="1275" b="1" i="0">
                <a:solidFill>
                  <a:srgbClr val="4866C6"/>
                </a:solidFill>
                <a:latin typeface="Aptos"/>
                <a:ea typeface="Aptos"/>
                <a:cs typeface="Aptos"/>
              </a:rPr>
              <a:t>4 · Ejecutor del contrato</a:t>
            </a:r>
          </a:p>
        </p:txBody>
      </p:sp>
      <p:sp>
        <p:nvSpPr>
          <p:cNvPr id="21" name="Rectángulo 20">
            <a:extLst>
              <a:ext uri="{FF2B5EF4-FFF2-40B4-BE49-F238E27FC236}">
                <a16:creationId xmlns:a16="http://schemas.microsoft.com/office/drawing/2014/main" id="{323EAF78-71C7-48FD-8DBA-8D1F6C33A501}"/>
              </a:ext>
            </a:extLst>
          </p:cNvPr>
          <p:cNvSpPr>
            <a:spLocks noGrp="1"/>
          </p:cNvSpPr>
          <p:nvPr/>
        </p:nvSpPr>
        <p:spPr>
          <a:xfrm>
            <a:off x="8858250" y="2695575"/>
            <a:ext cx="1981200" cy="781050"/>
          </a:xfrm>
          <a:prstGeom prst="rect">
            <a:avLst/>
          </a:prstGeom>
          <a:noFill/>
          <a:ln w="0">
            <a:noFill/>
          </a:ln>
        </p:spPr>
        <p:txBody>
          <a:bodyPr anchor="t">
            <a:normAutofit fontScale="94271"/>
          </a:bodyPr>
          <a:lstStyle/>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Validación</a:t>
            </a:r>
            <a:r>
              <a:rPr sz="1200" b="0" i="0" dirty="0">
                <a:solidFill>
                  <a:srgbClr val="756F91"/>
                </a:solidFill>
                <a:latin typeface="Aptos"/>
                <a:ea typeface="Aptos"/>
                <a:cs typeface="Aptos"/>
              </a:rPr>
              <a:t> de schema</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Policy + tenant checks</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Riesgo / HITL</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Idempotencia</a:t>
            </a:r>
            <a:r>
              <a:rPr sz="1200" b="0" i="0" dirty="0">
                <a:solidFill>
                  <a:srgbClr val="756F91"/>
                </a:solidFill>
                <a:latin typeface="Aptos"/>
                <a:ea typeface="Aptos"/>
                <a:cs typeface="Aptos"/>
              </a:rPr>
              <a:t> + </a:t>
            </a:r>
            <a:r>
              <a:rPr sz="1200" b="0" i="0" dirty="0" err="1">
                <a:solidFill>
                  <a:srgbClr val="756F91"/>
                </a:solidFill>
                <a:latin typeface="Aptos"/>
                <a:ea typeface="Aptos"/>
                <a:cs typeface="Aptos"/>
              </a:rPr>
              <a:t>evidencia</a:t>
            </a:r>
            <a:endParaRPr sz="1200" b="0" i="0" dirty="0">
              <a:solidFill>
                <a:srgbClr val="756F91"/>
              </a:solidFill>
              <a:latin typeface="Aptos"/>
              <a:ea typeface="Aptos"/>
              <a:cs typeface="Aptos"/>
            </a:endParaRPr>
          </a:p>
        </p:txBody>
      </p:sp>
      <p:cxnSp>
        <p:nvCxnSpPr>
          <p:cNvPr id="52" name="Conector recto de flecha 51"/>
          <p:cNvCxnSpPr>
            <a:stCxn id="10" idx="3"/>
            <a:endCxn id="13" idx="1"/>
          </p:cNvCxnSpPr>
          <p:nvPr/>
        </p:nvCxnSpPr>
        <p:spPr>
          <a:xfrm>
            <a:off x="2743200" y="2905125"/>
            <a:ext cx="590550" cy="0"/>
          </a:xfrm>
          <a:prstGeom prst="straightConnector1">
            <a:avLst/>
          </a:prstGeom>
          <a:ln w="19050">
            <a:solidFill>
              <a:srgbClr val="5C2DD2"/>
            </a:solidFill>
            <a:prstDash val="solid"/>
            <a:tailEnd type="arrow" w="med" len="med"/>
          </a:ln>
        </p:spPr>
      </p:cxnSp>
      <p:cxnSp>
        <p:nvCxnSpPr>
          <p:cNvPr id="53" name="Conector recto de flecha 52"/>
          <p:cNvCxnSpPr>
            <a:stCxn id="13" idx="3"/>
            <a:endCxn id="16" idx="1"/>
          </p:cNvCxnSpPr>
          <p:nvPr/>
        </p:nvCxnSpPr>
        <p:spPr>
          <a:xfrm>
            <a:off x="5429250" y="2905125"/>
            <a:ext cx="590550" cy="0"/>
          </a:xfrm>
          <a:prstGeom prst="straightConnector1">
            <a:avLst/>
          </a:prstGeom>
          <a:ln w="19050">
            <a:solidFill>
              <a:srgbClr val="5C2DD2"/>
            </a:solidFill>
            <a:prstDash val="solid"/>
            <a:tailEnd type="arrow" w="med" len="med"/>
          </a:ln>
        </p:spPr>
      </p:cxnSp>
      <p:cxnSp>
        <p:nvCxnSpPr>
          <p:cNvPr id="54" name="Conector recto de flecha 53"/>
          <p:cNvCxnSpPr>
            <a:stCxn id="16" idx="3"/>
            <a:endCxn id="19" idx="1"/>
          </p:cNvCxnSpPr>
          <p:nvPr/>
        </p:nvCxnSpPr>
        <p:spPr>
          <a:xfrm>
            <a:off x="8115300" y="2905125"/>
            <a:ext cx="590550" cy="0"/>
          </a:xfrm>
          <a:prstGeom prst="straightConnector1">
            <a:avLst/>
          </a:prstGeom>
          <a:ln w="19050">
            <a:solidFill>
              <a:srgbClr val="5C2DD2"/>
            </a:solidFill>
            <a:prstDash val="solid"/>
            <a:tailEnd type="arrow" w="med" len="med"/>
          </a:ln>
        </p:spPr>
      </p:cxnSp>
      <p:sp>
        <p:nvSpPr>
          <p:cNvPr id="25" name="Rectángulo 24">
            <a:extLst>
              <a:ext uri="{FF2B5EF4-FFF2-40B4-BE49-F238E27FC236}">
                <a16:creationId xmlns:a16="http://schemas.microsoft.com/office/drawing/2014/main" id="{7D45E233-637C-4E40-8D77-965C0BE36CC9}"/>
              </a:ext>
            </a:extLst>
          </p:cNvPr>
          <p:cNvSpPr>
            <a:spLocks noGrp="1"/>
          </p:cNvSpPr>
          <p:nvPr/>
        </p:nvSpPr>
        <p:spPr>
          <a:xfrm>
            <a:off x="742950" y="4095750"/>
            <a:ext cx="19050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POR QUÉ ESTE DISEÑO</a:t>
            </a:r>
          </a:p>
        </p:txBody>
      </p:sp>
      <p:sp>
        <p:nvSpPr>
          <p:cNvPr id="26" name="Rectángulo 25">
            <a:extLst>
              <a:ext uri="{FF2B5EF4-FFF2-40B4-BE49-F238E27FC236}">
                <a16:creationId xmlns:a16="http://schemas.microsoft.com/office/drawing/2014/main" id="{32369172-256E-447F-BB94-58D3BCDAC3FE}"/>
              </a:ext>
            </a:extLst>
          </p:cNvPr>
          <p:cNvSpPr>
            <a:spLocks noGrp="1"/>
          </p:cNvSpPr>
          <p:nvPr/>
        </p:nvSpPr>
        <p:spPr>
          <a:xfrm>
            <a:off x="742950" y="4362450"/>
            <a:ext cx="3238500" cy="571500"/>
          </a:xfrm>
          <a:prstGeom prst="rect">
            <a:avLst/>
          </a:prstGeom>
          <a:noFill/>
          <a:ln w="0">
            <a:noFill/>
          </a:ln>
        </p:spPr>
        <p:txBody>
          <a:bodyPr anchor="t">
            <a:normAutofit/>
          </a:bodyPr>
          <a:lstStyle/>
          <a:p>
            <a:pPr>
              <a:defRPr sz="1350" b="1" i="0">
                <a:solidFill>
                  <a:srgbClr val="1F1B30"/>
                </a:solidFill>
                <a:latin typeface="Aptos"/>
                <a:ea typeface="Aptos"/>
                <a:cs typeface="Aptos"/>
              </a:defRPr>
            </a:pPr>
            <a:r>
              <a:rPr sz="1350" b="1" i="0">
                <a:solidFill>
                  <a:srgbClr val="1F1B30"/>
                </a:solidFill>
                <a:latin typeface="Aptos"/>
                <a:ea typeface="Aptos"/>
                <a:cs typeface="Aptos"/>
              </a:rPr>
              <a:t>El modelo puede cambiar sin alterar el contrato de la capability.</a:t>
            </a:r>
          </a:p>
        </p:txBody>
      </p:sp>
      <p:sp>
        <p:nvSpPr>
          <p:cNvPr id="27" name="Rectángulo 26">
            <a:extLst>
              <a:ext uri="{FF2B5EF4-FFF2-40B4-BE49-F238E27FC236}">
                <a16:creationId xmlns:a16="http://schemas.microsoft.com/office/drawing/2014/main" id="{EECBBA62-7058-406C-8548-C0E65587A51B}"/>
              </a:ext>
            </a:extLst>
          </p:cNvPr>
          <p:cNvSpPr>
            <a:spLocks noGrp="1"/>
          </p:cNvSpPr>
          <p:nvPr/>
        </p:nvSpPr>
        <p:spPr>
          <a:xfrm>
            <a:off x="4476750" y="4362450"/>
            <a:ext cx="3286125" cy="571500"/>
          </a:xfrm>
          <a:prstGeom prst="rect">
            <a:avLst/>
          </a:prstGeom>
          <a:noFill/>
          <a:ln w="0">
            <a:noFill/>
          </a:ln>
        </p:spPr>
        <p:txBody>
          <a:bodyPr anchor="t">
            <a:normAutofit fontScale="88581" lnSpcReduction="20000"/>
          </a:bodyPr>
          <a:lstStyle/>
          <a:p>
            <a:pPr>
              <a:defRPr sz="1350" b="1" i="0">
                <a:solidFill>
                  <a:srgbClr val="1F1B30"/>
                </a:solidFill>
                <a:latin typeface="Aptos"/>
                <a:ea typeface="Aptos"/>
                <a:cs typeface="Aptos"/>
              </a:defRPr>
            </a:pPr>
            <a:r>
              <a:rPr sz="1350" b="1" i="0">
                <a:solidFill>
                  <a:srgbClr val="1F1B30"/>
                </a:solidFill>
                <a:latin typeface="Aptos"/>
                <a:ea typeface="Aptos"/>
                <a:cs typeface="Aptos"/>
              </a:rPr>
              <a:t>Las llamadas rutinarias siguen siendo baratas; el escalamiento es explícito y medible.</a:t>
            </a:r>
          </a:p>
        </p:txBody>
      </p:sp>
      <p:sp>
        <p:nvSpPr>
          <p:cNvPr id="28" name="Rectángulo 27">
            <a:extLst>
              <a:ext uri="{FF2B5EF4-FFF2-40B4-BE49-F238E27FC236}">
                <a16:creationId xmlns:a16="http://schemas.microsoft.com/office/drawing/2014/main" id="{39B759FC-061C-421A-A8B3-7C2B44E7AB79}"/>
              </a:ext>
            </a:extLst>
          </p:cNvPr>
          <p:cNvSpPr>
            <a:spLocks noGrp="1"/>
          </p:cNvSpPr>
          <p:nvPr/>
        </p:nvSpPr>
        <p:spPr>
          <a:xfrm>
            <a:off x="8191500" y="4362450"/>
            <a:ext cx="3048000" cy="571500"/>
          </a:xfrm>
          <a:prstGeom prst="rect">
            <a:avLst/>
          </a:prstGeom>
          <a:noFill/>
          <a:ln w="0">
            <a:noFill/>
          </a:ln>
        </p:spPr>
        <p:txBody>
          <a:bodyPr anchor="t">
            <a:normAutofit fontScale="93231"/>
          </a:bodyPr>
          <a:lstStyle/>
          <a:p>
            <a:pPr>
              <a:defRPr sz="1350" b="1" i="0">
                <a:solidFill>
                  <a:srgbClr val="1F1B30"/>
                </a:solidFill>
                <a:latin typeface="Aptos"/>
                <a:ea typeface="Aptos"/>
                <a:cs typeface="Aptos"/>
              </a:defRPr>
            </a:pPr>
            <a:r>
              <a:rPr sz="1350" b="1" i="0">
                <a:solidFill>
                  <a:srgbClr val="1F1B30"/>
                </a:solidFill>
                <a:latin typeface="Aptos"/>
                <a:ea typeface="Aptos"/>
                <a:cs typeface="Aptos"/>
              </a:rPr>
              <a:t>Un modelo más fuerte nunca amplía autoridad de tenant, acción o release.</a:t>
            </a:r>
          </a:p>
        </p:txBody>
      </p:sp>
      <p:sp>
        <p:nvSpPr>
          <p:cNvPr id="29" name="Rectángulo: esquinas redondeadas 28">
            <a:extLst>
              <a:ext uri="{FF2B5EF4-FFF2-40B4-BE49-F238E27FC236}">
                <a16:creationId xmlns:a16="http://schemas.microsoft.com/office/drawing/2014/main" id="{2970BC5A-B5BF-4A59-B127-0A8004269ECA}"/>
              </a:ext>
            </a:extLst>
          </p:cNvPr>
          <p:cNvSpPr>
            <a:spLocks noGrp="1"/>
          </p:cNvSpPr>
          <p:nvPr/>
        </p:nvSpPr>
        <p:spPr>
          <a:xfrm>
            <a:off x="742950" y="5286375"/>
            <a:ext cx="10248900" cy="523875"/>
          </a:xfrm>
          <a:prstGeom prst="roundRect">
            <a:avLst>
              <a:gd name="adj" fmla="val 18182"/>
            </a:avLst>
          </a:prstGeom>
          <a:solidFill>
            <a:srgbClr val="1F1B30"/>
          </a:solidFill>
          <a:ln w="9525">
            <a:solidFill>
              <a:srgbClr val="1F1B30"/>
            </a:solidFill>
            <a:prstDash val="solid"/>
          </a:ln>
        </p:spPr>
        <p:txBody>
          <a:bodyPr/>
          <a:lstStyle/>
          <a:p>
            <a:endParaRPr lang="es-MX"/>
          </a:p>
        </p:txBody>
      </p:sp>
      <p:sp>
        <p:nvSpPr>
          <p:cNvPr id="30" name="Rectángulo 29">
            <a:extLst>
              <a:ext uri="{FF2B5EF4-FFF2-40B4-BE49-F238E27FC236}">
                <a16:creationId xmlns:a16="http://schemas.microsoft.com/office/drawing/2014/main" id="{DB0CD707-9565-4FBE-91B4-0978BD7DB2F4}"/>
              </a:ext>
            </a:extLst>
          </p:cNvPr>
          <p:cNvSpPr>
            <a:spLocks noGrp="1"/>
          </p:cNvSpPr>
          <p:nvPr/>
        </p:nvSpPr>
        <p:spPr>
          <a:xfrm>
            <a:off x="904875" y="5429250"/>
            <a:ext cx="9925050" cy="238125"/>
          </a:xfrm>
          <a:prstGeom prst="rect">
            <a:avLst/>
          </a:prstGeom>
          <a:noFill/>
          <a:ln w="0">
            <a:noFill/>
          </a:ln>
        </p:spPr>
        <p:txBody>
          <a:bodyPr anchor="t">
            <a:noAutofit/>
          </a:bodyPr>
          <a:lstStyle/>
          <a:p>
            <a:pPr>
              <a:defRPr sz="1350" b="1" i="0">
                <a:solidFill>
                  <a:srgbClr val="FFFFFF"/>
                </a:solidFill>
                <a:latin typeface="Aptos"/>
                <a:ea typeface="Aptos"/>
                <a:cs typeface="Aptos"/>
              </a:defRPr>
            </a:pPr>
            <a:r>
              <a:rPr sz="1200" b="1" i="0" dirty="0" err="1">
                <a:solidFill>
                  <a:srgbClr val="FFFFFF"/>
                </a:solidFill>
                <a:latin typeface="Aptos"/>
                <a:ea typeface="Aptos"/>
                <a:cs typeface="Aptos"/>
              </a:rPr>
              <a:t>Composición</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preferida</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intérprete</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semántico</a:t>
            </a:r>
            <a:r>
              <a:rPr sz="1200" b="1" i="0" dirty="0">
                <a:solidFill>
                  <a:srgbClr val="FFFFFF"/>
                </a:solidFill>
                <a:latin typeface="Aptos"/>
                <a:ea typeface="Aptos"/>
                <a:cs typeface="Aptos"/>
              </a:rPr>
              <a:t>  →  </a:t>
            </a:r>
            <a:r>
              <a:rPr sz="1200" b="1" i="0" dirty="0" err="1">
                <a:solidFill>
                  <a:srgbClr val="FFFFFF"/>
                </a:solidFill>
                <a:latin typeface="Aptos"/>
                <a:ea typeface="Aptos"/>
                <a:cs typeface="Aptos"/>
              </a:rPr>
              <a:t>resultado</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estructurado</a:t>
            </a:r>
            <a:r>
              <a:rPr sz="1200" b="1" i="0" dirty="0">
                <a:solidFill>
                  <a:srgbClr val="FFFFFF"/>
                </a:solidFill>
                <a:latin typeface="Aptos"/>
                <a:ea typeface="Aptos"/>
                <a:cs typeface="Aptos"/>
              </a:rPr>
              <a:t>  →  </a:t>
            </a:r>
            <a:r>
              <a:rPr sz="1200" b="1" i="0" dirty="0" err="1">
                <a:solidFill>
                  <a:srgbClr val="FFFFFF"/>
                </a:solidFill>
                <a:latin typeface="Aptos"/>
                <a:ea typeface="Aptos"/>
                <a:cs typeface="Aptos"/>
              </a:rPr>
              <a:t>ejecutor</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determinístico</a:t>
            </a:r>
            <a:r>
              <a:rPr sz="1200" b="1" i="0" dirty="0">
                <a:solidFill>
                  <a:srgbClr val="FFFFFF"/>
                </a:solidFill>
                <a:latin typeface="Aptos"/>
                <a:ea typeface="Aptos"/>
                <a:cs typeface="Aptos"/>
              </a:rPr>
              <a:t>  →  </a:t>
            </a:r>
            <a:r>
              <a:rPr sz="1200" b="1" i="0" dirty="0" err="1">
                <a:solidFill>
                  <a:srgbClr val="FFFFFF"/>
                </a:solidFill>
                <a:latin typeface="Aptos"/>
                <a:ea typeface="Aptos"/>
                <a:cs typeface="Aptos"/>
              </a:rPr>
              <a:t>evidencia</a:t>
            </a:r>
            <a:endParaRPr sz="1200" b="1" i="0" dirty="0">
              <a:solidFill>
                <a:srgbClr val="FFFFFF"/>
              </a:solidFill>
              <a:latin typeface="Aptos"/>
              <a:ea typeface="Aptos"/>
              <a:cs typeface="Aptos"/>
            </a:endParaRPr>
          </a:p>
        </p:txBody>
      </p:sp>
    </p:spTree>
    <p:extLst>
      <p:ext uri="{BB962C8B-B14F-4D97-AF65-F5344CB8AC3E}">
        <p14:creationId xmlns:p14="http://schemas.microsoft.com/office/powerpoint/2010/main" val="1196088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158" name="Shape 0">
            <a:extLst>
              <a:ext uri="{FF2B5EF4-FFF2-40B4-BE49-F238E27FC236}">
                <a16:creationId xmlns:a16="http://schemas.microsoft.com/office/drawing/2014/main" id="{37ED2560-55E8-4F03-8AD7-377895563FB2}"/>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159" name="Text 1">
            <a:extLst>
              <a:ext uri="{FF2B5EF4-FFF2-40B4-BE49-F238E27FC236}">
                <a16:creationId xmlns:a16="http://schemas.microsoft.com/office/drawing/2014/main" id="{B5E98044-CA38-438E-8ADC-34ADEA48A135}"/>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CONTEXT ENGINEERING ES COMPILAR EVIDENCIA APLICABLE</a:t>
            </a:r>
            <a:endParaRPr sz="1200" b="0" u="none">
              <a:solidFill>
                <a:srgbClr val="000000"/>
              </a:solidFill>
              <a:latin typeface="Arial"/>
              <a:ea typeface="Arial"/>
              <a:cs typeface="Arial"/>
            </a:endParaRPr>
          </a:p>
        </p:txBody>
      </p:sp>
      <p:sp>
        <p:nvSpPr>
          <p:cNvPr id="160" name="Text 2">
            <a:extLst>
              <a:ext uri="{FF2B5EF4-FFF2-40B4-BE49-F238E27FC236}">
                <a16:creationId xmlns:a16="http://schemas.microsoft.com/office/drawing/2014/main" id="{2664FD3F-E083-43FD-A02D-93117B449135}"/>
              </a:ext>
            </a:extLst>
          </p:cNvPr>
          <p:cNvSpPr>
            <a:spLocks noGrp="1"/>
          </p:cNvSpPr>
          <p:nvPr/>
        </p:nvSpPr>
        <p:spPr>
          <a:xfrm>
            <a:off x="567000" y="822356"/>
            <a:ext cx="10432433"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500" b="1" u="none" dirty="0">
                <a:solidFill>
                  <a:srgbClr val="151327"/>
                </a:solidFill>
                <a:latin typeface="Aptos Display"/>
                <a:ea typeface="Aptos Display"/>
                <a:cs typeface="Aptos Display"/>
              </a:rPr>
              <a:t>El prompt </a:t>
            </a:r>
            <a:r>
              <a:rPr sz="2500" b="1" u="none" dirty="0" err="1">
                <a:solidFill>
                  <a:srgbClr val="151327"/>
                </a:solidFill>
                <a:latin typeface="Aptos Display"/>
                <a:ea typeface="Aptos Display"/>
                <a:cs typeface="Aptos Display"/>
              </a:rPr>
              <a:t>efectivo</a:t>
            </a:r>
            <a:r>
              <a:rPr sz="2500" b="1" u="none" dirty="0">
                <a:solidFill>
                  <a:srgbClr val="151327"/>
                </a:solidFill>
                <a:latin typeface="Aptos Display"/>
                <a:ea typeface="Aptos Display"/>
                <a:cs typeface="Aptos Display"/>
              </a:rPr>
              <a:t> </a:t>
            </a:r>
            <a:r>
              <a:rPr sz="2500" b="1" u="none" dirty="0" err="1">
                <a:solidFill>
                  <a:srgbClr val="151327"/>
                </a:solidFill>
                <a:latin typeface="Aptos Display"/>
                <a:ea typeface="Aptos Display"/>
                <a:cs typeface="Aptos Display"/>
              </a:rPr>
              <a:t>combina</a:t>
            </a:r>
            <a:r>
              <a:rPr sz="2500" b="1" u="none" dirty="0">
                <a:solidFill>
                  <a:srgbClr val="151327"/>
                </a:solidFill>
                <a:latin typeface="Aptos Display"/>
                <a:ea typeface="Aptos Display"/>
                <a:cs typeface="Aptos Display"/>
              </a:rPr>
              <a:t> </a:t>
            </a:r>
            <a:r>
              <a:rPr sz="2500" b="1" u="none" dirty="0" err="1">
                <a:solidFill>
                  <a:srgbClr val="151327"/>
                </a:solidFill>
                <a:latin typeface="Aptos Display"/>
                <a:ea typeface="Aptos Display"/>
                <a:cs typeface="Aptos Display"/>
              </a:rPr>
              <a:t>instrucciones</a:t>
            </a:r>
            <a:r>
              <a:rPr sz="2500" b="1" u="none" dirty="0">
                <a:solidFill>
                  <a:srgbClr val="151327"/>
                </a:solidFill>
                <a:latin typeface="Aptos Display"/>
                <a:ea typeface="Aptos Display"/>
                <a:cs typeface="Aptos Display"/>
              </a:rPr>
              <a:t>, </a:t>
            </a:r>
            <a:r>
              <a:rPr lang="es-MX" sz="2500" b="1" u="none" dirty="0">
                <a:solidFill>
                  <a:srgbClr val="151327"/>
                </a:solidFill>
                <a:latin typeface="Aptos Display"/>
                <a:ea typeface="Aptos Display"/>
                <a:cs typeface="Aptos Display"/>
              </a:rPr>
              <a:t>contexto de usuario/organización</a:t>
            </a:r>
            <a:r>
              <a:rPr sz="2500" b="1" u="none" dirty="0">
                <a:solidFill>
                  <a:srgbClr val="151327"/>
                </a:solidFill>
                <a:latin typeface="Aptos Display"/>
                <a:ea typeface="Aptos Display"/>
                <a:cs typeface="Aptos Display"/>
              </a:rPr>
              <a:t>, skills/tools, </a:t>
            </a:r>
            <a:r>
              <a:rPr lang="es-MX" sz="2500" b="1" u="none" dirty="0">
                <a:solidFill>
                  <a:srgbClr val="151327"/>
                </a:solidFill>
                <a:latin typeface="Aptos Display"/>
                <a:ea typeface="Aptos Display"/>
                <a:cs typeface="Aptos Display"/>
              </a:rPr>
              <a:t>mensajes anteriores</a:t>
            </a:r>
            <a:r>
              <a:rPr sz="2500" b="1" u="none" dirty="0">
                <a:solidFill>
                  <a:srgbClr val="151327"/>
                </a:solidFill>
                <a:latin typeface="Aptos Display"/>
                <a:ea typeface="Aptos Display"/>
                <a:cs typeface="Aptos Display"/>
              </a:rPr>
              <a:t>, </a:t>
            </a:r>
            <a:r>
              <a:rPr lang="es-MX" sz="2500" b="1" u="none" dirty="0">
                <a:solidFill>
                  <a:srgbClr val="151327"/>
                </a:solidFill>
                <a:latin typeface="Aptos Display"/>
                <a:ea typeface="Aptos Display"/>
                <a:cs typeface="Aptos Display"/>
              </a:rPr>
              <a:t>memoria </a:t>
            </a:r>
            <a:r>
              <a:rPr sz="2500" b="1" u="none" dirty="0">
                <a:solidFill>
                  <a:srgbClr val="151327"/>
                </a:solidFill>
                <a:latin typeface="Aptos Display"/>
                <a:ea typeface="Aptos Display"/>
                <a:cs typeface="Aptos Display"/>
              </a:rPr>
              <a:t>personal</a:t>
            </a:r>
            <a:r>
              <a:rPr lang="es-MX" sz="2500" b="1" u="none" dirty="0">
                <a:solidFill>
                  <a:srgbClr val="151327"/>
                </a:solidFill>
                <a:latin typeface="Aptos Display"/>
                <a:ea typeface="Aptos Display"/>
                <a:cs typeface="Aptos Display"/>
              </a:rPr>
              <a:t> </a:t>
            </a:r>
            <a:r>
              <a:rPr sz="2500" b="1" u="none" dirty="0">
                <a:solidFill>
                  <a:srgbClr val="151327"/>
                </a:solidFill>
                <a:latin typeface="Aptos Display"/>
                <a:ea typeface="Aptos Display"/>
                <a:cs typeface="Aptos Display"/>
              </a:rPr>
              <a:t>y </a:t>
            </a:r>
            <a:r>
              <a:rPr lang="es-MX" sz="2500" b="1" u="none" dirty="0">
                <a:solidFill>
                  <a:srgbClr val="151327"/>
                </a:solidFill>
                <a:latin typeface="Aptos Display"/>
                <a:ea typeface="Aptos Display"/>
                <a:cs typeface="Aptos Display"/>
              </a:rPr>
              <a:t>estado</a:t>
            </a:r>
            <a:r>
              <a:rPr sz="2500" b="1" u="none" dirty="0">
                <a:solidFill>
                  <a:srgbClr val="151327"/>
                </a:solidFill>
                <a:latin typeface="Aptos Display"/>
                <a:ea typeface="Aptos Display"/>
                <a:cs typeface="Aptos Display"/>
              </a:rPr>
              <a:t> </a:t>
            </a:r>
            <a:r>
              <a:rPr sz="2500" b="1" u="none" dirty="0" err="1">
                <a:solidFill>
                  <a:srgbClr val="151327"/>
                </a:solidFill>
                <a:latin typeface="Aptos Display"/>
                <a:ea typeface="Aptos Display"/>
                <a:cs typeface="Aptos Display"/>
              </a:rPr>
              <a:t>relevante</a:t>
            </a:r>
            <a:r>
              <a:rPr sz="2500" b="1" u="none" dirty="0">
                <a:solidFill>
                  <a:srgbClr val="151327"/>
                </a:solidFill>
                <a:latin typeface="Aptos Display"/>
                <a:ea typeface="Aptos Display"/>
                <a:cs typeface="Aptos Display"/>
              </a:rPr>
              <a:t>.</a:t>
            </a:r>
            <a:endParaRPr sz="2500" b="0" u="none" dirty="0">
              <a:solidFill>
                <a:srgbClr val="000000"/>
              </a:solidFill>
              <a:latin typeface="Arial"/>
              <a:ea typeface="Arial"/>
              <a:cs typeface="Arial"/>
            </a:endParaRPr>
          </a:p>
        </p:txBody>
      </p:sp>
      <p:sp>
        <p:nvSpPr>
          <p:cNvPr id="161" name="Text 3">
            <a:extLst>
              <a:ext uri="{FF2B5EF4-FFF2-40B4-BE49-F238E27FC236}">
                <a16:creationId xmlns:a16="http://schemas.microsoft.com/office/drawing/2014/main" id="{F54E7B9A-4094-4FBB-B521-3E84A0CCEF8F}"/>
              </a:ext>
            </a:extLst>
          </p:cNvPr>
          <p:cNvSpPr>
            <a:spLocks noGrp="1"/>
          </p:cNvSpPr>
          <p:nvPr/>
        </p:nvSpPr>
        <p:spPr>
          <a:xfrm>
            <a:off x="567000" y="1721575"/>
            <a:ext cx="10698120" cy="566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b="0" u="none">
                <a:solidFill>
                  <a:srgbClr val="6F6888"/>
                </a:solidFill>
                <a:latin typeface="Aptos"/>
                <a:ea typeface="Aptos"/>
                <a:cs typeface="Aptos"/>
              </a:rPr>
              <a:t>Más contexto no es más verdad: scope, precedence, freshness y authority deciden qué entra.</a:t>
            </a:r>
            <a:endParaRPr b="0" u="none">
              <a:solidFill>
                <a:srgbClr val="000000"/>
              </a:solidFill>
              <a:latin typeface="Arial"/>
              <a:ea typeface="Arial"/>
              <a:cs typeface="Arial"/>
            </a:endParaRPr>
          </a:p>
        </p:txBody>
      </p:sp>
      <p:sp>
        <p:nvSpPr>
          <p:cNvPr id="163" name="Text 5">
            <a:extLst>
              <a:ext uri="{FF2B5EF4-FFF2-40B4-BE49-F238E27FC236}">
                <a16:creationId xmlns:a16="http://schemas.microsoft.com/office/drawing/2014/main" id="{2159E07A-4D9A-4C23-ABF6-F935B12F6A8A}"/>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164" name="Text 6">
            <a:extLst>
              <a:ext uri="{FF2B5EF4-FFF2-40B4-BE49-F238E27FC236}">
                <a16:creationId xmlns:a16="http://schemas.microsoft.com/office/drawing/2014/main" id="{D4E199A8-A37F-414F-9045-DB1D48F677A3}"/>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165" name="Text 7">
            <a:extLst>
              <a:ext uri="{FF2B5EF4-FFF2-40B4-BE49-F238E27FC236}">
                <a16:creationId xmlns:a16="http://schemas.microsoft.com/office/drawing/2014/main" id="{AD5DEA2F-C52C-4BC4-B144-3DA6B6F22E6C}"/>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a:solidFill>
                  <a:srgbClr val="7E7798"/>
                </a:solidFill>
                <a:latin typeface="Aptos"/>
                <a:ea typeface="Aptos"/>
                <a:cs typeface="Aptos"/>
              </a:rPr>
              <a:t>5</a:t>
            </a:r>
            <a:endParaRPr sz="800" b="0" u="none">
              <a:solidFill>
                <a:srgbClr val="000000"/>
              </a:solidFill>
              <a:latin typeface="Arial"/>
              <a:ea typeface="Arial"/>
              <a:cs typeface="Arial"/>
            </a:endParaRPr>
          </a:p>
        </p:txBody>
      </p:sp>
      <p:sp>
        <p:nvSpPr>
          <p:cNvPr id="166" name="Shape 8">
            <a:extLst>
              <a:ext uri="{FF2B5EF4-FFF2-40B4-BE49-F238E27FC236}">
                <a16:creationId xmlns:a16="http://schemas.microsoft.com/office/drawing/2014/main" id="{2E3C18FE-C143-4552-A4AF-0398BAAF0B55}"/>
              </a:ext>
            </a:extLst>
          </p:cNvPr>
          <p:cNvSpPr>
            <a:spLocks noGrp="1"/>
          </p:cNvSpPr>
          <p:nvPr/>
        </p:nvSpPr>
        <p:spPr>
          <a:xfrm>
            <a:off x="573053" y="2684449"/>
            <a:ext cx="4845960" cy="2582409"/>
          </a:xfrm>
          <a:prstGeom prst="roundRect">
            <a:avLst>
              <a:gd name="adj" fmla="val 3226"/>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67" name="Text 9">
            <a:extLst>
              <a:ext uri="{FF2B5EF4-FFF2-40B4-BE49-F238E27FC236}">
                <a16:creationId xmlns:a16="http://schemas.microsoft.com/office/drawing/2014/main" id="{F1761F2F-5FFF-4FDF-98E0-92BE5F413507}"/>
              </a:ext>
            </a:extLst>
          </p:cNvPr>
          <p:cNvSpPr>
            <a:spLocks noGrp="1"/>
          </p:cNvSpPr>
          <p:nvPr/>
        </p:nvSpPr>
        <p:spPr>
          <a:xfrm>
            <a:off x="710213" y="2830609"/>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5F2CCB"/>
                </a:solidFill>
                <a:latin typeface="Aptos"/>
                <a:ea typeface="Aptos"/>
                <a:cs typeface="Aptos"/>
              </a:rPr>
              <a:t>CONTEXTO DEL TURNO</a:t>
            </a:r>
            <a:endParaRPr sz="1600" b="0" u="none">
              <a:solidFill>
                <a:srgbClr val="000000"/>
              </a:solidFill>
              <a:latin typeface="Arial"/>
              <a:ea typeface="Arial"/>
              <a:cs typeface="Arial"/>
            </a:endParaRPr>
          </a:p>
        </p:txBody>
      </p:sp>
      <p:sp>
        <p:nvSpPr>
          <p:cNvPr id="168" name="Text 10">
            <a:extLst>
              <a:ext uri="{FF2B5EF4-FFF2-40B4-BE49-F238E27FC236}">
                <a16:creationId xmlns:a16="http://schemas.microsoft.com/office/drawing/2014/main" id="{4095029D-21AB-4F27-B3F9-2CFC223C9A02}"/>
              </a:ext>
            </a:extLst>
          </p:cNvPr>
          <p:cNvSpPr>
            <a:spLocks noGrp="1"/>
          </p:cNvSpPr>
          <p:nvPr/>
        </p:nvSpPr>
        <p:spPr>
          <a:xfrm>
            <a:off x="774293" y="3160009"/>
            <a:ext cx="4443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1" u="none" dirty="0">
                <a:solidFill>
                  <a:srgbClr val="151327"/>
                </a:solidFill>
                <a:latin typeface="Aptos Display"/>
                <a:ea typeface="Aptos Display"/>
                <a:cs typeface="Aptos Display"/>
              </a:rPr>
              <a:t>Lo </a:t>
            </a:r>
            <a:r>
              <a:rPr sz="1600" b="1" u="none" dirty="0" err="1">
                <a:solidFill>
                  <a:srgbClr val="151327"/>
                </a:solidFill>
                <a:latin typeface="Aptos Display"/>
                <a:ea typeface="Aptos Display"/>
                <a:cs typeface="Aptos Display"/>
              </a:rPr>
              <a:t>que</a:t>
            </a:r>
            <a:r>
              <a:rPr sz="1600" b="1" u="none" dirty="0">
                <a:solidFill>
                  <a:srgbClr val="151327"/>
                </a:solidFill>
                <a:latin typeface="Aptos Display"/>
                <a:ea typeface="Aptos Display"/>
                <a:cs typeface="Aptos Display"/>
              </a:rPr>
              <a:t> el model</a:t>
            </a:r>
            <a:r>
              <a:rPr lang="es-MX" sz="1600" b="1" u="none" dirty="0">
                <a:solidFill>
                  <a:srgbClr val="151327"/>
                </a:solidFill>
                <a:latin typeface="Aptos Display"/>
                <a:ea typeface="Aptos Display"/>
                <a:cs typeface="Aptos Display"/>
              </a:rPr>
              <a:t>o</a:t>
            </a:r>
            <a:r>
              <a:rPr sz="1600" b="1" u="none" dirty="0">
                <a:solidFill>
                  <a:srgbClr val="151327"/>
                </a:solidFill>
                <a:latin typeface="Aptos Display"/>
                <a:ea typeface="Aptos Display"/>
                <a:cs typeface="Aptos Display"/>
              </a:rPr>
              <a:t> </a:t>
            </a:r>
            <a:r>
              <a:rPr sz="1600" b="1" u="none" dirty="0" err="1">
                <a:solidFill>
                  <a:srgbClr val="151327"/>
                </a:solidFill>
                <a:latin typeface="Aptos Display"/>
                <a:ea typeface="Aptos Display"/>
                <a:cs typeface="Aptos Display"/>
              </a:rPr>
              <a:t>necesita</a:t>
            </a:r>
            <a:r>
              <a:rPr sz="1600" b="1" u="none" dirty="0">
                <a:solidFill>
                  <a:srgbClr val="151327"/>
                </a:solidFill>
                <a:latin typeface="Aptos Display"/>
                <a:ea typeface="Aptos Display"/>
                <a:cs typeface="Aptos Display"/>
              </a:rPr>
              <a:t> </a:t>
            </a:r>
            <a:r>
              <a:rPr sz="1600" b="1" u="none" dirty="0" err="1">
                <a:solidFill>
                  <a:srgbClr val="151327"/>
                </a:solidFill>
                <a:latin typeface="Aptos Display"/>
                <a:ea typeface="Aptos Display"/>
                <a:cs typeface="Aptos Display"/>
              </a:rPr>
              <a:t>ahora</a:t>
            </a:r>
            <a:endParaRPr sz="1600" b="0" u="none" dirty="0">
              <a:solidFill>
                <a:srgbClr val="000000"/>
              </a:solidFill>
              <a:latin typeface="Arial"/>
              <a:ea typeface="Arial"/>
              <a:cs typeface="Arial"/>
            </a:endParaRPr>
          </a:p>
        </p:txBody>
      </p:sp>
      <p:sp>
        <p:nvSpPr>
          <p:cNvPr id="169" name="Text 11">
            <a:extLst>
              <a:ext uri="{FF2B5EF4-FFF2-40B4-BE49-F238E27FC236}">
                <a16:creationId xmlns:a16="http://schemas.microsoft.com/office/drawing/2014/main" id="{E5C20C17-8287-4029-9C24-6587923BF2A8}"/>
              </a:ext>
            </a:extLst>
          </p:cNvPr>
          <p:cNvSpPr>
            <a:spLocks noGrp="1"/>
          </p:cNvSpPr>
          <p:nvPr/>
        </p:nvSpPr>
        <p:spPr>
          <a:xfrm>
            <a:off x="829013" y="3671929"/>
            <a:ext cx="4334040" cy="116544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5532"/>
          </a:bodyPr>
          <a:lstStyle/>
          <a:p>
            <a:pPr marL="285750" indent="-285750" defTabSz="914400">
              <a:lnSpc>
                <a:spcPct val="100000"/>
              </a:lnSpc>
              <a:buFont typeface="Arial"/>
              <a:buChar char="•"/>
              <a:tabLst>
                <a:tab pos="0" algn="l"/>
              </a:tabLst>
            </a:pPr>
            <a:r>
              <a:rPr sz="1600" b="0" u="none" dirty="0">
                <a:solidFill>
                  <a:srgbClr val="6F6888"/>
                </a:solidFill>
                <a:latin typeface="Aptos"/>
                <a:ea typeface="Aptos"/>
                <a:cs typeface="Aptos"/>
              </a:rPr>
              <a:t>System/runtime instructions</a:t>
            </a:r>
            <a:endParaRPr sz="1600" b="0" u="none" dirty="0">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dirty="0">
                <a:solidFill>
                  <a:srgbClr val="6F6888"/>
                </a:solidFill>
                <a:latin typeface="Aptos"/>
                <a:ea typeface="Aptos"/>
                <a:cs typeface="Aptos"/>
              </a:rPr>
              <a:t>Profile y account context</a:t>
            </a:r>
            <a:endParaRPr sz="1600" b="0" u="none" dirty="0">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dirty="0">
                <a:solidFill>
                  <a:srgbClr val="6F6888"/>
                </a:solidFill>
                <a:latin typeface="Aptos"/>
                <a:ea typeface="Aptos"/>
                <a:cs typeface="Aptos"/>
              </a:rPr>
              <a:t>Skills + tool schemas</a:t>
            </a:r>
            <a:endParaRPr sz="1600" b="0" u="none" dirty="0">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dirty="0">
                <a:solidFill>
                  <a:srgbClr val="6F6888"/>
                </a:solidFill>
                <a:latin typeface="Aptos"/>
                <a:ea typeface="Aptos"/>
                <a:cs typeface="Aptos"/>
              </a:rPr>
              <a:t>Prior messages </a:t>
            </a:r>
            <a:r>
              <a:rPr sz="1600" b="0" u="none" dirty="0" err="1">
                <a:solidFill>
                  <a:srgbClr val="6F6888"/>
                </a:solidFill>
                <a:latin typeface="Aptos"/>
                <a:ea typeface="Aptos"/>
                <a:cs typeface="Aptos"/>
              </a:rPr>
              <a:t>compactados</a:t>
            </a:r>
            <a:endParaRPr sz="1600" b="0" u="none" dirty="0">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dirty="0">
                <a:solidFill>
                  <a:srgbClr val="6F6888"/>
                </a:solidFill>
                <a:latin typeface="Aptos"/>
                <a:ea typeface="Aptos"/>
                <a:cs typeface="Aptos"/>
              </a:rPr>
              <a:t>Personal memory </a:t>
            </a:r>
            <a:r>
              <a:rPr sz="1600" b="0" u="none" dirty="0" err="1">
                <a:solidFill>
                  <a:srgbClr val="6F6888"/>
                </a:solidFill>
                <a:latin typeface="Aptos"/>
                <a:ea typeface="Aptos"/>
                <a:cs typeface="Aptos"/>
              </a:rPr>
              <a:t>recuperada</a:t>
            </a:r>
            <a:endParaRPr sz="1600" b="0" u="none" dirty="0">
              <a:solidFill>
                <a:srgbClr val="000000"/>
              </a:solidFill>
              <a:latin typeface="Arial"/>
              <a:ea typeface="Arial"/>
              <a:cs typeface="Arial"/>
            </a:endParaRPr>
          </a:p>
        </p:txBody>
      </p:sp>
      <p:sp>
        <p:nvSpPr>
          <p:cNvPr id="170" name="Shape 12">
            <a:extLst>
              <a:ext uri="{FF2B5EF4-FFF2-40B4-BE49-F238E27FC236}">
                <a16:creationId xmlns:a16="http://schemas.microsoft.com/office/drawing/2014/main" id="{124856B5-2DDC-4795-88B6-7AB102075D83}"/>
              </a:ext>
            </a:extLst>
          </p:cNvPr>
          <p:cNvSpPr>
            <a:spLocks noGrp="1"/>
          </p:cNvSpPr>
          <p:nvPr/>
        </p:nvSpPr>
        <p:spPr>
          <a:xfrm>
            <a:off x="6333773" y="2684449"/>
            <a:ext cx="4739640" cy="2582049"/>
          </a:xfrm>
          <a:prstGeom prst="roundRect">
            <a:avLst>
              <a:gd name="adj" fmla="val 3226"/>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171" name="Text 13">
            <a:extLst>
              <a:ext uri="{FF2B5EF4-FFF2-40B4-BE49-F238E27FC236}">
                <a16:creationId xmlns:a16="http://schemas.microsoft.com/office/drawing/2014/main" id="{3DCF46AE-B470-4C47-8495-74C03F58A04B}"/>
              </a:ext>
            </a:extLst>
          </p:cNvPr>
          <p:cNvSpPr>
            <a:spLocks noGrp="1"/>
          </p:cNvSpPr>
          <p:nvPr/>
        </p:nvSpPr>
        <p:spPr>
          <a:xfrm>
            <a:off x="6470933" y="2830609"/>
            <a:ext cx="4571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078C53"/>
                </a:solidFill>
                <a:latin typeface="Aptos"/>
                <a:ea typeface="Aptos"/>
                <a:cs typeface="Aptos"/>
              </a:rPr>
              <a:t>VERDAD DURABLE</a:t>
            </a:r>
            <a:endParaRPr sz="1600" b="0" u="none">
              <a:solidFill>
                <a:srgbClr val="000000"/>
              </a:solidFill>
              <a:latin typeface="Arial"/>
              <a:ea typeface="Arial"/>
              <a:cs typeface="Arial"/>
            </a:endParaRPr>
          </a:p>
        </p:txBody>
      </p:sp>
      <p:sp>
        <p:nvSpPr>
          <p:cNvPr id="172" name="Text 14">
            <a:extLst>
              <a:ext uri="{FF2B5EF4-FFF2-40B4-BE49-F238E27FC236}">
                <a16:creationId xmlns:a16="http://schemas.microsoft.com/office/drawing/2014/main" id="{DEB40F6F-55EC-4EA6-A0EC-B4E7394135A8}"/>
              </a:ext>
            </a:extLst>
          </p:cNvPr>
          <p:cNvSpPr>
            <a:spLocks noGrp="1"/>
          </p:cNvSpPr>
          <p:nvPr/>
        </p:nvSpPr>
        <p:spPr>
          <a:xfrm>
            <a:off x="6535013" y="3160009"/>
            <a:ext cx="444348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600" b="1" u="none">
                <a:solidFill>
                  <a:srgbClr val="151327"/>
                </a:solidFill>
                <a:latin typeface="Aptos Display"/>
                <a:ea typeface="Aptos Display"/>
                <a:cs typeface="Aptos Display"/>
              </a:rPr>
              <a:t>Lo que gobierna fuera del prompt</a:t>
            </a:r>
            <a:endParaRPr sz="1600" b="0" u="none">
              <a:solidFill>
                <a:srgbClr val="000000"/>
              </a:solidFill>
              <a:latin typeface="Arial"/>
              <a:ea typeface="Arial"/>
              <a:cs typeface="Arial"/>
            </a:endParaRPr>
          </a:p>
        </p:txBody>
      </p:sp>
      <p:sp>
        <p:nvSpPr>
          <p:cNvPr id="173" name="Text 15">
            <a:extLst>
              <a:ext uri="{FF2B5EF4-FFF2-40B4-BE49-F238E27FC236}">
                <a16:creationId xmlns:a16="http://schemas.microsoft.com/office/drawing/2014/main" id="{2AA5CCE7-BB79-4204-B6EC-3C6634660C4E}"/>
              </a:ext>
            </a:extLst>
          </p:cNvPr>
          <p:cNvSpPr>
            <a:spLocks noGrp="1"/>
          </p:cNvSpPr>
          <p:nvPr/>
        </p:nvSpPr>
        <p:spPr>
          <a:xfrm>
            <a:off x="6589733" y="3671929"/>
            <a:ext cx="3512734" cy="137058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a:buChar char="•"/>
              <a:tabLst>
                <a:tab pos="0" algn="l"/>
              </a:tabLst>
            </a:pPr>
            <a:r>
              <a:rPr sz="1600" b="0" u="none">
                <a:solidFill>
                  <a:srgbClr val="6F6888"/>
                </a:solidFill>
                <a:latin typeface="Aptos"/>
                <a:ea typeface="Aptos"/>
                <a:cs typeface="Aptos"/>
              </a:rPr>
              <a:t>Case/work state</a:t>
            </a:r>
            <a:endParaRPr sz="1600" b="0" u="none">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a:solidFill>
                  <a:srgbClr val="6F6888"/>
                </a:solidFill>
                <a:latin typeface="Aptos"/>
                <a:ea typeface="Aptos"/>
                <a:cs typeface="Aptos"/>
              </a:rPr>
              <a:t>Systems of record</a:t>
            </a:r>
            <a:endParaRPr sz="1600" b="0" u="none">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a:solidFill>
                  <a:srgbClr val="6F6888"/>
                </a:solidFill>
                <a:latin typeface="Aptos"/>
                <a:ea typeface="Aptos"/>
                <a:cs typeface="Aptos"/>
              </a:rPr>
              <a:t>Organization/policy</a:t>
            </a:r>
            <a:endParaRPr sz="1600" b="0" u="none">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a:solidFill>
                  <a:srgbClr val="6F6888"/>
                </a:solidFill>
                <a:latin typeface="Aptos"/>
                <a:ea typeface="Aptos"/>
                <a:cs typeface="Aptos"/>
              </a:rPr>
              <a:t>Commitments y decisions</a:t>
            </a:r>
            <a:endParaRPr sz="1600" b="0" u="none">
              <a:solidFill>
                <a:srgbClr val="000000"/>
              </a:solidFill>
              <a:latin typeface="Arial"/>
              <a:ea typeface="Arial"/>
              <a:cs typeface="Arial"/>
            </a:endParaRPr>
          </a:p>
          <a:p>
            <a:pPr marL="285750" indent="-285750" defTabSz="914400">
              <a:lnSpc>
                <a:spcPct val="100000"/>
              </a:lnSpc>
              <a:buFont typeface="Arial"/>
              <a:buChar char="•"/>
              <a:tabLst>
                <a:tab pos="0" algn="l"/>
              </a:tabLst>
            </a:pPr>
            <a:r>
              <a:rPr sz="1600" b="0" u="none">
                <a:solidFill>
                  <a:srgbClr val="6F6888"/>
                </a:solidFill>
                <a:latin typeface="Aptos"/>
                <a:ea typeface="Aptos"/>
                <a:cs typeface="Aptos"/>
              </a:rPr>
              <a:t>Evidence/outcomes</a:t>
            </a:r>
            <a:endParaRPr sz="1600" b="0" u="none">
              <a:solidFill>
                <a:srgbClr val="000000"/>
              </a:solidFill>
              <a:latin typeface="Arial"/>
              <a:ea typeface="Arial"/>
              <a:cs typeface="Arial"/>
            </a:endParaRPr>
          </a:p>
        </p:txBody>
      </p:sp>
      <p:sp>
        <p:nvSpPr>
          <p:cNvPr id="174" name="Shape 16">
            <a:extLst>
              <a:ext uri="{FF2B5EF4-FFF2-40B4-BE49-F238E27FC236}">
                <a16:creationId xmlns:a16="http://schemas.microsoft.com/office/drawing/2014/main" id="{231FC923-B290-4382-BC31-F263B92E7688}"/>
              </a:ext>
            </a:extLst>
          </p:cNvPr>
          <p:cNvSpPr>
            <a:spLocks noGrp="1"/>
          </p:cNvSpPr>
          <p:nvPr/>
        </p:nvSpPr>
        <p:spPr>
          <a:xfrm>
            <a:off x="5510813" y="4074049"/>
            <a:ext cx="731520" cy="360"/>
          </a:xfrm>
          <a:prstGeom prst="line">
            <a:avLst/>
          </a:prstGeom>
          <a:ln w="19050">
            <a:solidFill>
              <a:srgbClr val="5F2CCB"/>
            </a:solidFill>
            <a:tailEnd type="triangle" w="med" len="med"/>
          </a:ln>
        </p:spPr>
        <p:style>
          <a:lnRef idx="0">
            <a:scrgbClr r="0" g="0" b="0"/>
          </a:lnRef>
          <a:fillRef idx="0">
            <a:scrgbClr r="0" g="0" b="0"/>
          </a:fillRef>
          <a:effectRef idx="0">
            <a:scrgbClr r="0" g="0" b="0"/>
          </a:effectRef>
          <a:fontRef idx="minor"/>
        </p:style>
        <p:txBody>
          <a:bodyPr lIns="90000" tIns="-44640" rIns="90000" bIns="-44640" anchor="t">
            <a:noAutofit/>
          </a:bodyPr>
          <a:lstStyle/>
          <a:p>
            <a:endParaRPr sz="1800" b="0" u="none">
              <a:solidFill>
                <a:srgbClr val="000000"/>
              </a:solidFill>
              <a:latin typeface="Arial"/>
              <a:ea typeface="Arial"/>
              <a:cs typeface="Arial"/>
            </a:endParaRPr>
          </a:p>
        </p:txBody>
      </p:sp>
      <p:sp>
        <p:nvSpPr>
          <p:cNvPr id="175" name="Shape 17">
            <a:extLst>
              <a:ext uri="{FF2B5EF4-FFF2-40B4-BE49-F238E27FC236}">
                <a16:creationId xmlns:a16="http://schemas.microsoft.com/office/drawing/2014/main" id="{8ACD5224-7EA4-40F7-B6CE-F0A80D090F32}"/>
              </a:ext>
            </a:extLst>
          </p:cNvPr>
          <p:cNvSpPr>
            <a:spLocks noGrp="1"/>
          </p:cNvSpPr>
          <p:nvPr/>
        </p:nvSpPr>
        <p:spPr>
          <a:xfrm>
            <a:off x="2468880" y="5713479"/>
            <a:ext cx="7223400" cy="438480"/>
          </a:xfrm>
          <a:prstGeom prst="roundRect">
            <a:avLst>
              <a:gd name="adj" fmla="val 16667"/>
            </a:avLst>
          </a:prstGeom>
          <a:solidFill>
            <a:srgbClr val="F1EBFF"/>
          </a:solidFill>
          <a:ln w="12700">
            <a:solidFill>
              <a:srgbClr val="F1EBFF">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176" name="Text 18">
            <a:extLst>
              <a:ext uri="{FF2B5EF4-FFF2-40B4-BE49-F238E27FC236}">
                <a16:creationId xmlns:a16="http://schemas.microsoft.com/office/drawing/2014/main" id="{2CC9CA9D-5515-4838-999A-6CDF997CC73A}"/>
              </a:ext>
            </a:extLst>
          </p:cNvPr>
          <p:cNvSpPr>
            <a:spLocks noGrp="1"/>
          </p:cNvSpPr>
          <p:nvPr/>
        </p:nvSpPr>
        <p:spPr>
          <a:xfrm>
            <a:off x="2514600" y="5768199"/>
            <a:ext cx="71319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a:buNone/>
              <a:tabLst>
                <a:tab pos="0" algn="l"/>
              </a:tabLst>
            </a:pPr>
            <a:r>
              <a:rPr sz="1600" b="1" dirty="0">
                <a:solidFill>
                  <a:srgbClr val="5F2CCB"/>
                </a:solidFill>
              </a:rPr>
              <a:t>El </a:t>
            </a:r>
            <a:r>
              <a:rPr sz="1600" b="1" dirty="0" err="1">
                <a:solidFill>
                  <a:srgbClr val="5F2CCB"/>
                </a:solidFill>
              </a:rPr>
              <a:t>contexto</a:t>
            </a:r>
            <a:r>
              <a:rPr sz="1600" b="1" dirty="0">
                <a:solidFill>
                  <a:srgbClr val="5F2CCB"/>
                </a:solidFill>
              </a:rPr>
              <a:t> se </a:t>
            </a:r>
            <a:r>
              <a:rPr sz="1600" b="1" dirty="0" err="1">
                <a:solidFill>
                  <a:srgbClr val="5F2CCB"/>
                </a:solidFill>
              </a:rPr>
              <a:t>deriva</a:t>
            </a:r>
            <a:r>
              <a:rPr sz="1600" b="1" dirty="0">
                <a:solidFill>
                  <a:srgbClr val="5F2CCB"/>
                </a:solidFill>
              </a:rPr>
              <a:t>; la </a:t>
            </a:r>
            <a:r>
              <a:rPr sz="1600" b="1" dirty="0" err="1">
                <a:solidFill>
                  <a:srgbClr val="5F2CCB"/>
                </a:solidFill>
              </a:rPr>
              <a:t>verdad</a:t>
            </a:r>
            <a:r>
              <a:rPr sz="1600" b="1" dirty="0">
                <a:solidFill>
                  <a:srgbClr val="5F2CCB"/>
                </a:solidFill>
              </a:rPr>
              <a:t> durable </a:t>
            </a:r>
            <a:r>
              <a:rPr sz="1600" b="1" dirty="0" err="1">
                <a:solidFill>
                  <a:srgbClr val="5F2CCB"/>
                </a:solidFill>
              </a:rPr>
              <a:t>gobierna</a:t>
            </a:r>
            <a:r>
              <a:rPr sz="1600" b="1" dirty="0">
                <a:solidFill>
                  <a:srgbClr val="5F2CCB"/>
                </a:solidFill>
              </a:rPr>
              <a:t>.</a:t>
            </a:r>
            <a:endParaRPr sz="1600" b="0" u="none" dirty="0">
              <a:solidFill>
                <a:srgbClr val="000000"/>
              </a:solidFill>
              <a:latin typeface="Arial"/>
              <a:ea typeface="Arial"/>
              <a:cs typeface="Arial"/>
            </a:endParaRPr>
          </a:p>
        </p:txBody>
      </p:sp>
      <p:pic>
        <p:nvPicPr>
          <p:cNvPr id="196" name="Image 0"/>
          <p:cNvPicPr>
            <a:picLocks noChangeAspect="1"/>
          </p:cNvPicPr>
          <p:nvPr/>
        </p:nvPicPr>
        <p:blipFill>
          <a:blip r:embed="rId3"/>
          <a:stretch>
            <a:fillRect/>
          </a:stretch>
        </p:blipFill>
        <p:spPr>
          <a:xfrm>
            <a:off x="11109960" y="449715"/>
            <a:ext cx="566928" cy="472170"/>
          </a:xfrm>
          <a:prstGeom prst="rect">
            <a:avLst/>
          </a:prstGeom>
        </p:spPr>
      </p:pic>
      <p:sp>
        <p:nvSpPr>
          <p:cNvPr id="5" name="Text 11">
            <a:extLst>
              <a:ext uri="{FF2B5EF4-FFF2-40B4-BE49-F238E27FC236}">
                <a16:creationId xmlns:a16="http://schemas.microsoft.com/office/drawing/2014/main" id="{2148283B-6FF9-8FE6-B79F-13BF57068B95}"/>
              </a:ext>
            </a:extLst>
          </p:cNvPr>
          <p:cNvSpPr>
            <a:spLocks noGrp="1"/>
          </p:cNvSpPr>
          <p:nvPr/>
        </p:nvSpPr>
        <p:spPr>
          <a:xfrm>
            <a:off x="5457288" y="3736654"/>
            <a:ext cx="800566" cy="27146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consulta</a:t>
            </a:r>
            <a:endParaRPr sz="1400" b="0" u="none">
              <a:solidFill>
                <a:srgbClr val="000000"/>
              </a:solidFill>
              <a:latin typeface="Arial"/>
              <a:ea typeface="Arial"/>
              <a:cs typeface="Arial"/>
            </a:endParaRPr>
          </a:p>
        </p:txBody>
      </p:sp>
    </p:spTree>
    <p:extLst>
      <p:ext uri="{BB962C8B-B14F-4D97-AF65-F5344CB8AC3E}">
        <p14:creationId xmlns:p14="http://schemas.microsoft.com/office/powerpoint/2010/main" val="784722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67" name="Shape 0">
            <a:extLst>
              <a:ext uri="{FF2B5EF4-FFF2-40B4-BE49-F238E27FC236}">
                <a16:creationId xmlns:a16="http://schemas.microsoft.com/office/drawing/2014/main" id="{74D908D3-C8D1-4000-BC1F-B8F0F868704F}"/>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68" name="Text 1">
            <a:extLst>
              <a:ext uri="{FF2B5EF4-FFF2-40B4-BE49-F238E27FC236}">
                <a16:creationId xmlns:a16="http://schemas.microsoft.com/office/drawing/2014/main" id="{169A201C-7EE3-411D-8AF9-3DB0249F1459}"/>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COMPACTION CONTROLA BUDGET SIN CONVERTIR RESUMEN EN VERDAD</a:t>
            </a:r>
            <a:endParaRPr sz="1200" b="0" u="none">
              <a:solidFill>
                <a:srgbClr val="000000"/>
              </a:solidFill>
              <a:latin typeface="Arial"/>
              <a:ea typeface="Arial"/>
              <a:cs typeface="Arial"/>
            </a:endParaRPr>
          </a:p>
        </p:txBody>
      </p:sp>
      <p:sp>
        <p:nvSpPr>
          <p:cNvPr id="469" name="Text 2">
            <a:extLst>
              <a:ext uri="{FF2B5EF4-FFF2-40B4-BE49-F238E27FC236}">
                <a16:creationId xmlns:a16="http://schemas.microsoft.com/office/drawing/2014/main" id="{6F13477C-4E13-4D00-9218-DDC6F14AE0FC}"/>
              </a:ext>
            </a:extLst>
          </p:cNvPr>
          <p:cNvSpPr>
            <a:spLocks noGrp="1"/>
          </p:cNvSpPr>
          <p:nvPr/>
        </p:nvSpPr>
        <p:spPr>
          <a:xfrm>
            <a:off x="535101" y="942127"/>
            <a:ext cx="10426941"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dirty="0" err="1">
                <a:solidFill>
                  <a:srgbClr val="151327"/>
                </a:solidFill>
                <a:latin typeface="Aptos Display"/>
                <a:ea typeface="Aptos Display"/>
                <a:cs typeface="Aptos Display"/>
              </a:rPr>
              <a:t>Microcompact</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limpia</a:t>
            </a:r>
            <a:r>
              <a:rPr lang="es-MX" sz="2600" b="1" u="none" dirty="0">
                <a:solidFill>
                  <a:srgbClr val="151327"/>
                </a:solidFill>
                <a:latin typeface="Aptos Display"/>
                <a:ea typeface="Aptos Display"/>
                <a:cs typeface="Aptos Display"/>
              </a:rPr>
              <a:t> resultados de</a:t>
            </a:r>
            <a:r>
              <a:rPr sz="2600" b="1" u="none" dirty="0">
                <a:solidFill>
                  <a:srgbClr val="151327"/>
                </a:solidFill>
                <a:latin typeface="Aptos Display"/>
                <a:ea typeface="Aptos Display"/>
                <a:cs typeface="Aptos Display"/>
              </a:rPr>
              <a:t> tool </a:t>
            </a:r>
            <a:r>
              <a:rPr sz="2600" b="1" u="none" dirty="0" err="1">
                <a:solidFill>
                  <a:srgbClr val="151327"/>
                </a:solidFill>
                <a:latin typeface="Aptos Display"/>
                <a:ea typeface="Aptos Display"/>
                <a:cs typeface="Aptos Display"/>
              </a:rPr>
              <a:t>viejos</a:t>
            </a:r>
            <a:r>
              <a:rPr sz="2600" b="1" u="none" dirty="0">
                <a:solidFill>
                  <a:srgbClr val="151327"/>
                </a:solidFill>
                <a:latin typeface="Aptos Display"/>
                <a:ea typeface="Aptos Display"/>
                <a:cs typeface="Aptos Display"/>
              </a:rPr>
              <a:t>; LLM compaction </a:t>
            </a:r>
            <a:r>
              <a:rPr sz="2600" b="1" u="none" dirty="0" err="1">
                <a:solidFill>
                  <a:srgbClr val="151327"/>
                </a:solidFill>
                <a:latin typeface="Aptos Display"/>
                <a:ea typeface="Aptos Display"/>
                <a:cs typeface="Aptos Display"/>
              </a:rPr>
              <a:t>sólo</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entra</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cerca</a:t>
            </a:r>
            <a:r>
              <a:rPr sz="2600" b="1" u="none" dirty="0">
                <a:solidFill>
                  <a:srgbClr val="151327"/>
                </a:solidFill>
                <a:latin typeface="Aptos Display"/>
                <a:ea typeface="Aptos Display"/>
                <a:cs typeface="Aptos Display"/>
              </a:rPr>
              <a:t> del threshold.</a:t>
            </a:r>
            <a:endParaRPr sz="2600" b="0" u="none" dirty="0">
              <a:solidFill>
                <a:srgbClr val="000000"/>
              </a:solidFill>
              <a:latin typeface="Arial"/>
              <a:ea typeface="Arial"/>
              <a:cs typeface="Arial"/>
            </a:endParaRPr>
          </a:p>
        </p:txBody>
      </p:sp>
      <p:sp>
        <p:nvSpPr>
          <p:cNvPr id="470" name="Text 3">
            <a:extLst>
              <a:ext uri="{FF2B5EF4-FFF2-40B4-BE49-F238E27FC236}">
                <a16:creationId xmlns:a16="http://schemas.microsoft.com/office/drawing/2014/main" id="{AD37A698-20FC-468E-93D2-F8B0A07EA4D9}"/>
              </a:ext>
            </a:extLst>
          </p:cNvPr>
          <p:cNvSpPr>
            <a:spLocks noGrp="1"/>
          </p:cNvSpPr>
          <p:nvPr/>
        </p:nvSpPr>
        <p:spPr>
          <a:xfrm>
            <a:off x="566999" y="1816086"/>
            <a:ext cx="10542961" cy="63910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u="none">
                <a:solidFill>
                  <a:srgbClr val="6F6888"/>
                </a:solidFill>
                <a:latin typeface="Aptos"/>
                <a:ea typeface="Aptos"/>
                <a:cs typeface="Aptos"/>
              </a:rPr>
              <a:t>La estrategia preserva continuidad y evita loops ante provider failure.</a:t>
            </a:r>
            <a:endParaRPr u="none">
              <a:solidFill>
                <a:srgbClr val="000000"/>
              </a:solidFill>
              <a:latin typeface="Arial"/>
              <a:ea typeface="Arial"/>
              <a:cs typeface="Arial"/>
            </a:endParaRPr>
          </a:p>
        </p:txBody>
      </p:sp>
      <p:sp>
        <p:nvSpPr>
          <p:cNvPr id="472" name="Text 5">
            <a:extLst>
              <a:ext uri="{FF2B5EF4-FFF2-40B4-BE49-F238E27FC236}">
                <a16:creationId xmlns:a16="http://schemas.microsoft.com/office/drawing/2014/main" id="{B667CD0E-71FE-45D8-944D-6FB3B29AC9C7}"/>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73" name="Text 6">
            <a:extLst>
              <a:ext uri="{FF2B5EF4-FFF2-40B4-BE49-F238E27FC236}">
                <a16:creationId xmlns:a16="http://schemas.microsoft.com/office/drawing/2014/main" id="{F4EAA7B9-9505-4A39-8803-AFCA5A501AC4}"/>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74" name="Text 7">
            <a:extLst>
              <a:ext uri="{FF2B5EF4-FFF2-40B4-BE49-F238E27FC236}">
                <a16:creationId xmlns:a16="http://schemas.microsoft.com/office/drawing/2014/main" id="{1AECC926-D0AF-450B-92A9-9E85801E5815}"/>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6</a:t>
            </a:r>
            <a:endParaRPr sz="700" b="0" u="none">
              <a:solidFill>
                <a:srgbClr val="000000"/>
              </a:solidFill>
              <a:latin typeface="Arial"/>
              <a:ea typeface="Arial"/>
              <a:cs typeface="Arial"/>
            </a:endParaRPr>
          </a:p>
        </p:txBody>
      </p:sp>
      <p:sp>
        <p:nvSpPr>
          <p:cNvPr id="475" name="Shape 8">
            <a:extLst>
              <a:ext uri="{FF2B5EF4-FFF2-40B4-BE49-F238E27FC236}">
                <a16:creationId xmlns:a16="http://schemas.microsoft.com/office/drawing/2014/main" id="{F1977737-EE53-4062-B8EA-13825F3C4220}"/>
              </a:ext>
            </a:extLst>
          </p:cNvPr>
          <p:cNvSpPr>
            <a:spLocks noGrp="1"/>
          </p:cNvSpPr>
          <p:nvPr/>
        </p:nvSpPr>
        <p:spPr>
          <a:xfrm>
            <a:off x="685800" y="2793020"/>
            <a:ext cx="5211720" cy="278856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76" name="Text 9">
            <a:extLst>
              <a:ext uri="{FF2B5EF4-FFF2-40B4-BE49-F238E27FC236}">
                <a16:creationId xmlns:a16="http://schemas.microsoft.com/office/drawing/2014/main" id="{384B7E18-6DA2-4E3A-8DF6-8677EE580D2B}"/>
              </a:ext>
            </a:extLst>
          </p:cNvPr>
          <p:cNvSpPr>
            <a:spLocks noGrp="1"/>
          </p:cNvSpPr>
          <p:nvPr/>
        </p:nvSpPr>
        <p:spPr>
          <a:xfrm>
            <a:off x="82296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5F2CCB"/>
                </a:solidFill>
                <a:latin typeface="Aptos"/>
                <a:ea typeface="Aptos"/>
                <a:cs typeface="Aptos"/>
              </a:rPr>
              <a:t>MICROCOMPACT</a:t>
            </a:r>
            <a:endParaRPr sz="1200" b="0" u="none">
              <a:solidFill>
                <a:srgbClr val="000000"/>
              </a:solidFill>
              <a:latin typeface="Arial"/>
              <a:ea typeface="Arial"/>
              <a:cs typeface="Arial"/>
            </a:endParaRPr>
          </a:p>
        </p:txBody>
      </p:sp>
      <p:sp>
        <p:nvSpPr>
          <p:cNvPr id="477" name="Text 10">
            <a:extLst>
              <a:ext uri="{FF2B5EF4-FFF2-40B4-BE49-F238E27FC236}">
                <a16:creationId xmlns:a16="http://schemas.microsoft.com/office/drawing/2014/main" id="{BF2F62C5-933B-4EE1-8894-11F1CB03CDAE}"/>
              </a:ext>
            </a:extLst>
          </p:cNvPr>
          <p:cNvSpPr>
            <a:spLocks noGrp="1"/>
          </p:cNvSpPr>
          <p:nvPr/>
        </p:nvSpPr>
        <p:spPr>
          <a:xfrm>
            <a:off x="867162" y="3288458"/>
            <a:ext cx="48092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1" u="none">
                <a:solidFill>
                  <a:srgbClr val="151327"/>
                </a:solidFill>
                <a:latin typeface="Aptos Display"/>
                <a:ea typeface="Aptos Display"/>
                <a:cs typeface="Aptos Display"/>
              </a:rPr>
              <a:t>Barato y determinista</a:t>
            </a:r>
            <a:endParaRPr b="0" u="none">
              <a:solidFill>
                <a:srgbClr val="000000"/>
              </a:solidFill>
              <a:latin typeface="Arial"/>
              <a:ea typeface="Arial"/>
              <a:cs typeface="Arial"/>
            </a:endParaRPr>
          </a:p>
        </p:txBody>
      </p:sp>
      <p:sp>
        <p:nvSpPr>
          <p:cNvPr id="478" name="Text 11">
            <a:extLst>
              <a:ext uri="{FF2B5EF4-FFF2-40B4-BE49-F238E27FC236}">
                <a16:creationId xmlns:a16="http://schemas.microsoft.com/office/drawing/2014/main" id="{BC46776A-8DA9-4233-AEF4-B7ACED3DA96A}"/>
              </a:ext>
            </a:extLst>
          </p:cNvPr>
          <p:cNvSpPr>
            <a:spLocks noGrp="1"/>
          </p:cNvSpPr>
          <p:nvPr/>
        </p:nvSpPr>
        <p:spPr>
          <a:xfrm>
            <a:off x="941760" y="3780500"/>
            <a:ext cx="4809240"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a:buChar char="•"/>
              <a:tabLst>
                <a:tab pos="0" algn="l"/>
              </a:tabLst>
            </a:pPr>
            <a:r>
              <a:rPr sz="1400" b="0" u="none" dirty="0" err="1">
                <a:solidFill>
                  <a:srgbClr val="6F6888"/>
                </a:solidFill>
                <a:latin typeface="Aptos"/>
                <a:ea typeface="Aptos"/>
                <a:cs typeface="Aptos"/>
              </a:rPr>
              <a:t>Siempre</a:t>
            </a:r>
            <a:r>
              <a:rPr sz="1400" b="0" u="none" dirty="0">
                <a:solidFill>
                  <a:srgbClr val="6F6888"/>
                </a:solidFill>
                <a:latin typeface="Aptos"/>
                <a:ea typeface="Aptos"/>
                <a:cs typeface="Aptos"/>
              </a:rPr>
              <a:t> </a:t>
            </a:r>
            <a:r>
              <a:rPr sz="1400" b="0" u="none" dirty="0" err="1">
                <a:solidFill>
                  <a:srgbClr val="6F6888"/>
                </a:solidFill>
                <a:latin typeface="Aptos"/>
                <a:ea typeface="Aptos"/>
                <a:cs typeface="Aptos"/>
              </a:rPr>
              <a:t>corre</a:t>
            </a:r>
            <a:endParaRPr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sz="1400" b="0" u="none" dirty="0" err="1">
                <a:solidFill>
                  <a:srgbClr val="6F6888"/>
                </a:solidFill>
                <a:latin typeface="Aptos"/>
                <a:ea typeface="Aptos"/>
                <a:cs typeface="Aptos"/>
              </a:rPr>
              <a:t>Conserva</a:t>
            </a:r>
            <a:r>
              <a:rPr sz="1400" b="0" u="none" dirty="0">
                <a:solidFill>
                  <a:srgbClr val="6F6888"/>
                </a:solidFill>
                <a:latin typeface="Aptos"/>
                <a:ea typeface="Aptos"/>
                <a:cs typeface="Aptos"/>
              </a:rPr>
              <a:t> 5 </a:t>
            </a:r>
            <a:r>
              <a:rPr sz="1400" b="0" u="none" dirty="0" err="1">
                <a:solidFill>
                  <a:srgbClr val="6F6888"/>
                </a:solidFill>
                <a:latin typeface="Aptos"/>
                <a:ea typeface="Aptos"/>
                <a:cs typeface="Aptos"/>
              </a:rPr>
              <a:t>ToolMessages</a:t>
            </a:r>
            <a:r>
              <a:rPr sz="1400" b="0" u="none" dirty="0">
                <a:solidFill>
                  <a:srgbClr val="6F6888"/>
                </a:solidFill>
                <a:latin typeface="Aptos"/>
                <a:ea typeface="Aptos"/>
                <a:cs typeface="Aptos"/>
              </a:rPr>
              <a:t> </a:t>
            </a:r>
            <a:r>
              <a:rPr sz="1400" b="0" u="none" dirty="0" err="1">
                <a:solidFill>
                  <a:srgbClr val="6F6888"/>
                </a:solidFill>
                <a:latin typeface="Aptos"/>
                <a:ea typeface="Aptos"/>
                <a:cs typeface="Aptos"/>
              </a:rPr>
              <a:t>recientes</a:t>
            </a:r>
            <a:endParaRPr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sz="1400" b="0" u="none" dirty="0" err="1">
                <a:solidFill>
                  <a:srgbClr val="6F6888"/>
                </a:solidFill>
                <a:latin typeface="Aptos"/>
                <a:ea typeface="Aptos"/>
                <a:cs typeface="Aptos"/>
              </a:rPr>
              <a:t>Limpia</a:t>
            </a:r>
            <a:r>
              <a:rPr sz="1400" b="0" u="none" dirty="0">
                <a:solidFill>
                  <a:srgbClr val="6F6888"/>
                </a:solidFill>
                <a:latin typeface="Aptos"/>
                <a:ea typeface="Aptos"/>
                <a:cs typeface="Aptos"/>
              </a:rPr>
              <a:t> outputs </a:t>
            </a:r>
            <a:r>
              <a:rPr sz="1400" b="0" u="none" dirty="0" err="1">
                <a:solidFill>
                  <a:srgbClr val="6F6888"/>
                </a:solidFill>
                <a:latin typeface="Aptos"/>
                <a:ea typeface="Aptos"/>
                <a:cs typeface="Aptos"/>
              </a:rPr>
              <a:t>antiguos</a:t>
            </a:r>
            <a:endParaRPr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sz="1400" b="0" u="none" dirty="0">
                <a:solidFill>
                  <a:srgbClr val="6F6888"/>
                </a:solidFill>
                <a:latin typeface="Aptos"/>
                <a:ea typeface="Aptos"/>
                <a:cs typeface="Aptos"/>
              </a:rPr>
              <a:t>No llama un model</a:t>
            </a:r>
            <a:r>
              <a:rPr lang="es-MX" sz="1400" b="0" u="none" dirty="0">
                <a:solidFill>
                  <a:srgbClr val="6F6888"/>
                </a:solidFill>
                <a:latin typeface="Aptos"/>
                <a:ea typeface="Aptos"/>
                <a:cs typeface="Aptos"/>
              </a:rPr>
              <a:t>o</a:t>
            </a:r>
            <a:endParaRPr sz="1400" b="0" u="none" dirty="0">
              <a:solidFill>
                <a:srgbClr val="6F6888"/>
              </a:solidFill>
              <a:latin typeface="Aptos"/>
              <a:ea typeface="Aptos"/>
              <a:cs typeface="Aptos"/>
            </a:endParaRPr>
          </a:p>
        </p:txBody>
      </p:sp>
      <p:sp>
        <p:nvSpPr>
          <p:cNvPr id="479" name="Shape 12">
            <a:extLst>
              <a:ext uri="{FF2B5EF4-FFF2-40B4-BE49-F238E27FC236}">
                <a16:creationId xmlns:a16="http://schemas.microsoft.com/office/drawing/2014/main" id="{91372C0F-C107-4E97-B053-A424B2AB88C1}"/>
              </a:ext>
            </a:extLst>
          </p:cNvPr>
          <p:cNvSpPr>
            <a:spLocks noGrp="1"/>
          </p:cNvSpPr>
          <p:nvPr/>
        </p:nvSpPr>
        <p:spPr>
          <a:xfrm>
            <a:off x="6153480" y="2793020"/>
            <a:ext cx="5367600" cy="278856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80" name="Text 13">
            <a:extLst>
              <a:ext uri="{FF2B5EF4-FFF2-40B4-BE49-F238E27FC236}">
                <a16:creationId xmlns:a16="http://schemas.microsoft.com/office/drawing/2014/main" id="{10DFEA9B-76B4-44A6-87F2-2AC93E0A56B5}"/>
              </a:ext>
            </a:extLst>
          </p:cNvPr>
          <p:cNvSpPr>
            <a:spLocks noGrp="1"/>
          </p:cNvSpPr>
          <p:nvPr/>
        </p:nvSpPr>
        <p:spPr>
          <a:xfrm>
            <a:off x="644652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078C53"/>
                </a:solidFill>
                <a:latin typeface="Aptos"/>
                <a:ea typeface="Aptos"/>
                <a:cs typeface="Aptos"/>
              </a:rPr>
              <a:t>LLM COMPACTION</a:t>
            </a:r>
            <a:endParaRPr sz="1200" b="0" u="none">
              <a:solidFill>
                <a:srgbClr val="000000"/>
              </a:solidFill>
              <a:latin typeface="Arial"/>
              <a:ea typeface="Arial"/>
              <a:cs typeface="Arial"/>
            </a:endParaRPr>
          </a:p>
        </p:txBody>
      </p:sp>
      <p:sp>
        <p:nvSpPr>
          <p:cNvPr id="481" name="Text 14">
            <a:extLst>
              <a:ext uri="{FF2B5EF4-FFF2-40B4-BE49-F238E27FC236}">
                <a16:creationId xmlns:a16="http://schemas.microsoft.com/office/drawing/2014/main" id="{277CAD91-0E67-4B85-97C6-CB9CC9C55260}"/>
              </a:ext>
            </a:extLst>
          </p:cNvPr>
          <p:cNvSpPr>
            <a:spLocks noGrp="1"/>
          </p:cNvSpPr>
          <p:nvPr/>
        </p:nvSpPr>
        <p:spPr>
          <a:xfrm>
            <a:off x="6441027" y="3268580"/>
            <a:ext cx="49374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buNone/>
              <a:tabLst>
                <a:tab pos="0" algn="l"/>
              </a:tabLst>
            </a:pPr>
            <a:r>
              <a:rPr b="1" u="none" dirty="0">
                <a:solidFill>
                  <a:srgbClr val="151327"/>
                </a:solidFill>
                <a:latin typeface="Aptos Display"/>
                <a:ea typeface="Aptos Display"/>
                <a:cs typeface="Aptos Display"/>
              </a:rPr>
              <a:t>Resume con </a:t>
            </a:r>
            <a:r>
              <a:rPr b="1" u="none" dirty="0" err="1">
                <a:solidFill>
                  <a:srgbClr val="151327"/>
                </a:solidFill>
                <a:latin typeface="Aptos Display"/>
                <a:ea typeface="Aptos Display"/>
                <a:cs typeface="Aptos Display"/>
              </a:rPr>
              <a:t>estructura</a:t>
            </a:r>
            <a:endParaRPr b="0" u="none" dirty="0">
              <a:solidFill>
                <a:srgbClr val="000000"/>
              </a:solidFill>
              <a:latin typeface="Arial"/>
              <a:ea typeface="Arial"/>
              <a:cs typeface="Arial"/>
            </a:endParaRPr>
          </a:p>
        </p:txBody>
      </p:sp>
      <p:sp>
        <p:nvSpPr>
          <p:cNvPr id="482" name="Text 15">
            <a:extLst>
              <a:ext uri="{FF2B5EF4-FFF2-40B4-BE49-F238E27FC236}">
                <a16:creationId xmlns:a16="http://schemas.microsoft.com/office/drawing/2014/main" id="{857D2E0E-0096-40E0-94D1-4B45E711CF10}"/>
              </a:ext>
            </a:extLst>
          </p:cNvPr>
          <p:cNvSpPr>
            <a:spLocks noGrp="1"/>
          </p:cNvSpPr>
          <p:nvPr/>
        </p:nvSpPr>
        <p:spPr>
          <a:xfrm>
            <a:off x="6565320" y="3780500"/>
            <a:ext cx="4261565"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a:buFont typeface="Arial"/>
              <a:buChar char="•"/>
              <a:tabLst>
                <a:tab pos="0" algn="l"/>
              </a:tabLst>
            </a:pPr>
            <a:r>
              <a:rPr sz="1400">
                <a:solidFill>
                  <a:srgbClr val="6F6888"/>
                </a:solidFill>
              </a:rPr>
              <a:t>Window 120k estimado</a:t>
            </a:r>
          </a:p>
          <a:p>
            <a:pPr marL="285750" indent="-285750">
              <a:buFont typeface="Arial"/>
              <a:buChar char="•"/>
              <a:tabLst>
                <a:tab pos="0" algn="l"/>
              </a:tabLst>
            </a:pPr>
            <a:r>
              <a:rPr sz="1400">
                <a:solidFill>
                  <a:srgbClr val="6F6888"/>
                </a:solidFill>
              </a:rPr>
              <a:t>Trigger 80%</a:t>
            </a:r>
          </a:p>
          <a:p>
            <a:pPr marL="285750" indent="-285750">
              <a:buFont typeface="Arial"/>
              <a:buChar char="•"/>
              <a:tabLst>
                <a:tab pos="0" algn="l"/>
              </a:tabLst>
            </a:pPr>
            <a:r>
              <a:rPr sz="1400">
                <a:solidFill>
                  <a:srgbClr val="6F6888"/>
                </a:solidFill>
              </a:rPr>
              <a:t>Conserva 5 ops recientes</a:t>
            </a:r>
          </a:p>
          <a:p>
            <a:pPr marL="285750" indent="-285750">
              <a:buFont typeface="Arial"/>
              <a:buChar char="•"/>
              <a:tabLst>
                <a:tab pos="0" algn="l"/>
              </a:tabLst>
            </a:pPr>
            <a:r>
              <a:rPr sz="1400">
                <a:solidFill>
                  <a:srgbClr val="6F6888"/>
                </a:solidFill>
              </a:rPr>
              <a:t>9 secciones</a:t>
            </a:r>
          </a:p>
          <a:p>
            <a:pPr marL="285750" indent="-285750">
              <a:buFont typeface="Arial"/>
              <a:buChar char="•"/>
              <a:tabLst>
                <a:tab pos="0" algn="l"/>
              </a:tabLst>
            </a:pPr>
            <a:r>
              <a:rPr sz="1400">
                <a:solidFill>
                  <a:srgbClr val="6F6888"/>
                </a:solidFill>
              </a:rPr>
              <a:t>Breaker tras 3 fallos</a:t>
            </a:r>
          </a:p>
        </p:txBody>
      </p:sp>
      <p:pic>
        <p:nvPicPr>
          <p:cNvPr id="499"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056530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18" name="Shape 0">
            <a:extLst>
              <a:ext uri="{FF2B5EF4-FFF2-40B4-BE49-F238E27FC236}">
                <a16:creationId xmlns:a16="http://schemas.microsoft.com/office/drawing/2014/main" id="{4BBAACC3-A791-45E5-90BD-10F6EBE250E8}"/>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19" name="Text 1">
            <a:extLst>
              <a:ext uri="{FF2B5EF4-FFF2-40B4-BE49-F238E27FC236}">
                <a16:creationId xmlns:a16="http://schemas.microsoft.com/office/drawing/2014/main" id="{F1D40F3B-2F08-4C83-9264-68BFDA97A0B2}"/>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lang="es-MX" sz="1200" b="1" dirty="0">
                <a:solidFill>
                  <a:srgbClr val="5F2CCB"/>
                </a:solidFill>
                <a:latin typeface="Aptos"/>
                <a:ea typeface="Aptos"/>
                <a:cs typeface="Aptos"/>
              </a:rPr>
              <a:t>LA MEMORIA PERSONAL </a:t>
            </a:r>
            <a:r>
              <a:rPr sz="1200" b="1" u="none" dirty="0">
                <a:solidFill>
                  <a:srgbClr val="5F2CCB"/>
                </a:solidFill>
                <a:latin typeface="Aptos"/>
                <a:ea typeface="Aptos"/>
                <a:cs typeface="Aptos"/>
              </a:rPr>
              <a:t>TIENE TRES TIPOS Y UN </a:t>
            </a:r>
            <a:r>
              <a:rPr lang="es-MX" sz="1200" b="1" u="none" dirty="0">
                <a:solidFill>
                  <a:srgbClr val="5F2CCB"/>
                </a:solidFill>
                <a:latin typeface="Aptos"/>
                <a:ea typeface="Aptos"/>
                <a:cs typeface="Aptos"/>
              </a:rPr>
              <a:t>DUEÑO</a:t>
            </a:r>
            <a:endParaRPr sz="1200" b="0" u="none" dirty="0">
              <a:solidFill>
                <a:srgbClr val="000000"/>
              </a:solidFill>
              <a:latin typeface="Arial"/>
              <a:ea typeface="Arial"/>
              <a:cs typeface="Arial"/>
            </a:endParaRPr>
          </a:p>
        </p:txBody>
      </p:sp>
      <p:sp>
        <p:nvSpPr>
          <p:cNvPr id="420" name="Text 2">
            <a:extLst>
              <a:ext uri="{FF2B5EF4-FFF2-40B4-BE49-F238E27FC236}">
                <a16:creationId xmlns:a16="http://schemas.microsoft.com/office/drawing/2014/main" id="{9F9F0B0F-11C7-4191-AD06-C27263CE56EF}"/>
              </a:ext>
            </a:extLst>
          </p:cNvPr>
          <p:cNvSpPr>
            <a:spLocks noGrp="1"/>
          </p:cNvSpPr>
          <p:nvPr/>
        </p:nvSpPr>
        <p:spPr>
          <a:xfrm>
            <a:off x="567000" y="831234"/>
            <a:ext cx="10195200" cy="712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dirty="0">
                <a:solidFill>
                  <a:srgbClr val="151327"/>
                </a:solidFill>
                <a:latin typeface="Aptos Display"/>
                <a:ea typeface="Aptos Display"/>
                <a:cs typeface="Aptos Display"/>
              </a:rPr>
              <a:t>Gu OS </a:t>
            </a:r>
            <a:r>
              <a:rPr sz="2600" b="1" u="none" dirty="0" err="1">
                <a:solidFill>
                  <a:srgbClr val="151327"/>
                </a:solidFill>
                <a:latin typeface="Aptos Display"/>
                <a:ea typeface="Aptos Display"/>
                <a:cs typeface="Aptos Display"/>
              </a:rPr>
              <a:t>recuerda</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señales</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sobre</a:t>
            </a:r>
            <a:r>
              <a:rPr sz="2600" b="1" u="none" dirty="0">
                <a:solidFill>
                  <a:srgbClr val="151327"/>
                </a:solidFill>
                <a:latin typeface="Aptos Display"/>
                <a:ea typeface="Aptos Display"/>
                <a:cs typeface="Aptos Display"/>
              </a:rPr>
              <a:t> el </a:t>
            </a:r>
            <a:r>
              <a:rPr sz="2600" b="1" u="none" dirty="0" err="1">
                <a:solidFill>
                  <a:srgbClr val="151327"/>
                </a:solidFill>
                <a:latin typeface="Aptos Display"/>
                <a:ea typeface="Aptos Display"/>
                <a:cs typeface="Aptos Display"/>
              </a:rPr>
              <a:t>usuario</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útiles</a:t>
            </a:r>
            <a:r>
              <a:rPr sz="2600" b="1" u="none" dirty="0">
                <a:solidFill>
                  <a:srgbClr val="151327"/>
                </a:solidFill>
                <a:latin typeface="Aptos Display"/>
                <a:ea typeface="Aptos Display"/>
                <a:cs typeface="Aptos Display"/>
              </a:rPr>
              <a:t> a </a:t>
            </a:r>
            <a:r>
              <a:rPr sz="2600" b="1" u="none" dirty="0" err="1">
                <a:solidFill>
                  <a:srgbClr val="151327"/>
                </a:solidFill>
                <a:latin typeface="Aptos Display"/>
                <a:ea typeface="Aptos Display"/>
                <a:cs typeface="Aptos Display"/>
              </a:rPr>
              <a:t>futuro</a:t>
            </a:r>
            <a:r>
              <a:rPr sz="2600" b="1" u="none" dirty="0">
                <a:solidFill>
                  <a:srgbClr val="151327"/>
                </a:solidFill>
                <a:latin typeface="Aptos Display"/>
                <a:ea typeface="Aptos Display"/>
                <a:cs typeface="Aptos Display"/>
              </a:rPr>
              <a:t>; </a:t>
            </a:r>
            <a:r>
              <a:rPr lang="es-MX" sz="2600" b="1" u="none" dirty="0">
                <a:solidFill>
                  <a:srgbClr val="151327"/>
                </a:solidFill>
                <a:latin typeface="Aptos Display"/>
                <a:ea typeface="Aptos Display"/>
                <a:cs typeface="Aptos Display"/>
              </a:rPr>
              <a:t>las transacciones de negocio</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pertenecen</a:t>
            </a:r>
            <a:r>
              <a:rPr sz="2600" b="1" u="none" dirty="0">
                <a:solidFill>
                  <a:srgbClr val="151327"/>
                </a:solidFill>
                <a:latin typeface="Aptos Display"/>
                <a:ea typeface="Aptos Display"/>
                <a:cs typeface="Aptos Display"/>
              </a:rPr>
              <a:t> a Cases/SOR.</a:t>
            </a:r>
            <a:endParaRPr sz="2600" b="0" u="none" dirty="0">
              <a:solidFill>
                <a:srgbClr val="000000"/>
              </a:solidFill>
              <a:latin typeface="Arial"/>
              <a:ea typeface="Arial"/>
              <a:cs typeface="Arial"/>
            </a:endParaRPr>
          </a:p>
        </p:txBody>
      </p:sp>
      <p:sp>
        <p:nvSpPr>
          <p:cNvPr id="421" name="Text 3">
            <a:extLst>
              <a:ext uri="{FF2B5EF4-FFF2-40B4-BE49-F238E27FC236}">
                <a16:creationId xmlns:a16="http://schemas.microsoft.com/office/drawing/2014/main" id="{7C9920B2-0B9C-405A-8FC2-3066958F1F12}"/>
              </a:ext>
            </a:extLst>
          </p:cNvPr>
          <p:cNvSpPr>
            <a:spLocks noGrp="1"/>
          </p:cNvSpPr>
          <p:nvPr/>
        </p:nvSpPr>
        <p:spPr>
          <a:xfrm>
            <a:off x="567000" y="1722964"/>
            <a:ext cx="106981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b="0" u="none">
                <a:solidFill>
                  <a:srgbClr val="6F6888"/>
                </a:solidFill>
                <a:latin typeface="Aptos"/>
                <a:ea typeface="Aptos"/>
                <a:cs typeface="Aptos"/>
              </a:rPr>
              <a:t>La extracción conservadora evita congelar leads, propiedades o drafts en memoria personal.</a:t>
            </a:r>
            <a:endParaRPr b="0" u="none">
              <a:solidFill>
                <a:srgbClr val="000000"/>
              </a:solidFill>
              <a:latin typeface="Arial"/>
              <a:ea typeface="Arial"/>
              <a:cs typeface="Arial"/>
            </a:endParaRPr>
          </a:p>
        </p:txBody>
      </p:sp>
      <p:sp>
        <p:nvSpPr>
          <p:cNvPr id="423" name="Text 5">
            <a:extLst>
              <a:ext uri="{FF2B5EF4-FFF2-40B4-BE49-F238E27FC236}">
                <a16:creationId xmlns:a16="http://schemas.microsoft.com/office/drawing/2014/main" id="{45E5FF60-280C-4427-B9EE-702C6AC4B0BA}"/>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24" name="Text 6">
            <a:extLst>
              <a:ext uri="{FF2B5EF4-FFF2-40B4-BE49-F238E27FC236}">
                <a16:creationId xmlns:a16="http://schemas.microsoft.com/office/drawing/2014/main" id="{2C7BE918-435D-46D0-A72D-6BFEFE98180D}"/>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25" name="Text 7">
            <a:extLst>
              <a:ext uri="{FF2B5EF4-FFF2-40B4-BE49-F238E27FC236}">
                <a16:creationId xmlns:a16="http://schemas.microsoft.com/office/drawing/2014/main" id="{2B7BB1E1-E16A-4C69-80F5-FD1C55C36297}"/>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7</a:t>
            </a:r>
            <a:endParaRPr sz="700" b="0" u="none">
              <a:solidFill>
                <a:srgbClr val="000000"/>
              </a:solidFill>
              <a:latin typeface="Arial"/>
              <a:ea typeface="Arial"/>
              <a:cs typeface="Arial"/>
            </a:endParaRPr>
          </a:p>
        </p:txBody>
      </p:sp>
      <p:sp>
        <p:nvSpPr>
          <p:cNvPr id="426" name="Shape 8">
            <a:extLst>
              <a:ext uri="{FF2B5EF4-FFF2-40B4-BE49-F238E27FC236}">
                <a16:creationId xmlns:a16="http://schemas.microsoft.com/office/drawing/2014/main" id="{9CCD3A35-0D41-4B31-AFFE-F330AE1968C2}"/>
              </a:ext>
            </a:extLst>
          </p:cNvPr>
          <p:cNvSpPr>
            <a:spLocks noGrp="1"/>
          </p:cNvSpPr>
          <p:nvPr/>
        </p:nvSpPr>
        <p:spPr>
          <a:xfrm>
            <a:off x="822960" y="2649424"/>
            <a:ext cx="3200040" cy="2239920"/>
          </a:xfrm>
          <a:prstGeom prst="roundRect">
            <a:avLst>
              <a:gd name="adj" fmla="val 4082"/>
            </a:avLst>
          </a:prstGeom>
          <a:solidFill>
            <a:srgbClr val="FFFFFF"/>
          </a:solidFill>
          <a:ln w="12700">
            <a:solidFill>
              <a:srgbClr val="078C53"/>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27" name="Text 9">
            <a:extLst>
              <a:ext uri="{FF2B5EF4-FFF2-40B4-BE49-F238E27FC236}">
                <a16:creationId xmlns:a16="http://schemas.microsoft.com/office/drawing/2014/main" id="{2B4765C8-6BF1-46F9-A8A3-80AAFFECDE1A}"/>
              </a:ext>
            </a:extLst>
          </p:cNvPr>
          <p:cNvSpPr>
            <a:spLocks noGrp="1"/>
          </p:cNvSpPr>
          <p:nvPr/>
        </p:nvSpPr>
        <p:spPr>
          <a:xfrm>
            <a:off x="96012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078C53"/>
                </a:solidFill>
                <a:latin typeface="Aptos"/>
                <a:ea typeface="Aptos"/>
                <a:cs typeface="Aptos"/>
              </a:rPr>
              <a:t>EPISODIC</a:t>
            </a:r>
            <a:endParaRPr sz="1200" b="0" u="none">
              <a:solidFill>
                <a:srgbClr val="000000"/>
              </a:solidFill>
              <a:latin typeface="Arial"/>
              <a:ea typeface="Arial"/>
              <a:cs typeface="Arial"/>
            </a:endParaRPr>
          </a:p>
        </p:txBody>
      </p:sp>
      <p:sp>
        <p:nvSpPr>
          <p:cNvPr id="428" name="Text 10">
            <a:extLst>
              <a:ext uri="{FF2B5EF4-FFF2-40B4-BE49-F238E27FC236}">
                <a16:creationId xmlns:a16="http://schemas.microsoft.com/office/drawing/2014/main" id="{7F134683-F6F3-4A27-96B2-A8C1CE8A07F5}"/>
              </a:ext>
            </a:extLst>
          </p:cNvPr>
          <p:cNvSpPr>
            <a:spLocks noGrp="1"/>
          </p:cNvSpPr>
          <p:nvPr/>
        </p:nvSpPr>
        <p:spPr>
          <a:xfrm>
            <a:off x="102420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Qué le ocurrió</a:t>
            </a:r>
            <a:endParaRPr b="0" u="none">
              <a:solidFill>
                <a:srgbClr val="000000"/>
              </a:solidFill>
              <a:latin typeface="Arial"/>
              <a:ea typeface="Arial"/>
              <a:cs typeface="Arial"/>
            </a:endParaRPr>
          </a:p>
        </p:txBody>
      </p:sp>
      <p:sp>
        <p:nvSpPr>
          <p:cNvPr id="429" name="Text 11">
            <a:extLst>
              <a:ext uri="{FF2B5EF4-FFF2-40B4-BE49-F238E27FC236}">
                <a16:creationId xmlns:a16="http://schemas.microsoft.com/office/drawing/2014/main" id="{9D304FCD-FA8D-4F73-ABAC-B561272A6512}"/>
              </a:ext>
            </a:extLst>
          </p:cNvPr>
          <p:cNvSpPr>
            <a:spLocks noGrp="1"/>
          </p:cNvSpPr>
          <p:nvPr/>
        </p:nvSpPr>
        <p:spPr>
          <a:xfrm>
            <a:off x="107892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Eventos personales concretos y relevantes a futuro; con tiempo y provenance.</a:t>
            </a:r>
            <a:endParaRPr sz="1400" b="0" u="none">
              <a:solidFill>
                <a:srgbClr val="000000"/>
              </a:solidFill>
              <a:latin typeface="Arial"/>
              <a:ea typeface="Arial"/>
              <a:cs typeface="Arial"/>
            </a:endParaRPr>
          </a:p>
        </p:txBody>
      </p:sp>
      <p:sp>
        <p:nvSpPr>
          <p:cNvPr id="430" name="Shape 12">
            <a:extLst>
              <a:ext uri="{FF2B5EF4-FFF2-40B4-BE49-F238E27FC236}">
                <a16:creationId xmlns:a16="http://schemas.microsoft.com/office/drawing/2014/main" id="{EF787178-85ED-45E2-B753-CA0056CFE17A}"/>
              </a:ext>
            </a:extLst>
          </p:cNvPr>
          <p:cNvSpPr>
            <a:spLocks noGrp="1"/>
          </p:cNvSpPr>
          <p:nvPr/>
        </p:nvSpPr>
        <p:spPr>
          <a:xfrm>
            <a:off x="4526280" y="2649424"/>
            <a:ext cx="3200040" cy="2239920"/>
          </a:xfrm>
          <a:prstGeom prst="roundRect">
            <a:avLst>
              <a:gd name="adj" fmla="val 4082"/>
            </a:avLst>
          </a:prstGeom>
          <a:solidFill>
            <a:srgbClr val="FFFFFF"/>
          </a:solidFill>
          <a:ln w="12700">
            <a:solidFill>
              <a:srgbClr val="F39A2B"/>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31" name="Text 13">
            <a:extLst>
              <a:ext uri="{FF2B5EF4-FFF2-40B4-BE49-F238E27FC236}">
                <a16:creationId xmlns:a16="http://schemas.microsoft.com/office/drawing/2014/main" id="{255F5FB9-074F-4C28-876F-51D8F78DF680}"/>
              </a:ext>
            </a:extLst>
          </p:cNvPr>
          <p:cNvSpPr>
            <a:spLocks noGrp="1"/>
          </p:cNvSpPr>
          <p:nvPr/>
        </p:nvSpPr>
        <p:spPr>
          <a:xfrm>
            <a:off x="466344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F39A2B"/>
                </a:solidFill>
                <a:latin typeface="Aptos"/>
                <a:ea typeface="Aptos"/>
                <a:cs typeface="Aptos"/>
              </a:rPr>
              <a:t>SEMANTIC</a:t>
            </a:r>
            <a:endParaRPr sz="1200" b="0" u="none">
              <a:solidFill>
                <a:srgbClr val="000000"/>
              </a:solidFill>
              <a:latin typeface="Arial"/>
              <a:ea typeface="Arial"/>
              <a:cs typeface="Arial"/>
            </a:endParaRPr>
          </a:p>
        </p:txBody>
      </p:sp>
      <p:sp>
        <p:nvSpPr>
          <p:cNvPr id="432" name="Text 14">
            <a:extLst>
              <a:ext uri="{FF2B5EF4-FFF2-40B4-BE49-F238E27FC236}">
                <a16:creationId xmlns:a16="http://schemas.microsoft.com/office/drawing/2014/main" id="{861EC238-409B-4970-A121-1C58F1D0D043}"/>
              </a:ext>
            </a:extLst>
          </p:cNvPr>
          <p:cNvSpPr>
            <a:spLocks noGrp="1"/>
          </p:cNvSpPr>
          <p:nvPr/>
        </p:nvSpPr>
        <p:spPr>
          <a:xfrm>
            <a:off x="472752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Qué sabe/prefiere</a:t>
            </a:r>
            <a:endParaRPr b="0" u="none">
              <a:solidFill>
                <a:srgbClr val="000000"/>
              </a:solidFill>
              <a:latin typeface="Arial"/>
              <a:ea typeface="Arial"/>
              <a:cs typeface="Arial"/>
            </a:endParaRPr>
          </a:p>
        </p:txBody>
      </p:sp>
      <p:sp>
        <p:nvSpPr>
          <p:cNvPr id="433" name="Text 15">
            <a:extLst>
              <a:ext uri="{FF2B5EF4-FFF2-40B4-BE49-F238E27FC236}">
                <a16:creationId xmlns:a16="http://schemas.microsoft.com/office/drawing/2014/main" id="{02F20FE0-34C2-48B1-BC9A-D3E177900EEF}"/>
              </a:ext>
            </a:extLst>
          </p:cNvPr>
          <p:cNvSpPr>
            <a:spLocks noGrp="1"/>
          </p:cNvSpPr>
          <p:nvPr/>
        </p:nvSpPr>
        <p:spPr>
          <a:xfrm>
            <a:off x="478224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Preferencias, relaciones y contexto durable; no live business state.</a:t>
            </a:r>
            <a:endParaRPr sz="1400" b="0" u="none">
              <a:solidFill>
                <a:srgbClr val="000000"/>
              </a:solidFill>
              <a:latin typeface="Arial"/>
              <a:ea typeface="Arial"/>
              <a:cs typeface="Arial"/>
            </a:endParaRPr>
          </a:p>
        </p:txBody>
      </p:sp>
      <p:sp>
        <p:nvSpPr>
          <p:cNvPr id="434" name="Shape 16">
            <a:extLst>
              <a:ext uri="{FF2B5EF4-FFF2-40B4-BE49-F238E27FC236}">
                <a16:creationId xmlns:a16="http://schemas.microsoft.com/office/drawing/2014/main" id="{CA0E0125-49B3-48E2-A0AD-93A7A8B1A518}"/>
              </a:ext>
            </a:extLst>
          </p:cNvPr>
          <p:cNvSpPr>
            <a:spLocks noGrp="1"/>
          </p:cNvSpPr>
          <p:nvPr/>
        </p:nvSpPr>
        <p:spPr>
          <a:xfrm>
            <a:off x="8229600" y="2649424"/>
            <a:ext cx="3200040" cy="2239920"/>
          </a:xfrm>
          <a:prstGeom prst="roundRect">
            <a:avLst>
              <a:gd name="adj" fmla="val 4082"/>
            </a:avLst>
          </a:prstGeom>
          <a:solidFill>
            <a:srgbClr val="FFFFFF"/>
          </a:solidFill>
          <a:ln w="12700">
            <a:solidFill>
              <a:srgbClr val="A84A7A"/>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35" name="Text 17">
            <a:extLst>
              <a:ext uri="{FF2B5EF4-FFF2-40B4-BE49-F238E27FC236}">
                <a16:creationId xmlns:a16="http://schemas.microsoft.com/office/drawing/2014/main" id="{DC8AAC41-512E-4C1D-B2D3-D6B006038F75}"/>
              </a:ext>
            </a:extLst>
          </p:cNvPr>
          <p:cNvSpPr>
            <a:spLocks noGrp="1"/>
          </p:cNvSpPr>
          <p:nvPr/>
        </p:nvSpPr>
        <p:spPr>
          <a:xfrm>
            <a:off x="836676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A84A7A"/>
                </a:solidFill>
                <a:latin typeface="Aptos"/>
                <a:ea typeface="Aptos"/>
                <a:cs typeface="Aptos"/>
              </a:rPr>
              <a:t>PROCEDURAL</a:t>
            </a:r>
            <a:endParaRPr sz="1200" b="0" u="none">
              <a:solidFill>
                <a:srgbClr val="000000"/>
              </a:solidFill>
              <a:latin typeface="Arial"/>
              <a:ea typeface="Arial"/>
              <a:cs typeface="Arial"/>
            </a:endParaRPr>
          </a:p>
        </p:txBody>
      </p:sp>
      <p:sp>
        <p:nvSpPr>
          <p:cNvPr id="436" name="Text 18">
            <a:extLst>
              <a:ext uri="{FF2B5EF4-FFF2-40B4-BE49-F238E27FC236}">
                <a16:creationId xmlns:a16="http://schemas.microsoft.com/office/drawing/2014/main" id="{B0807840-7344-4FCC-92B2-FAF7C3C584F6}"/>
              </a:ext>
            </a:extLst>
          </p:cNvPr>
          <p:cNvSpPr>
            <a:spLocks noGrp="1"/>
          </p:cNvSpPr>
          <p:nvPr/>
        </p:nvSpPr>
        <p:spPr>
          <a:xfrm>
            <a:off x="843084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Cómo quiere colaborar</a:t>
            </a:r>
            <a:endParaRPr b="0" u="none">
              <a:solidFill>
                <a:srgbClr val="000000"/>
              </a:solidFill>
              <a:latin typeface="Arial"/>
              <a:ea typeface="Arial"/>
              <a:cs typeface="Arial"/>
            </a:endParaRPr>
          </a:p>
        </p:txBody>
      </p:sp>
      <p:sp>
        <p:nvSpPr>
          <p:cNvPr id="437" name="Text 19">
            <a:extLst>
              <a:ext uri="{FF2B5EF4-FFF2-40B4-BE49-F238E27FC236}">
                <a16:creationId xmlns:a16="http://schemas.microsoft.com/office/drawing/2014/main" id="{B127B4FC-74A3-4F76-8BAF-C6AE0C023639}"/>
              </a:ext>
            </a:extLst>
          </p:cNvPr>
          <p:cNvSpPr>
            <a:spLocks noGrp="1"/>
          </p:cNvSpPr>
          <p:nvPr/>
        </p:nvSpPr>
        <p:spPr>
          <a:xfrm>
            <a:off x="848556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Preferencias de interacción; no confundir con una Skill.</a:t>
            </a:r>
            <a:endParaRPr sz="1400" b="0" u="none">
              <a:solidFill>
                <a:srgbClr val="000000"/>
              </a:solidFill>
              <a:latin typeface="Arial"/>
              <a:ea typeface="Arial"/>
              <a:cs typeface="Arial"/>
            </a:endParaRPr>
          </a:p>
        </p:txBody>
      </p:sp>
      <p:sp>
        <p:nvSpPr>
          <p:cNvPr id="438" name="Shape 20">
            <a:extLst>
              <a:ext uri="{FF2B5EF4-FFF2-40B4-BE49-F238E27FC236}">
                <a16:creationId xmlns:a16="http://schemas.microsoft.com/office/drawing/2014/main" id="{F50A24BA-26B8-41DD-8033-EE393E903416}"/>
              </a:ext>
            </a:extLst>
          </p:cNvPr>
          <p:cNvSpPr>
            <a:spLocks noGrp="1"/>
          </p:cNvSpPr>
          <p:nvPr/>
        </p:nvSpPr>
        <p:spPr>
          <a:xfrm>
            <a:off x="2240280" y="5730953"/>
            <a:ext cx="7726320" cy="640345"/>
          </a:xfrm>
          <a:prstGeom prst="roundRect">
            <a:avLst>
              <a:gd name="adj" fmla="val 16000"/>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b="0" u="none">
              <a:solidFill>
                <a:srgbClr val="FFFFFF"/>
              </a:solidFill>
              <a:latin typeface="Arial"/>
              <a:ea typeface="Arial"/>
              <a:cs typeface="Arial"/>
            </a:endParaRPr>
          </a:p>
        </p:txBody>
      </p:sp>
      <p:sp>
        <p:nvSpPr>
          <p:cNvPr id="439" name="Text 21">
            <a:extLst>
              <a:ext uri="{FF2B5EF4-FFF2-40B4-BE49-F238E27FC236}">
                <a16:creationId xmlns:a16="http://schemas.microsoft.com/office/drawing/2014/main" id="{8BF542F8-67AE-4291-AE4A-D1D2D0297474}"/>
              </a:ext>
            </a:extLst>
          </p:cNvPr>
          <p:cNvSpPr>
            <a:spLocks noGrp="1"/>
          </p:cNvSpPr>
          <p:nvPr/>
        </p:nvSpPr>
        <p:spPr>
          <a:xfrm>
            <a:off x="2516826" y="5868472"/>
            <a:ext cx="7218948"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FFFFFF"/>
                </a:solidFill>
                <a:latin typeface="Aptos"/>
                <a:ea typeface="Aptos"/>
                <a:cs typeface="Aptos"/>
              </a:rPr>
              <a:t>Personal memory ayuda a colaborar; no concede autoridad.</a:t>
            </a:r>
            <a:endParaRPr b="0" u="none">
              <a:solidFill>
                <a:srgbClr val="000000"/>
              </a:solidFill>
              <a:latin typeface="Arial"/>
              <a:ea typeface="Arial"/>
              <a:cs typeface="Arial"/>
            </a:endParaRPr>
          </a:p>
        </p:txBody>
      </p:sp>
      <p:pic>
        <p:nvPicPr>
          <p:cNvPr id="462"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787834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635" name="Shape 0">
            <a:extLst>
              <a:ext uri="{FF2B5EF4-FFF2-40B4-BE49-F238E27FC236}">
                <a16:creationId xmlns:a16="http://schemas.microsoft.com/office/drawing/2014/main" id="{4B4172A0-99B8-4508-9E7D-AFCBD1AC0962}"/>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636" name="Text 1">
            <a:extLst>
              <a:ext uri="{FF2B5EF4-FFF2-40B4-BE49-F238E27FC236}">
                <a16:creationId xmlns:a16="http://schemas.microsoft.com/office/drawing/2014/main" id="{4B280F5E-4D21-42CD-8612-7B82CCB3F3DF}"/>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EL FLUSH OCURRE DESPUÉS DEL TURNO Y FUERA DEL GRAPH</a:t>
            </a:r>
            <a:endParaRPr sz="1200" b="0" u="none">
              <a:solidFill>
                <a:srgbClr val="000000"/>
              </a:solidFill>
              <a:latin typeface="Arial"/>
              <a:ea typeface="Arial"/>
              <a:cs typeface="Arial"/>
            </a:endParaRPr>
          </a:p>
        </p:txBody>
      </p:sp>
      <p:sp>
        <p:nvSpPr>
          <p:cNvPr id="637" name="Text 2">
            <a:extLst>
              <a:ext uri="{FF2B5EF4-FFF2-40B4-BE49-F238E27FC236}">
                <a16:creationId xmlns:a16="http://schemas.microsoft.com/office/drawing/2014/main" id="{A317ACC4-F6DE-40CA-B510-C02C45113F27}"/>
              </a:ext>
            </a:extLst>
          </p:cNvPr>
          <p:cNvSpPr>
            <a:spLocks noGrp="1"/>
          </p:cNvSpPr>
          <p:nvPr/>
        </p:nvSpPr>
        <p:spPr>
          <a:xfrm>
            <a:off x="566999" y="804600"/>
            <a:ext cx="10375983"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a:solidFill>
                  <a:srgbClr val="151327"/>
                </a:solidFill>
                <a:latin typeface="Aptos Display"/>
                <a:ea typeface="Aptos Display"/>
                <a:cs typeface="Aptos Display"/>
              </a:rPr>
              <a:t>Separar extracción trans-turn reduce latency y permite un pipeline idempotente.</a:t>
            </a:r>
            <a:endParaRPr sz="2600" b="0" u="none">
              <a:solidFill>
                <a:srgbClr val="000000"/>
              </a:solidFill>
              <a:latin typeface="Arial"/>
              <a:ea typeface="Arial"/>
              <a:cs typeface="Arial"/>
            </a:endParaRPr>
          </a:p>
        </p:txBody>
      </p:sp>
      <p:sp>
        <p:nvSpPr>
          <p:cNvPr id="638" name="Text 3">
            <a:extLst>
              <a:ext uri="{FF2B5EF4-FFF2-40B4-BE49-F238E27FC236}">
                <a16:creationId xmlns:a16="http://schemas.microsoft.com/office/drawing/2014/main" id="{4042EA47-16DE-4A48-954E-C520CD2F38A3}"/>
              </a:ext>
            </a:extLst>
          </p:cNvPr>
          <p:cNvSpPr>
            <a:spLocks noGrp="1"/>
          </p:cNvSpPr>
          <p:nvPr/>
        </p:nvSpPr>
        <p:spPr>
          <a:xfrm>
            <a:off x="567000" y="1591200"/>
            <a:ext cx="10698120" cy="56451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b="0" u="none">
                <a:solidFill>
                  <a:srgbClr val="6F6888"/>
                </a:solidFill>
                <a:latin typeface="Aptos"/>
                <a:ea typeface="Aptos"/>
                <a:cs typeface="Aptos"/>
              </a:rPr>
              <a:t>Modelo/parse o fallo total no avanzan watermark; fallos parciales sí pueden avanzarlo.</a:t>
            </a:r>
            <a:endParaRPr b="0" u="none">
              <a:solidFill>
                <a:srgbClr val="000000"/>
              </a:solidFill>
              <a:latin typeface="Arial"/>
              <a:ea typeface="Arial"/>
              <a:cs typeface="Arial"/>
            </a:endParaRPr>
          </a:p>
        </p:txBody>
      </p:sp>
      <p:sp>
        <p:nvSpPr>
          <p:cNvPr id="640" name="Text 5">
            <a:extLst>
              <a:ext uri="{FF2B5EF4-FFF2-40B4-BE49-F238E27FC236}">
                <a16:creationId xmlns:a16="http://schemas.microsoft.com/office/drawing/2014/main" id="{71EEBA0C-6625-4B78-9AA1-1C627BEE1115}"/>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641" name="Text 6">
            <a:extLst>
              <a:ext uri="{FF2B5EF4-FFF2-40B4-BE49-F238E27FC236}">
                <a16:creationId xmlns:a16="http://schemas.microsoft.com/office/drawing/2014/main" id="{CE3EE3EE-0098-404D-8978-5893FCC08782}"/>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642" name="Text 7">
            <a:extLst>
              <a:ext uri="{FF2B5EF4-FFF2-40B4-BE49-F238E27FC236}">
                <a16:creationId xmlns:a16="http://schemas.microsoft.com/office/drawing/2014/main" id="{ADA63A47-13B1-42C4-8EE0-76B5F1619E3E}"/>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8</a:t>
            </a:r>
            <a:endParaRPr sz="800" b="0" u="none">
              <a:solidFill>
                <a:srgbClr val="000000"/>
              </a:solidFill>
              <a:latin typeface="Arial"/>
              <a:ea typeface="Arial"/>
              <a:cs typeface="Arial"/>
            </a:endParaRPr>
          </a:p>
        </p:txBody>
      </p:sp>
      <p:sp>
        <p:nvSpPr>
          <p:cNvPr id="643" name="Shape 8">
            <a:extLst>
              <a:ext uri="{FF2B5EF4-FFF2-40B4-BE49-F238E27FC236}">
                <a16:creationId xmlns:a16="http://schemas.microsoft.com/office/drawing/2014/main" id="{12D6034E-F669-430F-B740-CE69B0B5AF8F}"/>
              </a:ext>
            </a:extLst>
          </p:cNvPr>
          <p:cNvSpPr>
            <a:spLocks noGrp="1"/>
          </p:cNvSpPr>
          <p:nvPr/>
        </p:nvSpPr>
        <p:spPr>
          <a:xfrm>
            <a:off x="868680" y="2483481"/>
            <a:ext cx="502560" cy="50256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4" name="Text 9">
            <a:extLst>
              <a:ext uri="{FF2B5EF4-FFF2-40B4-BE49-F238E27FC236}">
                <a16:creationId xmlns:a16="http://schemas.microsoft.com/office/drawing/2014/main" id="{23DE94D4-7EF1-47E1-BD23-51001D3CB0D1}"/>
              </a:ext>
            </a:extLst>
          </p:cNvPr>
          <p:cNvSpPr>
            <a:spLocks noGrp="1"/>
          </p:cNvSpPr>
          <p:nvPr/>
        </p:nvSpPr>
        <p:spPr>
          <a:xfrm>
            <a:off x="868680" y="260228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1</a:t>
            </a:r>
            <a:endParaRPr sz="1600" b="0" u="none">
              <a:solidFill>
                <a:srgbClr val="000000"/>
              </a:solidFill>
              <a:latin typeface="Arial"/>
              <a:ea typeface="Arial"/>
              <a:cs typeface="Arial"/>
            </a:endParaRPr>
          </a:p>
        </p:txBody>
      </p:sp>
      <p:sp>
        <p:nvSpPr>
          <p:cNvPr id="645" name="Shape 10">
            <a:extLst>
              <a:ext uri="{FF2B5EF4-FFF2-40B4-BE49-F238E27FC236}">
                <a16:creationId xmlns:a16="http://schemas.microsoft.com/office/drawing/2014/main" id="{B6E1A1F0-643D-4CB3-91D2-55BCB19BAE3A}"/>
              </a:ext>
            </a:extLst>
          </p:cNvPr>
          <p:cNvSpPr>
            <a:spLocks noGrp="1"/>
          </p:cNvSpPr>
          <p:nvPr/>
        </p:nvSpPr>
        <p:spPr>
          <a:xfrm>
            <a:off x="1600200" y="2392041"/>
            <a:ext cx="9738000" cy="8740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46" name="Text 11">
            <a:extLst>
              <a:ext uri="{FF2B5EF4-FFF2-40B4-BE49-F238E27FC236}">
                <a16:creationId xmlns:a16="http://schemas.microsoft.com/office/drawing/2014/main" id="{FB714849-831E-4414-A7C0-FA5B33752BAB}"/>
              </a:ext>
            </a:extLst>
          </p:cNvPr>
          <p:cNvSpPr>
            <a:spLocks noGrp="1"/>
          </p:cNvSpPr>
          <p:nvPr/>
        </p:nvSpPr>
        <p:spPr>
          <a:xfrm>
            <a:off x="1801440" y="252920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1 · Seleccionar rango</a:t>
            </a:r>
            <a:endParaRPr sz="1600" b="0" u="none">
              <a:solidFill>
                <a:srgbClr val="000000"/>
              </a:solidFill>
              <a:latin typeface="Arial"/>
              <a:ea typeface="Arial"/>
              <a:cs typeface="Arial"/>
            </a:endParaRPr>
          </a:p>
        </p:txBody>
      </p:sp>
      <p:sp>
        <p:nvSpPr>
          <p:cNvPr id="647" name="Text 12">
            <a:extLst>
              <a:ext uri="{FF2B5EF4-FFF2-40B4-BE49-F238E27FC236}">
                <a16:creationId xmlns:a16="http://schemas.microsoft.com/office/drawing/2014/main" id="{BAC24C04-E92C-4CF9-9793-4F4548B9E311}"/>
              </a:ext>
            </a:extLst>
          </p:cNvPr>
          <p:cNvSpPr>
            <a:spLocks noGrp="1"/>
          </p:cNvSpPr>
          <p:nvPr/>
        </p:nvSpPr>
        <p:spPr>
          <a:xfrm>
            <a:off x="1856160" y="2812665"/>
            <a:ext cx="9226080" cy="32773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dirty="0">
                <a:solidFill>
                  <a:srgbClr val="6F6888"/>
                </a:solidFill>
                <a:latin typeface="Aptos"/>
                <a:ea typeface="Aptos"/>
                <a:cs typeface="Aptos"/>
              </a:rPr>
              <a:t>Watermark + </a:t>
            </a:r>
            <a:r>
              <a:rPr sz="1600" b="0" u="none" dirty="0" err="1">
                <a:solidFill>
                  <a:srgbClr val="6F6888"/>
                </a:solidFill>
                <a:latin typeface="Aptos"/>
                <a:ea typeface="Aptos"/>
                <a:cs typeface="Aptos"/>
              </a:rPr>
              <a:t>mínimo</a:t>
            </a:r>
            <a:r>
              <a:rPr sz="1600" b="0" u="none" dirty="0">
                <a:solidFill>
                  <a:srgbClr val="6F6888"/>
                </a:solidFill>
                <a:latin typeface="Aptos"/>
                <a:ea typeface="Aptos"/>
                <a:cs typeface="Aptos"/>
              </a:rPr>
              <a:t> 3 </a:t>
            </a:r>
            <a:r>
              <a:rPr sz="1600" b="0" u="none" dirty="0" err="1">
                <a:solidFill>
                  <a:srgbClr val="6F6888"/>
                </a:solidFill>
                <a:latin typeface="Aptos"/>
                <a:ea typeface="Aptos"/>
                <a:cs typeface="Aptos"/>
              </a:rPr>
              <a:t>mensajes</a:t>
            </a:r>
            <a:r>
              <a:rPr sz="1600" b="0" u="none" dirty="0">
                <a:solidFill>
                  <a:srgbClr val="6F6888"/>
                </a:solidFill>
                <a:latin typeface="Aptos"/>
                <a:ea typeface="Aptos"/>
                <a:cs typeface="Aptos"/>
              </a:rPr>
              <a:t>; cold cap 50, catch-up cap 200.</a:t>
            </a:r>
            <a:endParaRPr sz="1600" b="0" u="none" dirty="0">
              <a:solidFill>
                <a:srgbClr val="000000"/>
              </a:solidFill>
              <a:latin typeface="Arial"/>
              <a:ea typeface="Arial"/>
              <a:cs typeface="Arial"/>
            </a:endParaRPr>
          </a:p>
        </p:txBody>
      </p:sp>
      <p:sp>
        <p:nvSpPr>
          <p:cNvPr id="648" name="Shape 13">
            <a:extLst>
              <a:ext uri="{FF2B5EF4-FFF2-40B4-BE49-F238E27FC236}">
                <a16:creationId xmlns:a16="http://schemas.microsoft.com/office/drawing/2014/main" id="{8A45D319-DDF4-4CA6-B83C-A8E760C13EF3}"/>
              </a:ext>
            </a:extLst>
          </p:cNvPr>
          <p:cNvSpPr>
            <a:spLocks noGrp="1"/>
          </p:cNvSpPr>
          <p:nvPr/>
        </p:nvSpPr>
        <p:spPr>
          <a:xfrm>
            <a:off x="868680" y="3554451"/>
            <a:ext cx="502560" cy="50256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9" name="Text 14">
            <a:extLst>
              <a:ext uri="{FF2B5EF4-FFF2-40B4-BE49-F238E27FC236}">
                <a16:creationId xmlns:a16="http://schemas.microsoft.com/office/drawing/2014/main" id="{D7576710-1C3E-4618-B46A-CF4EB01DA9BC}"/>
              </a:ext>
            </a:extLst>
          </p:cNvPr>
          <p:cNvSpPr>
            <a:spLocks noGrp="1"/>
          </p:cNvSpPr>
          <p:nvPr/>
        </p:nvSpPr>
        <p:spPr>
          <a:xfrm>
            <a:off x="868680" y="367361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2</a:t>
            </a:r>
            <a:endParaRPr sz="1600" b="0" u="none">
              <a:solidFill>
                <a:srgbClr val="000000"/>
              </a:solidFill>
              <a:latin typeface="Arial"/>
              <a:ea typeface="Arial"/>
              <a:cs typeface="Arial"/>
            </a:endParaRPr>
          </a:p>
        </p:txBody>
      </p:sp>
      <p:sp>
        <p:nvSpPr>
          <p:cNvPr id="650" name="Shape 15">
            <a:extLst>
              <a:ext uri="{FF2B5EF4-FFF2-40B4-BE49-F238E27FC236}">
                <a16:creationId xmlns:a16="http://schemas.microsoft.com/office/drawing/2014/main" id="{3316F20E-57CA-453A-AA64-97C6A8DBA74C}"/>
              </a:ext>
            </a:extLst>
          </p:cNvPr>
          <p:cNvSpPr>
            <a:spLocks noGrp="1"/>
          </p:cNvSpPr>
          <p:nvPr/>
        </p:nvSpPr>
        <p:spPr>
          <a:xfrm>
            <a:off x="1600200" y="3463011"/>
            <a:ext cx="9738000" cy="9838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1" name="Text 16">
            <a:extLst>
              <a:ext uri="{FF2B5EF4-FFF2-40B4-BE49-F238E27FC236}">
                <a16:creationId xmlns:a16="http://schemas.microsoft.com/office/drawing/2014/main" id="{B5CEC699-69E3-4A7B-806A-89B814E56356}"/>
              </a:ext>
            </a:extLst>
          </p:cNvPr>
          <p:cNvSpPr>
            <a:spLocks noGrp="1"/>
          </p:cNvSpPr>
          <p:nvPr/>
        </p:nvSpPr>
        <p:spPr>
          <a:xfrm>
            <a:off x="1801440" y="360017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2 · Extraer conservador</a:t>
            </a:r>
            <a:endParaRPr sz="1600" b="0" u="none">
              <a:solidFill>
                <a:srgbClr val="000000"/>
              </a:solidFill>
              <a:latin typeface="Arial"/>
              <a:ea typeface="Arial"/>
              <a:cs typeface="Arial"/>
            </a:endParaRPr>
          </a:p>
        </p:txBody>
      </p:sp>
      <p:sp>
        <p:nvSpPr>
          <p:cNvPr id="652" name="Text 17">
            <a:extLst>
              <a:ext uri="{FF2B5EF4-FFF2-40B4-BE49-F238E27FC236}">
                <a16:creationId xmlns:a16="http://schemas.microsoft.com/office/drawing/2014/main" id="{13196C10-1A9F-4692-B12C-4D0017F73B7F}"/>
              </a:ext>
            </a:extLst>
          </p:cNvPr>
          <p:cNvSpPr>
            <a:spLocks noGrp="1"/>
          </p:cNvSpPr>
          <p:nvPr/>
        </p:nvSpPr>
        <p:spPr>
          <a:xfrm>
            <a:off x="1856160" y="3903513"/>
            <a:ext cx="9226080" cy="411912"/>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a:solidFill>
                  <a:srgbClr val="6F6888"/>
                </a:solidFill>
                <a:latin typeface="Aptos"/>
                <a:ea typeface="Aptos"/>
                <a:cs typeface="Aptos"/>
              </a:rPr>
              <a:t>Haiku produce JSON episodic/semantic/procedural; [] es válido.</a:t>
            </a:r>
            <a:endParaRPr sz="1600" b="0" u="none">
              <a:solidFill>
                <a:srgbClr val="000000"/>
              </a:solidFill>
              <a:latin typeface="Arial"/>
              <a:ea typeface="Arial"/>
              <a:cs typeface="Arial"/>
            </a:endParaRPr>
          </a:p>
        </p:txBody>
      </p:sp>
      <p:sp>
        <p:nvSpPr>
          <p:cNvPr id="653" name="Shape 18">
            <a:extLst>
              <a:ext uri="{FF2B5EF4-FFF2-40B4-BE49-F238E27FC236}">
                <a16:creationId xmlns:a16="http://schemas.microsoft.com/office/drawing/2014/main" id="{0FC8D6BA-D3ED-47B8-A7D2-5146AB2D23EE}"/>
              </a:ext>
            </a:extLst>
          </p:cNvPr>
          <p:cNvSpPr>
            <a:spLocks noGrp="1"/>
          </p:cNvSpPr>
          <p:nvPr/>
        </p:nvSpPr>
        <p:spPr>
          <a:xfrm>
            <a:off x="868680" y="4725171"/>
            <a:ext cx="502560" cy="502560"/>
          </a:xfrm>
          <a:prstGeom prst="ellipse">
            <a:avLst/>
          </a:prstGeom>
          <a:solidFill>
            <a:srgbClr val="F39A2B"/>
          </a:solidFill>
          <a:ln w="12700">
            <a:solidFill>
              <a:srgbClr val="F39A2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4" name="Text 19">
            <a:extLst>
              <a:ext uri="{FF2B5EF4-FFF2-40B4-BE49-F238E27FC236}">
                <a16:creationId xmlns:a16="http://schemas.microsoft.com/office/drawing/2014/main" id="{4F61BFFD-984D-4A21-BD93-BD34B8ED8096}"/>
              </a:ext>
            </a:extLst>
          </p:cNvPr>
          <p:cNvSpPr>
            <a:spLocks noGrp="1"/>
          </p:cNvSpPr>
          <p:nvPr/>
        </p:nvSpPr>
        <p:spPr>
          <a:xfrm>
            <a:off x="868680" y="484397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3</a:t>
            </a:r>
            <a:endParaRPr sz="1600" b="0" u="none">
              <a:solidFill>
                <a:srgbClr val="000000"/>
              </a:solidFill>
              <a:latin typeface="Arial"/>
              <a:ea typeface="Arial"/>
              <a:cs typeface="Arial"/>
            </a:endParaRPr>
          </a:p>
        </p:txBody>
      </p:sp>
      <p:sp>
        <p:nvSpPr>
          <p:cNvPr id="655" name="Shape 20">
            <a:extLst>
              <a:ext uri="{FF2B5EF4-FFF2-40B4-BE49-F238E27FC236}">
                <a16:creationId xmlns:a16="http://schemas.microsoft.com/office/drawing/2014/main" id="{D654FDA2-D2EC-4A10-AF26-C70C8AFC9042}"/>
              </a:ext>
            </a:extLst>
          </p:cNvPr>
          <p:cNvSpPr>
            <a:spLocks noGrp="1"/>
          </p:cNvSpPr>
          <p:nvPr/>
        </p:nvSpPr>
        <p:spPr>
          <a:xfrm>
            <a:off x="1600200" y="4633730"/>
            <a:ext cx="9738000" cy="983867"/>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6" name="Text 21">
            <a:extLst>
              <a:ext uri="{FF2B5EF4-FFF2-40B4-BE49-F238E27FC236}">
                <a16:creationId xmlns:a16="http://schemas.microsoft.com/office/drawing/2014/main" id="{ED1153E9-3E03-42F4-8EB2-CCB63C127452}"/>
              </a:ext>
            </a:extLst>
          </p:cNvPr>
          <p:cNvSpPr>
            <a:spLocks noGrp="1"/>
          </p:cNvSpPr>
          <p:nvPr/>
        </p:nvSpPr>
        <p:spPr>
          <a:xfrm>
            <a:off x="1801440" y="477089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3 · Deduplicar y persistir</a:t>
            </a:r>
            <a:endParaRPr sz="1600" b="0" u="none">
              <a:solidFill>
                <a:srgbClr val="000000"/>
              </a:solidFill>
              <a:latin typeface="Arial"/>
              <a:ea typeface="Arial"/>
              <a:cs typeface="Arial"/>
            </a:endParaRPr>
          </a:p>
        </p:txBody>
      </p:sp>
      <p:sp>
        <p:nvSpPr>
          <p:cNvPr id="657" name="Text 22">
            <a:extLst>
              <a:ext uri="{FF2B5EF4-FFF2-40B4-BE49-F238E27FC236}">
                <a16:creationId xmlns:a16="http://schemas.microsoft.com/office/drawing/2014/main" id="{3E5A96B2-07AB-46B3-9B63-F790773C9791}"/>
              </a:ext>
            </a:extLst>
          </p:cNvPr>
          <p:cNvSpPr>
            <a:spLocks noGrp="1"/>
          </p:cNvSpPr>
          <p:nvPr/>
        </p:nvSpPr>
        <p:spPr>
          <a:xfrm>
            <a:off x="1856160" y="5064293"/>
            <a:ext cx="9226080" cy="45821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a:solidFill>
                  <a:srgbClr val="6F6888"/>
                </a:solidFill>
                <a:latin typeface="Aptos"/>
                <a:ea typeface="Aptos"/>
                <a:cs typeface="Aptos"/>
              </a:rPr>
              <a:t>content_hash deduplica; embeddings permiten retrieval; éxito parcial puede avanzar watermark.</a:t>
            </a:r>
            <a:endParaRPr sz="1600" b="0" u="none">
              <a:solidFill>
                <a:srgbClr val="000000"/>
              </a:solidFill>
              <a:latin typeface="Arial"/>
              <a:ea typeface="Arial"/>
              <a:cs typeface="Arial"/>
            </a:endParaRPr>
          </a:p>
        </p:txBody>
      </p:sp>
      <p:sp>
        <p:nvSpPr>
          <p:cNvPr id="658" name="Shape 23">
            <a:extLst>
              <a:ext uri="{FF2B5EF4-FFF2-40B4-BE49-F238E27FC236}">
                <a16:creationId xmlns:a16="http://schemas.microsoft.com/office/drawing/2014/main" id="{F6668194-9FAE-481C-A98E-28238609DE8E}"/>
              </a:ext>
            </a:extLst>
          </p:cNvPr>
          <p:cNvSpPr>
            <a:spLocks noGrp="1"/>
          </p:cNvSpPr>
          <p:nvPr/>
        </p:nvSpPr>
        <p:spPr>
          <a:xfrm>
            <a:off x="868680" y="5803512"/>
            <a:ext cx="10725480" cy="616121"/>
          </a:xfrm>
          <a:prstGeom prst="roundRect">
            <a:avLst>
              <a:gd name="adj" fmla="val 15385"/>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659" name="Text 24">
            <a:extLst>
              <a:ext uri="{FF2B5EF4-FFF2-40B4-BE49-F238E27FC236}">
                <a16:creationId xmlns:a16="http://schemas.microsoft.com/office/drawing/2014/main" id="{5F78741C-658D-4901-9569-67A1323FFA9D}"/>
              </a:ext>
            </a:extLst>
          </p:cNvPr>
          <p:cNvSpPr>
            <a:spLocks noGrp="1"/>
          </p:cNvSpPr>
          <p:nvPr/>
        </p:nvSpPr>
        <p:spPr>
          <a:xfrm>
            <a:off x="1007918" y="5914090"/>
            <a:ext cx="10440082" cy="4429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FFFFFF"/>
                </a:solidFill>
                <a:latin typeface="Aptos"/>
                <a:ea typeface="Aptos"/>
                <a:cs typeface="Aptos"/>
              </a:rPr>
              <a:t>Best-effort: un fallo parcial puede perder señales; no hay replay garantizado por candidato.</a:t>
            </a:r>
          </a:p>
        </p:txBody>
      </p:sp>
      <p:pic>
        <p:nvPicPr>
          <p:cNvPr id="685"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188071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67" name="Shape 0">
            <a:extLst>
              <a:ext uri="{FF2B5EF4-FFF2-40B4-BE49-F238E27FC236}">
                <a16:creationId xmlns:a16="http://schemas.microsoft.com/office/drawing/2014/main" id="{74D908D3-C8D1-4000-BC1F-B8F0F868704F}"/>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68" name="Text 1">
            <a:extLst>
              <a:ext uri="{FF2B5EF4-FFF2-40B4-BE49-F238E27FC236}">
                <a16:creationId xmlns:a16="http://schemas.microsoft.com/office/drawing/2014/main" id="{169A201C-7EE3-411D-8AF9-3DB0249F1459}"/>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EMBEDDINGS LOCALIZAN CANDIDATOS; POLICY DECIDE SU USO</a:t>
            </a:r>
            <a:endParaRPr sz="1200" b="0" u="none">
              <a:solidFill>
                <a:srgbClr val="000000"/>
              </a:solidFill>
              <a:latin typeface="Arial"/>
              <a:ea typeface="Arial"/>
              <a:cs typeface="Arial"/>
            </a:endParaRPr>
          </a:p>
        </p:txBody>
      </p:sp>
      <p:sp>
        <p:nvSpPr>
          <p:cNvPr id="469" name="Text 2">
            <a:extLst>
              <a:ext uri="{FF2B5EF4-FFF2-40B4-BE49-F238E27FC236}">
                <a16:creationId xmlns:a16="http://schemas.microsoft.com/office/drawing/2014/main" id="{6F13477C-4E13-4D00-9218-DDC6F14AE0FC}"/>
              </a:ext>
            </a:extLst>
          </p:cNvPr>
          <p:cNvSpPr>
            <a:spLocks noGrp="1"/>
          </p:cNvSpPr>
          <p:nvPr/>
        </p:nvSpPr>
        <p:spPr>
          <a:xfrm>
            <a:off x="535101" y="942127"/>
            <a:ext cx="10426941"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a:solidFill>
                  <a:srgbClr val="151327"/>
                </a:solidFill>
                <a:latin typeface="Aptos Display"/>
                <a:ea typeface="Aptos Display"/>
                <a:cs typeface="Aptos Display"/>
              </a:rPr>
              <a:t>El input del usuario guía retrieval y detección de cambio de tema.</a:t>
            </a:r>
            <a:endParaRPr sz="2600" b="0" u="none">
              <a:solidFill>
                <a:srgbClr val="000000"/>
              </a:solidFill>
              <a:latin typeface="Arial"/>
              <a:ea typeface="Arial"/>
              <a:cs typeface="Arial"/>
            </a:endParaRPr>
          </a:p>
        </p:txBody>
      </p:sp>
      <p:sp>
        <p:nvSpPr>
          <p:cNvPr id="470" name="Text 3">
            <a:extLst>
              <a:ext uri="{FF2B5EF4-FFF2-40B4-BE49-F238E27FC236}">
                <a16:creationId xmlns:a16="http://schemas.microsoft.com/office/drawing/2014/main" id="{AD37A698-20FC-468E-93D2-F8B0A07EA4D9}"/>
              </a:ext>
            </a:extLst>
          </p:cNvPr>
          <p:cNvSpPr>
            <a:spLocks noGrp="1"/>
          </p:cNvSpPr>
          <p:nvPr/>
        </p:nvSpPr>
        <p:spPr>
          <a:xfrm>
            <a:off x="566999" y="1816086"/>
            <a:ext cx="10542961" cy="63910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u="none">
                <a:solidFill>
                  <a:srgbClr val="6F6888"/>
                </a:solidFill>
                <a:latin typeface="Aptos"/>
                <a:ea typeface="Aptos"/>
                <a:cs typeface="Aptos"/>
              </a:rPr>
              <a:t>Similarity nunca contiene permission, freshness, provenance ni business truth.</a:t>
            </a:r>
            <a:endParaRPr u="none">
              <a:solidFill>
                <a:srgbClr val="000000"/>
              </a:solidFill>
              <a:latin typeface="Arial"/>
              <a:ea typeface="Arial"/>
              <a:cs typeface="Arial"/>
            </a:endParaRPr>
          </a:p>
        </p:txBody>
      </p:sp>
      <p:sp>
        <p:nvSpPr>
          <p:cNvPr id="472" name="Text 5">
            <a:extLst>
              <a:ext uri="{FF2B5EF4-FFF2-40B4-BE49-F238E27FC236}">
                <a16:creationId xmlns:a16="http://schemas.microsoft.com/office/drawing/2014/main" id="{B667CD0E-71FE-45D8-944D-6FB3B29AC9C7}"/>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73" name="Text 6">
            <a:extLst>
              <a:ext uri="{FF2B5EF4-FFF2-40B4-BE49-F238E27FC236}">
                <a16:creationId xmlns:a16="http://schemas.microsoft.com/office/drawing/2014/main" id="{F4EAA7B9-9505-4A39-8803-AFCA5A501AC4}"/>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74" name="Text 7">
            <a:extLst>
              <a:ext uri="{FF2B5EF4-FFF2-40B4-BE49-F238E27FC236}">
                <a16:creationId xmlns:a16="http://schemas.microsoft.com/office/drawing/2014/main" id="{1AECC926-D0AF-450B-92A9-9E85801E5815}"/>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9</a:t>
            </a:r>
            <a:endParaRPr sz="700" b="0" u="none">
              <a:solidFill>
                <a:srgbClr val="000000"/>
              </a:solidFill>
              <a:latin typeface="Arial"/>
              <a:ea typeface="Arial"/>
              <a:cs typeface="Arial"/>
            </a:endParaRPr>
          </a:p>
        </p:txBody>
      </p:sp>
      <p:sp>
        <p:nvSpPr>
          <p:cNvPr id="475" name="Shape 8">
            <a:extLst>
              <a:ext uri="{FF2B5EF4-FFF2-40B4-BE49-F238E27FC236}">
                <a16:creationId xmlns:a16="http://schemas.microsoft.com/office/drawing/2014/main" id="{F1977737-EE53-4062-B8EA-13825F3C4220}"/>
              </a:ext>
            </a:extLst>
          </p:cNvPr>
          <p:cNvSpPr>
            <a:spLocks noGrp="1"/>
          </p:cNvSpPr>
          <p:nvPr/>
        </p:nvSpPr>
        <p:spPr>
          <a:xfrm>
            <a:off x="685800" y="2793020"/>
            <a:ext cx="5211720" cy="278856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76" name="Text 9">
            <a:extLst>
              <a:ext uri="{FF2B5EF4-FFF2-40B4-BE49-F238E27FC236}">
                <a16:creationId xmlns:a16="http://schemas.microsoft.com/office/drawing/2014/main" id="{384B7E18-6DA2-4E3A-8DF6-8677EE580D2B}"/>
              </a:ext>
            </a:extLst>
          </p:cNvPr>
          <p:cNvSpPr>
            <a:spLocks noGrp="1"/>
          </p:cNvSpPr>
          <p:nvPr/>
        </p:nvSpPr>
        <p:spPr>
          <a:xfrm>
            <a:off x="82296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5F2CCB"/>
                </a:solidFill>
                <a:latin typeface="Aptos"/>
                <a:ea typeface="Aptos"/>
                <a:cs typeface="Aptos"/>
              </a:rPr>
              <a:t>EMBEDDINGS</a:t>
            </a:r>
            <a:endParaRPr sz="1200" b="0" u="none">
              <a:solidFill>
                <a:srgbClr val="000000"/>
              </a:solidFill>
              <a:latin typeface="Arial"/>
              <a:ea typeface="Arial"/>
              <a:cs typeface="Arial"/>
            </a:endParaRPr>
          </a:p>
        </p:txBody>
      </p:sp>
      <p:sp>
        <p:nvSpPr>
          <p:cNvPr id="477" name="Text 10">
            <a:extLst>
              <a:ext uri="{FF2B5EF4-FFF2-40B4-BE49-F238E27FC236}">
                <a16:creationId xmlns:a16="http://schemas.microsoft.com/office/drawing/2014/main" id="{BF2F62C5-933B-4EE1-8894-11F1CB03CDAE}"/>
              </a:ext>
            </a:extLst>
          </p:cNvPr>
          <p:cNvSpPr>
            <a:spLocks noGrp="1"/>
          </p:cNvSpPr>
          <p:nvPr/>
        </p:nvSpPr>
        <p:spPr>
          <a:xfrm>
            <a:off x="867162" y="3288458"/>
            <a:ext cx="48092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1" u="none">
                <a:solidFill>
                  <a:srgbClr val="151327"/>
                </a:solidFill>
                <a:latin typeface="Aptos Display"/>
                <a:ea typeface="Aptos Display"/>
                <a:cs typeface="Aptos Display"/>
              </a:rPr>
              <a:t>Representación para localizar:</a:t>
            </a:r>
            <a:endParaRPr b="0" u="none">
              <a:solidFill>
                <a:srgbClr val="000000"/>
              </a:solidFill>
              <a:latin typeface="Arial"/>
              <a:ea typeface="Arial"/>
              <a:cs typeface="Arial"/>
            </a:endParaRPr>
          </a:p>
        </p:txBody>
      </p:sp>
      <p:sp>
        <p:nvSpPr>
          <p:cNvPr id="478" name="Text 11">
            <a:extLst>
              <a:ext uri="{FF2B5EF4-FFF2-40B4-BE49-F238E27FC236}">
                <a16:creationId xmlns:a16="http://schemas.microsoft.com/office/drawing/2014/main" id="{BC46776A-8DA9-4233-AEF4-B7ACED3DA96A}"/>
              </a:ext>
            </a:extLst>
          </p:cNvPr>
          <p:cNvSpPr>
            <a:spLocks noGrp="1"/>
          </p:cNvSpPr>
          <p:nvPr/>
        </p:nvSpPr>
        <p:spPr>
          <a:xfrm>
            <a:off x="941760" y="3780500"/>
            <a:ext cx="4809240"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Top-K similarity</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Topic-shift cosine</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Candidatos semánticos</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Clustering futuro</a:t>
            </a:r>
          </a:p>
        </p:txBody>
      </p:sp>
      <p:sp>
        <p:nvSpPr>
          <p:cNvPr id="479" name="Shape 12">
            <a:extLst>
              <a:ext uri="{FF2B5EF4-FFF2-40B4-BE49-F238E27FC236}">
                <a16:creationId xmlns:a16="http://schemas.microsoft.com/office/drawing/2014/main" id="{91372C0F-C107-4E97-B053-A424B2AB88C1}"/>
              </a:ext>
            </a:extLst>
          </p:cNvPr>
          <p:cNvSpPr>
            <a:spLocks noGrp="1"/>
          </p:cNvSpPr>
          <p:nvPr/>
        </p:nvSpPr>
        <p:spPr>
          <a:xfrm>
            <a:off x="6153480" y="2793020"/>
            <a:ext cx="5367600" cy="278856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80" name="Text 13">
            <a:extLst>
              <a:ext uri="{FF2B5EF4-FFF2-40B4-BE49-F238E27FC236}">
                <a16:creationId xmlns:a16="http://schemas.microsoft.com/office/drawing/2014/main" id="{10DFEA9B-76B4-44A6-87F2-2AC93E0A56B5}"/>
              </a:ext>
            </a:extLst>
          </p:cNvPr>
          <p:cNvSpPr>
            <a:spLocks noGrp="1"/>
          </p:cNvSpPr>
          <p:nvPr/>
        </p:nvSpPr>
        <p:spPr>
          <a:xfrm>
            <a:off x="644652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078C53"/>
                </a:solidFill>
                <a:latin typeface="Aptos"/>
                <a:ea typeface="Aptos"/>
                <a:cs typeface="Aptos"/>
              </a:rPr>
              <a:t>RETRIEVAL + CONTEXT</a:t>
            </a:r>
            <a:endParaRPr sz="1200" b="0" u="none">
              <a:solidFill>
                <a:srgbClr val="000000"/>
              </a:solidFill>
              <a:latin typeface="Arial"/>
              <a:ea typeface="Arial"/>
              <a:cs typeface="Arial"/>
            </a:endParaRPr>
          </a:p>
        </p:txBody>
      </p:sp>
      <p:sp>
        <p:nvSpPr>
          <p:cNvPr id="481" name="Text 14">
            <a:extLst>
              <a:ext uri="{FF2B5EF4-FFF2-40B4-BE49-F238E27FC236}">
                <a16:creationId xmlns:a16="http://schemas.microsoft.com/office/drawing/2014/main" id="{277CAD91-0E67-4B85-97C6-CB9CC9C55260}"/>
              </a:ext>
            </a:extLst>
          </p:cNvPr>
          <p:cNvSpPr>
            <a:spLocks noGrp="1"/>
          </p:cNvSpPr>
          <p:nvPr/>
        </p:nvSpPr>
        <p:spPr>
          <a:xfrm>
            <a:off x="6441027" y="3268580"/>
            <a:ext cx="49374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buNone/>
              <a:tabLst>
                <a:tab pos="0" algn="l"/>
              </a:tabLst>
            </a:pPr>
            <a:r>
              <a:rPr b="1" u="none">
                <a:solidFill>
                  <a:srgbClr val="151327"/>
                </a:solidFill>
                <a:latin typeface="Aptos Display"/>
                <a:ea typeface="Aptos Display"/>
                <a:cs typeface="Aptos Display"/>
              </a:rPr>
              <a:t>Política para usar evidencia:</a:t>
            </a:r>
            <a:endParaRPr b="0" u="none">
              <a:solidFill>
                <a:srgbClr val="000000"/>
              </a:solidFill>
              <a:latin typeface="Arial"/>
              <a:ea typeface="Arial"/>
              <a:cs typeface="Arial"/>
            </a:endParaRPr>
          </a:p>
        </p:txBody>
      </p:sp>
      <p:sp>
        <p:nvSpPr>
          <p:cNvPr id="482" name="Text 15">
            <a:extLst>
              <a:ext uri="{FF2B5EF4-FFF2-40B4-BE49-F238E27FC236}">
                <a16:creationId xmlns:a16="http://schemas.microsoft.com/office/drawing/2014/main" id="{857D2E0E-0096-40E0-94D1-4B45E711CF10}"/>
              </a:ext>
            </a:extLst>
          </p:cNvPr>
          <p:cNvSpPr>
            <a:spLocks noGrp="1"/>
          </p:cNvSpPr>
          <p:nvPr/>
        </p:nvSpPr>
        <p:spPr>
          <a:xfrm>
            <a:off x="6565320" y="3780500"/>
            <a:ext cx="4261565"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a:buFont typeface="Arial"/>
              <a:buChar char="•"/>
              <a:tabLst>
                <a:tab pos="0" algn="l"/>
              </a:tabLst>
            </a:pPr>
            <a:r>
              <a:rPr sz="1400">
                <a:solidFill>
                  <a:srgbClr val="6F6888"/>
                </a:solidFill>
              </a:rPr>
              <a:t>User ownership</a:t>
            </a:r>
          </a:p>
          <a:p>
            <a:pPr marL="285750" indent="-285750">
              <a:buFont typeface="Arial"/>
              <a:buChar char="•"/>
              <a:tabLst>
                <a:tab pos="0" algn="l"/>
              </a:tabLst>
            </a:pPr>
            <a:r>
              <a:rPr sz="1400">
                <a:solidFill>
                  <a:srgbClr val="6F6888"/>
                </a:solidFill>
              </a:rPr>
              <a:t>Threshold + cap</a:t>
            </a:r>
          </a:p>
          <a:p>
            <a:pPr marL="285750" indent="-285750">
              <a:buFont typeface="Arial"/>
              <a:buChar char="•"/>
              <a:tabLst>
                <a:tab pos="0" algn="l"/>
              </a:tabLst>
            </a:pPr>
            <a:r>
              <a:rPr sz="1400">
                <a:solidFill>
                  <a:srgbClr val="6F6888"/>
                </a:solidFill>
              </a:rPr>
              <a:t>Scope/provenance</a:t>
            </a:r>
          </a:p>
          <a:p>
            <a:pPr marL="285750" indent="-285750">
              <a:buFont typeface="Arial"/>
              <a:buChar char="•"/>
              <a:tabLst>
                <a:tab pos="0" algn="l"/>
              </a:tabLst>
            </a:pPr>
            <a:r>
              <a:rPr sz="1400">
                <a:solidFill>
                  <a:srgbClr val="6F6888"/>
                </a:solidFill>
              </a:rPr>
              <a:t>Freshness</a:t>
            </a:r>
          </a:p>
          <a:p>
            <a:pPr marL="285750" indent="-285750">
              <a:buFont typeface="Arial"/>
              <a:buChar char="•"/>
              <a:tabLst>
                <a:tab pos="0" algn="l"/>
              </a:tabLst>
            </a:pPr>
            <a:r>
              <a:rPr sz="1400">
                <a:solidFill>
                  <a:srgbClr val="6F6888"/>
                </a:solidFill>
              </a:rPr>
              <a:t>Authority fuera del vector</a:t>
            </a:r>
          </a:p>
        </p:txBody>
      </p:sp>
      <p:pic>
        <p:nvPicPr>
          <p:cNvPr id="499"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056530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ángulo 27">
            <a:extLst>
              <a:ext uri="{FF2B5EF4-FFF2-40B4-BE49-F238E27FC236}">
                <a16:creationId xmlns:a16="http://schemas.microsoft.com/office/drawing/2014/main" id="{0FCE84A3-FF32-405B-A6CD-2672DDCB8FC5}"/>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7B684510-CAF6-4738-9CD5-EF56CAC0693A}"/>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CONTEXTO Y MEMORIA</a:t>
            </a:r>
          </a:p>
        </p:txBody>
      </p:sp>
      <p:sp>
        <p:nvSpPr>
          <p:cNvPr id="3" name="Rectángulo 2">
            <a:extLst>
              <a:ext uri="{FF2B5EF4-FFF2-40B4-BE49-F238E27FC236}">
                <a16:creationId xmlns:a16="http://schemas.microsoft.com/office/drawing/2014/main" id="{CBB3E000-1F20-45D3-96AF-992D4837D021}"/>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Gu OS recupera, compacta y consolida en momentos distintos</a:t>
            </a:r>
          </a:p>
        </p:txBody>
      </p:sp>
      <p:sp>
        <p:nvSpPr>
          <p:cNvPr id="4" name="Rectángulo 3">
            <a:extLst>
              <a:ext uri="{FF2B5EF4-FFF2-40B4-BE49-F238E27FC236}">
                <a16:creationId xmlns:a16="http://schemas.microsoft.com/office/drawing/2014/main" id="{5EFA110A-8CCF-42C9-8C7B-BD8B1193209D}"/>
              </a:ext>
            </a:extLst>
          </p:cNvPr>
          <p:cNvSpPr>
            <a:spLocks noGrp="1"/>
          </p:cNvSpPr>
          <p:nvPr/>
        </p:nvSpPr>
        <p:spPr>
          <a:xfrm>
            <a:off x="571499" y="1294289"/>
            <a:ext cx="10363199" cy="523875"/>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400" b="0" i="0" dirty="0">
                <a:solidFill>
                  <a:srgbClr val="756F91"/>
                </a:solidFill>
                <a:latin typeface="Aptos"/>
                <a:ea typeface="Aptos"/>
                <a:cs typeface="Aptos"/>
              </a:rPr>
              <a:t>Retrieval </a:t>
            </a:r>
            <a:r>
              <a:rPr sz="1400" b="0" i="0" dirty="0" err="1">
                <a:solidFill>
                  <a:srgbClr val="756F91"/>
                </a:solidFill>
                <a:latin typeface="Aptos"/>
                <a:ea typeface="Aptos"/>
                <a:cs typeface="Aptos"/>
              </a:rPr>
              <a:t>prepara</a:t>
            </a:r>
            <a:r>
              <a:rPr sz="1400" b="0" i="0" dirty="0">
                <a:solidFill>
                  <a:srgbClr val="756F91"/>
                </a:solidFill>
                <a:latin typeface="Aptos"/>
                <a:ea typeface="Aptos"/>
                <a:cs typeface="Aptos"/>
              </a:rPr>
              <a:t> el </a:t>
            </a:r>
            <a:r>
              <a:rPr sz="1400" b="0" i="0" dirty="0" err="1">
                <a:solidFill>
                  <a:srgbClr val="756F91"/>
                </a:solidFill>
                <a:latin typeface="Aptos"/>
                <a:ea typeface="Aptos"/>
                <a:cs typeface="Aptos"/>
              </a:rPr>
              <a:t>turno</a:t>
            </a:r>
            <a:r>
              <a:rPr sz="1400" b="0" i="0" dirty="0">
                <a:solidFill>
                  <a:srgbClr val="756F91"/>
                </a:solidFill>
                <a:latin typeface="Aptos"/>
                <a:ea typeface="Aptos"/>
                <a:cs typeface="Aptos"/>
              </a:rPr>
              <a:t>. Compaction protege la </a:t>
            </a:r>
            <a:r>
              <a:rPr sz="1400" b="0" i="0" dirty="0" err="1">
                <a:solidFill>
                  <a:srgbClr val="756F91"/>
                </a:solidFill>
                <a:latin typeface="Aptos"/>
                <a:ea typeface="Aptos"/>
                <a:cs typeface="Aptos"/>
              </a:rPr>
              <a:t>ventana</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activa</a:t>
            </a:r>
            <a:r>
              <a:rPr sz="1400" b="0" i="0" dirty="0">
                <a:solidFill>
                  <a:srgbClr val="756F91"/>
                </a:solidFill>
                <a:latin typeface="Aptos"/>
                <a:ea typeface="Aptos"/>
                <a:cs typeface="Aptos"/>
              </a:rPr>
              <a:t>. Flush </a:t>
            </a:r>
            <a:r>
              <a:rPr sz="1400" b="0" i="0" dirty="0" err="1">
                <a:solidFill>
                  <a:srgbClr val="756F91"/>
                </a:solidFill>
                <a:latin typeface="Aptos"/>
                <a:ea typeface="Aptos"/>
                <a:cs typeface="Aptos"/>
              </a:rPr>
              <a:t>conserva</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hechos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personales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útiles</a:t>
            </a:r>
            <a:r>
              <a:rPr sz="1400" b="0" i="0" dirty="0">
                <a:solidFill>
                  <a:srgbClr val="756F91"/>
                </a:solidFill>
                <a:latin typeface="Aptos"/>
                <a:ea typeface="Aptos"/>
                <a:cs typeface="Aptos"/>
              </a:rPr>
              <a:t> para </a:t>
            </a:r>
            <a:r>
              <a:rPr sz="1400" b="0" i="0" dirty="0" err="1">
                <a:solidFill>
                  <a:srgbClr val="756F91"/>
                </a:solidFill>
                <a:latin typeface="Aptos"/>
                <a:ea typeface="Aptos"/>
                <a:cs typeface="Aptos"/>
              </a:rPr>
              <a:t>conversaciones</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futuras</a:t>
            </a:r>
            <a:r>
              <a:rPr sz="1400" b="0" i="0" dirty="0">
                <a:solidFill>
                  <a:srgbClr val="756F91"/>
                </a:solidFill>
                <a:latin typeface="Aptos"/>
                <a:ea typeface="Aptos"/>
                <a:cs typeface="Aptos"/>
              </a:rPr>
              <a:t>.</a:t>
            </a:r>
          </a:p>
        </p:txBody>
      </p:sp>
      <p:pic>
        <p:nvPicPr>
          <p:cNvPr id="32" name="Imagen 31"/>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561BB90C-5CAE-422F-9D38-73B202A3996D}"/>
              </a:ext>
            </a:extLst>
          </p:cNvPr>
          <p:cNvSpPr>
            <a:spLocks noGrp="1"/>
          </p:cNvSpPr>
          <p:nvPr/>
        </p:nvSpPr>
        <p:spPr>
          <a:xfrm>
            <a:off x="2118619" y="361950"/>
            <a:ext cx="1857375"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7" name="Rectángulo 6">
            <a:extLst>
              <a:ext uri="{FF2B5EF4-FFF2-40B4-BE49-F238E27FC236}">
                <a16:creationId xmlns:a16="http://schemas.microsoft.com/office/drawing/2014/main" id="{9BE63562-3928-4E6E-A3CB-84BFBEEAA7C6}"/>
              </a:ext>
            </a:extLst>
          </p:cNvPr>
          <p:cNvSpPr>
            <a:spLocks noGrp="1"/>
          </p:cNvSpPr>
          <p:nvPr/>
        </p:nvSpPr>
        <p:spPr>
          <a:xfrm>
            <a:off x="2185294" y="390525"/>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a:t>
            </a:r>
          </a:p>
        </p:txBody>
      </p:sp>
      <p:sp>
        <p:nvSpPr>
          <p:cNvPr id="8" name="Rectángulo 7">
            <a:extLst>
              <a:ext uri="{FF2B5EF4-FFF2-40B4-BE49-F238E27FC236}">
                <a16:creationId xmlns:a16="http://schemas.microsoft.com/office/drawing/2014/main" id="{191A3A9E-1DC1-4D1D-8B47-D93D1F3B30A2}"/>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49919E45-9123-4F11-AF06-344F69A6A525}"/>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43B45309-D032-4EC9-AA4E-AC947D11B372}"/>
              </a:ext>
            </a:extLst>
          </p:cNvPr>
          <p:cNvSpPr>
            <a:spLocks noGrp="1"/>
          </p:cNvSpPr>
          <p:nvPr/>
        </p:nvSpPr>
        <p:spPr>
          <a:xfrm>
            <a:off x="571500" y="2076450"/>
            <a:ext cx="3333750" cy="3000375"/>
          </a:xfrm>
          <a:prstGeom prst="roundRect">
            <a:avLst>
              <a:gd name="adj" fmla="val 3810"/>
            </a:avLst>
          </a:prstGeom>
          <a:solidFill>
            <a:srgbClr val="E3F5ED"/>
          </a:solidFill>
          <a:ln w="9525">
            <a:solidFill>
              <a:srgbClr val="009566"/>
            </a:solidFill>
            <a:prstDash val="solid"/>
          </a:ln>
        </p:spPr>
        <p:txBody>
          <a:bodyPr/>
          <a:lstStyle/>
          <a:p>
            <a:endParaRPr lang="es-MX"/>
          </a:p>
        </p:txBody>
      </p:sp>
      <p:sp>
        <p:nvSpPr>
          <p:cNvPr id="11" name="Rectángulo 10">
            <a:extLst>
              <a:ext uri="{FF2B5EF4-FFF2-40B4-BE49-F238E27FC236}">
                <a16:creationId xmlns:a16="http://schemas.microsoft.com/office/drawing/2014/main" id="{C5CACAB8-FF9F-4C1B-BC48-A0FE2F2AFB2F}"/>
              </a:ext>
            </a:extLst>
          </p:cNvPr>
          <p:cNvSpPr>
            <a:spLocks noGrp="1"/>
          </p:cNvSpPr>
          <p:nvPr/>
        </p:nvSpPr>
        <p:spPr>
          <a:xfrm>
            <a:off x="704850" y="2200275"/>
            <a:ext cx="3067050" cy="285750"/>
          </a:xfrm>
          <a:prstGeom prst="rect">
            <a:avLst/>
          </a:prstGeom>
          <a:noFill/>
          <a:ln w="0">
            <a:noFill/>
          </a:ln>
        </p:spPr>
        <p:txBody>
          <a:bodyPr anchor="t">
            <a:normAutofit/>
          </a:bodyPr>
          <a:lstStyle/>
          <a:p>
            <a:pPr>
              <a:defRPr sz="1200" b="1" i="0">
                <a:solidFill>
                  <a:srgbClr val="009566"/>
                </a:solidFill>
                <a:latin typeface="Aptos"/>
                <a:ea typeface="Aptos"/>
                <a:cs typeface="Aptos"/>
              </a:defRPr>
            </a:pPr>
            <a:r>
              <a:rPr sz="1200" b="1" i="0" dirty="0">
                <a:solidFill>
                  <a:srgbClr val="009566"/>
                </a:solidFill>
                <a:latin typeface="Aptos"/>
                <a:ea typeface="Aptos"/>
                <a:cs typeface="Aptos"/>
              </a:rPr>
              <a:t>ANTES · RECUPERAR</a:t>
            </a:r>
          </a:p>
        </p:txBody>
      </p:sp>
      <p:sp>
        <p:nvSpPr>
          <p:cNvPr id="12" name="Rectángulo 11">
            <a:extLst>
              <a:ext uri="{FF2B5EF4-FFF2-40B4-BE49-F238E27FC236}">
                <a16:creationId xmlns:a16="http://schemas.microsoft.com/office/drawing/2014/main" id="{CBE9ADC7-5F43-43BD-B1EC-743768467731}"/>
              </a:ext>
            </a:extLst>
          </p:cNvPr>
          <p:cNvSpPr>
            <a:spLocks noGrp="1"/>
          </p:cNvSpPr>
          <p:nvPr/>
        </p:nvSpPr>
        <p:spPr>
          <a:xfrm>
            <a:off x="704850" y="2524125"/>
            <a:ext cx="3067050" cy="2466975"/>
          </a:xfrm>
          <a:prstGeom prst="rect">
            <a:avLst/>
          </a:prstGeom>
          <a:noFill/>
          <a:ln w="0">
            <a:noFill/>
          </a:ln>
        </p:spPr>
        <p:txBody>
          <a:bodyPr anchor="t">
            <a:normAutofit lnSpcReduction="10000"/>
          </a:bodyPr>
          <a:lstStyle/>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Catch-up </a:t>
            </a:r>
            <a:r>
              <a:rPr sz="1200" b="0" i="0" dirty="0" err="1">
                <a:solidFill>
                  <a:srgbClr val="756F91"/>
                </a:solidFill>
                <a:latin typeface="Aptos"/>
                <a:ea typeface="Aptos"/>
                <a:cs typeface="Aptos"/>
              </a:rPr>
              <a:t>si</a:t>
            </a:r>
            <a:r>
              <a:rPr sz="1200" b="0" i="0" dirty="0">
                <a:solidFill>
                  <a:srgbClr val="756F91"/>
                </a:solidFill>
                <a:latin typeface="Aptos"/>
                <a:ea typeface="Aptos"/>
                <a:cs typeface="Aptos"/>
              </a:rPr>
              <a:t> la </a:t>
            </a:r>
            <a:r>
              <a:rPr sz="1200" b="0" i="0" dirty="0" err="1">
                <a:solidFill>
                  <a:srgbClr val="756F91"/>
                </a:solidFill>
                <a:latin typeface="Aptos"/>
                <a:ea typeface="Aptos"/>
                <a:cs typeface="Aptos"/>
              </a:rPr>
              <a:t>sesión</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está</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fría</a:t>
            </a:r>
            <a:r>
              <a:rPr sz="1200" b="0" i="0" dirty="0">
                <a:solidFill>
                  <a:srgbClr val="756F91"/>
                </a:solidFill>
                <a:latin typeface="Aptos"/>
                <a:ea typeface="Aptos"/>
                <a:cs typeface="Aptos"/>
              </a:rPr>
              <a:t> o </a:t>
            </a:r>
            <a:r>
              <a:rPr sz="1200" b="0" i="0" dirty="0" err="1">
                <a:solidFill>
                  <a:srgbClr val="756F91"/>
                </a:solidFill>
                <a:latin typeface="Aptos"/>
                <a:ea typeface="Aptos"/>
                <a:cs typeface="Aptos"/>
              </a:rPr>
              <a:t>cambió</a:t>
            </a:r>
            <a:r>
              <a:rPr sz="1200" b="0" i="0" dirty="0">
                <a:solidFill>
                  <a:srgbClr val="756F91"/>
                </a:solidFill>
                <a:latin typeface="Aptos"/>
                <a:ea typeface="Aptos"/>
                <a:cs typeface="Aptos"/>
              </a:rPr>
              <a:t> de canal</a:t>
            </a: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Embedding del </a:t>
            </a:r>
            <a:r>
              <a:rPr sz="1200" b="0" i="0" dirty="0" err="1">
                <a:solidFill>
                  <a:srgbClr val="756F91"/>
                </a:solidFill>
                <a:latin typeface="Aptos"/>
                <a:ea typeface="Aptos"/>
                <a:cs typeface="Aptos"/>
              </a:rPr>
              <a:t>mensaje</a:t>
            </a:r>
            <a:r>
              <a:rPr sz="1200" b="0" i="0" dirty="0">
                <a:solidFill>
                  <a:srgbClr val="756F91"/>
                </a:solidFill>
                <a:latin typeface="Aptos"/>
                <a:ea typeface="Aptos"/>
                <a:cs typeface="Aptos"/>
              </a:rPr>
              <a:t> actual</a:t>
            </a: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Top-K de memoria personal </a:t>
            </a:r>
            <a:r>
              <a:rPr sz="1200" b="0" i="0" dirty="0" err="1">
                <a:solidFill>
                  <a:srgbClr val="756F91"/>
                </a:solidFill>
                <a:latin typeface="Aptos"/>
                <a:ea typeface="Aptos"/>
                <a:cs typeface="Aptos"/>
              </a:rPr>
              <a:t>relevante</a:t>
            </a:r>
            <a:endParaRPr sz="1200" b="0" i="0" dirty="0">
              <a:solidFill>
                <a:srgbClr val="756F91"/>
              </a:solidFill>
              <a:latin typeface="Aptos"/>
              <a:ea typeface="Aptos"/>
              <a:cs typeface="Aptos"/>
            </a:endParaRP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Cosine contra el </a:t>
            </a:r>
            <a:r>
              <a:rPr sz="1200" b="0" i="0" dirty="0" err="1">
                <a:solidFill>
                  <a:srgbClr val="756F91"/>
                </a:solidFill>
                <a:latin typeface="Aptos"/>
                <a:ea typeface="Aptos"/>
                <a:cs typeface="Aptos"/>
              </a:rPr>
              <a:t>mensaje</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previo</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señal</a:t>
            </a:r>
            <a:r>
              <a:rPr sz="1200" b="0" i="0" dirty="0">
                <a:solidFill>
                  <a:srgbClr val="756F91"/>
                </a:solidFill>
                <a:latin typeface="Aptos"/>
                <a:ea typeface="Aptos"/>
                <a:cs typeface="Aptos"/>
              </a:rPr>
              <a:t> topic shift</a:t>
            </a: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Bloque </a:t>
            </a:r>
            <a:r>
              <a:rPr sz="1200" b="0" i="0" dirty="0" err="1">
                <a:solidFill>
                  <a:srgbClr val="756F91"/>
                </a:solidFill>
                <a:latin typeface="Aptos"/>
                <a:ea typeface="Aptos"/>
                <a:cs typeface="Aptos"/>
              </a:rPr>
              <a:t>acotado</a:t>
            </a:r>
            <a:r>
              <a:rPr sz="1200" b="0" i="0" dirty="0">
                <a:solidFill>
                  <a:srgbClr val="756F91"/>
                </a:solidFill>
                <a:latin typeface="Aptos"/>
                <a:ea typeface="Aptos"/>
                <a:cs typeface="Aptos"/>
              </a:rPr>
              <a:t> en System context</a:t>
            </a:r>
            <a:endParaRPr lang="es-MX"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endParaRPr lang="es-MX" sz="120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lang="es-ES" sz="1200" dirty="0">
                <a:solidFill>
                  <a:srgbClr val="756F91"/>
                </a:solidFill>
                <a:latin typeface="Aptos"/>
                <a:ea typeface="Aptos"/>
                <a:cs typeface="Aptos"/>
              </a:rPr>
              <a:t>Señal de cambio de tema para </a:t>
            </a:r>
            <a:r>
              <a:rPr lang="es-ES" sz="1200" dirty="0" err="1">
                <a:solidFill>
                  <a:srgbClr val="756F91"/>
                </a:solidFill>
                <a:latin typeface="Aptos"/>
                <a:ea typeface="Aptos"/>
                <a:cs typeface="Aptos"/>
              </a:rPr>
              <a:t>flush</a:t>
            </a:r>
            <a:endParaRPr sz="1200" b="0" i="0" dirty="0">
              <a:solidFill>
                <a:srgbClr val="756F91"/>
              </a:solidFill>
              <a:latin typeface="Aptos"/>
              <a:ea typeface="Aptos"/>
              <a:cs typeface="Aptos"/>
            </a:endParaRPr>
          </a:p>
        </p:txBody>
      </p:sp>
      <p:sp>
        <p:nvSpPr>
          <p:cNvPr id="13" name="Rectángulo: esquinas redondeadas 12">
            <a:extLst>
              <a:ext uri="{FF2B5EF4-FFF2-40B4-BE49-F238E27FC236}">
                <a16:creationId xmlns:a16="http://schemas.microsoft.com/office/drawing/2014/main" id="{09E4F237-6393-4E67-8320-5B08E8389663}"/>
              </a:ext>
            </a:extLst>
          </p:cNvPr>
          <p:cNvSpPr>
            <a:spLocks noGrp="1"/>
          </p:cNvSpPr>
          <p:nvPr/>
        </p:nvSpPr>
        <p:spPr>
          <a:xfrm>
            <a:off x="4429125" y="2076450"/>
            <a:ext cx="3333750" cy="3000375"/>
          </a:xfrm>
          <a:prstGeom prst="roundRect">
            <a:avLst>
              <a:gd name="adj" fmla="val 3810"/>
            </a:avLst>
          </a:prstGeom>
          <a:solidFill>
            <a:srgbClr val="FFF0D7"/>
          </a:solidFill>
          <a:ln w="9525">
            <a:solidFill>
              <a:srgbClr val="F39A24"/>
            </a:solidFill>
            <a:prstDash val="solid"/>
          </a:ln>
        </p:spPr>
        <p:txBody>
          <a:bodyPr/>
          <a:lstStyle/>
          <a:p>
            <a:endParaRPr lang="es-MX"/>
          </a:p>
        </p:txBody>
      </p:sp>
      <p:sp>
        <p:nvSpPr>
          <p:cNvPr id="14" name="Rectángulo 13">
            <a:extLst>
              <a:ext uri="{FF2B5EF4-FFF2-40B4-BE49-F238E27FC236}">
                <a16:creationId xmlns:a16="http://schemas.microsoft.com/office/drawing/2014/main" id="{A5B72ECE-3D33-4DAC-BA88-4977214BD9A3}"/>
              </a:ext>
            </a:extLst>
          </p:cNvPr>
          <p:cNvSpPr>
            <a:spLocks noGrp="1"/>
          </p:cNvSpPr>
          <p:nvPr/>
        </p:nvSpPr>
        <p:spPr>
          <a:xfrm>
            <a:off x="4562475" y="2200275"/>
            <a:ext cx="3067050" cy="285750"/>
          </a:xfrm>
          <a:prstGeom prst="rect">
            <a:avLst/>
          </a:prstGeom>
          <a:noFill/>
          <a:ln w="0">
            <a:noFill/>
          </a:ln>
        </p:spPr>
        <p:txBody>
          <a:bodyPr anchor="t">
            <a:normAutofit/>
          </a:bodyPr>
          <a:lstStyle/>
          <a:p>
            <a:pPr>
              <a:defRPr sz="1200" b="1" i="0">
                <a:solidFill>
                  <a:srgbClr val="F39A24"/>
                </a:solidFill>
                <a:latin typeface="Aptos"/>
                <a:ea typeface="Aptos"/>
                <a:cs typeface="Aptos"/>
              </a:defRPr>
            </a:pPr>
            <a:r>
              <a:rPr sz="1200" b="1" i="0" dirty="0">
                <a:solidFill>
                  <a:srgbClr val="F39A24"/>
                </a:solidFill>
                <a:latin typeface="Aptos"/>
                <a:ea typeface="Aptos"/>
                <a:cs typeface="Aptos"/>
              </a:rPr>
              <a:t>DURANTE · COMPACTAR</a:t>
            </a:r>
          </a:p>
        </p:txBody>
      </p:sp>
      <p:sp>
        <p:nvSpPr>
          <p:cNvPr id="15" name="Rectángulo 14">
            <a:extLst>
              <a:ext uri="{FF2B5EF4-FFF2-40B4-BE49-F238E27FC236}">
                <a16:creationId xmlns:a16="http://schemas.microsoft.com/office/drawing/2014/main" id="{3C9BCF09-C995-4E78-8B11-0124DAB6E51E}"/>
              </a:ext>
            </a:extLst>
          </p:cNvPr>
          <p:cNvSpPr>
            <a:spLocks noGrp="1"/>
          </p:cNvSpPr>
          <p:nvPr/>
        </p:nvSpPr>
        <p:spPr>
          <a:xfrm>
            <a:off x="4562475" y="2524125"/>
            <a:ext cx="3067050" cy="2466975"/>
          </a:xfrm>
          <a:prstGeom prst="rect">
            <a:avLst/>
          </a:prstGeom>
          <a:noFill/>
          <a:ln w="0">
            <a:noFill/>
          </a:ln>
        </p:spPr>
        <p:txBody>
          <a:bodyPr anchor="t">
            <a:normAutofit/>
          </a:bodyPr>
          <a:lstStyle/>
          <a:p>
            <a:pPr marL="171450" indent="-171450">
              <a:buFont typeface="Arial" panose="020B0604020202020204" pitchFamily="34" charset="0"/>
              <a:buChar char="•"/>
              <a:defRPr sz="1050" b="0" i="0">
                <a:solidFill>
                  <a:srgbClr val="756F91"/>
                </a:solidFill>
                <a:latin typeface="Aptos"/>
                <a:ea typeface="Aptos"/>
                <a:cs typeface="Aptos"/>
              </a:defRPr>
            </a:pPr>
            <a:r>
              <a:rPr sz="1200" b="0" i="0" dirty="0" err="1">
                <a:solidFill>
                  <a:srgbClr val="756F91"/>
                </a:solidFill>
                <a:latin typeface="Aptos"/>
                <a:ea typeface="Aptos"/>
                <a:cs typeface="Aptos"/>
              </a:rPr>
              <a:t>Microcompaction</a:t>
            </a:r>
            <a:r>
              <a:rPr lang="es-MX" sz="1200" b="0" i="0" dirty="0">
                <a:solidFill>
                  <a:srgbClr val="756F91"/>
                </a:solidFill>
                <a:latin typeface="Aptos"/>
                <a:ea typeface="Aptos"/>
                <a:cs typeface="Aptos"/>
              </a:rPr>
              <a:t> corre en cada paso. </a:t>
            </a:r>
            <a:r>
              <a:rPr sz="1200" b="0" i="0" dirty="0">
                <a:solidFill>
                  <a:srgbClr val="756F91"/>
                </a:solidFill>
                <a:latin typeface="Aptos"/>
                <a:ea typeface="Aptos"/>
                <a:cs typeface="Aptos"/>
              </a:rPr>
              <a:t>Regla </a:t>
            </a:r>
            <a:r>
              <a:rPr sz="1200" b="0" i="0" dirty="0" err="1">
                <a:solidFill>
                  <a:srgbClr val="756F91"/>
                </a:solidFill>
                <a:latin typeface="Aptos"/>
                <a:ea typeface="Aptos"/>
                <a:cs typeface="Aptos"/>
              </a:rPr>
              <a:t>determinística</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limpia</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ToolMessages</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antiguos</a:t>
            </a:r>
            <a:r>
              <a:rPr sz="1200" b="0" i="0" dirty="0">
                <a:solidFill>
                  <a:srgbClr val="756F91"/>
                </a:solidFill>
                <a:latin typeface="Aptos"/>
                <a:ea typeface="Aptos"/>
                <a:cs typeface="Aptos"/>
              </a:rPr>
              <a:t> y </a:t>
            </a:r>
            <a:r>
              <a:rPr sz="1200" b="0" i="0" dirty="0" err="1">
                <a:solidFill>
                  <a:srgbClr val="756F91"/>
                </a:solidFill>
                <a:latin typeface="Aptos"/>
                <a:ea typeface="Aptos"/>
                <a:cs typeface="Aptos"/>
              </a:rPr>
              <a:t>conserva</a:t>
            </a:r>
            <a:r>
              <a:rPr sz="1200" b="0" i="0" dirty="0">
                <a:solidFill>
                  <a:srgbClr val="756F91"/>
                </a:solidFill>
                <a:latin typeface="Aptos"/>
                <a:ea typeface="Aptos"/>
                <a:cs typeface="Aptos"/>
              </a:rPr>
              <a:t> 5 </a:t>
            </a:r>
            <a:r>
              <a:rPr sz="1200" b="0" i="0" dirty="0" err="1">
                <a:solidFill>
                  <a:srgbClr val="756F91"/>
                </a:solidFill>
                <a:latin typeface="Aptos"/>
                <a:ea typeface="Aptos"/>
                <a:cs typeface="Aptos"/>
              </a:rPr>
              <a:t>recientes</a:t>
            </a:r>
            <a:endParaRPr sz="1200" b="0" i="0" dirty="0">
              <a:solidFill>
                <a:srgbClr val="756F91"/>
              </a:solidFill>
              <a:latin typeface="Aptos"/>
              <a:ea typeface="Aptos"/>
              <a:cs typeface="Aptos"/>
            </a:endParaRP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LLM compaction</a:t>
            </a:r>
            <a:r>
              <a:rPr lang="es-MX" sz="1200" b="0" i="0" dirty="0">
                <a:solidFill>
                  <a:srgbClr val="756F91"/>
                </a:solidFill>
                <a:latin typeface="Aptos"/>
                <a:ea typeface="Aptos"/>
                <a:cs typeface="Aptos"/>
              </a:rPr>
              <a:t>. </a:t>
            </a:r>
            <a:r>
              <a:rPr sz="1200" b="0" i="0" dirty="0">
                <a:solidFill>
                  <a:srgbClr val="756F91"/>
                </a:solidFill>
                <a:latin typeface="Aptos"/>
                <a:ea typeface="Aptos"/>
                <a:cs typeface="Aptos"/>
              </a:rPr>
              <a:t>Al 80% de 120k: Haiku resume </a:t>
            </a:r>
            <a:r>
              <a:rPr sz="1200" b="0" i="0" dirty="0" err="1">
                <a:solidFill>
                  <a:srgbClr val="756F91"/>
                </a:solidFill>
                <a:latin typeface="Aptos"/>
                <a:ea typeface="Aptos"/>
                <a:cs typeface="Aptos"/>
              </a:rPr>
              <a:t>contexto</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antiguo</a:t>
            </a:r>
            <a:r>
              <a:rPr lang="es-MX" sz="1200" b="0" i="0" dirty="0">
                <a:solidFill>
                  <a:srgbClr val="756F91"/>
                </a:solidFill>
                <a:latin typeface="Aptos"/>
                <a:ea typeface="Aptos"/>
                <a:cs typeface="Aptos"/>
              </a:rPr>
              <a:t> de forma estructurada</a:t>
            </a:r>
            <a:endParaRPr sz="1200" b="0" i="0" dirty="0">
              <a:solidFill>
                <a:srgbClr val="756F91"/>
              </a:solidFill>
              <a:latin typeface="Aptos"/>
              <a:ea typeface="Aptos"/>
              <a:cs typeface="Aptos"/>
            </a:endParaRP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err="1">
                <a:solidFill>
                  <a:srgbClr val="756F91"/>
                </a:solidFill>
                <a:latin typeface="Aptos"/>
                <a:ea typeface="Aptos"/>
                <a:cs typeface="Aptos"/>
              </a:rPr>
              <a:t>Preserva</a:t>
            </a:r>
            <a:r>
              <a:rPr sz="1200" b="0" i="0" dirty="0">
                <a:solidFill>
                  <a:srgbClr val="756F91"/>
                </a:solidFill>
                <a:latin typeface="Aptos"/>
                <a:ea typeface="Aptos"/>
                <a:cs typeface="Aptos"/>
              </a:rPr>
              <a:t> System, </a:t>
            </a:r>
            <a:r>
              <a:rPr sz="1200" b="0" i="0" dirty="0" err="1">
                <a:solidFill>
                  <a:srgbClr val="756F91"/>
                </a:solidFill>
                <a:latin typeface="Aptos"/>
                <a:ea typeface="Aptos"/>
                <a:cs typeface="Aptos"/>
              </a:rPr>
              <a:t>último</a:t>
            </a:r>
            <a:r>
              <a:rPr sz="1200" b="0" i="0" dirty="0">
                <a:solidFill>
                  <a:srgbClr val="756F91"/>
                </a:solidFill>
                <a:latin typeface="Aptos"/>
                <a:ea typeface="Aptos"/>
                <a:cs typeface="Aptos"/>
              </a:rPr>
              <a:t> Human y </a:t>
            </a:r>
            <a:r>
              <a:rPr sz="1200" b="0" i="0" dirty="0" err="1">
                <a:solidFill>
                  <a:srgbClr val="756F91"/>
                </a:solidFill>
                <a:latin typeface="Aptos"/>
                <a:ea typeface="Aptos"/>
                <a:cs typeface="Aptos"/>
              </a:rPr>
              <a:t>operaciones</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recientes</a:t>
            </a:r>
            <a:endParaRPr sz="1200" b="0" i="0" dirty="0">
              <a:solidFill>
                <a:srgbClr val="756F91"/>
              </a:solidFill>
              <a:latin typeface="Aptos"/>
              <a:ea typeface="Aptos"/>
              <a:cs typeface="Aptos"/>
            </a:endParaRPr>
          </a:p>
        </p:txBody>
      </p:sp>
      <p:sp>
        <p:nvSpPr>
          <p:cNvPr id="16" name="Rectángulo: esquinas redondeadas 15">
            <a:extLst>
              <a:ext uri="{FF2B5EF4-FFF2-40B4-BE49-F238E27FC236}">
                <a16:creationId xmlns:a16="http://schemas.microsoft.com/office/drawing/2014/main" id="{4305D35D-A8EB-403A-9586-31DC43363D9D}"/>
              </a:ext>
            </a:extLst>
          </p:cNvPr>
          <p:cNvSpPr>
            <a:spLocks noGrp="1"/>
          </p:cNvSpPr>
          <p:nvPr/>
        </p:nvSpPr>
        <p:spPr>
          <a:xfrm>
            <a:off x="8286750" y="2076450"/>
            <a:ext cx="3333750" cy="3000375"/>
          </a:xfrm>
          <a:prstGeom prst="roundRect">
            <a:avLst>
              <a:gd name="adj" fmla="val 3810"/>
            </a:avLst>
          </a:prstGeom>
          <a:solidFill>
            <a:srgbClr val="EEE8FF"/>
          </a:solidFill>
          <a:ln w="9525">
            <a:solidFill>
              <a:srgbClr val="5C2DD2"/>
            </a:solidFill>
            <a:prstDash val="solid"/>
          </a:ln>
        </p:spPr>
        <p:txBody>
          <a:bodyPr/>
          <a:lstStyle/>
          <a:p>
            <a:endParaRPr lang="es-MX"/>
          </a:p>
        </p:txBody>
      </p:sp>
      <p:sp>
        <p:nvSpPr>
          <p:cNvPr id="17" name="Rectángulo 16">
            <a:extLst>
              <a:ext uri="{FF2B5EF4-FFF2-40B4-BE49-F238E27FC236}">
                <a16:creationId xmlns:a16="http://schemas.microsoft.com/office/drawing/2014/main" id="{FB601F91-666F-4DE7-BB10-43D39F3BBBB9}"/>
              </a:ext>
            </a:extLst>
          </p:cNvPr>
          <p:cNvSpPr>
            <a:spLocks noGrp="1"/>
          </p:cNvSpPr>
          <p:nvPr/>
        </p:nvSpPr>
        <p:spPr>
          <a:xfrm>
            <a:off x="8420100" y="2200275"/>
            <a:ext cx="3067050" cy="285750"/>
          </a:xfrm>
          <a:prstGeom prst="rect">
            <a:avLst/>
          </a:prstGeom>
          <a:noFill/>
          <a:ln w="0">
            <a:noFill/>
          </a:ln>
        </p:spPr>
        <p:txBody>
          <a:bodyPr anchor="t">
            <a:normAutofit/>
          </a:bodyPr>
          <a:lstStyle/>
          <a:p>
            <a:pPr>
              <a:defRPr sz="1200" b="1" i="0">
                <a:solidFill>
                  <a:srgbClr val="5C2DD2"/>
                </a:solidFill>
                <a:latin typeface="Aptos"/>
                <a:ea typeface="Aptos"/>
                <a:cs typeface="Aptos"/>
              </a:defRPr>
            </a:pPr>
            <a:r>
              <a:rPr sz="1200" b="1" i="0" dirty="0">
                <a:solidFill>
                  <a:srgbClr val="5C2DD2"/>
                </a:solidFill>
                <a:latin typeface="Aptos"/>
                <a:ea typeface="Aptos"/>
                <a:cs typeface="Aptos"/>
              </a:rPr>
              <a:t>DESPUÉS · CONSOLIDAR</a:t>
            </a:r>
            <a:r>
              <a:rPr lang="es-MX" sz="1200" b="1" i="0" dirty="0">
                <a:solidFill>
                  <a:srgbClr val="5C2DD2"/>
                </a:solidFill>
                <a:latin typeface="Aptos"/>
                <a:ea typeface="Aptos"/>
                <a:cs typeface="Aptos"/>
              </a:rPr>
              <a:t> / FLUSH</a:t>
            </a:r>
            <a:endParaRPr sz="1200" b="1" i="0" dirty="0">
              <a:solidFill>
                <a:srgbClr val="5C2DD2"/>
              </a:solidFill>
              <a:latin typeface="Aptos"/>
              <a:ea typeface="Aptos"/>
              <a:cs typeface="Aptos"/>
            </a:endParaRPr>
          </a:p>
        </p:txBody>
      </p:sp>
      <p:sp>
        <p:nvSpPr>
          <p:cNvPr id="18" name="Rectángulo 17">
            <a:extLst>
              <a:ext uri="{FF2B5EF4-FFF2-40B4-BE49-F238E27FC236}">
                <a16:creationId xmlns:a16="http://schemas.microsoft.com/office/drawing/2014/main" id="{A9438FAF-56D5-4CA0-A75C-4A237594246C}"/>
              </a:ext>
            </a:extLst>
          </p:cNvPr>
          <p:cNvSpPr>
            <a:spLocks noGrp="1"/>
          </p:cNvSpPr>
          <p:nvPr/>
        </p:nvSpPr>
        <p:spPr>
          <a:xfrm>
            <a:off x="8420100" y="2524125"/>
            <a:ext cx="3067050" cy="2466975"/>
          </a:xfrm>
          <a:prstGeom prst="rect">
            <a:avLst/>
          </a:prstGeom>
          <a:noFill/>
          <a:ln w="0">
            <a:noFill/>
          </a:ln>
        </p:spPr>
        <p:txBody>
          <a:bodyPr anchor="t">
            <a:normAutofit/>
          </a:bodyPr>
          <a:lstStyle/>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Triggers: topic shift, </a:t>
            </a:r>
            <a:r>
              <a:rPr sz="1200" b="0" i="0" dirty="0" err="1">
                <a:solidFill>
                  <a:srgbClr val="756F91"/>
                </a:solidFill>
                <a:latin typeface="Aptos"/>
                <a:ea typeface="Aptos"/>
                <a:cs typeface="Aptos"/>
              </a:rPr>
              <a:t>conteo</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inactividad</a:t>
            </a:r>
            <a:r>
              <a:rPr sz="1200" b="0" i="0" dirty="0">
                <a:solidFill>
                  <a:srgbClr val="756F91"/>
                </a:solidFill>
                <a:latin typeface="Aptos"/>
                <a:ea typeface="Aptos"/>
                <a:cs typeface="Aptos"/>
              </a:rPr>
              <a:t> o catch-up</a:t>
            </a: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Haiku </a:t>
            </a:r>
            <a:r>
              <a:rPr sz="1200" b="0" i="0" dirty="0" err="1">
                <a:solidFill>
                  <a:srgbClr val="756F91"/>
                </a:solidFill>
                <a:latin typeface="Aptos"/>
                <a:ea typeface="Aptos"/>
                <a:cs typeface="Aptos"/>
              </a:rPr>
              <a:t>extrae</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candidatos</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episódicos</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semánticos</a:t>
            </a:r>
            <a:r>
              <a:rPr sz="1200" b="0" i="0" dirty="0">
                <a:solidFill>
                  <a:srgbClr val="756F91"/>
                </a:solidFill>
                <a:latin typeface="Aptos"/>
                <a:ea typeface="Aptos"/>
                <a:cs typeface="Aptos"/>
              </a:rPr>
              <a:t> y </a:t>
            </a:r>
            <a:r>
              <a:rPr sz="1200" b="0" i="0" dirty="0" err="1">
                <a:solidFill>
                  <a:srgbClr val="756F91"/>
                </a:solidFill>
                <a:latin typeface="Aptos"/>
                <a:ea typeface="Aptos"/>
                <a:cs typeface="Aptos"/>
              </a:rPr>
              <a:t>procedurales</a:t>
            </a:r>
            <a:r>
              <a:rPr lang="es-MX" sz="1200" b="0" i="0" dirty="0">
                <a:solidFill>
                  <a:srgbClr val="756F91"/>
                </a:solidFill>
                <a:latin typeface="Aptos"/>
                <a:ea typeface="Aptos"/>
                <a:cs typeface="Aptos"/>
              </a:rPr>
              <a:t> (memoria personal, de usuario/cuenta)</a:t>
            </a:r>
            <a:endParaRPr sz="1200" b="0" i="0" dirty="0">
              <a:solidFill>
                <a:srgbClr val="756F91"/>
              </a:solidFill>
              <a:latin typeface="Aptos"/>
              <a:ea typeface="Aptos"/>
              <a:cs typeface="Aptos"/>
            </a:endParaRP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err="1">
                <a:solidFill>
                  <a:srgbClr val="756F91"/>
                </a:solidFill>
                <a:latin typeface="Aptos"/>
                <a:ea typeface="Aptos"/>
                <a:cs typeface="Aptos"/>
              </a:rPr>
              <a:t>Validación</a:t>
            </a:r>
            <a:r>
              <a:rPr sz="1200" b="0" i="0" dirty="0">
                <a:solidFill>
                  <a:srgbClr val="756F91"/>
                </a:solidFill>
                <a:latin typeface="Aptos"/>
                <a:ea typeface="Aptos"/>
                <a:cs typeface="Aptos"/>
              </a:rPr>
              <a:t> + </a:t>
            </a:r>
            <a:r>
              <a:rPr sz="1200" b="0" i="0" dirty="0" err="1">
                <a:solidFill>
                  <a:srgbClr val="756F91"/>
                </a:solidFill>
                <a:latin typeface="Aptos"/>
                <a:ea typeface="Aptos"/>
                <a:cs typeface="Aptos"/>
              </a:rPr>
              <a:t>dedup</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por</a:t>
            </a:r>
            <a:r>
              <a:rPr sz="1200" b="0" i="0" dirty="0">
                <a:solidFill>
                  <a:srgbClr val="756F91"/>
                </a:solidFill>
                <a:latin typeface="Aptos"/>
                <a:ea typeface="Aptos"/>
                <a:cs typeface="Aptos"/>
              </a:rPr>
              <a:t> content hash</a:t>
            </a: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a:solidFill>
                  <a:srgbClr val="756F91"/>
                </a:solidFill>
                <a:latin typeface="Aptos"/>
                <a:ea typeface="Aptos"/>
                <a:cs typeface="Aptos"/>
              </a:rPr>
              <a:t>Gemini genera embedding</a:t>
            </a:r>
          </a:p>
          <a:p>
            <a:pPr marL="171450" indent="-171450">
              <a:buFont typeface="Arial" panose="020B0604020202020204" pitchFamily="34" charset="0"/>
              <a:buChar char="•"/>
            </a:pPr>
            <a:endParaRPr sz="120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200" b="0" i="0" dirty="0" err="1">
                <a:solidFill>
                  <a:srgbClr val="756F91"/>
                </a:solidFill>
                <a:latin typeface="Aptos"/>
                <a:ea typeface="Aptos"/>
                <a:cs typeface="Aptos"/>
              </a:rPr>
              <a:t>Persistencia</a:t>
            </a:r>
            <a:r>
              <a:rPr sz="1200" b="0" i="0" dirty="0">
                <a:solidFill>
                  <a:srgbClr val="756F91"/>
                </a:solidFill>
                <a:latin typeface="Aptos"/>
                <a:ea typeface="Aptos"/>
                <a:cs typeface="Aptos"/>
              </a:rPr>
              <a:t> con watermark</a:t>
            </a:r>
          </a:p>
        </p:txBody>
      </p:sp>
      <p:cxnSp>
        <p:nvCxnSpPr>
          <p:cNvPr id="46" name="Conector recto de flecha 45"/>
          <p:cNvCxnSpPr>
            <a:stCxn id="10" idx="3"/>
            <a:endCxn id="13" idx="1"/>
          </p:cNvCxnSpPr>
          <p:nvPr/>
        </p:nvCxnSpPr>
        <p:spPr>
          <a:xfrm>
            <a:off x="3905250" y="3576638"/>
            <a:ext cx="523875" cy="0"/>
          </a:xfrm>
          <a:prstGeom prst="straightConnector1">
            <a:avLst/>
          </a:prstGeom>
          <a:ln w="19050">
            <a:solidFill>
              <a:srgbClr val="F39A24"/>
            </a:solidFill>
            <a:prstDash val="solid"/>
            <a:tailEnd type="arrow" w="med" len="med"/>
          </a:ln>
        </p:spPr>
      </p:cxnSp>
      <p:cxnSp>
        <p:nvCxnSpPr>
          <p:cNvPr id="47" name="Conector recto de flecha 46"/>
          <p:cNvCxnSpPr>
            <a:stCxn id="13" idx="3"/>
            <a:endCxn id="16" idx="1"/>
          </p:cNvCxnSpPr>
          <p:nvPr/>
        </p:nvCxnSpPr>
        <p:spPr>
          <a:xfrm>
            <a:off x="7762875" y="3576638"/>
            <a:ext cx="523875" cy="0"/>
          </a:xfrm>
          <a:prstGeom prst="straightConnector1">
            <a:avLst/>
          </a:prstGeom>
          <a:ln w="19050">
            <a:solidFill>
              <a:srgbClr val="5C2DD2"/>
            </a:solidFill>
            <a:prstDash val="solid"/>
            <a:tailEnd type="arrow" w="med" len="med"/>
          </a:ln>
        </p:spPr>
      </p:cxnSp>
      <p:sp>
        <p:nvSpPr>
          <p:cNvPr id="21" name="Rectángulo: esquinas redondeadas 20">
            <a:extLst>
              <a:ext uri="{FF2B5EF4-FFF2-40B4-BE49-F238E27FC236}">
                <a16:creationId xmlns:a16="http://schemas.microsoft.com/office/drawing/2014/main" id="{1B6EBBD2-977A-4BC1-8936-6BFCFC5ADF44}"/>
              </a:ext>
            </a:extLst>
          </p:cNvPr>
          <p:cNvSpPr>
            <a:spLocks noGrp="1"/>
          </p:cNvSpPr>
          <p:nvPr/>
        </p:nvSpPr>
        <p:spPr>
          <a:xfrm>
            <a:off x="5095875" y="5210175"/>
            <a:ext cx="2000250" cy="266700"/>
          </a:xfrm>
          <a:prstGeom prst="roundRect">
            <a:avLst>
              <a:gd name="adj" fmla="val 50000"/>
            </a:avLst>
          </a:prstGeom>
          <a:solidFill>
            <a:srgbClr val="F39A24"/>
          </a:solidFill>
          <a:ln w="9525">
            <a:solidFill>
              <a:srgbClr val="F39A24"/>
            </a:solidFill>
            <a:prstDash val="solid"/>
          </a:ln>
        </p:spPr>
        <p:txBody>
          <a:bodyPr/>
          <a:lstStyle/>
          <a:p>
            <a:endParaRPr lang="es-MX"/>
          </a:p>
        </p:txBody>
      </p:sp>
      <p:sp>
        <p:nvSpPr>
          <p:cNvPr id="22" name="Rectángulo 21">
            <a:extLst>
              <a:ext uri="{FF2B5EF4-FFF2-40B4-BE49-F238E27FC236}">
                <a16:creationId xmlns:a16="http://schemas.microsoft.com/office/drawing/2014/main" id="{D3E23AF5-032B-49C3-BD61-3B63215E841C}"/>
              </a:ext>
            </a:extLst>
          </p:cNvPr>
          <p:cNvSpPr>
            <a:spLocks noGrp="1"/>
          </p:cNvSpPr>
          <p:nvPr/>
        </p:nvSpPr>
        <p:spPr>
          <a:xfrm>
            <a:off x="5162550" y="5238750"/>
            <a:ext cx="1866900" cy="209550"/>
          </a:xfrm>
          <a:prstGeom prst="rect">
            <a:avLst/>
          </a:prstGeom>
          <a:noFill/>
          <a:ln w="0">
            <a:noFill/>
          </a:ln>
        </p:spPr>
        <p:txBody>
          <a:bodyPr anchor="t">
            <a:normAutofit fontScale="86111" lnSpcReduction="10000"/>
          </a:bodyPr>
          <a:lstStyle/>
          <a:p>
            <a:pPr algn="ctr">
              <a:defRPr sz="900" b="1" i="0">
                <a:solidFill>
                  <a:srgbClr val="FFFFFF"/>
                </a:solidFill>
                <a:latin typeface="Aptos"/>
                <a:ea typeface="Aptos"/>
                <a:cs typeface="Aptos"/>
              </a:defRPr>
            </a:pPr>
            <a:r>
              <a:rPr sz="900" b="1" i="0" dirty="0">
                <a:solidFill>
                  <a:srgbClr val="FFFFFF"/>
                </a:solidFill>
                <a:latin typeface="Aptos"/>
                <a:ea typeface="Aptos"/>
                <a:cs typeface="Aptos"/>
              </a:rPr>
              <a:t>CONTEXT WINDOW</a:t>
            </a:r>
          </a:p>
        </p:txBody>
      </p:sp>
      <p:sp>
        <p:nvSpPr>
          <p:cNvPr id="23" name="Rectángulo: esquinas redondeadas 22">
            <a:extLst>
              <a:ext uri="{FF2B5EF4-FFF2-40B4-BE49-F238E27FC236}">
                <a16:creationId xmlns:a16="http://schemas.microsoft.com/office/drawing/2014/main" id="{504320EE-A295-4F66-8C1B-A0F075F409C0}"/>
              </a:ext>
            </a:extLst>
          </p:cNvPr>
          <p:cNvSpPr>
            <a:spLocks noGrp="1"/>
          </p:cNvSpPr>
          <p:nvPr/>
        </p:nvSpPr>
        <p:spPr>
          <a:xfrm>
            <a:off x="8953500" y="5210175"/>
            <a:ext cx="2000250" cy="266700"/>
          </a:xfrm>
          <a:prstGeom prst="roundRect">
            <a:avLst>
              <a:gd name="adj" fmla="val 50000"/>
            </a:avLst>
          </a:prstGeom>
          <a:solidFill>
            <a:srgbClr val="5C2DD2"/>
          </a:solidFill>
          <a:ln w="9525">
            <a:solidFill>
              <a:srgbClr val="5C2DD2"/>
            </a:solidFill>
            <a:prstDash val="solid"/>
          </a:ln>
        </p:spPr>
        <p:txBody>
          <a:bodyPr/>
          <a:lstStyle/>
          <a:p>
            <a:endParaRPr lang="es-MX"/>
          </a:p>
        </p:txBody>
      </p:sp>
      <p:sp>
        <p:nvSpPr>
          <p:cNvPr id="24" name="Rectángulo 23">
            <a:extLst>
              <a:ext uri="{FF2B5EF4-FFF2-40B4-BE49-F238E27FC236}">
                <a16:creationId xmlns:a16="http://schemas.microsoft.com/office/drawing/2014/main" id="{E36F1790-CFCA-4774-B731-9D2245597C72}"/>
              </a:ext>
            </a:extLst>
          </p:cNvPr>
          <p:cNvSpPr>
            <a:spLocks noGrp="1"/>
          </p:cNvSpPr>
          <p:nvPr/>
        </p:nvSpPr>
        <p:spPr>
          <a:xfrm>
            <a:off x="9020175" y="5238750"/>
            <a:ext cx="1866900" cy="209550"/>
          </a:xfrm>
          <a:prstGeom prst="rect">
            <a:avLst/>
          </a:prstGeom>
          <a:noFill/>
          <a:ln w="0">
            <a:noFill/>
          </a:ln>
        </p:spPr>
        <p:txBody>
          <a:bodyPr anchor="t">
            <a:normAutofit fontScale="86111" lnSpcReduction="10000"/>
          </a:bodyPr>
          <a:lstStyle/>
          <a:p>
            <a:pPr algn="ctr">
              <a:defRPr sz="900" b="1" i="0">
                <a:solidFill>
                  <a:srgbClr val="FFFFFF"/>
                </a:solidFill>
                <a:latin typeface="Aptos"/>
                <a:ea typeface="Aptos"/>
                <a:cs typeface="Aptos"/>
              </a:defRPr>
            </a:pPr>
            <a:r>
              <a:rPr sz="900" b="1" i="0" dirty="0">
                <a:solidFill>
                  <a:srgbClr val="FFFFFF"/>
                </a:solidFill>
                <a:latin typeface="Aptos"/>
                <a:ea typeface="Aptos"/>
                <a:cs typeface="Aptos"/>
              </a:rPr>
              <a:t>PERSONAL MEMORY</a:t>
            </a:r>
          </a:p>
        </p:txBody>
      </p:sp>
      <p:sp>
        <p:nvSpPr>
          <p:cNvPr id="25" name="Rectángulo: esquinas redondeadas 24">
            <a:extLst>
              <a:ext uri="{FF2B5EF4-FFF2-40B4-BE49-F238E27FC236}">
                <a16:creationId xmlns:a16="http://schemas.microsoft.com/office/drawing/2014/main" id="{80C45544-AD2F-4589-9EF1-0BBB0FDE0555}"/>
              </a:ext>
            </a:extLst>
          </p:cNvPr>
          <p:cNvSpPr>
            <a:spLocks noGrp="1"/>
          </p:cNvSpPr>
          <p:nvPr/>
        </p:nvSpPr>
        <p:spPr>
          <a:xfrm>
            <a:off x="571500" y="5678661"/>
            <a:ext cx="11049000" cy="523875"/>
          </a:xfrm>
          <a:prstGeom prst="roundRect">
            <a:avLst>
              <a:gd name="adj" fmla="val 18182"/>
            </a:avLst>
          </a:prstGeom>
          <a:solidFill>
            <a:srgbClr val="211D31"/>
          </a:solidFill>
          <a:ln w="9525">
            <a:solidFill>
              <a:srgbClr val="211D31"/>
            </a:solidFill>
            <a:prstDash val="solid"/>
          </a:ln>
        </p:spPr>
        <p:txBody>
          <a:bodyPr/>
          <a:lstStyle/>
          <a:p>
            <a:endParaRPr lang="es-MX"/>
          </a:p>
        </p:txBody>
      </p:sp>
      <p:sp>
        <p:nvSpPr>
          <p:cNvPr id="26" name="Rectángulo 25">
            <a:extLst>
              <a:ext uri="{FF2B5EF4-FFF2-40B4-BE49-F238E27FC236}">
                <a16:creationId xmlns:a16="http://schemas.microsoft.com/office/drawing/2014/main" id="{47420E94-5C75-4CFA-A577-F80A78B32D67}"/>
              </a:ext>
            </a:extLst>
          </p:cNvPr>
          <p:cNvSpPr>
            <a:spLocks noGrp="1"/>
          </p:cNvSpPr>
          <p:nvPr/>
        </p:nvSpPr>
        <p:spPr>
          <a:xfrm>
            <a:off x="781050" y="5812011"/>
            <a:ext cx="3571875" cy="228600"/>
          </a:xfrm>
          <a:prstGeom prst="rect">
            <a:avLst/>
          </a:prstGeom>
          <a:noFill/>
          <a:ln w="0">
            <a:noFill/>
          </a:ln>
        </p:spPr>
        <p:txBody>
          <a:bodyPr anchor="t">
            <a:noAutofit/>
          </a:bodyPr>
          <a:lstStyle/>
          <a:p>
            <a:pPr>
              <a:defRPr sz="1125" b="1" i="0">
                <a:solidFill>
                  <a:srgbClr val="F39A24"/>
                </a:solidFill>
                <a:latin typeface="Aptos"/>
                <a:ea typeface="Aptos"/>
                <a:cs typeface="Aptos"/>
              </a:defRPr>
            </a:pPr>
            <a:r>
              <a:rPr sz="1200" b="1" i="0" dirty="0">
                <a:solidFill>
                  <a:srgbClr val="F39A24"/>
                </a:solidFill>
                <a:latin typeface="Aptos"/>
                <a:ea typeface="Aptos"/>
                <a:cs typeface="Aptos"/>
              </a:rPr>
              <a:t>Topic shift </a:t>
            </a:r>
            <a:r>
              <a:rPr sz="1200" b="1" i="0" dirty="0" err="1">
                <a:solidFill>
                  <a:srgbClr val="F39A24"/>
                </a:solidFill>
                <a:latin typeface="Aptos"/>
                <a:ea typeface="Aptos"/>
                <a:cs typeface="Aptos"/>
              </a:rPr>
              <a:t>sólo</a:t>
            </a:r>
            <a:r>
              <a:rPr sz="1200" b="1" i="0" dirty="0">
                <a:solidFill>
                  <a:srgbClr val="F39A24"/>
                </a:solidFill>
                <a:latin typeface="Aptos"/>
                <a:ea typeface="Aptos"/>
                <a:cs typeface="Aptos"/>
              </a:rPr>
              <a:t> </a:t>
            </a:r>
            <a:r>
              <a:rPr sz="1200" b="1" i="0" dirty="0" err="1">
                <a:solidFill>
                  <a:srgbClr val="F39A24"/>
                </a:solidFill>
                <a:latin typeface="Aptos"/>
                <a:ea typeface="Aptos"/>
                <a:cs typeface="Aptos"/>
              </a:rPr>
              <a:t>dispara</a:t>
            </a:r>
            <a:r>
              <a:rPr sz="1200" b="1" i="0" dirty="0">
                <a:solidFill>
                  <a:srgbClr val="F39A24"/>
                </a:solidFill>
                <a:latin typeface="Aptos"/>
                <a:ea typeface="Aptos"/>
                <a:cs typeface="Aptos"/>
              </a:rPr>
              <a:t> un </a:t>
            </a:r>
            <a:r>
              <a:rPr sz="1200" b="1" i="0" dirty="0" err="1">
                <a:solidFill>
                  <a:srgbClr val="F39A24"/>
                </a:solidFill>
                <a:latin typeface="Aptos"/>
                <a:ea typeface="Aptos"/>
                <a:cs typeface="Aptos"/>
              </a:rPr>
              <a:t>posible</a:t>
            </a:r>
            <a:r>
              <a:rPr sz="1200" b="1" i="0" dirty="0">
                <a:solidFill>
                  <a:srgbClr val="F39A24"/>
                </a:solidFill>
                <a:latin typeface="Aptos"/>
                <a:ea typeface="Aptos"/>
                <a:cs typeface="Aptos"/>
              </a:rPr>
              <a:t> flush</a:t>
            </a:r>
          </a:p>
        </p:txBody>
      </p:sp>
      <p:sp>
        <p:nvSpPr>
          <p:cNvPr id="27" name="Rectángulo 26">
            <a:extLst>
              <a:ext uri="{FF2B5EF4-FFF2-40B4-BE49-F238E27FC236}">
                <a16:creationId xmlns:a16="http://schemas.microsoft.com/office/drawing/2014/main" id="{CDF5FB00-D7E8-4881-B36E-C9ED58E485DA}"/>
              </a:ext>
            </a:extLst>
          </p:cNvPr>
          <p:cNvSpPr>
            <a:spLocks noGrp="1"/>
          </p:cNvSpPr>
          <p:nvPr/>
        </p:nvSpPr>
        <p:spPr>
          <a:xfrm>
            <a:off x="4381500" y="5792961"/>
            <a:ext cx="7000875" cy="266700"/>
          </a:xfrm>
          <a:prstGeom prst="rect">
            <a:avLst/>
          </a:prstGeom>
          <a:noFill/>
          <a:ln w="0">
            <a:noFill/>
          </a:ln>
        </p:spPr>
        <p:txBody>
          <a:bodyPr anchor="t">
            <a:noAutofit/>
          </a:bodyPr>
          <a:lstStyle/>
          <a:p>
            <a:pPr>
              <a:defRPr sz="1200" b="1" i="0">
                <a:solidFill>
                  <a:srgbClr val="FFFFFF"/>
                </a:solidFill>
                <a:latin typeface="Aptos"/>
                <a:ea typeface="Aptos"/>
                <a:cs typeface="Aptos"/>
              </a:defRPr>
            </a:pPr>
            <a:r>
              <a:rPr sz="1200" b="1" i="0" dirty="0">
                <a:solidFill>
                  <a:srgbClr val="FFFFFF"/>
                </a:solidFill>
                <a:latin typeface="Aptos"/>
                <a:ea typeface="Aptos"/>
                <a:cs typeface="Aptos"/>
              </a:rPr>
              <a:t>No cambia de Skill, no </a:t>
            </a:r>
            <a:r>
              <a:rPr sz="1200" b="1" i="0" dirty="0" err="1">
                <a:solidFill>
                  <a:srgbClr val="FFFFFF"/>
                </a:solidFill>
                <a:latin typeface="Aptos"/>
                <a:ea typeface="Aptos"/>
                <a:cs typeface="Aptos"/>
              </a:rPr>
              <a:t>crea</a:t>
            </a:r>
            <a:r>
              <a:rPr sz="1200" b="1" i="0" dirty="0">
                <a:solidFill>
                  <a:srgbClr val="FFFFFF"/>
                </a:solidFill>
                <a:latin typeface="Aptos"/>
                <a:ea typeface="Aptos"/>
                <a:cs typeface="Aptos"/>
              </a:rPr>
              <a:t> un Case y no </a:t>
            </a:r>
            <a:r>
              <a:rPr sz="1200" b="1" i="0" dirty="0" err="1">
                <a:solidFill>
                  <a:srgbClr val="FFFFFF"/>
                </a:solidFill>
                <a:latin typeface="Aptos"/>
                <a:ea typeface="Aptos"/>
                <a:cs typeface="Aptos"/>
              </a:rPr>
              <a:t>establece</a:t>
            </a:r>
            <a:r>
              <a:rPr sz="1200" b="1" i="0" dirty="0">
                <a:solidFill>
                  <a:srgbClr val="FFFFFF"/>
                </a:solidFill>
                <a:latin typeface="Aptos"/>
                <a:ea typeface="Aptos"/>
                <a:cs typeface="Aptos"/>
              </a:rPr>
              <a:t> </a:t>
            </a:r>
            <a:r>
              <a:rPr sz="1200" b="1" i="0" dirty="0" err="1">
                <a:solidFill>
                  <a:srgbClr val="FFFFFF"/>
                </a:solidFill>
                <a:latin typeface="Aptos"/>
                <a:ea typeface="Aptos"/>
                <a:cs typeface="Aptos"/>
              </a:rPr>
              <a:t>verdad</a:t>
            </a:r>
            <a:r>
              <a:rPr sz="1200" b="1" i="0" dirty="0">
                <a:solidFill>
                  <a:srgbClr val="FFFFFF"/>
                </a:solidFill>
                <a:latin typeface="Aptos"/>
                <a:ea typeface="Aptos"/>
                <a:cs typeface="Aptos"/>
              </a:rPr>
              <a:t> de </a:t>
            </a:r>
            <a:r>
              <a:rPr sz="1200" b="1" i="0" dirty="0" err="1">
                <a:solidFill>
                  <a:srgbClr val="FFFFFF"/>
                </a:solidFill>
                <a:latin typeface="Aptos"/>
                <a:ea typeface="Aptos"/>
                <a:cs typeface="Aptos"/>
              </a:rPr>
              <a:t>negocio</a:t>
            </a:r>
            <a:r>
              <a:rPr sz="1200" b="1" i="0" dirty="0">
                <a:solidFill>
                  <a:srgbClr val="FFFFFF"/>
                </a:solidFill>
                <a:latin typeface="Aptos"/>
                <a:ea typeface="Aptos"/>
                <a:cs typeface="Aptos"/>
              </a:rPr>
              <a:t>.</a:t>
            </a:r>
          </a:p>
        </p:txBody>
      </p:sp>
      <p:sp>
        <p:nvSpPr>
          <p:cNvPr id="19" name="Rectángulo 18">
            <a:extLst>
              <a:ext uri="{FF2B5EF4-FFF2-40B4-BE49-F238E27FC236}">
                <a16:creationId xmlns:a16="http://schemas.microsoft.com/office/drawing/2014/main" id="{C91F1A88-4FB3-2EFE-5054-55FD02EBC173}"/>
              </a:ext>
            </a:extLst>
          </p:cNvPr>
          <p:cNvSpPr>
            <a:spLocks noGrp="1"/>
          </p:cNvSpPr>
          <p:nvPr/>
        </p:nvSpPr>
        <p:spPr>
          <a:xfrm>
            <a:off x="6622744" y="6283730"/>
            <a:ext cx="5099168" cy="287970"/>
          </a:xfrm>
          <a:prstGeom prst="rect">
            <a:avLst/>
          </a:prstGeom>
          <a:noFill/>
          <a:ln w="0">
            <a:noFill/>
          </a:ln>
        </p:spPr>
        <p:txBody>
          <a:bodyPr anchor="t">
            <a:normAutofit fontScale="87222"/>
          </a:bodyPr>
          <a:lstStyle/>
          <a:p>
            <a:pPr>
              <a:defRPr sz="900" b="0" i="0">
                <a:solidFill>
                  <a:srgbClr val="C44545"/>
                </a:solidFill>
                <a:latin typeface="Aptos"/>
                <a:ea typeface="Aptos"/>
                <a:cs typeface="Aptos"/>
              </a:defRPr>
            </a:pPr>
            <a:r>
              <a:rPr sz="900" b="0" i="0" dirty="0">
                <a:solidFill>
                  <a:srgbClr val="C44545"/>
                </a:solidFill>
                <a:latin typeface="Aptos"/>
                <a:ea typeface="Aptos"/>
                <a:cs typeface="Aptos"/>
              </a:rPr>
              <a:t>Caveat best-effort: un </a:t>
            </a:r>
            <a:r>
              <a:rPr sz="900" b="0" i="0" dirty="0" err="1">
                <a:solidFill>
                  <a:srgbClr val="C44545"/>
                </a:solidFill>
                <a:latin typeface="Aptos"/>
                <a:ea typeface="Aptos"/>
                <a:cs typeface="Aptos"/>
              </a:rPr>
              <a:t>fallo</a:t>
            </a:r>
            <a:r>
              <a:rPr sz="900" b="0" i="0" dirty="0">
                <a:solidFill>
                  <a:srgbClr val="C44545"/>
                </a:solidFill>
                <a:latin typeface="Aptos"/>
                <a:ea typeface="Aptos"/>
                <a:cs typeface="Aptos"/>
              </a:rPr>
              <a:t> </a:t>
            </a:r>
            <a:r>
              <a:rPr sz="900" b="0" i="0" dirty="0" err="1">
                <a:solidFill>
                  <a:srgbClr val="C44545"/>
                </a:solidFill>
                <a:latin typeface="Aptos"/>
                <a:ea typeface="Aptos"/>
                <a:cs typeface="Aptos"/>
              </a:rPr>
              <a:t>parcial</a:t>
            </a:r>
            <a:r>
              <a:rPr sz="900" b="0" i="0" dirty="0">
                <a:solidFill>
                  <a:srgbClr val="C44545"/>
                </a:solidFill>
                <a:latin typeface="Aptos"/>
                <a:ea typeface="Aptos"/>
                <a:cs typeface="Aptos"/>
              </a:rPr>
              <a:t> </a:t>
            </a:r>
            <a:r>
              <a:rPr sz="900" b="0" i="0" dirty="0" err="1">
                <a:solidFill>
                  <a:srgbClr val="C44545"/>
                </a:solidFill>
                <a:latin typeface="Aptos"/>
                <a:ea typeface="Aptos"/>
                <a:cs typeface="Aptos"/>
              </a:rPr>
              <a:t>puede</a:t>
            </a:r>
            <a:r>
              <a:rPr sz="900" b="0" i="0" dirty="0">
                <a:solidFill>
                  <a:srgbClr val="C44545"/>
                </a:solidFill>
                <a:latin typeface="Aptos"/>
                <a:ea typeface="Aptos"/>
                <a:cs typeface="Aptos"/>
              </a:rPr>
              <a:t> </a:t>
            </a:r>
            <a:r>
              <a:rPr sz="900" b="0" i="0" dirty="0" err="1">
                <a:solidFill>
                  <a:srgbClr val="C44545"/>
                </a:solidFill>
                <a:latin typeface="Aptos"/>
                <a:ea typeface="Aptos"/>
                <a:cs typeface="Aptos"/>
              </a:rPr>
              <a:t>avanzar</a:t>
            </a:r>
            <a:r>
              <a:rPr sz="900" b="0" i="0" dirty="0">
                <a:solidFill>
                  <a:srgbClr val="C44545"/>
                </a:solidFill>
                <a:latin typeface="Aptos"/>
                <a:ea typeface="Aptos"/>
                <a:cs typeface="Aptos"/>
              </a:rPr>
              <a:t> el watermark; el </a:t>
            </a:r>
            <a:r>
              <a:rPr sz="900" b="0" i="0" dirty="0" err="1">
                <a:solidFill>
                  <a:srgbClr val="C44545"/>
                </a:solidFill>
                <a:latin typeface="Aptos"/>
                <a:ea typeface="Aptos"/>
                <a:cs typeface="Aptos"/>
              </a:rPr>
              <a:t>candidato</a:t>
            </a:r>
            <a:r>
              <a:rPr sz="900" b="0" i="0" dirty="0">
                <a:solidFill>
                  <a:srgbClr val="C44545"/>
                </a:solidFill>
                <a:latin typeface="Aptos"/>
                <a:ea typeface="Aptos"/>
                <a:cs typeface="Aptos"/>
              </a:rPr>
              <a:t> </a:t>
            </a:r>
            <a:r>
              <a:rPr sz="900" b="0" i="0" dirty="0" err="1">
                <a:solidFill>
                  <a:srgbClr val="C44545"/>
                </a:solidFill>
                <a:latin typeface="Aptos"/>
                <a:ea typeface="Aptos"/>
                <a:cs typeface="Aptos"/>
              </a:rPr>
              <a:t>fallido</a:t>
            </a:r>
            <a:r>
              <a:rPr sz="900" b="0" i="0" dirty="0">
                <a:solidFill>
                  <a:srgbClr val="C44545"/>
                </a:solidFill>
                <a:latin typeface="Aptos"/>
                <a:ea typeface="Aptos"/>
                <a:cs typeface="Aptos"/>
              </a:rPr>
              <a:t> no </a:t>
            </a:r>
            <a:r>
              <a:rPr sz="900" b="0" i="0" dirty="0" err="1">
                <a:solidFill>
                  <a:srgbClr val="C44545"/>
                </a:solidFill>
                <a:latin typeface="Aptos"/>
                <a:ea typeface="Aptos"/>
                <a:cs typeface="Aptos"/>
              </a:rPr>
              <a:t>tiene</a:t>
            </a:r>
            <a:r>
              <a:rPr sz="900" b="0" i="0" dirty="0">
                <a:solidFill>
                  <a:srgbClr val="C44545"/>
                </a:solidFill>
                <a:latin typeface="Aptos"/>
                <a:ea typeface="Aptos"/>
                <a:cs typeface="Aptos"/>
              </a:rPr>
              <a:t> replay </a:t>
            </a:r>
            <a:r>
              <a:rPr sz="900" b="0" i="0" dirty="0" err="1">
                <a:solidFill>
                  <a:srgbClr val="C44545"/>
                </a:solidFill>
                <a:latin typeface="Aptos"/>
                <a:ea typeface="Aptos"/>
                <a:cs typeface="Aptos"/>
              </a:rPr>
              <a:t>garantizado</a:t>
            </a:r>
            <a:r>
              <a:rPr sz="900" b="0" i="0" dirty="0">
                <a:solidFill>
                  <a:srgbClr val="C44545"/>
                </a:solidFill>
                <a:latin typeface="Aptos"/>
                <a:ea typeface="Aptos"/>
                <a:cs typeface="Aptos"/>
              </a:rPr>
              <a:t>.</a:t>
            </a:r>
          </a:p>
        </p:txBody>
      </p:sp>
    </p:spTree>
    <p:extLst>
      <p:ext uri="{BB962C8B-B14F-4D97-AF65-F5344CB8AC3E}">
        <p14:creationId xmlns:p14="http://schemas.microsoft.com/office/powerpoint/2010/main" val="203276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ángulo 36">
            <a:extLst>
              <a:ext uri="{FF2B5EF4-FFF2-40B4-BE49-F238E27FC236}">
                <a16:creationId xmlns:a16="http://schemas.microsoft.com/office/drawing/2014/main" id="{45003A31-C1B7-4C5F-9D0D-0F8A41BE2C52}"/>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E6069D05-7E8C-4FCD-BE90-5680AC4D7E64}"/>
              </a:ext>
            </a:extLst>
          </p:cNvPr>
          <p:cNvSpPr>
            <a:spLocks noGrp="1"/>
          </p:cNvSpPr>
          <p:nvPr/>
        </p:nvSpPr>
        <p:spPr>
          <a:xfrm>
            <a:off x="571500" y="400050"/>
            <a:ext cx="885825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lang="es-MX" sz="1050" b="1" i="0" dirty="0">
                <a:solidFill>
                  <a:srgbClr val="5C2DD2"/>
                </a:solidFill>
                <a:latin typeface="Aptos"/>
                <a:ea typeface="Aptos"/>
                <a:cs typeface="Aptos"/>
              </a:rPr>
              <a:t>TARGET</a:t>
            </a:r>
            <a:r>
              <a:rPr sz="1050" b="1" i="0" dirty="0">
                <a:solidFill>
                  <a:srgbClr val="5C2DD2"/>
                </a:solidFill>
                <a:latin typeface="Aptos"/>
                <a:ea typeface="Aptos"/>
                <a:cs typeface="Aptos"/>
              </a:rPr>
              <a:t> · R5 SUJETO A EVIDENCIA</a:t>
            </a:r>
          </a:p>
        </p:txBody>
      </p:sp>
      <p:sp>
        <p:nvSpPr>
          <p:cNvPr id="3" name="Rectángulo 2">
            <a:extLst>
              <a:ext uri="{FF2B5EF4-FFF2-40B4-BE49-F238E27FC236}">
                <a16:creationId xmlns:a16="http://schemas.microsoft.com/office/drawing/2014/main" id="{10C16B17-E2C3-460C-8422-5F2CE38D58CE}"/>
              </a:ext>
            </a:extLst>
          </p:cNvPr>
          <p:cNvSpPr>
            <a:spLocks noGrp="1"/>
          </p:cNvSpPr>
          <p:nvPr/>
        </p:nvSpPr>
        <p:spPr>
          <a:xfrm>
            <a:off x="571500" y="742950"/>
            <a:ext cx="10287000" cy="704850"/>
          </a:xfrm>
          <a:prstGeom prst="rect">
            <a:avLst/>
          </a:prstGeom>
          <a:noFill/>
          <a:ln w="0">
            <a:noFill/>
          </a:ln>
        </p:spPr>
        <p:txBody>
          <a:bodyPr anchor="t">
            <a:normAutofit/>
          </a:bodyPr>
          <a:lstStyle/>
          <a:p>
            <a:pPr>
              <a:defRPr sz="2400" b="1" i="0">
                <a:solidFill>
                  <a:srgbClr val="1F1B30"/>
                </a:solidFill>
                <a:latin typeface="Aptos"/>
                <a:ea typeface="Aptos"/>
                <a:cs typeface="Aptos"/>
              </a:defRPr>
            </a:pPr>
            <a:r>
              <a:rPr sz="2400" b="1" i="0">
                <a:solidFill>
                  <a:srgbClr val="1F1B30"/>
                </a:solidFill>
                <a:latin typeface="Aptos"/>
                <a:ea typeface="Aptos"/>
                <a:cs typeface="Aptos"/>
              </a:rPr>
              <a:t>Business Brain como capa objetivo de contexto</a:t>
            </a:r>
          </a:p>
        </p:txBody>
      </p:sp>
      <p:sp>
        <p:nvSpPr>
          <p:cNvPr id="4" name="Rectángulo 3">
            <a:extLst>
              <a:ext uri="{FF2B5EF4-FFF2-40B4-BE49-F238E27FC236}">
                <a16:creationId xmlns:a16="http://schemas.microsoft.com/office/drawing/2014/main" id="{396B66A7-5FD1-4396-9816-8F3E7E803B77}"/>
              </a:ext>
            </a:extLst>
          </p:cNvPr>
          <p:cNvSpPr>
            <a:spLocks noGrp="1"/>
          </p:cNvSpPr>
          <p:nvPr/>
        </p:nvSpPr>
        <p:spPr>
          <a:xfrm>
            <a:off x="571500" y="1428750"/>
            <a:ext cx="10572750" cy="476250"/>
          </a:xfrm>
          <a:prstGeom prst="rect">
            <a:avLst/>
          </a:prstGeom>
          <a:noFill/>
          <a:ln w="0">
            <a:noFill/>
          </a:ln>
        </p:spPr>
        <p:txBody>
          <a:bodyPr anchor="t">
            <a:normAutofit/>
          </a:bodyPr>
          <a:lstStyle/>
          <a:p>
            <a:pPr>
              <a:defRPr sz="1350" b="0" i="0">
                <a:solidFill>
                  <a:srgbClr val="756F91"/>
                </a:solidFill>
                <a:latin typeface="Aptos"/>
                <a:ea typeface="Aptos"/>
                <a:cs typeface="Aptos"/>
              </a:defRPr>
            </a:pPr>
            <a:r>
              <a:rPr sz="1350" b="0" i="0">
                <a:solidFill>
                  <a:srgbClr val="756F91"/>
                </a:solidFill>
                <a:latin typeface="Aptos"/>
                <a:ea typeface="Aptos"/>
                <a:cs typeface="Aptos"/>
              </a:rPr>
              <a:t>El objetivo compila evidencia cross-Case autorizada en conocimiento empresarial reutilizable sin sustituir verdad operativa.</a:t>
            </a:r>
          </a:p>
        </p:txBody>
      </p:sp>
      <p:pic>
        <p:nvPicPr>
          <p:cNvPr id="41" name="Imagen 40"/>
          <p:cNvPicPr>
            <a:picLocks noChangeAspect="1"/>
          </p:cNvPicPr>
          <p:nvPr/>
        </p:nvPicPr>
        <p:blipFill>
          <a:blip r:embed="rId3"/>
          <a:stretch/>
        </p:blipFill>
        <p:spPr>
          <a:xfrm>
            <a:off x="11068826" y="361950"/>
            <a:ext cx="617574" cy="514350"/>
          </a:xfrm>
          <a:prstGeom prst="rect">
            <a:avLst/>
          </a:prstGeom>
        </p:spPr>
      </p:pic>
      <p:sp>
        <p:nvSpPr>
          <p:cNvPr id="6" name="Rectángulo: esquinas redondeadas 5">
            <a:extLst>
              <a:ext uri="{FF2B5EF4-FFF2-40B4-BE49-F238E27FC236}">
                <a16:creationId xmlns:a16="http://schemas.microsoft.com/office/drawing/2014/main" id="{502DE6DD-E009-4D25-8637-BAAB3A561D69}"/>
              </a:ext>
            </a:extLst>
          </p:cNvPr>
          <p:cNvSpPr>
            <a:spLocks noGrp="1"/>
          </p:cNvSpPr>
          <p:nvPr/>
        </p:nvSpPr>
        <p:spPr>
          <a:xfrm>
            <a:off x="2600325" y="371475"/>
            <a:ext cx="1619250" cy="266700"/>
          </a:xfrm>
          <a:prstGeom prst="roundRect">
            <a:avLst>
              <a:gd name="adj" fmla="val 50000"/>
            </a:avLst>
          </a:prstGeom>
          <a:solidFill>
            <a:srgbClr val="F39A24"/>
          </a:solidFill>
          <a:ln w="9525">
            <a:solidFill>
              <a:srgbClr val="F39A24"/>
            </a:solidFill>
            <a:prstDash val="solid"/>
          </a:ln>
        </p:spPr>
        <p:txBody>
          <a:bodyPr/>
          <a:lstStyle/>
          <a:p>
            <a:endParaRPr lang="es-MX"/>
          </a:p>
        </p:txBody>
      </p:sp>
      <p:sp>
        <p:nvSpPr>
          <p:cNvPr id="7" name="Rectángulo 6">
            <a:extLst>
              <a:ext uri="{FF2B5EF4-FFF2-40B4-BE49-F238E27FC236}">
                <a16:creationId xmlns:a16="http://schemas.microsoft.com/office/drawing/2014/main" id="{459A77C4-9B56-4D4A-8DCC-47D0E9AB82FA}"/>
              </a:ext>
            </a:extLst>
          </p:cNvPr>
          <p:cNvSpPr>
            <a:spLocks noGrp="1"/>
          </p:cNvSpPr>
          <p:nvPr/>
        </p:nvSpPr>
        <p:spPr>
          <a:xfrm>
            <a:off x="2676525" y="417806"/>
            <a:ext cx="1466850" cy="190500"/>
          </a:xfrm>
          <a:prstGeom prst="rect">
            <a:avLst/>
          </a:prstGeom>
          <a:noFill/>
          <a:ln w="0">
            <a:noFill/>
          </a:ln>
        </p:spPr>
        <p:txBody>
          <a:bodyPr anchor="t">
            <a:normAutofit fontScale="79722" lnSpcReduction="10000"/>
          </a:bodyPr>
          <a:lstStyle/>
          <a:p>
            <a:pPr>
              <a:defRPr sz="900" b="1" i="0">
                <a:solidFill>
                  <a:srgbClr val="FFFFFF"/>
                </a:solidFill>
                <a:latin typeface="Aptos"/>
                <a:ea typeface="Aptos"/>
                <a:cs typeface="Aptos"/>
              </a:defRPr>
            </a:pPr>
            <a:r>
              <a:rPr lang="es-MX" sz="900" b="1" i="0" dirty="0">
                <a:solidFill>
                  <a:srgbClr val="FFFFFF"/>
                </a:solidFill>
                <a:latin typeface="Aptos"/>
                <a:ea typeface="Aptos"/>
                <a:cs typeface="Aptos"/>
              </a:rPr>
              <a:t>TARGET</a:t>
            </a:r>
            <a:endParaRPr sz="900" b="1" i="0" dirty="0">
              <a:solidFill>
                <a:srgbClr val="FFFFFF"/>
              </a:solidFill>
              <a:latin typeface="Aptos"/>
              <a:ea typeface="Aptos"/>
              <a:cs typeface="Aptos"/>
            </a:endParaRPr>
          </a:p>
        </p:txBody>
      </p:sp>
      <p:sp>
        <p:nvSpPr>
          <p:cNvPr id="8" name="Rectángulo 7">
            <a:extLst>
              <a:ext uri="{FF2B5EF4-FFF2-40B4-BE49-F238E27FC236}">
                <a16:creationId xmlns:a16="http://schemas.microsoft.com/office/drawing/2014/main" id="{0FD4AD85-46C4-44D6-AE1B-9B2B1F34B169}"/>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D3ECF9ED-C6F8-43B9-AEB3-31DD3A603C2D}"/>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9">
            <a:extLst>
              <a:ext uri="{FF2B5EF4-FFF2-40B4-BE49-F238E27FC236}">
                <a16:creationId xmlns:a16="http://schemas.microsoft.com/office/drawing/2014/main" id="{7338D5BA-ACED-4722-B169-5D628F76D4F4}"/>
              </a:ext>
            </a:extLst>
          </p:cNvPr>
          <p:cNvSpPr>
            <a:spLocks noGrp="1"/>
          </p:cNvSpPr>
          <p:nvPr/>
        </p:nvSpPr>
        <p:spPr>
          <a:xfrm>
            <a:off x="590550" y="2038350"/>
            <a:ext cx="2476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DUEÑOS ACTUALES DE EVIDENCIA</a:t>
            </a:r>
          </a:p>
        </p:txBody>
      </p:sp>
      <p:sp>
        <p:nvSpPr>
          <p:cNvPr id="11" name="Rectángulo: esquinas redondeadas 10">
            <a:extLst>
              <a:ext uri="{FF2B5EF4-FFF2-40B4-BE49-F238E27FC236}">
                <a16:creationId xmlns:a16="http://schemas.microsoft.com/office/drawing/2014/main" id="{78DDFE46-8FC3-4C23-BCF1-B426D42D1D3D}"/>
              </a:ext>
            </a:extLst>
          </p:cNvPr>
          <p:cNvSpPr>
            <a:spLocks noGrp="1"/>
          </p:cNvSpPr>
          <p:nvPr/>
        </p:nvSpPr>
        <p:spPr>
          <a:xfrm>
            <a:off x="590550" y="2362200"/>
            <a:ext cx="2238375" cy="552450"/>
          </a:xfrm>
          <a:prstGeom prst="roundRect">
            <a:avLst>
              <a:gd name="adj" fmla="val 20690"/>
            </a:avLst>
          </a:prstGeom>
          <a:solidFill>
            <a:srgbClr val="FFFFFF"/>
          </a:solidFill>
          <a:ln w="9525">
            <a:solidFill>
              <a:srgbClr val="009566"/>
            </a:solidFill>
            <a:prstDash val="solid"/>
          </a:ln>
        </p:spPr>
        <p:txBody>
          <a:bodyPr/>
          <a:lstStyle/>
          <a:p>
            <a:endParaRPr lang="es-MX"/>
          </a:p>
        </p:txBody>
      </p:sp>
      <p:sp>
        <p:nvSpPr>
          <p:cNvPr id="12" name="Rectángulo 11">
            <a:extLst>
              <a:ext uri="{FF2B5EF4-FFF2-40B4-BE49-F238E27FC236}">
                <a16:creationId xmlns:a16="http://schemas.microsoft.com/office/drawing/2014/main" id="{79C97ABA-D878-4837-A606-97B2AA24E670}"/>
              </a:ext>
            </a:extLst>
          </p:cNvPr>
          <p:cNvSpPr>
            <a:spLocks noGrp="1"/>
          </p:cNvSpPr>
          <p:nvPr/>
        </p:nvSpPr>
        <p:spPr>
          <a:xfrm>
            <a:off x="742950" y="2486025"/>
            <a:ext cx="1933575" cy="285750"/>
          </a:xfrm>
          <a:prstGeom prst="rect">
            <a:avLst/>
          </a:prstGeom>
          <a:noFill/>
          <a:ln w="0">
            <a:noFill/>
          </a:ln>
        </p:spPr>
        <p:txBody>
          <a:bodyPr anchor="t">
            <a:normAutofit/>
          </a:bodyPr>
          <a:lstStyle/>
          <a:p>
            <a:pPr>
              <a:defRPr sz="1200" b="1" i="0">
                <a:solidFill>
                  <a:srgbClr val="009566"/>
                </a:solidFill>
                <a:latin typeface="Aptos"/>
                <a:ea typeface="Aptos"/>
                <a:cs typeface="Aptos"/>
              </a:defRPr>
            </a:pPr>
            <a:r>
              <a:rPr sz="1200" b="1" i="0" dirty="0">
                <a:solidFill>
                  <a:srgbClr val="009566"/>
                </a:solidFill>
                <a:latin typeface="Aptos"/>
                <a:ea typeface="Aptos"/>
                <a:cs typeface="Aptos"/>
              </a:rPr>
              <a:t>Cases + </a:t>
            </a:r>
            <a:r>
              <a:rPr sz="1200" b="1" i="0" dirty="0" err="1">
                <a:solidFill>
                  <a:srgbClr val="009566"/>
                </a:solidFill>
                <a:latin typeface="Aptos"/>
                <a:ea typeface="Aptos"/>
                <a:cs typeface="Aptos"/>
              </a:rPr>
              <a:t>case_facts</a:t>
            </a:r>
            <a:endParaRPr sz="1200" b="1" i="0" dirty="0">
              <a:solidFill>
                <a:srgbClr val="009566"/>
              </a:solidFill>
              <a:latin typeface="Aptos"/>
              <a:ea typeface="Aptos"/>
              <a:cs typeface="Aptos"/>
            </a:endParaRPr>
          </a:p>
        </p:txBody>
      </p:sp>
      <p:sp>
        <p:nvSpPr>
          <p:cNvPr id="13" name="Rectángulo: esquinas redondeadas 12">
            <a:extLst>
              <a:ext uri="{FF2B5EF4-FFF2-40B4-BE49-F238E27FC236}">
                <a16:creationId xmlns:a16="http://schemas.microsoft.com/office/drawing/2014/main" id="{06C8D681-F8A5-43D5-B239-D4D16C457B71}"/>
              </a:ext>
            </a:extLst>
          </p:cNvPr>
          <p:cNvSpPr>
            <a:spLocks noGrp="1"/>
          </p:cNvSpPr>
          <p:nvPr/>
        </p:nvSpPr>
        <p:spPr>
          <a:xfrm>
            <a:off x="590550" y="3028950"/>
            <a:ext cx="2238375" cy="552450"/>
          </a:xfrm>
          <a:prstGeom prst="roundRect">
            <a:avLst>
              <a:gd name="adj" fmla="val 20690"/>
            </a:avLst>
          </a:prstGeom>
          <a:solidFill>
            <a:srgbClr val="FFFFFF"/>
          </a:solidFill>
          <a:ln w="9525">
            <a:solidFill>
              <a:srgbClr val="4866C6"/>
            </a:solidFill>
            <a:prstDash val="solid"/>
          </a:ln>
        </p:spPr>
        <p:txBody>
          <a:bodyPr/>
          <a:lstStyle/>
          <a:p>
            <a:endParaRPr lang="es-MX"/>
          </a:p>
        </p:txBody>
      </p:sp>
      <p:sp>
        <p:nvSpPr>
          <p:cNvPr id="14" name="Rectángulo 13">
            <a:extLst>
              <a:ext uri="{FF2B5EF4-FFF2-40B4-BE49-F238E27FC236}">
                <a16:creationId xmlns:a16="http://schemas.microsoft.com/office/drawing/2014/main" id="{24274BD2-64EA-4F90-9250-0D63FD4E9BAC}"/>
              </a:ext>
            </a:extLst>
          </p:cNvPr>
          <p:cNvSpPr>
            <a:spLocks noGrp="1"/>
          </p:cNvSpPr>
          <p:nvPr/>
        </p:nvSpPr>
        <p:spPr>
          <a:xfrm>
            <a:off x="674704" y="3152775"/>
            <a:ext cx="2154222" cy="285750"/>
          </a:xfrm>
          <a:prstGeom prst="rect">
            <a:avLst/>
          </a:prstGeom>
          <a:noFill/>
          <a:ln w="0">
            <a:noFill/>
          </a:ln>
        </p:spPr>
        <p:txBody>
          <a:bodyPr anchor="t">
            <a:normAutofit/>
          </a:bodyPr>
          <a:lstStyle/>
          <a:p>
            <a:pPr>
              <a:defRPr sz="1200" b="1" i="0">
                <a:solidFill>
                  <a:srgbClr val="4866C6"/>
                </a:solidFill>
                <a:latin typeface="Aptos"/>
                <a:ea typeface="Aptos"/>
                <a:cs typeface="Aptos"/>
              </a:defRPr>
            </a:pPr>
            <a:r>
              <a:rPr sz="1200" b="1" i="0" dirty="0">
                <a:solidFill>
                  <a:srgbClr val="4866C6"/>
                </a:solidFill>
                <a:latin typeface="Aptos"/>
                <a:ea typeface="Aptos"/>
                <a:cs typeface="Aptos"/>
              </a:rPr>
              <a:t>Sistemas de </a:t>
            </a:r>
            <a:r>
              <a:rPr sz="1200" b="1" i="0" dirty="0" err="1">
                <a:solidFill>
                  <a:srgbClr val="4866C6"/>
                </a:solidFill>
                <a:latin typeface="Aptos"/>
                <a:ea typeface="Aptos"/>
                <a:cs typeface="Aptos"/>
              </a:rPr>
              <a:t>registro</a:t>
            </a:r>
            <a:r>
              <a:rPr lang="es-MX" sz="1200" b="1" i="0" dirty="0">
                <a:solidFill>
                  <a:srgbClr val="4866C6"/>
                </a:solidFill>
                <a:latin typeface="Aptos"/>
                <a:ea typeface="Aptos"/>
                <a:cs typeface="Aptos"/>
              </a:rPr>
              <a:t> (SORs)</a:t>
            </a:r>
            <a:endParaRPr sz="1200" b="1" i="0" dirty="0">
              <a:solidFill>
                <a:srgbClr val="4866C6"/>
              </a:solidFill>
              <a:latin typeface="Aptos"/>
              <a:ea typeface="Aptos"/>
              <a:cs typeface="Aptos"/>
            </a:endParaRPr>
          </a:p>
        </p:txBody>
      </p:sp>
      <p:sp>
        <p:nvSpPr>
          <p:cNvPr id="15" name="Rectángulo: esquinas redondeadas 14">
            <a:extLst>
              <a:ext uri="{FF2B5EF4-FFF2-40B4-BE49-F238E27FC236}">
                <a16:creationId xmlns:a16="http://schemas.microsoft.com/office/drawing/2014/main" id="{4B6ABCCB-EB0B-4733-8F55-F70FD89C9DFA}"/>
              </a:ext>
            </a:extLst>
          </p:cNvPr>
          <p:cNvSpPr>
            <a:spLocks noGrp="1"/>
          </p:cNvSpPr>
          <p:nvPr/>
        </p:nvSpPr>
        <p:spPr>
          <a:xfrm>
            <a:off x="590550" y="3695700"/>
            <a:ext cx="2238375" cy="552450"/>
          </a:xfrm>
          <a:prstGeom prst="roundRect">
            <a:avLst>
              <a:gd name="adj" fmla="val 20690"/>
            </a:avLst>
          </a:prstGeom>
          <a:solidFill>
            <a:srgbClr val="FFFFFF"/>
          </a:solidFill>
          <a:ln w="9525">
            <a:solidFill>
              <a:srgbClr val="F39A24"/>
            </a:solidFill>
            <a:prstDash val="solid"/>
          </a:ln>
        </p:spPr>
        <p:txBody>
          <a:bodyPr/>
          <a:lstStyle/>
          <a:p>
            <a:endParaRPr lang="es-MX"/>
          </a:p>
        </p:txBody>
      </p:sp>
      <p:sp>
        <p:nvSpPr>
          <p:cNvPr id="16" name="Rectángulo 15">
            <a:extLst>
              <a:ext uri="{FF2B5EF4-FFF2-40B4-BE49-F238E27FC236}">
                <a16:creationId xmlns:a16="http://schemas.microsoft.com/office/drawing/2014/main" id="{85E02DDF-ED70-4A02-9A0D-3D2801AC217A}"/>
              </a:ext>
            </a:extLst>
          </p:cNvPr>
          <p:cNvSpPr>
            <a:spLocks noGrp="1"/>
          </p:cNvSpPr>
          <p:nvPr/>
        </p:nvSpPr>
        <p:spPr>
          <a:xfrm>
            <a:off x="742950" y="3819525"/>
            <a:ext cx="1933575" cy="285750"/>
          </a:xfrm>
          <a:prstGeom prst="rect">
            <a:avLst/>
          </a:prstGeom>
          <a:noFill/>
          <a:ln w="0">
            <a:noFill/>
          </a:ln>
        </p:spPr>
        <p:txBody>
          <a:bodyPr anchor="t">
            <a:normAutofit/>
          </a:bodyPr>
          <a:lstStyle/>
          <a:p>
            <a:pPr>
              <a:defRPr sz="1200" b="1" i="0">
                <a:solidFill>
                  <a:srgbClr val="F39A24"/>
                </a:solidFill>
                <a:latin typeface="Aptos"/>
                <a:ea typeface="Aptos"/>
                <a:cs typeface="Aptos"/>
              </a:defRPr>
            </a:pPr>
            <a:r>
              <a:rPr sz="1200" b="1" i="0">
                <a:solidFill>
                  <a:srgbClr val="F39A24"/>
                </a:solidFill>
                <a:latin typeface="Aptos"/>
                <a:ea typeface="Aptos"/>
                <a:cs typeface="Aptos"/>
              </a:rPr>
              <a:t>Artefactos + outcomes</a:t>
            </a:r>
          </a:p>
        </p:txBody>
      </p:sp>
      <p:sp>
        <p:nvSpPr>
          <p:cNvPr id="17" name="Rectángulo: esquinas redondeadas 16">
            <a:extLst>
              <a:ext uri="{FF2B5EF4-FFF2-40B4-BE49-F238E27FC236}">
                <a16:creationId xmlns:a16="http://schemas.microsoft.com/office/drawing/2014/main" id="{A8BC9290-0545-41D9-93F4-ED02B5D8F34D}"/>
              </a:ext>
            </a:extLst>
          </p:cNvPr>
          <p:cNvSpPr>
            <a:spLocks noGrp="1"/>
          </p:cNvSpPr>
          <p:nvPr/>
        </p:nvSpPr>
        <p:spPr>
          <a:xfrm>
            <a:off x="590550" y="4362450"/>
            <a:ext cx="2238375" cy="552450"/>
          </a:xfrm>
          <a:prstGeom prst="roundRect">
            <a:avLst>
              <a:gd name="adj" fmla="val 20690"/>
            </a:avLst>
          </a:prstGeom>
          <a:solidFill>
            <a:srgbClr val="FFFFFF"/>
          </a:solidFill>
          <a:ln w="9525">
            <a:solidFill>
              <a:srgbClr val="5C2DD2"/>
            </a:solidFill>
            <a:prstDash val="solid"/>
          </a:ln>
        </p:spPr>
        <p:txBody>
          <a:bodyPr/>
          <a:lstStyle/>
          <a:p>
            <a:endParaRPr lang="es-MX"/>
          </a:p>
        </p:txBody>
      </p:sp>
      <p:sp>
        <p:nvSpPr>
          <p:cNvPr id="18" name="Rectángulo 17">
            <a:extLst>
              <a:ext uri="{FF2B5EF4-FFF2-40B4-BE49-F238E27FC236}">
                <a16:creationId xmlns:a16="http://schemas.microsoft.com/office/drawing/2014/main" id="{D0F4B51B-7EB1-4202-85B2-728A3F6E45F6}"/>
              </a:ext>
            </a:extLst>
          </p:cNvPr>
          <p:cNvSpPr>
            <a:spLocks noGrp="1"/>
          </p:cNvSpPr>
          <p:nvPr/>
        </p:nvSpPr>
        <p:spPr>
          <a:xfrm>
            <a:off x="742950" y="4486275"/>
            <a:ext cx="1933575" cy="285750"/>
          </a:xfrm>
          <a:prstGeom prst="rect">
            <a:avLst/>
          </a:prstGeom>
          <a:noFill/>
          <a:ln w="0">
            <a:noFill/>
          </a:ln>
        </p:spPr>
        <p:txBody>
          <a:bodyPr anchor="t">
            <a:normAutofit/>
          </a:bodyPr>
          <a:lstStyle/>
          <a:p>
            <a:pPr>
              <a:defRPr sz="1200" b="1" i="0">
                <a:solidFill>
                  <a:srgbClr val="5C2DD2"/>
                </a:solidFill>
                <a:latin typeface="Aptos"/>
                <a:ea typeface="Aptos"/>
                <a:cs typeface="Aptos"/>
              </a:defRPr>
            </a:pPr>
            <a:r>
              <a:rPr sz="1200" b="1" i="0">
                <a:solidFill>
                  <a:srgbClr val="5C2DD2"/>
                </a:solidFill>
                <a:latin typeface="Aptos"/>
                <a:ea typeface="Aptos"/>
                <a:cs typeface="Aptos"/>
              </a:rPr>
              <a:t>Personal memory</a:t>
            </a:r>
          </a:p>
        </p:txBody>
      </p:sp>
      <p:sp>
        <p:nvSpPr>
          <p:cNvPr id="19" name="Rectángulo: esquinas redondeadas 18">
            <a:extLst>
              <a:ext uri="{FF2B5EF4-FFF2-40B4-BE49-F238E27FC236}">
                <a16:creationId xmlns:a16="http://schemas.microsoft.com/office/drawing/2014/main" id="{527C053F-2A08-4D91-AC24-8714A5D6D560}"/>
              </a:ext>
            </a:extLst>
          </p:cNvPr>
          <p:cNvSpPr>
            <a:spLocks noGrp="1"/>
          </p:cNvSpPr>
          <p:nvPr/>
        </p:nvSpPr>
        <p:spPr>
          <a:xfrm>
            <a:off x="3524250" y="2381250"/>
            <a:ext cx="1809750" cy="2381250"/>
          </a:xfrm>
          <a:prstGeom prst="roundRect">
            <a:avLst>
              <a:gd name="adj" fmla="val 6316"/>
            </a:avLst>
          </a:prstGeom>
          <a:solidFill>
            <a:srgbClr val="FFF0D7"/>
          </a:solidFill>
          <a:ln w="9525">
            <a:solidFill>
              <a:srgbClr val="F39A24"/>
            </a:solidFill>
            <a:prstDash val="solid"/>
          </a:ln>
        </p:spPr>
        <p:txBody>
          <a:bodyPr/>
          <a:lstStyle/>
          <a:p>
            <a:endParaRPr lang="es-MX"/>
          </a:p>
        </p:txBody>
      </p:sp>
      <p:sp>
        <p:nvSpPr>
          <p:cNvPr id="20" name="Rectángulo 19">
            <a:extLst>
              <a:ext uri="{FF2B5EF4-FFF2-40B4-BE49-F238E27FC236}">
                <a16:creationId xmlns:a16="http://schemas.microsoft.com/office/drawing/2014/main" id="{667F7E81-3DC6-4000-8AAF-9EECC1C244F6}"/>
              </a:ext>
            </a:extLst>
          </p:cNvPr>
          <p:cNvSpPr>
            <a:spLocks noGrp="1"/>
          </p:cNvSpPr>
          <p:nvPr/>
        </p:nvSpPr>
        <p:spPr>
          <a:xfrm>
            <a:off x="3676650" y="2505075"/>
            <a:ext cx="1504950" cy="285750"/>
          </a:xfrm>
          <a:prstGeom prst="rect">
            <a:avLst/>
          </a:prstGeom>
          <a:noFill/>
          <a:ln w="0">
            <a:noFill/>
          </a:ln>
        </p:spPr>
        <p:txBody>
          <a:bodyPr anchor="t">
            <a:normAutofit fontScale="81579" lnSpcReduction="10000"/>
          </a:bodyPr>
          <a:lstStyle/>
          <a:p>
            <a:pPr>
              <a:defRPr sz="1275" b="1" i="0">
                <a:solidFill>
                  <a:srgbClr val="F39A24"/>
                </a:solidFill>
                <a:latin typeface="Aptos"/>
                <a:ea typeface="Aptos"/>
                <a:cs typeface="Aptos"/>
              </a:defRPr>
            </a:pPr>
            <a:r>
              <a:rPr sz="1275" b="1" i="0">
                <a:solidFill>
                  <a:srgbClr val="F39A24"/>
                </a:solidFill>
                <a:latin typeface="Aptos"/>
                <a:ea typeface="Aptos"/>
                <a:cs typeface="Aptos"/>
              </a:rPr>
              <a:t>INGESTA + GOBIERNO</a:t>
            </a:r>
          </a:p>
        </p:txBody>
      </p:sp>
      <p:sp>
        <p:nvSpPr>
          <p:cNvPr id="21" name="Rectángulo 20">
            <a:extLst>
              <a:ext uri="{FF2B5EF4-FFF2-40B4-BE49-F238E27FC236}">
                <a16:creationId xmlns:a16="http://schemas.microsoft.com/office/drawing/2014/main" id="{21237C91-655A-435C-86A4-43DA2BF18BDE}"/>
              </a:ext>
            </a:extLst>
          </p:cNvPr>
          <p:cNvSpPr>
            <a:spLocks noGrp="1"/>
          </p:cNvSpPr>
          <p:nvPr/>
        </p:nvSpPr>
        <p:spPr>
          <a:xfrm>
            <a:off x="3590925" y="2838450"/>
            <a:ext cx="1673533" cy="1828800"/>
          </a:xfrm>
          <a:prstGeom prst="rect">
            <a:avLst/>
          </a:prstGeom>
          <a:noFill/>
          <a:ln w="0">
            <a:noFill/>
          </a:ln>
        </p:spPr>
        <p:txBody>
          <a:bodyPr anchor="t">
            <a:normAutofit fontScale="95000"/>
          </a:bodyPr>
          <a:lstStyle/>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Scope y </a:t>
            </a:r>
            <a:r>
              <a:rPr sz="1200" b="0" i="0" dirty="0" err="1">
                <a:solidFill>
                  <a:srgbClr val="756F91"/>
                </a:solidFill>
                <a:latin typeface="Aptos"/>
                <a:ea typeface="Aptos"/>
                <a:cs typeface="Aptos"/>
              </a:rPr>
              <a:t>procedencia</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a:solidFill>
                  <a:srgbClr val="756F91"/>
                </a:solidFill>
                <a:latin typeface="Aptos"/>
                <a:ea typeface="Aptos"/>
                <a:cs typeface="Aptos"/>
              </a:rPr>
              <a:t>Hard links vs </a:t>
            </a:r>
            <a:r>
              <a:rPr sz="1200" b="0" i="0" dirty="0" err="1">
                <a:solidFill>
                  <a:srgbClr val="756F91"/>
                </a:solidFill>
                <a:latin typeface="Aptos"/>
                <a:ea typeface="Aptos"/>
                <a:cs typeface="Aptos"/>
              </a:rPr>
              <a:t>señales</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blandas</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Hechos</a:t>
            </a:r>
            <a:r>
              <a:rPr sz="1200" b="0" i="0" dirty="0">
                <a:solidFill>
                  <a:srgbClr val="756F91"/>
                </a:solidFill>
                <a:latin typeface="Aptos"/>
                <a:ea typeface="Aptos"/>
                <a:cs typeface="Aptos"/>
              </a:rPr>
              <a:t> vs </a:t>
            </a:r>
            <a:r>
              <a:rPr sz="1200" b="0" i="0" dirty="0" err="1">
                <a:solidFill>
                  <a:srgbClr val="756F91"/>
                </a:solidFill>
                <a:latin typeface="Aptos"/>
                <a:ea typeface="Aptos"/>
                <a:cs typeface="Aptos"/>
              </a:rPr>
              <a:t>interpretaciones</a:t>
            </a:r>
            <a:endParaRPr sz="1200" b="0" i="0" dirty="0">
              <a:solidFill>
                <a:srgbClr val="756F91"/>
              </a:solidFill>
              <a:latin typeface="Aptos"/>
              <a:ea typeface="Aptos"/>
              <a:cs typeface="Aptos"/>
            </a:endParaRP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Versión</a:t>
            </a:r>
            <a:r>
              <a:rPr sz="1200" b="0" i="0" dirty="0">
                <a:solidFill>
                  <a:srgbClr val="756F91"/>
                </a:solidFill>
                <a:latin typeface="Aptos"/>
                <a:ea typeface="Aptos"/>
                <a:cs typeface="Aptos"/>
              </a:rPr>
              <a:t> y supersession</a:t>
            </a:r>
          </a:p>
          <a:p>
            <a:pPr marL="171450" indent="-171450">
              <a:buFont typeface="Arial" panose="020B0604020202020204" pitchFamily="34" charset="0"/>
              <a:buChar char="•"/>
              <a:defRPr sz="1200" b="0" i="0">
                <a:solidFill>
                  <a:srgbClr val="756F91"/>
                </a:solidFill>
                <a:latin typeface="Aptos"/>
                <a:ea typeface="Aptos"/>
                <a:cs typeface="Aptos"/>
              </a:defRPr>
            </a:pPr>
            <a:r>
              <a:rPr sz="1200" b="0" i="0" dirty="0" err="1">
                <a:solidFill>
                  <a:srgbClr val="756F91"/>
                </a:solidFill>
                <a:latin typeface="Aptos"/>
                <a:ea typeface="Aptos"/>
                <a:cs typeface="Aptos"/>
              </a:rPr>
              <a:t>Promoción</a:t>
            </a:r>
            <a:r>
              <a:rPr sz="1200" b="0" i="0" dirty="0">
                <a:solidFill>
                  <a:srgbClr val="756F91"/>
                </a:solidFill>
                <a:latin typeface="Aptos"/>
                <a:ea typeface="Aptos"/>
                <a:cs typeface="Aptos"/>
              </a:rPr>
              <a:t> HITL </a:t>
            </a:r>
            <a:r>
              <a:rPr sz="1200" b="0" i="0" dirty="0" err="1">
                <a:solidFill>
                  <a:srgbClr val="756F91"/>
                </a:solidFill>
                <a:latin typeface="Aptos"/>
                <a:ea typeface="Aptos"/>
                <a:cs typeface="Aptos"/>
              </a:rPr>
              <a:t>cuando</a:t>
            </a:r>
            <a:r>
              <a:rPr sz="1200" b="0" i="0" dirty="0">
                <a:solidFill>
                  <a:srgbClr val="756F91"/>
                </a:solidFill>
                <a:latin typeface="Aptos"/>
                <a:ea typeface="Aptos"/>
                <a:cs typeface="Aptos"/>
              </a:rPr>
              <a:t> </a:t>
            </a:r>
            <a:r>
              <a:rPr sz="1200" b="0" i="0" dirty="0" err="1">
                <a:solidFill>
                  <a:srgbClr val="756F91"/>
                </a:solidFill>
                <a:latin typeface="Aptos"/>
                <a:ea typeface="Aptos"/>
                <a:cs typeface="Aptos"/>
              </a:rPr>
              <a:t>aplique</a:t>
            </a:r>
            <a:endParaRPr sz="1200" b="0" i="0" dirty="0">
              <a:solidFill>
                <a:srgbClr val="756F91"/>
              </a:solidFill>
              <a:latin typeface="Aptos"/>
              <a:ea typeface="Aptos"/>
              <a:cs typeface="Aptos"/>
            </a:endParaRPr>
          </a:p>
        </p:txBody>
      </p:sp>
      <p:sp>
        <p:nvSpPr>
          <p:cNvPr id="22" name="Rectángulo: esquinas redondeadas 21">
            <a:extLst>
              <a:ext uri="{FF2B5EF4-FFF2-40B4-BE49-F238E27FC236}">
                <a16:creationId xmlns:a16="http://schemas.microsoft.com/office/drawing/2014/main" id="{76335555-97A0-4529-9B27-09CF9CBE4CB6}"/>
              </a:ext>
            </a:extLst>
          </p:cNvPr>
          <p:cNvSpPr>
            <a:spLocks noGrp="1"/>
          </p:cNvSpPr>
          <p:nvPr/>
        </p:nvSpPr>
        <p:spPr>
          <a:xfrm>
            <a:off x="5953125" y="2238375"/>
            <a:ext cx="2333625" cy="2667000"/>
          </a:xfrm>
          <a:prstGeom prst="roundRect">
            <a:avLst>
              <a:gd name="adj" fmla="val 4898"/>
            </a:avLst>
          </a:prstGeom>
          <a:solidFill>
            <a:srgbClr val="EEE8FF"/>
          </a:solidFill>
          <a:ln w="9525">
            <a:solidFill>
              <a:srgbClr val="5C2DD2"/>
            </a:solidFill>
            <a:prstDash val="solid"/>
          </a:ln>
        </p:spPr>
        <p:txBody>
          <a:bodyPr/>
          <a:lstStyle/>
          <a:p>
            <a:endParaRPr lang="es-MX"/>
          </a:p>
        </p:txBody>
      </p:sp>
      <p:sp>
        <p:nvSpPr>
          <p:cNvPr id="23" name="Rectángulo 22">
            <a:extLst>
              <a:ext uri="{FF2B5EF4-FFF2-40B4-BE49-F238E27FC236}">
                <a16:creationId xmlns:a16="http://schemas.microsoft.com/office/drawing/2014/main" id="{9F31B259-A412-4EE7-8DEE-0229CB471FC7}"/>
              </a:ext>
            </a:extLst>
          </p:cNvPr>
          <p:cNvSpPr>
            <a:spLocks noGrp="1"/>
          </p:cNvSpPr>
          <p:nvPr/>
        </p:nvSpPr>
        <p:spPr>
          <a:xfrm>
            <a:off x="6105525" y="2362200"/>
            <a:ext cx="2028825" cy="285750"/>
          </a:xfrm>
          <a:prstGeom prst="rect">
            <a:avLst/>
          </a:prstGeom>
          <a:noFill/>
          <a:ln w="0">
            <a:noFill/>
          </a:ln>
        </p:spPr>
        <p:txBody>
          <a:bodyPr anchor="t">
            <a:normAutofit/>
          </a:bodyPr>
          <a:lstStyle/>
          <a:p>
            <a:pPr>
              <a:defRPr sz="1275" b="1" i="0">
                <a:solidFill>
                  <a:srgbClr val="5C2DD2"/>
                </a:solidFill>
                <a:latin typeface="Aptos"/>
                <a:ea typeface="Aptos"/>
                <a:cs typeface="Aptos"/>
              </a:defRPr>
            </a:pPr>
            <a:r>
              <a:rPr sz="1275" b="1" i="0">
                <a:solidFill>
                  <a:srgbClr val="5C2DD2"/>
                </a:solidFill>
                <a:latin typeface="Aptos"/>
                <a:ea typeface="Aptos"/>
                <a:cs typeface="Aptos"/>
              </a:rPr>
              <a:t>BUSINESS BRAIN</a:t>
            </a:r>
          </a:p>
        </p:txBody>
      </p:sp>
      <p:sp>
        <p:nvSpPr>
          <p:cNvPr id="24" name="Rectángulo 23">
            <a:extLst>
              <a:ext uri="{FF2B5EF4-FFF2-40B4-BE49-F238E27FC236}">
                <a16:creationId xmlns:a16="http://schemas.microsoft.com/office/drawing/2014/main" id="{502C9C17-85CB-463B-99EB-6E67ADF1D5CA}"/>
              </a:ext>
            </a:extLst>
          </p:cNvPr>
          <p:cNvSpPr>
            <a:spLocks noGrp="1"/>
          </p:cNvSpPr>
          <p:nvPr/>
        </p:nvSpPr>
        <p:spPr>
          <a:xfrm>
            <a:off x="6029324" y="2695575"/>
            <a:ext cx="2190751" cy="2114550"/>
          </a:xfrm>
          <a:prstGeom prst="rect">
            <a:avLst/>
          </a:prstGeom>
          <a:noFill/>
          <a:ln w="0">
            <a:noFill/>
          </a:ln>
        </p:spPr>
        <p:txBody>
          <a:bodyPr anchor="t">
            <a:normAutofit/>
          </a:bodyPr>
          <a:lstStyle/>
          <a:p>
            <a:pPr marL="285750" indent="-285750">
              <a:buFont typeface="Arial" panose="020B0604020202020204" pitchFamily="34" charset="0"/>
              <a:buChar char="•"/>
              <a:defRPr sz="1275" b="0" i="0">
                <a:solidFill>
                  <a:srgbClr val="756F91"/>
                </a:solidFill>
                <a:latin typeface="Aptos"/>
                <a:ea typeface="Aptos"/>
                <a:cs typeface="Aptos"/>
              </a:defRPr>
            </a:pPr>
            <a:r>
              <a:rPr sz="1275" b="0" i="0" dirty="0">
                <a:solidFill>
                  <a:srgbClr val="756F91"/>
                </a:solidFill>
                <a:latin typeface="Aptos"/>
                <a:ea typeface="Aptos"/>
                <a:cs typeface="Aptos"/>
              </a:rPr>
              <a:t>Verdad </a:t>
            </a:r>
            <a:r>
              <a:rPr sz="1275" b="0" i="0" dirty="0" err="1">
                <a:solidFill>
                  <a:srgbClr val="756F91"/>
                </a:solidFill>
                <a:latin typeface="Aptos"/>
                <a:ea typeface="Aptos"/>
                <a:cs typeface="Aptos"/>
              </a:rPr>
              <a:t>compilada</a:t>
            </a:r>
            <a:r>
              <a:rPr sz="1275" b="0" i="0" dirty="0">
                <a:solidFill>
                  <a:srgbClr val="756F91"/>
                </a:solidFill>
                <a:latin typeface="Aptos"/>
                <a:ea typeface="Aptos"/>
                <a:cs typeface="Aptos"/>
              </a:rPr>
              <a:t> + timeline</a:t>
            </a:r>
          </a:p>
          <a:p>
            <a:pPr marL="285750" indent="-285750">
              <a:buFont typeface="Arial" panose="020B0604020202020204" pitchFamily="34" charset="0"/>
              <a:buChar char="•"/>
              <a:defRPr sz="1275" b="0" i="0">
                <a:solidFill>
                  <a:srgbClr val="756F91"/>
                </a:solidFill>
                <a:latin typeface="Aptos"/>
                <a:ea typeface="Aptos"/>
                <a:cs typeface="Aptos"/>
              </a:defRPr>
            </a:pPr>
            <a:r>
              <a:rPr sz="1275" b="0" i="0" dirty="0">
                <a:solidFill>
                  <a:srgbClr val="756F91"/>
                </a:solidFill>
                <a:latin typeface="Aptos"/>
                <a:ea typeface="Aptos"/>
                <a:cs typeface="Aptos"/>
              </a:rPr>
              <a:t>Knowledge graph </a:t>
            </a:r>
            <a:r>
              <a:rPr sz="1275" b="0" i="0" dirty="0" err="1">
                <a:solidFill>
                  <a:srgbClr val="756F91"/>
                </a:solidFill>
                <a:latin typeface="Aptos"/>
                <a:ea typeface="Aptos"/>
                <a:cs typeface="Aptos"/>
              </a:rPr>
              <a:t>tipado</a:t>
            </a:r>
            <a:endParaRPr sz="1275" b="0" i="0" dirty="0">
              <a:solidFill>
                <a:srgbClr val="756F91"/>
              </a:solidFill>
              <a:latin typeface="Aptos"/>
              <a:ea typeface="Aptos"/>
              <a:cs typeface="Aptos"/>
            </a:endParaRPr>
          </a:p>
          <a:p>
            <a:pPr marL="285750" indent="-285750">
              <a:buFont typeface="Arial" panose="020B0604020202020204" pitchFamily="34" charset="0"/>
              <a:buChar char="•"/>
              <a:defRPr sz="1275" b="0" i="0">
                <a:solidFill>
                  <a:srgbClr val="756F91"/>
                </a:solidFill>
                <a:latin typeface="Aptos"/>
                <a:ea typeface="Aptos"/>
                <a:cs typeface="Aptos"/>
              </a:defRPr>
            </a:pPr>
            <a:r>
              <a:rPr sz="1275" b="0" i="0" dirty="0" err="1">
                <a:solidFill>
                  <a:srgbClr val="756F91"/>
                </a:solidFill>
                <a:latin typeface="Aptos"/>
                <a:ea typeface="Aptos"/>
                <a:cs typeface="Aptos"/>
              </a:rPr>
              <a:t>Consolidación</a:t>
            </a:r>
            <a:r>
              <a:rPr sz="1275" b="0" i="0" dirty="0">
                <a:solidFill>
                  <a:srgbClr val="756F91"/>
                </a:solidFill>
                <a:latin typeface="Aptos"/>
                <a:ea typeface="Aptos"/>
                <a:cs typeface="Aptos"/>
              </a:rPr>
              <a:t> / lint</a:t>
            </a:r>
          </a:p>
          <a:p>
            <a:pPr marL="285750" indent="-285750">
              <a:buFont typeface="Arial" panose="020B0604020202020204" pitchFamily="34" charset="0"/>
              <a:buChar char="•"/>
              <a:defRPr sz="1275" b="0" i="0">
                <a:solidFill>
                  <a:srgbClr val="756F91"/>
                </a:solidFill>
                <a:latin typeface="Aptos"/>
                <a:ea typeface="Aptos"/>
                <a:cs typeface="Aptos"/>
              </a:defRPr>
            </a:pPr>
            <a:r>
              <a:rPr sz="1275" b="0" i="0" dirty="0">
                <a:solidFill>
                  <a:srgbClr val="756F91"/>
                </a:solidFill>
                <a:latin typeface="Aptos"/>
                <a:ea typeface="Aptos"/>
                <a:cs typeface="Aptos"/>
              </a:rPr>
              <a:t>Query + </a:t>
            </a:r>
            <a:r>
              <a:rPr sz="1275" b="0" i="0" dirty="0" err="1">
                <a:solidFill>
                  <a:srgbClr val="756F91"/>
                </a:solidFill>
                <a:latin typeface="Aptos"/>
                <a:ea typeface="Aptos"/>
                <a:cs typeface="Aptos"/>
              </a:rPr>
              <a:t>síntesis</a:t>
            </a:r>
            <a:endParaRPr sz="1275" b="0" i="0" dirty="0">
              <a:solidFill>
                <a:srgbClr val="756F91"/>
              </a:solidFill>
              <a:latin typeface="Aptos"/>
              <a:ea typeface="Aptos"/>
              <a:cs typeface="Aptos"/>
            </a:endParaRPr>
          </a:p>
          <a:p>
            <a:pPr marL="285750" indent="-285750">
              <a:buFont typeface="Arial" panose="020B0604020202020204" pitchFamily="34" charset="0"/>
              <a:buChar char="•"/>
              <a:defRPr sz="1275" b="0" i="0">
                <a:solidFill>
                  <a:srgbClr val="756F91"/>
                </a:solidFill>
                <a:latin typeface="Aptos"/>
                <a:ea typeface="Aptos"/>
                <a:cs typeface="Aptos"/>
              </a:defRPr>
            </a:pPr>
            <a:r>
              <a:rPr sz="1275" b="0" i="0" dirty="0" err="1">
                <a:solidFill>
                  <a:srgbClr val="756F91"/>
                </a:solidFill>
                <a:latin typeface="Aptos"/>
                <a:ea typeface="Aptos"/>
                <a:cs typeface="Aptos"/>
              </a:rPr>
              <a:t>Cobertura</a:t>
            </a:r>
            <a:r>
              <a:rPr sz="1275" b="0" i="0" dirty="0">
                <a:solidFill>
                  <a:srgbClr val="756F91"/>
                </a:solidFill>
                <a:latin typeface="Aptos"/>
                <a:ea typeface="Aptos"/>
                <a:cs typeface="Aptos"/>
              </a:rPr>
              <a:t> y </a:t>
            </a:r>
            <a:r>
              <a:rPr sz="1275" b="0" i="0" dirty="0" err="1">
                <a:solidFill>
                  <a:srgbClr val="756F91"/>
                </a:solidFill>
                <a:latin typeface="Aptos"/>
                <a:ea typeface="Aptos"/>
                <a:cs typeface="Aptos"/>
              </a:rPr>
              <a:t>reproducibilidad</a:t>
            </a:r>
            <a:endParaRPr sz="1275" b="0" i="0" dirty="0">
              <a:solidFill>
                <a:srgbClr val="756F91"/>
              </a:solidFill>
              <a:latin typeface="Aptos"/>
              <a:ea typeface="Aptos"/>
              <a:cs typeface="Aptos"/>
            </a:endParaRPr>
          </a:p>
        </p:txBody>
      </p:sp>
      <p:sp>
        <p:nvSpPr>
          <p:cNvPr id="25" name="Rectángulo: esquinas redondeadas 24">
            <a:extLst>
              <a:ext uri="{FF2B5EF4-FFF2-40B4-BE49-F238E27FC236}">
                <a16:creationId xmlns:a16="http://schemas.microsoft.com/office/drawing/2014/main" id="{BA4A01B3-5CC9-4C18-947A-B27CCB7C2ED2}"/>
              </a:ext>
            </a:extLst>
          </p:cNvPr>
          <p:cNvSpPr>
            <a:spLocks noGrp="1"/>
          </p:cNvSpPr>
          <p:nvPr/>
        </p:nvSpPr>
        <p:spPr>
          <a:xfrm>
            <a:off x="9048750" y="2520890"/>
            <a:ext cx="2333625" cy="2095500"/>
          </a:xfrm>
          <a:prstGeom prst="roundRect">
            <a:avLst>
              <a:gd name="adj" fmla="val 5455"/>
            </a:avLst>
          </a:prstGeom>
          <a:solidFill>
            <a:srgbClr val="E3F5ED"/>
          </a:solidFill>
          <a:ln w="9525">
            <a:solidFill>
              <a:srgbClr val="009566"/>
            </a:solidFill>
            <a:prstDash val="solid"/>
          </a:ln>
        </p:spPr>
        <p:txBody>
          <a:bodyPr/>
          <a:lstStyle/>
          <a:p>
            <a:endParaRPr lang="es-MX"/>
          </a:p>
        </p:txBody>
      </p:sp>
      <p:sp>
        <p:nvSpPr>
          <p:cNvPr id="26" name="Rectángulo 25">
            <a:extLst>
              <a:ext uri="{FF2B5EF4-FFF2-40B4-BE49-F238E27FC236}">
                <a16:creationId xmlns:a16="http://schemas.microsoft.com/office/drawing/2014/main" id="{E644F34C-1488-4DBA-903C-278C3140D76B}"/>
              </a:ext>
            </a:extLst>
          </p:cNvPr>
          <p:cNvSpPr>
            <a:spLocks noGrp="1"/>
          </p:cNvSpPr>
          <p:nvPr/>
        </p:nvSpPr>
        <p:spPr>
          <a:xfrm>
            <a:off x="9201150" y="2644715"/>
            <a:ext cx="2028825" cy="285750"/>
          </a:xfrm>
          <a:prstGeom prst="rect">
            <a:avLst/>
          </a:prstGeom>
          <a:noFill/>
          <a:ln w="0">
            <a:noFill/>
          </a:ln>
        </p:spPr>
        <p:txBody>
          <a:bodyPr anchor="t">
            <a:normAutofit/>
          </a:bodyPr>
          <a:lstStyle/>
          <a:p>
            <a:pPr>
              <a:defRPr sz="1275" b="1" i="0">
                <a:solidFill>
                  <a:srgbClr val="009566"/>
                </a:solidFill>
                <a:latin typeface="Aptos"/>
                <a:ea typeface="Aptos"/>
                <a:cs typeface="Aptos"/>
              </a:defRPr>
            </a:pPr>
            <a:r>
              <a:rPr sz="1275" b="1" i="0">
                <a:solidFill>
                  <a:srgbClr val="009566"/>
                </a:solidFill>
                <a:latin typeface="Aptos"/>
                <a:ea typeface="Aptos"/>
                <a:cs typeface="Aptos"/>
              </a:rPr>
              <a:t>CONTEXTO ACOTADO</a:t>
            </a:r>
          </a:p>
        </p:txBody>
      </p:sp>
      <p:sp>
        <p:nvSpPr>
          <p:cNvPr id="27" name="Rectángulo 26">
            <a:extLst>
              <a:ext uri="{FF2B5EF4-FFF2-40B4-BE49-F238E27FC236}">
                <a16:creationId xmlns:a16="http://schemas.microsoft.com/office/drawing/2014/main" id="{E5ABA2BF-5A6D-4E02-AD62-244CECD6D558}"/>
              </a:ext>
            </a:extLst>
          </p:cNvPr>
          <p:cNvSpPr>
            <a:spLocks noGrp="1"/>
          </p:cNvSpPr>
          <p:nvPr/>
        </p:nvSpPr>
        <p:spPr>
          <a:xfrm>
            <a:off x="9201150" y="2978090"/>
            <a:ext cx="2028825" cy="1543050"/>
          </a:xfrm>
          <a:prstGeom prst="rect">
            <a:avLst/>
          </a:prstGeom>
          <a:noFill/>
          <a:ln w="0">
            <a:noFill/>
          </a:ln>
        </p:spPr>
        <p:txBody>
          <a:bodyPr anchor="t">
            <a:normAutofit/>
          </a:bodyPr>
          <a:lstStyle/>
          <a:p>
            <a:pPr>
              <a:defRPr sz="1200" b="0" i="0">
                <a:solidFill>
                  <a:srgbClr val="756F91"/>
                </a:solidFill>
                <a:latin typeface="Aptos"/>
                <a:ea typeface="Aptos"/>
                <a:cs typeface="Aptos"/>
              </a:defRPr>
            </a:pPr>
            <a:r>
              <a:rPr sz="1200" b="0" i="0">
                <a:solidFill>
                  <a:srgbClr val="756F91"/>
                </a:solidFill>
                <a:latin typeface="Aptos"/>
                <a:ea typeface="Aptos"/>
                <a:cs typeface="Aptos"/>
              </a:rPr>
              <a:t>Evidencia empresarial relevante</a:t>
            </a:r>
          </a:p>
          <a:p>
            <a:pPr>
              <a:defRPr sz="1200" b="0" i="0">
                <a:solidFill>
                  <a:srgbClr val="756F91"/>
                </a:solidFill>
                <a:latin typeface="Aptos"/>
                <a:ea typeface="Aptos"/>
                <a:cs typeface="Aptos"/>
              </a:defRPr>
            </a:pPr>
            <a:r>
              <a:rPr sz="1200" b="0" i="0">
                <a:solidFill>
                  <a:srgbClr val="756F91"/>
                </a:solidFill>
                <a:latin typeface="Aptos"/>
                <a:ea typeface="Aptos"/>
                <a:cs typeface="Aptos"/>
              </a:rPr>
              <a:t>Citas de fuentes</a:t>
            </a:r>
          </a:p>
          <a:p>
            <a:pPr>
              <a:defRPr sz="1200" b="0" i="0">
                <a:solidFill>
                  <a:srgbClr val="756F91"/>
                </a:solidFill>
                <a:latin typeface="Aptos"/>
                <a:ea typeface="Aptos"/>
                <a:cs typeface="Aptos"/>
              </a:defRPr>
            </a:pPr>
            <a:r>
              <a:rPr sz="1200" b="0" i="0">
                <a:solidFill>
                  <a:srgbClr val="756F91"/>
                </a:solidFill>
                <a:latin typeface="Aptos"/>
                <a:ea typeface="Aptos"/>
                <a:cs typeface="Aptos"/>
              </a:rPr>
              <a:t>Freshness y límites</a:t>
            </a:r>
          </a:p>
          <a:p>
            <a:pPr>
              <a:defRPr sz="1200" b="0" i="0">
                <a:solidFill>
                  <a:srgbClr val="756F91"/>
                </a:solidFill>
                <a:latin typeface="Aptos"/>
                <a:ea typeface="Aptos"/>
                <a:cs typeface="Aptos"/>
              </a:defRPr>
            </a:pPr>
            <a:r>
              <a:rPr sz="1200" b="0" i="0">
                <a:solidFill>
                  <a:srgbClr val="756F91"/>
                </a:solidFill>
                <a:latin typeface="Aptos"/>
                <a:ea typeface="Aptos"/>
                <a:cs typeface="Aptos"/>
              </a:rPr>
              <a:t>Reutilizable para decisiones</a:t>
            </a:r>
          </a:p>
          <a:p>
            <a:pPr>
              <a:defRPr sz="1200" b="0" i="0">
                <a:solidFill>
                  <a:srgbClr val="756F91"/>
                </a:solidFill>
                <a:latin typeface="Aptos"/>
                <a:ea typeface="Aptos"/>
                <a:cs typeface="Aptos"/>
              </a:defRPr>
            </a:pPr>
            <a:r>
              <a:rPr sz="1200" b="0" i="0">
                <a:solidFill>
                  <a:srgbClr val="756F91"/>
                </a:solidFill>
                <a:latin typeface="Aptos"/>
                <a:ea typeface="Aptos"/>
                <a:cs typeface="Aptos"/>
              </a:rPr>
              <a:t>Sin autoridad de acción</a:t>
            </a:r>
          </a:p>
        </p:txBody>
      </p:sp>
      <p:cxnSp>
        <p:nvCxnSpPr>
          <p:cNvPr id="64" name="Conector: angular 63"/>
          <p:cNvCxnSpPr>
            <a:stCxn id="11" idx="3"/>
            <a:endCxn id="19" idx="1"/>
          </p:cNvCxnSpPr>
          <p:nvPr/>
        </p:nvCxnSpPr>
        <p:spPr>
          <a:xfrm>
            <a:off x="2828925" y="2638425"/>
            <a:ext cx="695325" cy="933450"/>
          </a:xfrm>
          <a:prstGeom prst="bentConnector3">
            <a:avLst>
              <a:gd name="adj1" fmla="val 50000"/>
            </a:avLst>
          </a:prstGeom>
          <a:ln w="19050">
            <a:solidFill>
              <a:srgbClr val="5C2DD2"/>
            </a:solidFill>
            <a:prstDash val="solid"/>
            <a:tailEnd type="arrow" w="med" len="med"/>
          </a:ln>
        </p:spPr>
      </p:cxnSp>
      <p:cxnSp>
        <p:nvCxnSpPr>
          <p:cNvPr id="65" name="Conector: angular 64"/>
          <p:cNvCxnSpPr>
            <a:stCxn id="13" idx="3"/>
            <a:endCxn id="19" idx="1"/>
          </p:cNvCxnSpPr>
          <p:nvPr/>
        </p:nvCxnSpPr>
        <p:spPr>
          <a:xfrm>
            <a:off x="2828925" y="3305175"/>
            <a:ext cx="695325" cy="266700"/>
          </a:xfrm>
          <a:prstGeom prst="bentConnector3">
            <a:avLst>
              <a:gd name="adj1" fmla="val 50000"/>
            </a:avLst>
          </a:prstGeom>
          <a:ln w="19050">
            <a:solidFill>
              <a:srgbClr val="5C2DD2"/>
            </a:solidFill>
            <a:prstDash val="solid"/>
            <a:tailEnd type="arrow" w="med" len="med"/>
          </a:ln>
        </p:spPr>
      </p:cxnSp>
      <p:cxnSp>
        <p:nvCxnSpPr>
          <p:cNvPr id="66" name="Conector: angular 65"/>
          <p:cNvCxnSpPr>
            <a:stCxn id="15" idx="3"/>
            <a:endCxn id="19" idx="1"/>
          </p:cNvCxnSpPr>
          <p:nvPr/>
        </p:nvCxnSpPr>
        <p:spPr>
          <a:xfrm flipV="1">
            <a:off x="2828925" y="3571875"/>
            <a:ext cx="695325" cy="400050"/>
          </a:xfrm>
          <a:prstGeom prst="bentConnector3">
            <a:avLst>
              <a:gd name="adj1" fmla="val 50000"/>
            </a:avLst>
          </a:prstGeom>
          <a:ln w="19050">
            <a:solidFill>
              <a:srgbClr val="5C2DD2"/>
            </a:solidFill>
            <a:prstDash val="solid"/>
            <a:tailEnd type="arrow" w="med" len="med"/>
          </a:ln>
        </p:spPr>
      </p:cxnSp>
      <p:cxnSp>
        <p:nvCxnSpPr>
          <p:cNvPr id="67" name="Conector: angular 66"/>
          <p:cNvCxnSpPr>
            <a:stCxn id="17" idx="3"/>
            <a:endCxn id="19" idx="1"/>
          </p:cNvCxnSpPr>
          <p:nvPr/>
        </p:nvCxnSpPr>
        <p:spPr>
          <a:xfrm flipV="1">
            <a:off x="2828925" y="3571875"/>
            <a:ext cx="695325" cy="1066800"/>
          </a:xfrm>
          <a:prstGeom prst="bentConnector3">
            <a:avLst>
              <a:gd name="adj1" fmla="val 50000"/>
            </a:avLst>
          </a:prstGeom>
          <a:ln w="19050">
            <a:solidFill>
              <a:srgbClr val="5C2DD2"/>
            </a:solidFill>
            <a:prstDash val="solid"/>
            <a:tailEnd type="arrow" w="med" len="med"/>
          </a:ln>
        </p:spPr>
      </p:cxnSp>
      <p:cxnSp>
        <p:nvCxnSpPr>
          <p:cNvPr id="68" name="Conector recto de flecha 67"/>
          <p:cNvCxnSpPr>
            <a:stCxn id="19" idx="3"/>
            <a:endCxn id="22" idx="1"/>
          </p:cNvCxnSpPr>
          <p:nvPr/>
        </p:nvCxnSpPr>
        <p:spPr>
          <a:xfrm>
            <a:off x="5334000" y="3571875"/>
            <a:ext cx="619125" cy="0"/>
          </a:xfrm>
          <a:prstGeom prst="straightConnector1">
            <a:avLst/>
          </a:prstGeom>
          <a:ln w="19050">
            <a:solidFill>
              <a:srgbClr val="5C2DD2"/>
            </a:solidFill>
            <a:prstDash val="solid"/>
            <a:tailEnd type="arrow" w="med" len="med"/>
          </a:ln>
        </p:spPr>
      </p:cxnSp>
      <p:cxnSp>
        <p:nvCxnSpPr>
          <p:cNvPr id="69" name="Conector: angular 68"/>
          <p:cNvCxnSpPr>
            <a:stCxn id="22" idx="3"/>
            <a:endCxn id="25" idx="1"/>
          </p:cNvCxnSpPr>
          <p:nvPr/>
        </p:nvCxnSpPr>
        <p:spPr>
          <a:xfrm flipV="1">
            <a:off x="8286750" y="3568640"/>
            <a:ext cx="762000" cy="3235"/>
          </a:xfrm>
          <a:prstGeom prst="bentConnector3">
            <a:avLst>
              <a:gd name="adj1" fmla="val 50000"/>
            </a:avLst>
          </a:prstGeom>
          <a:ln w="19050">
            <a:solidFill>
              <a:srgbClr val="5C2DD2"/>
            </a:solidFill>
            <a:prstDash val="solid"/>
            <a:tailEnd type="arrow" w="med" len="med"/>
          </a:ln>
        </p:spPr>
      </p:cxnSp>
      <p:sp>
        <p:nvSpPr>
          <p:cNvPr id="34" name="Rectángulo: esquinas redondeadas 33">
            <a:extLst>
              <a:ext uri="{FF2B5EF4-FFF2-40B4-BE49-F238E27FC236}">
                <a16:creationId xmlns:a16="http://schemas.microsoft.com/office/drawing/2014/main" id="{304023C4-FEB7-4683-BF4C-BC4735DFA09E}"/>
              </a:ext>
            </a:extLst>
          </p:cNvPr>
          <p:cNvSpPr>
            <a:spLocks noGrp="1"/>
          </p:cNvSpPr>
          <p:nvPr/>
        </p:nvSpPr>
        <p:spPr>
          <a:xfrm>
            <a:off x="3314700" y="5219700"/>
            <a:ext cx="8286750" cy="666750"/>
          </a:xfrm>
          <a:prstGeom prst="roundRect">
            <a:avLst>
              <a:gd name="adj" fmla="val 14286"/>
            </a:avLst>
          </a:prstGeom>
          <a:solidFill>
            <a:srgbClr val="1F1B30"/>
          </a:solidFill>
          <a:ln w="9525">
            <a:solidFill>
              <a:srgbClr val="1F1B30"/>
            </a:solidFill>
            <a:prstDash val="solid"/>
          </a:ln>
        </p:spPr>
        <p:txBody>
          <a:bodyPr/>
          <a:lstStyle/>
          <a:p>
            <a:endParaRPr lang="es-MX" sz="1200"/>
          </a:p>
        </p:txBody>
      </p:sp>
      <p:sp>
        <p:nvSpPr>
          <p:cNvPr id="35" name="Rectángulo 34">
            <a:extLst>
              <a:ext uri="{FF2B5EF4-FFF2-40B4-BE49-F238E27FC236}">
                <a16:creationId xmlns:a16="http://schemas.microsoft.com/office/drawing/2014/main" id="{878EB247-3236-4418-B156-477F69AAE9E9}"/>
              </a:ext>
            </a:extLst>
          </p:cNvPr>
          <p:cNvSpPr>
            <a:spLocks noGrp="1"/>
          </p:cNvSpPr>
          <p:nvPr/>
        </p:nvSpPr>
        <p:spPr>
          <a:xfrm>
            <a:off x="3505200" y="5334000"/>
            <a:ext cx="1524000" cy="209550"/>
          </a:xfrm>
          <a:prstGeom prst="rect">
            <a:avLst/>
          </a:prstGeom>
          <a:noFill/>
          <a:ln w="0">
            <a:noFill/>
          </a:ln>
        </p:spPr>
        <p:txBody>
          <a:bodyPr anchor="t">
            <a:noAutofit/>
          </a:bodyPr>
          <a:lstStyle/>
          <a:p>
            <a:pPr>
              <a:defRPr sz="1125" b="1" i="0">
                <a:solidFill>
                  <a:srgbClr val="F39A24"/>
                </a:solidFill>
                <a:latin typeface="Aptos"/>
                <a:ea typeface="Aptos"/>
                <a:cs typeface="Aptos"/>
              </a:defRPr>
            </a:pPr>
            <a:r>
              <a:rPr sz="1200" b="1" i="0">
                <a:solidFill>
                  <a:srgbClr val="F39A24"/>
                </a:solidFill>
                <a:latin typeface="Aptos"/>
                <a:ea typeface="Aptos"/>
                <a:cs typeface="Aptos"/>
              </a:rPr>
              <a:t>Límites estrictos</a:t>
            </a:r>
          </a:p>
        </p:txBody>
      </p:sp>
      <p:sp>
        <p:nvSpPr>
          <p:cNvPr id="36" name="Rectángulo 35">
            <a:extLst>
              <a:ext uri="{FF2B5EF4-FFF2-40B4-BE49-F238E27FC236}">
                <a16:creationId xmlns:a16="http://schemas.microsoft.com/office/drawing/2014/main" id="{F1517DAD-FD9B-4A83-92E3-6F74CD6002E8}"/>
              </a:ext>
            </a:extLst>
          </p:cNvPr>
          <p:cNvSpPr>
            <a:spLocks noGrp="1"/>
          </p:cNvSpPr>
          <p:nvPr/>
        </p:nvSpPr>
        <p:spPr>
          <a:xfrm>
            <a:off x="5048250" y="5314950"/>
            <a:ext cx="6334125" cy="361950"/>
          </a:xfrm>
          <a:prstGeom prst="rect">
            <a:avLst/>
          </a:prstGeom>
          <a:noFill/>
          <a:ln w="0">
            <a:noFill/>
          </a:ln>
        </p:spPr>
        <p:txBody>
          <a:bodyPr anchor="t">
            <a:noAutofit/>
          </a:bodyPr>
          <a:lstStyle/>
          <a:p>
            <a:pPr>
              <a:defRPr sz="1200" b="1" i="0">
                <a:solidFill>
                  <a:srgbClr val="FFFFFF"/>
                </a:solidFill>
                <a:latin typeface="Aptos"/>
                <a:ea typeface="Aptos"/>
                <a:cs typeface="Aptos"/>
              </a:defRPr>
            </a:pPr>
            <a:r>
              <a:rPr sz="1200" b="1" i="0">
                <a:solidFill>
                  <a:srgbClr val="FFFFFF"/>
                </a:solidFill>
                <a:latin typeface="Aptos"/>
                <a:ea typeface="Aptos"/>
                <a:cs typeface="Aptos"/>
              </a:rPr>
              <a:t>No duplica estado de Case · no action queue · no cambios silenciosos de policy · Platform Knowledge aislado</a:t>
            </a:r>
          </a:p>
        </p:txBody>
      </p:sp>
    </p:spTree>
    <p:extLst>
      <p:ext uri="{BB962C8B-B14F-4D97-AF65-F5344CB8AC3E}">
        <p14:creationId xmlns:p14="http://schemas.microsoft.com/office/powerpoint/2010/main" val="1097714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597" name="Shape 0">
            <a:extLst>
              <a:ext uri="{FF2B5EF4-FFF2-40B4-BE49-F238E27FC236}">
                <a16:creationId xmlns:a16="http://schemas.microsoft.com/office/drawing/2014/main" id="{8B25C622-73C8-43BC-85B7-5E602683FB8B}"/>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598" name="Text 1">
            <a:extLst>
              <a:ext uri="{FF2B5EF4-FFF2-40B4-BE49-F238E27FC236}">
                <a16:creationId xmlns:a16="http://schemas.microsoft.com/office/drawing/2014/main" id="{9506D69E-9655-49A4-A754-647742C7AEC1}"/>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EL TOOL PATH ES UNA CADENA DE RESPONSABILIDADES</a:t>
            </a:r>
            <a:endParaRPr sz="1200" b="0" u="none">
              <a:solidFill>
                <a:srgbClr val="000000"/>
              </a:solidFill>
              <a:latin typeface="Arial"/>
              <a:ea typeface="Arial"/>
              <a:cs typeface="Arial"/>
            </a:endParaRPr>
          </a:p>
        </p:txBody>
      </p:sp>
      <p:sp>
        <p:nvSpPr>
          <p:cNvPr id="599" name="Text 2">
            <a:extLst>
              <a:ext uri="{FF2B5EF4-FFF2-40B4-BE49-F238E27FC236}">
                <a16:creationId xmlns:a16="http://schemas.microsoft.com/office/drawing/2014/main" id="{84E70C57-B112-4DBB-991B-5F915CA28C4B}"/>
              </a:ext>
            </a:extLst>
          </p:cNvPr>
          <p:cNvSpPr>
            <a:spLocks noGrp="1"/>
          </p:cNvSpPr>
          <p:nvPr/>
        </p:nvSpPr>
        <p:spPr>
          <a:xfrm>
            <a:off x="567000" y="804600"/>
            <a:ext cx="10195200"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902" lnSpcReduction="10000"/>
          </a:bodyPr>
          <a:lstStyle/>
          <a:p>
            <a:pPr defTabSz="914400">
              <a:lnSpc>
                <a:spcPct val="100000"/>
              </a:lnSpc>
              <a:buNone/>
              <a:tabLst>
                <a:tab pos="0" algn="l"/>
              </a:tabLst>
            </a:pPr>
            <a:r>
              <a:rPr sz="2600" b="1" u="none">
                <a:solidFill>
                  <a:srgbClr val="151327"/>
                </a:solidFill>
                <a:latin typeface="Aptos Display"/>
                <a:ea typeface="Aptos Display"/>
                <a:cs typeface="Aptos Display"/>
              </a:rPr>
              <a:t>Conocer una tool no equivale a poder ejecutarla; catálogo, availability, policy, adapter y evidence son capas distintas.</a:t>
            </a:r>
            <a:endParaRPr sz="2600" b="0" u="none">
              <a:solidFill>
                <a:srgbClr val="000000"/>
              </a:solidFill>
              <a:latin typeface="Arial"/>
              <a:ea typeface="Arial"/>
              <a:cs typeface="Arial"/>
            </a:endParaRPr>
          </a:p>
        </p:txBody>
      </p:sp>
      <p:sp>
        <p:nvSpPr>
          <p:cNvPr id="600" name="Text 3">
            <a:extLst>
              <a:ext uri="{FF2B5EF4-FFF2-40B4-BE49-F238E27FC236}">
                <a16:creationId xmlns:a16="http://schemas.microsoft.com/office/drawing/2014/main" id="{E92C7BA6-76D8-4990-8855-36A226B5517F}"/>
              </a:ext>
            </a:extLst>
          </p:cNvPr>
          <p:cNvSpPr>
            <a:spLocks noGrp="1"/>
          </p:cNvSpPr>
          <p:nvPr/>
        </p:nvSpPr>
        <p:spPr>
          <a:xfrm>
            <a:off x="567000" y="1552734"/>
            <a:ext cx="9682786" cy="50750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b="0" u="none">
                <a:solidFill>
                  <a:srgbClr val="6F6888"/>
                </a:solidFill>
                <a:latin typeface="Aptos"/>
                <a:ea typeface="Aptos"/>
                <a:cs typeface="Aptos"/>
              </a:rPr>
              <a:t>El capability contract debe sobrevivir al cambio de provider.</a:t>
            </a:r>
            <a:endParaRPr b="0" u="none">
              <a:solidFill>
                <a:srgbClr val="000000"/>
              </a:solidFill>
              <a:latin typeface="Arial"/>
              <a:ea typeface="Arial"/>
              <a:cs typeface="Arial"/>
            </a:endParaRPr>
          </a:p>
        </p:txBody>
      </p:sp>
      <p:sp>
        <p:nvSpPr>
          <p:cNvPr id="602" name="Text 5">
            <a:extLst>
              <a:ext uri="{FF2B5EF4-FFF2-40B4-BE49-F238E27FC236}">
                <a16:creationId xmlns:a16="http://schemas.microsoft.com/office/drawing/2014/main" id="{3D1E55AA-4B19-472B-B488-457607506D1E}"/>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603" name="Text 6">
            <a:extLst>
              <a:ext uri="{FF2B5EF4-FFF2-40B4-BE49-F238E27FC236}">
                <a16:creationId xmlns:a16="http://schemas.microsoft.com/office/drawing/2014/main" id="{1914CEC5-2A02-4C61-B0D0-C3451437C368}"/>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604" name="Text 7">
            <a:extLst>
              <a:ext uri="{FF2B5EF4-FFF2-40B4-BE49-F238E27FC236}">
                <a16:creationId xmlns:a16="http://schemas.microsoft.com/office/drawing/2014/main" id="{47EE1E90-9D10-4037-9AA4-07C0777E5DEE}"/>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10</a:t>
            </a:r>
            <a:endParaRPr sz="800" b="0" u="none">
              <a:solidFill>
                <a:srgbClr val="000000"/>
              </a:solidFill>
              <a:latin typeface="Arial"/>
              <a:ea typeface="Arial"/>
              <a:cs typeface="Arial"/>
            </a:endParaRPr>
          </a:p>
        </p:txBody>
      </p:sp>
      <p:sp>
        <p:nvSpPr>
          <p:cNvPr id="605" name="Shape 8">
            <a:extLst>
              <a:ext uri="{FF2B5EF4-FFF2-40B4-BE49-F238E27FC236}">
                <a16:creationId xmlns:a16="http://schemas.microsoft.com/office/drawing/2014/main" id="{04DD929C-E8A7-40EF-A58B-77606AC73D5E}"/>
              </a:ext>
            </a:extLst>
          </p:cNvPr>
          <p:cNvSpPr>
            <a:spLocks noGrp="1"/>
          </p:cNvSpPr>
          <p:nvPr/>
        </p:nvSpPr>
        <p:spPr>
          <a:xfrm>
            <a:off x="649647" y="2553946"/>
            <a:ext cx="292320" cy="29232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06" name="Text 9">
            <a:extLst>
              <a:ext uri="{FF2B5EF4-FFF2-40B4-BE49-F238E27FC236}">
                <a16:creationId xmlns:a16="http://schemas.microsoft.com/office/drawing/2014/main" id="{89D09C95-B7B0-4EAD-86E4-11097D459FD5}"/>
              </a:ext>
            </a:extLst>
          </p:cNvPr>
          <p:cNvSpPr>
            <a:spLocks noGrp="1"/>
          </p:cNvSpPr>
          <p:nvPr/>
        </p:nvSpPr>
        <p:spPr>
          <a:xfrm>
            <a:off x="649647" y="26180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1</a:t>
            </a:r>
            <a:endParaRPr sz="1600" b="0" u="none">
              <a:solidFill>
                <a:srgbClr val="000000"/>
              </a:solidFill>
              <a:latin typeface="Arial"/>
              <a:ea typeface="Arial"/>
              <a:cs typeface="Arial"/>
            </a:endParaRPr>
          </a:p>
        </p:txBody>
      </p:sp>
      <p:sp>
        <p:nvSpPr>
          <p:cNvPr id="607" name="Text 10">
            <a:extLst>
              <a:ext uri="{FF2B5EF4-FFF2-40B4-BE49-F238E27FC236}">
                <a16:creationId xmlns:a16="http://schemas.microsoft.com/office/drawing/2014/main" id="{03BCB5E6-7DB6-4DC3-B22A-565503F1BF0B}"/>
              </a:ext>
            </a:extLst>
          </p:cNvPr>
          <p:cNvSpPr>
            <a:spLocks noGrp="1"/>
          </p:cNvSpPr>
          <p:nvPr/>
        </p:nvSpPr>
        <p:spPr>
          <a:xfrm>
            <a:off x="1061127" y="25172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0" u="none">
                <a:solidFill>
                  <a:srgbClr val="151327"/>
                </a:solidFill>
                <a:latin typeface="Aptos"/>
                <a:ea typeface="Aptos"/>
                <a:cs typeface="Aptos"/>
              </a:rPr>
              <a:t>Capability request</a:t>
            </a:r>
            <a:endParaRPr b="0" u="none">
              <a:solidFill>
                <a:srgbClr val="000000"/>
              </a:solidFill>
              <a:latin typeface="Arial"/>
              <a:ea typeface="Arial"/>
              <a:cs typeface="Arial"/>
            </a:endParaRPr>
          </a:p>
        </p:txBody>
      </p:sp>
      <p:sp>
        <p:nvSpPr>
          <p:cNvPr id="608" name="Shape 11">
            <a:extLst>
              <a:ext uri="{FF2B5EF4-FFF2-40B4-BE49-F238E27FC236}">
                <a16:creationId xmlns:a16="http://schemas.microsoft.com/office/drawing/2014/main" id="{C9DA9A37-AD16-4C47-ACD4-8959A31D5E37}"/>
              </a:ext>
            </a:extLst>
          </p:cNvPr>
          <p:cNvSpPr>
            <a:spLocks noGrp="1"/>
          </p:cNvSpPr>
          <p:nvPr/>
        </p:nvSpPr>
        <p:spPr>
          <a:xfrm>
            <a:off x="649647" y="3239746"/>
            <a:ext cx="292320" cy="29232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09" name="Text 12">
            <a:extLst>
              <a:ext uri="{FF2B5EF4-FFF2-40B4-BE49-F238E27FC236}">
                <a16:creationId xmlns:a16="http://schemas.microsoft.com/office/drawing/2014/main" id="{1BBC9C46-ACE6-4614-8A4F-34488556E82E}"/>
              </a:ext>
            </a:extLst>
          </p:cNvPr>
          <p:cNvSpPr>
            <a:spLocks noGrp="1"/>
          </p:cNvSpPr>
          <p:nvPr/>
        </p:nvSpPr>
        <p:spPr>
          <a:xfrm>
            <a:off x="649647" y="33038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2</a:t>
            </a:r>
            <a:endParaRPr sz="1600" b="0" u="none">
              <a:solidFill>
                <a:srgbClr val="000000"/>
              </a:solidFill>
              <a:latin typeface="Arial"/>
              <a:ea typeface="Arial"/>
              <a:cs typeface="Arial"/>
            </a:endParaRPr>
          </a:p>
        </p:txBody>
      </p:sp>
      <p:sp>
        <p:nvSpPr>
          <p:cNvPr id="610" name="Text 13">
            <a:extLst>
              <a:ext uri="{FF2B5EF4-FFF2-40B4-BE49-F238E27FC236}">
                <a16:creationId xmlns:a16="http://schemas.microsoft.com/office/drawing/2014/main" id="{FE169AB7-BBB4-444C-B3DD-72A23224EC73}"/>
              </a:ext>
            </a:extLst>
          </p:cNvPr>
          <p:cNvSpPr>
            <a:spLocks noGrp="1"/>
          </p:cNvSpPr>
          <p:nvPr/>
        </p:nvSpPr>
        <p:spPr>
          <a:xfrm>
            <a:off x="1061127" y="32030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0" u="none">
                <a:solidFill>
                  <a:srgbClr val="151327"/>
                </a:solidFill>
                <a:latin typeface="Aptos"/>
                <a:ea typeface="Aptos"/>
                <a:cs typeface="Aptos"/>
              </a:rPr>
              <a:t>Catalog definition</a:t>
            </a:r>
            <a:endParaRPr b="0" u="none">
              <a:solidFill>
                <a:srgbClr val="000000"/>
              </a:solidFill>
              <a:latin typeface="Arial"/>
              <a:ea typeface="Arial"/>
              <a:cs typeface="Arial"/>
            </a:endParaRPr>
          </a:p>
        </p:txBody>
      </p:sp>
      <p:sp>
        <p:nvSpPr>
          <p:cNvPr id="611" name="Shape 14">
            <a:extLst>
              <a:ext uri="{FF2B5EF4-FFF2-40B4-BE49-F238E27FC236}">
                <a16:creationId xmlns:a16="http://schemas.microsoft.com/office/drawing/2014/main" id="{CB3BBA31-DB9D-41ED-94A2-E665BBBE125B}"/>
              </a:ext>
            </a:extLst>
          </p:cNvPr>
          <p:cNvSpPr>
            <a:spLocks noGrp="1"/>
          </p:cNvSpPr>
          <p:nvPr/>
        </p:nvSpPr>
        <p:spPr>
          <a:xfrm>
            <a:off x="649647" y="3925546"/>
            <a:ext cx="292320" cy="29232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12" name="Text 15">
            <a:extLst>
              <a:ext uri="{FF2B5EF4-FFF2-40B4-BE49-F238E27FC236}">
                <a16:creationId xmlns:a16="http://schemas.microsoft.com/office/drawing/2014/main" id="{1F8AB10A-2CAA-4E17-90A2-1E04E422478F}"/>
              </a:ext>
            </a:extLst>
          </p:cNvPr>
          <p:cNvSpPr>
            <a:spLocks noGrp="1"/>
          </p:cNvSpPr>
          <p:nvPr/>
        </p:nvSpPr>
        <p:spPr>
          <a:xfrm>
            <a:off x="649647" y="39896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3</a:t>
            </a:r>
            <a:endParaRPr sz="1600" b="0" u="none">
              <a:solidFill>
                <a:srgbClr val="000000"/>
              </a:solidFill>
              <a:latin typeface="Arial"/>
              <a:ea typeface="Arial"/>
              <a:cs typeface="Arial"/>
            </a:endParaRPr>
          </a:p>
        </p:txBody>
      </p:sp>
      <p:sp>
        <p:nvSpPr>
          <p:cNvPr id="613" name="Text 16">
            <a:extLst>
              <a:ext uri="{FF2B5EF4-FFF2-40B4-BE49-F238E27FC236}">
                <a16:creationId xmlns:a16="http://schemas.microsoft.com/office/drawing/2014/main" id="{B1671692-316B-4117-8958-8AC933CE23E4}"/>
              </a:ext>
            </a:extLst>
          </p:cNvPr>
          <p:cNvSpPr>
            <a:spLocks noGrp="1"/>
          </p:cNvSpPr>
          <p:nvPr/>
        </p:nvSpPr>
        <p:spPr>
          <a:xfrm>
            <a:off x="1061127" y="38888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t>Schema + availability</a:t>
            </a:r>
            <a:endParaRPr b="0" u="none">
              <a:solidFill>
                <a:srgbClr val="000000"/>
              </a:solidFill>
              <a:latin typeface="Arial"/>
              <a:ea typeface="Arial"/>
              <a:cs typeface="Arial"/>
            </a:endParaRPr>
          </a:p>
        </p:txBody>
      </p:sp>
      <p:sp>
        <p:nvSpPr>
          <p:cNvPr id="614" name="Shape 17">
            <a:extLst>
              <a:ext uri="{FF2B5EF4-FFF2-40B4-BE49-F238E27FC236}">
                <a16:creationId xmlns:a16="http://schemas.microsoft.com/office/drawing/2014/main" id="{5F0A08CE-8D08-470D-9B94-BA5C9B613282}"/>
              </a:ext>
            </a:extLst>
          </p:cNvPr>
          <p:cNvSpPr>
            <a:spLocks noGrp="1"/>
          </p:cNvSpPr>
          <p:nvPr/>
        </p:nvSpPr>
        <p:spPr>
          <a:xfrm>
            <a:off x="649647" y="4611346"/>
            <a:ext cx="292320" cy="29232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15" name="Text 18">
            <a:extLst>
              <a:ext uri="{FF2B5EF4-FFF2-40B4-BE49-F238E27FC236}">
                <a16:creationId xmlns:a16="http://schemas.microsoft.com/office/drawing/2014/main" id="{CE0117C1-1B86-44D2-970D-54078423FE9B}"/>
              </a:ext>
            </a:extLst>
          </p:cNvPr>
          <p:cNvSpPr>
            <a:spLocks noGrp="1"/>
          </p:cNvSpPr>
          <p:nvPr/>
        </p:nvSpPr>
        <p:spPr>
          <a:xfrm>
            <a:off x="649647" y="46754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4</a:t>
            </a:r>
            <a:endParaRPr sz="1600" b="0" u="none">
              <a:solidFill>
                <a:srgbClr val="000000"/>
              </a:solidFill>
              <a:latin typeface="Arial"/>
              <a:ea typeface="Arial"/>
              <a:cs typeface="Arial"/>
            </a:endParaRPr>
          </a:p>
        </p:txBody>
      </p:sp>
      <p:sp>
        <p:nvSpPr>
          <p:cNvPr id="616" name="Text 19">
            <a:extLst>
              <a:ext uri="{FF2B5EF4-FFF2-40B4-BE49-F238E27FC236}">
                <a16:creationId xmlns:a16="http://schemas.microsoft.com/office/drawing/2014/main" id="{B41C6CDC-A225-4945-80B8-10A88EEE9B88}"/>
              </a:ext>
            </a:extLst>
          </p:cNvPr>
          <p:cNvSpPr>
            <a:spLocks noGrp="1"/>
          </p:cNvSpPr>
          <p:nvPr/>
        </p:nvSpPr>
        <p:spPr>
          <a:xfrm>
            <a:off x="1061127" y="45746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0" u="none">
                <a:solidFill>
                  <a:srgbClr val="151327"/>
                </a:solidFill>
                <a:latin typeface="Aptos"/>
                <a:ea typeface="Aptos"/>
                <a:cs typeface="Aptos"/>
              </a:rPr>
              <a:t>Risk / approval policy</a:t>
            </a:r>
            <a:endParaRPr b="0" u="none">
              <a:solidFill>
                <a:srgbClr val="000000"/>
              </a:solidFill>
              <a:latin typeface="Arial"/>
              <a:ea typeface="Arial"/>
              <a:cs typeface="Arial"/>
            </a:endParaRPr>
          </a:p>
        </p:txBody>
      </p:sp>
      <p:sp>
        <p:nvSpPr>
          <p:cNvPr id="617" name="Shape 20">
            <a:extLst>
              <a:ext uri="{FF2B5EF4-FFF2-40B4-BE49-F238E27FC236}">
                <a16:creationId xmlns:a16="http://schemas.microsoft.com/office/drawing/2014/main" id="{4BCCD321-7BB4-4839-9E3A-33D3BC80EBC0}"/>
              </a:ext>
            </a:extLst>
          </p:cNvPr>
          <p:cNvSpPr>
            <a:spLocks noGrp="1"/>
          </p:cNvSpPr>
          <p:nvPr/>
        </p:nvSpPr>
        <p:spPr>
          <a:xfrm>
            <a:off x="649647" y="5297146"/>
            <a:ext cx="292320" cy="29232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18" name="Text 21">
            <a:extLst>
              <a:ext uri="{FF2B5EF4-FFF2-40B4-BE49-F238E27FC236}">
                <a16:creationId xmlns:a16="http://schemas.microsoft.com/office/drawing/2014/main" id="{9AA6ABB1-633A-4E6E-9A4D-898DADCB19B9}"/>
              </a:ext>
            </a:extLst>
          </p:cNvPr>
          <p:cNvSpPr>
            <a:spLocks noGrp="1"/>
          </p:cNvSpPr>
          <p:nvPr/>
        </p:nvSpPr>
        <p:spPr>
          <a:xfrm>
            <a:off x="649647" y="53612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5</a:t>
            </a:r>
            <a:endParaRPr sz="1600" b="0" u="none">
              <a:solidFill>
                <a:srgbClr val="000000"/>
              </a:solidFill>
              <a:latin typeface="Arial"/>
              <a:ea typeface="Arial"/>
              <a:cs typeface="Arial"/>
            </a:endParaRPr>
          </a:p>
        </p:txBody>
      </p:sp>
      <p:sp>
        <p:nvSpPr>
          <p:cNvPr id="619" name="Text 22">
            <a:extLst>
              <a:ext uri="{FF2B5EF4-FFF2-40B4-BE49-F238E27FC236}">
                <a16:creationId xmlns:a16="http://schemas.microsoft.com/office/drawing/2014/main" id="{3B38EE43-27D2-4B85-AD2D-B01F2C52A774}"/>
              </a:ext>
            </a:extLst>
          </p:cNvPr>
          <p:cNvSpPr>
            <a:spLocks noGrp="1"/>
          </p:cNvSpPr>
          <p:nvPr/>
        </p:nvSpPr>
        <p:spPr>
          <a:xfrm>
            <a:off x="1061127" y="526314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b="0" u="none" dirty="0">
                <a:solidFill>
                  <a:srgbClr val="151327"/>
                </a:solidFill>
                <a:latin typeface="Aptos"/>
                <a:ea typeface="Aptos"/>
                <a:cs typeface="Aptos"/>
              </a:rPr>
              <a:t>Adapter validation</a:t>
            </a:r>
            <a:endParaRPr b="0" u="none" dirty="0">
              <a:solidFill>
                <a:srgbClr val="000000"/>
              </a:solidFill>
              <a:latin typeface="Arial"/>
              <a:ea typeface="Arial"/>
              <a:cs typeface="Arial"/>
            </a:endParaRPr>
          </a:p>
        </p:txBody>
      </p:sp>
      <p:sp>
        <p:nvSpPr>
          <p:cNvPr id="620" name="Shape 23">
            <a:extLst>
              <a:ext uri="{FF2B5EF4-FFF2-40B4-BE49-F238E27FC236}">
                <a16:creationId xmlns:a16="http://schemas.microsoft.com/office/drawing/2014/main" id="{88EE5318-6F34-4145-BBF3-90F2DEF12EA7}"/>
              </a:ext>
            </a:extLst>
          </p:cNvPr>
          <p:cNvSpPr>
            <a:spLocks noGrp="1"/>
          </p:cNvSpPr>
          <p:nvPr/>
        </p:nvSpPr>
        <p:spPr>
          <a:xfrm>
            <a:off x="6273207" y="2553946"/>
            <a:ext cx="292320" cy="2923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21" name="Text 24">
            <a:extLst>
              <a:ext uri="{FF2B5EF4-FFF2-40B4-BE49-F238E27FC236}">
                <a16:creationId xmlns:a16="http://schemas.microsoft.com/office/drawing/2014/main" id="{350ED758-CE1A-42C9-996C-975336E8F161}"/>
              </a:ext>
            </a:extLst>
          </p:cNvPr>
          <p:cNvSpPr>
            <a:spLocks noGrp="1"/>
          </p:cNvSpPr>
          <p:nvPr/>
        </p:nvSpPr>
        <p:spPr>
          <a:xfrm>
            <a:off x="6273207" y="26180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6</a:t>
            </a:r>
            <a:endParaRPr sz="1600" b="0" u="none">
              <a:solidFill>
                <a:srgbClr val="000000"/>
              </a:solidFill>
              <a:latin typeface="Arial"/>
              <a:ea typeface="Arial"/>
              <a:cs typeface="Arial"/>
            </a:endParaRPr>
          </a:p>
        </p:txBody>
      </p:sp>
      <p:sp>
        <p:nvSpPr>
          <p:cNvPr id="622" name="Text 25">
            <a:extLst>
              <a:ext uri="{FF2B5EF4-FFF2-40B4-BE49-F238E27FC236}">
                <a16:creationId xmlns:a16="http://schemas.microsoft.com/office/drawing/2014/main" id="{573B4A54-2078-4746-9D6E-68697E619D90}"/>
              </a:ext>
            </a:extLst>
          </p:cNvPr>
          <p:cNvSpPr>
            <a:spLocks noGrp="1"/>
          </p:cNvSpPr>
          <p:nvPr/>
        </p:nvSpPr>
        <p:spPr>
          <a:xfrm>
            <a:off x="6684687" y="2518355"/>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b="0" u="none" dirty="0">
                <a:solidFill>
                  <a:srgbClr val="151327"/>
                </a:solidFill>
                <a:latin typeface="Aptos"/>
                <a:ea typeface="Aptos"/>
                <a:cs typeface="Aptos"/>
              </a:rPr>
              <a:t>Provider / system call</a:t>
            </a:r>
            <a:endParaRPr b="0" u="none" dirty="0">
              <a:solidFill>
                <a:srgbClr val="000000"/>
              </a:solidFill>
              <a:latin typeface="Arial"/>
              <a:ea typeface="Arial"/>
              <a:cs typeface="Arial"/>
            </a:endParaRPr>
          </a:p>
        </p:txBody>
      </p:sp>
      <p:sp>
        <p:nvSpPr>
          <p:cNvPr id="623" name="Shape 26">
            <a:extLst>
              <a:ext uri="{FF2B5EF4-FFF2-40B4-BE49-F238E27FC236}">
                <a16:creationId xmlns:a16="http://schemas.microsoft.com/office/drawing/2014/main" id="{2DBEC732-C9DC-4998-B189-2D3390B63BCF}"/>
              </a:ext>
            </a:extLst>
          </p:cNvPr>
          <p:cNvSpPr>
            <a:spLocks noGrp="1"/>
          </p:cNvSpPr>
          <p:nvPr/>
        </p:nvSpPr>
        <p:spPr>
          <a:xfrm>
            <a:off x="6273207" y="3239746"/>
            <a:ext cx="292320" cy="2923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24" name="Text 27">
            <a:extLst>
              <a:ext uri="{FF2B5EF4-FFF2-40B4-BE49-F238E27FC236}">
                <a16:creationId xmlns:a16="http://schemas.microsoft.com/office/drawing/2014/main" id="{D7AA12D3-E532-493E-8841-37A08663B4F6}"/>
              </a:ext>
            </a:extLst>
          </p:cNvPr>
          <p:cNvSpPr>
            <a:spLocks noGrp="1"/>
          </p:cNvSpPr>
          <p:nvPr/>
        </p:nvSpPr>
        <p:spPr>
          <a:xfrm>
            <a:off x="6273207" y="33038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7</a:t>
            </a:r>
            <a:endParaRPr sz="1600" b="0" u="none">
              <a:solidFill>
                <a:srgbClr val="000000"/>
              </a:solidFill>
              <a:latin typeface="Arial"/>
              <a:ea typeface="Arial"/>
              <a:cs typeface="Arial"/>
            </a:endParaRPr>
          </a:p>
        </p:txBody>
      </p:sp>
      <p:sp>
        <p:nvSpPr>
          <p:cNvPr id="625" name="Text 28">
            <a:extLst>
              <a:ext uri="{FF2B5EF4-FFF2-40B4-BE49-F238E27FC236}">
                <a16:creationId xmlns:a16="http://schemas.microsoft.com/office/drawing/2014/main" id="{38582139-A5D1-4C4B-91D3-275176B23820}"/>
              </a:ext>
            </a:extLst>
          </p:cNvPr>
          <p:cNvSpPr>
            <a:spLocks noGrp="1"/>
          </p:cNvSpPr>
          <p:nvPr/>
        </p:nvSpPr>
        <p:spPr>
          <a:xfrm>
            <a:off x="6684687" y="32030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0" u="none">
                <a:solidFill>
                  <a:srgbClr val="151327"/>
                </a:solidFill>
                <a:latin typeface="Aptos"/>
                <a:ea typeface="Aptos"/>
                <a:cs typeface="Aptos"/>
              </a:rPr>
              <a:t>Normalized result</a:t>
            </a:r>
            <a:endParaRPr b="0" u="none">
              <a:solidFill>
                <a:srgbClr val="000000"/>
              </a:solidFill>
              <a:latin typeface="Arial"/>
              <a:ea typeface="Arial"/>
              <a:cs typeface="Arial"/>
            </a:endParaRPr>
          </a:p>
        </p:txBody>
      </p:sp>
      <p:sp>
        <p:nvSpPr>
          <p:cNvPr id="626" name="Shape 29">
            <a:extLst>
              <a:ext uri="{FF2B5EF4-FFF2-40B4-BE49-F238E27FC236}">
                <a16:creationId xmlns:a16="http://schemas.microsoft.com/office/drawing/2014/main" id="{B740E535-B9D7-487B-A02D-71BC4ECB4CA4}"/>
              </a:ext>
            </a:extLst>
          </p:cNvPr>
          <p:cNvSpPr>
            <a:spLocks noGrp="1"/>
          </p:cNvSpPr>
          <p:nvPr/>
        </p:nvSpPr>
        <p:spPr>
          <a:xfrm>
            <a:off x="6273207" y="3925546"/>
            <a:ext cx="292320" cy="2923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27" name="Text 30">
            <a:extLst>
              <a:ext uri="{FF2B5EF4-FFF2-40B4-BE49-F238E27FC236}">
                <a16:creationId xmlns:a16="http://schemas.microsoft.com/office/drawing/2014/main" id="{AD2FFEB0-14A7-440E-BB87-24C73DA1BF4C}"/>
              </a:ext>
            </a:extLst>
          </p:cNvPr>
          <p:cNvSpPr>
            <a:spLocks noGrp="1"/>
          </p:cNvSpPr>
          <p:nvPr/>
        </p:nvSpPr>
        <p:spPr>
          <a:xfrm>
            <a:off x="6273207" y="39896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8</a:t>
            </a:r>
            <a:endParaRPr sz="1600" b="0" u="none">
              <a:solidFill>
                <a:srgbClr val="000000"/>
              </a:solidFill>
              <a:latin typeface="Arial"/>
              <a:ea typeface="Arial"/>
              <a:cs typeface="Arial"/>
            </a:endParaRPr>
          </a:p>
        </p:txBody>
      </p:sp>
      <p:sp>
        <p:nvSpPr>
          <p:cNvPr id="628" name="Text 31">
            <a:extLst>
              <a:ext uri="{FF2B5EF4-FFF2-40B4-BE49-F238E27FC236}">
                <a16:creationId xmlns:a16="http://schemas.microsoft.com/office/drawing/2014/main" id="{4C7B5E41-8723-48CD-BC62-C3A9A7958038}"/>
              </a:ext>
            </a:extLst>
          </p:cNvPr>
          <p:cNvSpPr>
            <a:spLocks noGrp="1"/>
          </p:cNvSpPr>
          <p:nvPr/>
        </p:nvSpPr>
        <p:spPr>
          <a:xfrm>
            <a:off x="6684687" y="390850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b="0" u="none" dirty="0">
                <a:solidFill>
                  <a:srgbClr val="151327"/>
                </a:solidFill>
                <a:latin typeface="Aptos"/>
                <a:ea typeface="Aptos"/>
                <a:cs typeface="Aptos"/>
              </a:rPr>
              <a:t>Provenance / refusal</a:t>
            </a:r>
            <a:endParaRPr b="0" u="none" dirty="0">
              <a:solidFill>
                <a:srgbClr val="000000"/>
              </a:solidFill>
              <a:latin typeface="Arial"/>
              <a:ea typeface="Arial"/>
              <a:cs typeface="Arial"/>
            </a:endParaRPr>
          </a:p>
        </p:txBody>
      </p:sp>
      <p:sp>
        <p:nvSpPr>
          <p:cNvPr id="629" name="Shape 32">
            <a:extLst>
              <a:ext uri="{FF2B5EF4-FFF2-40B4-BE49-F238E27FC236}">
                <a16:creationId xmlns:a16="http://schemas.microsoft.com/office/drawing/2014/main" id="{1931142D-A0F7-4868-A3A8-21DBDE355E40}"/>
              </a:ext>
            </a:extLst>
          </p:cNvPr>
          <p:cNvSpPr>
            <a:spLocks noGrp="1"/>
          </p:cNvSpPr>
          <p:nvPr/>
        </p:nvSpPr>
        <p:spPr>
          <a:xfrm>
            <a:off x="6273207" y="4611346"/>
            <a:ext cx="292320" cy="2923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30" name="Text 33">
            <a:extLst>
              <a:ext uri="{FF2B5EF4-FFF2-40B4-BE49-F238E27FC236}">
                <a16:creationId xmlns:a16="http://schemas.microsoft.com/office/drawing/2014/main" id="{6EF54F83-55F8-4570-B130-B0D4804A354F}"/>
              </a:ext>
            </a:extLst>
          </p:cNvPr>
          <p:cNvSpPr>
            <a:spLocks noGrp="1"/>
          </p:cNvSpPr>
          <p:nvPr/>
        </p:nvSpPr>
        <p:spPr>
          <a:xfrm>
            <a:off x="6273207" y="46754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9</a:t>
            </a:r>
            <a:endParaRPr sz="1600" b="0" u="none">
              <a:solidFill>
                <a:srgbClr val="000000"/>
              </a:solidFill>
              <a:latin typeface="Arial"/>
              <a:ea typeface="Arial"/>
              <a:cs typeface="Arial"/>
            </a:endParaRPr>
          </a:p>
        </p:txBody>
      </p:sp>
      <p:sp>
        <p:nvSpPr>
          <p:cNvPr id="631" name="Text 34">
            <a:extLst>
              <a:ext uri="{FF2B5EF4-FFF2-40B4-BE49-F238E27FC236}">
                <a16:creationId xmlns:a16="http://schemas.microsoft.com/office/drawing/2014/main" id="{A8B46107-B766-4267-9D76-7DDEC33A6475}"/>
              </a:ext>
            </a:extLst>
          </p:cNvPr>
          <p:cNvSpPr>
            <a:spLocks noGrp="1"/>
          </p:cNvSpPr>
          <p:nvPr/>
        </p:nvSpPr>
        <p:spPr>
          <a:xfrm>
            <a:off x="6684687" y="45746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0" u="none">
                <a:solidFill>
                  <a:srgbClr val="151327"/>
                </a:solidFill>
                <a:latin typeface="Aptos"/>
                <a:ea typeface="Aptos"/>
                <a:cs typeface="Aptos"/>
              </a:rPr>
              <a:t>ToolMessage</a:t>
            </a:r>
            <a:endParaRPr b="0" u="none">
              <a:solidFill>
                <a:srgbClr val="000000"/>
              </a:solidFill>
              <a:latin typeface="Arial"/>
              <a:ea typeface="Arial"/>
              <a:cs typeface="Arial"/>
            </a:endParaRPr>
          </a:p>
        </p:txBody>
      </p:sp>
      <p:sp>
        <p:nvSpPr>
          <p:cNvPr id="632" name="Shape 35">
            <a:extLst>
              <a:ext uri="{FF2B5EF4-FFF2-40B4-BE49-F238E27FC236}">
                <a16:creationId xmlns:a16="http://schemas.microsoft.com/office/drawing/2014/main" id="{C14BD1B5-30D3-4EE6-8529-2E84394EA8DA}"/>
              </a:ext>
            </a:extLst>
          </p:cNvPr>
          <p:cNvSpPr>
            <a:spLocks noGrp="1"/>
          </p:cNvSpPr>
          <p:nvPr/>
        </p:nvSpPr>
        <p:spPr>
          <a:xfrm>
            <a:off x="6273207" y="5297146"/>
            <a:ext cx="292320" cy="29232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33" name="Text 36">
            <a:extLst>
              <a:ext uri="{FF2B5EF4-FFF2-40B4-BE49-F238E27FC236}">
                <a16:creationId xmlns:a16="http://schemas.microsoft.com/office/drawing/2014/main" id="{851527BD-DD3A-4E87-B974-10B98A5D0FD5}"/>
              </a:ext>
            </a:extLst>
          </p:cNvPr>
          <p:cNvSpPr>
            <a:spLocks noGrp="1"/>
          </p:cNvSpPr>
          <p:nvPr/>
        </p:nvSpPr>
        <p:spPr>
          <a:xfrm>
            <a:off x="6273207" y="5361226"/>
            <a:ext cx="292320" cy="9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10</a:t>
            </a:r>
            <a:endParaRPr sz="1600" b="0" u="none">
              <a:solidFill>
                <a:srgbClr val="000000"/>
              </a:solidFill>
              <a:latin typeface="Arial"/>
              <a:ea typeface="Arial"/>
              <a:cs typeface="Arial"/>
            </a:endParaRPr>
          </a:p>
        </p:txBody>
      </p:sp>
      <p:sp>
        <p:nvSpPr>
          <p:cNvPr id="634" name="Text 37">
            <a:extLst>
              <a:ext uri="{FF2B5EF4-FFF2-40B4-BE49-F238E27FC236}">
                <a16:creationId xmlns:a16="http://schemas.microsoft.com/office/drawing/2014/main" id="{2904190D-C8FF-4A72-A7AB-21BF34739C8A}"/>
              </a:ext>
            </a:extLst>
          </p:cNvPr>
          <p:cNvSpPr>
            <a:spLocks noGrp="1"/>
          </p:cNvSpPr>
          <p:nvPr/>
        </p:nvSpPr>
        <p:spPr>
          <a:xfrm>
            <a:off x="6684687" y="5260426"/>
            <a:ext cx="46173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0" u="none">
                <a:solidFill>
                  <a:srgbClr val="151327"/>
                </a:solidFill>
                <a:latin typeface="Aptos"/>
                <a:ea typeface="Aptos"/>
                <a:cs typeface="Aptos"/>
              </a:rPr>
              <a:t>Verification / next step</a:t>
            </a:r>
            <a:endParaRPr b="0" u="none">
              <a:solidFill>
                <a:srgbClr val="000000"/>
              </a:solidFill>
              <a:latin typeface="Arial"/>
              <a:ea typeface="Arial"/>
              <a:cs typeface="Arial"/>
            </a:endParaRPr>
          </a:p>
        </p:txBody>
      </p:sp>
      <p:pic>
        <p:nvPicPr>
          <p:cNvPr id="673"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245578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18" name="Shape 0">
            <a:extLst>
              <a:ext uri="{FF2B5EF4-FFF2-40B4-BE49-F238E27FC236}">
                <a16:creationId xmlns:a16="http://schemas.microsoft.com/office/drawing/2014/main" id="{4BBAACC3-A791-45E5-90BD-10F6EBE250E8}"/>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19" name="Text 1">
            <a:extLst>
              <a:ext uri="{FF2B5EF4-FFF2-40B4-BE49-F238E27FC236}">
                <a16:creationId xmlns:a16="http://schemas.microsoft.com/office/drawing/2014/main" id="{F1D40F3B-2F08-4C83-9264-68BFDA97A0B2}"/>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TOOL RISK DEFINE EL DEFAULT; CONTEXT PUEDE ESTRECHARLO</a:t>
            </a:r>
            <a:endParaRPr sz="1200" b="0" u="none">
              <a:solidFill>
                <a:srgbClr val="000000"/>
              </a:solidFill>
              <a:latin typeface="Arial"/>
              <a:ea typeface="Arial"/>
              <a:cs typeface="Arial"/>
            </a:endParaRPr>
          </a:p>
        </p:txBody>
      </p:sp>
      <p:sp>
        <p:nvSpPr>
          <p:cNvPr id="420" name="Text 2">
            <a:extLst>
              <a:ext uri="{FF2B5EF4-FFF2-40B4-BE49-F238E27FC236}">
                <a16:creationId xmlns:a16="http://schemas.microsoft.com/office/drawing/2014/main" id="{9F9F0B0F-11C7-4191-AD06-C27263CE56EF}"/>
              </a:ext>
            </a:extLst>
          </p:cNvPr>
          <p:cNvSpPr>
            <a:spLocks noGrp="1"/>
          </p:cNvSpPr>
          <p:nvPr/>
        </p:nvSpPr>
        <p:spPr>
          <a:xfrm>
            <a:off x="567000" y="831234"/>
            <a:ext cx="10195200" cy="712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dirty="0">
                <a:solidFill>
                  <a:srgbClr val="151327"/>
                </a:solidFill>
                <a:latin typeface="Aptos Display"/>
                <a:ea typeface="Aptos Display"/>
                <a:cs typeface="Aptos Display"/>
              </a:rPr>
              <a:t>Low </a:t>
            </a:r>
            <a:r>
              <a:rPr sz="2600" b="1" u="none" dirty="0" err="1">
                <a:solidFill>
                  <a:srgbClr val="151327"/>
                </a:solidFill>
                <a:latin typeface="Aptos Display"/>
                <a:ea typeface="Aptos Display"/>
                <a:cs typeface="Aptos Display"/>
              </a:rPr>
              <a:t>puede</a:t>
            </a:r>
            <a:r>
              <a:rPr sz="2600" b="1" u="none" dirty="0">
                <a:solidFill>
                  <a:srgbClr val="151327"/>
                </a:solidFill>
                <a:latin typeface="Aptos Display"/>
                <a:ea typeface="Aptos Display"/>
                <a:cs typeface="Aptos Display"/>
              </a:rPr>
              <a:t> auto-execute; medium/high request approval; unknown se </a:t>
            </a:r>
            <a:r>
              <a:rPr sz="2600" b="1" u="none" dirty="0" err="1">
                <a:solidFill>
                  <a:srgbClr val="151327"/>
                </a:solidFill>
                <a:latin typeface="Aptos Display"/>
                <a:ea typeface="Aptos Display"/>
                <a:cs typeface="Aptos Display"/>
              </a:rPr>
              <a:t>trata</a:t>
            </a:r>
            <a:r>
              <a:rPr sz="2600" b="1" u="none" dirty="0">
                <a:solidFill>
                  <a:srgbClr val="151327"/>
                </a:solidFill>
                <a:latin typeface="Aptos Display"/>
                <a:ea typeface="Aptos Display"/>
                <a:cs typeface="Aptos Display"/>
              </a:rPr>
              <a:t> </a:t>
            </a:r>
            <a:r>
              <a:rPr sz="2600" b="1" u="none" dirty="0" err="1">
                <a:solidFill>
                  <a:srgbClr val="151327"/>
                </a:solidFill>
                <a:latin typeface="Aptos Display"/>
                <a:ea typeface="Aptos Display"/>
                <a:cs typeface="Aptos Display"/>
              </a:rPr>
              <a:t>como</a:t>
            </a:r>
            <a:r>
              <a:rPr sz="2600" b="1" u="none" dirty="0">
                <a:solidFill>
                  <a:srgbClr val="151327"/>
                </a:solidFill>
                <a:latin typeface="Aptos Display"/>
                <a:ea typeface="Aptos Display"/>
                <a:cs typeface="Aptos Display"/>
              </a:rPr>
              <a:t> high.</a:t>
            </a:r>
            <a:endParaRPr sz="2600" b="0" u="none" dirty="0">
              <a:solidFill>
                <a:srgbClr val="000000"/>
              </a:solidFill>
              <a:latin typeface="Arial"/>
              <a:ea typeface="Arial"/>
              <a:cs typeface="Arial"/>
            </a:endParaRPr>
          </a:p>
        </p:txBody>
      </p:sp>
      <p:sp>
        <p:nvSpPr>
          <p:cNvPr id="421" name="Text 3">
            <a:extLst>
              <a:ext uri="{FF2B5EF4-FFF2-40B4-BE49-F238E27FC236}">
                <a16:creationId xmlns:a16="http://schemas.microsoft.com/office/drawing/2014/main" id="{7C9920B2-0B9C-405A-8FC2-3066958F1F12}"/>
              </a:ext>
            </a:extLst>
          </p:cNvPr>
          <p:cNvSpPr>
            <a:spLocks noGrp="1"/>
          </p:cNvSpPr>
          <p:nvPr/>
        </p:nvSpPr>
        <p:spPr>
          <a:xfrm>
            <a:off x="567000" y="1722964"/>
            <a:ext cx="10698120" cy="511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b="0" u="none">
                <a:solidFill>
                  <a:srgbClr val="6F6888"/>
                </a:solidFill>
                <a:latin typeface="Aptos"/>
                <a:ea typeface="Aptos"/>
                <a:cs typeface="Aptos"/>
              </a:rPr>
              <a:t>Scheduled Tasks pueden estrechar auto→approval→deny, nunca ampliar.</a:t>
            </a:r>
            <a:endParaRPr b="0" u="none">
              <a:solidFill>
                <a:srgbClr val="000000"/>
              </a:solidFill>
              <a:latin typeface="Arial"/>
              <a:ea typeface="Arial"/>
              <a:cs typeface="Arial"/>
            </a:endParaRPr>
          </a:p>
        </p:txBody>
      </p:sp>
      <p:sp>
        <p:nvSpPr>
          <p:cNvPr id="423" name="Text 5">
            <a:extLst>
              <a:ext uri="{FF2B5EF4-FFF2-40B4-BE49-F238E27FC236}">
                <a16:creationId xmlns:a16="http://schemas.microsoft.com/office/drawing/2014/main" id="{45E5FF60-280C-4427-B9EE-702C6AC4B0BA}"/>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24" name="Text 6">
            <a:extLst>
              <a:ext uri="{FF2B5EF4-FFF2-40B4-BE49-F238E27FC236}">
                <a16:creationId xmlns:a16="http://schemas.microsoft.com/office/drawing/2014/main" id="{2C7BE918-435D-46D0-A72D-6BFEFE98180D}"/>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25" name="Text 7">
            <a:extLst>
              <a:ext uri="{FF2B5EF4-FFF2-40B4-BE49-F238E27FC236}">
                <a16:creationId xmlns:a16="http://schemas.microsoft.com/office/drawing/2014/main" id="{2B7BB1E1-E16A-4C69-80F5-FD1C55C36297}"/>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11</a:t>
            </a:r>
            <a:endParaRPr sz="700" b="0" u="none">
              <a:solidFill>
                <a:srgbClr val="000000"/>
              </a:solidFill>
              <a:latin typeface="Arial"/>
              <a:ea typeface="Arial"/>
              <a:cs typeface="Arial"/>
            </a:endParaRPr>
          </a:p>
        </p:txBody>
      </p:sp>
      <p:sp>
        <p:nvSpPr>
          <p:cNvPr id="426" name="Shape 8">
            <a:extLst>
              <a:ext uri="{FF2B5EF4-FFF2-40B4-BE49-F238E27FC236}">
                <a16:creationId xmlns:a16="http://schemas.microsoft.com/office/drawing/2014/main" id="{9CCD3A35-0D41-4B31-AFFE-F330AE1968C2}"/>
              </a:ext>
            </a:extLst>
          </p:cNvPr>
          <p:cNvSpPr>
            <a:spLocks noGrp="1"/>
          </p:cNvSpPr>
          <p:nvPr/>
        </p:nvSpPr>
        <p:spPr>
          <a:xfrm>
            <a:off x="822960" y="2649424"/>
            <a:ext cx="3200040" cy="2239920"/>
          </a:xfrm>
          <a:prstGeom prst="roundRect">
            <a:avLst>
              <a:gd name="adj" fmla="val 4082"/>
            </a:avLst>
          </a:prstGeom>
          <a:solidFill>
            <a:srgbClr val="FFFFFF"/>
          </a:solidFill>
          <a:ln w="12700">
            <a:solidFill>
              <a:srgbClr val="078C53"/>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27" name="Text 9">
            <a:extLst>
              <a:ext uri="{FF2B5EF4-FFF2-40B4-BE49-F238E27FC236}">
                <a16:creationId xmlns:a16="http://schemas.microsoft.com/office/drawing/2014/main" id="{2B4765C8-6BF1-46F9-A8A3-80AAFFECDE1A}"/>
              </a:ext>
            </a:extLst>
          </p:cNvPr>
          <p:cNvSpPr>
            <a:spLocks noGrp="1"/>
          </p:cNvSpPr>
          <p:nvPr/>
        </p:nvSpPr>
        <p:spPr>
          <a:xfrm>
            <a:off x="96012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078C53"/>
                </a:solidFill>
                <a:latin typeface="Aptos"/>
                <a:ea typeface="Aptos"/>
                <a:cs typeface="Aptos"/>
              </a:rPr>
              <a:t>LOW</a:t>
            </a:r>
            <a:endParaRPr sz="1200" b="0" u="none">
              <a:solidFill>
                <a:srgbClr val="000000"/>
              </a:solidFill>
              <a:latin typeface="Arial"/>
              <a:ea typeface="Arial"/>
              <a:cs typeface="Arial"/>
            </a:endParaRPr>
          </a:p>
        </p:txBody>
      </p:sp>
      <p:sp>
        <p:nvSpPr>
          <p:cNvPr id="428" name="Text 10">
            <a:extLst>
              <a:ext uri="{FF2B5EF4-FFF2-40B4-BE49-F238E27FC236}">
                <a16:creationId xmlns:a16="http://schemas.microsoft.com/office/drawing/2014/main" id="{7F134683-F6F3-4A27-96B2-A8C1CE8A07F5}"/>
              </a:ext>
            </a:extLst>
          </p:cNvPr>
          <p:cNvSpPr>
            <a:spLocks noGrp="1"/>
          </p:cNvSpPr>
          <p:nvPr/>
        </p:nvSpPr>
        <p:spPr>
          <a:xfrm>
            <a:off x="102420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600" b="1" u="none" dirty="0">
                <a:solidFill>
                  <a:srgbClr val="151327"/>
                </a:solidFill>
                <a:latin typeface="Aptos Display"/>
                <a:ea typeface="Aptos Display"/>
                <a:cs typeface="Aptos Display"/>
              </a:rPr>
              <a:t>Auto-execute </a:t>
            </a:r>
            <a:r>
              <a:rPr sz="1600" b="1" u="none" dirty="0" err="1">
                <a:solidFill>
                  <a:srgbClr val="151327"/>
                </a:solidFill>
                <a:latin typeface="Aptos Display"/>
                <a:ea typeface="Aptos Display"/>
                <a:cs typeface="Aptos Display"/>
              </a:rPr>
              <a:t>por</a:t>
            </a:r>
            <a:r>
              <a:rPr sz="1600" b="1" u="none" dirty="0">
                <a:solidFill>
                  <a:srgbClr val="151327"/>
                </a:solidFill>
                <a:latin typeface="Aptos Display"/>
                <a:ea typeface="Aptos Display"/>
                <a:cs typeface="Aptos Display"/>
              </a:rPr>
              <a:t> default</a:t>
            </a:r>
            <a:endParaRPr sz="1600" b="0" u="none" dirty="0">
              <a:solidFill>
                <a:srgbClr val="000000"/>
              </a:solidFill>
              <a:latin typeface="Arial"/>
              <a:ea typeface="Arial"/>
              <a:cs typeface="Arial"/>
            </a:endParaRPr>
          </a:p>
        </p:txBody>
      </p:sp>
      <p:sp>
        <p:nvSpPr>
          <p:cNvPr id="429" name="Text 11">
            <a:extLst>
              <a:ext uri="{FF2B5EF4-FFF2-40B4-BE49-F238E27FC236}">
                <a16:creationId xmlns:a16="http://schemas.microsoft.com/office/drawing/2014/main" id="{9D304FCD-FA8D-4F73-ABAC-B561272A6512}"/>
              </a:ext>
            </a:extLst>
          </p:cNvPr>
          <p:cNvSpPr>
            <a:spLocks noGrp="1"/>
          </p:cNvSpPr>
          <p:nvPr/>
        </p:nvSpPr>
        <p:spPr>
          <a:xfrm>
            <a:off x="107892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Reads y operaciones acotadas; Policy/tenant siguen aplicando</a:t>
            </a:r>
            <a:endParaRPr sz="1400" b="0" u="none">
              <a:solidFill>
                <a:srgbClr val="000000"/>
              </a:solidFill>
              <a:latin typeface="Arial"/>
              <a:ea typeface="Arial"/>
              <a:cs typeface="Arial"/>
            </a:endParaRPr>
          </a:p>
        </p:txBody>
      </p:sp>
      <p:sp>
        <p:nvSpPr>
          <p:cNvPr id="430" name="Shape 12">
            <a:extLst>
              <a:ext uri="{FF2B5EF4-FFF2-40B4-BE49-F238E27FC236}">
                <a16:creationId xmlns:a16="http://schemas.microsoft.com/office/drawing/2014/main" id="{EF787178-85ED-45E2-B753-CA0056CFE17A}"/>
              </a:ext>
            </a:extLst>
          </p:cNvPr>
          <p:cNvSpPr>
            <a:spLocks noGrp="1"/>
          </p:cNvSpPr>
          <p:nvPr/>
        </p:nvSpPr>
        <p:spPr>
          <a:xfrm>
            <a:off x="4526280" y="2649424"/>
            <a:ext cx="3200040" cy="2239920"/>
          </a:xfrm>
          <a:prstGeom prst="roundRect">
            <a:avLst>
              <a:gd name="adj" fmla="val 4082"/>
            </a:avLst>
          </a:prstGeom>
          <a:solidFill>
            <a:srgbClr val="FFFFFF"/>
          </a:solidFill>
          <a:ln w="12700">
            <a:solidFill>
              <a:srgbClr val="F39A2B"/>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31" name="Text 13">
            <a:extLst>
              <a:ext uri="{FF2B5EF4-FFF2-40B4-BE49-F238E27FC236}">
                <a16:creationId xmlns:a16="http://schemas.microsoft.com/office/drawing/2014/main" id="{255F5FB9-074F-4C28-876F-51D8F78DF680}"/>
              </a:ext>
            </a:extLst>
          </p:cNvPr>
          <p:cNvSpPr>
            <a:spLocks noGrp="1"/>
          </p:cNvSpPr>
          <p:nvPr/>
        </p:nvSpPr>
        <p:spPr>
          <a:xfrm>
            <a:off x="466344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F39A2B"/>
                </a:solidFill>
                <a:latin typeface="Aptos"/>
                <a:ea typeface="Aptos"/>
                <a:cs typeface="Aptos"/>
              </a:rPr>
              <a:t>MEDIUM</a:t>
            </a:r>
            <a:endParaRPr sz="1200" b="0" u="none">
              <a:solidFill>
                <a:srgbClr val="000000"/>
              </a:solidFill>
              <a:latin typeface="Arial"/>
              <a:ea typeface="Arial"/>
              <a:cs typeface="Arial"/>
            </a:endParaRPr>
          </a:p>
        </p:txBody>
      </p:sp>
      <p:sp>
        <p:nvSpPr>
          <p:cNvPr id="432" name="Text 14">
            <a:extLst>
              <a:ext uri="{FF2B5EF4-FFF2-40B4-BE49-F238E27FC236}">
                <a16:creationId xmlns:a16="http://schemas.microsoft.com/office/drawing/2014/main" id="{861EC238-409B-4970-A121-1C58F1D0D043}"/>
              </a:ext>
            </a:extLst>
          </p:cNvPr>
          <p:cNvSpPr>
            <a:spLocks noGrp="1"/>
          </p:cNvSpPr>
          <p:nvPr/>
        </p:nvSpPr>
        <p:spPr>
          <a:xfrm>
            <a:off x="472752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600" b="1" u="none" dirty="0">
                <a:solidFill>
                  <a:srgbClr val="151327"/>
                </a:solidFill>
                <a:latin typeface="Aptos Display"/>
                <a:ea typeface="Aptos Display"/>
                <a:cs typeface="Aptos Display"/>
              </a:rPr>
              <a:t>Request approval</a:t>
            </a:r>
            <a:endParaRPr sz="1600" b="0" u="none" dirty="0">
              <a:solidFill>
                <a:srgbClr val="000000"/>
              </a:solidFill>
              <a:latin typeface="Arial"/>
              <a:ea typeface="Arial"/>
              <a:cs typeface="Arial"/>
            </a:endParaRPr>
          </a:p>
        </p:txBody>
      </p:sp>
      <p:sp>
        <p:nvSpPr>
          <p:cNvPr id="433" name="Text 15">
            <a:extLst>
              <a:ext uri="{FF2B5EF4-FFF2-40B4-BE49-F238E27FC236}">
                <a16:creationId xmlns:a16="http://schemas.microsoft.com/office/drawing/2014/main" id="{02F20FE0-34C2-48B1-BC9A-D3E177900EEF}"/>
              </a:ext>
            </a:extLst>
          </p:cNvPr>
          <p:cNvSpPr>
            <a:spLocks noGrp="1"/>
          </p:cNvSpPr>
          <p:nvPr/>
        </p:nvSpPr>
        <p:spPr>
          <a:xfrm>
            <a:off x="478224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Cambios reversibles o commitments; Se muestra acción y argumentos</a:t>
            </a:r>
            <a:endParaRPr sz="1400" b="0" u="none">
              <a:solidFill>
                <a:srgbClr val="000000"/>
              </a:solidFill>
              <a:latin typeface="Arial"/>
              <a:ea typeface="Arial"/>
              <a:cs typeface="Arial"/>
            </a:endParaRPr>
          </a:p>
        </p:txBody>
      </p:sp>
      <p:sp>
        <p:nvSpPr>
          <p:cNvPr id="434" name="Shape 16">
            <a:extLst>
              <a:ext uri="{FF2B5EF4-FFF2-40B4-BE49-F238E27FC236}">
                <a16:creationId xmlns:a16="http://schemas.microsoft.com/office/drawing/2014/main" id="{CA0E0125-49B3-48E2-A0AD-93A7A8B1A518}"/>
              </a:ext>
            </a:extLst>
          </p:cNvPr>
          <p:cNvSpPr>
            <a:spLocks noGrp="1"/>
          </p:cNvSpPr>
          <p:nvPr/>
        </p:nvSpPr>
        <p:spPr>
          <a:xfrm>
            <a:off x="8229600" y="2649424"/>
            <a:ext cx="3200040" cy="2239920"/>
          </a:xfrm>
          <a:prstGeom prst="roundRect">
            <a:avLst>
              <a:gd name="adj" fmla="val 4082"/>
            </a:avLst>
          </a:prstGeom>
          <a:solidFill>
            <a:srgbClr val="FFFFFF"/>
          </a:solidFill>
          <a:ln w="12700">
            <a:solidFill>
              <a:srgbClr val="A84A7A"/>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35" name="Text 17">
            <a:extLst>
              <a:ext uri="{FF2B5EF4-FFF2-40B4-BE49-F238E27FC236}">
                <a16:creationId xmlns:a16="http://schemas.microsoft.com/office/drawing/2014/main" id="{DC8AAC41-512E-4C1D-B2D3-D6B006038F75}"/>
              </a:ext>
            </a:extLst>
          </p:cNvPr>
          <p:cNvSpPr>
            <a:spLocks noGrp="1"/>
          </p:cNvSpPr>
          <p:nvPr/>
        </p:nvSpPr>
        <p:spPr>
          <a:xfrm>
            <a:off x="8366760" y="2795584"/>
            <a:ext cx="29257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A84A7A"/>
                </a:solidFill>
                <a:latin typeface="Aptos"/>
                <a:ea typeface="Aptos"/>
                <a:cs typeface="Aptos"/>
              </a:rPr>
              <a:t>HIGH / UNKNOWN</a:t>
            </a:r>
            <a:endParaRPr sz="1200" b="0" u="none">
              <a:solidFill>
                <a:srgbClr val="000000"/>
              </a:solidFill>
              <a:latin typeface="Arial"/>
              <a:ea typeface="Arial"/>
              <a:cs typeface="Arial"/>
            </a:endParaRPr>
          </a:p>
        </p:txBody>
      </p:sp>
      <p:sp>
        <p:nvSpPr>
          <p:cNvPr id="436" name="Text 18">
            <a:extLst>
              <a:ext uri="{FF2B5EF4-FFF2-40B4-BE49-F238E27FC236}">
                <a16:creationId xmlns:a16="http://schemas.microsoft.com/office/drawing/2014/main" id="{B0807840-7344-4FCC-92B2-FAF7C3C584F6}"/>
              </a:ext>
            </a:extLst>
          </p:cNvPr>
          <p:cNvSpPr>
            <a:spLocks noGrp="1"/>
          </p:cNvSpPr>
          <p:nvPr/>
        </p:nvSpPr>
        <p:spPr>
          <a:xfrm>
            <a:off x="8430840" y="3124984"/>
            <a:ext cx="2797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dirty="0">
                <a:solidFill>
                  <a:srgbClr val="151327"/>
                </a:solidFill>
                <a:latin typeface="Aptos Display"/>
                <a:ea typeface="Aptos Display"/>
                <a:cs typeface="Aptos Display"/>
              </a:rPr>
              <a:t>Request approval / fail closed</a:t>
            </a:r>
            <a:endParaRPr sz="1600" b="0" u="none" dirty="0">
              <a:solidFill>
                <a:srgbClr val="000000"/>
              </a:solidFill>
              <a:latin typeface="Arial"/>
              <a:ea typeface="Arial"/>
              <a:cs typeface="Arial"/>
            </a:endParaRPr>
          </a:p>
        </p:txBody>
      </p:sp>
      <p:sp>
        <p:nvSpPr>
          <p:cNvPr id="437" name="Text 19">
            <a:extLst>
              <a:ext uri="{FF2B5EF4-FFF2-40B4-BE49-F238E27FC236}">
                <a16:creationId xmlns:a16="http://schemas.microsoft.com/office/drawing/2014/main" id="{B127B4FC-74A3-4F76-8BAF-C6AE0C023639}"/>
              </a:ext>
            </a:extLst>
          </p:cNvPr>
          <p:cNvSpPr>
            <a:spLocks noGrp="1"/>
          </p:cNvSpPr>
          <p:nvPr/>
        </p:nvSpPr>
        <p:spPr>
          <a:xfrm>
            <a:off x="8485560" y="3636904"/>
            <a:ext cx="2688120" cy="10879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algn="ctr" defTabSz="914400">
              <a:lnSpc>
                <a:spcPct val="100000"/>
              </a:lnSpc>
              <a:buNone/>
              <a:tabLst>
                <a:tab pos="0" algn="l"/>
              </a:tabLst>
            </a:pPr>
            <a:r>
              <a:rPr sz="1400" b="0" u="none">
                <a:solidFill>
                  <a:srgbClr val="6F6888"/>
                </a:solidFill>
                <a:latin typeface="Aptos"/>
                <a:ea typeface="Aptos"/>
                <a:cs typeface="Aptos"/>
              </a:rPr>
              <a:t>Send, delete, publish, bash; Sin catálogo = high</a:t>
            </a:r>
            <a:endParaRPr sz="1400" b="0" u="none">
              <a:solidFill>
                <a:srgbClr val="000000"/>
              </a:solidFill>
              <a:latin typeface="Arial"/>
              <a:ea typeface="Arial"/>
              <a:cs typeface="Arial"/>
            </a:endParaRPr>
          </a:p>
        </p:txBody>
      </p:sp>
      <p:sp>
        <p:nvSpPr>
          <p:cNvPr id="438" name="Shape 20">
            <a:extLst>
              <a:ext uri="{FF2B5EF4-FFF2-40B4-BE49-F238E27FC236}">
                <a16:creationId xmlns:a16="http://schemas.microsoft.com/office/drawing/2014/main" id="{F50A24BA-26B8-41DD-8033-EE393E903416}"/>
              </a:ext>
            </a:extLst>
          </p:cNvPr>
          <p:cNvSpPr>
            <a:spLocks noGrp="1"/>
          </p:cNvSpPr>
          <p:nvPr/>
        </p:nvSpPr>
        <p:spPr>
          <a:xfrm>
            <a:off x="2240280" y="5730953"/>
            <a:ext cx="7726320" cy="640345"/>
          </a:xfrm>
          <a:prstGeom prst="roundRect">
            <a:avLst>
              <a:gd name="adj" fmla="val 16000"/>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b="0" u="none">
              <a:solidFill>
                <a:srgbClr val="FFFFFF"/>
              </a:solidFill>
              <a:latin typeface="Arial"/>
              <a:ea typeface="Arial"/>
              <a:cs typeface="Arial"/>
            </a:endParaRPr>
          </a:p>
        </p:txBody>
      </p:sp>
      <p:sp>
        <p:nvSpPr>
          <p:cNvPr id="439" name="Text 21">
            <a:extLst>
              <a:ext uri="{FF2B5EF4-FFF2-40B4-BE49-F238E27FC236}">
                <a16:creationId xmlns:a16="http://schemas.microsoft.com/office/drawing/2014/main" id="{8BF542F8-67AE-4291-AE4A-D1D2D0297474}"/>
              </a:ext>
            </a:extLst>
          </p:cNvPr>
          <p:cNvSpPr>
            <a:spLocks noGrp="1"/>
          </p:cNvSpPr>
          <p:nvPr/>
        </p:nvSpPr>
        <p:spPr>
          <a:xfrm>
            <a:off x="2516826" y="5868472"/>
            <a:ext cx="7218948"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FFFFFF"/>
                </a:solidFill>
                <a:latin typeface="Aptos"/>
                <a:ea typeface="Aptos"/>
                <a:cs typeface="Aptos"/>
              </a:rPr>
              <a:t>Allowlisting una tool no autoriza cualquier operación o tenant.</a:t>
            </a:r>
            <a:endParaRPr b="0" u="none">
              <a:solidFill>
                <a:srgbClr val="000000"/>
              </a:solidFill>
              <a:latin typeface="Arial"/>
              <a:ea typeface="Arial"/>
              <a:cs typeface="Arial"/>
            </a:endParaRPr>
          </a:p>
        </p:txBody>
      </p:sp>
      <p:pic>
        <p:nvPicPr>
          <p:cNvPr id="462"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787834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635" name="Shape 0">
            <a:extLst>
              <a:ext uri="{FF2B5EF4-FFF2-40B4-BE49-F238E27FC236}">
                <a16:creationId xmlns:a16="http://schemas.microsoft.com/office/drawing/2014/main" id="{4B4172A0-99B8-4508-9E7D-AFCBD1AC0962}"/>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636" name="Text 1">
            <a:extLst>
              <a:ext uri="{FF2B5EF4-FFF2-40B4-BE49-F238E27FC236}">
                <a16:creationId xmlns:a16="http://schemas.microsoft.com/office/drawing/2014/main" id="{4B280F5E-4D21-42CD-8612-7B82CCB3F3DF}"/>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LOOP CONTROL ES MÁS QUE RETRY</a:t>
            </a:r>
            <a:endParaRPr sz="1200" b="0" u="none">
              <a:solidFill>
                <a:srgbClr val="000000"/>
              </a:solidFill>
              <a:latin typeface="Arial"/>
              <a:ea typeface="Arial"/>
              <a:cs typeface="Arial"/>
            </a:endParaRPr>
          </a:p>
        </p:txBody>
      </p:sp>
      <p:sp>
        <p:nvSpPr>
          <p:cNvPr id="637" name="Text 2">
            <a:extLst>
              <a:ext uri="{FF2B5EF4-FFF2-40B4-BE49-F238E27FC236}">
                <a16:creationId xmlns:a16="http://schemas.microsoft.com/office/drawing/2014/main" id="{A317ACC4-F6DE-40CA-B510-C02C45113F27}"/>
              </a:ext>
            </a:extLst>
          </p:cNvPr>
          <p:cNvSpPr>
            <a:spLocks noGrp="1"/>
          </p:cNvSpPr>
          <p:nvPr/>
        </p:nvSpPr>
        <p:spPr>
          <a:xfrm>
            <a:off x="566999" y="804600"/>
            <a:ext cx="10375983"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a:solidFill>
                  <a:srgbClr val="151327"/>
                </a:solidFill>
                <a:latin typeface="Aptos Display"/>
                <a:ea typeface="Aptos Display"/>
                <a:cs typeface="Aptos Display"/>
              </a:rPr>
              <a:t>Budgets, dedupe, checkpoints, idempotency y circuit breakers controlan fallos diferentes.</a:t>
            </a:r>
            <a:endParaRPr sz="2600" b="0" u="none">
              <a:solidFill>
                <a:srgbClr val="000000"/>
              </a:solidFill>
              <a:latin typeface="Arial"/>
              <a:ea typeface="Arial"/>
              <a:cs typeface="Arial"/>
            </a:endParaRPr>
          </a:p>
        </p:txBody>
      </p:sp>
      <p:sp>
        <p:nvSpPr>
          <p:cNvPr id="638" name="Text 3">
            <a:extLst>
              <a:ext uri="{FF2B5EF4-FFF2-40B4-BE49-F238E27FC236}">
                <a16:creationId xmlns:a16="http://schemas.microsoft.com/office/drawing/2014/main" id="{4042EA47-16DE-4A48-954E-C520CD2F38A3}"/>
              </a:ext>
            </a:extLst>
          </p:cNvPr>
          <p:cNvSpPr>
            <a:spLocks noGrp="1"/>
          </p:cNvSpPr>
          <p:nvPr/>
        </p:nvSpPr>
        <p:spPr>
          <a:xfrm>
            <a:off x="567000" y="1591200"/>
            <a:ext cx="10698120" cy="56451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b="0" u="none">
                <a:solidFill>
                  <a:srgbClr val="6F6888"/>
                </a:solidFill>
                <a:latin typeface="Aptos"/>
                <a:ea typeface="Aptos"/>
                <a:cs typeface="Aptos"/>
              </a:rPr>
              <a:t>Recovery conserva el work correcto; no repite efectos.</a:t>
            </a:r>
            <a:endParaRPr b="0" u="none">
              <a:solidFill>
                <a:srgbClr val="000000"/>
              </a:solidFill>
              <a:latin typeface="Arial"/>
              <a:ea typeface="Arial"/>
              <a:cs typeface="Arial"/>
            </a:endParaRPr>
          </a:p>
        </p:txBody>
      </p:sp>
      <p:sp>
        <p:nvSpPr>
          <p:cNvPr id="640" name="Text 5">
            <a:extLst>
              <a:ext uri="{FF2B5EF4-FFF2-40B4-BE49-F238E27FC236}">
                <a16:creationId xmlns:a16="http://schemas.microsoft.com/office/drawing/2014/main" id="{71EEBA0C-6625-4B78-9AA1-1C627BEE1115}"/>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641" name="Text 6">
            <a:extLst>
              <a:ext uri="{FF2B5EF4-FFF2-40B4-BE49-F238E27FC236}">
                <a16:creationId xmlns:a16="http://schemas.microsoft.com/office/drawing/2014/main" id="{CE3EE3EE-0098-404D-8978-5893FCC08782}"/>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642" name="Text 7">
            <a:extLst>
              <a:ext uri="{FF2B5EF4-FFF2-40B4-BE49-F238E27FC236}">
                <a16:creationId xmlns:a16="http://schemas.microsoft.com/office/drawing/2014/main" id="{ADA63A47-13B1-42C4-8EE0-76B5F1619E3E}"/>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12</a:t>
            </a:r>
            <a:endParaRPr sz="800" b="0" u="none">
              <a:solidFill>
                <a:srgbClr val="000000"/>
              </a:solidFill>
              <a:latin typeface="Arial"/>
              <a:ea typeface="Arial"/>
              <a:cs typeface="Arial"/>
            </a:endParaRPr>
          </a:p>
        </p:txBody>
      </p:sp>
      <p:sp>
        <p:nvSpPr>
          <p:cNvPr id="643" name="Shape 8">
            <a:extLst>
              <a:ext uri="{FF2B5EF4-FFF2-40B4-BE49-F238E27FC236}">
                <a16:creationId xmlns:a16="http://schemas.microsoft.com/office/drawing/2014/main" id="{12D6034E-F669-430F-B740-CE69B0B5AF8F}"/>
              </a:ext>
            </a:extLst>
          </p:cNvPr>
          <p:cNvSpPr>
            <a:spLocks noGrp="1"/>
          </p:cNvSpPr>
          <p:nvPr/>
        </p:nvSpPr>
        <p:spPr>
          <a:xfrm>
            <a:off x="868680" y="2483481"/>
            <a:ext cx="502560" cy="50256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4" name="Text 9">
            <a:extLst>
              <a:ext uri="{FF2B5EF4-FFF2-40B4-BE49-F238E27FC236}">
                <a16:creationId xmlns:a16="http://schemas.microsoft.com/office/drawing/2014/main" id="{23DE94D4-7EF1-47E1-BD23-51001D3CB0D1}"/>
              </a:ext>
            </a:extLst>
          </p:cNvPr>
          <p:cNvSpPr>
            <a:spLocks noGrp="1"/>
          </p:cNvSpPr>
          <p:nvPr/>
        </p:nvSpPr>
        <p:spPr>
          <a:xfrm>
            <a:off x="868680" y="260228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1</a:t>
            </a:r>
            <a:endParaRPr sz="1600" b="0" u="none">
              <a:solidFill>
                <a:srgbClr val="000000"/>
              </a:solidFill>
              <a:latin typeface="Arial"/>
              <a:ea typeface="Arial"/>
              <a:cs typeface="Arial"/>
            </a:endParaRPr>
          </a:p>
        </p:txBody>
      </p:sp>
      <p:sp>
        <p:nvSpPr>
          <p:cNvPr id="645" name="Shape 10">
            <a:extLst>
              <a:ext uri="{FF2B5EF4-FFF2-40B4-BE49-F238E27FC236}">
                <a16:creationId xmlns:a16="http://schemas.microsoft.com/office/drawing/2014/main" id="{B6E1A1F0-643D-4CB3-91D2-55BCB19BAE3A}"/>
              </a:ext>
            </a:extLst>
          </p:cNvPr>
          <p:cNvSpPr>
            <a:spLocks noGrp="1"/>
          </p:cNvSpPr>
          <p:nvPr/>
        </p:nvSpPr>
        <p:spPr>
          <a:xfrm>
            <a:off x="1600200" y="2392041"/>
            <a:ext cx="9738000" cy="8740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46" name="Text 11">
            <a:extLst>
              <a:ext uri="{FF2B5EF4-FFF2-40B4-BE49-F238E27FC236}">
                <a16:creationId xmlns:a16="http://schemas.microsoft.com/office/drawing/2014/main" id="{FB714849-831E-4414-A7C0-FA5B33752BAB}"/>
              </a:ext>
            </a:extLst>
          </p:cNvPr>
          <p:cNvSpPr>
            <a:spLocks noGrp="1"/>
          </p:cNvSpPr>
          <p:nvPr/>
        </p:nvSpPr>
        <p:spPr>
          <a:xfrm>
            <a:off x="1801440" y="252920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1 · Limitar</a:t>
            </a:r>
            <a:endParaRPr sz="1600" b="0" u="none">
              <a:solidFill>
                <a:srgbClr val="000000"/>
              </a:solidFill>
              <a:latin typeface="Arial"/>
              <a:ea typeface="Arial"/>
              <a:cs typeface="Arial"/>
            </a:endParaRPr>
          </a:p>
        </p:txBody>
      </p:sp>
      <p:sp>
        <p:nvSpPr>
          <p:cNvPr id="647" name="Text 12">
            <a:extLst>
              <a:ext uri="{FF2B5EF4-FFF2-40B4-BE49-F238E27FC236}">
                <a16:creationId xmlns:a16="http://schemas.microsoft.com/office/drawing/2014/main" id="{BAC24C04-E92C-4CF9-9793-4F4548B9E311}"/>
              </a:ext>
            </a:extLst>
          </p:cNvPr>
          <p:cNvSpPr>
            <a:spLocks noGrp="1"/>
          </p:cNvSpPr>
          <p:nvPr/>
        </p:nvSpPr>
        <p:spPr>
          <a:xfrm>
            <a:off x="1856160" y="2812665"/>
            <a:ext cx="9226080" cy="32773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dirty="0">
                <a:solidFill>
                  <a:srgbClr val="6F6888"/>
                </a:solidFill>
                <a:latin typeface="Aptos"/>
                <a:ea typeface="Aptos"/>
                <a:cs typeface="Aptos"/>
              </a:rPr>
              <a:t>MAX_TOOL_ITERATIONS=10; compaction breaker=3; provider/time budgets.</a:t>
            </a:r>
            <a:endParaRPr sz="1600" b="0" u="none" dirty="0">
              <a:solidFill>
                <a:srgbClr val="000000"/>
              </a:solidFill>
              <a:latin typeface="Arial"/>
              <a:ea typeface="Arial"/>
              <a:cs typeface="Arial"/>
            </a:endParaRPr>
          </a:p>
        </p:txBody>
      </p:sp>
      <p:sp>
        <p:nvSpPr>
          <p:cNvPr id="648" name="Shape 13">
            <a:extLst>
              <a:ext uri="{FF2B5EF4-FFF2-40B4-BE49-F238E27FC236}">
                <a16:creationId xmlns:a16="http://schemas.microsoft.com/office/drawing/2014/main" id="{8A45D319-DDF4-4CA6-B83C-A8E760C13EF3}"/>
              </a:ext>
            </a:extLst>
          </p:cNvPr>
          <p:cNvSpPr>
            <a:spLocks noGrp="1"/>
          </p:cNvSpPr>
          <p:nvPr/>
        </p:nvSpPr>
        <p:spPr>
          <a:xfrm>
            <a:off x="868680" y="3554451"/>
            <a:ext cx="502560" cy="50256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9" name="Text 14">
            <a:extLst>
              <a:ext uri="{FF2B5EF4-FFF2-40B4-BE49-F238E27FC236}">
                <a16:creationId xmlns:a16="http://schemas.microsoft.com/office/drawing/2014/main" id="{D7576710-1C3E-4618-B46A-CF4EB01DA9BC}"/>
              </a:ext>
            </a:extLst>
          </p:cNvPr>
          <p:cNvSpPr>
            <a:spLocks noGrp="1"/>
          </p:cNvSpPr>
          <p:nvPr/>
        </p:nvSpPr>
        <p:spPr>
          <a:xfrm>
            <a:off x="868680" y="367361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2</a:t>
            </a:r>
            <a:endParaRPr sz="1600" b="0" u="none">
              <a:solidFill>
                <a:srgbClr val="000000"/>
              </a:solidFill>
              <a:latin typeface="Arial"/>
              <a:ea typeface="Arial"/>
              <a:cs typeface="Arial"/>
            </a:endParaRPr>
          </a:p>
        </p:txBody>
      </p:sp>
      <p:sp>
        <p:nvSpPr>
          <p:cNvPr id="650" name="Shape 15">
            <a:extLst>
              <a:ext uri="{FF2B5EF4-FFF2-40B4-BE49-F238E27FC236}">
                <a16:creationId xmlns:a16="http://schemas.microsoft.com/office/drawing/2014/main" id="{3316F20E-57CA-453A-AA64-97C6A8DBA74C}"/>
              </a:ext>
            </a:extLst>
          </p:cNvPr>
          <p:cNvSpPr>
            <a:spLocks noGrp="1"/>
          </p:cNvSpPr>
          <p:nvPr/>
        </p:nvSpPr>
        <p:spPr>
          <a:xfrm>
            <a:off x="1600200" y="3463011"/>
            <a:ext cx="9738000" cy="9838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1" name="Text 16">
            <a:extLst>
              <a:ext uri="{FF2B5EF4-FFF2-40B4-BE49-F238E27FC236}">
                <a16:creationId xmlns:a16="http://schemas.microsoft.com/office/drawing/2014/main" id="{B5CEC699-69E3-4A7B-806A-89B814E56356}"/>
              </a:ext>
            </a:extLst>
          </p:cNvPr>
          <p:cNvSpPr>
            <a:spLocks noGrp="1"/>
          </p:cNvSpPr>
          <p:nvPr/>
        </p:nvSpPr>
        <p:spPr>
          <a:xfrm>
            <a:off x="1801440" y="360017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2 · No duplicar</a:t>
            </a:r>
            <a:endParaRPr sz="1600" b="0" u="none">
              <a:solidFill>
                <a:srgbClr val="000000"/>
              </a:solidFill>
              <a:latin typeface="Arial"/>
              <a:ea typeface="Arial"/>
              <a:cs typeface="Arial"/>
            </a:endParaRPr>
          </a:p>
        </p:txBody>
      </p:sp>
      <p:sp>
        <p:nvSpPr>
          <p:cNvPr id="652" name="Text 17">
            <a:extLst>
              <a:ext uri="{FF2B5EF4-FFF2-40B4-BE49-F238E27FC236}">
                <a16:creationId xmlns:a16="http://schemas.microsoft.com/office/drawing/2014/main" id="{13196C10-1A9F-4692-B12C-4D0017F73B7F}"/>
              </a:ext>
            </a:extLst>
          </p:cNvPr>
          <p:cNvSpPr>
            <a:spLocks noGrp="1"/>
          </p:cNvSpPr>
          <p:nvPr/>
        </p:nvSpPr>
        <p:spPr>
          <a:xfrm>
            <a:off x="1856160" y="3903513"/>
            <a:ext cx="9226080" cy="411912"/>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a:solidFill>
                  <a:srgbClr val="6F6888"/>
                </a:solidFill>
                <a:latin typeface="Aptos"/>
                <a:ea typeface="Aptos"/>
                <a:cs typeface="Aptos"/>
              </a:rPr>
              <a:t>Same-turn dedupe + domain idempotency + redelivery handling.</a:t>
            </a:r>
            <a:endParaRPr sz="1600" b="0" u="none">
              <a:solidFill>
                <a:srgbClr val="000000"/>
              </a:solidFill>
              <a:latin typeface="Arial"/>
              <a:ea typeface="Arial"/>
              <a:cs typeface="Arial"/>
            </a:endParaRPr>
          </a:p>
        </p:txBody>
      </p:sp>
      <p:sp>
        <p:nvSpPr>
          <p:cNvPr id="653" name="Shape 18">
            <a:extLst>
              <a:ext uri="{FF2B5EF4-FFF2-40B4-BE49-F238E27FC236}">
                <a16:creationId xmlns:a16="http://schemas.microsoft.com/office/drawing/2014/main" id="{0FC8D6BA-D3ED-47B8-A7D2-5146AB2D23EE}"/>
              </a:ext>
            </a:extLst>
          </p:cNvPr>
          <p:cNvSpPr>
            <a:spLocks noGrp="1"/>
          </p:cNvSpPr>
          <p:nvPr/>
        </p:nvSpPr>
        <p:spPr>
          <a:xfrm>
            <a:off x="868680" y="4725171"/>
            <a:ext cx="502560" cy="502560"/>
          </a:xfrm>
          <a:prstGeom prst="ellipse">
            <a:avLst/>
          </a:prstGeom>
          <a:solidFill>
            <a:srgbClr val="F39A2B"/>
          </a:solidFill>
          <a:ln w="12700">
            <a:solidFill>
              <a:srgbClr val="F39A2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4" name="Text 19">
            <a:extLst>
              <a:ext uri="{FF2B5EF4-FFF2-40B4-BE49-F238E27FC236}">
                <a16:creationId xmlns:a16="http://schemas.microsoft.com/office/drawing/2014/main" id="{4F61BFFD-984D-4A21-BD93-BD34B8ED8096}"/>
              </a:ext>
            </a:extLst>
          </p:cNvPr>
          <p:cNvSpPr>
            <a:spLocks noGrp="1"/>
          </p:cNvSpPr>
          <p:nvPr/>
        </p:nvSpPr>
        <p:spPr>
          <a:xfrm>
            <a:off x="868680" y="484397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3</a:t>
            </a:r>
            <a:endParaRPr sz="1600" b="0" u="none">
              <a:solidFill>
                <a:srgbClr val="000000"/>
              </a:solidFill>
              <a:latin typeface="Arial"/>
              <a:ea typeface="Arial"/>
              <a:cs typeface="Arial"/>
            </a:endParaRPr>
          </a:p>
        </p:txBody>
      </p:sp>
      <p:sp>
        <p:nvSpPr>
          <p:cNvPr id="655" name="Shape 20">
            <a:extLst>
              <a:ext uri="{FF2B5EF4-FFF2-40B4-BE49-F238E27FC236}">
                <a16:creationId xmlns:a16="http://schemas.microsoft.com/office/drawing/2014/main" id="{D654FDA2-D2EC-4A10-AF26-C70C8AFC9042}"/>
              </a:ext>
            </a:extLst>
          </p:cNvPr>
          <p:cNvSpPr>
            <a:spLocks noGrp="1"/>
          </p:cNvSpPr>
          <p:nvPr/>
        </p:nvSpPr>
        <p:spPr>
          <a:xfrm>
            <a:off x="1600200" y="4633730"/>
            <a:ext cx="9738000" cy="983867"/>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6" name="Text 21">
            <a:extLst>
              <a:ext uri="{FF2B5EF4-FFF2-40B4-BE49-F238E27FC236}">
                <a16:creationId xmlns:a16="http://schemas.microsoft.com/office/drawing/2014/main" id="{ED1153E9-3E03-42F4-8EB2-CCB63C127452}"/>
              </a:ext>
            </a:extLst>
          </p:cNvPr>
          <p:cNvSpPr>
            <a:spLocks noGrp="1"/>
          </p:cNvSpPr>
          <p:nvPr/>
        </p:nvSpPr>
        <p:spPr>
          <a:xfrm>
            <a:off x="1801440" y="477089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3 · Reanudar</a:t>
            </a:r>
            <a:endParaRPr sz="1600" b="0" u="none">
              <a:solidFill>
                <a:srgbClr val="000000"/>
              </a:solidFill>
              <a:latin typeface="Arial"/>
              <a:ea typeface="Arial"/>
              <a:cs typeface="Arial"/>
            </a:endParaRPr>
          </a:p>
        </p:txBody>
      </p:sp>
      <p:sp>
        <p:nvSpPr>
          <p:cNvPr id="657" name="Text 22">
            <a:extLst>
              <a:ext uri="{FF2B5EF4-FFF2-40B4-BE49-F238E27FC236}">
                <a16:creationId xmlns:a16="http://schemas.microsoft.com/office/drawing/2014/main" id="{3E5A96B2-07AB-46B3-9B63-F790773C9791}"/>
              </a:ext>
            </a:extLst>
          </p:cNvPr>
          <p:cNvSpPr>
            <a:spLocks noGrp="1"/>
          </p:cNvSpPr>
          <p:nvPr/>
        </p:nvSpPr>
        <p:spPr>
          <a:xfrm>
            <a:off x="1856160" y="5064293"/>
            <a:ext cx="9226080" cy="45821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a:solidFill>
                  <a:srgbClr val="6F6888"/>
                </a:solidFill>
                <a:latin typeface="Aptos"/>
                <a:ea typeface="Aptos"/>
                <a:cs typeface="Aptos"/>
              </a:rPr>
              <a:t>Checkpointer preserva pending action; resume reutiliza thread.</a:t>
            </a:r>
            <a:endParaRPr sz="1600" b="0" u="none">
              <a:solidFill>
                <a:srgbClr val="000000"/>
              </a:solidFill>
              <a:latin typeface="Arial"/>
              <a:ea typeface="Arial"/>
              <a:cs typeface="Arial"/>
            </a:endParaRPr>
          </a:p>
        </p:txBody>
      </p:sp>
      <p:sp>
        <p:nvSpPr>
          <p:cNvPr id="658" name="Shape 23">
            <a:extLst>
              <a:ext uri="{FF2B5EF4-FFF2-40B4-BE49-F238E27FC236}">
                <a16:creationId xmlns:a16="http://schemas.microsoft.com/office/drawing/2014/main" id="{F6668194-9FAE-481C-A98E-28238609DE8E}"/>
              </a:ext>
            </a:extLst>
          </p:cNvPr>
          <p:cNvSpPr>
            <a:spLocks noGrp="1"/>
          </p:cNvSpPr>
          <p:nvPr/>
        </p:nvSpPr>
        <p:spPr>
          <a:xfrm>
            <a:off x="868680" y="5803512"/>
            <a:ext cx="10725480" cy="616121"/>
          </a:xfrm>
          <a:prstGeom prst="roundRect">
            <a:avLst>
              <a:gd name="adj" fmla="val 15385"/>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659" name="Text 24">
            <a:extLst>
              <a:ext uri="{FF2B5EF4-FFF2-40B4-BE49-F238E27FC236}">
                <a16:creationId xmlns:a16="http://schemas.microsoft.com/office/drawing/2014/main" id="{5F78741C-658D-4901-9569-67A1323FFA9D}"/>
              </a:ext>
            </a:extLst>
          </p:cNvPr>
          <p:cNvSpPr>
            <a:spLocks noGrp="1"/>
          </p:cNvSpPr>
          <p:nvPr/>
        </p:nvSpPr>
        <p:spPr>
          <a:xfrm>
            <a:off x="1007918" y="5914090"/>
            <a:ext cx="10440082" cy="4429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FFFFFF"/>
                </a:solidFill>
                <a:latin typeface="Aptos"/>
                <a:ea typeface="Aptos"/>
                <a:cs typeface="Aptos"/>
              </a:rPr>
              <a:t>Retry sólo es legítimo si cambia evidencia, estado o estrategia.</a:t>
            </a:r>
          </a:p>
        </p:txBody>
      </p:sp>
      <p:pic>
        <p:nvPicPr>
          <p:cNvPr id="685"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188071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67" name="Shape 0">
            <a:extLst>
              <a:ext uri="{FF2B5EF4-FFF2-40B4-BE49-F238E27FC236}">
                <a16:creationId xmlns:a16="http://schemas.microsoft.com/office/drawing/2014/main" id="{74D908D3-C8D1-4000-BC1F-B8F0F868704F}"/>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68" name="Text 1">
            <a:extLst>
              <a:ext uri="{FF2B5EF4-FFF2-40B4-BE49-F238E27FC236}">
                <a16:creationId xmlns:a16="http://schemas.microsoft.com/office/drawing/2014/main" id="{169A201C-7EE3-411D-8AF9-3DB0249F1459}"/>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lang="es-ES" sz="1200" b="1" u="none" dirty="0">
                <a:solidFill>
                  <a:srgbClr val="5F2CCB"/>
                </a:solidFill>
                <a:latin typeface="Aptos"/>
                <a:ea typeface="Aptos"/>
                <a:cs typeface="Aptos"/>
              </a:rPr>
              <a:t>ADAPTADORES, RUNNERS Y PERFILES DE EJECUCIÓN</a:t>
            </a:r>
            <a:endParaRPr sz="1200" b="0" u="none" dirty="0">
              <a:solidFill>
                <a:srgbClr val="000000"/>
              </a:solidFill>
              <a:latin typeface="Arial"/>
              <a:ea typeface="Arial"/>
              <a:cs typeface="Arial"/>
            </a:endParaRPr>
          </a:p>
        </p:txBody>
      </p:sp>
      <p:sp>
        <p:nvSpPr>
          <p:cNvPr id="469" name="Text 2">
            <a:extLst>
              <a:ext uri="{FF2B5EF4-FFF2-40B4-BE49-F238E27FC236}">
                <a16:creationId xmlns:a16="http://schemas.microsoft.com/office/drawing/2014/main" id="{6F13477C-4E13-4D00-9218-DDC6F14AE0FC}"/>
              </a:ext>
            </a:extLst>
          </p:cNvPr>
          <p:cNvSpPr>
            <a:spLocks noGrp="1"/>
          </p:cNvSpPr>
          <p:nvPr/>
        </p:nvSpPr>
        <p:spPr>
          <a:xfrm>
            <a:off x="535101" y="942127"/>
            <a:ext cx="10426941"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lang="es-ES" sz="2600" b="1" u="none" dirty="0">
                <a:solidFill>
                  <a:srgbClr val="151327"/>
                </a:solidFill>
                <a:latin typeface="Aptos Display"/>
                <a:ea typeface="Aptos Display"/>
                <a:cs typeface="Aptos Display"/>
              </a:rPr>
              <a:t>Web y Telegram son </a:t>
            </a:r>
            <a:r>
              <a:rPr lang="es-ES" sz="2600" b="1" dirty="0">
                <a:solidFill>
                  <a:srgbClr val="151327"/>
                </a:solidFill>
                <a:latin typeface="Aptos Display"/>
                <a:ea typeface="Aptos Display"/>
                <a:cs typeface="Aptos Display"/>
              </a:rPr>
              <a:t>adaptadores </a:t>
            </a:r>
            <a:r>
              <a:rPr lang="es-ES" sz="2600" b="1" u="none" dirty="0">
                <a:solidFill>
                  <a:srgbClr val="151327"/>
                </a:solidFill>
                <a:latin typeface="Aptos Display"/>
                <a:ea typeface="Aptos Display"/>
                <a:cs typeface="Aptos Display"/>
              </a:rPr>
              <a:t>interactivos. Los runners activan ejecuciones programadas, proactivas o asociadas a operación durable</a:t>
            </a:r>
            <a:r>
              <a:rPr sz="2600" b="1" u="none" dirty="0">
                <a:solidFill>
                  <a:srgbClr val="151327"/>
                </a:solidFill>
                <a:latin typeface="Aptos Display"/>
                <a:ea typeface="Aptos Display"/>
                <a:cs typeface="Aptos Display"/>
              </a:rPr>
              <a:t>.</a:t>
            </a:r>
            <a:endParaRPr sz="2600" b="0" u="none" dirty="0">
              <a:solidFill>
                <a:srgbClr val="000000"/>
              </a:solidFill>
              <a:latin typeface="Arial"/>
              <a:ea typeface="Arial"/>
              <a:cs typeface="Arial"/>
            </a:endParaRPr>
          </a:p>
        </p:txBody>
      </p:sp>
      <p:sp>
        <p:nvSpPr>
          <p:cNvPr id="470" name="Text 3">
            <a:extLst>
              <a:ext uri="{FF2B5EF4-FFF2-40B4-BE49-F238E27FC236}">
                <a16:creationId xmlns:a16="http://schemas.microsoft.com/office/drawing/2014/main" id="{AD37A698-20FC-468E-93D2-F8B0A07EA4D9}"/>
              </a:ext>
            </a:extLst>
          </p:cNvPr>
          <p:cNvSpPr>
            <a:spLocks noGrp="1"/>
          </p:cNvSpPr>
          <p:nvPr/>
        </p:nvSpPr>
        <p:spPr>
          <a:xfrm>
            <a:off x="566999" y="1816086"/>
            <a:ext cx="10542961" cy="63910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lang="es-ES" u="none" dirty="0">
                <a:solidFill>
                  <a:srgbClr val="6F6888"/>
                </a:solidFill>
                <a:latin typeface="Aptos"/>
                <a:ea typeface="Aptos"/>
                <a:cs typeface="Aptos"/>
              </a:rPr>
              <a:t>Los </a:t>
            </a:r>
            <a:r>
              <a:rPr lang="es-ES" i="1" u="none" dirty="0">
                <a:solidFill>
                  <a:srgbClr val="6F6888"/>
                </a:solidFill>
                <a:latin typeface="Aptos"/>
                <a:ea typeface="Aptos"/>
                <a:cs typeface="Aptos"/>
              </a:rPr>
              <a:t>adaptadores</a:t>
            </a:r>
            <a:r>
              <a:rPr lang="es-ES" u="none" dirty="0">
                <a:solidFill>
                  <a:srgbClr val="6F6888"/>
                </a:solidFill>
                <a:latin typeface="Aptos"/>
                <a:ea typeface="Aptos"/>
                <a:cs typeface="Aptos"/>
              </a:rPr>
              <a:t> y </a:t>
            </a:r>
            <a:r>
              <a:rPr lang="es-ES" i="1" u="none" dirty="0">
                <a:solidFill>
                  <a:srgbClr val="6F6888"/>
                </a:solidFill>
                <a:latin typeface="Aptos"/>
                <a:ea typeface="Aptos"/>
                <a:cs typeface="Aptos"/>
              </a:rPr>
              <a:t>runners</a:t>
            </a:r>
            <a:r>
              <a:rPr lang="es-ES" u="none" dirty="0">
                <a:solidFill>
                  <a:srgbClr val="6F6888"/>
                </a:solidFill>
                <a:latin typeface="Aptos"/>
                <a:ea typeface="Aptos"/>
                <a:cs typeface="Aptos"/>
              </a:rPr>
              <a:t> viven fuera del Agent </a:t>
            </a:r>
            <a:r>
              <a:rPr lang="es-ES" u="none" dirty="0" err="1">
                <a:solidFill>
                  <a:srgbClr val="6F6888"/>
                </a:solidFill>
                <a:latin typeface="Aptos"/>
                <a:ea typeface="Aptos"/>
                <a:cs typeface="Aptos"/>
              </a:rPr>
              <a:t>Runtime</a:t>
            </a:r>
            <a:r>
              <a:rPr lang="es-ES" u="none" dirty="0">
                <a:solidFill>
                  <a:srgbClr val="6F6888"/>
                </a:solidFill>
                <a:latin typeface="Aptos"/>
                <a:ea typeface="Aptos"/>
                <a:cs typeface="Aptos"/>
              </a:rPr>
              <a:t>. </a:t>
            </a:r>
            <a:r>
              <a:rPr lang="es-ES" u="none" dirty="0" err="1">
                <a:solidFill>
                  <a:srgbClr val="6F6888"/>
                </a:solidFill>
                <a:latin typeface="Aptos"/>
                <a:ea typeface="Aptos"/>
                <a:cs typeface="Aptos"/>
              </a:rPr>
              <a:t>runAgent</a:t>
            </a:r>
            <a:r>
              <a:rPr lang="es-ES" u="none" dirty="0">
                <a:solidFill>
                  <a:srgbClr val="6F6888"/>
                </a:solidFill>
                <a:latin typeface="Aptos"/>
                <a:ea typeface="Aptos"/>
                <a:cs typeface="Aptos"/>
              </a:rPr>
              <a:t> recibe </a:t>
            </a:r>
            <a:r>
              <a:rPr lang="es-ES" i="1" u="none" dirty="0" err="1">
                <a:solidFill>
                  <a:srgbClr val="6F6888"/>
                </a:solidFill>
                <a:latin typeface="Aptos"/>
                <a:ea typeface="Aptos"/>
                <a:cs typeface="Aptos"/>
              </a:rPr>
              <a:t>channel</a:t>
            </a:r>
            <a:r>
              <a:rPr lang="es-ES" i="1" u="none" dirty="0">
                <a:solidFill>
                  <a:srgbClr val="6F6888"/>
                </a:solidFill>
                <a:latin typeface="Aptos"/>
                <a:ea typeface="Aptos"/>
                <a:cs typeface="Aptos"/>
              </a:rPr>
              <a:t> </a:t>
            </a:r>
            <a:r>
              <a:rPr lang="es-ES" u="none" dirty="0">
                <a:solidFill>
                  <a:srgbClr val="6F6888"/>
                </a:solidFill>
                <a:latin typeface="Aptos"/>
                <a:ea typeface="Aptos"/>
                <a:cs typeface="Aptos"/>
              </a:rPr>
              <a:t>como contexto de ejecución, no como adaptador ni como autoridad</a:t>
            </a:r>
            <a:r>
              <a:rPr u="none" dirty="0">
                <a:solidFill>
                  <a:srgbClr val="6F6888"/>
                </a:solidFill>
                <a:latin typeface="Aptos"/>
                <a:ea typeface="Aptos"/>
                <a:cs typeface="Aptos"/>
              </a:rPr>
              <a:t>.</a:t>
            </a:r>
            <a:endParaRPr u="none" dirty="0">
              <a:solidFill>
                <a:srgbClr val="000000"/>
              </a:solidFill>
              <a:latin typeface="Arial"/>
              <a:ea typeface="Arial"/>
              <a:cs typeface="Arial"/>
            </a:endParaRPr>
          </a:p>
        </p:txBody>
      </p:sp>
      <p:sp>
        <p:nvSpPr>
          <p:cNvPr id="472" name="Text 5">
            <a:extLst>
              <a:ext uri="{FF2B5EF4-FFF2-40B4-BE49-F238E27FC236}">
                <a16:creationId xmlns:a16="http://schemas.microsoft.com/office/drawing/2014/main" id="{B667CD0E-71FE-45D8-944D-6FB3B29AC9C7}"/>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73" name="Text 6">
            <a:extLst>
              <a:ext uri="{FF2B5EF4-FFF2-40B4-BE49-F238E27FC236}">
                <a16:creationId xmlns:a16="http://schemas.microsoft.com/office/drawing/2014/main" id="{F4EAA7B9-9505-4A39-8803-AFCA5A501AC4}"/>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74" name="Text 7">
            <a:extLst>
              <a:ext uri="{FF2B5EF4-FFF2-40B4-BE49-F238E27FC236}">
                <a16:creationId xmlns:a16="http://schemas.microsoft.com/office/drawing/2014/main" id="{1AECC926-D0AF-450B-92A9-9E85801E5815}"/>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13</a:t>
            </a:r>
            <a:endParaRPr sz="700" b="0" u="none">
              <a:solidFill>
                <a:srgbClr val="000000"/>
              </a:solidFill>
              <a:latin typeface="Arial"/>
              <a:ea typeface="Arial"/>
              <a:cs typeface="Arial"/>
            </a:endParaRPr>
          </a:p>
        </p:txBody>
      </p:sp>
      <p:sp>
        <p:nvSpPr>
          <p:cNvPr id="475" name="Shape 8">
            <a:extLst>
              <a:ext uri="{FF2B5EF4-FFF2-40B4-BE49-F238E27FC236}">
                <a16:creationId xmlns:a16="http://schemas.microsoft.com/office/drawing/2014/main" id="{F1977737-EE53-4062-B8EA-13825F3C4220}"/>
              </a:ext>
            </a:extLst>
          </p:cNvPr>
          <p:cNvSpPr>
            <a:spLocks noGrp="1"/>
          </p:cNvSpPr>
          <p:nvPr/>
        </p:nvSpPr>
        <p:spPr>
          <a:xfrm>
            <a:off x="517119" y="2793019"/>
            <a:ext cx="3539971" cy="3226039"/>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dirty="0">
              <a:solidFill>
                <a:srgbClr val="000000"/>
              </a:solidFill>
              <a:latin typeface="Arial"/>
              <a:ea typeface="Arial"/>
              <a:cs typeface="Arial"/>
            </a:endParaRPr>
          </a:p>
        </p:txBody>
      </p:sp>
      <p:sp>
        <p:nvSpPr>
          <p:cNvPr id="476" name="Text 9">
            <a:extLst>
              <a:ext uri="{FF2B5EF4-FFF2-40B4-BE49-F238E27FC236}">
                <a16:creationId xmlns:a16="http://schemas.microsoft.com/office/drawing/2014/main" id="{384B7E18-6DA2-4E3A-8DF6-8677EE580D2B}"/>
              </a:ext>
            </a:extLst>
          </p:cNvPr>
          <p:cNvSpPr>
            <a:spLocks noGrp="1"/>
          </p:cNvSpPr>
          <p:nvPr/>
        </p:nvSpPr>
        <p:spPr>
          <a:xfrm>
            <a:off x="751938" y="2939180"/>
            <a:ext cx="3088490" cy="22434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dirty="0">
                <a:solidFill>
                  <a:srgbClr val="5F2CCB"/>
                </a:solidFill>
                <a:latin typeface="Aptos"/>
                <a:ea typeface="Aptos"/>
                <a:cs typeface="Aptos"/>
              </a:rPr>
              <a:t>INTERACTIVO</a:t>
            </a:r>
            <a:r>
              <a:rPr lang="es-MX" sz="1200" b="1" u="none" dirty="0">
                <a:solidFill>
                  <a:srgbClr val="5F2CCB"/>
                </a:solidFill>
                <a:latin typeface="Aptos"/>
                <a:ea typeface="Aptos"/>
                <a:cs typeface="Aptos"/>
              </a:rPr>
              <a:t>S</a:t>
            </a:r>
            <a:endParaRPr sz="1200" b="0" u="none" dirty="0">
              <a:solidFill>
                <a:srgbClr val="000000"/>
              </a:solidFill>
              <a:latin typeface="Arial"/>
              <a:ea typeface="Arial"/>
              <a:cs typeface="Arial"/>
            </a:endParaRPr>
          </a:p>
        </p:txBody>
      </p:sp>
      <p:sp>
        <p:nvSpPr>
          <p:cNvPr id="477" name="Text 10">
            <a:extLst>
              <a:ext uri="{FF2B5EF4-FFF2-40B4-BE49-F238E27FC236}">
                <a16:creationId xmlns:a16="http://schemas.microsoft.com/office/drawing/2014/main" id="{BF2F62C5-933B-4EE1-8894-11F1CB03CDAE}"/>
              </a:ext>
            </a:extLst>
          </p:cNvPr>
          <p:cNvSpPr>
            <a:spLocks noGrp="1"/>
          </p:cNvSpPr>
          <p:nvPr/>
        </p:nvSpPr>
        <p:spPr>
          <a:xfrm>
            <a:off x="796140" y="3235190"/>
            <a:ext cx="3065642"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700" b="1" u="none" dirty="0">
                <a:solidFill>
                  <a:srgbClr val="151327"/>
                </a:solidFill>
                <a:latin typeface="Aptos Display"/>
                <a:ea typeface="Aptos Display"/>
                <a:cs typeface="Aptos Display"/>
              </a:rPr>
              <a:t>Web </a:t>
            </a:r>
            <a:r>
              <a:rPr lang="es-MX" sz="1700" b="1" u="none" dirty="0">
                <a:solidFill>
                  <a:srgbClr val="151327"/>
                </a:solidFill>
                <a:latin typeface="Aptos Display"/>
                <a:ea typeface="Aptos Display"/>
                <a:cs typeface="Aptos Display"/>
              </a:rPr>
              <a:t>y</a:t>
            </a:r>
            <a:r>
              <a:rPr sz="1700" b="1" u="none" dirty="0">
                <a:solidFill>
                  <a:srgbClr val="151327"/>
                </a:solidFill>
                <a:latin typeface="Aptos Display"/>
                <a:ea typeface="Aptos Display"/>
                <a:cs typeface="Aptos Display"/>
              </a:rPr>
              <a:t> Telegram</a:t>
            </a:r>
            <a:endParaRPr sz="1700" b="0" u="none" dirty="0">
              <a:solidFill>
                <a:srgbClr val="000000"/>
              </a:solidFill>
              <a:latin typeface="Arial"/>
              <a:ea typeface="Arial"/>
              <a:cs typeface="Arial"/>
            </a:endParaRPr>
          </a:p>
        </p:txBody>
      </p:sp>
      <p:sp>
        <p:nvSpPr>
          <p:cNvPr id="478" name="Text 11">
            <a:extLst>
              <a:ext uri="{FF2B5EF4-FFF2-40B4-BE49-F238E27FC236}">
                <a16:creationId xmlns:a16="http://schemas.microsoft.com/office/drawing/2014/main" id="{BC46776A-8DA9-4233-AEF4-B7ACED3DA96A}"/>
              </a:ext>
            </a:extLst>
          </p:cNvPr>
          <p:cNvSpPr>
            <a:spLocks noGrp="1"/>
          </p:cNvSpPr>
          <p:nvPr/>
        </p:nvSpPr>
        <p:spPr>
          <a:xfrm>
            <a:off x="773079" y="3691426"/>
            <a:ext cx="3088702" cy="184576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a:buChar char="•"/>
              <a:tabLst>
                <a:tab pos="0" algn="l"/>
              </a:tabLst>
            </a:pPr>
            <a:r>
              <a:rPr lang="es-MX" sz="1400" b="0" u="none" dirty="0">
                <a:solidFill>
                  <a:srgbClr val="6F6888"/>
                </a:solidFill>
                <a:latin typeface="Aptos"/>
                <a:ea typeface="Aptos"/>
                <a:cs typeface="Aptos"/>
              </a:rPr>
              <a:t>Web: </a:t>
            </a:r>
            <a:r>
              <a:rPr lang="es-MX" sz="1400" b="0" u="none" dirty="0" err="1">
                <a:solidFill>
                  <a:srgbClr val="6F6888"/>
                </a:solidFill>
                <a:latin typeface="Aptos"/>
                <a:ea typeface="Aptos"/>
                <a:cs typeface="Aptos"/>
              </a:rPr>
              <a:t>channel</a:t>
            </a:r>
            <a:r>
              <a:rPr lang="es-MX" sz="1400" b="0" u="none" dirty="0">
                <a:solidFill>
                  <a:srgbClr val="6F6888"/>
                </a:solidFill>
                <a:latin typeface="Aptos"/>
                <a:ea typeface="Aptos"/>
                <a:cs typeface="Aptos"/>
              </a:rPr>
              <a:t> </a:t>
            </a:r>
            <a:r>
              <a:rPr lang="es-MX" sz="1400" dirty="0">
                <a:solidFill>
                  <a:srgbClr val="6F6888"/>
                </a:solidFill>
                <a:latin typeface="Aptos"/>
                <a:ea typeface="Aptos"/>
                <a:cs typeface="Aptos"/>
                <a:sym typeface="Wingdings" panose="05000000000000000000" pitchFamily="2" charset="2"/>
              </a:rPr>
              <a:t>=</a:t>
            </a:r>
            <a:r>
              <a:rPr lang="es-MX" sz="1400" b="0" u="none" dirty="0">
                <a:solidFill>
                  <a:srgbClr val="6F6888"/>
                </a:solidFill>
                <a:latin typeface="Aptos"/>
                <a:ea typeface="Aptos"/>
                <a:cs typeface="Aptos"/>
                <a:sym typeface="Wingdings" panose="05000000000000000000" pitchFamily="2" charset="2"/>
              </a:rPr>
              <a:t> web</a:t>
            </a:r>
          </a:p>
          <a:p>
            <a:pPr marL="285750" indent="-285750" defTabSz="914400">
              <a:lnSpc>
                <a:spcPct val="100000"/>
              </a:lnSpc>
              <a:buFont typeface="Arial"/>
              <a:buChar char="•"/>
              <a:tabLst>
                <a:tab pos="0" algn="l"/>
              </a:tabLst>
            </a:pPr>
            <a:r>
              <a:rPr lang="es-MX" sz="1400" b="0" u="none" dirty="0">
                <a:solidFill>
                  <a:srgbClr val="6F6888"/>
                </a:solidFill>
                <a:latin typeface="Aptos"/>
                <a:ea typeface="Aptos"/>
                <a:cs typeface="Aptos"/>
                <a:sym typeface="Wingdings" panose="05000000000000000000" pitchFamily="2" charset="2"/>
              </a:rPr>
              <a:t>Telegra</a:t>
            </a:r>
            <a:r>
              <a:rPr lang="es-MX" sz="1400" dirty="0">
                <a:solidFill>
                  <a:srgbClr val="6F6888"/>
                </a:solidFill>
                <a:latin typeface="Aptos"/>
                <a:ea typeface="Aptos"/>
                <a:cs typeface="Aptos"/>
                <a:sym typeface="Wingdings" panose="05000000000000000000" pitchFamily="2" charset="2"/>
              </a:rPr>
              <a:t>m: </a:t>
            </a:r>
            <a:r>
              <a:rPr lang="es-MX" sz="1400" dirty="0" err="1">
                <a:solidFill>
                  <a:srgbClr val="6F6888"/>
                </a:solidFill>
                <a:latin typeface="Aptos"/>
                <a:ea typeface="Aptos"/>
                <a:cs typeface="Aptos"/>
                <a:sym typeface="Wingdings" panose="05000000000000000000" pitchFamily="2" charset="2"/>
              </a:rPr>
              <a:t>channel</a:t>
            </a:r>
            <a:r>
              <a:rPr lang="es-MX" sz="1400" dirty="0">
                <a:solidFill>
                  <a:srgbClr val="6F6888"/>
                </a:solidFill>
                <a:latin typeface="Aptos"/>
                <a:ea typeface="Aptos"/>
                <a:cs typeface="Aptos"/>
                <a:sym typeface="Wingdings" panose="05000000000000000000" pitchFamily="2" charset="2"/>
              </a:rPr>
              <a:t> = </a:t>
            </a:r>
            <a:r>
              <a:rPr lang="es-MX" sz="1400" dirty="0" err="1">
                <a:solidFill>
                  <a:srgbClr val="6F6888"/>
                </a:solidFill>
                <a:latin typeface="Aptos"/>
                <a:ea typeface="Aptos"/>
                <a:cs typeface="Aptos"/>
                <a:sym typeface="Wingdings" panose="05000000000000000000" pitchFamily="2" charset="2"/>
              </a:rPr>
              <a:t>telegram</a:t>
            </a:r>
            <a:endParaRPr lang="es-MX"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lang="es-MX" sz="1400" b="0" u="none" dirty="0">
                <a:solidFill>
                  <a:srgbClr val="6F6888"/>
                </a:solidFill>
                <a:latin typeface="Aptos"/>
                <a:ea typeface="Aptos"/>
                <a:cs typeface="Aptos"/>
              </a:rPr>
              <a:t>Identidad vinculada y contexto de sesión</a:t>
            </a:r>
            <a:endParaRPr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sz="1400" b="0" u="none" dirty="0">
                <a:solidFill>
                  <a:srgbClr val="6F6888"/>
                </a:solidFill>
                <a:latin typeface="Aptos"/>
                <a:ea typeface="Aptos"/>
                <a:cs typeface="Aptos"/>
              </a:rPr>
              <a:t>Streaming </a:t>
            </a:r>
            <a:r>
              <a:rPr lang="es-MX" sz="1400" b="0" u="none" dirty="0">
                <a:solidFill>
                  <a:srgbClr val="6F6888"/>
                </a:solidFill>
                <a:latin typeface="Aptos"/>
                <a:ea typeface="Aptos"/>
                <a:cs typeface="Aptos"/>
              </a:rPr>
              <a:t>web o mensajería</a:t>
            </a:r>
            <a:endParaRPr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lang="en-US" sz="1400" b="0" u="none" dirty="0">
                <a:solidFill>
                  <a:srgbClr val="6F6888"/>
                </a:solidFill>
                <a:latin typeface="Aptos"/>
                <a:ea typeface="Aptos"/>
                <a:cs typeface="Aptos"/>
              </a:rPr>
              <a:t>HITL en el canal</a:t>
            </a:r>
          </a:p>
          <a:p>
            <a:pPr marL="285750" indent="-285750" defTabSz="914400">
              <a:lnSpc>
                <a:spcPct val="100000"/>
              </a:lnSpc>
              <a:buFont typeface="Arial"/>
              <a:buChar char="•"/>
              <a:tabLst>
                <a:tab pos="0" algn="l"/>
              </a:tabLst>
            </a:pPr>
            <a:r>
              <a:rPr lang="en-US" sz="1400" b="0" u="none" dirty="0">
                <a:solidFill>
                  <a:srgbClr val="6F6888"/>
                </a:solidFill>
                <a:latin typeface="Aptos"/>
                <a:ea typeface="Aptos"/>
                <a:cs typeface="Aptos"/>
              </a:rPr>
              <a:t>Identidad </a:t>
            </a:r>
            <a:r>
              <a:rPr lang="en-US" sz="1400" b="0" u="none" dirty="0" err="1">
                <a:solidFill>
                  <a:srgbClr val="6F6888"/>
                </a:solidFill>
                <a:latin typeface="Aptos"/>
                <a:ea typeface="Aptos"/>
                <a:cs typeface="Aptos"/>
              </a:rPr>
              <a:t>consistente</a:t>
            </a:r>
            <a:r>
              <a:rPr lang="en-US" sz="1400" b="0" u="none" dirty="0">
                <a:solidFill>
                  <a:srgbClr val="6F6888"/>
                </a:solidFill>
                <a:latin typeface="Aptos"/>
                <a:ea typeface="Aptos"/>
                <a:cs typeface="Aptos"/>
              </a:rPr>
              <a:t> y </a:t>
            </a:r>
            <a:r>
              <a:rPr lang="en-US" sz="1400" b="0" u="none" dirty="0" err="1">
                <a:solidFill>
                  <a:srgbClr val="6F6888"/>
                </a:solidFill>
                <a:latin typeface="Aptos"/>
                <a:ea typeface="Aptos"/>
                <a:cs typeface="Aptos"/>
              </a:rPr>
              <a:t>continuidad</a:t>
            </a:r>
            <a:r>
              <a:rPr lang="en-US" sz="1400" b="0" u="none" dirty="0">
                <a:solidFill>
                  <a:srgbClr val="6F6888"/>
                </a:solidFill>
                <a:latin typeface="Aptos"/>
                <a:ea typeface="Aptos"/>
                <a:cs typeface="Aptos"/>
              </a:rPr>
              <a:t> entre canales</a:t>
            </a:r>
          </a:p>
        </p:txBody>
      </p:sp>
      <p:sp>
        <p:nvSpPr>
          <p:cNvPr id="479" name="Shape 12">
            <a:extLst>
              <a:ext uri="{FF2B5EF4-FFF2-40B4-BE49-F238E27FC236}">
                <a16:creationId xmlns:a16="http://schemas.microsoft.com/office/drawing/2014/main" id="{91372C0F-C107-4E97-B053-A424B2AB88C1}"/>
              </a:ext>
            </a:extLst>
          </p:cNvPr>
          <p:cNvSpPr>
            <a:spLocks noGrp="1"/>
          </p:cNvSpPr>
          <p:nvPr/>
        </p:nvSpPr>
        <p:spPr>
          <a:xfrm>
            <a:off x="4216887" y="2793020"/>
            <a:ext cx="3753119" cy="322604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80" name="Text 13">
            <a:extLst>
              <a:ext uri="{FF2B5EF4-FFF2-40B4-BE49-F238E27FC236}">
                <a16:creationId xmlns:a16="http://schemas.microsoft.com/office/drawing/2014/main" id="{10DFEA9B-76B4-44A6-87F2-2AC93E0A56B5}"/>
              </a:ext>
            </a:extLst>
          </p:cNvPr>
          <p:cNvSpPr>
            <a:spLocks noGrp="1"/>
          </p:cNvSpPr>
          <p:nvPr/>
        </p:nvSpPr>
        <p:spPr>
          <a:xfrm>
            <a:off x="4470272" y="2939180"/>
            <a:ext cx="3393197"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lang="es-MX" sz="1200" b="1" u="none" dirty="0">
                <a:solidFill>
                  <a:srgbClr val="078C53"/>
                </a:solidFill>
                <a:latin typeface="Aptos"/>
                <a:ea typeface="Aptos"/>
                <a:cs typeface="Aptos"/>
              </a:rPr>
              <a:t>PROGRAMADOS Y PROACTIVOS (ASÍNCRONOS)</a:t>
            </a:r>
            <a:endParaRPr sz="1200" b="0" u="none" dirty="0">
              <a:solidFill>
                <a:srgbClr val="000000"/>
              </a:solidFill>
              <a:latin typeface="Arial"/>
              <a:ea typeface="Arial"/>
              <a:cs typeface="Arial"/>
            </a:endParaRPr>
          </a:p>
        </p:txBody>
      </p:sp>
      <p:sp>
        <p:nvSpPr>
          <p:cNvPr id="481" name="Text 14">
            <a:extLst>
              <a:ext uri="{FF2B5EF4-FFF2-40B4-BE49-F238E27FC236}">
                <a16:creationId xmlns:a16="http://schemas.microsoft.com/office/drawing/2014/main" id="{277CAD91-0E67-4B85-97C6-CB9CC9C55260}"/>
              </a:ext>
            </a:extLst>
          </p:cNvPr>
          <p:cNvSpPr>
            <a:spLocks noGrp="1"/>
          </p:cNvSpPr>
          <p:nvPr/>
        </p:nvSpPr>
        <p:spPr>
          <a:xfrm>
            <a:off x="4464780" y="3321847"/>
            <a:ext cx="3256038"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buNone/>
              <a:tabLst>
                <a:tab pos="0" algn="l"/>
              </a:tabLst>
            </a:pPr>
            <a:r>
              <a:rPr lang="es-MX" b="1" dirty="0">
                <a:solidFill>
                  <a:srgbClr val="151327"/>
                </a:solidFill>
                <a:latin typeface="Aptos Display"/>
                <a:ea typeface="Aptos Display"/>
                <a:cs typeface="Aptos Display"/>
              </a:rPr>
              <a:t>Tareas programadas </a:t>
            </a:r>
            <a:r>
              <a:rPr lang="es-MX" b="1" u="none" dirty="0">
                <a:solidFill>
                  <a:srgbClr val="151327"/>
                </a:solidFill>
                <a:latin typeface="Aptos Display"/>
                <a:ea typeface="Aptos Display"/>
                <a:cs typeface="Aptos Display"/>
              </a:rPr>
              <a:t>y</a:t>
            </a:r>
            <a:r>
              <a:rPr b="1" u="none" dirty="0">
                <a:solidFill>
                  <a:srgbClr val="151327"/>
                </a:solidFill>
                <a:latin typeface="Aptos Display"/>
                <a:ea typeface="Aptos Display"/>
                <a:cs typeface="Aptos Display"/>
              </a:rPr>
              <a:t> </a:t>
            </a:r>
            <a:r>
              <a:rPr lang="es-MX" b="1" dirty="0">
                <a:solidFill>
                  <a:srgbClr val="151327"/>
                </a:solidFill>
                <a:latin typeface="Aptos Display"/>
                <a:ea typeface="Aptos Display"/>
                <a:cs typeface="Aptos Display"/>
              </a:rPr>
              <a:t>H</a:t>
            </a:r>
            <a:r>
              <a:rPr b="1" u="none" dirty="0" err="1">
                <a:solidFill>
                  <a:srgbClr val="151327"/>
                </a:solidFill>
                <a:latin typeface="Aptos Display"/>
                <a:ea typeface="Aptos Display"/>
                <a:cs typeface="Aptos Display"/>
              </a:rPr>
              <a:t>eartbeat</a:t>
            </a:r>
            <a:endParaRPr b="0" u="none" dirty="0">
              <a:solidFill>
                <a:srgbClr val="000000"/>
              </a:solidFill>
              <a:latin typeface="Arial"/>
              <a:ea typeface="Arial"/>
              <a:cs typeface="Arial"/>
            </a:endParaRPr>
          </a:p>
        </p:txBody>
      </p:sp>
      <p:sp>
        <p:nvSpPr>
          <p:cNvPr id="482" name="Text 15">
            <a:extLst>
              <a:ext uri="{FF2B5EF4-FFF2-40B4-BE49-F238E27FC236}">
                <a16:creationId xmlns:a16="http://schemas.microsoft.com/office/drawing/2014/main" id="{857D2E0E-0096-40E0-94D1-4B45E711CF10}"/>
              </a:ext>
            </a:extLst>
          </p:cNvPr>
          <p:cNvSpPr>
            <a:spLocks noGrp="1"/>
          </p:cNvSpPr>
          <p:nvPr/>
        </p:nvSpPr>
        <p:spPr>
          <a:xfrm>
            <a:off x="4394447" y="3879543"/>
            <a:ext cx="3469022" cy="157302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marL="285750" indent="-285750">
              <a:buFont typeface="Arial"/>
              <a:buChar char="•"/>
              <a:tabLst>
                <a:tab pos="0" algn="l"/>
              </a:tabLst>
            </a:pPr>
            <a:r>
              <a:rPr lang="es-ES" sz="1400" dirty="0" err="1">
                <a:solidFill>
                  <a:srgbClr val="6F6888"/>
                </a:solidFill>
              </a:rPr>
              <a:t>Scheduler</a:t>
            </a:r>
            <a:r>
              <a:rPr lang="es-ES" sz="1400" dirty="0">
                <a:solidFill>
                  <a:srgbClr val="6F6888"/>
                </a:solidFill>
              </a:rPr>
              <a:t> externo (puede utilizar infraestructura cron)</a:t>
            </a:r>
          </a:p>
          <a:p>
            <a:pPr marL="285750" indent="-285750">
              <a:buFont typeface="Arial"/>
              <a:buChar char="•"/>
              <a:tabLst>
                <a:tab pos="0" algn="l"/>
              </a:tabLst>
            </a:pPr>
            <a:r>
              <a:rPr lang="es-ES" sz="1400" dirty="0" err="1">
                <a:solidFill>
                  <a:srgbClr val="6F6888"/>
                </a:solidFill>
              </a:rPr>
              <a:t>Scheduled</a:t>
            </a:r>
            <a:r>
              <a:rPr lang="es-ES" sz="1400" dirty="0">
                <a:solidFill>
                  <a:srgbClr val="6F6888"/>
                </a:solidFill>
              </a:rPr>
              <a:t> </a:t>
            </a:r>
            <a:r>
              <a:rPr lang="es-ES" sz="1400" dirty="0" err="1">
                <a:solidFill>
                  <a:srgbClr val="6F6888"/>
                </a:solidFill>
              </a:rPr>
              <a:t>Tasks</a:t>
            </a:r>
            <a:r>
              <a:rPr lang="es-ES" sz="1400" dirty="0">
                <a:solidFill>
                  <a:srgbClr val="6F6888"/>
                </a:solidFill>
              </a:rPr>
              <a:t>: </a:t>
            </a:r>
            <a:r>
              <a:rPr lang="es-ES" sz="1400" dirty="0" err="1">
                <a:solidFill>
                  <a:srgbClr val="6F6888"/>
                </a:solidFill>
              </a:rPr>
              <a:t>channel</a:t>
            </a:r>
            <a:r>
              <a:rPr lang="es-ES" sz="1400" dirty="0">
                <a:solidFill>
                  <a:srgbClr val="6F6888"/>
                </a:solidFill>
              </a:rPr>
              <a:t> </a:t>
            </a:r>
            <a:r>
              <a:rPr lang="es-ES" sz="1400" dirty="0">
                <a:solidFill>
                  <a:srgbClr val="6F6888"/>
                </a:solidFill>
                <a:sym typeface="Wingdings" panose="05000000000000000000" pitchFamily="2" charset="2"/>
              </a:rPr>
              <a:t>=</a:t>
            </a:r>
            <a:r>
              <a:rPr lang="es-ES" sz="1400" dirty="0">
                <a:solidFill>
                  <a:srgbClr val="6F6888"/>
                </a:solidFill>
              </a:rPr>
              <a:t> cron; instrucción y </a:t>
            </a:r>
            <a:r>
              <a:rPr lang="es-ES" sz="1400" dirty="0" err="1">
                <a:solidFill>
                  <a:srgbClr val="6F6888"/>
                </a:solidFill>
              </a:rPr>
              <a:t>policy</a:t>
            </a:r>
            <a:r>
              <a:rPr lang="es-ES" sz="1400" dirty="0">
                <a:solidFill>
                  <a:srgbClr val="6F6888"/>
                </a:solidFill>
              </a:rPr>
              <a:t> persistidas</a:t>
            </a:r>
          </a:p>
          <a:p>
            <a:pPr marL="285750" indent="-285750">
              <a:buFont typeface="Arial"/>
              <a:buChar char="•"/>
              <a:tabLst>
                <a:tab pos="0" algn="l"/>
              </a:tabLst>
            </a:pPr>
            <a:r>
              <a:rPr lang="es-ES" sz="1400" dirty="0" err="1">
                <a:solidFill>
                  <a:srgbClr val="6F6888"/>
                </a:solidFill>
              </a:rPr>
              <a:t>Heartbeat</a:t>
            </a:r>
            <a:r>
              <a:rPr lang="es-ES" sz="1400" dirty="0">
                <a:solidFill>
                  <a:srgbClr val="6F6888"/>
                </a:solidFill>
              </a:rPr>
              <a:t>: </a:t>
            </a:r>
            <a:r>
              <a:rPr lang="es-ES" sz="1400" dirty="0" err="1">
                <a:solidFill>
                  <a:srgbClr val="6F6888"/>
                </a:solidFill>
              </a:rPr>
              <a:t>channel</a:t>
            </a:r>
            <a:r>
              <a:rPr lang="es-ES" sz="1400" dirty="0">
                <a:solidFill>
                  <a:srgbClr val="6F6888"/>
                </a:solidFill>
              </a:rPr>
              <a:t> </a:t>
            </a:r>
            <a:r>
              <a:rPr lang="es-ES" sz="1400" dirty="0">
                <a:solidFill>
                  <a:srgbClr val="6F6888"/>
                </a:solidFill>
                <a:sym typeface="Wingdings" panose="05000000000000000000" pitchFamily="2" charset="2"/>
              </a:rPr>
              <a:t>= </a:t>
            </a:r>
            <a:r>
              <a:rPr lang="es-ES" sz="1400" dirty="0" err="1">
                <a:solidFill>
                  <a:srgbClr val="6F6888"/>
                </a:solidFill>
                <a:sym typeface="Wingdings" panose="05000000000000000000" pitchFamily="2" charset="2"/>
              </a:rPr>
              <a:t>heartbeat</a:t>
            </a:r>
            <a:r>
              <a:rPr lang="es-ES" sz="1400" dirty="0">
                <a:solidFill>
                  <a:srgbClr val="6F6888"/>
                </a:solidFill>
                <a:sym typeface="Wingdings" panose="05000000000000000000" pitchFamily="2" charset="2"/>
              </a:rPr>
              <a:t>;</a:t>
            </a:r>
            <a:r>
              <a:rPr lang="es-ES" sz="1400" dirty="0">
                <a:solidFill>
                  <a:srgbClr val="6F6888"/>
                </a:solidFill>
              </a:rPr>
              <a:t> intervalo, </a:t>
            </a:r>
            <a:r>
              <a:rPr lang="es-ES" sz="1400" dirty="0" err="1">
                <a:solidFill>
                  <a:srgbClr val="6F6888"/>
                </a:solidFill>
              </a:rPr>
              <a:t>checklist</a:t>
            </a:r>
            <a:r>
              <a:rPr lang="es-ES" sz="1400" dirty="0">
                <a:solidFill>
                  <a:srgbClr val="6F6888"/>
                </a:solidFill>
              </a:rPr>
              <a:t> y </a:t>
            </a:r>
            <a:r>
              <a:rPr lang="es-ES" sz="1400" dirty="0" err="1">
                <a:solidFill>
                  <a:srgbClr val="6F6888"/>
                </a:solidFill>
              </a:rPr>
              <a:t>policy</a:t>
            </a:r>
            <a:r>
              <a:rPr lang="es-ES" sz="1400" dirty="0">
                <a:solidFill>
                  <a:srgbClr val="6F6888"/>
                </a:solidFill>
              </a:rPr>
              <a:t> conservadora</a:t>
            </a:r>
          </a:p>
          <a:p>
            <a:pPr marL="285750" indent="-285750">
              <a:buFont typeface="Arial"/>
              <a:buChar char="•"/>
              <a:tabLst>
                <a:tab pos="0" algn="l"/>
              </a:tabLst>
            </a:pPr>
            <a:r>
              <a:rPr lang="es-ES" sz="1400" dirty="0">
                <a:solidFill>
                  <a:srgbClr val="6F6888"/>
                </a:solidFill>
              </a:rPr>
              <a:t>Sin usuario esperando el mismo turno</a:t>
            </a:r>
          </a:p>
          <a:p>
            <a:pPr marL="285750" indent="-285750">
              <a:buFont typeface="Arial"/>
              <a:buChar char="•"/>
              <a:tabLst>
                <a:tab pos="0" algn="l"/>
              </a:tabLst>
            </a:pPr>
            <a:r>
              <a:rPr lang="es-ES" sz="1400" dirty="0">
                <a:solidFill>
                  <a:srgbClr val="6F6888"/>
                </a:solidFill>
              </a:rPr>
              <a:t>Evidencia de ejecución y entrega</a:t>
            </a:r>
            <a:endParaRPr lang="es-MX" sz="1400" dirty="0">
              <a:solidFill>
                <a:srgbClr val="6F6888"/>
              </a:solidFill>
            </a:endParaRPr>
          </a:p>
        </p:txBody>
      </p:sp>
      <p:pic>
        <p:nvPicPr>
          <p:cNvPr id="499" name="Image 0"/>
          <p:cNvPicPr>
            <a:picLocks noChangeAspect="1"/>
          </p:cNvPicPr>
          <p:nvPr/>
        </p:nvPicPr>
        <p:blipFill>
          <a:blip r:embed="rId3"/>
          <a:stretch>
            <a:fillRect/>
          </a:stretch>
        </p:blipFill>
        <p:spPr>
          <a:xfrm>
            <a:off x="11109960" y="449715"/>
            <a:ext cx="566928" cy="472170"/>
          </a:xfrm>
          <a:prstGeom prst="rect">
            <a:avLst/>
          </a:prstGeom>
        </p:spPr>
      </p:pic>
      <p:sp>
        <p:nvSpPr>
          <p:cNvPr id="3" name="Shape 8">
            <a:extLst>
              <a:ext uri="{FF2B5EF4-FFF2-40B4-BE49-F238E27FC236}">
                <a16:creationId xmlns:a16="http://schemas.microsoft.com/office/drawing/2014/main" id="{CE00BA11-4FB1-3905-F8B7-38DA1A1845DA}"/>
              </a:ext>
            </a:extLst>
          </p:cNvPr>
          <p:cNvSpPr>
            <a:spLocks noGrp="1"/>
          </p:cNvSpPr>
          <p:nvPr/>
        </p:nvSpPr>
        <p:spPr>
          <a:xfrm>
            <a:off x="8137035" y="2793019"/>
            <a:ext cx="3643633" cy="3226041"/>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dirty="0">
              <a:solidFill>
                <a:srgbClr val="000000"/>
              </a:solidFill>
              <a:latin typeface="Arial"/>
              <a:ea typeface="Arial"/>
              <a:cs typeface="Arial"/>
            </a:endParaRPr>
          </a:p>
        </p:txBody>
      </p:sp>
      <p:sp>
        <p:nvSpPr>
          <p:cNvPr id="5" name="Text 11">
            <a:extLst>
              <a:ext uri="{FF2B5EF4-FFF2-40B4-BE49-F238E27FC236}">
                <a16:creationId xmlns:a16="http://schemas.microsoft.com/office/drawing/2014/main" id="{5A74375C-31EE-C800-3C6A-D049131E2F2B}"/>
              </a:ext>
            </a:extLst>
          </p:cNvPr>
          <p:cNvSpPr>
            <a:spLocks noGrp="1"/>
          </p:cNvSpPr>
          <p:nvPr/>
        </p:nvSpPr>
        <p:spPr>
          <a:xfrm>
            <a:off x="8392995" y="3816011"/>
            <a:ext cx="3281886" cy="195499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lnSpcReduction="10000"/>
          </a:bodyPr>
          <a:lstStyle/>
          <a:p>
            <a:pPr marL="285750" indent="-285750" defTabSz="914400">
              <a:lnSpc>
                <a:spcPct val="100000"/>
              </a:lnSpc>
              <a:buFont typeface="Arial"/>
              <a:buChar char="•"/>
              <a:tabLst>
                <a:tab pos="0" algn="l"/>
              </a:tabLst>
            </a:pPr>
            <a:r>
              <a:rPr lang="en-US" sz="1400" b="0" u="none" dirty="0">
                <a:solidFill>
                  <a:srgbClr val="6F6888"/>
                </a:solidFill>
                <a:latin typeface="Aptos"/>
                <a:ea typeface="Aptos"/>
                <a:cs typeface="Aptos"/>
              </a:rPr>
              <a:t>Operational Cases: channel = </a:t>
            </a:r>
            <a:r>
              <a:rPr lang="en-US" sz="1400" b="0" u="none" dirty="0" err="1">
                <a:solidFill>
                  <a:srgbClr val="6F6888"/>
                </a:solidFill>
                <a:latin typeface="Aptos"/>
                <a:ea typeface="Aptos"/>
                <a:cs typeface="Aptos"/>
              </a:rPr>
              <a:t>case_runner</a:t>
            </a:r>
            <a:endParaRPr lang="es-ES"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lang="es-ES" sz="1400" b="0" u="none" dirty="0">
                <a:solidFill>
                  <a:srgbClr val="6F6888"/>
                </a:solidFill>
                <a:latin typeface="Aptos"/>
                <a:ea typeface="Aptos"/>
                <a:cs typeface="Aptos"/>
              </a:rPr>
              <a:t>Trigger: Case vencido o evento operativo</a:t>
            </a:r>
          </a:p>
          <a:p>
            <a:pPr marL="285750" indent="-285750" defTabSz="914400">
              <a:lnSpc>
                <a:spcPct val="100000"/>
              </a:lnSpc>
              <a:buFont typeface="Arial"/>
              <a:buChar char="•"/>
              <a:tabLst>
                <a:tab pos="0" algn="l"/>
              </a:tabLst>
            </a:pPr>
            <a:r>
              <a:rPr lang="es-ES" sz="1400" b="0" u="none" dirty="0" err="1">
                <a:solidFill>
                  <a:srgbClr val="6F6888"/>
                </a:solidFill>
                <a:latin typeface="Aptos"/>
                <a:ea typeface="Aptos"/>
                <a:cs typeface="Aptos"/>
              </a:rPr>
              <a:t>caseId</a:t>
            </a:r>
            <a:r>
              <a:rPr lang="es-ES" sz="1400" b="0" u="none" dirty="0">
                <a:solidFill>
                  <a:srgbClr val="6F6888"/>
                </a:solidFill>
                <a:latin typeface="Aptos"/>
                <a:ea typeface="Aptos"/>
                <a:cs typeface="Aptos"/>
              </a:rPr>
              <a:t> e historia durable</a:t>
            </a:r>
          </a:p>
          <a:p>
            <a:pPr marL="285750" indent="-285750" defTabSz="914400">
              <a:lnSpc>
                <a:spcPct val="100000"/>
              </a:lnSpc>
              <a:buFont typeface="Arial"/>
              <a:buChar char="•"/>
              <a:tabLst>
                <a:tab pos="0" algn="l"/>
              </a:tabLst>
            </a:pPr>
            <a:r>
              <a:rPr lang="es-ES" sz="1400" b="0" u="none" dirty="0" err="1">
                <a:solidFill>
                  <a:srgbClr val="6F6888"/>
                </a:solidFill>
                <a:latin typeface="Aptos"/>
                <a:ea typeface="Aptos"/>
                <a:cs typeface="Aptos"/>
              </a:rPr>
              <a:t>Binding</a:t>
            </a:r>
            <a:r>
              <a:rPr lang="es-ES" sz="1400" b="0" u="none" dirty="0">
                <a:solidFill>
                  <a:srgbClr val="6F6888"/>
                </a:solidFill>
                <a:latin typeface="Aptos"/>
                <a:ea typeface="Aptos"/>
                <a:cs typeface="Aptos"/>
              </a:rPr>
              <a:t> directo a la Skill del tipo o paso del Case</a:t>
            </a:r>
          </a:p>
          <a:p>
            <a:pPr marL="285750" indent="-285750" defTabSz="914400">
              <a:lnSpc>
                <a:spcPct val="100000"/>
              </a:lnSpc>
              <a:buFont typeface="Arial"/>
              <a:buChar char="•"/>
              <a:tabLst>
                <a:tab pos="0" algn="l"/>
              </a:tabLst>
            </a:pPr>
            <a:r>
              <a:rPr lang="es-ES" sz="1400" b="0" u="none" dirty="0">
                <a:solidFill>
                  <a:srgbClr val="6F6888"/>
                </a:solidFill>
                <a:latin typeface="Aptos"/>
                <a:ea typeface="Aptos"/>
                <a:cs typeface="Aptos"/>
              </a:rPr>
              <a:t>Lock, versión y evidencia </a:t>
            </a:r>
            <a:r>
              <a:rPr lang="es-ES" sz="1400" b="0" u="none" dirty="0" err="1">
                <a:solidFill>
                  <a:srgbClr val="6F6888"/>
                </a:solidFill>
                <a:latin typeface="Aptos"/>
                <a:ea typeface="Aptos"/>
                <a:cs typeface="Aptos"/>
              </a:rPr>
              <a:t>append-only</a:t>
            </a:r>
            <a:endParaRPr lang="es-ES" sz="1400" b="0" u="none" dirty="0">
              <a:solidFill>
                <a:srgbClr val="6F6888"/>
              </a:solidFill>
              <a:latin typeface="Aptos"/>
              <a:ea typeface="Aptos"/>
              <a:cs typeface="Aptos"/>
            </a:endParaRPr>
          </a:p>
          <a:p>
            <a:pPr marL="285750" indent="-285750" defTabSz="914400">
              <a:lnSpc>
                <a:spcPct val="100000"/>
              </a:lnSpc>
              <a:buFont typeface="Arial"/>
              <a:buChar char="•"/>
              <a:tabLst>
                <a:tab pos="0" algn="l"/>
              </a:tabLst>
            </a:pPr>
            <a:r>
              <a:rPr lang="es-ES" sz="1400" b="0" u="none" dirty="0">
                <a:solidFill>
                  <a:srgbClr val="6F6888"/>
                </a:solidFill>
                <a:latin typeface="Aptos"/>
                <a:ea typeface="Aptos"/>
                <a:cs typeface="Aptos"/>
              </a:rPr>
              <a:t>Esperas humanas o externas entre ejecuciones</a:t>
            </a:r>
            <a:endParaRPr lang="en-US" sz="1400" b="0" u="none" dirty="0">
              <a:solidFill>
                <a:srgbClr val="6F6888"/>
              </a:solidFill>
              <a:latin typeface="Aptos"/>
              <a:ea typeface="Aptos"/>
              <a:cs typeface="Aptos"/>
            </a:endParaRPr>
          </a:p>
        </p:txBody>
      </p:sp>
      <p:sp>
        <p:nvSpPr>
          <p:cNvPr id="7" name="Text 9">
            <a:extLst>
              <a:ext uri="{FF2B5EF4-FFF2-40B4-BE49-F238E27FC236}">
                <a16:creationId xmlns:a16="http://schemas.microsoft.com/office/drawing/2014/main" id="{50ABB574-D230-F506-CC3B-672AB8825BEC}"/>
              </a:ext>
            </a:extLst>
          </p:cNvPr>
          <p:cNvSpPr>
            <a:spLocks noGrp="1"/>
          </p:cNvSpPr>
          <p:nvPr/>
        </p:nvSpPr>
        <p:spPr>
          <a:xfrm>
            <a:off x="8546077" y="2939180"/>
            <a:ext cx="2858131"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lang="es-MX" sz="1200" b="1" u="none" dirty="0">
                <a:solidFill>
                  <a:schemeClr val="accent4">
                    <a:lumMod val="50000"/>
                  </a:schemeClr>
                </a:solidFill>
                <a:latin typeface="Aptos"/>
                <a:ea typeface="Aptos"/>
                <a:cs typeface="Aptos"/>
              </a:rPr>
              <a:t>OPERACIÓN DURABLE</a:t>
            </a:r>
            <a:endParaRPr sz="1200" b="0" u="none" dirty="0">
              <a:solidFill>
                <a:schemeClr val="accent4">
                  <a:lumMod val="50000"/>
                </a:schemeClr>
              </a:solidFill>
              <a:latin typeface="Arial"/>
              <a:ea typeface="Arial"/>
              <a:cs typeface="Arial"/>
            </a:endParaRPr>
          </a:p>
        </p:txBody>
      </p:sp>
      <p:sp>
        <p:nvSpPr>
          <p:cNvPr id="9" name="Text 10">
            <a:extLst>
              <a:ext uri="{FF2B5EF4-FFF2-40B4-BE49-F238E27FC236}">
                <a16:creationId xmlns:a16="http://schemas.microsoft.com/office/drawing/2014/main" id="{82A2AD29-7A80-094D-740F-3F22475260BF}"/>
              </a:ext>
            </a:extLst>
          </p:cNvPr>
          <p:cNvSpPr>
            <a:spLocks noGrp="1"/>
          </p:cNvSpPr>
          <p:nvPr/>
        </p:nvSpPr>
        <p:spPr>
          <a:xfrm>
            <a:off x="8590280" y="3297336"/>
            <a:ext cx="2719872"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lang="es-MX" b="1" dirty="0">
                <a:solidFill>
                  <a:srgbClr val="151327"/>
                </a:solidFill>
                <a:latin typeface="Aptos Display"/>
                <a:ea typeface="Aptos Display"/>
                <a:cs typeface="Aptos Display"/>
              </a:rPr>
              <a:t>Casos operacionales</a:t>
            </a:r>
            <a:endParaRPr b="0" u="none" dirty="0">
              <a:solidFill>
                <a:srgbClr val="000000"/>
              </a:solidFill>
              <a:latin typeface="Arial"/>
              <a:ea typeface="Arial"/>
              <a:cs typeface="Arial"/>
            </a:endParaRPr>
          </a:p>
        </p:txBody>
      </p:sp>
    </p:spTree>
    <p:extLst>
      <p:ext uri="{BB962C8B-B14F-4D97-AF65-F5344CB8AC3E}">
        <p14:creationId xmlns:p14="http://schemas.microsoft.com/office/powerpoint/2010/main" val="1056530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Shape 0">
            <a:extLst>
              <a:ext uri="{FF2B5EF4-FFF2-40B4-BE49-F238E27FC236}">
                <a16:creationId xmlns:a16="http://schemas.microsoft.com/office/drawing/2014/main" id="{A882DA7A-3DA1-1A55-4EBA-9C75BDA6F61F}"/>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246" name="Text 1">
            <a:extLst>
              <a:ext uri="{FF2B5EF4-FFF2-40B4-BE49-F238E27FC236}">
                <a16:creationId xmlns:a16="http://schemas.microsoft.com/office/drawing/2014/main" id="{DD354175-608D-1A71-E390-4A51460BF4E4}"/>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EL TURN LOOP Y EL WORK LOOP TIENEN OWNERS DISTINTOS</a:t>
            </a:r>
            <a:endParaRPr sz="1200" b="0" u="none">
              <a:solidFill>
                <a:srgbClr val="000000"/>
              </a:solidFill>
              <a:latin typeface="Arial"/>
              <a:ea typeface="Arial"/>
              <a:cs typeface="Arial"/>
            </a:endParaRPr>
          </a:p>
        </p:txBody>
      </p:sp>
      <p:sp>
        <p:nvSpPr>
          <p:cNvPr id="247" name="Text 2">
            <a:extLst>
              <a:ext uri="{FF2B5EF4-FFF2-40B4-BE49-F238E27FC236}">
                <a16:creationId xmlns:a16="http://schemas.microsoft.com/office/drawing/2014/main" id="{1F0F9BBB-715B-CCD0-D86A-82CE0AFC0591}"/>
              </a:ext>
            </a:extLst>
          </p:cNvPr>
          <p:cNvSpPr>
            <a:spLocks noGrp="1"/>
          </p:cNvSpPr>
          <p:nvPr/>
        </p:nvSpPr>
        <p:spPr>
          <a:xfrm>
            <a:off x="567000" y="715820"/>
            <a:ext cx="10195200"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93902" lnSpcReduction="10000"/>
          </a:bodyPr>
          <a:lstStyle/>
          <a:p>
            <a:pPr defTabSz="914400">
              <a:lnSpc>
                <a:spcPct val="100000"/>
              </a:lnSpc>
              <a:buNone/>
              <a:tabLst>
                <a:tab pos="0" algn="l"/>
              </a:tabLst>
            </a:pPr>
            <a:r>
              <a:rPr sz="2600" b="1" u="none">
                <a:solidFill>
                  <a:srgbClr val="151327"/>
                </a:solidFill>
                <a:latin typeface="Aptos Display"/>
                <a:ea typeface="Aptos Display"/>
                <a:cs typeface="Aptos Display"/>
              </a:rPr>
              <a:t>Una respuesta puede cerrar el turno; un commitment, Case o wake-up mantiene responsabilidad después.</a:t>
            </a:r>
            <a:endParaRPr sz="2600" b="0" u="none">
              <a:solidFill>
                <a:srgbClr val="000000"/>
              </a:solidFill>
              <a:latin typeface="Arial"/>
              <a:ea typeface="Arial"/>
              <a:cs typeface="Arial"/>
            </a:endParaRPr>
          </a:p>
        </p:txBody>
      </p:sp>
      <p:sp>
        <p:nvSpPr>
          <p:cNvPr id="248" name="Text 3">
            <a:extLst>
              <a:ext uri="{FF2B5EF4-FFF2-40B4-BE49-F238E27FC236}">
                <a16:creationId xmlns:a16="http://schemas.microsoft.com/office/drawing/2014/main" id="{582BD880-1DE5-1431-DDC0-428E681E3EE3}"/>
              </a:ext>
            </a:extLst>
          </p:cNvPr>
          <p:cNvSpPr>
            <a:spLocks noGrp="1"/>
          </p:cNvSpPr>
          <p:nvPr/>
        </p:nvSpPr>
        <p:spPr>
          <a:xfrm>
            <a:off x="567000" y="1416923"/>
            <a:ext cx="10698120" cy="55597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b="0" u="none">
                <a:solidFill>
                  <a:srgbClr val="6F6888"/>
                </a:solidFill>
                <a:latin typeface="Aptos"/>
                <a:ea typeface="Aptos"/>
                <a:cs typeface="Aptos"/>
              </a:rPr>
              <a:t>La arquitectura elige la raíz durable mínima; personal memory no es operational state.</a:t>
            </a:r>
            <a:endParaRPr b="0" u="none">
              <a:solidFill>
                <a:srgbClr val="000000"/>
              </a:solidFill>
              <a:latin typeface="Arial"/>
              <a:ea typeface="Arial"/>
              <a:cs typeface="Arial"/>
            </a:endParaRPr>
          </a:p>
        </p:txBody>
      </p:sp>
      <p:sp>
        <p:nvSpPr>
          <p:cNvPr id="250" name="Text 5">
            <a:extLst>
              <a:ext uri="{FF2B5EF4-FFF2-40B4-BE49-F238E27FC236}">
                <a16:creationId xmlns:a16="http://schemas.microsoft.com/office/drawing/2014/main" id="{D2D2F6A2-EC10-697E-7210-5676009B1357}"/>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251" name="Text 6">
            <a:extLst>
              <a:ext uri="{FF2B5EF4-FFF2-40B4-BE49-F238E27FC236}">
                <a16:creationId xmlns:a16="http://schemas.microsoft.com/office/drawing/2014/main" id="{C8E8C1CA-69BD-676C-6D51-0F12A7F90997}"/>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252" name="Text 7">
            <a:extLst>
              <a:ext uri="{FF2B5EF4-FFF2-40B4-BE49-F238E27FC236}">
                <a16:creationId xmlns:a16="http://schemas.microsoft.com/office/drawing/2014/main" id="{782E3E29-A04F-D32C-CB78-16E7FAB75028}"/>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14</a:t>
            </a:r>
            <a:endParaRPr sz="800" b="0" u="none">
              <a:solidFill>
                <a:srgbClr val="000000"/>
              </a:solidFill>
              <a:latin typeface="Arial"/>
              <a:ea typeface="Arial"/>
              <a:cs typeface="Arial"/>
            </a:endParaRPr>
          </a:p>
        </p:txBody>
      </p:sp>
      <p:sp>
        <p:nvSpPr>
          <p:cNvPr id="253" name="Shape 8">
            <a:extLst>
              <a:ext uri="{FF2B5EF4-FFF2-40B4-BE49-F238E27FC236}">
                <a16:creationId xmlns:a16="http://schemas.microsoft.com/office/drawing/2014/main" id="{9FDD9B24-9FEF-8229-883C-80F5E3ED9CB3}"/>
              </a:ext>
            </a:extLst>
          </p:cNvPr>
          <p:cNvSpPr>
            <a:spLocks noGrp="1"/>
          </p:cNvSpPr>
          <p:nvPr/>
        </p:nvSpPr>
        <p:spPr>
          <a:xfrm>
            <a:off x="9362660" y="3067601"/>
            <a:ext cx="2246243" cy="2150444"/>
          </a:xfrm>
          <a:prstGeom prst="roundRect">
            <a:avLst>
              <a:gd name="adj" fmla="val 7143"/>
            </a:avLst>
          </a:prstGeom>
          <a:solidFill>
            <a:srgbClr val="CC99FF">
              <a:alpha val="50000"/>
            </a:srgbClr>
          </a:solidFill>
          <a:ln w="12700">
            <a:solidFill>
              <a:srgbClr val="5F2CCB"/>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54" name="Text 9">
            <a:extLst>
              <a:ext uri="{FF2B5EF4-FFF2-40B4-BE49-F238E27FC236}">
                <a16:creationId xmlns:a16="http://schemas.microsoft.com/office/drawing/2014/main" id="{95D2BA50-8761-62A4-6805-2AC02C8CC3CE}"/>
              </a:ext>
            </a:extLst>
          </p:cNvPr>
          <p:cNvSpPr>
            <a:spLocks noGrp="1"/>
          </p:cNvSpPr>
          <p:nvPr/>
        </p:nvSpPr>
        <p:spPr>
          <a:xfrm>
            <a:off x="9556552" y="3244229"/>
            <a:ext cx="1892341" cy="57815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Tool call</a:t>
            </a:r>
            <a:endParaRPr b="0" u="none">
              <a:solidFill>
                <a:srgbClr val="000000"/>
              </a:solidFill>
              <a:latin typeface="Arial"/>
              <a:ea typeface="Arial"/>
              <a:cs typeface="Arial"/>
            </a:endParaRPr>
          </a:p>
        </p:txBody>
      </p:sp>
      <p:sp>
        <p:nvSpPr>
          <p:cNvPr id="255" name="Text 10">
            <a:extLst>
              <a:ext uri="{FF2B5EF4-FFF2-40B4-BE49-F238E27FC236}">
                <a16:creationId xmlns:a16="http://schemas.microsoft.com/office/drawing/2014/main" id="{62EF2D04-2D08-2831-76B6-C735FB76BBFC}"/>
              </a:ext>
            </a:extLst>
          </p:cNvPr>
          <p:cNvSpPr>
            <a:spLocks noGrp="1"/>
          </p:cNvSpPr>
          <p:nvPr/>
        </p:nvSpPr>
        <p:spPr>
          <a:xfrm>
            <a:off x="9434072" y="3913819"/>
            <a:ext cx="2107309" cy="1145869"/>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a:buNone/>
              <a:tabLst>
                <a:tab pos="0" algn="l"/>
              </a:tabLst>
            </a:pPr>
            <a:r>
              <a:rPr sz="1200" b="0" u="none">
                <a:solidFill>
                  <a:srgbClr val="6F6888"/>
                </a:solidFill>
                <a:latin typeface="Aptos"/>
                <a:ea typeface="Aptos"/>
                <a:cs typeface="Aptos"/>
              </a:rPr>
              <a:t>Efecto acotado y resultado inmediato.</a:t>
            </a:r>
            <a:endParaRPr sz="1200" b="0" u="none">
              <a:solidFill>
                <a:srgbClr val="000000"/>
              </a:solidFill>
              <a:latin typeface="Arial"/>
              <a:ea typeface="Arial"/>
              <a:cs typeface="Arial"/>
            </a:endParaRPr>
          </a:p>
        </p:txBody>
      </p:sp>
      <p:sp>
        <p:nvSpPr>
          <p:cNvPr id="257" name="Shape 12">
            <a:extLst>
              <a:ext uri="{FF2B5EF4-FFF2-40B4-BE49-F238E27FC236}">
                <a16:creationId xmlns:a16="http://schemas.microsoft.com/office/drawing/2014/main" id="{11D88C58-7E48-2E2C-33DF-5C4665E241AF}"/>
              </a:ext>
            </a:extLst>
          </p:cNvPr>
          <p:cNvSpPr>
            <a:spLocks noGrp="1"/>
          </p:cNvSpPr>
          <p:nvPr/>
        </p:nvSpPr>
        <p:spPr>
          <a:xfrm>
            <a:off x="6399652" y="2752257"/>
            <a:ext cx="2078085" cy="2257065"/>
          </a:xfrm>
          <a:prstGeom prst="roundRect">
            <a:avLst>
              <a:gd name="adj" fmla="val 7143"/>
            </a:avLst>
          </a:prstGeom>
          <a:solidFill>
            <a:srgbClr val="99FFCC">
              <a:alpha val="50000"/>
            </a:srgbClr>
          </a:solidFill>
          <a:ln w="12700">
            <a:solidFill>
              <a:srgbClr val="546080"/>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58" name="Text 13">
            <a:extLst>
              <a:ext uri="{FF2B5EF4-FFF2-40B4-BE49-F238E27FC236}">
                <a16:creationId xmlns:a16="http://schemas.microsoft.com/office/drawing/2014/main" id="{3B491646-BE3F-253A-DC8F-525F168F7CF2}"/>
              </a:ext>
            </a:extLst>
          </p:cNvPr>
          <p:cNvSpPr>
            <a:spLocks noGrp="1"/>
          </p:cNvSpPr>
          <p:nvPr/>
        </p:nvSpPr>
        <p:spPr>
          <a:xfrm>
            <a:off x="6579030" y="2894243"/>
            <a:ext cx="1719329" cy="59726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a:solidFill>
                  <a:srgbClr val="151327"/>
                </a:solidFill>
                <a:latin typeface="Aptos Display"/>
                <a:ea typeface="Aptos Display"/>
                <a:cs typeface="Aptos Display"/>
              </a:rPr>
              <a:t>Work / schedule</a:t>
            </a:r>
            <a:endParaRPr b="0" u="none">
              <a:solidFill>
                <a:srgbClr val="000000"/>
              </a:solidFill>
              <a:latin typeface="Arial"/>
              <a:ea typeface="Arial"/>
              <a:cs typeface="Arial"/>
            </a:endParaRPr>
          </a:p>
        </p:txBody>
      </p:sp>
      <p:sp>
        <p:nvSpPr>
          <p:cNvPr id="259" name="Text 14">
            <a:extLst>
              <a:ext uri="{FF2B5EF4-FFF2-40B4-BE49-F238E27FC236}">
                <a16:creationId xmlns:a16="http://schemas.microsoft.com/office/drawing/2014/main" id="{2F3F53C4-89BC-D87A-20F4-EDBD2E790419}"/>
              </a:ext>
            </a:extLst>
          </p:cNvPr>
          <p:cNvSpPr>
            <a:spLocks noGrp="1"/>
          </p:cNvSpPr>
          <p:nvPr/>
        </p:nvSpPr>
        <p:spPr>
          <a:xfrm>
            <a:off x="6530255" y="3699376"/>
            <a:ext cx="1869553" cy="99867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0" u="none">
                <a:solidFill>
                  <a:srgbClr val="6F6888"/>
                </a:solidFill>
                <a:latin typeface="Aptos"/>
                <a:ea typeface="Aptos"/>
                <a:cs typeface="Aptos"/>
              </a:rPr>
              <a:t>Unidad que espera, reintenta o despierta.</a:t>
            </a:r>
            <a:endParaRPr sz="1200" b="0" u="none">
              <a:solidFill>
                <a:srgbClr val="000000"/>
              </a:solidFill>
              <a:latin typeface="Arial"/>
              <a:ea typeface="Arial"/>
              <a:cs typeface="Arial"/>
            </a:endParaRPr>
          </a:p>
        </p:txBody>
      </p:sp>
      <p:sp>
        <p:nvSpPr>
          <p:cNvPr id="261" name="Shape 16">
            <a:extLst>
              <a:ext uri="{FF2B5EF4-FFF2-40B4-BE49-F238E27FC236}">
                <a16:creationId xmlns:a16="http://schemas.microsoft.com/office/drawing/2014/main" id="{A855A8B1-4B3B-1033-08E7-E229B114997E}"/>
              </a:ext>
            </a:extLst>
          </p:cNvPr>
          <p:cNvSpPr>
            <a:spLocks noGrp="1"/>
          </p:cNvSpPr>
          <p:nvPr/>
        </p:nvSpPr>
        <p:spPr>
          <a:xfrm>
            <a:off x="3366780" y="2484561"/>
            <a:ext cx="2078085" cy="2216647"/>
          </a:xfrm>
          <a:prstGeom prst="roundRect">
            <a:avLst>
              <a:gd name="adj" fmla="val 7143"/>
            </a:avLst>
          </a:prstGeom>
          <a:solidFill>
            <a:schemeClr val="accent6">
              <a:lumMod val="20000"/>
              <a:lumOff val="80000"/>
            </a:schemeClr>
          </a:solidFill>
          <a:ln w="12700">
            <a:solidFill>
              <a:srgbClr val="078C53"/>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62" name="Text 17">
            <a:extLst>
              <a:ext uri="{FF2B5EF4-FFF2-40B4-BE49-F238E27FC236}">
                <a16:creationId xmlns:a16="http://schemas.microsoft.com/office/drawing/2014/main" id="{1E4DFB1D-5C00-DAF8-1D3B-742BCF11A11B}"/>
              </a:ext>
            </a:extLst>
          </p:cNvPr>
          <p:cNvSpPr>
            <a:spLocks noGrp="1"/>
          </p:cNvSpPr>
          <p:nvPr/>
        </p:nvSpPr>
        <p:spPr>
          <a:xfrm>
            <a:off x="3546158" y="2697970"/>
            <a:ext cx="1719329" cy="58669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151327"/>
                </a:solidFill>
                <a:latin typeface="Aptos Display"/>
                <a:ea typeface="Aptos Display"/>
                <a:cs typeface="Aptos Display"/>
              </a:rPr>
              <a:t>Case</a:t>
            </a:r>
            <a:endParaRPr b="0" u="none">
              <a:solidFill>
                <a:srgbClr val="000000"/>
              </a:solidFill>
              <a:latin typeface="Arial"/>
              <a:ea typeface="Arial"/>
              <a:cs typeface="Arial"/>
            </a:endParaRPr>
          </a:p>
        </p:txBody>
      </p:sp>
      <p:sp>
        <p:nvSpPr>
          <p:cNvPr id="263" name="Text 18">
            <a:extLst>
              <a:ext uri="{FF2B5EF4-FFF2-40B4-BE49-F238E27FC236}">
                <a16:creationId xmlns:a16="http://schemas.microsoft.com/office/drawing/2014/main" id="{479BCBCE-C877-5D81-254B-824FAEA9E464}"/>
              </a:ext>
            </a:extLst>
          </p:cNvPr>
          <p:cNvSpPr>
            <a:spLocks noGrp="1"/>
          </p:cNvSpPr>
          <p:nvPr/>
        </p:nvSpPr>
        <p:spPr>
          <a:xfrm>
            <a:off x="3497382" y="3414925"/>
            <a:ext cx="1849869" cy="116546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0" u="none">
                <a:solidFill>
                  <a:srgbClr val="6F6888"/>
                </a:solidFill>
                <a:latin typeface="Aptos"/>
                <a:ea typeface="Aptos"/>
                <a:cs typeface="Aptos"/>
              </a:rPr>
              <a:t>Responsabilidad durable con state, participants, policy y evidence.</a:t>
            </a:r>
            <a:endParaRPr sz="1200" b="0" u="none">
              <a:solidFill>
                <a:srgbClr val="000000"/>
              </a:solidFill>
              <a:latin typeface="Arial"/>
              <a:ea typeface="Arial"/>
              <a:cs typeface="Arial"/>
            </a:endParaRPr>
          </a:p>
        </p:txBody>
      </p:sp>
      <p:sp>
        <p:nvSpPr>
          <p:cNvPr id="265" name="Shape 20">
            <a:extLst>
              <a:ext uri="{FF2B5EF4-FFF2-40B4-BE49-F238E27FC236}">
                <a16:creationId xmlns:a16="http://schemas.microsoft.com/office/drawing/2014/main" id="{767E9E23-87D6-D399-C628-63AB925920D2}"/>
              </a:ext>
            </a:extLst>
          </p:cNvPr>
          <p:cNvSpPr>
            <a:spLocks noGrp="1"/>
          </p:cNvSpPr>
          <p:nvPr/>
        </p:nvSpPr>
        <p:spPr>
          <a:xfrm>
            <a:off x="566906" y="2246082"/>
            <a:ext cx="1907915" cy="2125076"/>
          </a:xfrm>
          <a:prstGeom prst="roundRect">
            <a:avLst>
              <a:gd name="adj" fmla="val 7143"/>
            </a:avLst>
          </a:prstGeom>
          <a:solidFill>
            <a:schemeClr val="accent4">
              <a:lumMod val="20000"/>
              <a:lumOff val="80000"/>
            </a:schemeClr>
          </a:solidFill>
          <a:ln w="12700">
            <a:solidFill>
              <a:srgbClr val="F39A2B"/>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266" name="Text 21">
            <a:extLst>
              <a:ext uri="{FF2B5EF4-FFF2-40B4-BE49-F238E27FC236}">
                <a16:creationId xmlns:a16="http://schemas.microsoft.com/office/drawing/2014/main" id="{2843F256-14CC-937F-7108-B04F725DAD56}"/>
              </a:ext>
            </a:extLst>
          </p:cNvPr>
          <p:cNvSpPr>
            <a:spLocks noGrp="1"/>
          </p:cNvSpPr>
          <p:nvPr/>
        </p:nvSpPr>
        <p:spPr>
          <a:xfrm>
            <a:off x="715991" y="2434545"/>
            <a:ext cx="1594141" cy="56258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dirty="0">
                <a:solidFill>
                  <a:srgbClr val="151327"/>
                </a:solidFill>
                <a:latin typeface="Aptos Display"/>
                <a:ea typeface="Aptos Display"/>
                <a:cs typeface="Aptos Display"/>
              </a:rPr>
              <a:t>Operating domain</a:t>
            </a:r>
            <a:endParaRPr b="0" u="none" dirty="0">
              <a:solidFill>
                <a:srgbClr val="000000"/>
              </a:solidFill>
              <a:latin typeface="Arial"/>
              <a:ea typeface="Arial"/>
              <a:cs typeface="Arial"/>
            </a:endParaRPr>
          </a:p>
        </p:txBody>
      </p:sp>
      <p:sp>
        <p:nvSpPr>
          <p:cNvPr id="267" name="Text 22">
            <a:extLst>
              <a:ext uri="{FF2B5EF4-FFF2-40B4-BE49-F238E27FC236}">
                <a16:creationId xmlns:a16="http://schemas.microsoft.com/office/drawing/2014/main" id="{63669163-2472-2609-3BF1-16ED831BAC0A}"/>
              </a:ext>
            </a:extLst>
          </p:cNvPr>
          <p:cNvSpPr>
            <a:spLocks noGrp="1"/>
          </p:cNvSpPr>
          <p:nvPr/>
        </p:nvSpPr>
        <p:spPr>
          <a:xfrm>
            <a:off x="613726" y="2960766"/>
            <a:ext cx="1815468" cy="121638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0" u="none">
                <a:solidFill>
                  <a:srgbClr val="6F6888"/>
                </a:solidFill>
                <a:latin typeface="Aptos"/>
                <a:ea typeface="Aptos"/>
                <a:cs typeface="Aptos"/>
              </a:rPr>
              <a:t>Semántica de negocio que agrupa responsabilidades reusando el kernel.</a:t>
            </a:r>
            <a:endParaRPr sz="1200" b="0" u="none">
              <a:solidFill>
                <a:srgbClr val="000000"/>
              </a:solidFill>
              <a:latin typeface="Arial"/>
              <a:ea typeface="Arial"/>
              <a:cs typeface="Arial"/>
            </a:endParaRPr>
          </a:p>
        </p:txBody>
      </p:sp>
      <p:pic>
        <p:nvPicPr>
          <p:cNvPr id="360" name="Image 0"/>
          <p:cNvPicPr>
            <a:picLocks noChangeAspect="1"/>
          </p:cNvPicPr>
          <p:nvPr/>
        </p:nvPicPr>
        <p:blipFill>
          <a:blip r:embed="rId3"/>
          <a:stretch>
            <a:fillRect/>
          </a:stretch>
        </p:blipFill>
        <p:spPr>
          <a:xfrm>
            <a:off x="11109960" y="449715"/>
            <a:ext cx="566928" cy="472170"/>
          </a:xfrm>
          <a:prstGeom prst="rect">
            <a:avLst/>
          </a:prstGeom>
        </p:spPr>
      </p:pic>
      <p:cxnSp>
        <p:nvCxnSpPr>
          <p:cNvPr id="361" name="Conector: angular 9"/>
          <p:cNvCxnSpPr>
            <a:stCxn id="265" idx="3"/>
            <a:endCxn id="261" idx="1"/>
          </p:cNvCxnSpPr>
          <p:nvPr/>
        </p:nvCxnSpPr>
        <p:spPr>
          <a:xfrm>
            <a:off x="2474821" y="3308620"/>
            <a:ext cx="891959" cy="284265"/>
          </a:xfrm>
          <a:prstGeom prst="bentConnector3">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62" name="Conector: angular 14"/>
          <p:cNvCxnSpPr>
            <a:stCxn id="261" idx="3"/>
            <a:endCxn id="257" idx="1"/>
          </p:cNvCxnSpPr>
          <p:nvPr/>
        </p:nvCxnSpPr>
        <p:spPr>
          <a:xfrm>
            <a:off x="5444865" y="3592885"/>
            <a:ext cx="954787" cy="287905"/>
          </a:xfrm>
          <a:prstGeom prst="bentConnector3">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Conector: angular 18"/>
          <p:cNvCxnSpPr>
            <a:stCxn id="257" idx="3"/>
            <a:endCxn id="253" idx="1"/>
          </p:cNvCxnSpPr>
          <p:nvPr/>
        </p:nvCxnSpPr>
        <p:spPr>
          <a:xfrm>
            <a:off x="8477737" y="3880790"/>
            <a:ext cx="884923" cy="262033"/>
          </a:xfrm>
          <a:prstGeom prst="bentConnector3">
            <a:avLst>
              <a:gd name="adj1" fmla="val 50000"/>
            </a:avLst>
          </a:prstGeom>
          <a:ln>
            <a:solidFill>
              <a:srgbClr val="746F93"/>
            </a:solidFill>
            <a:tailEnd type="triangle"/>
          </a:ln>
        </p:spPr>
        <p:style>
          <a:lnRef idx="1">
            <a:schemeClr val="accent1"/>
          </a:lnRef>
          <a:fillRef idx="0">
            <a:schemeClr val="accent1"/>
          </a:fillRef>
          <a:effectRef idx="0">
            <a:schemeClr val="accent1"/>
          </a:effectRef>
          <a:fontRef idx="minor">
            <a:schemeClr val="tx1"/>
          </a:fontRef>
        </p:style>
      </p:cxnSp>
      <p:sp>
        <p:nvSpPr>
          <p:cNvPr id="26" name="Text 22">
            <a:extLst>
              <a:ext uri="{FF2B5EF4-FFF2-40B4-BE49-F238E27FC236}">
                <a16:creationId xmlns:a16="http://schemas.microsoft.com/office/drawing/2014/main" id="{206A407A-8804-81B3-C1A6-9FC84EF2D345}"/>
              </a:ext>
            </a:extLst>
          </p:cNvPr>
          <p:cNvSpPr>
            <a:spLocks noGrp="1"/>
          </p:cNvSpPr>
          <p:nvPr/>
        </p:nvSpPr>
        <p:spPr>
          <a:xfrm>
            <a:off x="2481118" y="2866403"/>
            <a:ext cx="865783" cy="4418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1" i="1">
                <a:solidFill>
                  <a:schemeClr val="tx1">
                    <a:lumMod val="65000"/>
                    <a:lumOff val="35000"/>
                  </a:schemeClr>
                </a:solidFill>
                <a:latin typeface="Aptos"/>
                <a:ea typeface="Aptos"/>
                <a:cs typeface="Aptos"/>
              </a:rPr>
              <a:t>agrupa</a:t>
            </a:r>
            <a:endParaRPr sz="1200" b="1" i="1" u="none">
              <a:solidFill>
                <a:schemeClr val="tx1">
                  <a:lumMod val="65000"/>
                  <a:lumOff val="35000"/>
                </a:schemeClr>
              </a:solidFill>
              <a:latin typeface="Arial"/>
              <a:ea typeface="Arial"/>
              <a:cs typeface="Arial"/>
            </a:endParaRPr>
          </a:p>
        </p:txBody>
      </p:sp>
      <p:sp>
        <p:nvSpPr>
          <p:cNvPr id="30" name="Text 22">
            <a:extLst>
              <a:ext uri="{FF2B5EF4-FFF2-40B4-BE49-F238E27FC236}">
                <a16:creationId xmlns:a16="http://schemas.microsoft.com/office/drawing/2014/main" id="{8B156619-183E-3AC1-6407-70F99B2544E4}"/>
              </a:ext>
            </a:extLst>
          </p:cNvPr>
          <p:cNvSpPr>
            <a:spLocks noGrp="1"/>
          </p:cNvSpPr>
          <p:nvPr/>
        </p:nvSpPr>
        <p:spPr>
          <a:xfrm>
            <a:off x="5468385" y="3082162"/>
            <a:ext cx="899687" cy="4418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1" i="1">
                <a:solidFill>
                  <a:schemeClr val="tx1">
                    <a:lumMod val="65000"/>
                    <a:lumOff val="35000"/>
                  </a:schemeClr>
                </a:solidFill>
                <a:latin typeface="Aptos"/>
                <a:ea typeface="Aptos"/>
                <a:cs typeface="Aptos"/>
              </a:rPr>
              <a:t>coordina</a:t>
            </a:r>
            <a:endParaRPr sz="1200" b="1" i="1" u="none">
              <a:solidFill>
                <a:schemeClr val="tx1">
                  <a:lumMod val="65000"/>
                  <a:lumOff val="35000"/>
                </a:schemeClr>
              </a:solidFill>
              <a:latin typeface="Arial"/>
              <a:ea typeface="Arial"/>
              <a:cs typeface="Arial"/>
            </a:endParaRPr>
          </a:p>
        </p:txBody>
      </p:sp>
      <p:sp>
        <p:nvSpPr>
          <p:cNvPr id="32" name="Text 22">
            <a:extLst>
              <a:ext uri="{FF2B5EF4-FFF2-40B4-BE49-F238E27FC236}">
                <a16:creationId xmlns:a16="http://schemas.microsoft.com/office/drawing/2014/main" id="{07A10CED-1BA2-055D-3949-FC59D07DFA14}"/>
              </a:ext>
            </a:extLst>
          </p:cNvPr>
          <p:cNvSpPr>
            <a:spLocks noGrp="1"/>
          </p:cNvSpPr>
          <p:nvPr/>
        </p:nvSpPr>
        <p:spPr>
          <a:xfrm>
            <a:off x="8521133" y="3387276"/>
            <a:ext cx="783476" cy="44183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1" i="1">
                <a:solidFill>
                  <a:schemeClr val="tx1">
                    <a:lumMod val="65000"/>
                    <a:lumOff val="35000"/>
                  </a:schemeClr>
                </a:solidFill>
                <a:latin typeface="Aptos"/>
                <a:ea typeface="Aptos"/>
                <a:cs typeface="Aptos"/>
              </a:rPr>
              <a:t>se realiza mediante</a:t>
            </a:r>
            <a:endParaRPr sz="1200" b="1" i="1" u="none">
              <a:solidFill>
                <a:schemeClr val="tx1">
                  <a:lumMod val="65000"/>
                  <a:lumOff val="35000"/>
                </a:schemeClr>
              </a:solidFill>
              <a:latin typeface="Arial"/>
              <a:ea typeface="Arial"/>
              <a:cs typeface="Arial"/>
            </a:endParaRPr>
          </a:p>
        </p:txBody>
      </p:sp>
      <p:sp>
        <p:nvSpPr>
          <p:cNvPr id="34" name="Text 18">
            <a:extLst>
              <a:ext uri="{FF2B5EF4-FFF2-40B4-BE49-F238E27FC236}">
                <a16:creationId xmlns:a16="http://schemas.microsoft.com/office/drawing/2014/main" id="{07243253-56A4-A7BE-B07C-C4B42B326592}"/>
              </a:ext>
            </a:extLst>
          </p:cNvPr>
          <p:cNvSpPr>
            <a:spLocks noGrp="1"/>
          </p:cNvSpPr>
          <p:nvPr/>
        </p:nvSpPr>
        <p:spPr>
          <a:xfrm>
            <a:off x="6184693" y="5035085"/>
            <a:ext cx="2651194" cy="89685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1" u="none" dirty="0" err="1">
                <a:solidFill>
                  <a:srgbClr val="6F6888"/>
                </a:solidFill>
                <a:latin typeface="Aptos"/>
                <a:ea typeface="Aptos"/>
                <a:cs typeface="Aptos"/>
              </a:rPr>
              <a:t>Ej</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reconsiderar</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mañana</a:t>
            </a:r>
            <a:endParaRPr sz="1200" b="1" u="none" dirty="0">
              <a:solidFill>
                <a:srgbClr val="6F6888"/>
              </a:solidFill>
              <a:latin typeface="Aptos"/>
              <a:ea typeface="Aptos"/>
              <a:cs typeface="Aptos"/>
            </a:endParaRPr>
          </a:p>
        </p:txBody>
      </p:sp>
      <p:sp>
        <p:nvSpPr>
          <p:cNvPr id="38" name="Text 18">
            <a:extLst>
              <a:ext uri="{FF2B5EF4-FFF2-40B4-BE49-F238E27FC236}">
                <a16:creationId xmlns:a16="http://schemas.microsoft.com/office/drawing/2014/main" id="{F57873A9-E077-9E17-5EF8-0464E041EEE4}"/>
              </a:ext>
            </a:extLst>
          </p:cNvPr>
          <p:cNvSpPr>
            <a:spLocks noGrp="1"/>
          </p:cNvSpPr>
          <p:nvPr/>
        </p:nvSpPr>
        <p:spPr>
          <a:xfrm>
            <a:off x="3226456" y="4728553"/>
            <a:ext cx="2431464" cy="795156"/>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1" u="none" dirty="0" err="1">
                <a:solidFill>
                  <a:srgbClr val="6F6888"/>
                </a:solidFill>
                <a:latin typeface="Aptos"/>
                <a:ea typeface="Aptos"/>
                <a:cs typeface="Aptos"/>
              </a:rPr>
              <a:t>Ej</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mantener</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una</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oportunidad</a:t>
            </a:r>
            <a:r>
              <a:rPr sz="1200" b="1" u="none" dirty="0">
                <a:solidFill>
                  <a:srgbClr val="6F6888"/>
                </a:solidFill>
                <a:latin typeface="Aptos"/>
                <a:ea typeface="Aptos"/>
                <a:cs typeface="Aptos"/>
              </a:rPr>
              <a:t> viva</a:t>
            </a:r>
          </a:p>
        </p:txBody>
      </p:sp>
      <p:sp>
        <p:nvSpPr>
          <p:cNvPr id="40" name="Text 18">
            <a:extLst>
              <a:ext uri="{FF2B5EF4-FFF2-40B4-BE49-F238E27FC236}">
                <a16:creationId xmlns:a16="http://schemas.microsoft.com/office/drawing/2014/main" id="{90B284CB-E804-3A65-2AC1-66D52252ECC3}"/>
              </a:ext>
            </a:extLst>
          </p:cNvPr>
          <p:cNvSpPr>
            <a:spLocks noGrp="1"/>
          </p:cNvSpPr>
          <p:nvPr/>
        </p:nvSpPr>
        <p:spPr>
          <a:xfrm>
            <a:off x="547028" y="4395828"/>
            <a:ext cx="2303978" cy="921608"/>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200" b="1" u="none" dirty="0" err="1">
                <a:solidFill>
                  <a:srgbClr val="6F6888"/>
                </a:solidFill>
                <a:latin typeface="Aptos"/>
                <a:ea typeface="Aptos"/>
                <a:cs typeface="Aptos"/>
              </a:rPr>
              <a:t>Ej</a:t>
            </a:r>
            <a:r>
              <a:rPr sz="1200" b="1" u="none" dirty="0">
                <a:solidFill>
                  <a:srgbClr val="6F6888"/>
                </a:solidFill>
                <a:latin typeface="Aptos"/>
                <a:ea typeface="Aptos"/>
                <a:cs typeface="Aptos"/>
              </a:rPr>
              <a:t>.: Relationship Operations</a:t>
            </a:r>
          </a:p>
        </p:txBody>
      </p:sp>
      <p:sp>
        <p:nvSpPr>
          <p:cNvPr id="42" name="Text 18">
            <a:extLst>
              <a:ext uri="{FF2B5EF4-FFF2-40B4-BE49-F238E27FC236}">
                <a16:creationId xmlns:a16="http://schemas.microsoft.com/office/drawing/2014/main" id="{6CE8AE74-6110-CE00-E83B-64D0ABA3678A}"/>
              </a:ext>
            </a:extLst>
          </p:cNvPr>
          <p:cNvSpPr>
            <a:spLocks noGrp="1"/>
          </p:cNvSpPr>
          <p:nvPr/>
        </p:nvSpPr>
        <p:spPr>
          <a:xfrm>
            <a:off x="9084619" y="5241384"/>
            <a:ext cx="2951667" cy="89685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algn="ctr" defTabSz="914400">
              <a:lnSpc>
                <a:spcPct val="100000"/>
              </a:lnSpc>
              <a:buNone/>
              <a:tabLst>
                <a:tab pos="0" algn="l"/>
              </a:tabLst>
            </a:pPr>
            <a:r>
              <a:rPr sz="1200" b="1" u="none" dirty="0" err="1">
                <a:solidFill>
                  <a:srgbClr val="6F6888"/>
                </a:solidFill>
                <a:latin typeface="Aptos"/>
                <a:ea typeface="Aptos"/>
                <a:cs typeface="Aptos"/>
              </a:rPr>
              <a:t>Ej</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enviar</a:t>
            </a:r>
            <a:r>
              <a:rPr sz="1200" b="1" u="none" dirty="0">
                <a:solidFill>
                  <a:srgbClr val="6F6888"/>
                </a:solidFill>
                <a:latin typeface="Aptos"/>
                <a:ea typeface="Aptos"/>
                <a:cs typeface="Aptos"/>
              </a:rPr>
              <a:t> un </a:t>
            </a:r>
            <a:r>
              <a:rPr sz="1200" b="1" u="none" dirty="0" err="1">
                <a:solidFill>
                  <a:srgbClr val="6F6888"/>
                </a:solidFill>
                <a:latin typeface="Aptos"/>
                <a:ea typeface="Aptos"/>
                <a:cs typeface="Aptos"/>
              </a:rPr>
              <a:t>mensaje</a:t>
            </a:r>
            <a:r>
              <a:rPr sz="1200" b="1" u="none" dirty="0">
                <a:solidFill>
                  <a:srgbClr val="6F6888"/>
                </a:solidFill>
                <a:latin typeface="Aptos"/>
                <a:ea typeface="Aptos"/>
                <a:cs typeface="Aptos"/>
              </a:rPr>
              <a:t> </a:t>
            </a:r>
            <a:r>
              <a:rPr sz="1200" b="1" u="none" dirty="0" err="1">
                <a:solidFill>
                  <a:srgbClr val="6F6888"/>
                </a:solidFill>
                <a:latin typeface="Aptos"/>
                <a:ea typeface="Aptos"/>
                <a:cs typeface="Aptos"/>
              </a:rPr>
              <a:t>autorizado</a:t>
            </a:r>
            <a:endParaRPr sz="1200" b="1" u="none" dirty="0">
              <a:solidFill>
                <a:srgbClr val="6F6888"/>
              </a:solidFill>
              <a:latin typeface="Aptos"/>
              <a:ea typeface="Aptos"/>
              <a:cs typeface="Aptos"/>
            </a:endParaRPr>
          </a:p>
        </p:txBody>
      </p:sp>
      <p:sp>
        <p:nvSpPr>
          <p:cNvPr id="44" name="Shape 41">
            <a:extLst>
              <a:ext uri="{FF2B5EF4-FFF2-40B4-BE49-F238E27FC236}">
                <a16:creationId xmlns:a16="http://schemas.microsoft.com/office/drawing/2014/main" id="{F6BA2A2C-7CD9-4DCB-56F0-137CA2F3165C}"/>
              </a:ext>
            </a:extLst>
          </p:cNvPr>
          <p:cNvSpPr>
            <a:spLocks noGrp="1"/>
          </p:cNvSpPr>
          <p:nvPr/>
        </p:nvSpPr>
        <p:spPr>
          <a:xfrm>
            <a:off x="545820" y="5823380"/>
            <a:ext cx="5728519" cy="614028"/>
          </a:xfrm>
          <a:prstGeom prst="roundRect">
            <a:avLst>
              <a:gd name="adj" fmla="val 8621"/>
            </a:avLst>
          </a:prstGeom>
          <a:solidFill>
            <a:srgbClr val="F0E9FF"/>
          </a:solidFill>
          <a:ln w="15240">
            <a:noFill/>
            <a:prstDash val="solid"/>
          </a:ln>
        </p:spPr>
        <p:txBody>
          <a:bodyPr/>
          <a:lstStyle/>
          <a:p>
            <a:endParaRPr/>
          </a:p>
        </p:txBody>
      </p:sp>
      <p:sp>
        <p:nvSpPr>
          <p:cNvPr id="46" name="Text 42">
            <a:extLst>
              <a:ext uri="{FF2B5EF4-FFF2-40B4-BE49-F238E27FC236}">
                <a16:creationId xmlns:a16="http://schemas.microsoft.com/office/drawing/2014/main" id="{C37FAC06-5F26-8642-35A3-B350DC24DDCB}"/>
              </a:ext>
            </a:extLst>
          </p:cNvPr>
          <p:cNvSpPr>
            <a:spLocks noGrp="1"/>
          </p:cNvSpPr>
          <p:nvPr/>
        </p:nvSpPr>
        <p:spPr>
          <a:xfrm>
            <a:off x="715991" y="5951396"/>
            <a:ext cx="5468702" cy="357306"/>
          </a:xfrm>
          <a:prstGeom prst="rect">
            <a:avLst/>
          </a:prstGeom>
          <a:noFill/>
        </p:spPr>
        <p:txBody>
          <a:bodyPr wrap="square" lIns="0" tIns="0" rIns="0" bIns="0" anchor="ctr">
            <a:noAutofit/>
          </a:bodyPr>
          <a:lstStyle/>
          <a:p>
            <a:pPr marL="0" indent="0" algn="l">
              <a:buNone/>
            </a:pPr>
            <a:r>
              <a:rPr sz="1600" b="1" dirty="0">
                <a:solidFill>
                  <a:srgbClr val="6034D3"/>
                </a:solidFill>
                <a:latin typeface="Aptos"/>
                <a:ea typeface="Aptos"/>
                <a:cs typeface="Aptos"/>
              </a:rPr>
              <a:t>La </a:t>
            </a:r>
            <a:r>
              <a:rPr sz="1600" b="1" dirty="0" err="1">
                <a:solidFill>
                  <a:srgbClr val="6034D3"/>
                </a:solidFill>
                <a:latin typeface="Aptos"/>
                <a:ea typeface="Aptos"/>
                <a:cs typeface="Aptos"/>
              </a:rPr>
              <a:t>conversación</a:t>
            </a:r>
            <a:r>
              <a:rPr sz="1600" b="1" dirty="0">
                <a:solidFill>
                  <a:srgbClr val="6034D3"/>
                </a:solidFill>
                <a:latin typeface="Aptos"/>
                <a:ea typeface="Aptos"/>
                <a:cs typeface="Aptos"/>
              </a:rPr>
              <a:t> </a:t>
            </a:r>
            <a:r>
              <a:rPr sz="1600" b="1" dirty="0" err="1">
                <a:solidFill>
                  <a:srgbClr val="6034D3"/>
                </a:solidFill>
                <a:latin typeface="Aptos"/>
                <a:ea typeface="Aptos"/>
                <a:cs typeface="Aptos"/>
              </a:rPr>
              <a:t>guía</a:t>
            </a:r>
            <a:r>
              <a:rPr sz="1600" b="1" dirty="0">
                <a:solidFill>
                  <a:srgbClr val="6034D3"/>
                </a:solidFill>
                <a:latin typeface="Aptos"/>
                <a:ea typeface="Aptos"/>
                <a:cs typeface="Aptos"/>
              </a:rPr>
              <a:t>; el owner durable </a:t>
            </a:r>
            <a:r>
              <a:rPr sz="1600" b="1" dirty="0" err="1">
                <a:solidFill>
                  <a:srgbClr val="6034D3"/>
                </a:solidFill>
                <a:latin typeface="Aptos"/>
                <a:ea typeface="Aptos"/>
                <a:cs typeface="Aptos"/>
              </a:rPr>
              <a:t>conserva</a:t>
            </a:r>
            <a:r>
              <a:rPr sz="1600" b="1" dirty="0">
                <a:solidFill>
                  <a:srgbClr val="6034D3"/>
                </a:solidFill>
                <a:latin typeface="Aptos"/>
                <a:ea typeface="Aptos"/>
                <a:cs typeface="Aptos"/>
              </a:rPr>
              <a:t> la </a:t>
            </a:r>
            <a:r>
              <a:rPr sz="1600" b="1" dirty="0" err="1">
                <a:solidFill>
                  <a:srgbClr val="6034D3"/>
                </a:solidFill>
                <a:latin typeface="Aptos"/>
                <a:ea typeface="Aptos"/>
                <a:cs typeface="Aptos"/>
              </a:rPr>
              <a:t>verdad</a:t>
            </a:r>
            <a:r>
              <a:rPr sz="1600" b="1" dirty="0">
                <a:solidFill>
                  <a:srgbClr val="6034D3"/>
                </a:solidFill>
                <a:latin typeface="Aptos"/>
                <a:ea typeface="Aptos"/>
                <a:cs typeface="Aptos"/>
              </a:rPr>
              <a:t>.</a:t>
            </a:r>
            <a:endParaRPr sz="1600" dirty="0"/>
          </a:p>
        </p:txBody>
      </p:sp>
    </p:spTree>
    <p:extLst>
      <p:ext uri="{BB962C8B-B14F-4D97-AF65-F5344CB8AC3E}">
        <p14:creationId xmlns:p14="http://schemas.microsoft.com/office/powerpoint/2010/main" val="2533581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ángulo 50">
            <a:extLst>
              <a:ext uri="{FF2B5EF4-FFF2-40B4-BE49-F238E27FC236}">
                <a16:creationId xmlns:a16="http://schemas.microsoft.com/office/drawing/2014/main" id="{4527B442-F157-473F-BAF2-60F2D6EA7439}"/>
              </a:ext>
            </a:extLst>
          </p:cNvPr>
          <p:cNvSpPr>
            <a:spLocks noGrp="1"/>
          </p:cNvSpPr>
          <p:nvPr/>
        </p:nvSpPr>
        <p:spPr>
          <a:xfrm>
            <a:off x="0" y="0"/>
            <a:ext cx="12192000" cy="66675"/>
          </a:xfrm>
          <a:prstGeom prst="rect">
            <a:avLst/>
          </a:prstGeom>
          <a:solidFill>
            <a:srgbClr val="5C2DD2"/>
          </a:solidFill>
          <a:ln w="0">
            <a:solidFill>
              <a:srgbClr val="5C2DD2"/>
            </a:solidFill>
          </a:ln>
        </p:spPr>
        <p:txBody>
          <a:bodyPr/>
          <a:lstStyle/>
          <a:p>
            <a:endParaRPr lang="es-MX"/>
          </a:p>
        </p:txBody>
      </p:sp>
      <p:sp>
        <p:nvSpPr>
          <p:cNvPr id="2" name="Rectángulo 1">
            <a:extLst>
              <a:ext uri="{FF2B5EF4-FFF2-40B4-BE49-F238E27FC236}">
                <a16:creationId xmlns:a16="http://schemas.microsoft.com/office/drawing/2014/main" id="{6336C25B-D278-4CAB-98EF-C2CF54F27BFF}"/>
              </a:ext>
            </a:extLst>
          </p:cNvPr>
          <p:cNvSpPr>
            <a:spLocks noGrp="1"/>
          </p:cNvSpPr>
          <p:nvPr/>
        </p:nvSpPr>
        <p:spPr>
          <a:xfrm>
            <a:off x="571500" y="381000"/>
            <a:ext cx="8953500" cy="228600"/>
          </a:xfrm>
          <a:prstGeom prst="rect">
            <a:avLst/>
          </a:prstGeom>
          <a:noFill/>
          <a:ln w="0">
            <a:noFill/>
          </a:ln>
        </p:spPr>
        <p:txBody>
          <a:bodyPr anchor="t">
            <a:normAutofit fontScale="85714"/>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ESCALAS DE EJECUCIÓN</a:t>
            </a:r>
          </a:p>
        </p:txBody>
      </p:sp>
      <p:sp>
        <p:nvSpPr>
          <p:cNvPr id="3" name="Rectángulo 2">
            <a:extLst>
              <a:ext uri="{FF2B5EF4-FFF2-40B4-BE49-F238E27FC236}">
                <a16:creationId xmlns:a16="http://schemas.microsoft.com/office/drawing/2014/main" id="{C25469C6-E22C-4024-8A46-89102AA42479}"/>
              </a:ext>
            </a:extLst>
          </p:cNvPr>
          <p:cNvSpPr>
            <a:spLocks noGrp="1"/>
          </p:cNvSpPr>
          <p:nvPr/>
        </p:nvSpPr>
        <p:spPr>
          <a:xfrm>
            <a:off x="571500" y="742950"/>
            <a:ext cx="10363200" cy="628650"/>
          </a:xfrm>
          <a:prstGeom prst="rect">
            <a:avLst/>
          </a:prstGeom>
          <a:noFill/>
          <a:ln w="0">
            <a:noFill/>
          </a:ln>
        </p:spPr>
        <p:txBody>
          <a:bodyPr anchor="t">
            <a:normAutofit/>
          </a:bodyPr>
          <a:lstStyle/>
          <a:p>
            <a:pPr>
              <a:defRPr sz="2400" b="1" i="0">
                <a:solidFill>
                  <a:srgbClr val="211D31"/>
                </a:solidFill>
                <a:latin typeface="Aptos"/>
                <a:ea typeface="Aptos"/>
                <a:cs typeface="Aptos"/>
              </a:defRPr>
            </a:pPr>
            <a:r>
              <a:rPr sz="2400" b="1" i="0">
                <a:solidFill>
                  <a:srgbClr val="211D31"/>
                </a:solidFill>
                <a:latin typeface="Aptos"/>
                <a:ea typeface="Aptos"/>
                <a:cs typeface="Aptos"/>
              </a:rPr>
              <a:t>Un turno ejecuta ahora; Cases y Work conservan responsabilidad</a:t>
            </a:r>
          </a:p>
        </p:txBody>
      </p:sp>
      <p:sp>
        <p:nvSpPr>
          <p:cNvPr id="4" name="Rectángulo 3">
            <a:extLst>
              <a:ext uri="{FF2B5EF4-FFF2-40B4-BE49-F238E27FC236}">
                <a16:creationId xmlns:a16="http://schemas.microsoft.com/office/drawing/2014/main" id="{873CECEE-D336-4F62-BF1C-76527B84CB9F}"/>
              </a:ext>
            </a:extLst>
          </p:cNvPr>
          <p:cNvSpPr>
            <a:spLocks noGrp="1"/>
          </p:cNvSpPr>
          <p:nvPr/>
        </p:nvSpPr>
        <p:spPr>
          <a:xfrm>
            <a:off x="571499" y="1276535"/>
            <a:ext cx="11114901" cy="361766"/>
          </a:xfrm>
          <a:prstGeom prst="rect">
            <a:avLst/>
          </a:prstGeom>
          <a:noFill/>
          <a:ln w="0">
            <a:noFill/>
          </a:ln>
        </p:spPr>
        <p:txBody>
          <a:bodyPr anchor="t">
            <a:normAutofit/>
          </a:bodyPr>
          <a:lstStyle/>
          <a:p>
            <a:pPr>
              <a:defRPr sz="1275" b="0" i="0">
                <a:solidFill>
                  <a:srgbClr val="756F91"/>
                </a:solidFill>
                <a:latin typeface="Aptos"/>
                <a:ea typeface="Aptos"/>
                <a:cs typeface="Aptos"/>
              </a:defRPr>
            </a:pPr>
            <a:r>
              <a:rPr sz="1400" b="0" i="0" dirty="0" err="1">
                <a:solidFill>
                  <a:srgbClr val="756F91"/>
                </a:solidFill>
                <a:latin typeface="Aptos"/>
                <a:ea typeface="Aptos"/>
                <a:cs typeface="Aptos"/>
              </a:rPr>
              <a:t>Eventos</a:t>
            </a:r>
            <a:r>
              <a:rPr sz="1400" b="0" i="0" dirty="0">
                <a:solidFill>
                  <a:srgbClr val="756F91"/>
                </a:solidFill>
                <a:latin typeface="Aptos"/>
                <a:ea typeface="Aptos"/>
                <a:cs typeface="Aptos"/>
              </a:rPr>
              <a:t> y timers </a:t>
            </a:r>
            <a:r>
              <a:rPr sz="1400" b="0" i="0" dirty="0" err="1">
                <a:solidFill>
                  <a:srgbClr val="756F91"/>
                </a:solidFill>
                <a:latin typeface="Aptos"/>
                <a:ea typeface="Aptos"/>
                <a:cs typeface="Aptos"/>
              </a:rPr>
              <a:t>despiertan</a:t>
            </a:r>
            <a:r>
              <a:rPr sz="1400" b="0" i="0" dirty="0">
                <a:solidFill>
                  <a:srgbClr val="756F91"/>
                </a:solidFill>
                <a:latin typeface="Aptos"/>
                <a:ea typeface="Aptos"/>
                <a:cs typeface="Aptos"/>
              </a:rPr>
              <a:t> un Case. El Supervisor </a:t>
            </a:r>
            <a:r>
              <a:rPr sz="1400" b="0" i="0" dirty="0" err="1">
                <a:solidFill>
                  <a:srgbClr val="756F91"/>
                </a:solidFill>
                <a:latin typeface="Aptos"/>
                <a:ea typeface="Aptos"/>
                <a:cs typeface="Aptos"/>
              </a:rPr>
              <a:t>reconsidera</a:t>
            </a:r>
            <a:r>
              <a:rPr sz="1400" b="0" i="0" dirty="0">
                <a:solidFill>
                  <a:srgbClr val="756F91"/>
                </a:solidFill>
                <a:latin typeface="Aptos"/>
                <a:ea typeface="Aptos"/>
                <a:cs typeface="Aptos"/>
              </a:rPr>
              <a:t> y </a:t>
            </a:r>
            <a:r>
              <a:rPr sz="1400" b="0" i="0" dirty="0" err="1">
                <a:solidFill>
                  <a:srgbClr val="756F91"/>
                </a:solidFill>
                <a:latin typeface="Aptos"/>
                <a:ea typeface="Aptos"/>
                <a:cs typeface="Aptos"/>
              </a:rPr>
              <a:t>utiliza</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trabajo</a:t>
            </a:r>
            <a:r>
              <a:rPr sz="1400" b="0" i="0" dirty="0">
                <a:solidFill>
                  <a:srgbClr val="756F91"/>
                </a:solidFill>
                <a:latin typeface="Aptos"/>
                <a:ea typeface="Aptos"/>
                <a:cs typeface="Aptos"/>
              </a:rPr>
              <a:t> inline o Work Items durables </a:t>
            </a:r>
            <a:r>
              <a:rPr sz="1400" b="0" i="0" dirty="0" err="1">
                <a:solidFill>
                  <a:srgbClr val="756F91"/>
                </a:solidFill>
                <a:latin typeface="Aptos"/>
                <a:ea typeface="Aptos"/>
                <a:cs typeface="Aptos"/>
              </a:rPr>
              <a:t>según</a:t>
            </a:r>
            <a:r>
              <a:rPr sz="1400" b="0" i="0" dirty="0">
                <a:solidFill>
                  <a:srgbClr val="756F91"/>
                </a:solidFill>
                <a:latin typeface="Aptos"/>
                <a:ea typeface="Aptos"/>
                <a:cs typeface="Aptos"/>
              </a:rPr>
              <a:t> lo </a:t>
            </a:r>
            <a:r>
              <a:rPr sz="1400" b="0" i="0" dirty="0" err="1">
                <a:solidFill>
                  <a:srgbClr val="756F91"/>
                </a:solidFill>
                <a:latin typeface="Aptos"/>
                <a:ea typeface="Aptos"/>
                <a:cs typeface="Aptos"/>
              </a:rPr>
              <a:t>que</a:t>
            </a:r>
            <a:r>
              <a:rPr sz="1400" b="0" i="0" dirty="0">
                <a:solidFill>
                  <a:srgbClr val="756F91"/>
                </a:solidFill>
                <a:latin typeface="Aptos"/>
                <a:ea typeface="Aptos"/>
                <a:cs typeface="Aptos"/>
              </a:rPr>
              <a:t> la </a:t>
            </a:r>
            <a:r>
              <a:rPr sz="1400" b="0" i="0" dirty="0" err="1">
                <a:solidFill>
                  <a:srgbClr val="756F91"/>
                </a:solidFill>
                <a:latin typeface="Aptos"/>
                <a:ea typeface="Aptos"/>
                <a:cs typeface="Aptos"/>
              </a:rPr>
              <a:t>situación</a:t>
            </a:r>
            <a:r>
              <a:rPr sz="1400" b="0" i="0" dirty="0">
                <a:solidFill>
                  <a:srgbClr val="756F91"/>
                </a:solidFill>
                <a:latin typeface="Aptos"/>
                <a:ea typeface="Aptos"/>
                <a:cs typeface="Aptos"/>
              </a:rPr>
              <a:t> </a:t>
            </a:r>
            <a:r>
              <a:rPr sz="1400" b="0" i="0" dirty="0" err="1">
                <a:solidFill>
                  <a:srgbClr val="756F91"/>
                </a:solidFill>
                <a:latin typeface="Aptos"/>
                <a:ea typeface="Aptos"/>
                <a:cs typeface="Aptos"/>
              </a:rPr>
              <a:t>requiera</a:t>
            </a:r>
            <a:r>
              <a:rPr sz="1400" b="0" i="0" dirty="0">
                <a:solidFill>
                  <a:srgbClr val="756F91"/>
                </a:solidFill>
                <a:latin typeface="Aptos"/>
                <a:ea typeface="Aptos"/>
                <a:cs typeface="Aptos"/>
              </a:rPr>
              <a:t>.</a:t>
            </a:r>
          </a:p>
        </p:txBody>
      </p:sp>
      <p:pic>
        <p:nvPicPr>
          <p:cNvPr id="55" name="Imagen 54"/>
          <p:cNvPicPr>
            <a:picLocks noChangeAspect="1"/>
          </p:cNvPicPr>
          <p:nvPr/>
        </p:nvPicPr>
        <p:blipFill>
          <a:blip r:embed="rId3"/>
          <a:stretch/>
        </p:blipFill>
        <p:spPr>
          <a:xfrm>
            <a:off x="11068826" y="342900"/>
            <a:ext cx="617574" cy="514350"/>
          </a:xfrm>
          <a:prstGeom prst="rect">
            <a:avLst/>
          </a:prstGeom>
        </p:spPr>
      </p:pic>
      <p:sp>
        <p:nvSpPr>
          <p:cNvPr id="6" name="Rectángulo: esquinas redondeadas 5">
            <a:extLst>
              <a:ext uri="{FF2B5EF4-FFF2-40B4-BE49-F238E27FC236}">
                <a16:creationId xmlns:a16="http://schemas.microsoft.com/office/drawing/2014/main" id="{27C277DB-05B4-4611-BD9E-284AC35BB669}"/>
              </a:ext>
            </a:extLst>
          </p:cNvPr>
          <p:cNvSpPr>
            <a:spLocks noGrp="1"/>
          </p:cNvSpPr>
          <p:nvPr/>
        </p:nvSpPr>
        <p:spPr>
          <a:xfrm>
            <a:off x="2181225" y="338137"/>
            <a:ext cx="1857375" cy="266700"/>
          </a:xfrm>
          <a:prstGeom prst="roundRect">
            <a:avLst>
              <a:gd name="adj" fmla="val 50000"/>
            </a:avLst>
          </a:prstGeom>
          <a:solidFill>
            <a:srgbClr val="F39A24"/>
          </a:solidFill>
          <a:ln w="9525">
            <a:solidFill>
              <a:srgbClr val="F39A24"/>
            </a:solidFill>
            <a:prstDash val="solid"/>
          </a:ln>
        </p:spPr>
        <p:txBody>
          <a:bodyPr/>
          <a:lstStyle/>
          <a:p>
            <a:endParaRPr lang="es-MX"/>
          </a:p>
        </p:txBody>
      </p:sp>
      <p:sp>
        <p:nvSpPr>
          <p:cNvPr id="7" name="Rectángulo 6">
            <a:extLst>
              <a:ext uri="{FF2B5EF4-FFF2-40B4-BE49-F238E27FC236}">
                <a16:creationId xmlns:a16="http://schemas.microsoft.com/office/drawing/2014/main" id="{9960F178-67F8-4D8E-B71A-38AAF5D57314}"/>
              </a:ext>
            </a:extLst>
          </p:cNvPr>
          <p:cNvSpPr>
            <a:spLocks noGrp="1"/>
          </p:cNvSpPr>
          <p:nvPr/>
        </p:nvSpPr>
        <p:spPr>
          <a:xfrm>
            <a:off x="2247900" y="366712"/>
            <a:ext cx="1724025" cy="209550"/>
          </a:xfrm>
          <a:prstGeom prst="rect">
            <a:avLst/>
          </a:prstGeom>
          <a:noFill/>
          <a:ln w="0">
            <a:noFill/>
          </a:ln>
        </p:spPr>
        <p:txBody>
          <a:bodyPr anchor="t">
            <a:normAutofit fontScale="86111" lnSpcReduction="10000"/>
          </a:bodyPr>
          <a:lstStyle/>
          <a:p>
            <a:pPr>
              <a:defRPr sz="900" b="1" i="0">
                <a:solidFill>
                  <a:srgbClr val="FFFFFF"/>
                </a:solidFill>
                <a:latin typeface="Aptos"/>
                <a:ea typeface="Aptos"/>
                <a:cs typeface="Aptos"/>
              </a:defRPr>
            </a:pPr>
            <a:r>
              <a:rPr sz="900" b="1" i="0">
                <a:solidFill>
                  <a:srgbClr val="FFFFFF"/>
                </a:solidFill>
                <a:latin typeface="Aptos"/>
                <a:ea typeface="Aptos"/>
                <a:cs typeface="Aptos"/>
              </a:rPr>
              <a:t>ACTUAL + TARGET R1</a:t>
            </a:r>
          </a:p>
        </p:txBody>
      </p:sp>
      <p:sp>
        <p:nvSpPr>
          <p:cNvPr id="8" name="Rectángulo 7">
            <a:extLst>
              <a:ext uri="{FF2B5EF4-FFF2-40B4-BE49-F238E27FC236}">
                <a16:creationId xmlns:a16="http://schemas.microsoft.com/office/drawing/2014/main" id="{72EA81BC-B320-402A-871D-3AE683C906D9}"/>
              </a:ext>
            </a:extLst>
          </p:cNvPr>
          <p:cNvSpPr>
            <a:spLocks noGrp="1"/>
          </p:cNvSpPr>
          <p:nvPr/>
        </p:nvSpPr>
        <p:spPr>
          <a:xfrm>
            <a:off x="419100" y="6534150"/>
            <a:ext cx="9525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CONFIDENCIAL</a:t>
            </a:r>
          </a:p>
        </p:txBody>
      </p:sp>
      <p:sp>
        <p:nvSpPr>
          <p:cNvPr id="9" name="Rectángulo 8">
            <a:extLst>
              <a:ext uri="{FF2B5EF4-FFF2-40B4-BE49-F238E27FC236}">
                <a16:creationId xmlns:a16="http://schemas.microsoft.com/office/drawing/2014/main" id="{AFEA60B0-D2C0-4C42-9119-1D9CAA633F08}"/>
              </a:ext>
            </a:extLst>
          </p:cNvPr>
          <p:cNvSpPr>
            <a:spLocks noGrp="1"/>
          </p:cNvSpPr>
          <p:nvPr/>
        </p:nvSpPr>
        <p:spPr>
          <a:xfrm>
            <a:off x="10982325" y="6534150"/>
            <a:ext cx="762000" cy="133350"/>
          </a:xfrm>
          <a:prstGeom prst="rect">
            <a:avLst/>
          </a:prstGeom>
          <a:noFill/>
          <a:ln w="0">
            <a:noFill/>
          </a:ln>
        </p:spPr>
        <p:txBody>
          <a:bodyPr anchor="t">
            <a:normAutofit fontScale="53333" lnSpcReduction="20000"/>
          </a:bodyPr>
          <a:lstStyle/>
          <a:p>
            <a:pPr>
              <a:defRPr sz="600" b="0" i="0">
                <a:solidFill>
                  <a:srgbClr val="756F91"/>
                </a:solidFill>
                <a:latin typeface="Aptos"/>
                <a:ea typeface="Aptos"/>
                <a:cs typeface="Aptos"/>
              </a:defRPr>
            </a:pPr>
            <a:r>
              <a:rPr sz="600" b="0" i="0">
                <a:solidFill>
                  <a:srgbClr val="756F91"/>
                </a:solidFill>
                <a:latin typeface="Aptos"/>
                <a:ea typeface="Aptos"/>
                <a:cs typeface="Aptos"/>
              </a:rPr>
              <a:t>ungga.com</a:t>
            </a:r>
          </a:p>
        </p:txBody>
      </p:sp>
      <p:sp>
        <p:nvSpPr>
          <p:cNvPr id="10" name="Rectángulo: esquinas redondeadas 9">
            <a:extLst>
              <a:ext uri="{FF2B5EF4-FFF2-40B4-BE49-F238E27FC236}">
                <a16:creationId xmlns:a16="http://schemas.microsoft.com/office/drawing/2014/main" id="{BBD18C5F-D623-43E7-9493-E28BBA6019F6}"/>
              </a:ext>
            </a:extLst>
          </p:cNvPr>
          <p:cNvSpPr>
            <a:spLocks noGrp="1"/>
          </p:cNvSpPr>
          <p:nvPr/>
        </p:nvSpPr>
        <p:spPr>
          <a:xfrm>
            <a:off x="571500" y="2381250"/>
            <a:ext cx="1809750" cy="1524000"/>
          </a:xfrm>
          <a:prstGeom prst="roundRect">
            <a:avLst>
              <a:gd name="adj" fmla="val 7500"/>
            </a:avLst>
          </a:prstGeom>
          <a:solidFill>
            <a:srgbClr val="F4F3F7"/>
          </a:solidFill>
          <a:ln w="9525">
            <a:solidFill>
              <a:srgbClr val="756F91"/>
            </a:solidFill>
            <a:prstDash val="solid"/>
          </a:ln>
        </p:spPr>
        <p:txBody>
          <a:bodyPr/>
          <a:lstStyle/>
          <a:p>
            <a:endParaRPr lang="es-MX"/>
          </a:p>
        </p:txBody>
      </p:sp>
      <p:sp>
        <p:nvSpPr>
          <p:cNvPr id="11" name="Rectángulo 10">
            <a:extLst>
              <a:ext uri="{FF2B5EF4-FFF2-40B4-BE49-F238E27FC236}">
                <a16:creationId xmlns:a16="http://schemas.microsoft.com/office/drawing/2014/main" id="{B9985005-C67D-478C-8965-EC3E52B9008E}"/>
              </a:ext>
            </a:extLst>
          </p:cNvPr>
          <p:cNvSpPr>
            <a:spLocks noGrp="1"/>
          </p:cNvSpPr>
          <p:nvPr/>
        </p:nvSpPr>
        <p:spPr>
          <a:xfrm>
            <a:off x="704850" y="2505075"/>
            <a:ext cx="1543050" cy="285750"/>
          </a:xfrm>
          <a:prstGeom prst="rect">
            <a:avLst/>
          </a:prstGeom>
          <a:noFill/>
          <a:ln w="0">
            <a:noFill/>
          </a:ln>
        </p:spPr>
        <p:txBody>
          <a:bodyPr anchor="t">
            <a:normAutofit/>
          </a:bodyPr>
          <a:lstStyle/>
          <a:p>
            <a:pPr>
              <a:defRPr sz="1125" b="1" i="0">
                <a:solidFill>
                  <a:srgbClr val="211D31"/>
                </a:solidFill>
                <a:latin typeface="Aptos"/>
                <a:ea typeface="Aptos"/>
                <a:cs typeface="Aptos"/>
              </a:defRPr>
            </a:pPr>
            <a:r>
              <a:rPr sz="1125" b="1" i="0">
                <a:solidFill>
                  <a:srgbClr val="211D31"/>
                </a:solidFill>
                <a:latin typeface="Aptos"/>
                <a:ea typeface="Aptos"/>
                <a:cs typeface="Aptos"/>
              </a:rPr>
              <a:t>TRIGGERS</a:t>
            </a:r>
          </a:p>
        </p:txBody>
      </p:sp>
      <p:sp>
        <p:nvSpPr>
          <p:cNvPr id="12" name="Rectángulo 11">
            <a:extLst>
              <a:ext uri="{FF2B5EF4-FFF2-40B4-BE49-F238E27FC236}">
                <a16:creationId xmlns:a16="http://schemas.microsoft.com/office/drawing/2014/main" id="{D83A3945-19A2-4C74-B042-BD05B9D779E1}"/>
              </a:ext>
            </a:extLst>
          </p:cNvPr>
          <p:cNvSpPr>
            <a:spLocks noGrp="1"/>
          </p:cNvSpPr>
          <p:nvPr/>
        </p:nvSpPr>
        <p:spPr>
          <a:xfrm>
            <a:off x="704850" y="2828925"/>
            <a:ext cx="1543050" cy="990600"/>
          </a:xfrm>
          <a:prstGeom prst="rect">
            <a:avLst/>
          </a:prstGeom>
          <a:noFill/>
          <a:ln w="0">
            <a:noFill/>
          </a:ln>
        </p:spPr>
        <p:txBody>
          <a:bodyPr anchor="t">
            <a:normAutofit fontScale="92500" lnSpcReduction="10000"/>
          </a:bodyPr>
          <a:lstStyle/>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Mensaje</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Evento</a:t>
            </a:r>
            <a:r>
              <a:rPr sz="1050" b="0" i="0" dirty="0">
                <a:solidFill>
                  <a:srgbClr val="756F91"/>
                </a:solidFill>
                <a:latin typeface="Aptos"/>
                <a:ea typeface="Aptos"/>
                <a:cs typeface="Aptos"/>
              </a:rPr>
              <a:t> </a:t>
            </a:r>
            <a:r>
              <a:rPr sz="1050" b="0" i="0" dirty="0" err="1">
                <a:solidFill>
                  <a:srgbClr val="756F91"/>
                </a:solidFill>
                <a:latin typeface="Aptos"/>
                <a:ea typeface="Aptos"/>
                <a:cs typeface="Aptos"/>
              </a:rPr>
              <a:t>externo</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a:solidFill>
                  <a:srgbClr val="756F91"/>
                </a:solidFill>
                <a:latin typeface="Aptos"/>
                <a:ea typeface="Aptos"/>
                <a:cs typeface="Aptos"/>
              </a:rPr>
              <a:t>Timer / </a:t>
            </a:r>
            <a:r>
              <a:rPr sz="1050" b="0" i="0" dirty="0" err="1">
                <a:solidFill>
                  <a:srgbClr val="756F91"/>
                </a:solidFill>
                <a:latin typeface="Aptos"/>
                <a:ea typeface="Aptos"/>
                <a:cs typeface="Aptos"/>
              </a:rPr>
              <a:t>next_action_at</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Intervención</a:t>
            </a:r>
            <a:r>
              <a:rPr sz="1050" b="0" i="0" dirty="0">
                <a:solidFill>
                  <a:srgbClr val="756F91"/>
                </a:solidFill>
                <a:latin typeface="Aptos"/>
                <a:ea typeface="Aptos"/>
                <a:cs typeface="Aptos"/>
              </a:rPr>
              <a:t> humana</a:t>
            </a: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Resultado</a:t>
            </a:r>
            <a:r>
              <a:rPr sz="1050" b="0" i="0" dirty="0">
                <a:solidFill>
                  <a:srgbClr val="756F91"/>
                </a:solidFill>
                <a:latin typeface="Aptos"/>
                <a:ea typeface="Aptos"/>
                <a:cs typeface="Aptos"/>
              </a:rPr>
              <a:t> de Work</a:t>
            </a:r>
          </a:p>
        </p:txBody>
      </p:sp>
      <p:sp>
        <p:nvSpPr>
          <p:cNvPr id="13" name="Rectángulo: esquinas redondeadas 12">
            <a:extLst>
              <a:ext uri="{FF2B5EF4-FFF2-40B4-BE49-F238E27FC236}">
                <a16:creationId xmlns:a16="http://schemas.microsoft.com/office/drawing/2014/main" id="{498827C1-6663-47B1-8775-20552490661D}"/>
              </a:ext>
            </a:extLst>
          </p:cNvPr>
          <p:cNvSpPr>
            <a:spLocks noGrp="1"/>
          </p:cNvSpPr>
          <p:nvPr/>
        </p:nvSpPr>
        <p:spPr>
          <a:xfrm>
            <a:off x="2857500" y="2381250"/>
            <a:ext cx="1809750" cy="1524000"/>
          </a:xfrm>
          <a:prstGeom prst="roundRect">
            <a:avLst>
              <a:gd name="adj" fmla="val 7500"/>
            </a:avLst>
          </a:prstGeom>
          <a:solidFill>
            <a:srgbClr val="E3F5ED"/>
          </a:solidFill>
          <a:ln w="9525">
            <a:solidFill>
              <a:srgbClr val="009566"/>
            </a:solidFill>
            <a:prstDash val="solid"/>
          </a:ln>
        </p:spPr>
        <p:txBody>
          <a:bodyPr/>
          <a:lstStyle/>
          <a:p>
            <a:endParaRPr lang="es-MX"/>
          </a:p>
        </p:txBody>
      </p:sp>
      <p:sp>
        <p:nvSpPr>
          <p:cNvPr id="14" name="Rectángulo 13">
            <a:extLst>
              <a:ext uri="{FF2B5EF4-FFF2-40B4-BE49-F238E27FC236}">
                <a16:creationId xmlns:a16="http://schemas.microsoft.com/office/drawing/2014/main" id="{A75D6FAF-5B4D-4111-B88C-5330DEBF2083}"/>
              </a:ext>
            </a:extLst>
          </p:cNvPr>
          <p:cNvSpPr>
            <a:spLocks noGrp="1"/>
          </p:cNvSpPr>
          <p:nvPr/>
        </p:nvSpPr>
        <p:spPr>
          <a:xfrm>
            <a:off x="2990850" y="2505075"/>
            <a:ext cx="1543050" cy="285750"/>
          </a:xfrm>
          <a:prstGeom prst="rect">
            <a:avLst/>
          </a:prstGeom>
          <a:noFill/>
          <a:ln w="0">
            <a:noFill/>
          </a:ln>
        </p:spPr>
        <p:txBody>
          <a:bodyPr anchor="t">
            <a:normAutofit/>
          </a:bodyPr>
          <a:lstStyle/>
          <a:p>
            <a:pPr>
              <a:defRPr sz="1125" b="1" i="0">
                <a:solidFill>
                  <a:srgbClr val="009566"/>
                </a:solidFill>
                <a:latin typeface="Aptos"/>
                <a:ea typeface="Aptos"/>
                <a:cs typeface="Aptos"/>
              </a:defRPr>
            </a:pPr>
            <a:r>
              <a:rPr sz="1125" b="1" i="0">
                <a:solidFill>
                  <a:srgbClr val="009566"/>
                </a:solidFill>
                <a:latin typeface="Aptos"/>
                <a:ea typeface="Aptos"/>
                <a:cs typeface="Aptos"/>
              </a:rPr>
              <a:t>CASE WAKE-UP</a:t>
            </a:r>
          </a:p>
        </p:txBody>
      </p:sp>
      <p:sp>
        <p:nvSpPr>
          <p:cNvPr id="15" name="Rectángulo 14">
            <a:extLst>
              <a:ext uri="{FF2B5EF4-FFF2-40B4-BE49-F238E27FC236}">
                <a16:creationId xmlns:a16="http://schemas.microsoft.com/office/drawing/2014/main" id="{14FDCCF6-DF0B-4C0B-9452-6248A619A7A5}"/>
              </a:ext>
            </a:extLst>
          </p:cNvPr>
          <p:cNvSpPr>
            <a:spLocks noGrp="1"/>
          </p:cNvSpPr>
          <p:nvPr/>
        </p:nvSpPr>
        <p:spPr>
          <a:xfrm>
            <a:off x="2990850" y="2828925"/>
            <a:ext cx="1543050" cy="990600"/>
          </a:xfrm>
          <a:prstGeom prst="rect">
            <a:avLst/>
          </a:prstGeom>
          <a:noFill/>
          <a:ln w="0">
            <a:noFill/>
          </a:ln>
        </p:spPr>
        <p:txBody>
          <a:bodyPr anchor="t">
            <a:normAutofit lnSpcReduction="10000"/>
          </a:bodyPr>
          <a:lstStyle/>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Cargar</a:t>
            </a:r>
            <a:r>
              <a:rPr sz="1050" b="0" i="0" dirty="0">
                <a:solidFill>
                  <a:srgbClr val="756F91"/>
                </a:solidFill>
                <a:latin typeface="Aptos"/>
                <a:ea typeface="Aptos"/>
                <a:cs typeface="Aptos"/>
              </a:rPr>
              <a:t> </a:t>
            </a:r>
            <a:r>
              <a:rPr sz="1050" b="0" i="0" dirty="0" err="1">
                <a:solidFill>
                  <a:srgbClr val="756F91"/>
                </a:solidFill>
                <a:latin typeface="Aptos"/>
                <a:ea typeface="Aptos"/>
                <a:cs typeface="Aptos"/>
              </a:rPr>
              <a:t>verdad</a:t>
            </a:r>
            <a:r>
              <a:rPr sz="1050" b="0" i="0" dirty="0">
                <a:solidFill>
                  <a:srgbClr val="756F91"/>
                </a:solidFill>
                <a:latin typeface="Aptos"/>
                <a:ea typeface="Aptos"/>
                <a:cs typeface="Aptos"/>
              </a:rPr>
              <a:t> actual</a:t>
            </a: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Eventos</a:t>
            </a:r>
            <a:r>
              <a:rPr sz="1050" b="0" i="0" dirty="0">
                <a:solidFill>
                  <a:srgbClr val="756F91"/>
                </a:solidFill>
                <a:latin typeface="Aptos"/>
                <a:ea typeface="Aptos"/>
                <a:cs typeface="Aptos"/>
              </a:rPr>
              <a:t> y </a:t>
            </a:r>
            <a:r>
              <a:rPr sz="1050" b="0" i="0" dirty="0" err="1">
                <a:solidFill>
                  <a:srgbClr val="756F91"/>
                </a:solidFill>
                <a:latin typeface="Aptos"/>
                <a:ea typeface="Aptos"/>
                <a:cs typeface="Aptos"/>
              </a:rPr>
              <a:t>compromisos</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a:solidFill>
                  <a:srgbClr val="756F91"/>
                </a:solidFill>
                <a:latin typeface="Aptos"/>
                <a:ea typeface="Aptos"/>
                <a:cs typeface="Aptos"/>
              </a:rPr>
              <a:t>Policy + </a:t>
            </a:r>
            <a:r>
              <a:rPr sz="1050" b="0" i="0" dirty="0" err="1">
                <a:solidFill>
                  <a:srgbClr val="756F91"/>
                </a:solidFill>
                <a:latin typeface="Aptos"/>
                <a:ea typeface="Aptos"/>
                <a:cs typeface="Aptos"/>
              </a:rPr>
              <a:t>autoridad</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a:solidFill>
                  <a:srgbClr val="756F91"/>
                </a:solidFill>
                <a:latin typeface="Aptos"/>
                <a:ea typeface="Aptos"/>
                <a:cs typeface="Aptos"/>
              </a:rPr>
              <a:t>Skill </a:t>
            </a:r>
            <a:r>
              <a:rPr sz="1050" b="0" i="0" dirty="0" err="1">
                <a:solidFill>
                  <a:srgbClr val="756F91"/>
                </a:solidFill>
                <a:latin typeface="Aptos"/>
                <a:ea typeface="Aptos"/>
                <a:cs typeface="Aptos"/>
              </a:rPr>
              <a:t>ligada</a:t>
            </a:r>
            <a:r>
              <a:rPr sz="1050" b="0" i="0" dirty="0">
                <a:solidFill>
                  <a:srgbClr val="756F91"/>
                </a:solidFill>
                <a:latin typeface="Aptos"/>
                <a:ea typeface="Aptos"/>
                <a:cs typeface="Aptos"/>
              </a:rPr>
              <a:t> al Case</a:t>
            </a:r>
          </a:p>
        </p:txBody>
      </p:sp>
      <p:sp>
        <p:nvSpPr>
          <p:cNvPr id="16" name="Rectángulo: esquinas redondeadas 15">
            <a:extLst>
              <a:ext uri="{FF2B5EF4-FFF2-40B4-BE49-F238E27FC236}">
                <a16:creationId xmlns:a16="http://schemas.microsoft.com/office/drawing/2014/main" id="{639141EC-3BBD-4F33-AEC4-BB00C4D3081A}"/>
              </a:ext>
            </a:extLst>
          </p:cNvPr>
          <p:cNvSpPr>
            <a:spLocks noGrp="1"/>
          </p:cNvSpPr>
          <p:nvPr/>
        </p:nvSpPr>
        <p:spPr>
          <a:xfrm>
            <a:off x="5143500" y="2238375"/>
            <a:ext cx="2047875" cy="1809750"/>
          </a:xfrm>
          <a:prstGeom prst="roundRect">
            <a:avLst>
              <a:gd name="adj" fmla="val 6316"/>
            </a:avLst>
          </a:prstGeom>
          <a:solidFill>
            <a:srgbClr val="FFF0D7"/>
          </a:solidFill>
          <a:ln w="9525">
            <a:solidFill>
              <a:srgbClr val="F39A24"/>
            </a:solidFill>
            <a:prstDash val="solid"/>
          </a:ln>
        </p:spPr>
        <p:txBody>
          <a:bodyPr/>
          <a:lstStyle/>
          <a:p>
            <a:endParaRPr lang="es-MX"/>
          </a:p>
        </p:txBody>
      </p:sp>
      <p:sp>
        <p:nvSpPr>
          <p:cNvPr id="17" name="Rectángulo 16">
            <a:extLst>
              <a:ext uri="{FF2B5EF4-FFF2-40B4-BE49-F238E27FC236}">
                <a16:creationId xmlns:a16="http://schemas.microsoft.com/office/drawing/2014/main" id="{AA73F6AA-DA56-4260-A7A2-C8337085A26D}"/>
              </a:ext>
            </a:extLst>
          </p:cNvPr>
          <p:cNvSpPr>
            <a:spLocks noGrp="1"/>
          </p:cNvSpPr>
          <p:nvPr/>
        </p:nvSpPr>
        <p:spPr>
          <a:xfrm>
            <a:off x="5276850" y="2362200"/>
            <a:ext cx="1781175" cy="285750"/>
          </a:xfrm>
          <a:prstGeom prst="rect">
            <a:avLst/>
          </a:prstGeom>
          <a:noFill/>
          <a:ln w="0">
            <a:noFill/>
          </a:ln>
        </p:spPr>
        <p:txBody>
          <a:bodyPr anchor="t">
            <a:normAutofit/>
          </a:bodyPr>
          <a:lstStyle/>
          <a:p>
            <a:pPr>
              <a:defRPr sz="1200" b="1" i="0">
                <a:solidFill>
                  <a:srgbClr val="F39A24"/>
                </a:solidFill>
                <a:latin typeface="Aptos"/>
                <a:ea typeface="Aptos"/>
                <a:cs typeface="Aptos"/>
              </a:defRPr>
            </a:pPr>
            <a:r>
              <a:rPr sz="1200" b="1" i="0">
                <a:solidFill>
                  <a:srgbClr val="F39A24"/>
                </a:solidFill>
                <a:latin typeface="Aptos"/>
                <a:ea typeface="Aptos"/>
                <a:cs typeface="Aptos"/>
              </a:rPr>
              <a:t>CASE SUPERVISOR</a:t>
            </a:r>
          </a:p>
        </p:txBody>
      </p:sp>
      <p:sp>
        <p:nvSpPr>
          <p:cNvPr id="18" name="Rectángulo 17">
            <a:extLst>
              <a:ext uri="{FF2B5EF4-FFF2-40B4-BE49-F238E27FC236}">
                <a16:creationId xmlns:a16="http://schemas.microsoft.com/office/drawing/2014/main" id="{ACD5A368-9548-4C57-8CFF-4A8B469FC289}"/>
              </a:ext>
            </a:extLst>
          </p:cNvPr>
          <p:cNvSpPr>
            <a:spLocks noGrp="1"/>
          </p:cNvSpPr>
          <p:nvPr/>
        </p:nvSpPr>
        <p:spPr>
          <a:xfrm>
            <a:off x="5276850" y="2686050"/>
            <a:ext cx="1781175" cy="1276350"/>
          </a:xfrm>
          <a:prstGeom prst="rect">
            <a:avLst/>
          </a:prstGeom>
          <a:noFill/>
          <a:ln w="0">
            <a:noFill/>
          </a:ln>
        </p:spPr>
        <p:txBody>
          <a:bodyPr anchor="t">
            <a:normAutofit/>
          </a:bodyPr>
          <a:lstStyle/>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Reconsiderar</a:t>
            </a:r>
            <a:r>
              <a:rPr sz="1050" b="0" i="0" dirty="0">
                <a:solidFill>
                  <a:srgbClr val="756F91"/>
                </a:solidFill>
                <a:latin typeface="Aptos"/>
                <a:ea typeface="Aptos"/>
                <a:cs typeface="Aptos"/>
              </a:rPr>
              <a:t> </a:t>
            </a:r>
            <a:r>
              <a:rPr sz="1050" b="0" i="0" dirty="0" err="1">
                <a:solidFill>
                  <a:srgbClr val="756F91"/>
                </a:solidFill>
                <a:latin typeface="Aptos"/>
                <a:ea typeface="Aptos"/>
                <a:cs typeface="Aptos"/>
              </a:rPr>
              <a:t>situación</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Diagnosticar</a:t>
            </a:r>
            <a:r>
              <a:rPr sz="1050" b="0" i="0" dirty="0">
                <a:solidFill>
                  <a:srgbClr val="756F91"/>
                </a:solidFill>
                <a:latin typeface="Aptos"/>
                <a:ea typeface="Aptos"/>
                <a:cs typeface="Aptos"/>
              </a:rPr>
              <a:t> </a:t>
            </a:r>
            <a:r>
              <a:rPr sz="1050" b="0" i="0" dirty="0" err="1">
                <a:solidFill>
                  <a:srgbClr val="756F91"/>
                </a:solidFill>
                <a:latin typeface="Aptos"/>
                <a:ea typeface="Aptos"/>
                <a:cs typeface="Aptos"/>
              </a:rPr>
              <a:t>progreso</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Elegir</a:t>
            </a:r>
            <a:r>
              <a:rPr sz="1050" b="0" i="0" dirty="0">
                <a:solidFill>
                  <a:srgbClr val="756F91"/>
                </a:solidFill>
                <a:latin typeface="Aptos"/>
                <a:ea typeface="Aptos"/>
                <a:cs typeface="Aptos"/>
              </a:rPr>
              <a:t> </a:t>
            </a:r>
            <a:r>
              <a:rPr sz="1050" b="0" i="0" dirty="0" err="1">
                <a:solidFill>
                  <a:srgbClr val="756F91"/>
                </a:solidFill>
                <a:latin typeface="Aptos"/>
                <a:ea typeface="Aptos"/>
                <a:cs typeface="Aptos"/>
              </a:rPr>
              <a:t>trabajo</a:t>
            </a:r>
            <a:r>
              <a:rPr sz="1050" b="0" i="0" dirty="0">
                <a:solidFill>
                  <a:srgbClr val="756F91"/>
                </a:solidFill>
                <a:latin typeface="Aptos"/>
                <a:ea typeface="Aptos"/>
                <a:cs typeface="Aptos"/>
              </a:rPr>
              <a:t> </a:t>
            </a:r>
            <a:r>
              <a:rPr sz="1050" b="0" i="0" dirty="0" err="1">
                <a:solidFill>
                  <a:srgbClr val="756F91"/>
                </a:solidFill>
                <a:latin typeface="Aptos"/>
                <a:ea typeface="Aptos"/>
                <a:cs typeface="Aptos"/>
              </a:rPr>
              <a:t>útil</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a:solidFill>
                  <a:srgbClr val="756F91"/>
                </a:solidFill>
                <a:latin typeface="Aptos"/>
                <a:ea typeface="Aptos"/>
                <a:cs typeface="Aptos"/>
              </a:rPr>
              <a:t>O </a:t>
            </a:r>
            <a:r>
              <a:rPr sz="1050" b="0" i="0" dirty="0" err="1">
                <a:solidFill>
                  <a:srgbClr val="756F91"/>
                </a:solidFill>
                <a:latin typeface="Aptos"/>
                <a:ea typeface="Aptos"/>
                <a:cs typeface="Aptos"/>
              </a:rPr>
              <a:t>decidir</a:t>
            </a:r>
            <a:r>
              <a:rPr sz="1050" b="0" i="0" dirty="0">
                <a:solidFill>
                  <a:srgbClr val="756F91"/>
                </a:solidFill>
                <a:latin typeface="Aptos"/>
                <a:ea typeface="Aptos"/>
                <a:cs typeface="Aptos"/>
              </a:rPr>
              <a:t> wait / no-op</a:t>
            </a:r>
          </a:p>
        </p:txBody>
      </p:sp>
      <p:sp>
        <p:nvSpPr>
          <p:cNvPr id="19" name="Rectángulo: esquinas redondeadas 18">
            <a:extLst>
              <a:ext uri="{FF2B5EF4-FFF2-40B4-BE49-F238E27FC236}">
                <a16:creationId xmlns:a16="http://schemas.microsoft.com/office/drawing/2014/main" id="{DA16D32D-7C02-4482-BF0C-2F979683CF26}"/>
              </a:ext>
            </a:extLst>
          </p:cNvPr>
          <p:cNvSpPr>
            <a:spLocks noGrp="1"/>
          </p:cNvSpPr>
          <p:nvPr/>
        </p:nvSpPr>
        <p:spPr>
          <a:xfrm>
            <a:off x="7810500" y="2095500"/>
            <a:ext cx="1714500" cy="1000125"/>
          </a:xfrm>
          <a:prstGeom prst="roundRect">
            <a:avLst>
              <a:gd name="adj" fmla="val 11429"/>
            </a:avLst>
          </a:prstGeom>
          <a:solidFill>
            <a:srgbClr val="EEE8FF"/>
          </a:solidFill>
          <a:ln w="9525">
            <a:solidFill>
              <a:srgbClr val="5C2DD2"/>
            </a:solidFill>
            <a:prstDash val="solid"/>
          </a:ln>
        </p:spPr>
        <p:txBody>
          <a:bodyPr/>
          <a:lstStyle/>
          <a:p>
            <a:endParaRPr lang="es-MX"/>
          </a:p>
        </p:txBody>
      </p:sp>
      <p:sp>
        <p:nvSpPr>
          <p:cNvPr id="20" name="Rectángulo 19">
            <a:extLst>
              <a:ext uri="{FF2B5EF4-FFF2-40B4-BE49-F238E27FC236}">
                <a16:creationId xmlns:a16="http://schemas.microsoft.com/office/drawing/2014/main" id="{049FBE00-AF9D-474A-94FA-C4BD0213C729}"/>
              </a:ext>
            </a:extLst>
          </p:cNvPr>
          <p:cNvSpPr>
            <a:spLocks noGrp="1"/>
          </p:cNvSpPr>
          <p:nvPr/>
        </p:nvSpPr>
        <p:spPr>
          <a:xfrm>
            <a:off x="7943850" y="2219325"/>
            <a:ext cx="1447800" cy="285750"/>
          </a:xfrm>
          <a:prstGeom prst="rect">
            <a:avLst/>
          </a:prstGeom>
          <a:noFill/>
          <a:ln w="0">
            <a:noFill/>
          </a:ln>
        </p:spPr>
        <p:txBody>
          <a:bodyPr anchor="t">
            <a:normAutofit/>
          </a:bodyPr>
          <a:lstStyle/>
          <a:p>
            <a:pPr>
              <a:defRPr sz="1050" b="1" i="0">
                <a:solidFill>
                  <a:srgbClr val="5C2DD2"/>
                </a:solidFill>
                <a:latin typeface="Aptos"/>
                <a:ea typeface="Aptos"/>
                <a:cs typeface="Aptos"/>
              </a:defRPr>
            </a:pPr>
            <a:r>
              <a:rPr sz="1050" b="1" i="0">
                <a:solidFill>
                  <a:srgbClr val="5C2DD2"/>
                </a:solidFill>
                <a:latin typeface="Aptos"/>
                <a:ea typeface="Aptos"/>
                <a:cs typeface="Aptos"/>
              </a:rPr>
              <a:t>TRABAJO INLINE</a:t>
            </a:r>
          </a:p>
        </p:txBody>
      </p:sp>
      <p:sp>
        <p:nvSpPr>
          <p:cNvPr id="21" name="Rectángulo 20">
            <a:extLst>
              <a:ext uri="{FF2B5EF4-FFF2-40B4-BE49-F238E27FC236}">
                <a16:creationId xmlns:a16="http://schemas.microsoft.com/office/drawing/2014/main" id="{BE31A603-56C2-4024-8595-6DB1C6EB6AB2}"/>
              </a:ext>
            </a:extLst>
          </p:cNvPr>
          <p:cNvSpPr>
            <a:spLocks noGrp="1"/>
          </p:cNvSpPr>
          <p:nvPr/>
        </p:nvSpPr>
        <p:spPr>
          <a:xfrm>
            <a:off x="7899460" y="2498785"/>
            <a:ext cx="1619250" cy="466725"/>
          </a:xfrm>
          <a:prstGeom prst="rect">
            <a:avLst/>
          </a:prstGeom>
          <a:noFill/>
          <a:ln w="0">
            <a:noFill/>
          </a:ln>
        </p:spPr>
        <p:txBody>
          <a:bodyPr anchor="t">
            <a:normAutofit fontScale="96319"/>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Read · reason · tool breve</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err="1">
                <a:solidFill>
                  <a:srgbClr val="756F91"/>
                </a:solidFill>
                <a:latin typeface="Aptos"/>
                <a:ea typeface="Aptos"/>
                <a:cs typeface="Aptos"/>
              </a:rPr>
              <a:t>Dentro</a:t>
            </a:r>
            <a:r>
              <a:rPr sz="975" b="0" i="0" dirty="0">
                <a:solidFill>
                  <a:srgbClr val="756F91"/>
                </a:solidFill>
                <a:latin typeface="Aptos"/>
                <a:ea typeface="Aptos"/>
                <a:cs typeface="Aptos"/>
              </a:rPr>
              <a:t> de un </a:t>
            </a:r>
            <a:r>
              <a:rPr sz="975" b="0" i="0" dirty="0" err="1">
                <a:solidFill>
                  <a:srgbClr val="756F91"/>
                </a:solidFill>
                <a:latin typeface="Aptos"/>
                <a:ea typeface="Aptos"/>
                <a:cs typeface="Aptos"/>
              </a:rPr>
              <a:t>turno</a:t>
            </a:r>
            <a:endParaRPr sz="975" b="0" i="0" dirty="0">
              <a:solidFill>
                <a:srgbClr val="756F91"/>
              </a:solidFill>
              <a:latin typeface="Aptos"/>
              <a:ea typeface="Aptos"/>
              <a:cs typeface="Aptos"/>
            </a:endParaRPr>
          </a:p>
        </p:txBody>
      </p:sp>
      <p:sp>
        <p:nvSpPr>
          <p:cNvPr id="22" name="Rectángulo: esquinas redondeadas 21">
            <a:extLst>
              <a:ext uri="{FF2B5EF4-FFF2-40B4-BE49-F238E27FC236}">
                <a16:creationId xmlns:a16="http://schemas.microsoft.com/office/drawing/2014/main" id="{D69665E3-52AC-424B-A128-70FEF5B80832}"/>
              </a:ext>
            </a:extLst>
          </p:cNvPr>
          <p:cNvSpPr>
            <a:spLocks noGrp="1"/>
          </p:cNvSpPr>
          <p:nvPr/>
        </p:nvSpPr>
        <p:spPr>
          <a:xfrm>
            <a:off x="7810500" y="3333750"/>
            <a:ext cx="1714500" cy="1143000"/>
          </a:xfrm>
          <a:prstGeom prst="roundRect">
            <a:avLst>
              <a:gd name="adj" fmla="val 10000"/>
            </a:avLst>
          </a:prstGeom>
          <a:solidFill>
            <a:srgbClr val="E7ECFB"/>
          </a:solidFill>
          <a:ln w="9525">
            <a:solidFill>
              <a:srgbClr val="4866C6"/>
            </a:solidFill>
            <a:prstDash val="solid"/>
          </a:ln>
        </p:spPr>
        <p:txBody>
          <a:bodyPr/>
          <a:lstStyle/>
          <a:p>
            <a:endParaRPr lang="es-MX"/>
          </a:p>
        </p:txBody>
      </p:sp>
      <p:sp>
        <p:nvSpPr>
          <p:cNvPr id="23" name="Rectángulo 22">
            <a:extLst>
              <a:ext uri="{FF2B5EF4-FFF2-40B4-BE49-F238E27FC236}">
                <a16:creationId xmlns:a16="http://schemas.microsoft.com/office/drawing/2014/main" id="{1DA46AAA-F7DF-463B-9B8D-142F18F457FC}"/>
              </a:ext>
            </a:extLst>
          </p:cNvPr>
          <p:cNvSpPr>
            <a:spLocks noGrp="1"/>
          </p:cNvSpPr>
          <p:nvPr/>
        </p:nvSpPr>
        <p:spPr>
          <a:xfrm>
            <a:off x="7943850" y="3457575"/>
            <a:ext cx="1447800" cy="285750"/>
          </a:xfrm>
          <a:prstGeom prst="rect">
            <a:avLst/>
          </a:prstGeom>
          <a:noFill/>
          <a:ln w="0">
            <a:noFill/>
          </a:ln>
        </p:spPr>
        <p:txBody>
          <a:bodyPr anchor="t">
            <a:normAutofit/>
          </a:bodyPr>
          <a:lstStyle/>
          <a:p>
            <a:pPr>
              <a:defRPr sz="1050" b="1" i="0">
                <a:solidFill>
                  <a:srgbClr val="4866C6"/>
                </a:solidFill>
                <a:latin typeface="Aptos"/>
                <a:ea typeface="Aptos"/>
                <a:cs typeface="Aptos"/>
              </a:defRPr>
            </a:pPr>
            <a:r>
              <a:rPr sz="1050" b="1" i="0">
                <a:solidFill>
                  <a:srgbClr val="4866C6"/>
                </a:solidFill>
                <a:latin typeface="Aptos"/>
                <a:ea typeface="Aptos"/>
                <a:cs typeface="Aptos"/>
              </a:rPr>
              <a:t>WORK ITEM</a:t>
            </a:r>
          </a:p>
        </p:txBody>
      </p:sp>
      <p:sp>
        <p:nvSpPr>
          <p:cNvPr id="24" name="Rectángulo 23">
            <a:extLst>
              <a:ext uri="{FF2B5EF4-FFF2-40B4-BE49-F238E27FC236}">
                <a16:creationId xmlns:a16="http://schemas.microsoft.com/office/drawing/2014/main" id="{F6F487CC-6FF1-46E5-9F73-BCDBB67440F0}"/>
              </a:ext>
            </a:extLst>
          </p:cNvPr>
          <p:cNvSpPr>
            <a:spLocks noGrp="1"/>
          </p:cNvSpPr>
          <p:nvPr/>
        </p:nvSpPr>
        <p:spPr>
          <a:xfrm>
            <a:off x="7943850" y="3781425"/>
            <a:ext cx="1447800" cy="609600"/>
          </a:xfrm>
          <a:prstGeom prst="rect">
            <a:avLst/>
          </a:prstGeom>
          <a:noFill/>
          <a:ln w="0">
            <a:noFill/>
          </a:ln>
        </p:spPr>
        <p:txBody>
          <a:bodyPr anchor="t">
            <a:normAutofit fontScale="94679" lnSpcReduction="10000"/>
          </a:bodyPr>
          <a:lstStyle/>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Wait · retry · depend</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Human · verify</a:t>
            </a:r>
          </a:p>
          <a:p>
            <a:pPr marL="171450" indent="-171450">
              <a:buFont typeface="Arial" panose="020B0604020202020204" pitchFamily="34" charset="0"/>
              <a:buChar char="•"/>
              <a:defRPr sz="975" b="0" i="0">
                <a:solidFill>
                  <a:srgbClr val="756F91"/>
                </a:solidFill>
                <a:latin typeface="Aptos"/>
                <a:ea typeface="Aptos"/>
                <a:cs typeface="Aptos"/>
              </a:defRPr>
            </a:pPr>
            <a:r>
              <a:rPr sz="975" b="0" i="0" dirty="0">
                <a:solidFill>
                  <a:srgbClr val="756F91"/>
                </a:solidFill>
                <a:latin typeface="Aptos"/>
                <a:ea typeface="Aptos"/>
                <a:cs typeface="Aptos"/>
              </a:rPr>
              <a:t>Identidad </a:t>
            </a:r>
            <a:r>
              <a:rPr sz="975" b="0" i="0" dirty="0" err="1">
                <a:solidFill>
                  <a:srgbClr val="756F91"/>
                </a:solidFill>
                <a:latin typeface="Aptos"/>
                <a:ea typeface="Aptos"/>
                <a:cs typeface="Aptos"/>
              </a:rPr>
              <a:t>operacional</a:t>
            </a:r>
            <a:r>
              <a:rPr sz="975" b="0" i="0" dirty="0">
                <a:solidFill>
                  <a:srgbClr val="756F91"/>
                </a:solidFill>
                <a:latin typeface="Aptos"/>
                <a:ea typeface="Aptos"/>
                <a:cs typeface="Aptos"/>
              </a:rPr>
              <a:t> </a:t>
            </a:r>
            <a:r>
              <a:rPr sz="975" b="0" i="0" dirty="0" err="1">
                <a:solidFill>
                  <a:srgbClr val="756F91"/>
                </a:solidFill>
                <a:latin typeface="Aptos"/>
                <a:ea typeface="Aptos"/>
                <a:cs typeface="Aptos"/>
              </a:rPr>
              <a:t>propia</a:t>
            </a:r>
            <a:endParaRPr sz="975" b="0" i="0" dirty="0">
              <a:solidFill>
                <a:srgbClr val="756F91"/>
              </a:solidFill>
              <a:latin typeface="Aptos"/>
              <a:ea typeface="Aptos"/>
              <a:cs typeface="Aptos"/>
            </a:endParaRPr>
          </a:p>
        </p:txBody>
      </p:sp>
      <p:sp>
        <p:nvSpPr>
          <p:cNvPr id="25" name="Rectángulo: esquinas redondeadas 24">
            <a:extLst>
              <a:ext uri="{FF2B5EF4-FFF2-40B4-BE49-F238E27FC236}">
                <a16:creationId xmlns:a16="http://schemas.microsoft.com/office/drawing/2014/main" id="{A93D6489-F895-4354-801E-16D72B4251BE}"/>
              </a:ext>
            </a:extLst>
          </p:cNvPr>
          <p:cNvSpPr>
            <a:spLocks noGrp="1"/>
          </p:cNvSpPr>
          <p:nvPr/>
        </p:nvSpPr>
        <p:spPr>
          <a:xfrm>
            <a:off x="10001249" y="2571750"/>
            <a:ext cx="1743075" cy="1476375"/>
          </a:xfrm>
          <a:prstGeom prst="roundRect">
            <a:avLst>
              <a:gd name="adj" fmla="val 7742"/>
            </a:avLst>
          </a:prstGeom>
          <a:solidFill>
            <a:srgbClr val="E3F5ED"/>
          </a:solidFill>
          <a:ln w="9525">
            <a:solidFill>
              <a:srgbClr val="009566"/>
            </a:solidFill>
            <a:prstDash val="solid"/>
          </a:ln>
        </p:spPr>
        <p:txBody>
          <a:bodyPr/>
          <a:lstStyle/>
          <a:p>
            <a:endParaRPr lang="es-MX"/>
          </a:p>
        </p:txBody>
      </p:sp>
      <p:sp>
        <p:nvSpPr>
          <p:cNvPr id="26" name="Rectángulo 25">
            <a:extLst>
              <a:ext uri="{FF2B5EF4-FFF2-40B4-BE49-F238E27FC236}">
                <a16:creationId xmlns:a16="http://schemas.microsoft.com/office/drawing/2014/main" id="{3641A70E-C17A-4DD7-8158-46B6F2EBEDC8}"/>
              </a:ext>
            </a:extLst>
          </p:cNvPr>
          <p:cNvSpPr>
            <a:spLocks noGrp="1"/>
          </p:cNvSpPr>
          <p:nvPr/>
        </p:nvSpPr>
        <p:spPr>
          <a:xfrm>
            <a:off x="10099088" y="2695575"/>
            <a:ext cx="1352550" cy="285750"/>
          </a:xfrm>
          <a:prstGeom prst="rect">
            <a:avLst/>
          </a:prstGeom>
          <a:noFill/>
          <a:ln w="0">
            <a:noFill/>
          </a:ln>
        </p:spPr>
        <p:txBody>
          <a:bodyPr anchor="t">
            <a:normAutofit/>
          </a:bodyPr>
          <a:lstStyle/>
          <a:p>
            <a:pPr>
              <a:defRPr sz="1125" b="1" i="0">
                <a:solidFill>
                  <a:srgbClr val="009566"/>
                </a:solidFill>
                <a:latin typeface="Aptos"/>
                <a:ea typeface="Aptos"/>
                <a:cs typeface="Aptos"/>
              </a:defRPr>
            </a:pPr>
            <a:r>
              <a:rPr sz="1125" b="1" i="0">
                <a:solidFill>
                  <a:srgbClr val="009566"/>
                </a:solidFill>
                <a:latin typeface="Aptos"/>
                <a:ea typeface="Aptos"/>
                <a:cs typeface="Aptos"/>
              </a:rPr>
              <a:t>EVIDENCIA</a:t>
            </a:r>
          </a:p>
        </p:txBody>
      </p:sp>
      <p:sp>
        <p:nvSpPr>
          <p:cNvPr id="27" name="Rectángulo 26">
            <a:extLst>
              <a:ext uri="{FF2B5EF4-FFF2-40B4-BE49-F238E27FC236}">
                <a16:creationId xmlns:a16="http://schemas.microsoft.com/office/drawing/2014/main" id="{DFC650F9-1EBF-45AE-B910-ECB8D22A1470}"/>
              </a:ext>
            </a:extLst>
          </p:cNvPr>
          <p:cNvSpPr>
            <a:spLocks noGrp="1"/>
          </p:cNvSpPr>
          <p:nvPr/>
        </p:nvSpPr>
        <p:spPr>
          <a:xfrm>
            <a:off x="10099088" y="3019425"/>
            <a:ext cx="1581150" cy="942975"/>
          </a:xfrm>
          <a:prstGeom prst="rect">
            <a:avLst/>
          </a:prstGeom>
          <a:noFill/>
          <a:ln w="0">
            <a:noFill/>
          </a:ln>
        </p:spPr>
        <p:txBody>
          <a:bodyPr anchor="t">
            <a:normAutofit/>
          </a:bodyPr>
          <a:lstStyle/>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Resultado</a:t>
            </a:r>
            <a:r>
              <a:rPr sz="1050" b="0" i="0" dirty="0">
                <a:solidFill>
                  <a:srgbClr val="756F91"/>
                </a:solidFill>
                <a:latin typeface="Aptos"/>
                <a:ea typeface="Aptos"/>
                <a:cs typeface="Aptos"/>
              </a:rPr>
              <a:t> real</a:t>
            </a: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a:solidFill>
                  <a:srgbClr val="756F91"/>
                </a:solidFill>
                <a:latin typeface="Aptos"/>
                <a:ea typeface="Aptos"/>
                <a:cs typeface="Aptos"/>
              </a:rPr>
              <a:t>Outcome </a:t>
            </a:r>
            <a:r>
              <a:rPr sz="1050" b="0" i="0" dirty="0" err="1">
                <a:solidFill>
                  <a:srgbClr val="756F91"/>
                </a:solidFill>
                <a:latin typeface="Aptos"/>
                <a:ea typeface="Aptos"/>
                <a:cs typeface="Aptos"/>
              </a:rPr>
              <a:t>observado</a:t>
            </a:r>
            <a:endParaRPr sz="1050" b="0" i="0" dirty="0">
              <a:solidFill>
                <a:srgbClr val="756F91"/>
              </a:solidFill>
              <a:latin typeface="Aptos"/>
              <a:ea typeface="Aptos"/>
              <a:cs typeface="Aptos"/>
            </a:endParaRP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a:solidFill>
                  <a:srgbClr val="756F91"/>
                </a:solidFill>
                <a:latin typeface="Aptos"/>
                <a:ea typeface="Aptos"/>
                <a:cs typeface="Aptos"/>
              </a:rPr>
              <a:t>Estado del Case</a:t>
            </a:r>
          </a:p>
          <a:p>
            <a:pPr marL="171450" indent="-171450">
              <a:buFont typeface="Arial" panose="020B0604020202020204" pitchFamily="34" charset="0"/>
              <a:buChar char="•"/>
              <a:defRPr sz="1050" b="0" i="0">
                <a:solidFill>
                  <a:srgbClr val="756F91"/>
                </a:solidFill>
                <a:latin typeface="Aptos"/>
                <a:ea typeface="Aptos"/>
                <a:cs typeface="Aptos"/>
              </a:defRPr>
            </a:pPr>
            <a:r>
              <a:rPr sz="1050" b="0" i="0" dirty="0" err="1">
                <a:solidFill>
                  <a:srgbClr val="756F91"/>
                </a:solidFill>
                <a:latin typeface="Aptos"/>
                <a:ea typeface="Aptos"/>
                <a:cs typeface="Aptos"/>
              </a:rPr>
              <a:t>Próximo</a:t>
            </a:r>
            <a:r>
              <a:rPr sz="1050" b="0" i="0" dirty="0">
                <a:solidFill>
                  <a:srgbClr val="756F91"/>
                </a:solidFill>
                <a:latin typeface="Aptos"/>
                <a:ea typeface="Aptos"/>
                <a:cs typeface="Aptos"/>
              </a:rPr>
              <a:t> wake-up</a:t>
            </a:r>
          </a:p>
        </p:txBody>
      </p:sp>
      <p:cxnSp>
        <p:nvCxnSpPr>
          <p:cNvPr id="78" name="Conector recto de flecha 77"/>
          <p:cNvCxnSpPr>
            <a:stCxn id="10" idx="3"/>
            <a:endCxn id="13" idx="1"/>
          </p:cNvCxnSpPr>
          <p:nvPr/>
        </p:nvCxnSpPr>
        <p:spPr>
          <a:xfrm>
            <a:off x="2381250" y="3143250"/>
            <a:ext cx="476250" cy="0"/>
          </a:xfrm>
          <a:prstGeom prst="straightConnector1">
            <a:avLst/>
          </a:prstGeom>
          <a:ln w="19050">
            <a:solidFill>
              <a:srgbClr val="009566"/>
            </a:solidFill>
            <a:prstDash val="solid"/>
            <a:tailEnd type="arrow" w="med" len="med"/>
          </a:ln>
        </p:spPr>
      </p:cxnSp>
      <p:cxnSp>
        <p:nvCxnSpPr>
          <p:cNvPr id="79" name="Conector recto de flecha 78"/>
          <p:cNvCxnSpPr>
            <a:stCxn id="13" idx="3"/>
            <a:endCxn id="16" idx="1"/>
          </p:cNvCxnSpPr>
          <p:nvPr/>
        </p:nvCxnSpPr>
        <p:spPr>
          <a:xfrm>
            <a:off x="4667250" y="3143250"/>
            <a:ext cx="476250" cy="0"/>
          </a:xfrm>
          <a:prstGeom prst="straightConnector1">
            <a:avLst/>
          </a:prstGeom>
          <a:ln w="19050">
            <a:solidFill>
              <a:srgbClr val="F39A24"/>
            </a:solidFill>
            <a:prstDash val="solid"/>
            <a:tailEnd type="arrow" w="med" len="med"/>
          </a:ln>
        </p:spPr>
      </p:cxnSp>
      <p:cxnSp>
        <p:nvCxnSpPr>
          <p:cNvPr id="80" name="Conector: angular 79"/>
          <p:cNvCxnSpPr>
            <a:stCxn id="16" idx="3"/>
            <a:endCxn id="19" idx="1"/>
          </p:cNvCxnSpPr>
          <p:nvPr/>
        </p:nvCxnSpPr>
        <p:spPr>
          <a:xfrm flipV="1">
            <a:off x="7191375" y="2595563"/>
            <a:ext cx="619125" cy="547688"/>
          </a:xfrm>
          <a:prstGeom prst="bentConnector3">
            <a:avLst>
              <a:gd name="adj1" fmla="val 50000"/>
            </a:avLst>
          </a:prstGeom>
          <a:ln w="19050">
            <a:solidFill>
              <a:srgbClr val="5C2DD2"/>
            </a:solidFill>
            <a:prstDash val="solid"/>
            <a:tailEnd type="arrow" w="med" len="med"/>
          </a:ln>
        </p:spPr>
      </p:cxnSp>
      <p:cxnSp>
        <p:nvCxnSpPr>
          <p:cNvPr id="81" name="Conector: angular 80"/>
          <p:cNvCxnSpPr>
            <a:stCxn id="16" idx="3"/>
            <a:endCxn id="22" idx="1"/>
          </p:cNvCxnSpPr>
          <p:nvPr/>
        </p:nvCxnSpPr>
        <p:spPr>
          <a:xfrm>
            <a:off x="7191375" y="3143250"/>
            <a:ext cx="619125" cy="762000"/>
          </a:xfrm>
          <a:prstGeom prst="bentConnector3">
            <a:avLst>
              <a:gd name="adj1" fmla="val 50000"/>
            </a:avLst>
          </a:prstGeom>
          <a:ln w="19050">
            <a:solidFill>
              <a:srgbClr val="4866C6"/>
            </a:solidFill>
            <a:prstDash val="solid"/>
            <a:tailEnd type="arrow" w="med" len="med"/>
          </a:ln>
        </p:spPr>
      </p:cxnSp>
      <p:cxnSp>
        <p:nvCxnSpPr>
          <p:cNvPr id="82" name="Conector: angular 81"/>
          <p:cNvCxnSpPr>
            <a:cxnSpLocks/>
            <a:stCxn id="19" idx="3"/>
            <a:endCxn id="25" idx="1"/>
          </p:cNvCxnSpPr>
          <p:nvPr/>
        </p:nvCxnSpPr>
        <p:spPr>
          <a:xfrm>
            <a:off x="9525000" y="2595563"/>
            <a:ext cx="476249" cy="714375"/>
          </a:xfrm>
          <a:prstGeom prst="bentConnector3">
            <a:avLst>
              <a:gd name="adj1" fmla="val 50000"/>
            </a:avLst>
          </a:prstGeom>
          <a:ln w="19050">
            <a:solidFill>
              <a:srgbClr val="009566"/>
            </a:solidFill>
            <a:prstDash val="solid"/>
            <a:tailEnd type="arrow" w="med" len="med"/>
          </a:ln>
        </p:spPr>
      </p:cxnSp>
      <p:cxnSp>
        <p:nvCxnSpPr>
          <p:cNvPr id="83" name="Conector: angular 82"/>
          <p:cNvCxnSpPr>
            <a:cxnSpLocks/>
            <a:stCxn id="22" idx="3"/>
            <a:endCxn id="25" idx="1"/>
          </p:cNvCxnSpPr>
          <p:nvPr/>
        </p:nvCxnSpPr>
        <p:spPr>
          <a:xfrm flipV="1">
            <a:off x="9525000" y="3309938"/>
            <a:ext cx="476249" cy="595312"/>
          </a:xfrm>
          <a:prstGeom prst="bentConnector3">
            <a:avLst>
              <a:gd name="adj1" fmla="val 50000"/>
            </a:avLst>
          </a:prstGeom>
          <a:ln w="19050">
            <a:solidFill>
              <a:srgbClr val="009566"/>
            </a:solidFill>
            <a:prstDash val="solid"/>
            <a:tailEnd type="arrow" w="med" len="med"/>
          </a:ln>
        </p:spPr>
      </p:cxnSp>
      <p:sp>
        <p:nvSpPr>
          <p:cNvPr id="34" name="Conector recto 33">
            <a:extLst>
              <a:ext uri="{FF2B5EF4-FFF2-40B4-BE49-F238E27FC236}">
                <a16:creationId xmlns:a16="http://schemas.microsoft.com/office/drawing/2014/main" id="{E0FAE4BE-02BA-436B-BF14-5EBC320C5E3C}"/>
              </a:ext>
            </a:extLst>
          </p:cNvPr>
          <p:cNvSpPr>
            <a:spLocks noGrp="1"/>
          </p:cNvSpPr>
          <p:nvPr/>
        </p:nvSpPr>
        <p:spPr>
          <a:xfrm>
            <a:off x="10810875" y="4048125"/>
            <a:ext cx="0" cy="857250"/>
          </a:xfrm>
          <a:prstGeom prst="line">
            <a:avLst/>
          </a:prstGeom>
          <a:noFill/>
          <a:ln w="19050">
            <a:solidFill>
              <a:srgbClr val="009566"/>
            </a:solidFill>
            <a:prstDash val="dash"/>
          </a:ln>
        </p:spPr>
        <p:txBody>
          <a:bodyPr/>
          <a:lstStyle/>
          <a:p>
            <a:endParaRPr lang="es-MX"/>
          </a:p>
        </p:txBody>
      </p:sp>
      <p:sp>
        <p:nvSpPr>
          <p:cNvPr id="35" name="Conector recto 34">
            <a:extLst>
              <a:ext uri="{FF2B5EF4-FFF2-40B4-BE49-F238E27FC236}">
                <a16:creationId xmlns:a16="http://schemas.microsoft.com/office/drawing/2014/main" id="{11F5F284-042D-407C-8298-3C70AB00AEB5}"/>
              </a:ext>
            </a:extLst>
          </p:cNvPr>
          <p:cNvSpPr>
            <a:spLocks noGrp="1"/>
          </p:cNvSpPr>
          <p:nvPr/>
        </p:nvSpPr>
        <p:spPr>
          <a:xfrm>
            <a:off x="3762375" y="4905375"/>
            <a:ext cx="7048500" cy="0"/>
          </a:xfrm>
          <a:prstGeom prst="line">
            <a:avLst/>
          </a:prstGeom>
          <a:noFill/>
          <a:ln w="19050">
            <a:solidFill>
              <a:srgbClr val="009566"/>
            </a:solidFill>
            <a:prstDash val="dash"/>
          </a:ln>
        </p:spPr>
        <p:txBody>
          <a:bodyPr/>
          <a:lstStyle/>
          <a:p>
            <a:endParaRPr lang="es-MX"/>
          </a:p>
        </p:txBody>
      </p:sp>
      <p:sp>
        <p:nvSpPr>
          <p:cNvPr id="36" name="Conector recto 35">
            <a:extLst>
              <a:ext uri="{FF2B5EF4-FFF2-40B4-BE49-F238E27FC236}">
                <a16:creationId xmlns:a16="http://schemas.microsoft.com/office/drawing/2014/main" id="{9F821FFD-99EB-4689-AE51-7F4C028F2E52}"/>
              </a:ext>
            </a:extLst>
          </p:cNvPr>
          <p:cNvSpPr>
            <a:spLocks noGrp="1"/>
          </p:cNvSpPr>
          <p:nvPr/>
        </p:nvSpPr>
        <p:spPr>
          <a:xfrm>
            <a:off x="3762375" y="3905250"/>
            <a:ext cx="0" cy="1000125"/>
          </a:xfrm>
          <a:prstGeom prst="line">
            <a:avLst/>
          </a:prstGeom>
          <a:noFill/>
          <a:ln w="19050">
            <a:solidFill>
              <a:srgbClr val="009566"/>
            </a:solidFill>
            <a:prstDash val="dash"/>
          </a:ln>
        </p:spPr>
        <p:txBody>
          <a:bodyPr/>
          <a:lstStyle/>
          <a:p>
            <a:endParaRPr lang="es-MX"/>
          </a:p>
        </p:txBody>
      </p:sp>
      <p:sp>
        <p:nvSpPr>
          <p:cNvPr id="37" name="Rectángulo: esquinas redondeadas 36">
            <a:extLst>
              <a:ext uri="{FF2B5EF4-FFF2-40B4-BE49-F238E27FC236}">
                <a16:creationId xmlns:a16="http://schemas.microsoft.com/office/drawing/2014/main" id="{1BF945A3-F7F4-49B3-AD67-8052EF1A1CE7}"/>
              </a:ext>
            </a:extLst>
          </p:cNvPr>
          <p:cNvSpPr>
            <a:spLocks noGrp="1"/>
          </p:cNvSpPr>
          <p:nvPr/>
        </p:nvSpPr>
        <p:spPr>
          <a:xfrm>
            <a:off x="7810500" y="1779881"/>
            <a:ext cx="1714500" cy="266700"/>
          </a:xfrm>
          <a:prstGeom prst="roundRect">
            <a:avLst>
              <a:gd name="adj" fmla="val 50000"/>
            </a:avLst>
          </a:prstGeom>
          <a:solidFill>
            <a:srgbClr val="5C2DD2"/>
          </a:solidFill>
          <a:ln w="9525">
            <a:solidFill>
              <a:srgbClr val="5C2DD2"/>
            </a:solidFill>
            <a:prstDash val="solid"/>
          </a:ln>
        </p:spPr>
        <p:txBody>
          <a:bodyPr/>
          <a:lstStyle/>
          <a:p>
            <a:endParaRPr lang="es-MX"/>
          </a:p>
        </p:txBody>
      </p:sp>
      <p:sp>
        <p:nvSpPr>
          <p:cNvPr id="38" name="Rectángulo 37">
            <a:extLst>
              <a:ext uri="{FF2B5EF4-FFF2-40B4-BE49-F238E27FC236}">
                <a16:creationId xmlns:a16="http://schemas.microsoft.com/office/drawing/2014/main" id="{85A64A8F-69F6-4A9C-BCD6-7EC606BCCA48}"/>
              </a:ext>
            </a:extLst>
          </p:cNvPr>
          <p:cNvSpPr>
            <a:spLocks noGrp="1"/>
          </p:cNvSpPr>
          <p:nvPr/>
        </p:nvSpPr>
        <p:spPr>
          <a:xfrm>
            <a:off x="7877175" y="1808456"/>
            <a:ext cx="1581150" cy="209550"/>
          </a:xfrm>
          <a:prstGeom prst="rect">
            <a:avLst/>
          </a:prstGeom>
          <a:noFill/>
          <a:ln w="0">
            <a:noFill/>
          </a:ln>
        </p:spPr>
        <p:txBody>
          <a:bodyPr anchor="t">
            <a:normAutofit fontScale="86111" lnSpcReduction="10000"/>
          </a:bodyPr>
          <a:lstStyle/>
          <a:p>
            <a:pPr algn="ctr">
              <a:defRPr sz="900" b="1" i="0">
                <a:solidFill>
                  <a:srgbClr val="FFFFFF"/>
                </a:solidFill>
                <a:latin typeface="Aptos"/>
                <a:ea typeface="Aptos"/>
                <a:cs typeface="Aptos"/>
              </a:defRPr>
            </a:pPr>
            <a:r>
              <a:rPr sz="900" b="1" i="0" dirty="0">
                <a:solidFill>
                  <a:srgbClr val="FFFFFF"/>
                </a:solidFill>
                <a:latin typeface="Aptos"/>
                <a:ea typeface="Aptos"/>
                <a:cs typeface="Aptos"/>
              </a:rPr>
              <a:t>SEGUNDOS / MINUTOS</a:t>
            </a:r>
          </a:p>
        </p:txBody>
      </p:sp>
      <p:sp>
        <p:nvSpPr>
          <p:cNvPr id="39" name="Rectángulo: esquinas redondeadas 38">
            <a:extLst>
              <a:ext uri="{FF2B5EF4-FFF2-40B4-BE49-F238E27FC236}">
                <a16:creationId xmlns:a16="http://schemas.microsoft.com/office/drawing/2014/main" id="{60C501F9-97E0-45D5-AC36-FB4A420CB4A2}"/>
              </a:ext>
            </a:extLst>
          </p:cNvPr>
          <p:cNvSpPr>
            <a:spLocks noGrp="1"/>
          </p:cNvSpPr>
          <p:nvPr/>
        </p:nvSpPr>
        <p:spPr>
          <a:xfrm>
            <a:off x="7810500" y="4531492"/>
            <a:ext cx="1714500" cy="266700"/>
          </a:xfrm>
          <a:prstGeom prst="roundRect">
            <a:avLst>
              <a:gd name="adj" fmla="val 50000"/>
            </a:avLst>
          </a:prstGeom>
          <a:solidFill>
            <a:srgbClr val="4866C6"/>
          </a:solidFill>
          <a:ln w="9525">
            <a:solidFill>
              <a:srgbClr val="4866C6"/>
            </a:solidFill>
            <a:prstDash val="solid"/>
          </a:ln>
        </p:spPr>
        <p:txBody>
          <a:bodyPr/>
          <a:lstStyle/>
          <a:p>
            <a:endParaRPr lang="es-MX"/>
          </a:p>
        </p:txBody>
      </p:sp>
      <p:sp>
        <p:nvSpPr>
          <p:cNvPr id="40" name="Rectángulo 39">
            <a:extLst>
              <a:ext uri="{FF2B5EF4-FFF2-40B4-BE49-F238E27FC236}">
                <a16:creationId xmlns:a16="http://schemas.microsoft.com/office/drawing/2014/main" id="{0D67987D-BA92-4BA0-B412-479105ECFE30}"/>
              </a:ext>
            </a:extLst>
          </p:cNvPr>
          <p:cNvSpPr>
            <a:spLocks noGrp="1"/>
          </p:cNvSpPr>
          <p:nvPr/>
        </p:nvSpPr>
        <p:spPr>
          <a:xfrm>
            <a:off x="7877175" y="4560067"/>
            <a:ext cx="1581150" cy="209550"/>
          </a:xfrm>
          <a:prstGeom prst="rect">
            <a:avLst/>
          </a:prstGeom>
          <a:noFill/>
          <a:ln w="0">
            <a:noFill/>
          </a:ln>
        </p:spPr>
        <p:txBody>
          <a:bodyPr anchor="t">
            <a:normAutofit fontScale="86111" lnSpcReduction="10000"/>
          </a:bodyPr>
          <a:lstStyle/>
          <a:p>
            <a:pPr algn="ctr">
              <a:defRPr sz="900" b="1" i="0">
                <a:solidFill>
                  <a:srgbClr val="FFFFFF"/>
                </a:solidFill>
                <a:latin typeface="Aptos"/>
                <a:ea typeface="Aptos"/>
                <a:cs typeface="Aptos"/>
              </a:defRPr>
            </a:pPr>
            <a:r>
              <a:rPr sz="900" b="1" i="0" dirty="0">
                <a:solidFill>
                  <a:srgbClr val="FFFFFF"/>
                </a:solidFill>
                <a:latin typeface="Aptos"/>
                <a:ea typeface="Aptos"/>
                <a:cs typeface="Aptos"/>
              </a:rPr>
              <a:t>MINUTOS / DÍAS</a:t>
            </a:r>
          </a:p>
        </p:txBody>
      </p:sp>
      <p:sp>
        <p:nvSpPr>
          <p:cNvPr id="41" name="Rectángulo: esquinas redondeadas 40">
            <a:extLst>
              <a:ext uri="{FF2B5EF4-FFF2-40B4-BE49-F238E27FC236}">
                <a16:creationId xmlns:a16="http://schemas.microsoft.com/office/drawing/2014/main" id="{0DE4FBFB-51EE-4C54-AABD-613763802EBE}"/>
              </a:ext>
            </a:extLst>
          </p:cNvPr>
          <p:cNvSpPr>
            <a:spLocks noGrp="1"/>
          </p:cNvSpPr>
          <p:nvPr/>
        </p:nvSpPr>
        <p:spPr>
          <a:xfrm>
            <a:off x="2857500" y="3955776"/>
            <a:ext cx="1809750" cy="266700"/>
          </a:xfrm>
          <a:prstGeom prst="roundRect">
            <a:avLst>
              <a:gd name="adj" fmla="val 50000"/>
            </a:avLst>
          </a:prstGeom>
          <a:solidFill>
            <a:srgbClr val="009566"/>
          </a:solidFill>
          <a:ln w="9525">
            <a:solidFill>
              <a:srgbClr val="009566"/>
            </a:solidFill>
            <a:prstDash val="solid"/>
          </a:ln>
        </p:spPr>
        <p:txBody>
          <a:bodyPr/>
          <a:lstStyle/>
          <a:p>
            <a:endParaRPr lang="es-MX"/>
          </a:p>
        </p:txBody>
      </p:sp>
      <p:sp>
        <p:nvSpPr>
          <p:cNvPr id="42" name="Rectángulo 41">
            <a:extLst>
              <a:ext uri="{FF2B5EF4-FFF2-40B4-BE49-F238E27FC236}">
                <a16:creationId xmlns:a16="http://schemas.microsoft.com/office/drawing/2014/main" id="{745144B2-A9DF-4685-BFD4-681C598278B3}"/>
              </a:ext>
            </a:extLst>
          </p:cNvPr>
          <p:cNvSpPr>
            <a:spLocks noGrp="1"/>
          </p:cNvSpPr>
          <p:nvPr/>
        </p:nvSpPr>
        <p:spPr>
          <a:xfrm>
            <a:off x="2924175" y="3994290"/>
            <a:ext cx="1676400" cy="209550"/>
          </a:xfrm>
          <a:prstGeom prst="rect">
            <a:avLst/>
          </a:prstGeom>
          <a:noFill/>
          <a:ln w="0">
            <a:noFill/>
          </a:ln>
        </p:spPr>
        <p:txBody>
          <a:bodyPr anchor="t">
            <a:normAutofit fontScale="86111" lnSpcReduction="10000"/>
          </a:bodyPr>
          <a:lstStyle/>
          <a:p>
            <a:pPr algn="ctr">
              <a:defRPr sz="900" b="1" i="0">
                <a:solidFill>
                  <a:srgbClr val="FFFFFF"/>
                </a:solidFill>
                <a:latin typeface="Aptos"/>
                <a:ea typeface="Aptos"/>
                <a:cs typeface="Aptos"/>
              </a:defRPr>
            </a:pPr>
            <a:r>
              <a:rPr sz="900" b="1" i="0" dirty="0">
                <a:solidFill>
                  <a:srgbClr val="FFFFFF"/>
                </a:solidFill>
                <a:latin typeface="Aptos"/>
                <a:ea typeface="Aptos"/>
                <a:cs typeface="Aptos"/>
              </a:rPr>
              <a:t>DÍAS / SEMANAS</a:t>
            </a:r>
          </a:p>
        </p:txBody>
      </p:sp>
      <p:sp>
        <p:nvSpPr>
          <p:cNvPr id="43" name="Rectángulo 42">
            <a:extLst>
              <a:ext uri="{FF2B5EF4-FFF2-40B4-BE49-F238E27FC236}">
                <a16:creationId xmlns:a16="http://schemas.microsoft.com/office/drawing/2014/main" id="{E905A2A2-A5F8-41B4-A58D-F2DDB3D85715}"/>
              </a:ext>
            </a:extLst>
          </p:cNvPr>
          <p:cNvSpPr>
            <a:spLocks noGrp="1"/>
          </p:cNvSpPr>
          <p:nvPr/>
        </p:nvSpPr>
        <p:spPr>
          <a:xfrm>
            <a:off x="4953000" y="4909257"/>
            <a:ext cx="4476750" cy="171450"/>
          </a:xfrm>
          <a:prstGeom prst="rect">
            <a:avLst/>
          </a:prstGeom>
          <a:noFill/>
          <a:ln w="0">
            <a:noFill/>
          </a:ln>
        </p:spPr>
        <p:txBody>
          <a:bodyPr anchor="t">
            <a:noAutofit/>
          </a:bodyPr>
          <a:lstStyle/>
          <a:p>
            <a:pPr>
              <a:defRPr sz="825" b="1" i="0">
                <a:solidFill>
                  <a:srgbClr val="009566"/>
                </a:solidFill>
                <a:latin typeface="Aptos"/>
                <a:ea typeface="Aptos"/>
                <a:cs typeface="Aptos"/>
              </a:defRPr>
            </a:pPr>
            <a:r>
              <a:rPr sz="1000" b="1" i="0" dirty="0" err="1">
                <a:solidFill>
                  <a:srgbClr val="009566"/>
                </a:solidFill>
                <a:latin typeface="Aptos"/>
                <a:ea typeface="Aptos"/>
                <a:cs typeface="Aptos"/>
              </a:rPr>
              <a:t>evidencia</a:t>
            </a:r>
            <a:r>
              <a:rPr sz="1000" b="1" i="0" dirty="0">
                <a:solidFill>
                  <a:srgbClr val="009566"/>
                </a:solidFill>
                <a:latin typeface="Aptos"/>
                <a:ea typeface="Aptos"/>
                <a:cs typeface="Aptos"/>
              </a:rPr>
              <a:t> </a:t>
            </a:r>
            <a:r>
              <a:rPr sz="1000" b="1" i="0" dirty="0" err="1">
                <a:solidFill>
                  <a:srgbClr val="009566"/>
                </a:solidFill>
                <a:latin typeface="Aptos"/>
                <a:ea typeface="Aptos"/>
                <a:cs typeface="Aptos"/>
              </a:rPr>
              <a:t>actualiza</a:t>
            </a:r>
            <a:r>
              <a:rPr sz="1000" b="1" i="0" dirty="0">
                <a:solidFill>
                  <a:srgbClr val="009566"/>
                </a:solidFill>
                <a:latin typeface="Aptos"/>
                <a:ea typeface="Aptos"/>
                <a:cs typeface="Aptos"/>
              </a:rPr>
              <a:t> el Case y </a:t>
            </a:r>
            <a:r>
              <a:rPr sz="1000" b="1" i="0" dirty="0" err="1">
                <a:solidFill>
                  <a:srgbClr val="009566"/>
                </a:solidFill>
                <a:latin typeface="Aptos"/>
                <a:ea typeface="Aptos"/>
                <a:cs typeface="Aptos"/>
              </a:rPr>
              <a:t>programa</a:t>
            </a:r>
            <a:r>
              <a:rPr sz="1000" b="1" i="0" dirty="0">
                <a:solidFill>
                  <a:srgbClr val="009566"/>
                </a:solidFill>
                <a:latin typeface="Aptos"/>
                <a:ea typeface="Aptos"/>
                <a:cs typeface="Aptos"/>
              </a:rPr>
              <a:t> el </a:t>
            </a:r>
            <a:r>
              <a:rPr sz="1000" b="1" i="0" dirty="0" err="1">
                <a:solidFill>
                  <a:srgbClr val="009566"/>
                </a:solidFill>
                <a:latin typeface="Aptos"/>
                <a:ea typeface="Aptos"/>
                <a:cs typeface="Aptos"/>
              </a:rPr>
              <a:t>próximo</a:t>
            </a:r>
            <a:r>
              <a:rPr sz="1000" b="1" i="0" dirty="0">
                <a:solidFill>
                  <a:srgbClr val="009566"/>
                </a:solidFill>
                <a:latin typeface="Aptos"/>
                <a:ea typeface="Aptos"/>
                <a:cs typeface="Aptos"/>
              </a:rPr>
              <a:t> wake-up</a:t>
            </a:r>
          </a:p>
        </p:txBody>
      </p:sp>
      <p:sp>
        <p:nvSpPr>
          <p:cNvPr id="44" name="Rectángulo: esquinas redondeadas 43">
            <a:extLst>
              <a:ext uri="{FF2B5EF4-FFF2-40B4-BE49-F238E27FC236}">
                <a16:creationId xmlns:a16="http://schemas.microsoft.com/office/drawing/2014/main" id="{FB4601D4-71A7-4098-A129-C4F87DA4ACC9}"/>
              </a:ext>
            </a:extLst>
          </p:cNvPr>
          <p:cNvSpPr>
            <a:spLocks noGrp="1"/>
          </p:cNvSpPr>
          <p:nvPr/>
        </p:nvSpPr>
        <p:spPr>
          <a:xfrm>
            <a:off x="666750" y="5368682"/>
            <a:ext cx="4905375" cy="857250"/>
          </a:xfrm>
          <a:prstGeom prst="roundRect">
            <a:avLst>
              <a:gd name="adj" fmla="val 13333"/>
            </a:avLst>
          </a:prstGeom>
          <a:solidFill>
            <a:srgbClr val="FFFFFF"/>
          </a:solidFill>
          <a:ln w="9525">
            <a:solidFill>
              <a:srgbClr val="009566"/>
            </a:solidFill>
            <a:prstDash val="solid"/>
          </a:ln>
        </p:spPr>
        <p:txBody>
          <a:bodyPr/>
          <a:lstStyle/>
          <a:p>
            <a:endParaRPr lang="es-MX"/>
          </a:p>
        </p:txBody>
      </p:sp>
      <p:sp>
        <p:nvSpPr>
          <p:cNvPr id="45" name="Rectángulo 44">
            <a:extLst>
              <a:ext uri="{FF2B5EF4-FFF2-40B4-BE49-F238E27FC236}">
                <a16:creationId xmlns:a16="http://schemas.microsoft.com/office/drawing/2014/main" id="{1DAC6D62-81F2-4E70-BF7C-851310DD0947}"/>
              </a:ext>
            </a:extLst>
          </p:cNvPr>
          <p:cNvSpPr>
            <a:spLocks noGrp="1"/>
          </p:cNvSpPr>
          <p:nvPr/>
        </p:nvSpPr>
        <p:spPr>
          <a:xfrm>
            <a:off x="800100" y="5492507"/>
            <a:ext cx="4638675" cy="285750"/>
          </a:xfrm>
          <a:prstGeom prst="rect">
            <a:avLst/>
          </a:prstGeom>
          <a:noFill/>
          <a:ln w="0">
            <a:noFill/>
          </a:ln>
        </p:spPr>
        <p:txBody>
          <a:bodyPr anchor="t">
            <a:normAutofit/>
          </a:bodyPr>
          <a:lstStyle/>
          <a:p>
            <a:pPr>
              <a:defRPr sz="1050" b="1" i="0">
                <a:solidFill>
                  <a:srgbClr val="009566"/>
                </a:solidFill>
                <a:latin typeface="Aptos"/>
                <a:ea typeface="Aptos"/>
                <a:cs typeface="Aptos"/>
              </a:defRPr>
            </a:pPr>
            <a:r>
              <a:rPr sz="1050" b="1" i="0">
                <a:solidFill>
                  <a:srgbClr val="009566"/>
                </a:solidFill>
                <a:latin typeface="Aptos"/>
                <a:ea typeface="Aptos"/>
                <a:cs typeface="Aptos"/>
              </a:rPr>
              <a:t>CURRENT · BASE COMPARTIDA</a:t>
            </a:r>
          </a:p>
        </p:txBody>
      </p:sp>
      <p:sp>
        <p:nvSpPr>
          <p:cNvPr id="46" name="Rectángulo 45">
            <a:extLst>
              <a:ext uri="{FF2B5EF4-FFF2-40B4-BE49-F238E27FC236}">
                <a16:creationId xmlns:a16="http://schemas.microsoft.com/office/drawing/2014/main" id="{B9E4965C-D7D8-465D-B4DE-E561152FB6ED}"/>
              </a:ext>
            </a:extLst>
          </p:cNvPr>
          <p:cNvSpPr>
            <a:spLocks noGrp="1"/>
          </p:cNvSpPr>
          <p:nvPr/>
        </p:nvSpPr>
        <p:spPr>
          <a:xfrm>
            <a:off x="800100" y="5771967"/>
            <a:ext cx="4638675" cy="323850"/>
          </a:xfrm>
          <a:prstGeom prst="rect">
            <a:avLst/>
          </a:prstGeom>
          <a:noFill/>
          <a:ln w="0">
            <a:noFill/>
          </a:ln>
        </p:spPr>
        <p:txBody>
          <a:bodyPr anchor="t">
            <a:noAutofit/>
          </a:bodyPr>
          <a:lstStyle/>
          <a:p>
            <a:pPr>
              <a:defRPr sz="975" b="0" i="0">
                <a:solidFill>
                  <a:srgbClr val="756F91"/>
                </a:solidFill>
                <a:latin typeface="Aptos"/>
                <a:ea typeface="Aptos"/>
                <a:cs typeface="Aptos"/>
              </a:defRPr>
            </a:pPr>
            <a:r>
              <a:rPr sz="1000" b="0" i="0" dirty="0">
                <a:solidFill>
                  <a:srgbClr val="756F91"/>
                </a:solidFill>
                <a:latin typeface="Aptos"/>
                <a:ea typeface="Aptos"/>
                <a:cs typeface="Aptos"/>
              </a:rPr>
              <a:t>Operational Cases + </a:t>
            </a:r>
            <a:r>
              <a:rPr sz="1000" b="0" i="0" dirty="0" err="1">
                <a:solidFill>
                  <a:srgbClr val="756F91"/>
                </a:solidFill>
                <a:latin typeface="Aptos"/>
                <a:ea typeface="Aptos"/>
                <a:cs typeface="Aptos"/>
              </a:rPr>
              <a:t>eventos</a:t>
            </a:r>
            <a:r>
              <a:rPr sz="1000" b="0" i="0" dirty="0">
                <a:solidFill>
                  <a:srgbClr val="756F91"/>
                </a:solidFill>
                <a:latin typeface="Aptos"/>
                <a:ea typeface="Aptos"/>
                <a:cs typeface="Aptos"/>
              </a:rPr>
              <a:t> + </a:t>
            </a:r>
            <a:r>
              <a:rPr sz="1000" b="0" i="0" dirty="0" err="1">
                <a:solidFill>
                  <a:srgbClr val="756F91"/>
                </a:solidFill>
                <a:latin typeface="Aptos"/>
                <a:ea typeface="Aptos"/>
                <a:cs typeface="Aptos"/>
              </a:rPr>
              <a:t>case_runner</a:t>
            </a:r>
            <a:r>
              <a:rPr sz="1000" b="0" i="0" dirty="0">
                <a:solidFill>
                  <a:srgbClr val="756F91"/>
                </a:solidFill>
                <a:latin typeface="Aptos"/>
                <a:ea typeface="Aptos"/>
                <a:cs typeface="Aptos"/>
              </a:rPr>
              <a:t> + Work Plane y attempts. El runner </a:t>
            </a:r>
            <a:r>
              <a:rPr sz="1000" b="0" i="0" dirty="0" err="1">
                <a:solidFill>
                  <a:srgbClr val="756F91"/>
                </a:solidFill>
                <a:latin typeface="Aptos"/>
                <a:ea typeface="Aptos"/>
                <a:cs typeface="Aptos"/>
              </a:rPr>
              <a:t>puede</a:t>
            </a:r>
            <a:r>
              <a:rPr sz="1000" b="0" i="0" dirty="0">
                <a:solidFill>
                  <a:srgbClr val="756F91"/>
                </a:solidFill>
                <a:latin typeface="Aptos"/>
                <a:ea typeface="Aptos"/>
                <a:cs typeface="Aptos"/>
              </a:rPr>
              <a:t> </a:t>
            </a:r>
            <a:r>
              <a:rPr sz="1000" b="0" i="0" dirty="0" err="1">
                <a:solidFill>
                  <a:srgbClr val="756F91"/>
                </a:solidFill>
                <a:latin typeface="Aptos"/>
                <a:ea typeface="Aptos"/>
                <a:cs typeface="Aptos"/>
              </a:rPr>
              <a:t>llamar</a:t>
            </a:r>
            <a:r>
              <a:rPr sz="1000" b="0" i="0" dirty="0">
                <a:solidFill>
                  <a:srgbClr val="756F91"/>
                </a:solidFill>
                <a:latin typeface="Aptos"/>
                <a:ea typeface="Aptos"/>
                <a:cs typeface="Aptos"/>
              </a:rPr>
              <a:t> </a:t>
            </a:r>
            <a:r>
              <a:rPr sz="1000" b="0" i="0" dirty="0" err="1">
                <a:solidFill>
                  <a:srgbClr val="756F91"/>
                </a:solidFill>
                <a:latin typeface="Aptos"/>
                <a:ea typeface="Aptos"/>
                <a:cs typeface="Aptos"/>
              </a:rPr>
              <a:t>runAgent</a:t>
            </a:r>
            <a:r>
              <a:rPr sz="1000" b="0" i="0" dirty="0">
                <a:solidFill>
                  <a:srgbClr val="756F91"/>
                </a:solidFill>
                <a:latin typeface="Aptos"/>
                <a:ea typeface="Aptos"/>
                <a:cs typeface="Aptos"/>
              </a:rPr>
              <a:t> con </a:t>
            </a:r>
            <a:r>
              <a:rPr sz="1000" b="0" i="0" dirty="0" err="1">
                <a:solidFill>
                  <a:srgbClr val="756F91"/>
                </a:solidFill>
                <a:latin typeface="Aptos"/>
                <a:ea typeface="Aptos"/>
                <a:cs typeface="Aptos"/>
              </a:rPr>
              <a:t>caseId</a:t>
            </a:r>
            <a:r>
              <a:rPr sz="1000" b="0" i="0" dirty="0">
                <a:solidFill>
                  <a:srgbClr val="756F91"/>
                </a:solidFill>
                <a:latin typeface="Aptos"/>
                <a:ea typeface="Aptos"/>
                <a:cs typeface="Aptos"/>
              </a:rPr>
              <a:t> y Skill </a:t>
            </a:r>
            <a:r>
              <a:rPr sz="1000" b="0" i="0" dirty="0" err="1">
                <a:solidFill>
                  <a:srgbClr val="756F91"/>
                </a:solidFill>
                <a:latin typeface="Aptos"/>
                <a:ea typeface="Aptos"/>
                <a:cs typeface="Aptos"/>
              </a:rPr>
              <a:t>ligada</a:t>
            </a:r>
            <a:r>
              <a:rPr sz="1000" b="0" i="0" dirty="0">
                <a:solidFill>
                  <a:srgbClr val="756F91"/>
                </a:solidFill>
                <a:latin typeface="Aptos"/>
                <a:ea typeface="Aptos"/>
                <a:cs typeface="Aptos"/>
              </a:rPr>
              <a:t>.</a:t>
            </a:r>
          </a:p>
        </p:txBody>
      </p:sp>
      <p:sp>
        <p:nvSpPr>
          <p:cNvPr id="47" name="Rectángulo: esquinas redondeadas 46">
            <a:extLst>
              <a:ext uri="{FF2B5EF4-FFF2-40B4-BE49-F238E27FC236}">
                <a16:creationId xmlns:a16="http://schemas.microsoft.com/office/drawing/2014/main" id="{A8E28617-6301-489B-8931-C95556CFAD13}"/>
              </a:ext>
            </a:extLst>
          </p:cNvPr>
          <p:cNvSpPr>
            <a:spLocks noGrp="1"/>
          </p:cNvSpPr>
          <p:nvPr/>
        </p:nvSpPr>
        <p:spPr>
          <a:xfrm>
            <a:off x="6191250" y="5368682"/>
            <a:ext cx="5334000" cy="857250"/>
          </a:xfrm>
          <a:prstGeom prst="roundRect">
            <a:avLst>
              <a:gd name="adj" fmla="val 13333"/>
            </a:avLst>
          </a:prstGeom>
          <a:solidFill>
            <a:srgbClr val="FFFFFF"/>
          </a:solidFill>
          <a:ln w="9525">
            <a:solidFill>
              <a:srgbClr val="F39A24"/>
            </a:solidFill>
            <a:prstDash val="solid"/>
          </a:ln>
        </p:spPr>
        <p:txBody>
          <a:bodyPr/>
          <a:lstStyle/>
          <a:p>
            <a:endParaRPr lang="es-MX"/>
          </a:p>
        </p:txBody>
      </p:sp>
      <p:sp>
        <p:nvSpPr>
          <p:cNvPr id="48" name="Rectángulo 47">
            <a:extLst>
              <a:ext uri="{FF2B5EF4-FFF2-40B4-BE49-F238E27FC236}">
                <a16:creationId xmlns:a16="http://schemas.microsoft.com/office/drawing/2014/main" id="{68DCA996-7949-42D2-BA01-27216FCBC0DA}"/>
              </a:ext>
            </a:extLst>
          </p:cNvPr>
          <p:cNvSpPr>
            <a:spLocks noGrp="1"/>
          </p:cNvSpPr>
          <p:nvPr/>
        </p:nvSpPr>
        <p:spPr>
          <a:xfrm>
            <a:off x="6324600" y="5492507"/>
            <a:ext cx="5067300" cy="285750"/>
          </a:xfrm>
          <a:prstGeom prst="rect">
            <a:avLst/>
          </a:prstGeom>
          <a:noFill/>
          <a:ln w="0">
            <a:noFill/>
          </a:ln>
        </p:spPr>
        <p:txBody>
          <a:bodyPr anchor="t">
            <a:normAutofit/>
          </a:bodyPr>
          <a:lstStyle/>
          <a:p>
            <a:pPr>
              <a:defRPr sz="1050" b="1" i="0">
                <a:solidFill>
                  <a:srgbClr val="F39A24"/>
                </a:solidFill>
                <a:latin typeface="Aptos"/>
                <a:ea typeface="Aptos"/>
                <a:cs typeface="Aptos"/>
              </a:defRPr>
            </a:pPr>
            <a:r>
              <a:rPr sz="1050" b="1" i="0">
                <a:solidFill>
                  <a:srgbClr val="F39A24"/>
                </a:solidFill>
                <a:latin typeface="Aptos"/>
                <a:ea typeface="Aptos"/>
                <a:cs typeface="Aptos"/>
              </a:rPr>
              <a:t>R1 · EN CONSTRUCCIÓN</a:t>
            </a:r>
          </a:p>
        </p:txBody>
      </p:sp>
      <p:sp>
        <p:nvSpPr>
          <p:cNvPr id="49" name="Rectángulo 48">
            <a:extLst>
              <a:ext uri="{FF2B5EF4-FFF2-40B4-BE49-F238E27FC236}">
                <a16:creationId xmlns:a16="http://schemas.microsoft.com/office/drawing/2014/main" id="{A9183E98-0BFB-4E61-8912-C12BE69B94E8}"/>
              </a:ext>
            </a:extLst>
          </p:cNvPr>
          <p:cNvSpPr>
            <a:spLocks noGrp="1"/>
          </p:cNvSpPr>
          <p:nvPr/>
        </p:nvSpPr>
        <p:spPr>
          <a:xfrm>
            <a:off x="6324600" y="5771967"/>
            <a:ext cx="5067300" cy="323850"/>
          </a:xfrm>
          <a:prstGeom prst="rect">
            <a:avLst/>
          </a:prstGeom>
          <a:noFill/>
          <a:ln w="0">
            <a:noFill/>
          </a:ln>
        </p:spPr>
        <p:txBody>
          <a:bodyPr anchor="t">
            <a:noAutofit/>
          </a:bodyPr>
          <a:lstStyle/>
          <a:p>
            <a:pPr>
              <a:defRPr sz="975" b="0" i="0">
                <a:solidFill>
                  <a:srgbClr val="756F91"/>
                </a:solidFill>
                <a:latin typeface="Aptos"/>
                <a:ea typeface="Aptos"/>
                <a:cs typeface="Aptos"/>
              </a:defRPr>
            </a:pPr>
            <a:r>
              <a:rPr sz="1000" b="0" i="0" dirty="0">
                <a:solidFill>
                  <a:srgbClr val="756F91"/>
                </a:solidFill>
                <a:latin typeface="Aptos"/>
                <a:ea typeface="Aptos"/>
                <a:cs typeface="Aptos"/>
              </a:rPr>
              <a:t>Case Supervisor </a:t>
            </a:r>
            <a:r>
              <a:rPr sz="1000" b="0" i="0" dirty="0" err="1">
                <a:solidFill>
                  <a:srgbClr val="756F91"/>
                </a:solidFill>
                <a:latin typeface="Aptos"/>
                <a:ea typeface="Aptos"/>
                <a:cs typeface="Aptos"/>
              </a:rPr>
              <a:t>completo</a:t>
            </a:r>
            <a:r>
              <a:rPr sz="1000" b="0" i="0" dirty="0">
                <a:solidFill>
                  <a:srgbClr val="756F91"/>
                </a:solidFill>
                <a:latin typeface="Aptos"/>
                <a:ea typeface="Aptos"/>
                <a:cs typeface="Aptos"/>
              </a:rPr>
              <a:t>, wake-ups </a:t>
            </a:r>
            <a:r>
              <a:rPr sz="1000" b="0" i="0" dirty="0" err="1">
                <a:solidFill>
                  <a:srgbClr val="756F91"/>
                </a:solidFill>
                <a:latin typeface="Aptos"/>
                <a:ea typeface="Aptos"/>
                <a:cs typeface="Aptos"/>
              </a:rPr>
              <a:t>productivos</a:t>
            </a:r>
            <a:r>
              <a:rPr sz="1000" b="0" i="0" dirty="0">
                <a:solidFill>
                  <a:srgbClr val="756F91"/>
                </a:solidFill>
                <a:latin typeface="Aptos"/>
                <a:ea typeface="Aptos"/>
                <a:cs typeface="Aptos"/>
              </a:rPr>
              <a:t>, </a:t>
            </a:r>
            <a:r>
              <a:rPr sz="1000" b="0" i="0" dirty="0" err="1">
                <a:solidFill>
                  <a:srgbClr val="756F91"/>
                </a:solidFill>
                <a:latin typeface="Aptos"/>
                <a:ea typeface="Aptos"/>
                <a:cs typeface="Aptos"/>
              </a:rPr>
              <a:t>autoridad</a:t>
            </a:r>
            <a:r>
              <a:rPr sz="1000" b="0" i="0" dirty="0">
                <a:solidFill>
                  <a:srgbClr val="756F91"/>
                </a:solidFill>
                <a:latin typeface="Aptos"/>
                <a:ea typeface="Aptos"/>
                <a:cs typeface="Aptos"/>
              </a:rPr>
              <a:t> </a:t>
            </a:r>
            <a:r>
              <a:rPr sz="1000" b="0" i="0" dirty="0" err="1">
                <a:solidFill>
                  <a:srgbClr val="756F91"/>
                </a:solidFill>
                <a:latin typeface="Aptos"/>
                <a:ea typeface="Aptos"/>
                <a:cs typeface="Aptos"/>
              </a:rPr>
              <a:t>conversacional</a:t>
            </a:r>
            <a:r>
              <a:rPr sz="1000" b="0" i="0" dirty="0">
                <a:solidFill>
                  <a:srgbClr val="756F91"/>
                </a:solidFill>
                <a:latin typeface="Aptos"/>
                <a:ea typeface="Aptos"/>
                <a:cs typeface="Aptos"/>
              </a:rPr>
              <a:t> gradual y outcome learning </a:t>
            </a:r>
            <a:r>
              <a:rPr sz="1000" b="0" i="0" dirty="0" err="1">
                <a:solidFill>
                  <a:srgbClr val="756F91"/>
                </a:solidFill>
                <a:latin typeface="Aptos"/>
                <a:ea typeface="Aptos"/>
                <a:cs typeface="Aptos"/>
              </a:rPr>
              <a:t>avanzan</a:t>
            </a:r>
            <a:r>
              <a:rPr sz="1000" b="0" i="0" dirty="0">
                <a:solidFill>
                  <a:srgbClr val="756F91"/>
                </a:solidFill>
                <a:latin typeface="Aptos"/>
                <a:ea typeface="Aptos"/>
                <a:cs typeface="Aptos"/>
              </a:rPr>
              <a:t> </a:t>
            </a:r>
            <a:r>
              <a:rPr sz="1000" b="0" i="0" dirty="0" err="1">
                <a:solidFill>
                  <a:srgbClr val="756F91"/>
                </a:solidFill>
                <a:latin typeface="Aptos"/>
                <a:ea typeface="Aptos"/>
                <a:cs typeface="Aptos"/>
              </a:rPr>
              <a:t>por</a:t>
            </a:r>
            <a:r>
              <a:rPr sz="1000" b="0" i="0" dirty="0">
                <a:solidFill>
                  <a:srgbClr val="756F91"/>
                </a:solidFill>
                <a:latin typeface="Aptos"/>
                <a:ea typeface="Aptos"/>
                <a:cs typeface="Aptos"/>
              </a:rPr>
              <a:t> Slices.</a:t>
            </a:r>
          </a:p>
        </p:txBody>
      </p:sp>
      <p:sp>
        <p:nvSpPr>
          <p:cNvPr id="50" name="Rectángulo 49">
            <a:extLst>
              <a:ext uri="{FF2B5EF4-FFF2-40B4-BE49-F238E27FC236}">
                <a16:creationId xmlns:a16="http://schemas.microsoft.com/office/drawing/2014/main" id="{F4FF68EE-0672-4356-B6A0-5036D48976FC}"/>
              </a:ext>
            </a:extLst>
          </p:cNvPr>
          <p:cNvSpPr>
            <a:spLocks noGrp="1"/>
          </p:cNvSpPr>
          <p:nvPr/>
        </p:nvSpPr>
        <p:spPr>
          <a:xfrm>
            <a:off x="2000250" y="6276795"/>
            <a:ext cx="8191500" cy="285750"/>
          </a:xfrm>
          <a:prstGeom prst="rect">
            <a:avLst/>
          </a:prstGeom>
          <a:noFill/>
          <a:ln w="0">
            <a:noFill/>
          </a:ln>
        </p:spPr>
        <p:txBody>
          <a:bodyPr anchor="t">
            <a:normAutofit/>
          </a:bodyPr>
          <a:lstStyle/>
          <a:p>
            <a:pPr>
              <a:defRPr sz="1050" b="1" i="0">
                <a:solidFill>
                  <a:srgbClr val="211D31"/>
                </a:solidFill>
                <a:latin typeface="Aptos"/>
                <a:ea typeface="Aptos"/>
                <a:cs typeface="Aptos"/>
              </a:defRPr>
            </a:pPr>
            <a:r>
              <a:rPr sz="1200" b="1" i="0" dirty="0">
                <a:solidFill>
                  <a:srgbClr val="211D31"/>
                </a:solidFill>
                <a:latin typeface="Aptos"/>
                <a:ea typeface="Aptos"/>
                <a:cs typeface="Aptos"/>
              </a:rPr>
              <a:t>Un </a:t>
            </a:r>
            <a:r>
              <a:rPr sz="1200" b="1" i="0" dirty="0" err="1">
                <a:solidFill>
                  <a:srgbClr val="211D31"/>
                </a:solidFill>
                <a:latin typeface="Aptos"/>
                <a:ea typeface="Aptos"/>
                <a:cs typeface="Aptos"/>
              </a:rPr>
              <a:t>evento</a:t>
            </a:r>
            <a:r>
              <a:rPr sz="1200" b="1" i="0" dirty="0">
                <a:solidFill>
                  <a:srgbClr val="211D31"/>
                </a:solidFill>
                <a:latin typeface="Aptos"/>
                <a:ea typeface="Aptos"/>
                <a:cs typeface="Aptos"/>
              </a:rPr>
              <a:t> </a:t>
            </a:r>
            <a:r>
              <a:rPr sz="1200" b="1" i="0" dirty="0" err="1">
                <a:solidFill>
                  <a:srgbClr val="211D31"/>
                </a:solidFill>
                <a:latin typeface="Aptos"/>
                <a:ea typeface="Aptos"/>
                <a:cs typeface="Aptos"/>
              </a:rPr>
              <a:t>despierta</a:t>
            </a:r>
            <a:r>
              <a:rPr sz="1200" b="1" i="0" dirty="0">
                <a:solidFill>
                  <a:srgbClr val="211D31"/>
                </a:solidFill>
                <a:latin typeface="Aptos"/>
                <a:ea typeface="Aptos"/>
                <a:cs typeface="Aptos"/>
              </a:rPr>
              <a:t> </a:t>
            </a:r>
            <a:r>
              <a:rPr sz="1200" b="1" i="0" dirty="0" err="1">
                <a:solidFill>
                  <a:srgbClr val="211D31"/>
                </a:solidFill>
                <a:latin typeface="Aptos"/>
                <a:ea typeface="Aptos"/>
                <a:cs typeface="Aptos"/>
              </a:rPr>
              <a:t>responsabilidad</a:t>
            </a:r>
            <a:r>
              <a:rPr sz="1200" b="1" i="0" dirty="0">
                <a:solidFill>
                  <a:srgbClr val="211D31"/>
                </a:solidFill>
                <a:latin typeface="Aptos"/>
                <a:ea typeface="Aptos"/>
                <a:cs typeface="Aptos"/>
              </a:rPr>
              <a:t>. No </a:t>
            </a:r>
            <a:r>
              <a:rPr sz="1200" b="1" i="0" dirty="0" err="1">
                <a:solidFill>
                  <a:srgbClr val="211D31"/>
                </a:solidFill>
                <a:latin typeface="Aptos"/>
                <a:ea typeface="Aptos"/>
                <a:cs typeface="Aptos"/>
              </a:rPr>
              <a:t>ordena</a:t>
            </a:r>
            <a:r>
              <a:rPr sz="1200" b="1" i="0" dirty="0">
                <a:solidFill>
                  <a:srgbClr val="211D31"/>
                </a:solidFill>
                <a:latin typeface="Aptos"/>
                <a:ea typeface="Aptos"/>
                <a:cs typeface="Aptos"/>
              </a:rPr>
              <a:t> </a:t>
            </a:r>
            <a:r>
              <a:rPr sz="1200" b="1" i="0" dirty="0" err="1">
                <a:solidFill>
                  <a:srgbClr val="211D31"/>
                </a:solidFill>
                <a:latin typeface="Aptos"/>
                <a:ea typeface="Aptos"/>
                <a:cs typeface="Aptos"/>
              </a:rPr>
              <a:t>automáticamente</a:t>
            </a:r>
            <a:r>
              <a:rPr sz="1200" b="1" i="0" dirty="0">
                <a:solidFill>
                  <a:srgbClr val="211D31"/>
                </a:solidFill>
                <a:latin typeface="Aptos"/>
                <a:ea typeface="Aptos"/>
                <a:cs typeface="Aptos"/>
              </a:rPr>
              <a:t> </a:t>
            </a:r>
            <a:r>
              <a:rPr sz="1200" b="1" i="0" dirty="0" err="1">
                <a:solidFill>
                  <a:srgbClr val="211D31"/>
                </a:solidFill>
                <a:latin typeface="Aptos"/>
                <a:ea typeface="Aptos"/>
                <a:cs typeface="Aptos"/>
              </a:rPr>
              <a:t>una</a:t>
            </a:r>
            <a:r>
              <a:rPr sz="1200" b="1" i="0" dirty="0">
                <a:solidFill>
                  <a:srgbClr val="211D31"/>
                </a:solidFill>
                <a:latin typeface="Aptos"/>
                <a:ea typeface="Aptos"/>
                <a:cs typeface="Aptos"/>
              </a:rPr>
              <a:t> </a:t>
            </a:r>
            <a:r>
              <a:rPr sz="1200" b="1" i="0" dirty="0" err="1">
                <a:solidFill>
                  <a:srgbClr val="211D31"/>
                </a:solidFill>
                <a:latin typeface="Aptos"/>
                <a:ea typeface="Aptos"/>
                <a:cs typeface="Aptos"/>
              </a:rPr>
              <a:t>acción</a:t>
            </a:r>
            <a:r>
              <a:rPr sz="1200" b="1" i="0" dirty="0">
                <a:solidFill>
                  <a:srgbClr val="211D31"/>
                </a:solidFill>
                <a:latin typeface="Aptos"/>
                <a:ea typeface="Aptos"/>
                <a:cs typeface="Aptos"/>
              </a:rPr>
              <a:t>.</a:t>
            </a:r>
          </a:p>
        </p:txBody>
      </p:sp>
    </p:spTree>
    <p:extLst>
      <p:ext uri="{BB962C8B-B14F-4D97-AF65-F5344CB8AC3E}">
        <p14:creationId xmlns:p14="http://schemas.microsoft.com/office/powerpoint/2010/main" val="783271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635" name="Shape 0">
            <a:extLst>
              <a:ext uri="{FF2B5EF4-FFF2-40B4-BE49-F238E27FC236}">
                <a16:creationId xmlns:a16="http://schemas.microsoft.com/office/drawing/2014/main" id="{4B4172A0-99B8-4508-9E7D-AFCBD1AC0962}"/>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636" name="Text 1">
            <a:extLst>
              <a:ext uri="{FF2B5EF4-FFF2-40B4-BE49-F238E27FC236}">
                <a16:creationId xmlns:a16="http://schemas.microsoft.com/office/drawing/2014/main" id="{4B280F5E-4D21-42CD-8612-7B82CCB3F3DF}"/>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OBSERVABILITY DEBE RECONSTRUIR QUÉ PASÓ Y POR QUÉ</a:t>
            </a:r>
            <a:endParaRPr sz="1200" b="0" u="none">
              <a:solidFill>
                <a:srgbClr val="000000"/>
              </a:solidFill>
              <a:latin typeface="Arial"/>
              <a:ea typeface="Arial"/>
              <a:cs typeface="Arial"/>
            </a:endParaRPr>
          </a:p>
        </p:txBody>
      </p:sp>
      <p:sp>
        <p:nvSpPr>
          <p:cNvPr id="637" name="Text 2">
            <a:extLst>
              <a:ext uri="{FF2B5EF4-FFF2-40B4-BE49-F238E27FC236}">
                <a16:creationId xmlns:a16="http://schemas.microsoft.com/office/drawing/2014/main" id="{A317ACC4-F6DE-40CA-B510-C02C45113F27}"/>
              </a:ext>
            </a:extLst>
          </p:cNvPr>
          <p:cNvSpPr>
            <a:spLocks noGrp="1"/>
          </p:cNvSpPr>
          <p:nvPr/>
        </p:nvSpPr>
        <p:spPr>
          <a:xfrm>
            <a:off x="566999" y="804600"/>
            <a:ext cx="10375983"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a:solidFill>
                  <a:srgbClr val="151327"/>
                </a:solidFill>
                <a:latin typeface="Aptos Display"/>
                <a:ea typeface="Aptos Display"/>
                <a:cs typeface="Aptos Display"/>
              </a:rPr>
              <a:t>Logs y usage depuran runtime; hosted evidence y outcomes prueban claims distintos.</a:t>
            </a:r>
            <a:endParaRPr sz="2600" b="0" u="none">
              <a:solidFill>
                <a:srgbClr val="000000"/>
              </a:solidFill>
              <a:latin typeface="Arial"/>
              <a:ea typeface="Arial"/>
              <a:cs typeface="Arial"/>
            </a:endParaRPr>
          </a:p>
        </p:txBody>
      </p:sp>
      <p:sp>
        <p:nvSpPr>
          <p:cNvPr id="638" name="Text 3">
            <a:extLst>
              <a:ext uri="{FF2B5EF4-FFF2-40B4-BE49-F238E27FC236}">
                <a16:creationId xmlns:a16="http://schemas.microsoft.com/office/drawing/2014/main" id="{4042EA47-16DE-4A48-954E-C520CD2F38A3}"/>
              </a:ext>
            </a:extLst>
          </p:cNvPr>
          <p:cNvSpPr>
            <a:spLocks noGrp="1"/>
          </p:cNvSpPr>
          <p:nvPr/>
        </p:nvSpPr>
        <p:spPr>
          <a:xfrm>
            <a:off x="567000" y="1591200"/>
            <a:ext cx="10698120" cy="56451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b="0" u="none">
                <a:solidFill>
                  <a:srgbClr val="6F6888"/>
                </a:solidFill>
                <a:latin typeface="Aptos"/>
                <a:ea typeface="Aptos"/>
                <a:cs typeface="Aptos"/>
              </a:rPr>
              <a:t>No registrar suficiente impide recovery; registrar contenido sensible crea otro riesgo.</a:t>
            </a:r>
            <a:endParaRPr b="0" u="none">
              <a:solidFill>
                <a:srgbClr val="000000"/>
              </a:solidFill>
              <a:latin typeface="Arial"/>
              <a:ea typeface="Arial"/>
              <a:cs typeface="Arial"/>
            </a:endParaRPr>
          </a:p>
        </p:txBody>
      </p:sp>
      <p:sp>
        <p:nvSpPr>
          <p:cNvPr id="640" name="Text 5">
            <a:extLst>
              <a:ext uri="{FF2B5EF4-FFF2-40B4-BE49-F238E27FC236}">
                <a16:creationId xmlns:a16="http://schemas.microsoft.com/office/drawing/2014/main" id="{71EEBA0C-6625-4B78-9AA1-1C627BEE1115}"/>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641" name="Text 6">
            <a:extLst>
              <a:ext uri="{FF2B5EF4-FFF2-40B4-BE49-F238E27FC236}">
                <a16:creationId xmlns:a16="http://schemas.microsoft.com/office/drawing/2014/main" id="{CE3EE3EE-0098-404D-8978-5893FCC08782}"/>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642" name="Text 7">
            <a:extLst>
              <a:ext uri="{FF2B5EF4-FFF2-40B4-BE49-F238E27FC236}">
                <a16:creationId xmlns:a16="http://schemas.microsoft.com/office/drawing/2014/main" id="{ADA63A47-13B1-42C4-8EE0-76B5F1619E3E}"/>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15</a:t>
            </a:r>
            <a:endParaRPr sz="800" b="0" u="none">
              <a:solidFill>
                <a:srgbClr val="000000"/>
              </a:solidFill>
              <a:latin typeface="Arial"/>
              <a:ea typeface="Arial"/>
              <a:cs typeface="Arial"/>
            </a:endParaRPr>
          </a:p>
        </p:txBody>
      </p:sp>
      <p:sp>
        <p:nvSpPr>
          <p:cNvPr id="643" name="Shape 8">
            <a:extLst>
              <a:ext uri="{FF2B5EF4-FFF2-40B4-BE49-F238E27FC236}">
                <a16:creationId xmlns:a16="http://schemas.microsoft.com/office/drawing/2014/main" id="{12D6034E-F669-430F-B740-CE69B0B5AF8F}"/>
              </a:ext>
            </a:extLst>
          </p:cNvPr>
          <p:cNvSpPr>
            <a:spLocks noGrp="1"/>
          </p:cNvSpPr>
          <p:nvPr/>
        </p:nvSpPr>
        <p:spPr>
          <a:xfrm>
            <a:off x="868680" y="2483481"/>
            <a:ext cx="502560" cy="502560"/>
          </a:xfrm>
          <a:prstGeom prst="ellipse">
            <a:avLst/>
          </a:prstGeom>
          <a:solidFill>
            <a:srgbClr val="5F2CCB"/>
          </a:solidFill>
          <a:ln w="12700">
            <a:solidFill>
              <a:srgbClr val="5F2CC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4" name="Text 9">
            <a:extLst>
              <a:ext uri="{FF2B5EF4-FFF2-40B4-BE49-F238E27FC236}">
                <a16:creationId xmlns:a16="http://schemas.microsoft.com/office/drawing/2014/main" id="{23DE94D4-7EF1-47E1-BD23-51001D3CB0D1}"/>
              </a:ext>
            </a:extLst>
          </p:cNvPr>
          <p:cNvSpPr>
            <a:spLocks noGrp="1"/>
          </p:cNvSpPr>
          <p:nvPr/>
        </p:nvSpPr>
        <p:spPr>
          <a:xfrm>
            <a:off x="868680" y="260228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1</a:t>
            </a:r>
            <a:endParaRPr sz="1600" b="0" u="none">
              <a:solidFill>
                <a:srgbClr val="000000"/>
              </a:solidFill>
              <a:latin typeface="Arial"/>
              <a:ea typeface="Arial"/>
              <a:cs typeface="Arial"/>
            </a:endParaRPr>
          </a:p>
        </p:txBody>
      </p:sp>
      <p:sp>
        <p:nvSpPr>
          <p:cNvPr id="645" name="Shape 10">
            <a:extLst>
              <a:ext uri="{FF2B5EF4-FFF2-40B4-BE49-F238E27FC236}">
                <a16:creationId xmlns:a16="http://schemas.microsoft.com/office/drawing/2014/main" id="{B6E1A1F0-643D-4CB3-91D2-55BCB19BAE3A}"/>
              </a:ext>
            </a:extLst>
          </p:cNvPr>
          <p:cNvSpPr>
            <a:spLocks noGrp="1"/>
          </p:cNvSpPr>
          <p:nvPr/>
        </p:nvSpPr>
        <p:spPr>
          <a:xfrm>
            <a:off x="1600200" y="2392041"/>
            <a:ext cx="9738000" cy="8740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46" name="Text 11">
            <a:extLst>
              <a:ext uri="{FF2B5EF4-FFF2-40B4-BE49-F238E27FC236}">
                <a16:creationId xmlns:a16="http://schemas.microsoft.com/office/drawing/2014/main" id="{FB714849-831E-4414-A7C0-FA5B33752BAB}"/>
              </a:ext>
            </a:extLst>
          </p:cNvPr>
          <p:cNvSpPr>
            <a:spLocks noGrp="1"/>
          </p:cNvSpPr>
          <p:nvPr/>
        </p:nvSpPr>
        <p:spPr>
          <a:xfrm>
            <a:off x="1801440" y="252920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1 · Runtime</a:t>
            </a:r>
            <a:endParaRPr sz="1600" b="0" u="none">
              <a:solidFill>
                <a:srgbClr val="000000"/>
              </a:solidFill>
              <a:latin typeface="Arial"/>
              <a:ea typeface="Arial"/>
              <a:cs typeface="Arial"/>
            </a:endParaRPr>
          </a:p>
        </p:txBody>
      </p:sp>
      <p:sp>
        <p:nvSpPr>
          <p:cNvPr id="647" name="Text 12">
            <a:extLst>
              <a:ext uri="{FF2B5EF4-FFF2-40B4-BE49-F238E27FC236}">
                <a16:creationId xmlns:a16="http://schemas.microsoft.com/office/drawing/2014/main" id="{BAC24C04-E92C-4CF9-9793-4F4548B9E311}"/>
              </a:ext>
            </a:extLst>
          </p:cNvPr>
          <p:cNvSpPr>
            <a:spLocks noGrp="1"/>
          </p:cNvSpPr>
          <p:nvPr/>
        </p:nvSpPr>
        <p:spPr>
          <a:xfrm>
            <a:off x="1856160" y="2812665"/>
            <a:ext cx="9226080" cy="280284"/>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dirty="0">
                <a:solidFill>
                  <a:srgbClr val="6F6888"/>
                </a:solidFill>
                <a:latin typeface="Aptos"/>
                <a:ea typeface="Aptos"/>
                <a:cs typeface="Aptos"/>
              </a:rPr>
              <a:t>Model role/id, latency/tokens, graph path, tool result, interrupt y refusal.</a:t>
            </a:r>
            <a:endParaRPr sz="1600" b="0" u="none" dirty="0">
              <a:solidFill>
                <a:srgbClr val="000000"/>
              </a:solidFill>
              <a:latin typeface="Arial"/>
              <a:ea typeface="Arial"/>
              <a:cs typeface="Arial"/>
            </a:endParaRPr>
          </a:p>
        </p:txBody>
      </p:sp>
      <p:sp>
        <p:nvSpPr>
          <p:cNvPr id="648" name="Shape 13">
            <a:extLst>
              <a:ext uri="{FF2B5EF4-FFF2-40B4-BE49-F238E27FC236}">
                <a16:creationId xmlns:a16="http://schemas.microsoft.com/office/drawing/2014/main" id="{8A45D319-DDF4-4CA6-B83C-A8E760C13EF3}"/>
              </a:ext>
            </a:extLst>
          </p:cNvPr>
          <p:cNvSpPr>
            <a:spLocks noGrp="1"/>
          </p:cNvSpPr>
          <p:nvPr/>
        </p:nvSpPr>
        <p:spPr>
          <a:xfrm>
            <a:off x="868680" y="3554451"/>
            <a:ext cx="502560" cy="502560"/>
          </a:xfrm>
          <a:prstGeom prst="ellipse">
            <a:avLst/>
          </a:prstGeom>
          <a:solidFill>
            <a:srgbClr val="078C53"/>
          </a:solidFill>
          <a:ln w="12700">
            <a:solidFill>
              <a:srgbClr val="078C53"/>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FFFFFF"/>
              </a:solidFill>
              <a:latin typeface="Arial"/>
              <a:ea typeface="Arial"/>
              <a:cs typeface="Arial"/>
            </a:endParaRPr>
          </a:p>
        </p:txBody>
      </p:sp>
      <p:sp>
        <p:nvSpPr>
          <p:cNvPr id="649" name="Text 14">
            <a:extLst>
              <a:ext uri="{FF2B5EF4-FFF2-40B4-BE49-F238E27FC236}">
                <a16:creationId xmlns:a16="http://schemas.microsoft.com/office/drawing/2014/main" id="{D7576710-1C3E-4618-B46A-CF4EB01DA9BC}"/>
              </a:ext>
            </a:extLst>
          </p:cNvPr>
          <p:cNvSpPr>
            <a:spLocks noGrp="1"/>
          </p:cNvSpPr>
          <p:nvPr/>
        </p:nvSpPr>
        <p:spPr>
          <a:xfrm>
            <a:off x="868680" y="367361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2</a:t>
            </a:r>
            <a:endParaRPr sz="1600" b="0" u="none">
              <a:solidFill>
                <a:srgbClr val="000000"/>
              </a:solidFill>
              <a:latin typeface="Arial"/>
              <a:ea typeface="Arial"/>
              <a:cs typeface="Arial"/>
            </a:endParaRPr>
          </a:p>
        </p:txBody>
      </p:sp>
      <p:sp>
        <p:nvSpPr>
          <p:cNvPr id="650" name="Shape 15">
            <a:extLst>
              <a:ext uri="{FF2B5EF4-FFF2-40B4-BE49-F238E27FC236}">
                <a16:creationId xmlns:a16="http://schemas.microsoft.com/office/drawing/2014/main" id="{3316F20E-57CA-453A-AA64-97C6A8DBA74C}"/>
              </a:ext>
            </a:extLst>
          </p:cNvPr>
          <p:cNvSpPr>
            <a:spLocks noGrp="1"/>
          </p:cNvSpPr>
          <p:nvPr/>
        </p:nvSpPr>
        <p:spPr>
          <a:xfrm>
            <a:off x="1600200" y="3463011"/>
            <a:ext cx="9738000" cy="983868"/>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1" name="Text 16">
            <a:extLst>
              <a:ext uri="{FF2B5EF4-FFF2-40B4-BE49-F238E27FC236}">
                <a16:creationId xmlns:a16="http://schemas.microsoft.com/office/drawing/2014/main" id="{B5CEC699-69E3-4A7B-806A-89B814E56356}"/>
              </a:ext>
            </a:extLst>
          </p:cNvPr>
          <p:cNvSpPr>
            <a:spLocks noGrp="1"/>
          </p:cNvSpPr>
          <p:nvPr/>
        </p:nvSpPr>
        <p:spPr>
          <a:xfrm>
            <a:off x="1801440" y="360017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2 · Verification</a:t>
            </a:r>
            <a:endParaRPr sz="1600" b="0" u="none">
              <a:solidFill>
                <a:srgbClr val="000000"/>
              </a:solidFill>
              <a:latin typeface="Arial"/>
              <a:ea typeface="Arial"/>
              <a:cs typeface="Arial"/>
            </a:endParaRPr>
          </a:p>
        </p:txBody>
      </p:sp>
      <p:sp>
        <p:nvSpPr>
          <p:cNvPr id="652" name="Text 17">
            <a:extLst>
              <a:ext uri="{FF2B5EF4-FFF2-40B4-BE49-F238E27FC236}">
                <a16:creationId xmlns:a16="http://schemas.microsoft.com/office/drawing/2014/main" id="{13196C10-1A9F-4692-B12C-4D0017F73B7F}"/>
              </a:ext>
            </a:extLst>
          </p:cNvPr>
          <p:cNvSpPr>
            <a:spLocks noGrp="1"/>
          </p:cNvSpPr>
          <p:nvPr/>
        </p:nvSpPr>
        <p:spPr>
          <a:xfrm>
            <a:off x="1856160" y="3903513"/>
            <a:ext cx="9226080" cy="411912"/>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a:solidFill>
                  <a:srgbClr val="6F6888"/>
                </a:solidFill>
                <a:latin typeface="Aptos"/>
                <a:ea typeface="Aptos"/>
                <a:cs typeface="Aptos"/>
              </a:rPr>
              <a:t>Selftests/evals, hosted path, negative tenancy/authority evidence y replay.</a:t>
            </a:r>
            <a:endParaRPr sz="1600" b="0" u="none">
              <a:solidFill>
                <a:srgbClr val="000000"/>
              </a:solidFill>
              <a:latin typeface="Arial"/>
              <a:ea typeface="Arial"/>
              <a:cs typeface="Arial"/>
            </a:endParaRPr>
          </a:p>
        </p:txBody>
      </p:sp>
      <p:sp>
        <p:nvSpPr>
          <p:cNvPr id="653" name="Shape 18">
            <a:extLst>
              <a:ext uri="{FF2B5EF4-FFF2-40B4-BE49-F238E27FC236}">
                <a16:creationId xmlns:a16="http://schemas.microsoft.com/office/drawing/2014/main" id="{0FC8D6BA-D3ED-47B8-A7D2-5146AB2D23EE}"/>
              </a:ext>
            </a:extLst>
          </p:cNvPr>
          <p:cNvSpPr>
            <a:spLocks noGrp="1"/>
          </p:cNvSpPr>
          <p:nvPr/>
        </p:nvSpPr>
        <p:spPr>
          <a:xfrm>
            <a:off x="868680" y="4725171"/>
            <a:ext cx="502560" cy="502560"/>
          </a:xfrm>
          <a:prstGeom prst="ellipse">
            <a:avLst/>
          </a:prstGeom>
          <a:solidFill>
            <a:srgbClr val="F39A2B"/>
          </a:solidFill>
          <a:ln w="12700">
            <a:solidFill>
              <a:srgbClr val="F39A2B"/>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4" name="Text 19">
            <a:extLst>
              <a:ext uri="{FF2B5EF4-FFF2-40B4-BE49-F238E27FC236}">
                <a16:creationId xmlns:a16="http://schemas.microsoft.com/office/drawing/2014/main" id="{4F61BFFD-984D-4A21-BD93-BD34B8ED8096}"/>
              </a:ext>
            </a:extLst>
          </p:cNvPr>
          <p:cNvSpPr>
            <a:spLocks noGrp="1"/>
          </p:cNvSpPr>
          <p:nvPr/>
        </p:nvSpPr>
        <p:spPr>
          <a:xfrm>
            <a:off x="868680" y="4843971"/>
            <a:ext cx="502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buNone/>
              <a:tabLst>
                <a:tab pos="0" algn="l"/>
              </a:tabLst>
            </a:pPr>
            <a:r>
              <a:rPr sz="1600" b="1" u="none">
                <a:solidFill>
                  <a:srgbClr val="FFFFFF"/>
                </a:solidFill>
                <a:latin typeface="Aptos"/>
                <a:ea typeface="Aptos"/>
                <a:cs typeface="Aptos"/>
              </a:rPr>
              <a:t>3</a:t>
            </a:r>
            <a:endParaRPr sz="1600" b="0" u="none">
              <a:solidFill>
                <a:srgbClr val="000000"/>
              </a:solidFill>
              <a:latin typeface="Arial"/>
              <a:ea typeface="Arial"/>
              <a:cs typeface="Arial"/>
            </a:endParaRPr>
          </a:p>
        </p:txBody>
      </p:sp>
      <p:sp>
        <p:nvSpPr>
          <p:cNvPr id="655" name="Shape 20">
            <a:extLst>
              <a:ext uri="{FF2B5EF4-FFF2-40B4-BE49-F238E27FC236}">
                <a16:creationId xmlns:a16="http://schemas.microsoft.com/office/drawing/2014/main" id="{D654FDA2-D2EC-4A10-AF26-C70C8AFC9042}"/>
              </a:ext>
            </a:extLst>
          </p:cNvPr>
          <p:cNvSpPr>
            <a:spLocks noGrp="1"/>
          </p:cNvSpPr>
          <p:nvPr/>
        </p:nvSpPr>
        <p:spPr>
          <a:xfrm>
            <a:off x="1600200" y="4633730"/>
            <a:ext cx="9738000" cy="983867"/>
          </a:xfrm>
          <a:prstGeom prst="roundRect">
            <a:avLst>
              <a:gd name="adj" fmla="val 13158"/>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600" b="0" u="none">
              <a:solidFill>
                <a:srgbClr val="000000"/>
              </a:solidFill>
              <a:latin typeface="Arial"/>
              <a:ea typeface="Arial"/>
              <a:cs typeface="Arial"/>
            </a:endParaRPr>
          </a:p>
        </p:txBody>
      </p:sp>
      <p:sp>
        <p:nvSpPr>
          <p:cNvPr id="656" name="Text 21">
            <a:extLst>
              <a:ext uri="{FF2B5EF4-FFF2-40B4-BE49-F238E27FC236}">
                <a16:creationId xmlns:a16="http://schemas.microsoft.com/office/drawing/2014/main" id="{ED1153E9-3E03-42F4-8EB2-CCB63C127452}"/>
              </a:ext>
            </a:extLst>
          </p:cNvPr>
          <p:cNvSpPr>
            <a:spLocks noGrp="1"/>
          </p:cNvSpPr>
          <p:nvPr/>
        </p:nvSpPr>
        <p:spPr>
          <a:xfrm>
            <a:off x="1801440" y="4770891"/>
            <a:ext cx="9335520" cy="21945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600" b="1" u="none">
                <a:solidFill>
                  <a:srgbClr val="151327"/>
                </a:solidFill>
                <a:latin typeface="Aptos Display"/>
                <a:ea typeface="Aptos Display"/>
                <a:cs typeface="Aptos Display"/>
              </a:rPr>
              <a:t>3 · Outcome</a:t>
            </a:r>
            <a:endParaRPr sz="1600" b="0" u="none">
              <a:solidFill>
                <a:srgbClr val="000000"/>
              </a:solidFill>
              <a:latin typeface="Arial"/>
              <a:ea typeface="Arial"/>
              <a:cs typeface="Arial"/>
            </a:endParaRPr>
          </a:p>
        </p:txBody>
      </p:sp>
      <p:sp>
        <p:nvSpPr>
          <p:cNvPr id="657" name="Text 22">
            <a:extLst>
              <a:ext uri="{FF2B5EF4-FFF2-40B4-BE49-F238E27FC236}">
                <a16:creationId xmlns:a16="http://schemas.microsoft.com/office/drawing/2014/main" id="{3E5A96B2-07AB-46B3-9B63-F790773C9791}"/>
              </a:ext>
            </a:extLst>
          </p:cNvPr>
          <p:cNvSpPr>
            <a:spLocks noGrp="1"/>
          </p:cNvSpPr>
          <p:nvPr/>
        </p:nvSpPr>
        <p:spPr>
          <a:xfrm>
            <a:off x="1856160" y="5064293"/>
            <a:ext cx="9226080" cy="458211"/>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1600" b="0" u="none">
                <a:solidFill>
                  <a:srgbClr val="6F6888"/>
                </a:solidFill>
                <a:latin typeface="Aptos"/>
                <a:ea typeface="Aptos"/>
                <a:cs typeface="Aptos"/>
              </a:rPr>
              <a:t>Case/Impact/telemetry: qué cambió, no sólo actividad.</a:t>
            </a:r>
            <a:endParaRPr sz="1600" b="0" u="none">
              <a:solidFill>
                <a:srgbClr val="000000"/>
              </a:solidFill>
              <a:latin typeface="Arial"/>
              <a:ea typeface="Arial"/>
              <a:cs typeface="Arial"/>
            </a:endParaRPr>
          </a:p>
        </p:txBody>
      </p:sp>
      <p:sp>
        <p:nvSpPr>
          <p:cNvPr id="658" name="Shape 23">
            <a:extLst>
              <a:ext uri="{FF2B5EF4-FFF2-40B4-BE49-F238E27FC236}">
                <a16:creationId xmlns:a16="http://schemas.microsoft.com/office/drawing/2014/main" id="{F6668194-9FAE-481C-A98E-28238609DE8E}"/>
              </a:ext>
            </a:extLst>
          </p:cNvPr>
          <p:cNvSpPr>
            <a:spLocks noGrp="1"/>
          </p:cNvSpPr>
          <p:nvPr/>
        </p:nvSpPr>
        <p:spPr>
          <a:xfrm>
            <a:off x="868680" y="5803512"/>
            <a:ext cx="10725480" cy="616121"/>
          </a:xfrm>
          <a:prstGeom prst="roundRect">
            <a:avLst>
              <a:gd name="adj" fmla="val 15385"/>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FFFFFF"/>
              </a:solidFill>
              <a:latin typeface="Arial"/>
              <a:ea typeface="Arial"/>
              <a:cs typeface="Arial"/>
            </a:endParaRPr>
          </a:p>
        </p:txBody>
      </p:sp>
      <p:sp>
        <p:nvSpPr>
          <p:cNvPr id="659" name="Text 24">
            <a:extLst>
              <a:ext uri="{FF2B5EF4-FFF2-40B4-BE49-F238E27FC236}">
                <a16:creationId xmlns:a16="http://schemas.microsoft.com/office/drawing/2014/main" id="{5F78741C-658D-4901-9569-67A1323FFA9D}"/>
              </a:ext>
            </a:extLst>
          </p:cNvPr>
          <p:cNvSpPr>
            <a:spLocks noGrp="1"/>
          </p:cNvSpPr>
          <p:nvPr/>
        </p:nvSpPr>
        <p:spPr>
          <a:xfrm>
            <a:off x="1007918" y="5914090"/>
            <a:ext cx="10440082" cy="44293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b="1" u="none">
                <a:solidFill>
                  <a:srgbClr val="FFFFFF"/>
                </a:solidFill>
                <a:latin typeface="Aptos"/>
                <a:ea typeface="Aptos"/>
                <a:cs typeface="Aptos"/>
              </a:rPr>
              <a:t>Gap: memory selftests existen, pero no entran al aggregate root test:selftests.</a:t>
            </a:r>
          </a:p>
        </p:txBody>
      </p:sp>
      <p:pic>
        <p:nvPicPr>
          <p:cNvPr id="685"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188071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467" name="Shape 0">
            <a:extLst>
              <a:ext uri="{FF2B5EF4-FFF2-40B4-BE49-F238E27FC236}">
                <a16:creationId xmlns:a16="http://schemas.microsoft.com/office/drawing/2014/main" id="{74D908D3-C8D1-4000-BC1F-B8F0F868704F}"/>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468" name="Text 1">
            <a:extLst>
              <a:ext uri="{FF2B5EF4-FFF2-40B4-BE49-F238E27FC236}">
                <a16:creationId xmlns:a16="http://schemas.microsoft.com/office/drawing/2014/main" id="{169A201C-7EE3-411D-8AF9-3DB0249F1459}"/>
              </a:ext>
            </a:extLst>
          </p:cNvPr>
          <p:cNvSpPr>
            <a:spLocks noGrp="1"/>
          </p:cNvSpPr>
          <p:nvPr/>
        </p:nvSpPr>
        <p:spPr>
          <a:xfrm>
            <a:off x="567000" y="43884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TRADE-OFFS EXPLÍCITOS HACEN EL HARNESS EVOLUCIONABLE</a:t>
            </a:r>
            <a:endParaRPr sz="1200" b="0" u="none">
              <a:solidFill>
                <a:srgbClr val="000000"/>
              </a:solidFill>
              <a:latin typeface="Arial"/>
              <a:ea typeface="Arial"/>
              <a:cs typeface="Arial"/>
            </a:endParaRPr>
          </a:p>
        </p:txBody>
      </p:sp>
      <p:sp>
        <p:nvSpPr>
          <p:cNvPr id="469" name="Text 2">
            <a:extLst>
              <a:ext uri="{FF2B5EF4-FFF2-40B4-BE49-F238E27FC236}">
                <a16:creationId xmlns:a16="http://schemas.microsoft.com/office/drawing/2014/main" id="{6F13477C-4E13-4D00-9218-DDC6F14AE0FC}"/>
              </a:ext>
            </a:extLst>
          </p:cNvPr>
          <p:cNvSpPr>
            <a:spLocks noGrp="1"/>
          </p:cNvSpPr>
          <p:nvPr/>
        </p:nvSpPr>
        <p:spPr>
          <a:xfrm>
            <a:off x="535101" y="942127"/>
            <a:ext cx="10426941" cy="685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Autofit/>
          </a:bodyPr>
          <a:lstStyle/>
          <a:p>
            <a:pPr defTabSz="914400">
              <a:lnSpc>
                <a:spcPct val="100000"/>
              </a:lnSpc>
              <a:buNone/>
              <a:tabLst>
                <a:tab pos="0" algn="l"/>
              </a:tabLst>
            </a:pPr>
            <a:r>
              <a:rPr sz="2600" b="1" u="none">
                <a:solidFill>
                  <a:srgbClr val="151327"/>
                </a:solidFill>
                <a:latin typeface="Aptos Display"/>
                <a:ea typeface="Aptos Display"/>
                <a:cs typeface="Aptos Display"/>
              </a:rPr>
              <a:t>El diseño prioriza disponibilidad y autoridad acotada, con costos explícitos.</a:t>
            </a:r>
            <a:endParaRPr sz="2600" b="0" u="none">
              <a:solidFill>
                <a:srgbClr val="000000"/>
              </a:solidFill>
              <a:latin typeface="Arial"/>
              <a:ea typeface="Arial"/>
              <a:cs typeface="Arial"/>
            </a:endParaRPr>
          </a:p>
        </p:txBody>
      </p:sp>
      <p:sp>
        <p:nvSpPr>
          <p:cNvPr id="470" name="Text 3">
            <a:extLst>
              <a:ext uri="{FF2B5EF4-FFF2-40B4-BE49-F238E27FC236}">
                <a16:creationId xmlns:a16="http://schemas.microsoft.com/office/drawing/2014/main" id="{AD37A698-20FC-468E-93D2-F8B0A07EA4D9}"/>
              </a:ext>
            </a:extLst>
          </p:cNvPr>
          <p:cNvSpPr>
            <a:spLocks noGrp="1"/>
          </p:cNvSpPr>
          <p:nvPr/>
        </p:nvSpPr>
        <p:spPr>
          <a:xfrm>
            <a:off x="566999" y="1816086"/>
            <a:ext cx="10542961" cy="639105"/>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u="none">
                <a:solidFill>
                  <a:srgbClr val="6F6888"/>
                </a:solidFill>
                <a:latin typeface="Aptos"/>
                <a:ea typeface="Aptos"/>
                <a:cs typeface="Aptos"/>
              </a:rPr>
              <a:t>Un gap no se arregla ampliando autonomía si el problema es observability, scope o state.</a:t>
            </a:r>
            <a:endParaRPr u="none">
              <a:solidFill>
                <a:srgbClr val="000000"/>
              </a:solidFill>
              <a:latin typeface="Arial"/>
              <a:ea typeface="Arial"/>
              <a:cs typeface="Arial"/>
            </a:endParaRPr>
          </a:p>
        </p:txBody>
      </p:sp>
      <p:sp>
        <p:nvSpPr>
          <p:cNvPr id="472" name="Text 5">
            <a:extLst>
              <a:ext uri="{FF2B5EF4-FFF2-40B4-BE49-F238E27FC236}">
                <a16:creationId xmlns:a16="http://schemas.microsoft.com/office/drawing/2014/main" id="{B667CD0E-71FE-45D8-944D-6FB3B29AC9C7}"/>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473" name="Text 6">
            <a:extLst>
              <a:ext uri="{FF2B5EF4-FFF2-40B4-BE49-F238E27FC236}">
                <a16:creationId xmlns:a16="http://schemas.microsoft.com/office/drawing/2014/main" id="{F4EAA7B9-9505-4A39-8803-AFCA5A501AC4}"/>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474" name="Text 7">
            <a:extLst>
              <a:ext uri="{FF2B5EF4-FFF2-40B4-BE49-F238E27FC236}">
                <a16:creationId xmlns:a16="http://schemas.microsoft.com/office/drawing/2014/main" id="{1AECC926-D0AF-450B-92A9-9E85801E5815}"/>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700" b="0" u="none">
                <a:solidFill>
                  <a:srgbClr val="7E7798"/>
                </a:solidFill>
                <a:latin typeface="Aptos"/>
                <a:ea typeface="Aptos"/>
                <a:cs typeface="Aptos"/>
              </a:rPr>
              <a:t>16</a:t>
            </a:r>
            <a:endParaRPr sz="700" b="0" u="none">
              <a:solidFill>
                <a:srgbClr val="000000"/>
              </a:solidFill>
              <a:latin typeface="Arial"/>
              <a:ea typeface="Arial"/>
              <a:cs typeface="Arial"/>
            </a:endParaRPr>
          </a:p>
        </p:txBody>
      </p:sp>
      <p:sp>
        <p:nvSpPr>
          <p:cNvPr id="475" name="Shape 8">
            <a:extLst>
              <a:ext uri="{FF2B5EF4-FFF2-40B4-BE49-F238E27FC236}">
                <a16:creationId xmlns:a16="http://schemas.microsoft.com/office/drawing/2014/main" id="{F1977737-EE53-4062-B8EA-13825F3C4220}"/>
              </a:ext>
            </a:extLst>
          </p:cNvPr>
          <p:cNvSpPr>
            <a:spLocks noGrp="1"/>
          </p:cNvSpPr>
          <p:nvPr/>
        </p:nvSpPr>
        <p:spPr>
          <a:xfrm>
            <a:off x="685800" y="2793020"/>
            <a:ext cx="5211720" cy="278856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76" name="Text 9">
            <a:extLst>
              <a:ext uri="{FF2B5EF4-FFF2-40B4-BE49-F238E27FC236}">
                <a16:creationId xmlns:a16="http://schemas.microsoft.com/office/drawing/2014/main" id="{384B7E18-6DA2-4E3A-8DF6-8677EE580D2B}"/>
              </a:ext>
            </a:extLst>
          </p:cNvPr>
          <p:cNvSpPr>
            <a:spLocks noGrp="1"/>
          </p:cNvSpPr>
          <p:nvPr/>
        </p:nvSpPr>
        <p:spPr>
          <a:xfrm>
            <a:off x="82296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5F2CCB"/>
                </a:solidFill>
                <a:latin typeface="Aptos"/>
                <a:ea typeface="Aptos"/>
                <a:cs typeface="Aptos"/>
              </a:rPr>
              <a:t>DECISIONES</a:t>
            </a:r>
            <a:endParaRPr sz="1200" b="0" u="none">
              <a:solidFill>
                <a:srgbClr val="000000"/>
              </a:solidFill>
              <a:latin typeface="Arial"/>
              <a:ea typeface="Arial"/>
              <a:cs typeface="Arial"/>
            </a:endParaRPr>
          </a:p>
        </p:txBody>
      </p:sp>
      <p:sp>
        <p:nvSpPr>
          <p:cNvPr id="477" name="Text 10">
            <a:extLst>
              <a:ext uri="{FF2B5EF4-FFF2-40B4-BE49-F238E27FC236}">
                <a16:creationId xmlns:a16="http://schemas.microsoft.com/office/drawing/2014/main" id="{BF2F62C5-933B-4EE1-8894-11F1CB03CDAE}"/>
              </a:ext>
            </a:extLst>
          </p:cNvPr>
          <p:cNvSpPr>
            <a:spLocks noGrp="1"/>
          </p:cNvSpPr>
          <p:nvPr/>
        </p:nvSpPr>
        <p:spPr>
          <a:xfrm>
            <a:off x="867162" y="3288458"/>
            <a:ext cx="48092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b="1" u="none">
                <a:solidFill>
                  <a:srgbClr val="151327"/>
                </a:solidFill>
                <a:latin typeface="Aptos Display"/>
                <a:ea typeface="Aptos Display"/>
                <a:cs typeface="Aptos Display"/>
              </a:rPr>
              <a:t>Qué ganamos:</a:t>
            </a:r>
            <a:endParaRPr b="0" u="none">
              <a:solidFill>
                <a:srgbClr val="000000"/>
              </a:solidFill>
              <a:latin typeface="Arial"/>
              <a:ea typeface="Arial"/>
              <a:cs typeface="Arial"/>
            </a:endParaRPr>
          </a:p>
        </p:txBody>
      </p:sp>
      <p:sp>
        <p:nvSpPr>
          <p:cNvPr id="478" name="Text 11">
            <a:extLst>
              <a:ext uri="{FF2B5EF4-FFF2-40B4-BE49-F238E27FC236}">
                <a16:creationId xmlns:a16="http://schemas.microsoft.com/office/drawing/2014/main" id="{BC46776A-8DA9-4233-AEF4-B7ACED3DA96A}"/>
              </a:ext>
            </a:extLst>
          </p:cNvPr>
          <p:cNvSpPr>
            <a:spLocks noGrp="1"/>
          </p:cNvSpPr>
          <p:nvPr/>
        </p:nvSpPr>
        <p:spPr>
          <a:xfrm>
            <a:off x="941760" y="3780500"/>
            <a:ext cx="4809240"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Memory best-effort</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Flush fuera del graph</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Role-specific models</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Risk tiers</a:t>
            </a:r>
          </a:p>
          <a:p>
            <a:pPr marL="285750" indent="-285750" defTabSz="914400">
              <a:lnSpc>
                <a:spcPct val="100000"/>
              </a:lnSpc>
              <a:buFont typeface="Arial"/>
              <a:buChar char="•"/>
              <a:tabLst>
                <a:tab pos="0" algn="l"/>
              </a:tabLst>
            </a:pPr>
            <a:r>
              <a:rPr sz="1400" b="0" u="none">
                <a:solidFill>
                  <a:srgbClr val="6F6888"/>
                </a:solidFill>
                <a:latin typeface="Aptos"/>
                <a:ea typeface="Aptos"/>
                <a:cs typeface="Aptos"/>
              </a:rPr>
              <a:t>User-scoped memory</a:t>
            </a:r>
          </a:p>
        </p:txBody>
      </p:sp>
      <p:sp>
        <p:nvSpPr>
          <p:cNvPr id="479" name="Shape 12">
            <a:extLst>
              <a:ext uri="{FF2B5EF4-FFF2-40B4-BE49-F238E27FC236}">
                <a16:creationId xmlns:a16="http://schemas.microsoft.com/office/drawing/2014/main" id="{91372C0F-C107-4E97-B053-A424B2AB88C1}"/>
              </a:ext>
            </a:extLst>
          </p:cNvPr>
          <p:cNvSpPr>
            <a:spLocks noGrp="1"/>
          </p:cNvSpPr>
          <p:nvPr/>
        </p:nvSpPr>
        <p:spPr>
          <a:xfrm>
            <a:off x="6153480" y="2793020"/>
            <a:ext cx="5367600" cy="2788560"/>
          </a:xfrm>
          <a:prstGeom prst="roundRect">
            <a:avLst>
              <a:gd name="adj" fmla="val 3279"/>
            </a:avLst>
          </a:prstGeom>
          <a:solidFill>
            <a:srgbClr val="FFFFFF"/>
          </a:solidFill>
          <a:ln w="12700">
            <a:solidFill>
              <a:srgbClr val="DED2F6"/>
            </a:solidFill>
          </a:ln>
          <a:effectLst>
            <a:outerShdw blurRad="12600" dist="50402" dir="2700000" algn="bl" rotWithShape="0">
              <a:srgbClr val="000000">
                <a:alpha val="1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480" name="Text 13">
            <a:extLst>
              <a:ext uri="{FF2B5EF4-FFF2-40B4-BE49-F238E27FC236}">
                <a16:creationId xmlns:a16="http://schemas.microsoft.com/office/drawing/2014/main" id="{10DFEA9B-76B4-44A6-87F2-2AC93E0A56B5}"/>
              </a:ext>
            </a:extLst>
          </p:cNvPr>
          <p:cNvSpPr>
            <a:spLocks noGrp="1"/>
          </p:cNvSpPr>
          <p:nvPr/>
        </p:nvSpPr>
        <p:spPr>
          <a:xfrm>
            <a:off x="6446520" y="2939180"/>
            <a:ext cx="4937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200" b="1" u="none">
                <a:solidFill>
                  <a:srgbClr val="078C53"/>
                </a:solidFill>
                <a:latin typeface="Aptos"/>
                <a:ea typeface="Aptos"/>
                <a:cs typeface="Aptos"/>
              </a:rPr>
              <a:t>COSTOS / PREGUNTAS</a:t>
            </a:r>
            <a:endParaRPr sz="1200" b="0" u="none">
              <a:solidFill>
                <a:srgbClr val="000000"/>
              </a:solidFill>
              <a:latin typeface="Arial"/>
              <a:ea typeface="Arial"/>
              <a:cs typeface="Arial"/>
            </a:endParaRPr>
          </a:p>
        </p:txBody>
      </p:sp>
      <p:sp>
        <p:nvSpPr>
          <p:cNvPr id="481" name="Text 14">
            <a:extLst>
              <a:ext uri="{FF2B5EF4-FFF2-40B4-BE49-F238E27FC236}">
                <a16:creationId xmlns:a16="http://schemas.microsoft.com/office/drawing/2014/main" id="{277CAD91-0E67-4B85-97C6-CB9CC9C55260}"/>
              </a:ext>
            </a:extLst>
          </p:cNvPr>
          <p:cNvSpPr>
            <a:spLocks noGrp="1"/>
          </p:cNvSpPr>
          <p:nvPr/>
        </p:nvSpPr>
        <p:spPr>
          <a:xfrm>
            <a:off x="6441027" y="3268580"/>
            <a:ext cx="49374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buNone/>
              <a:tabLst>
                <a:tab pos="0" algn="l"/>
              </a:tabLst>
            </a:pPr>
            <a:r>
              <a:rPr b="1" u="none">
                <a:solidFill>
                  <a:srgbClr val="151327"/>
                </a:solidFill>
                <a:latin typeface="Aptos Display"/>
                <a:ea typeface="Aptos Display"/>
                <a:cs typeface="Aptos Display"/>
              </a:rPr>
              <a:t>Qué vigilamos:</a:t>
            </a:r>
            <a:endParaRPr b="0" u="none">
              <a:solidFill>
                <a:srgbClr val="000000"/>
              </a:solidFill>
              <a:latin typeface="Arial"/>
              <a:ea typeface="Arial"/>
              <a:cs typeface="Arial"/>
            </a:endParaRPr>
          </a:p>
        </p:txBody>
      </p:sp>
      <p:sp>
        <p:nvSpPr>
          <p:cNvPr id="482" name="Text 15">
            <a:extLst>
              <a:ext uri="{FF2B5EF4-FFF2-40B4-BE49-F238E27FC236}">
                <a16:creationId xmlns:a16="http://schemas.microsoft.com/office/drawing/2014/main" id="{857D2E0E-0096-40E0-94D1-4B45E711CF10}"/>
              </a:ext>
            </a:extLst>
          </p:cNvPr>
          <p:cNvSpPr>
            <a:spLocks noGrp="1"/>
          </p:cNvSpPr>
          <p:nvPr/>
        </p:nvSpPr>
        <p:spPr>
          <a:xfrm>
            <a:off x="6565320" y="3780500"/>
            <a:ext cx="4261565" cy="16365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marL="285750" indent="-285750">
              <a:buFont typeface="Arial"/>
              <a:buChar char="•"/>
              <a:tabLst>
                <a:tab pos="0" algn="l"/>
              </a:tabLst>
            </a:pPr>
            <a:r>
              <a:rPr sz="1400">
                <a:solidFill>
                  <a:srgbClr val="6F6888"/>
                </a:solidFill>
              </a:rPr>
              <a:t>Silent degradation</a:t>
            </a:r>
          </a:p>
          <a:p>
            <a:pPr marL="285750" indent="-285750">
              <a:buFont typeface="Arial"/>
              <a:buChar char="•"/>
              <a:tabLst>
                <a:tab pos="0" algn="l"/>
              </a:tabLst>
            </a:pPr>
            <a:r>
              <a:rPr sz="1400">
                <a:solidFill>
                  <a:srgbClr val="6F6888"/>
                </a:solidFill>
              </a:rPr>
              <a:t>Eventual consistency</a:t>
            </a:r>
          </a:p>
          <a:p>
            <a:pPr marL="285750" indent="-285750">
              <a:buFont typeface="Arial"/>
              <a:buChar char="•"/>
              <a:tabLst>
                <a:tab pos="0" algn="l"/>
              </a:tabLst>
            </a:pPr>
            <a:r>
              <a:rPr sz="1400">
                <a:solidFill>
                  <a:srgbClr val="6F6888"/>
                </a:solidFill>
              </a:rPr>
              <a:t>Config drift</a:t>
            </a:r>
          </a:p>
          <a:p>
            <a:pPr marL="285750" indent="-285750">
              <a:buFont typeface="Arial"/>
              <a:buChar char="•"/>
              <a:tabLst>
                <a:tab pos="0" algn="l"/>
              </a:tabLst>
            </a:pPr>
            <a:r>
              <a:rPr sz="1400">
                <a:solidFill>
                  <a:srgbClr val="6F6888"/>
                </a:solidFill>
              </a:rPr>
              <a:t>Operation-level policy</a:t>
            </a:r>
          </a:p>
          <a:p>
            <a:pPr marL="285750" indent="-285750">
              <a:buFont typeface="Arial"/>
              <a:buChar char="•"/>
              <a:tabLst>
                <a:tab pos="0" algn="l"/>
              </a:tabLst>
            </a:pPr>
            <a:r>
              <a:rPr sz="1400">
                <a:solidFill>
                  <a:srgbClr val="6F6888"/>
                </a:solidFill>
              </a:rPr>
              <a:t>No organizational cognition</a:t>
            </a:r>
          </a:p>
        </p:txBody>
      </p:sp>
      <p:pic>
        <p:nvPicPr>
          <p:cNvPr id="499" name="Image 0"/>
          <p:cNvPicPr>
            <a:picLocks noChangeAspect="1"/>
          </p:cNvPicPr>
          <p:nvPr/>
        </p:nvPicPr>
        <p:blipFill>
          <a:blip r:embed="rId3"/>
          <a:stretch>
            <a:fillRect/>
          </a:stretch>
        </p:blipFill>
        <p:spPr>
          <a:xfrm>
            <a:off x="11109960" y="449715"/>
            <a:ext cx="566928" cy="472170"/>
          </a:xfrm>
          <a:prstGeom prst="rect">
            <a:avLst/>
          </a:prstGeom>
        </p:spPr>
      </p:pic>
    </p:spTree>
    <p:extLst>
      <p:ext uri="{BB962C8B-B14F-4D97-AF65-F5344CB8AC3E}">
        <p14:creationId xmlns:p14="http://schemas.microsoft.com/office/powerpoint/2010/main" val="10565309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BFAFF"/>
        </a:solidFill>
        <a:effectLst/>
      </p:bgPr>
    </p:bg>
    <p:spTree>
      <p:nvGrpSpPr>
        <p:cNvPr id="1" name=""/>
        <p:cNvGrpSpPr/>
        <p:nvPr/>
      </p:nvGrpSpPr>
      <p:grpSpPr>
        <a:xfrm>
          <a:off x="0" y="0"/>
          <a:ext cx="0" cy="0"/>
          <a:chOff x="0" y="0"/>
          <a:chExt cx="0" cy="0"/>
        </a:xfrm>
      </p:grpSpPr>
      <p:sp>
        <p:nvSpPr>
          <p:cNvPr id="539" name="Shape 0">
            <a:extLst>
              <a:ext uri="{FF2B5EF4-FFF2-40B4-BE49-F238E27FC236}">
                <a16:creationId xmlns:a16="http://schemas.microsoft.com/office/drawing/2014/main" id="{068D2387-91A3-4A37-8C0A-E1F4C2B1899E}"/>
              </a:ext>
            </a:extLst>
          </p:cNvPr>
          <p:cNvSpPr>
            <a:spLocks noGrp="1"/>
          </p:cNvSpPr>
          <p:nvPr/>
        </p:nvSpPr>
        <p:spPr>
          <a:xfrm>
            <a:off x="0" y="0"/>
            <a:ext cx="12191400" cy="63720"/>
          </a:xfrm>
          <a:prstGeom prst="rect">
            <a:avLst/>
          </a:prstGeom>
          <a:solidFill>
            <a:srgbClr val="5F2CCB"/>
          </a:solidFill>
          <a:ln w="12700">
            <a:solidFill>
              <a:srgbClr val="5F2CCB">
                <a:alpha val="0"/>
              </a:srgbClr>
            </a:solidFill>
          </a:ln>
        </p:spPr>
        <p:style>
          <a:lnRef idx="0">
            <a:scrgbClr r="0" g="0" b="0"/>
          </a:lnRef>
          <a:fillRef idx="0">
            <a:scrgbClr r="0" g="0" b="0"/>
          </a:fillRef>
          <a:effectRef idx="0">
            <a:scrgbClr r="0" g="0" b="0"/>
          </a:effectRef>
          <a:fontRef idx="minor"/>
        </p:style>
        <p:txBody>
          <a:bodyPr lIns="90000" tIns="19080" rIns="90000" bIns="19080" anchor="t">
            <a:noAutofit/>
          </a:bodyPr>
          <a:lstStyle/>
          <a:p>
            <a:endParaRPr sz="1800" b="0" u="none">
              <a:solidFill>
                <a:srgbClr val="FFFFFF"/>
              </a:solidFill>
              <a:latin typeface="Arial"/>
              <a:ea typeface="Arial"/>
              <a:cs typeface="Arial"/>
            </a:endParaRPr>
          </a:p>
        </p:txBody>
      </p:sp>
      <p:sp>
        <p:nvSpPr>
          <p:cNvPr id="540" name="Text 1">
            <a:extLst>
              <a:ext uri="{FF2B5EF4-FFF2-40B4-BE49-F238E27FC236}">
                <a16:creationId xmlns:a16="http://schemas.microsoft.com/office/drawing/2014/main" id="{07CE398A-135A-495F-9B48-56598EE386C8}"/>
              </a:ext>
            </a:extLst>
          </p:cNvPr>
          <p:cNvSpPr>
            <a:spLocks noGrp="1"/>
          </p:cNvSpPr>
          <p:nvPr/>
        </p:nvSpPr>
        <p:spPr>
          <a:xfrm>
            <a:off x="567000" y="381090"/>
            <a:ext cx="68576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200" b="1" u="none">
                <a:solidFill>
                  <a:srgbClr val="5F2CCB"/>
                </a:solidFill>
                <a:latin typeface="Aptos"/>
                <a:ea typeface="Aptos"/>
                <a:cs typeface="Aptos"/>
              </a:rPr>
              <a:t>CURRENT → PARTIAL → TARGET</a:t>
            </a:r>
            <a:endParaRPr sz="1200" b="0" u="none">
              <a:solidFill>
                <a:srgbClr val="000000"/>
              </a:solidFill>
              <a:latin typeface="Arial"/>
              <a:ea typeface="Arial"/>
              <a:cs typeface="Arial"/>
            </a:endParaRPr>
          </a:p>
        </p:txBody>
      </p:sp>
      <p:sp>
        <p:nvSpPr>
          <p:cNvPr id="541" name="Text 2">
            <a:extLst>
              <a:ext uri="{FF2B5EF4-FFF2-40B4-BE49-F238E27FC236}">
                <a16:creationId xmlns:a16="http://schemas.microsoft.com/office/drawing/2014/main" id="{A56FC0E7-BBD3-49B3-BE37-8AA683CBB9BD}"/>
              </a:ext>
            </a:extLst>
          </p:cNvPr>
          <p:cNvSpPr>
            <a:spLocks noGrp="1"/>
          </p:cNvSpPr>
          <p:nvPr/>
        </p:nvSpPr>
        <p:spPr>
          <a:xfrm>
            <a:off x="567000" y="650597"/>
            <a:ext cx="10195200" cy="521937"/>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fontScale="83174" lnSpcReduction="10000"/>
          </a:bodyPr>
          <a:lstStyle/>
          <a:p>
            <a:pPr defTabSz="914400">
              <a:lnSpc>
                <a:spcPct val="100000"/>
              </a:lnSpc>
              <a:buNone/>
              <a:tabLst>
                <a:tab pos="0" algn="l"/>
              </a:tabLst>
            </a:pPr>
            <a:r>
              <a:rPr sz="2600" b="1" u="none">
                <a:solidFill>
                  <a:srgbClr val="151327"/>
                </a:solidFill>
                <a:latin typeface="Aptos Display"/>
                <a:ea typeface="Aptos Display"/>
                <a:cs typeface="Aptos Display"/>
              </a:rPr>
              <a:t>El runtime actual ya es material; las siguientes mejoras parten de gaps comprobados.</a:t>
            </a:r>
            <a:endParaRPr sz="2600" b="0" u="none">
              <a:solidFill>
                <a:srgbClr val="000000"/>
              </a:solidFill>
              <a:latin typeface="Arial"/>
              <a:ea typeface="Arial"/>
              <a:cs typeface="Arial"/>
            </a:endParaRPr>
          </a:p>
        </p:txBody>
      </p:sp>
      <p:sp>
        <p:nvSpPr>
          <p:cNvPr id="542" name="Text 3">
            <a:extLst>
              <a:ext uri="{FF2B5EF4-FFF2-40B4-BE49-F238E27FC236}">
                <a16:creationId xmlns:a16="http://schemas.microsoft.com/office/drawing/2014/main" id="{B6C80F6D-5004-4B3A-97B0-D3CBA898C8F2}"/>
              </a:ext>
            </a:extLst>
          </p:cNvPr>
          <p:cNvSpPr>
            <a:spLocks noGrp="1"/>
          </p:cNvSpPr>
          <p:nvPr/>
        </p:nvSpPr>
        <p:spPr>
          <a:xfrm>
            <a:off x="567000" y="1219952"/>
            <a:ext cx="10698120" cy="310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ctr">
            <a:normAutofit/>
          </a:bodyPr>
          <a:lstStyle/>
          <a:p>
            <a:pPr defTabSz="914400">
              <a:lnSpc>
                <a:spcPct val="100000"/>
              </a:lnSpc>
              <a:buNone/>
              <a:tabLst>
                <a:tab pos="0" algn="l"/>
              </a:tabLst>
            </a:pPr>
            <a:r>
              <a:rPr b="0" u="none">
                <a:solidFill>
                  <a:srgbClr val="6F6888"/>
                </a:solidFill>
                <a:latin typeface="Aptos"/>
                <a:ea typeface="Aptos"/>
                <a:cs typeface="Aptos"/>
              </a:rPr>
              <a:t>Current exige code/tests; Partial nombra un path incompleto; Target deriva de architecture/roadmap.</a:t>
            </a:r>
            <a:endParaRPr b="0" u="none">
              <a:solidFill>
                <a:srgbClr val="000000"/>
              </a:solidFill>
              <a:latin typeface="Arial"/>
              <a:ea typeface="Arial"/>
              <a:cs typeface="Arial"/>
            </a:endParaRPr>
          </a:p>
        </p:txBody>
      </p:sp>
      <p:sp>
        <p:nvSpPr>
          <p:cNvPr id="544" name="Text 5">
            <a:extLst>
              <a:ext uri="{FF2B5EF4-FFF2-40B4-BE49-F238E27FC236}">
                <a16:creationId xmlns:a16="http://schemas.microsoft.com/office/drawing/2014/main" id="{7CB78A67-0BC4-41B1-A13D-D2DE4B729446}"/>
              </a:ext>
            </a:extLst>
          </p:cNvPr>
          <p:cNvSpPr>
            <a:spLocks noGrp="1"/>
          </p:cNvSpPr>
          <p:nvPr/>
        </p:nvSpPr>
        <p:spPr>
          <a:xfrm>
            <a:off x="411480" y="6546960"/>
            <a:ext cx="1645560" cy="10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650" b="0" u="none">
                <a:solidFill>
                  <a:srgbClr val="7E7798"/>
                </a:solidFill>
                <a:latin typeface="Aptos"/>
                <a:ea typeface="Aptos"/>
                <a:cs typeface="Aptos"/>
              </a:rPr>
              <a:t>CONFIDENTIAL</a:t>
            </a:r>
            <a:endParaRPr sz="650" b="0" u="none">
              <a:solidFill>
                <a:srgbClr val="000000"/>
              </a:solidFill>
              <a:latin typeface="Arial"/>
              <a:ea typeface="Arial"/>
              <a:cs typeface="Arial"/>
            </a:endParaRPr>
          </a:p>
        </p:txBody>
      </p:sp>
      <p:sp>
        <p:nvSpPr>
          <p:cNvPr id="545" name="Text 6">
            <a:extLst>
              <a:ext uri="{FF2B5EF4-FFF2-40B4-BE49-F238E27FC236}">
                <a16:creationId xmlns:a16="http://schemas.microsoft.com/office/drawing/2014/main" id="{683A80DD-6F0C-4F61-B3B9-C43AD78BE542}"/>
              </a:ext>
            </a:extLst>
          </p:cNvPr>
          <p:cNvSpPr>
            <a:spLocks noGrp="1"/>
          </p:cNvSpPr>
          <p:nvPr/>
        </p:nvSpPr>
        <p:spPr>
          <a:xfrm>
            <a:off x="10716840" y="6537960"/>
            <a:ext cx="731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650" b="0" u="none">
                <a:solidFill>
                  <a:srgbClr val="7E7798"/>
                </a:solidFill>
                <a:latin typeface="Aptos"/>
                <a:ea typeface="Aptos"/>
                <a:cs typeface="Aptos"/>
              </a:rPr>
              <a:t>ungga.com</a:t>
            </a:r>
            <a:endParaRPr sz="650" b="0" u="none">
              <a:solidFill>
                <a:srgbClr val="000000"/>
              </a:solidFill>
              <a:latin typeface="Arial"/>
              <a:ea typeface="Arial"/>
              <a:cs typeface="Arial"/>
            </a:endParaRPr>
          </a:p>
        </p:txBody>
      </p:sp>
      <p:sp>
        <p:nvSpPr>
          <p:cNvPr id="546" name="Text 7">
            <a:extLst>
              <a:ext uri="{FF2B5EF4-FFF2-40B4-BE49-F238E27FC236}">
                <a16:creationId xmlns:a16="http://schemas.microsoft.com/office/drawing/2014/main" id="{CBA4BF8C-F7AB-4E65-9376-57584447DC0A}"/>
              </a:ext>
            </a:extLst>
          </p:cNvPr>
          <p:cNvSpPr>
            <a:spLocks noGrp="1"/>
          </p:cNvSpPr>
          <p:nvPr/>
        </p:nvSpPr>
        <p:spPr>
          <a:xfrm>
            <a:off x="11658600" y="6528960"/>
            <a:ext cx="2282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buNone/>
              <a:tabLst>
                <a:tab pos="0" algn="l"/>
              </a:tabLst>
            </a:pPr>
            <a:r>
              <a:rPr sz="800" b="0" u="none">
                <a:solidFill>
                  <a:srgbClr val="7E7798"/>
                </a:solidFill>
                <a:latin typeface="Aptos"/>
                <a:ea typeface="Aptos"/>
                <a:cs typeface="Aptos"/>
              </a:rPr>
              <a:t>17</a:t>
            </a:r>
            <a:endParaRPr sz="800" b="0" u="none">
              <a:solidFill>
                <a:srgbClr val="000000"/>
              </a:solidFill>
              <a:latin typeface="Arial"/>
              <a:ea typeface="Arial"/>
              <a:cs typeface="Arial"/>
            </a:endParaRPr>
          </a:p>
        </p:txBody>
      </p:sp>
      <p:sp>
        <p:nvSpPr>
          <p:cNvPr id="547" name="Shape 8">
            <a:extLst>
              <a:ext uri="{FF2B5EF4-FFF2-40B4-BE49-F238E27FC236}">
                <a16:creationId xmlns:a16="http://schemas.microsoft.com/office/drawing/2014/main" id="{280FE400-3E11-4E05-A493-1305095328D9}"/>
              </a:ext>
            </a:extLst>
          </p:cNvPr>
          <p:cNvSpPr>
            <a:spLocks noGrp="1"/>
          </p:cNvSpPr>
          <p:nvPr/>
        </p:nvSpPr>
        <p:spPr>
          <a:xfrm>
            <a:off x="594360" y="1674567"/>
            <a:ext cx="1892520" cy="347040"/>
          </a:xfrm>
          <a:prstGeom prst="roundRect">
            <a:avLst>
              <a:gd name="adj" fmla="val 21053"/>
            </a:avLst>
          </a:prstGeom>
          <a:solidFill>
            <a:srgbClr val="E8E3F7"/>
          </a:solidFill>
          <a:ln w="12700">
            <a:solidFill>
              <a:srgbClr val="E8E3F7">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48" name="Text 9">
            <a:extLst>
              <a:ext uri="{FF2B5EF4-FFF2-40B4-BE49-F238E27FC236}">
                <a16:creationId xmlns:a16="http://schemas.microsoft.com/office/drawing/2014/main" id="{1212E377-D908-46F8-AF92-EA2A1733E733}"/>
              </a:ext>
            </a:extLst>
          </p:cNvPr>
          <p:cNvSpPr>
            <a:spLocks noGrp="1"/>
          </p:cNvSpPr>
          <p:nvPr/>
        </p:nvSpPr>
        <p:spPr>
          <a:xfrm>
            <a:off x="640080" y="1729647"/>
            <a:ext cx="180108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400" b="1" u="none">
                <a:solidFill>
                  <a:srgbClr val="5F2CCB"/>
                </a:solidFill>
                <a:latin typeface="Aptos"/>
                <a:ea typeface="Aptos"/>
                <a:cs typeface="Aptos"/>
              </a:rPr>
              <a:t>Responsabilidad</a:t>
            </a:r>
            <a:endParaRPr sz="1400" b="0" u="none">
              <a:solidFill>
                <a:srgbClr val="000000"/>
              </a:solidFill>
              <a:latin typeface="Arial"/>
              <a:ea typeface="Arial"/>
              <a:cs typeface="Arial"/>
            </a:endParaRPr>
          </a:p>
        </p:txBody>
      </p:sp>
      <p:sp>
        <p:nvSpPr>
          <p:cNvPr id="549" name="Shape 10">
            <a:extLst>
              <a:ext uri="{FF2B5EF4-FFF2-40B4-BE49-F238E27FC236}">
                <a16:creationId xmlns:a16="http://schemas.microsoft.com/office/drawing/2014/main" id="{34368E52-4134-4B44-ABA4-C112F47C623E}"/>
              </a:ext>
            </a:extLst>
          </p:cNvPr>
          <p:cNvSpPr>
            <a:spLocks noGrp="1"/>
          </p:cNvSpPr>
          <p:nvPr/>
        </p:nvSpPr>
        <p:spPr>
          <a:xfrm>
            <a:off x="2560320" y="1674567"/>
            <a:ext cx="2761200" cy="347040"/>
          </a:xfrm>
          <a:prstGeom prst="roundRect">
            <a:avLst>
              <a:gd name="adj" fmla="val 21053"/>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FFFFFF"/>
              </a:solidFill>
              <a:latin typeface="Arial"/>
              <a:ea typeface="Arial"/>
              <a:cs typeface="Arial"/>
            </a:endParaRPr>
          </a:p>
        </p:txBody>
      </p:sp>
      <p:sp>
        <p:nvSpPr>
          <p:cNvPr id="550" name="Text 11">
            <a:extLst>
              <a:ext uri="{FF2B5EF4-FFF2-40B4-BE49-F238E27FC236}">
                <a16:creationId xmlns:a16="http://schemas.microsoft.com/office/drawing/2014/main" id="{ED5BD8B7-2739-4438-AE08-1AB7B8EFA83E}"/>
              </a:ext>
            </a:extLst>
          </p:cNvPr>
          <p:cNvSpPr>
            <a:spLocks noGrp="1"/>
          </p:cNvSpPr>
          <p:nvPr/>
        </p:nvSpPr>
        <p:spPr>
          <a:xfrm>
            <a:off x="2606040" y="1729647"/>
            <a:ext cx="266976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400" b="1">
                <a:solidFill>
                  <a:srgbClr val="FFFFFF"/>
                </a:solidFill>
                <a:latin typeface="Aptos"/>
                <a:ea typeface="Aptos"/>
                <a:cs typeface="Aptos"/>
              </a:rPr>
              <a:t>CURRENT</a:t>
            </a:r>
            <a:endParaRPr sz="1400" b="0" u="none">
              <a:solidFill>
                <a:srgbClr val="000000"/>
              </a:solidFill>
              <a:latin typeface="Arial"/>
              <a:ea typeface="Arial"/>
              <a:cs typeface="Arial"/>
            </a:endParaRPr>
          </a:p>
        </p:txBody>
      </p:sp>
      <p:sp>
        <p:nvSpPr>
          <p:cNvPr id="551" name="Shape 12">
            <a:extLst>
              <a:ext uri="{FF2B5EF4-FFF2-40B4-BE49-F238E27FC236}">
                <a16:creationId xmlns:a16="http://schemas.microsoft.com/office/drawing/2014/main" id="{D4389F78-392C-4258-948B-DC099B963288}"/>
              </a:ext>
            </a:extLst>
          </p:cNvPr>
          <p:cNvSpPr>
            <a:spLocks noGrp="1"/>
          </p:cNvSpPr>
          <p:nvPr/>
        </p:nvSpPr>
        <p:spPr>
          <a:xfrm>
            <a:off x="5394960" y="1674567"/>
            <a:ext cx="3081240" cy="347040"/>
          </a:xfrm>
          <a:prstGeom prst="roundRect">
            <a:avLst>
              <a:gd name="adj" fmla="val 21053"/>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FFFFFF"/>
              </a:solidFill>
              <a:latin typeface="Arial"/>
              <a:ea typeface="Arial"/>
              <a:cs typeface="Arial"/>
            </a:endParaRPr>
          </a:p>
        </p:txBody>
      </p:sp>
      <p:sp>
        <p:nvSpPr>
          <p:cNvPr id="552" name="Text 13">
            <a:extLst>
              <a:ext uri="{FF2B5EF4-FFF2-40B4-BE49-F238E27FC236}">
                <a16:creationId xmlns:a16="http://schemas.microsoft.com/office/drawing/2014/main" id="{35FADD88-0043-47A1-923B-0170C66967CB}"/>
              </a:ext>
            </a:extLst>
          </p:cNvPr>
          <p:cNvSpPr>
            <a:spLocks noGrp="1"/>
          </p:cNvSpPr>
          <p:nvPr/>
        </p:nvSpPr>
        <p:spPr>
          <a:xfrm>
            <a:off x="5440680" y="1729647"/>
            <a:ext cx="298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400" b="1" u="none">
                <a:solidFill>
                  <a:srgbClr val="FFFFFF"/>
                </a:solidFill>
                <a:latin typeface="Aptos"/>
                <a:ea typeface="Aptos"/>
                <a:cs typeface="Aptos"/>
              </a:rPr>
              <a:t>PARTIAL / NEXT</a:t>
            </a:r>
            <a:endParaRPr sz="1400" b="0" u="none">
              <a:solidFill>
                <a:srgbClr val="000000"/>
              </a:solidFill>
              <a:latin typeface="Arial"/>
              <a:ea typeface="Arial"/>
              <a:cs typeface="Arial"/>
            </a:endParaRPr>
          </a:p>
        </p:txBody>
      </p:sp>
      <p:sp>
        <p:nvSpPr>
          <p:cNvPr id="553" name="Shape 14">
            <a:extLst>
              <a:ext uri="{FF2B5EF4-FFF2-40B4-BE49-F238E27FC236}">
                <a16:creationId xmlns:a16="http://schemas.microsoft.com/office/drawing/2014/main" id="{3A4D5E7C-2CE7-4ED2-B487-1E97C26837A6}"/>
              </a:ext>
            </a:extLst>
          </p:cNvPr>
          <p:cNvSpPr>
            <a:spLocks noGrp="1"/>
          </p:cNvSpPr>
          <p:nvPr/>
        </p:nvSpPr>
        <p:spPr>
          <a:xfrm>
            <a:off x="8549640" y="1674567"/>
            <a:ext cx="3081240" cy="347040"/>
          </a:xfrm>
          <a:prstGeom prst="roundRect">
            <a:avLst>
              <a:gd name="adj" fmla="val 21053"/>
            </a:avLst>
          </a:prstGeom>
          <a:solidFill>
            <a:srgbClr val="20143D"/>
          </a:solidFill>
          <a:ln w="12700">
            <a:solidFill>
              <a:srgbClr val="20143D">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FFFFFF"/>
              </a:solidFill>
              <a:latin typeface="Arial"/>
              <a:ea typeface="Arial"/>
              <a:cs typeface="Arial"/>
            </a:endParaRPr>
          </a:p>
        </p:txBody>
      </p:sp>
      <p:sp>
        <p:nvSpPr>
          <p:cNvPr id="554" name="Text 15">
            <a:extLst>
              <a:ext uri="{FF2B5EF4-FFF2-40B4-BE49-F238E27FC236}">
                <a16:creationId xmlns:a16="http://schemas.microsoft.com/office/drawing/2014/main" id="{1DF6EB2B-8627-4EC2-AC3E-839B2BB2D391}"/>
              </a:ext>
            </a:extLst>
          </p:cNvPr>
          <p:cNvSpPr>
            <a:spLocks noGrp="1"/>
          </p:cNvSpPr>
          <p:nvPr/>
        </p:nvSpPr>
        <p:spPr>
          <a:xfrm>
            <a:off x="8595360" y="1729647"/>
            <a:ext cx="29898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buNone/>
              <a:tabLst>
                <a:tab pos="0" algn="l"/>
              </a:tabLst>
            </a:pPr>
            <a:r>
              <a:rPr sz="1400" b="1" u="none">
                <a:solidFill>
                  <a:srgbClr val="FFFFFF"/>
                </a:solidFill>
                <a:latin typeface="Aptos"/>
                <a:ea typeface="Aptos"/>
                <a:cs typeface="Aptos"/>
              </a:rPr>
              <a:t>TARGET</a:t>
            </a:r>
            <a:endParaRPr sz="1400" b="0" u="none">
              <a:solidFill>
                <a:srgbClr val="000000"/>
              </a:solidFill>
              <a:latin typeface="Arial"/>
              <a:ea typeface="Arial"/>
              <a:cs typeface="Arial"/>
            </a:endParaRPr>
          </a:p>
        </p:txBody>
      </p:sp>
      <p:sp>
        <p:nvSpPr>
          <p:cNvPr id="555" name="Shape 16">
            <a:extLst>
              <a:ext uri="{FF2B5EF4-FFF2-40B4-BE49-F238E27FC236}">
                <a16:creationId xmlns:a16="http://schemas.microsoft.com/office/drawing/2014/main" id="{65FAA4C4-788B-46C2-9825-CA6798E83DA0}"/>
              </a:ext>
            </a:extLst>
          </p:cNvPr>
          <p:cNvSpPr>
            <a:spLocks noGrp="1"/>
          </p:cNvSpPr>
          <p:nvPr/>
        </p:nvSpPr>
        <p:spPr>
          <a:xfrm>
            <a:off x="594360" y="2122321"/>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56" name="Text 17">
            <a:extLst>
              <a:ext uri="{FF2B5EF4-FFF2-40B4-BE49-F238E27FC236}">
                <a16:creationId xmlns:a16="http://schemas.microsoft.com/office/drawing/2014/main" id="{C40B1278-78EA-445B-BD57-BE2943F47BE4}"/>
              </a:ext>
            </a:extLst>
          </p:cNvPr>
          <p:cNvSpPr>
            <a:spLocks noGrp="1"/>
          </p:cNvSpPr>
          <p:nvPr/>
        </p:nvSpPr>
        <p:spPr>
          <a:xfrm>
            <a:off x="667440" y="2195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i="1" u="none" dirty="0">
                <a:solidFill>
                  <a:srgbClr val="151327"/>
                </a:solidFill>
                <a:latin typeface="Aptos"/>
                <a:ea typeface="Aptos"/>
                <a:cs typeface="Aptos"/>
              </a:rPr>
              <a:t>Agent graph</a:t>
            </a:r>
            <a:endParaRPr sz="1400" b="0" i="1" u="none" dirty="0">
              <a:solidFill>
                <a:srgbClr val="000000"/>
              </a:solidFill>
              <a:latin typeface="Arial"/>
              <a:ea typeface="Arial"/>
              <a:cs typeface="Arial"/>
            </a:endParaRPr>
          </a:p>
        </p:txBody>
      </p:sp>
      <p:sp>
        <p:nvSpPr>
          <p:cNvPr id="557" name="Shape 18">
            <a:extLst>
              <a:ext uri="{FF2B5EF4-FFF2-40B4-BE49-F238E27FC236}">
                <a16:creationId xmlns:a16="http://schemas.microsoft.com/office/drawing/2014/main" id="{225FCE25-0FF0-4BA8-8C0A-54DA9BDBE47E}"/>
              </a:ext>
            </a:extLst>
          </p:cNvPr>
          <p:cNvSpPr>
            <a:spLocks noGrp="1"/>
          </p:cNvSpPr>
          <p:nvPr/>
        </p:nvSpPr>
        <p:spPr>
          <a:xfrm>
            <a:off x="2560320" y="2122321"/>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58" name="Text 19">
            <a:extLst>
              <a:ext uri="{FF2B5EF4-FFF2-40B4-BE49-F238E27FC236}">
                <a16:creationId xmlns:a16="http://schemas.microsoft.com/office/drawing/2014/main" id="{D5D85398-12C8-4F3C-828B-AB2E174617C8}"/>
              </a:ext>
            </a:extLst>
          </p:cNvPr>
          <p:cNvSpPr>
            <a:spLocks noGrp="1"/>
          </p:cNvSpPr>
          <p:nvPr/>
        </p:nvSpPr>
        <p:spPr>
          <a:xfrm>
            <a:off x="2633400" y="2216667"/>
            <a:ext cx="2614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memory injection + compaction + agent/tools + HITL</a:t>
            </a:r>
            <a:endParaRPr sz="1300" b="0" u="none">
              <a:solidFill>
                <a:srgbClr val="000000"/>
              </a:solidFill>
              <a:latin typeface="Arial"/>
              <a:ea typeface="Arial"/>
              <a:cs typeface="Arial"/>
            </a:endParaRPr>
          </a:p>
        </p:txBody>
      </p:sp>
      <p:sp>
        <p:nvSpPr>
          <p:cNvPr id="559" name="Shape 20">
            <a:extLst>
              <a:ext uri="{FF2B5EF4-FFF2-40B4-BE49-F238E27FC236}">
                <a16:creationId xmlns:a16="http://schemas.microsoft.com/office/drawing/2014/main" id="{9174AA93-E561-4233-8968-3A78AE76F936}"/>
              </a:ext>
            </a:extLst>
          </p:cNvPr>
          <p:cNvSpPr>
            <a:spLocks noGrp="1"/>
          </p:cNvSpPr>
          <p:nvPr/>
        </p:nvSpPr>
        <p:spPr>
          <a:xfrm>
            <a:off x="5394960" y="212232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60" name="Text 21">
            <a:extLst>
              <a:ext uri="{FF2B5EF4-FFF2-40B4-BE49-F238E27FC236}">
                <a16:creationId xmlns:a16="http://schemas.microsoft.com/office/drawing/2014/main" id="{62E9A645-530F-4119-9221-556FFB8FD75B}"/>
              </a:ext>
            </a:extLst>
          </p:cNvPr>
          <p:cNvSpPr>
            <a:spLocks noGrp="1"/>
          </p:cNvSpPr>
          <p:nvPr/>
        </p:nvSpPr>
        <p:spPr>
          <a:xfrm>
            <a:off x="5468040" y="2156901"/>
            <a:ext cx="29347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Policy más granular y richer evidence</a:t>
            </a:r>
            <a:endParaRPr sz="1300" b="0" u="none">
              <a:solidFill>
                <a:srgbClr val="000000"/>
              </a:solidFill>
              <a:latin typeface="Arial"/>
              <a:ea typeface="Arial"/>
              <a:cs typeface="Arial"/>
            </a:endParaRPr>
          </a:p>
        </p:txBody>
      </p:sp>
      <p:sp>
        <p:nvSpPr>
          <p:cNvPr id="561" name="Shape 22">
            <a:extLst>
              <a:ext uri="{FF2B5EF4-FFF2-40B4-BE49-F238E27FC236}">
                <a16:creationId xmlns:a16="http://schemas.microsoft.com/office/drawing/2014/main" id="{F2BE6532-F179-4D4C-9A9E-FC13DFF4ACA3}"/>
              </a:ext>
            </a:extLst>
          </p:cNvPr>
          <p:cNvSpPr>
            <a:spLocks noGrp="1"/>
          </p:cNvSpPr>
          <p:nvPr/>
        </p:nvSpPr>
        <p:spPr>
          <a:xfrm>
            <a:off x="8549640" y="212232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62" name="Text 23">
            <a:extLst>
              <a:ext uri="{FF2B5EF4-FFF2-40B4-BE49-F238E27FC236}">
                <a16:creationId xmlns:a16="http://schemas.microsoft.com/office/drawing/2014/main" id="{0A09A824-143F-4514-8B97-60160728274A}"/>
              </a:ext>
            </a:extLst>
          </p:cNvPr>
          <p:cNvSpPr>
            <a:spLocks noGrp="1"/>
          </p:cNvSpPr>
          <p:nvPr/>
        </p:nvSpPr>
        <p:spPr>
          <a:xfrm>
            <a:off x="8622720" y="2166526"/>
            <a:ext cx="2934720" cy="317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Capability orchestration resiliente</a:t>
            </a:r>
            <a:endParaRPr sz="1300" b="0" u="none">
              <a:solidFill>
                <a:srgbClr val="000000"/>
              </a:solidFill>
              <a:latin typeface="Arial"/>
              <a:ea typeface="Arial"/>
              <a:cs typeface="Arial"/>
            </a:endParaRPr>
          </a:p>
        </p:txBody>
      </p:sp>
      <p:sp>
        <p:nvSpPr>
          <p:cNvPr id="563" name="Shape 24">
            <a:extLst>
              <a:ext uri="{FF2B5EF4-FFF2-40B4-BE49-F238E27FC236}">
                <a16:creationId xmlns:a16="http://schemas.microsoft.com/office/drawing/2014/main" id="{23616B52-E3A7-4FBB-8525-ABBE7585F6FA}"/>
              </a:ext>
            </a:extLst>
          </p:cNvPr>
          <p:cNvSpPr>
            <a:spLocks noGrp="1"/>
          </p:cNvSpPr>
          <p:nvPr/>
        </p:nvSpPr>
        <p:spPr>
          <a:xfrm>
            <a:off x="594360" y="2689321"/>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64" name="Text 25">
            <a:extLst>
              <a:ext uri="{FF2B5EF4-FFF2-40B4-BE49-F238E27FC236}">
                <a16:creationId xmlns:a16="http://schemas.microsoft.com/office/drawing/2014/main" id="{50C743EA-79F3-4CF9-A016-59D3E36C1114}"/>
              </a:ext>
            </a:extLst>
          </p:cNvPr>
          <p:cNvSpPr>
            <a:spLocks noGrp="1"/>
          </p:cNvSpPr>
          <p:nvPr/>
        </p:nvSpPr>
        <p:spPr>
          <a:xfrm>
            <a:off x="667440" y="2762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u="none">
                <a:solidFill>
                  <a:srgbClr val="151327"/>
                </a:solidFill>
                <a:latin typeface="Aptos"/>
                <a:ea typeface="Aptos"/>
                <a:cs typeface="Aptos"/>
              </a:rPr>
              <a:t>Context / memory</a:t>
            </a:r>
            <a:endParaRPr sz="1400" b="0" u="none">
              <a:solidFill>
                <a:srgbClr val="000000"/>
              </a:solidFill>
              <a:latin typeface="Arial"/>
              <a:ea typeface="Arial"/>
              <a:cs typeface="Arial"/>
            </a:endParaRPr>
          </a:p>
        </p:txBody>
      </p:sp>
      <p:sp>
        <p:nvSpPr>
          <p:cNvPr id="565" name="Shape 26">
            <a:extLst>
              <a:ext uri="{FF2B5EF4-FFF2-40B4-BE49-F238E27FC236}">
                <a16:creationId xmlns:a16="http://schemas.microsoft.com/office/drawing/2014/main" id="{674CC7C9-DCA0-4454-9485-0A23FBA43888}"/>
              </a:ext>
            </a:extLst>
          </p:cNvPr>
          <p:cNvSpPr>
            <a:spLocks noGrp="1"/>
          </p:cNvSpPr>
          <p:nvPr/>
        </p:nvSpPr>
        <p:spPr>
          <a:xfrm>
            <a:off x="2560320" y="2689321"/>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66" name="Text 27">
            <a:extLst>
              <a:ext uri="{FF2B5EF4-FFF2-40B4-BE49-F238E27FC236}">
                <a16:creationId xmlns:a16="http://schemas.microsoft.com/office/drawing/2014/main" id="{790622E9-411C-4047-89EC-C29E8729DEFE}"/>
              </a:ext>
            </a:extLst>
          </p:cNvPr>
          <p:cNvSpPr>
            <a:spLocks noGrp="1"/>
          </p:cNvSpPr>
          <p:nvPr/>
        </p:nvSpPr>
        <p:spPr>
          <a:xfrm>
            <a:off x="2633400" y="2775049"/>
            <a:ext cx="2642400" cy="2956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buNone/>
              <a:tabLst>
                <a:tab pos="0" algn="l"/>
              </a:tabLst>
            </a:pPr>
            <a:r>
              <a:rPr sz="1300" b="0" u="none">
                <a:solidFill>
                  <a:srgbClr val="6F6888"/>
                </a:solidFill>
                <a:latin typeface="Aptos"/>
                <a:ea typeface="Aptos"/>
                <a:cs typeface="Aptos"/>
              </a:rPr>
              <a:t>Personal memory 3 tipos + retrieval + flush</a:t>
            </a:r>
            <a:endParaRPr sz="1300" b="0" u="none">
              <a:solidFill>
                <a:srgbClr val="000000"/>
              </a:solidFill>
              <a:latin typeface="Arial"/>
              <a:ea typeface="Arial"/>
              <a:cs typeface="Arial"/>
            </a:endParaRPr>
          </a:p>
        </p:txBody>
      </p:sp>
      <p:sp>
        <p:nvSpPr>
          <p:cNvPr id="567" name="Shape 28">
            <a:extLst>
              <a:ext uri="{FF2B5EF4-FFF2-40B4-BE49-F238E27FC236}">
                <a16:creationId xmlns:a16="http://schemas.microsoft.com/office/drawing/2014/main" id="{BA8AE00E-A3B0-4C38-8D5E-ED7041DD187C}"/>
              </a:ext>
            </a:extLst>
          </p:cNvPr>
          <p:cNvSpPr>
            <a:spLocks noGrp="1"/>
          </p:cNvSpPr>
          <p:nvPr/>
        </p:nvSpPr>
        <p:spPr>
          <a:xfrm>
            <a:off x="5394960" y="268932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68" name="Text 29">
            <a:extLst>
              <a:ext uri="{FF2B5EF4-FFF2-40B4-BE49-F238E27FC236}">
                <a16:creationId xmlns:a16="http://schemas.microsoft.com/office/drawing/2014/main" id="{0CF37F82-C0D7-4EDC-A5E8-AA32F8887821}"/>
              </a:ext>
            </a:extLst>
          </p:cNvPr>
          <p:cNvSpPr>
            <a:spLocks noGrp="1"/>
          </p:cNvSpPr>
          <p:nvPr/>
        </p:nvSpPr>
        <p:spPr>
          <a:xfrm>
            <a:off x="5468039" y="2714276"/>
            <a:ext cx="3007005"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buNone/>
              <a:tabLst>
                <a:tab pos="0" algn="l"/>
              </a:tabLst>
            </a:pPr>
            <a:r>
              <a:rPr sz="1250" b="0" u="none">
                <a:solidFill>
                  <a:srgbClr val="6F6888"/>
                </a:solidFill>
                <a:latin typeface="Aptos"/>
                <a:ea typeface="Aptos"/>
                <a:cs typeface="Aptos"/>
              </a:rPr>
              <a:t>Precision + tests aggregate</a:t>
            </a:r>
            <a:endParaRPr sz="1250" b="0" u="none">
              <a:solidFill>
                <a:srgbClr val="000000"/>
              </a:solidFill>
              <a:latin typeface="Arial"/>
              <a:ea typeface="Arial"/>
              <a:cs typeface="Arial"/>
            </a:endParaRPr>
          </a:p>
        </p:txBody>
      </p:sp>
      <p:sp>
        <p:nvSpPr>
          <p:cNvPr id="569" name="Shape 30">
            <a:extLst>
              <a:ext uri="{FF2B5EF4-FFF2-40B4-BE49-F238E27FC236}">
                <a16:creationId xmlns:a16="http://schemas.microsoft.com/office/drawing/2014/main" id="{2810C883-8CF2-489A-AE18-623A16E9A4FC}"/>
              </a:ext>
            </a:extLst>
          </p:cNvPr>
          <p:cNvSpPr>
            <a:spLocks noGrp="1"/>
          </p:cNvSpPr>
          <p:nvPr/>
        </p:nvSpPr>
        <p:spPr>
          <a:xfrm>
            <a:off x="8549640" y="268932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70" name="Text 31">
            <a:extLst>
              <a:ext uri="{FF2B5EF4-FFF2-40B4-BE49-F238E27FC236}">
                <a16:creationId xmlns:a16="http://schemas.microsoft.com/office/drawing/2014/main" id="{AC2EDA0B-9A5F-4C20-B03A-F6830CA884C2}"/>
              </a:ext>
            </a:extLst>
          </p:cNvPr>
          <p:cNvSpPr>
            <a:spLocks noGrp="1"/>
          </p:cNvSpPr>
          <p:nvPr/>
        </p:nvSpPr>
        <p:spPr>
          <a:xfrm>
            <a:off x="8622720" y="2744102"/>
            <a:ext cx="2934720" cy="32657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Scoped context compiler cross-surface</a:t>
            </a:r>
            <a:endParaRPr sz="1300" b="0" u="none">
              <a:solidFill>
                <a:srgbClr val="000000"/>
              </a:solidFill>
              <a:latin typeface="Arial"/>
              <a:ea typeface="Arial"/>
              <a:cs typeface="Arial"/>
            </a:endParaRPr>
          </a:p>
        </p:txBody>
      </p:sp>
      <p:sp>
        <p:nvSpPr>
          <p:cNvPr id="571" name="Shape 32">
            <a:extLst>
              <a:ext uri="{FF2B5EF4-FFF2-40B4-BE49-F238E27FC236}">
                <a16:creationId xmlns:a16="http://schemas.microsoft.com/office/drawing/2014/main" id="{EF884D38-DD74-401B-B715-ADBCCC198039}"/>
              </a:ext>
            </a:extLst>
          </p:cNvPr>
          <p:cNvSpPr>
            <a:spLocks noGrp="1"/>
          </p:cNvSpPr>
          <p:nvPr/>
        </p:nvSpPr>
        <p:spPr>
          <a:xfrm>
            <a:off x="594360" y="3256321"/>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72" name="Text 33">
            <a:extLst>
              <a:ext uri="{FF2B5EF4-FFF2-40B4-BE49-F238E27FC236}">
                <a16:creationId xmlns:a16="http://schemas.microsoft.com/office/drawing/2014/main" id="{8B885F3C-1AC5-4FDC-817D-1DB2660F6EF4}"/>
              </a:ext>
            </a:extLst>
          </p:cNvPr>
          <p:cNvSpPr>
            <a:spLocks noGrp="1"/>
          </p:cNvSpPr>
          <p:nvPr/>
        </p:nvSpPr>
        <p:spPr>
          <a:xfrm>
            <a:off x="667440" y="3329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i="1" u="none">
                <a:solidFill>
                  <a:srgbClr val="151327"/>
                </a:solidFill>
                <a:latin typeface="Aptos"/>
                <a:ea typeface="Aptos"/>
                <a:cs typeface="Aptos"/>
              </a:rPr>
              <a:t>Tools / authority</a:t>
            </a:r>
            <a:endParaRPr sz="1400" b="0" i="1" u="none">
              <a:solidFill>
                <a:srgbClr val="000000"/>
              </a:solidFill>
              <a:latin typeface="Arial"/>
              <a:ea typeface="Arial"/>
              <a:cs typeface="Arial"/>
            </a:endParaRPr>
          </a:p>
        </p:txBody>
      </p:sp>
      <p:sp>
        <p:nvSpPr>
          <p:cNvPr id="573" name="Shape 34">
            <a:extLst>
              <a:ext uri="{FF2B5EF4-FFF2-40B4-BE49-F238E27FC236}">
                <a16:creationId xmlns:a16="http://schemas.microsoft.com/office/drawing/2014/main" id="{195B9512-695C-42C5-8460-40334944A7D7}"/>
              </a:ext>
            </a:extLst>
          </p:cNvPr>
          <p:cNvSpPr>
            <a:spLocks noGrp="1"/>
          </p:cNvSpPr>
          <p:nvPr/>
        </p:nvSpPr>
        <p:spPr>
          <a:xfrm>
            <a:off x="2560320" y="3256321"/>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74" name="Text 35">
            <a:extLst>
              <a:ext uri="{FF2B5EF4-FFF2-40B4-BE49-F238E27FC236}">
                <a16:creationId xmlns:a16="http://schemas.microsoft.com/office/drawing/2014/main" id="{8D010195-D595-4212-B6D8-BEB21A5577B8}"/>
              </a:ext>
            </a:extLst>
          </p:cNvPr>
          <p:cNvSpPr>
            <a:spLocks noGrp="1"/>
          </p:cNvSpPr>
          <p:nvPr/>
        </p:nvSpPr>
        <p:spPr>
          <a:xfrm>
            <a:off x="2633400" y="3281276"/>
            <a:ext cx="2506491" cy="35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9855" lnSpcReduction="10000"/>
          </a:bodyPr>
          <a:lstStyle/>
          <a:p>
            <a:pPr defTabSz="914400">
              <a:lnSpc>
                <a:spcPct val="100000"/>
              </a:lnSpc>
              <a:buNone/>
              <a:tabLst>
                <a:tab pos="0" algn="l"/>
              </a:tabLst>
            </a:pPr>
            <a:r>
              <a:rPr sz="1300" b="0" u="none">
                <a:solidFill>
                  <a:srgbClr val="6F6888"/>
                </a:solidFill>
                <a:latin typeface="Aptos"/>
                <a:ea typeface="Aptos"/>
                <a:cs typeface="Aptos"/>
              </a:rPr>
              <a:t>Catalog, risk, adapters, approval policy</a:t>
            </a:r>
            <a:endParaRPr sz="1300" b="0" u="none">
              <a:solidFill>
                <a:srgbClr val="000000"/>
              </a:solidFill>
              <a:latin typeface="Arial"/>
              <a:ea typeface="Arial"/>
              <a:cs typeface="Arial"/>
            </a:endParaRPr>
          </a:p>
        </p:txBody>
      </p:sp>
      <p:sp>
        <p:nvSpPr>
          <p:cNvPr id="575" name="Shape 36">
            <a:extLst>
              <a:ext uri="{FF2B5EF4-FFF2-40B4-BE49-F238E27FC236}">
                <a16:creationId xmlns:a16="http://schemas.microsoft.com/office/drawing/2014/main" id="{6CF808A2-10A1-4D4A-AC59-ACA0FEEE70D7}"/>
              </a:ext>
            </a:extLst>
          </p:cNvPr>
          <p:cNvSpPr>
            <a:spLocks noGrp="1"/>
          </p:cNvSpPr>
          <p:nvPr/>
        </p:nvSpPr>
        <p:spPr>
          <a:xfrm>
            <a:off x="5394960" y="325632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76" name="Text 37">
            <a:extLst>
              <a:ext uri="{FF2B5EF4-FFF2-40B4-BE49-F238E27FC236}">
                <a16:creationId xmlns:a16="http://schemas.microsoft.com/office/drawing/2014/main" id="{1033ACC4-86DB-425A-B876-CAEFA3A7C636}"/>
              </a:ext>
            </a:extLst>
          </p:cNvPr>
          <p:cNvSpPr>
            <a:spLocks noGrp="1"/>
          </p:cNvSpPr>
          <p:nvPr/>
        </p:nvSpPr>
        <p:spPr>
          <a:xfrm>
            <a:off x="5468040" y="3300525"/>
            <a:ext cx="2934720" cy="35604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Operation/context policy + org adoption</a:t>
            </a:r>
            <a:endParaRPr sz="1300" b="0" u="none">
              <a:solidFill>
                <a:srgbClr val="000000"/>
              </a:solidFill>
              <a:latin typeface="Arial"/>
              <a:ea typeface="Arial"/>
              <a:cs typeface="Arial"/>
            </a:endParaRPr>
          </a:p>
        </p:txBody>
      </p:sp>
      <p:sp>
        <p:nvSpPr>
          <p:cNvPr id="577" name="Shape 38">
            <a:extLst>
              <a:ext uri="{FF2B5EF4-FFF2-40B4-BE49-F238E27FC236}">
                <a16:creationId xmlns:a16="http://schemas.microsoft.com/office/drawing/2014/main" id="{1E0E6B5D-904C-4F8F-8C4D-F129C698C5CF}"/>
              </a:ext>
            </a:extLst>
          </p:cNvPr>
          <p:cNvSpPr>
            <a:spLocks noGrp="1"/>
          </p:cNvSpPr>
          <p:nvPr/>
        </p:nvSpPr>
        <p:spPr>
          <a:xfrm>
            <a:off x="8549640" y="325632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78" name="Text 39">
            <a:extLst>
              <a:ext uri="{FF2B5EF4-FFF2-40B4-BE49-F238E27FC236}">
                <a16:creationId xmlns:a16="http://schemas.microsoft.com/office/drawing/2014/main" id="{1BDD6D6A-FC08-4F03-9BB0-60E165E8CEB6}"/>
              </a:ext>
            </a:extLst>
          </p:cNvPr>
          <p:cNvSpPr>
            <a:spLocks noGrp="1"/>
          </p:cNvSpPr>
          <p:nvPr/>
        </p:nvSpPr>
        <p:spPr>
          <a:xfrm>
            <a:off x="8622720" y="3291750"/>
            <a:ext cx="2934720" cy="36481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Governed capability selection</a:t>
            </a:r>
            <a:endParaRPr sz="1300" b="0" u="none">
              <a:solidFill>
                <a:srgbClr val="000000"/>
              </a:solidFill>
              <a:latin typeface="Arial"/>
              <a:ea typeface="Arial"/>
              <a:cs typeface="Arial"/>
            </a:endParaRPr>
          </a:p>
        </p:txBody>
      </p:sp>
      <p:sp>
        <p:nvSpPr>
          <p:cNvPr id="579" name="Shape 40">
            <a:extLst>
              <a:ext uri="{FF2B5EF4-FFF2-40B4-BE49-F238E27FC236}">
                <a16:creationId xmlns:a16="http://schemas.microsoft.com/office/drawing/2014/main" id="{5A37EDCE-48CA-4351-98E3-2587CA5A53D4}"/>
              </a:ext>
            </a:extLst>
          </p:cNvPr>
          <p:cNvSpPr>
            <a:spLocks noGrp="1"/>
          </p:cNvSpPr>
          <p:nvPr/>
        </p:nvSpPr>
        <p:spPr>
          <a:xfrm>
            <a:off x="594360" y="3822961"/>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80" name="Text 41">
            <a:extLst>
              <a:ext uri="{FF2B5EF4-FFF2-40B4-BE49-F238E27FC236}">
                <a16:creationId xmlns:a16="http://schemas.microsoft.com/office/drawing/2014/main" id="{B5EEF3FD-37A0-4DEC-BA02-3090821A9974}"/>
              </a:ext>
            </a:extLst>
          </p:cNvPr>
          <p:cNvSpPr>
            <a:spLocks noGrp="1"/>
          </p:cNvSpPr>
          <p:nvPr/>
        </p:nvSpPr>
        <p:spPr>
          <a:xfrm>
            <a:off x="667440" y="3896401"/>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i="1" u="none">
                <a:solidFill>
                  <a:srgbClr val="151327"/>
                </a:solidFill>
                <a:latin typeface="Aptos"/>
                <a:ea typeface="Aptos"/>
                <a:cs typeface="Aptos"/>
              </a:rPr>
              <a:t>Recovery</a:t>
            </a:r>
            <a:endParaRPr sz="1400" b="0" i="1" u="none">
              <a:solidFill>
                <a:srgbClr val="000000"/>
              </a:solidFill>
              <a:latin typeface="Arial"/>
              <a:ea typeface="Arial"/>
              <a:cs typeface="Arial"/>
            </a:endParaRPr>
          </a:p>
        </p:txBody>
      </p:sp>
      <p:sp>
        <p:nvSpPr>
          <p:cNvPr id="581" name="Shape 42">
            <a:extLst>
              <a:ext uri="{FF2B5EF4-FFF2-40B4-BE49-F238E27FC236}">
                <a16:creationId xmlns:a16="http://schemas.microsoft.com/office/drawing/2014/main" id="{D4C690DF-B1B0-4D27-9BFA-16BE95152007}"/>
              </a:ext>
            </a:extLst>
          </p:cNvPr>
          <p:cNvSpPr>
            <a:spLocks noGrp="1"/>
          </p:cNvSpPr>
          <p:nvPr/>
        </p:nvSpPr>
        <p:spPr>
          <a:xfrm>
            <a:off x="2560320" y="3822961"/>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82" name="Text 43">
            <a:extLst>
              <a:ext uri="{FF2B5EF4-FFF2-40B4-BE49-F238E27FC236}">
                <a16:creationId xmlns:a16="http://schemas.microsoft.com/office/drawing/2014/main" id="{2487BFE1-0130-453B-B5D0-7E2F396C6F56}"/>
              </a:ext>
            </a:extLst>
          </p:cNvPr>
          <p:cNvSpPr>
            <a:spLocks noGrp="1"/>
          </p:cNvSpPr>
          <p:nvPr/>
        </p:nvSpPr>
        <p:spPr>
          <a:xfrm>
            <a:off x="2633400" y="3838651"/>
            <a:ext cx="261468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Budgets, dedupe, checkpoint/resume</a:t>
            </a:r>
            <a:endParaRPr sz="1300" b="0" u="none">
              <a:solidFill>
                <a:srgbClr val="000000"/>
              </a:solidFill>
              <a:latin typeface="Arial"/>
              <a:ea typeface="Arial"/>
              <a:cs typeface="Arial"/>
            </a:endParaRPr>
          </a:p>
        </p:txBody>
      </p:sp>
      <p:sp>
        <p:nvSpPr>
          <p:cNvPr id="583" name="Shape 44">
            <a:extLst>
              <a:ext uri="{FF2B5EF4-FFF2-40B4-BE49-F238E27FC236}">
                <a16:creationId xmlns:a16="http://schemas.microsoft.com/office/drawing/2014/main" id="{61DA3049-7F36-409E-9C2E-3FD3C5A0FFF9}"/>
              </a:ext>
            </a:extLst>
          </p:cNvPr>
          <p:cNvSpPr>
            <a:spLocks noGrp="1"/>
          </p:cNvSpPr>
          <p:nvPr/>
        </p:nvSpPr>
        <p:spPr>
          <a:xfrm>
            <a:off x="5394960" y="382296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84" name="Text 45">
            <a:extLst>
              <a:ext uri="{FF2B5EF4-FFF2-40B4-BE49-F238E27FC236}">
                <a16:creationId xmlns:a16="http://schemas.microsoft.com/office/drawing/2014/main" id="{B2A88F81-CA47-441F-BD51-0D1DC0B6B45D}"/>
              </a:ext>
            </a:extLst>
          </p:cNvPr>
          <p:cNvSpPr>
            <a:spLocks noGrp="1"/>
          </p:cNvSpPr>
          <p:nvPr/>
        </p:nvSpPr>
        <p:spPr>
          <a:xfrm>
            <a:off x="5468040" y="3857901"/>
            <a:ext cx="2934720" cy="37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a:solidFill>
                  <a:srgbClr val="6F6888"/>
                </a:solidFill>
                <a:latin typeface="Aptos"/>
                <a:ea typeface="Aptos"/>
                <a:cs typeface="Aptos"/>
              </a:rPr>
              <a:t>End-to-end replay across more paths</a:t>
            </a:r>
            <a:endParaRPr sz="1300" b="0" u="none">
              <a:solidFill>
                <a:srgbClr val="000000"/>
              </a:solidFill>
              <a:latin typeface="Arial"/>
              <a:ea typeface="Arial"/>
              <a:cs typeface="Arial"/>
            </a:endParaRPr>
          </a:p>
        </p:txBody>
      </p:sp>
      <p:sp>
        <p:nvSpPr>
          <p:cNvPr id="585" name="Shape 46">
            <a:extLst>
              <a:ext uri="{FF2B5EF4-FFF2-40B4-BE49-F238E27FC236}">
                <a16:creationId xmlns:a16="http://schemas.microsoft.com/office/drawing/2014/main" id="{A36FF717-EFD7-4D06-AC8E-6CE117C4DB0A}"/>
              </a:ext>
            </a:extLst>
          </p:cNvPr>
          <p:cNvSpPr>
            <a:spLocks noGrp="1"/>
          </p:cNvSpPr>
          <p:nvPr/>
        </p:nvSpPr>
        <p:spPr>
          <a:xfrm>
            <a:off x="8549640" y="3822961"/>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86" name="Text 47">
            <a:extLst>
              <a:ext uri="{FF2B5EF4-FFF2-40B4-BE49-F238E27FC236}">
                <a16:creationId xmlns:a16="http://schemas.microsoft.com/office/drawing/2014/main" id="{F2478A0F-58F9-48AB-9F98-29ABB64D1D72}"/>
              </a:ext>
            </a:extLst>
          </p:cNvPr>
          <p:cNvSpPr>
            <a:spLocks noGrp="1"/>
          </p:cNvSpPr>
          <p:nvPr/>
        </p:nvSpPr>
        <p:spPr>
          <a:xfrm>
            <a:off x="8622720" y="3896401"/>
            <a:ext cx="2934720" cy="3166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Durable recovery across work loops</a:t>
            </a:r>
            <a:endParaRPr sz="1300" b="0" u="none">
              <a:solidFill>
                <a:srgbClr val="000000"/>
              </a:solidFill>
              <a:latin typeface="Arial"/>
              <a:ea typeface="Arial"/>
              <a:cs typeface="Arial"/>
            </a:endParaRPr>
          </a:p>
        </p:txBody>
      </p:sp>
      <p:sp>
        <p:nvSpPr>
          <p:cNvPr id="587" name="Shape 48">
            <a:extLst>
              <a:ext uri="{FF2B5EF4-FFF2-40B4-BE49-F238E27FC236}">
                <a16:creationId xmlns:a16="http://schemas.microsoft.com/office/drawing/2014/main" id="{5D0EA355-1CFF-4ADF-A68C-32FA2E3C04F4}"/>
              </a:ext>
            </a:extLst>
          </p:cNvPr>
          <p:cNvSpPr>
            <a:spLocks noGrp="1"/>
          </p:cNvSpPr>
          <p:nvPr/>
        </p:nvSpPr>
        <p:spPr>
          <a:xfrm>
            <a:off x="594360" y="4967472"/>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88" name="Text 49">
            <a:extLst>
              <a:ext uri="{FF2B5EF4-FFF2-40B4-BE49-F238E27FC236}">
                <a16:creationId xmlns:a16="http://schemas.microsoft.com/office/drawing/2014/main" id="{A0743C2D-D327-4AC0-8FA0-F24EBB89B240}"/>
              </a:ext>
            </a:extLst>
          </p:cNvPr>
          <p:cNvSpPr>
            <a:spLocks noGrp="1"/>
          </p:cNvSpPr>
          <p:nvPr/>
        </p:nvSpPr>
        <p:spPr>
          <a:xfrm>
            <a:off x="667440" y="5040552"/>
            <a:ext cx="1773720" cy="279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i="1" u="none" dirty="0">
                <a:solidFill>
                  <a:srgbClr val="151327"/>
                </a:solidFill>
                <a:latin typeface="Aptos"/>
                <a:ea typeface="Aptos"/>
                <a:cs typeface="Aptos"/>
              </a:rPr>
              <a:t>Evidence</a:t>
            </a:r>
            <a:endParaRPr sz="1400" b="0" i="1" u="none" dirty="0">
              <a:solidFill>
                <a:srgbClr val="000000"/>
              </a:solidFill>
              <a:latin typeface="Arial"/>
              <a:ea typeface="Arial"/>
              <a:cs typeface="Arial"/>
            </a:endParaRPr>
          </a:p>
        </p:txBody>
      </p:sp>
      <p:sp>
        <p:nvSpPr>
          <p:cNvPr id="589" name="Shape 50">
            <a:extLst>
              <a:ext uri="{FF2B5EF4-FFF2-40B4-BE49-F238E27FC236}">
                <a16:creationId xmlns:a16="http://schemas.microsoft.com/office/drawing/2014/main" id="{415F272A-81A1-4C4F-8CFB-09C0D898409D}"/>
              </a:ext>
            </a:extLst>
          </p:cNvPr>
          <p:cNvSpPr>
            <a:spLocks noGrp="1"/>
          </p:cNvSpPr>
          <p:nvPr/>
        </p:nvSpPr>
        <p:spPr>
          <a:xfrm>
            <a:off x="2560320" y="4967472"/>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90" name="Text 51">
            <a:extLst>
              <a:ext uri="{FF2B5EF4-FFF2-40B4-BE49-F238E27FC236}">
                <a16:creationId xmlns:a16="http://schemas.microsoft.com/office/drawing/2014/main" id="{89575DA1-4974-4882-8AB3-4854DB940D86}"/>
              </a:ext>
            </a:extLst>
          </p:cNvPr>
          <p:cNvSpPr>
            <a:spLocks noGrp="1"/>
          </p:cNvSpPr>
          <p:nvPr/>
        </p:nvSpPr>
        <p:spPr>
          <a:xfrm>
            <a:off x="2633400" y="5021302"/>
            <a:ext cx="2614680" cy="317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20000"/>
          </a:bodyPr>
          <a:lstStyle/>
          <a:p>
            <a:pPr defTabSz="914400">
              <a:lnSpc>
                <a:spcPct val="100000"/>
              </a:lnSpc>
              <a:buNone/>
              <a:tabLst>
                <a:tab pos="0" algn="l"/>
              </a:tabLst>
            </a:pPr>
            <a:r>
              <a:rPr sz="1300" b="0" u="none">
                <a:solidFill>
                  <a:srgbClr val="6F6888"/>
                </a:solidFill>
                <a:latin typeface="Aptos"/>
                <a:ea typeface="Aptos"/>
                <a:cs typeface="Aptos"/>
              </a:rPr>
              <a:t>Logs, usage, selftests, R1 hosted evidence</a:t>
            </a:r>
            <a:endParaRPr sz="1300" b="0" u="none">
              <a:solidFill>
                <a:srgbClr val="000000"/>
              </a:solidFill>
              <a:latin typeface="Arial"/>
              <a:ea typeface="Arial"/>
              <a:cs typeface="Arial"/>
            </a:endParaRPr>
          </a:p>
        </p:txBody>
      </p:sp>
      <p:sp>
        <p:nvSpPr>
          <p:cNvPr id="591" name="Shape 52">
            <a:extLst>
              <a:ext uri="{FF2B5EF4-FFF2-40B4-BE49-F238E27FC236}">
                <a16:creationId xmlns:a16="http://schemas.microsoft.com/office/drawing/2014/main" id="{2F67F5BD-037D-4292-98A6-9BDA679FE12F}"/>
              </a:ext>
            </a:extLst>
          </p:cNvPr>
          <p:cNvSpPr>
            <a:spLocks noGrp="1"/>
          </p:cNvSpPr>
          <p:nvPr/>
        </p:nvSpPr>
        <p:spPr>
          <a:xfrm>
            <a:off x="5394960" y="4967472"/>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92" name="Text 53">
            <a:extLst>
              <a:ext uri="{FF2B5EF4-FFF2-40B4-BE49-F238E27FC236}">
                <a16:creationId xmlns:a16="http://schemas.microsoft.com/office/drawing/2014/main" id="{D82D087C-E15E-4A29-A55F-A64406C3C2B7}"/>
              </a:ext>
            </a:extLst>
          </p:cNvPr>
          <p:cNvSpPr>
            <a:spLocks noGrp="1"/>
          </p:cNvSpPr>
          <p:nvPr/>
        </p:nvSpPr>
        <p:spPr>
          <a:xfrm>
            <a:off x="5468040" y="5002052"/>
            <a:ext cx="29347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Outcome coverage y logging controls</a:t>
            </a:r>
            <a:endParaRPr sz="1300" b="0" u="none">
              <a:solidFill>
                <a:srgbClr val="000000"/>
              </a:solidFill>
              <a:latin typeface="Arial"/>
              <a:ea typeface="Arial"/>
              <a:cs typeface="Arial"/>
            </a:endParaRPr>
          </a:p>
        </p:txBody>
      </p:sp>
      <p:sp>
        <p:nvSpPr>
          <p:cNvPr id="593" name="Shape 54">
            <a:extLst>
              <a:ext uri="{FF2B5EF4-FFF2-40B4-BE49-F238E27FC236}">
                <a16:creationId xmlns:a16="http://schemas.microsoft.com/office/drawing/2014/main" id="{6BEE19B8-03B5-4DBC-B274-E53450D8E381}"/>
              </a:ext>
            </a:extLst>
          </p:cNvPr>
          <p:cNvSpPr>
            <a:spLocks noGrp="1"/>
          </p:cNvSpPr>
          <p:nvPr/>
        </p:nvSpPr>
        <p:spPr>
          <a:xfrm>
            <a:off x="8549640" y="4967472"/>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594" name="Text 55">
            <a:extLst>
              <a:ext uri="{FF2B5EF4-FFF2-40B4-BE49-F238E27FC236}">
                <a16:creationId xmlns:a16="http://schemas.microsoft.com/office/drawing/2014/main" id="{B5FFBEDC-F9F9-4399-85F3-87F35F70BB23}"/>
              </a:ext>
            </a:extLst>
          </p:cNvPr>
          <p:cNvSpPr>
            <a:spLocks noGrp="1"/>
          </p:cNvSpPr>
          <p:nvPr/>
        </p:nvSpPr>
        <p:spPr>
          <a:xfrm>
            <a:off x="8622720" y="5021302"/>
            <a:ext cx="2934720" cy="2986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Evidence closes actions/work/outcomes</a:t>
            </a:r>
            <a:endParaRPr sz="1300" b="0" u="none">
              <a:solidFill>
                <a:srgbClr val="000000"/>
              </a:solidFill>
              <a:latin typeface="Arial"/>
              <a:ea typeface="Arial"/>
              <a:cs typeface="Arial"/>
            </a:endParaRPr>
          </a:p>
        </p:txBody>
      </p:sp>
      <p:sp>
        <p:nvSpPr>
          <p:cNvPr id="595" name="Shape 56">
            <a:extLst>
              <a:ext uri="{FF2B5EF4-FFF2-40B4-BE49-F238E27FC236}">
                <a16:creationId xmlns:a16="http://schemas.microsoft.com/office/drawing/2014/main" id="{648A8FB7-0F48-4FF7-8193-AB37858E3D14}"/>
              </a:ext>
            </a:extLst>
          </p:cNvPr>
          <p:cNvSpPr>
            <a:spLocks noGrp="1"/>
          </p:cNvSpPr>
          <p:nvPr/>
        </p:nvSpPr>
        <p:spPr>
          <a:xfrm>
            <a:off x="749881" y="6047070"/>
            <a:ext cx="10698120" cy="467980"/>
          </a:xfrm>
          <a:prstGeom prst="roundRect">
            <a:avLst>
              <a:gd name="adj" fmla="val 19048"/>
            </a:avLst>
          </a:prstGeom>
          <a:solidFill>
            <a:srgbClr val="F1EBFF"/>
          </a:solidFill>
          <a:ln w="12700">
            <a:solidFill>
              <a:srgbClr val="F1EBFF">
                <a:alpha val="0"/>
              </a:srgbClr>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800" b="0" u="none">
              <a:solidFill>
                <a:srgbClr val="000000"/>
              </a:solidFill>
              <a:latin typeface="Arial"/>
              <a:ea typeface="Arial"/>
              <a:cs typeface="Arial"/>
            </a:endParaRPr>
          </a:p>
        </p:txBody>
      </p:sp>
      <p:sp>
        <p:nvSpPr>
          <p:cNvPr id="596" name="Text 57">
            <a:extLst>
              <a:ext uri="{FF2B5EF4-FFF2-40B4-BE49-F238E27FC236}">
                <a16:creationId xmlns:a16="http://schemas.microsoft.com/office/drawing/2014/main" id="{039E89D5-271C-4B4F-8325-D5D5E85B335F}"/>
              </a:ext>
            </a:extLst>
          </p:cNvPr>
          <p:cNvSpPr>
            <a:spLocks noGrp="1"/>
          </p:cNvSpPr>
          <p:nvPr/>
        </p:nvSpPr>
        <p:spPr>
          <a:xfrm>
            <a:off x="904775" y="6120775"/>
            <a:ext cx="10433785" cy="340422"/>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buNone/>
              <a:tabLst>
                <a:tab pos="0" algn="l"/>
              </a:tabLst>
            </a:pPr>
            <a:r>
              <a:rPr sz="1400" b="1" u="none">
                <a:solidFill>
                  <a:srgbClr val="5F2CCB"/>
                </a:solidFill>
                <a:latin typeface="Aptos"/>
                <a:ea typeface="Aptos"/>
                <a:cs typeface="Aptos"/>
              </a:rPr>
              <a:t>No presentes target como runtime; abre el code path y verifica.</a:t>
            </a:r>
            <a:endParaRPr sz="1400" b="0" u="none">
              <a:solidFill>
                <a:srgbClr val="000000"/>
              </a:solidFill>
              <a:latin typeface="Arial"/>
              <a:ea typeface="Arial"/>
              <a:cs typeface="Arial"/>
            </a:endParaRPr>
          </a:p>
        </p:txBody>
      </p:sp>
      <p:pic>
        <p:nvPicPr>
          <p:cNvPr id="655" name="Image 0"/>
          <p:cNvPicPr>
            <a:picLocks noChangeAspect="1"/>
          </p:cNvPicPr>
          <p:nvPr/>
        </p:nvPicPr>
        <p:blipFill>
          <a:blip r:embed="rId3"/>
          <a:stretch>
            <a:fillRect/>
          </a:stretch>
        </p:blipFill>
        <p:spPr>
          <a:xfrm>
            <a:off x="11109960" y="449715"/>
            <a:ext cx="566928" cy="472170"/>
          </a:xfrm>
          <a:prstGeom prst="rect">
            <a:avLst/>
          </a:prstGeom>
        </p:spPr>
      </p:pic>
      <p:sp>
        <p:nvSpPr>
          <p:cNvPr id="4" name="Shape 32">
            <a:extLst>
              <a:ext uri="{FF2B5EF4-FFF2-40B4-BE49-F238E27FC236}">
                <a16:creationId xmlns:a16="http://schemas.microsoft.com/office/drawing/2014/main" id="{6CDD65E2-D57C-2940-19CE-840EAF8ED1D2}"/>
              </a:ext>
            </a:extLst>
          </p:cNvPr>
          <p:cNvSpPr>
            <a:spLocks noGrp="1"/>
          </p:cNvSpPr>
          <p:nvPr/>
        </p:nvSpPr>
        <p:spPr>
          <a:xfrm>
            <a:off x="593205" y="4383388"/>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6" name="Text 33">
            <a:extLst>
              <a:ext uri="{FF2B5EF4-FFF2-40B4-BE49-F238E27FC236}">
                <a16:creationId xmlns:a16="http://schemas.microsoft.com/office/drawing/2014/main" id="{47C1A929-D052-8CB2-F735-84A7665A369F}"/>
              </a:ext>
            </a:extLst>
          </p:cNvPr>
          <p:cNvSpPr>
            <a:spLocks noGrp="1"/>
          </p:cNvSpPr>
          <p:nvPr/>
        </p:nvSpPr>
        <p:spPr>
          <a:xfrm>
            <a:off x="666285" y="4456468"/>
            <a:ext cx="17460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i="1" u="none">
                <a:solidFill>
                  <a:srgbClr val="151327"/>
                </a:solidFill>
                <a:latin typeface="Aptos"/>
                <a:ea typeface="Aptos"/>
                <a:cs typeface="Aptos"/>
              </a:rPr>
              <a:t>Organizations</a:t>
            </a:r>
            <a:endParaRPr sz="1400" b="0" i="1" u="none">
              <a:solidFill>
                <a:srgbClr val="000000"/>
              </a:solidFill>
              <a:latin typeface="Arial"/>
              <a:ea typeface="Arial"/>
              <a:cs typeface="Arial"/>
            </a:endParaRPr>
          </a:p>
        </p:txBody>
      </p:sp>
      <p:sp>
        <p:nvSpPr>
          <p:cNvPr id="8" name="Shape 34">
            <a:extLst>
              <a:ext uri="{FF2B5EF4-FFF2-40B4-BE49-F238E27FC236}">
                <a16:creationId xmlns:a16="http://schemas.microsoft.com/office/drawing/2014/main" id="{FA83087B-39B5-79CE-FD09-A69FA233008B}"/>
              </a:ext>
            </a:extLst>
          </p:cNvPr>
          <p:cNvSpPr>
            <a:spLocks noGrp="1"/>
          </p:cNvSpPr>
          <p:nvPr/>
        </p:nvSpPr>
        <p:spPr>
          <a:xfrm>
            <a:off x="2559165" y="4383388"/>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10" name="Text 35">
            <a:extLst>
              <a:ext uri="{FF2B5EF4-FFF2-40B4-BE49-F238E27FC236}">
                <a16:creationId xmlns:a16="http://schemas.microsoft.com/office/drawing/2014/main" id="{ED8B8A4B-FE37-187B-C07F-641FC5763B86}"/>
              </a:ext>
            </a:extLst>
          </p:cNvPr>
          <p:cNvSpPr>
            <a:spLocks noGrp="1"/>
          </p:cNvSpPr>
          <p:nvPr/>
        </p:nvSpPr>
        <p:spPr>
          <a:xfrm>
            <a:off x="2632245" y="4456468"/>
            <a:ext cx="2506491" cy="356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338" lnSpcReduction="10000"/>
          </a:bodyPr>
          <a:lstStyle/>
          <a:p>
            <a:pPr defTabSz="914400">
              <a:lnSpc>
                <a:spcPct val="100000"/>
              </a:lnSpc>
              <a:buNone/>
              <a:tabLst>
                <a:tab pos="0" algn="l"/>
              </a:tabLst>
            </a:pPr>
            <a:r>
              <a:rPr sz="1300" b="0" u="none">
                <a:solidFill>
                  <a:srgbClr val="6F6888"/>
                </a:solidFill>
                <a:latin typeface="Aptos"/>
                <a:ea typeface="Aptos"/>
                <a:cs typeface="Aptos"/>
              </a:rPr>
              <a:t>Schema/RLS foundations; routes mixed scoped</a:t>
            </a:r>
            <a:endParaRPr sz="1300" b="0" u="none">
              <a:solidFill>
                <a:srgbClr val="000000"/>
              </a:solidFill>
              <a:latin typeface="Arial"/>
              <a:ea typeface="Arial"/>
              <a:cs typeface="Arial"/>
            </a:endParaRPr>
          </a:p>
        </p:txBody>
      </p:sp>
      <p:sp>
        <p:nvSpPr>
          <p:cNvPr id="12" name="Shape 36">
            <a:extLst>
              <a:ext uri="{FF2B5EF4-FFF2-40B4-BE49-F238E27FC236}">
                <a16:creationId xmlns:a16="http://schemas.microsoft.com/office/drawing/2014/main" id="{675C81C6-8213-95D3-5C96-314EC4340ECF}"/>
              </a:ext>
            </a:extLst>
          </p:cNvPr>
          <p:cNvSpPr>
            <a:spLocks noGrp="1"/>
          </p:cNvSpPr>
          <p:nvPr/>
        </p:nvSpPr>
        <p:spPr>
          <a:xfrm>
            <a:off x="5393805" y="4383388"/>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14" name="Text 37">
            <a:extLst>
              <a:ext uri="{FF2B5EF4-FFF2-40B4-BE49-F238E27FC236}">
                <a16:creationId xmlns:a16="http://schemas.microsoft.com/office/drawing/2014/main" id="{A8AAB8DA-E110-8BED-70B5-3EC8832149E1}"/>
              </a:ext>
            </a:extLst>
          </p:cNvPr>
          <p:cNvSpPr>
            <a:spLocks noGrp="1"/>
          </p:cNvSpPr>
          <p:nvPr/>
        </p:nvSpPr>
        <p:spPr>
          <a:xfrm>
            <a:off x="5466885" y="4427592"/>
            <a:ext cx="2934720" cy="35604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Migrate runtime authority and scopes</a:t>
            </a:r>
            <a:endParaRPr sz="1300" b="0" u="none">
              <a:solidFill>
                <a:srgbClr val="000000"/>
              </a:solidFill>
              <a:latin typeface="Arial"/>
              <a:ea typeface="Arial"/>
              <a:cs typeface="Arial"/>
            </a:endParaRPr>
          </a:p>
        </p:txBody>
      </p:sp>
      <p:sp>
        <p:nvSpPr>
          <p:cNvPr id="16" name="Shape 38">
            <a:extLst>
              <a:ext uri="{FF2B5EF4-FFF2-40B4-BE49-F238E27FC236}">
                <a16:creationId xmlns:a16="http://schemas.microsoft.com/office/drawing/2014/main" id="{0C50F44A-B478-4A45-0729-02EB4FE0DC6B}"/>
              </a:ext>
            </a:extLst>
          </p:cNvPr>
          <p:cNvSpPr>
            <a:spLocks noGrp="1"/>
          </p:cNvSpPr>
          <p:nvPr/>
        </p:nvSpPr>
        <p:spPr>
          <a:xfrm>
            <a:off x="8548485" y="4383388"/>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18" name="Text 39">
            <a:extLst>
              <a:ext uri="{FF2B5EF4-FFF2-40B4-BE49-F238E27FC236}">
                <a16:creationId xmlns:a16="http://schemas.microsoft.com/office/drawing/2014/main" id="{8435773F-923F-DB57-B244-59932C6AC154}"/>
              </a:ext>
            </a:extLst>
          </p:cNvPr>
          <p:cNvSpPr>
            <a:spLocks noGrp="1"/>
          </p:cNvSpPr>
          <p:nvPr/>
        </p:nvSpPr>
        <p:spPr>
          <a:xfrm>
            <a:off x="8621565" y="4418817"/>
            <a:ext cx="2934720" cy="36481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Multi-seat organizational operation</a:t>
            </a:r>
            <a:endParaRPr sz="1300" b="0" u="none">
              <a:solidFill>
                <a:srgbClr val="000000"/>
              </a:solidFill>
              <a:latin typeface="Arial"/>
              <a:ea typeface="Arial"/>
              <a:cs typeface="Arial"/>
            </a:endParaRPr>
          </a:p>
        </p:txBody>
      </p:sp>
      <p:sp>
        <p:nvSpPr>
          <p:cNvPr id="20" name="Shape 48">
            <a:extLst>
              <a:ext uri="{FF2B5EF4-FFF2-40B4-BE49-F238E27FC236}">
                <a16:creationId xmlns:a16="http://schemas.microsoft.com/office/drawing/2014/main" id="{676ABF06-2372-0EA0-8A46-65414BA12BC3}"/>
              </a:ext>
            </a:extLst>
          </p:cNvPr>
          <p:cNvSpPr>
            <a:spLocks noGrp="1"/>
          </p:cNvSpPr>
          <p:nvPr/>
        </p:nvSpPr>
        <p:spPr>
          <a:xfrm>
            <a:off x="593205" y="5535362"/>
            <a:ext cx="189252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22" name="Text 49">
            <a:extLst>
              <a:ext uri="{FF2B5EF4-FFF2-40B4-BE49-F238E27FC236}">
                <a16:creationId xmlns:a16="http://schemas.microsoft.com/office/drawing/2014/main" id="{A981233E-689F-7D2B-A549-89F66BF724A6}"/>
              </a:ext>
            </a:extLst>
          </p:cNvPr>
          <p:cNvSpPr>
            <a:spLocks noGrp="1"/>
          </p:cNvSpPr>
          <p:nvPr/>
        </p:nvSpPr>
        <p:spPr>
          <a:xfrm>
            <a:off x="666285" y="5608442"/>
            <a:ext cx="1773720" cy="27500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buNone/>
              <a:tabLst>
                <a:tab pos="0" algn="l"/>
              </a:tabLst>
            </a:pPr>
            <a:r>
              <a:rPr sz="1400" b="1" i="1" u="none">
                <a:solidFill>
                  <a:srgbClr val="151327"/>
                </a:solidFill>
                <a:latin typeface="Aptos"/>
                <a:ea typeface="Aptos"/>
                <a:cs typeface="Aptos"/>
              </a:rPr>
              <a:t>Durable bridge</a:t>
            </a:r>
            <a:endParaRPr sz="1400" b="0" i="1" u="none">
              <a:solidFill>
                <a:srgbClr val="000000"/>
              </a:solidFill>
              <a:latin typeface="Arial"/>
              <a:ea typeface="Arial"/>
              <a:cs typeface="Arial"/>
            </a:endParaRPr>
          </a:p>
        </p:txBody>
      </p:sp>
      <p:sp>
        <p:nvSpPr>
          <p:cNvPr id="24" name="Shape 50">
            <a:extLst>
              <a:ext uri="{FF2B5EF4-FFF2-40B4-BE49-F238E27FC236}">
                <a16:creationId xmlns:a16="http://schemas.microsoft.com/office/drawing/2014/main" id="{302A7A4C-6BEA-886B-3467-2B587EC7CAB0}"/>
              </a:ext>
            </a:extLst>
          </p:cNvPr>
          <p:cNvSpPr>
            <a:spLocks noGrp="1"/>
          </p:cNvSpPr>
          <p:nvPr/>
        </p:nvSpPr>
        <p:spPr>
          <a:xfrm>
            <a:off x="2559165" y="5535362"/>
            <a:ext cx="276120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26" name="Text 51">
            <a:extLst>
              <a:ext uri="{FF2B5EF4-FFF2-40B4-BE49-F238E27FC236}">
                <a16:creationId xmlns:a16="http://schemas.microsoft.com/office/drawing/2014/main" id="{FA9CB9FD-3FBA-0E32-D061-97B6D373357F}"/>
              </a:ext>
            </a:extLst>
          </p:cNvPr>
          <p:cNvSpPr>
            <a:spLocks noGrp="1"/>
          </p:cNvSpPr>
          <p:nvPr/>
        </p:nvSpPr>
        <p:spPr>
          <a:xfrm>
            <a:off x="2632245" y="5589192"/>
            <a:ext cx="2614680" cy="3179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defTabSz="914400">
              <a:lnSpc>
                <a:spcPct val="100000"/>
              </a:lnSpc>
              <a:buNone/>
              <a:tabLst>
                <a:tab pos="0" algn="l"/>
              </a:tabLst>
            </a:pPr>
            <a:r>
              <a:rPr sz="1300" b="0" u="none">
                <a:solidFill>
                  <a:srgbClr val="6F6888"/>
                </a:solidFill>
                <a:latin typeface="Aptos"/>
                <a:ea typeface="Aptos"/>
                <a:cs typeface="Aptos"/>
              </a:rPr>
              <a:t>Cases/Work/Durable Task foundations</a:t>
            </a:r>
            <a:endParaRPr sz="1300" b="0" u="none">
              <a:solidFill>
                <a:srgbClr val="000000"/>
              </a:solidFill>
              <a:latin typeface="Arial"/>
              <a:ea typeface="Arial"/>
              <a:cs typeface="Arial"/>
            </a:endParaRPr>
          </a:p>
        </p:txBody>
      </p:sp>
      <p:sp>
        <p:nvSpPr>
          <p:cNvPr id="28" name="Shape 52">
            <a:extLst>
              <a:ext uri="{FF2B5EF4-FFF2-40B4-BE49-F238E27FC236}">
                <a16:creationId xmlns:a16="http://schemas.microsoft.com/office/drawing/2014/main" id="{3C1B59BB-05BF-ED2D-5988-973645E7CC31}"/>
              </a:ext>
            </a:extLst>
          </p:cNvPr>
          <p:cNvSpPr>
            <a:spLocks noGrp="1"/>
          </p:cNvSpPr>
          <p:nvPr/>
        </p:nvSpPr>
        <p:spPr>
          <a:xfrm>
            <a:off x="5393805" y="5535362"/>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30" name="Text 53">
            <a:extLst>
              <a:ext uri="{FF2B5EF4-FFF2-40B4-BE49-F238E27FC236}">
                <a16:creationId xmlns:a16="http://schemas.microsoft.com/office/drawing/2014/main" id="{1B29F206-F3C4-5AC2-A781-9F3CE5EEF86A}"/>
              </a:ext>
            </a:extLst>
          </p:cNvPr>
          <p:cNvSpPr>
            <a:spLocks noGrp="1"/>
          </p:cNvSpPr>
          <p:nvPr/>
        </p:nvSpPr>
        <p:spPr>
          <a:xfrm>
            <a:off x="5466885" y="5569942"/>
            <a:ext cx="2934720" cy="35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R1 supervisor loop SL-4 READY</a:t>
            </a:r>
            <a:endParaRPr sz="1300" b="0" u="none">
              <a:solidFill>
                <a:srgbClr val="000000"/>
              </a:solidFill>
              <a:latin typeface="Arial"/>
              <a:ea typeface="Arial"/>
              <a:cs typeface="Arial"/>
            </a:endParaRPr>
          </a:p>
        </p:txBody>
      </p:sp>
      <p:sp>
        <p:nvSpPr>
          <p:cNvPr id="32" name="Shape 54">
            <a:extLst>
              <a:ext uri="{FF2B5EF4-FFF2-40B4-BE49-F238E27FC236}">
                <a16:creationId xmlns:a16="http://schemas.microsoft.com/office/drawing/2014/main" id="{149BB92A-CBEE-0B8A-91F5-CDD4CED12FA2}"/>
              </a:ext>
            </a:extLst>
          </p:cNvPr>
          <p:cNvSpPr>
            <a:spLocks noGrp="1"/>
          </p:cNvSpPr>
          <p:nvPr/>
        </p:nvSpPr>
        <p:spPr>
          <a:xfrm>
            <a:off x="8548485" y="5535362"/>
            <a:ext cx="3081240" cy="429480"/>
          </a:xfrm>
          <a:prstGeom prst="roundRect">
            <a:avLst>
              <a:gd name="adj" fmla="val 12766"/>
            </a:avLst>
          </a:prstGeom>
          <a:solidFill>
            <a:srgbClr val="FFFFFF"/>
          </a:solidFill>
          <a:ln w="8890">
            <a:solidFill>
              <a:srgbClr val="DED2F6"/>
            </a:solid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sz="1400" b="0" u="none">
              <a:solidFill>
                <a:srgbClr val="000000"/>
              </a:solidFill>
              <a:latin typeface="Arial"/>
              <a:ea typeface="Arial"/>
              <a:cs typeface="Arial"/>
            </a:endParaRPr>
          </a:p>
        </p:txBody>
      </p:sp>
      <p:sp>
        <p:nvSpPr>
          <p:cNvPr id="34" name="Text 55">
            <a:extLst>
              <a:ext uri="{FF2B5EF4-FFF2-40B4-BE49-F238E27FC236}">
                <a16:creationId xmlns:a16="http://schemas.microsoft.com/office/drawing/2014/main" id="{4C06AB27-26DB-5BBF-1B7B-E7DBEA234548}"/>
              </a:ext>
            </a:extLst>
          </p:cNvPr>
          <p:cNvSpPr>
            <a:spLocks noGrp="1"/>
          </p:cNvSpPr>
          <p:nvPr/>
        </p:nvSpPr>
        <p:spPr>
          <a:xfrm>
            <a:off x="8621565" y="5589192"/>
            <a:ext cx="2934720" cy="29865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buNone/>
              <a:tabLst>
                <a:tab pos="0" algn="l"/>
              </a:tabLst>
            </a:pPr>
            <a:r>
              <a:rPr sz="1300" b="0" u="none">
                <a:solidFill>
                  <a:srgbClr val="6F6888"/>
                </a:solidFill>
                <a:latin typeface="Aptos"/>
                <a:ea typeface="Aptos"/>
                <a:cs typeface="Aptos"/>
              </a:rPr>
              <a:t>Cross-domain responsibility kernel</a:t>
            </a:r>
            <a:endParaRPr sz="1300" b="0" u="none">
              <a:solidFill>
                <a:srgbClr val="000000"/>
              </a:solidFill>
              <a:latin typeface="Arial"/>
              <a:ea typeface="Arial"/>
              <a:cs typeface="Arial"/>
            </a:endParaRPr>
          </a:p>
        </p:txBody>
      </p:sp>
    </p:spTree>
    <p:extLst>
      <p:ext uri="{BB962C8B-B14F-4D97-AF65-F5344CB8AC3E}">
        <p14:creationId xmlns:p14="http://schemas.microsoft.com/office/powerpoint/2010/main" val="1786189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618F6DEF-7D48-40BC-B18B-856FBF23F32D}"/>
              </a:ext>
            </a:extLst>
          </p:cNvPr>
          <p:cNvSpPr>
            <a:spLocks noGrp="1"/>
          </p:cNvSpPr>
          <p:nvPr/>
        </p:nvSpPr>
        <p:spPr>
          <a:xfrm>
            <a:off x="676656" y="2331720"/>
            <a:ext cx="5669280" cy="685800"/>
          </a:xfrm>
          <a:prstGeom prst="rect">
            <a:avLst/>
          </a:prstGeom>
          <a:noFill/>
        </p:spPr>
        <p:txBody>
          <a:bodyPr wrap="square" lIns="0" tIns="0" rIns="0" bIns="0" anchor="ctr">
            <a:normAutofit fontScale="66711" lnSpcReduction="20000"/>
          </a:bodyPr>
          <a:lstStyle/>
          <a:p>
            <a:pPr marL="0" indent="0" algn="l">
              <a:lnSpc>
                <a:spcPct val="100000"/>
              </a:lnSpc>
              <a:buNone/>
            </a:pPr>
            <a:r>
              <a:rPr sz="3800" b="1">
                <a:solidFill>
                  <a:srgbClr val="FFFFFF"/>
                </a:solidFill>
                <a:latin typeface="Inter Display"/>
                <a:ea typeface="Inter Display"/>
                <a:cs typeface="Inter Display"/>
              </a:rPr>
              <a:t>Un buen harness hace que el modelo</a:t>
            </a:r>
            <a:endParaRPr sz="3800"/>
          </a:p>
          <a:p>
            <a:pPr marL="0" indent="0" algn="l">
              <a:lnSpc>
                <a:spcPct val="100000"/>
              </a:lnSpc>
              <a:buNone/>
            </a:pPr>
            <a:r>
              <a:rPr sz="3800" b="1">
                <a:solidFill>
                  <a:srgbClr val="FFFFFF"/>
                </a:solidFill>
                <a:latin typeface="Inter Display"/>
                <a:ea typeface="Inter Display"/>
                <a:cs typeface="Inter Display"/>
              </a:rPr>
              <a:t>pueda trabajar sin poseer autoridad.</a:t>
            </a:r>
            <a:endParaRPr sz="3800"/>
          </a:p>
        </p:txBody>
      </p:sp>
      <p:sp>
        <p:nvSpPr>
          <p:cNvPr id="4" name="Text 1">
            <a:extLst>
              <a:ext uri="{FF2B5EF4-FFF2-40B4-BE49-F238E27FC236}">
                <a16:creationId xmlns:a16="http://schemas.microsoft.com/office/drawing/2014/main" id="{ED9D48F3-5576-4724-8683-EA137FCD39ED}"/>
              </a:ext>
            </a:extLst>
          </p:cNvPr>
          <p:cNvSpPr>
            <a:spLocks noGrp="1"/>
          </p:cNvSpPr>
          <p:nvPr/>
        </p:nvSpPr>
        <p:spPr>
          <a:xfrm>
            <a:off x="694944" y="3072384"/>
            <a:ext cx="5760720" cy="411480"/>
          </a:xfrm>
          <a:prstGeom prst="rect">
            <a:avLst/>
          </a:prstGeom>
          <a:noFill/>
        </p:spPr>
        <p:txBody>
          <a:bodyPr wrap="square" lIns="0" tIns="0" rIns="0" bIns="0" anchor="ctr">
            <a:normAutofit fontScale="84973" lnSpcReduction="10000"/>
          </a:bodyPr>
          <a:lstStyle/>
          <a:p>
            <a:pPr marL="0" indent="0" algn="l">
              <a:lnSpc>
                <a:spcPct val="100000"/>
              </a:lnSpc>
              <a:buNone/>
            </a:pPr>
            <a:r>
              <a:rPr dirty="0" err="1">
                <a:solidFill>
                  <a:srgbClr val="D8CFEA"/>
                </a:solidFill>
                <a:latin typeface="Inter"/>
                <a:ea typeface="Inter"/>
                <a:cs typeface="Inter"/>
              </a:rPr>
              <a:t>Contexto</a:t>
            </a:r>
            <a:r>
              <a:rPr dirty="0">
                <a:solidFill>
                  <a:srgbClr val="D8CFEA"/>
                </a:solidFill>
                <a:latin typeface="Inter"/>
                <a:ea typeface="Inter"/>
                <a:cs typeface="Inter"/>
              </a:rPr>
              <a:t> </a:t>
            </a:r>
            <a:r>
              <a:rPr dirty="0" err="1">
                <a:solidFill>
                  <a:srgbClr val="D8CFEA"/>
                </a:solidFill>
                <a:latin typeface="Inter"/>
                <a:ea typeface="Inter"/>
                <a:cs typeface="Inter"/>
              </a:rPr>
              <a:t>compilado</a:t>
            </a:r>
            <a:r>
              <a:rPr dirty="0">
                <a:solidFill>
                  <a:srgbClr val="D8CFEA"/>
                </a:solidFill>
                <a:latin typeface="Inter"/>
                <a:ea typeface="Inter"/>
                <a:cs typeface="Inter"/>
              </a:rPr>
              <a:t>. </a:t>
            </a:r>
            <a:r>
              <a:rPr lang="es-MX" dirty="0">
                <a:solidFill>
                  <a:srgbClr val="D8CFEA"/>
                </a:solidFill>
                <a:latin typeface="Inter"/>
                <a:ea typeface="Inter"/>
                <a:cs typeface="Inter"/>
              </a:rPr>
              <a:t>Estado</a:t>
            </a:r>
            <a:r>
              <a:rPr dirty="0">
                <a:solidFill>
                  <a:srgbClr val="D8CFEA"/>
                </a:solidFill>
                <a:latin typeface="Inter"/>
                <a:ea typeface="Inter"/>
                <a:cs typeface="Inter"/>
              </a:rPr>
              <a:t> durable. Effects </a:t>
            </a:r>
            <a:r>
              <a:rPr dirty="0" err="1">
                <a:solidFill>
                  <a:srgbClr val="D8CFEA"/>
                </a:solidFill>
                <a:latin typeface="Inter"/>
                <a:ea typeface="Inter"/>
                <a:cs typeface="Inter"/>
              </a:rPr>
              <a:t>gobernados</a:t>
            </a:r>
            <a:r>
              <a:rPr dirty="0">
                <a:solidFill>
                  <a:srgbClr val="D8CFEA"/>
                </a:solidFill>
                <a:latin typeface="Inter"/>
                <a:ea typeface="Inter"/>
                <a:cs typeface="Inter"/>
              </a:rPr>
              <a:t>. Evidence visible.</a:t>
            </a:r>
            <a:endParaRPr dirty="0"/>
          </a:p>
        </p:txBody>
      </p:sp>
      <p:pic>
        <p:nvPicPr>
          <p:cNvPr id="30" name="Image 1"/>
          <p:cNvPicPr>
            <a:picLocks noChangeAspect="1"/>
          </p:cNvPicPr>
          <p:nvPr/>
        </p:nvPicPr>
        <p:blipFill>
          <a:blip r:embed="rId3"/>
          <a:stretch>
            <a:fillRect/>
          </a:stretch>
        </p:blipFill>
        <p:spPr>
          <a:xfrm>
            <a:off x="7452360" y="1376172"/>
            <a:ext cx="4151376" cy="4151376"/>
          </a:xfrm>
          <a:prstGeom prst="rect">
            <a:avLst/>
          </a:prstGeom>
        </p:spPr>
      </p:pic>
      <p:sp>
        <p:nvSpPr>
          <p:cNvPr id="25" name="Slide Number Placeholder 0">
            <a:extLst>
              <a:ext uri="{FF2B5EF4-FFF2-40B4-BE49-F238E27FC236}">
                <a16:creationId xmlns:a16="http://schemas.microsoft.com/office/drawing/2014/main" id="{AF5DBDF2-E7DA-462E-B9BD-C3A35A73DB26}"/>
              </a:ext>
            </a:extLst>
          </p:cNvPr>
          <p:cNvSpPr>
            <a:spLocks noGrp="1"/>
          </p:cNvSpPr>
          <p:nvPr>
            <p:ph type="sldNum" idx="4294967295"/>
          </p:nvPr>
        </p:nvSpPr>
        <p:spPr>
          <a:xfrm>
            <a:off x="11631167" y="6490252"/>
            <a:ext cx="315668" cy="203156"/>
          </a:xfrm>
          <a:prstGeom prst="rect">
            <a:avLst/>
          </a:prstGeom>
        </p:spPr>
        <p:txBody>
          <a:bodyPr/>
          <a:lstStyle>
            <a:lvl1pPr marL="0" algn="l" defTabSz="914400">
              <a:buNone/>
              <a:defRPr sz="800" kern="1200">
                <a:solidFill>
                  <a:srgbClr val="8D86A0"/>
                </a:solidFill>
                <a:latin typeface="Inter"/>
                <a:ea typeface="Inter"/>
                <a:cs typeface="Inter"/>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pPr algn="r">
              <a:buNone/>
            </a:pPr>
            <a:fld id="{B1C6C81E-38B9-7560-621D-5A151A79DF9B}" type="slidenum">
              <a:rPr/>
              <a:t>29</a:t>
            </a:fld>
            <a:endParaRPr/>
          </a:p>
        </p:txBody>
      </p:sp>
      <p:pic>
        <p:nvPicPr>
          <p:cNvPr id="32" name="Image 0"/>
          <p:cNvPicPr>
            <a:picLocks noChangeAspect="1"/>
          </p:cNvPicPr>
          <p:nvPr/>
        </p:nvPicPr>
        <p:blipFill>
          <a:blip r:embed="rId4"/>
          <a:stretch>
            <a:fillRect/>
          </a:stretch>
        </p:blipFill>
        <p:spPr>
          <a:xfrm>
            <a:off x="10771349" y="432161"/>
            <a:ext cx="713798" cy="594491"/>
          </a:xfrm>
          <a:prstGeom prst="rect">
            <a:avLst/>
          </a:prstGeom>
        </p:spPr>
      </p:pic>
    </p:spTree>
    <p:extLst>
      <p:ext uri="{BB962C8B-B14F-4D97-AF65-F5344CB8AC3E}">
        <p14:creationId xmlns:p14="http://schemas.microsoft.com/office/powerpoint/2010/main" val="7110261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4109</TotalTime>
  <Words>15322</Words>
  <Application>Microsoft Office PowerPoint</Application>
  <DocSecurity>0</DocSecurity>
  <PresentationFormat>Panorámica</PresentationFormat>
  <Paragraphs>1530</Paragraphs>
  <Slides>29</Slides>
  <Notes>29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29</vt:i4>
      </vt:variant>
    </vt:vector>
  </HeadingPairs>
  <TitlesOfParts>
    <vt:vector size="37" baseType="lpstr">
      <vt:lpstr>Aptos</vt:lpstr>
      <vt:lpstr>Aptos Display</vt:lpstr>
      <vt:lpstr>Arial</vt:lpstr>
      <vt:lpstr>Inter</vt:lpstr>
      <vt:lpstr>Inter Display</vt:lpstr>
      <vt:lpstr>Symbol</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Alejandro Torres</cp:lastModifiedBy>
  <cp:revision>142</cp:revision>
  <dcterms:created xsi:type="dcterms:W3CDTF">2026-09-08T13:16:23Z</dcterms:created>
  <dcterms:modified xsi:type="dcterms:W3CDTF">2026-09-13T19:26:34Z</dcterms:modified>
</cp:coreProperties>
</file>