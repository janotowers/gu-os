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5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Gu_OS_Agent_Runtime_and_Harness_Guide_v0.1.docx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docs/architecture.md</a:t>
            </a: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docs/manuals/architecture-manual.md</a:t>
            </a: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packages/agent/src/graph.ts</a:t>
            </a: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packages/agent/src/model.ts</a:t>
            </a: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packages/agent/src/memory_flush.ts</a:t>
            </a: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packages/agent/src/tools/catalog.ts</a:t>
            </a: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Gu_OS_Agent_Runtime_and_Harness_Guide_v0.1.docx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docs/architecture.md</a:t>
            </a:r>
          </a:p>
          <a:p>
            <a:pPr indent="0">
              <a:lnSpc>
                <a:spcPct val="100000"/>
              </a:lnSpc>
              <a:buNone/>
            </a:pPr>
            <a:r>
              <a:t>- docs/manuals/architecture-manual.md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t>- packages/agent/src/graph.ts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t>- packages/agent/src/model.ts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t>- packages/agent/src/memory_flush.ts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t>- packages/agent/src/tools/catalog.ts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t>- Baseline: janotowers/Gu-OS main @ 5a6fbb05117042e1f7c47c911e0e2bc14d068340 (2026-09-08)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Gu_OS_Agent_Runtime_and_Harness_Guide_v0.1.docx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docs/architecture.md</a:t>
            </a:r>
          </a:p>
          <a:p>
            <a:pPr indent="0">
              <a:lnSpc>
                <a:spcPct val="100000"/>
              </a:lnSpc>
              <a:buNone/>
            </a:pPr>
            <a:r>
              <a:t>- docs/manuals/architecture-manual.md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packages/agent/src/graph.ts</a:t>
            </a: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packages/agent/src/model.ts</a:t>
            </a: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packages/agent/src/memory_flush.ts</a:t>
            </a: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packages/agent/src/tools/catalog.ts</a:t>
            </a: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Gu_OS_Agent_Runtime_and_Harness_Guide_v0.1.docx</a:t>
            </a:r>
          </a:p>
          <a:p>
            <a:r>
              <a:t>- docs/architecture.md</a:t>
            </a:r>
          </a:p>
          <a:p>
            <a:r>
              <a:t>- docs/manuals/architecture-manual.md</a:t>
            </a:r>
          </a:p>
          <a:p>
            <a:r>
              <a:t>- packages/agent/src/graph.ts</a:t>
            </a:r>
          </a:p>
          <a:p>
            <a:r>
              <a:t>- packages/agent/src/model.ts</a:t>
            </a:r>
          </a:p>
          <a:p>
            <a:r>
              <a:t>- packages/agent/src/memory_flush.ts</a:t>
            </a:r>
          </a:p>
          <a:p>
            <a:r>
              <a:t>- packages/agent/src/tools/catalog.ts</a:t>
            </a:r>
          </a:p>
          <a:p>
            <a: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Gu_OS_Agent_Runtime_and_Harness_Guide_v0.1.docx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docs/architecture.md</a:t>
            </a:r>
          </a:p>
          <a:p>
            <a:pPr indent="0">
              <a:lnSpc>
                <a:spcPct val="100000"/>
              </a:lnSpc>
              <a:buNone/>
            </a:pPr>
            <a:r>
              <a:t>- docs/manuals/architecture-manual.md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t>- packages/agent/src/graph.ts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t>- packages/agent/src/model.ts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t>- packages/agent/src/memory_flush.ts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t>- packages/agent/src/tools/catalog.ts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t>- Baseline: janotowers/Gu-OS main @ 5a6fbb05117042e1f7c47c911e0e2bc14d068340 (2026-09-08)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Gu_OS_Agent_Runtime_and_Harness_Guide_v0.1.docx</a:t>
            </a:r>
          </a:p>
          <a:p>
            <a:r>
              <a:t>- docs/architecture.md</a:t>
            </a:r>
          </a:p>
          <a:p>
            <a:r>
              <a:t>- docs/manuals/architecture-manual.md</a:t>
            </a:r>
          </a:p>
          <a:p>
            <a:r>
              <a:t>- packages/agent/src/graph.ts</a:t>
            </a:r>
          </a:p>
          <a:p>
            <a:r>
              <a:t>- packages/agent/src/model.ts</a:t>
            </a:r>
          </a:p>
          <a:p>
            <a:r>
              <a:t>- packages/agent/src/memory_flush.ts</a:t>
            </a:r>
          </a:p>
          <a:p>
            <a:r>
              <a:t>- packages/agent/src/tools/catalog.ts</a:t>
            </a:r>
          </a:p>
          <a:p>
            <a: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Gu_OS_Agent_Runtime_and_Harness_Guide_v0.1.docx</a:t>
            </a:r>
          </a:p>
          <a:p>
            <a:r>
              <a:t>- docs/architecture.md</a:t>
            </a:r>
          </a:p>
          <a:p>
            <a:r>
              <a:t>- docs/manuals/architecture-manual.md</a:t>
            </a:r>
          </a:p>
          <a:p>
            <a:r>
              <a:t>- packages/agent/src/graph.ts</a:t>
            </a:r>
          </a:p>
          <a:p>
            <a:r>
              <a:t>- packages/agent/src/model.ts</a:t>
            </a:r>
          </a:p>
          <a:p>
            <a:r>
              <a:t>- packages/agent/src/memory_flush.ts</a:t>
            </a:r>
          </a:p>
          <a:p>
            <a:r>
              <a:t>- packages/agent/src/tools/catalog.ts</a:t>
            </a:r>
          </a:p>
          <a:p>
            <a: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Gu_OS_Agent_Runtime_and_Harness_Guide_v0.1.docx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docs/architecture.md</a:t>
            </a:r>
          </a:p>
          <a:p>
            <a:pPr indent="0">
              <a:lnSpc>
                <a:spcPct val="100000"/>
              </a:lnSpc>
              <a:buNone/>
            </a:pPr>
            <a:r>
              <a:t>- docs/manuals/architecture-manual.md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packages/agent/src/graph.ts</a:t>
            </a: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packages/agent/src/model.ts</a:t>
            </a: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packages/agent/src/memory_flush.ts</a:t>
            </a: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packages/agent/src/tools/catalog.ts</a:t>
            </a: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Gu_OS_Agent_Runtime_and_Harness_Guide_v0.1.docx</a:t>
            </a:r>
          </a:p>
          <a:p>
            <a:r>
              <a:t>- docs/architecture.md</a:t>
            </a:r>
          </a:p>
          <a:p>
            <a:r>
              <a:t>- docs/manuals/architecture-manual.md</a:t>
            </a:r>
          </a:p>
          <a:p>
            <a:r>
              <a:t>- packages/agent/src/graph.ts</a:t>
            </a:r>
          </a:p>
          <a:p>
            <a:r>
              <a:t>- packages/agent/src/model.ts</a:t>
            </a:r>
          </a:p>
          <a:p>
            <a:r>
              <a:t>- packages/agent/src/memory_flush.ts</a:t>
            </a:r>
          </a:p>
          <a:p>
            <a:r>
              <a:t>- packages/agent/src/tools/catalog.ts</a:t>
            </a:r>
          </a:p>
          <a:p>
            <a: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Gu_OS_Agent_Runtime_and_Harness_Guide_v0.1.docx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docs/architecture.md</a:t>
            </a:r>
          </a:p>
          <a:p>
            <a:pPr indent="0">
              <a:lnSpc>
                <a:spcPct val="100000"/>
              </a:lnSpc>
              <a:buNone/>
            </a:pPr>
            <a:r>
              <a:t>- docs/manuals/architecture-manual.md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packages/agent/src/graph.ts</a:t>
            </a: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packages/agent/src/model.ts</a:t>
            </a: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packages/agent/src/memory_flush.ts</a:t>
            </a: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packages/agent/src/tools/catalog.ts</a:t>
            </a: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dirty="0"/>
              <a:t>[Sources]</a:t>
            </a:r>
          </a:p>
          <a:p>
            <a:r>
              <a:rPr dirty="0"/>
              <a:t>- Gu_OS_Agent_Runtime_and_Harness_Guide_v0.1.docx</a:t>
            </a:r>
          </a:p>
          <a:p>
            <a:r>
              <a:rPr dirty="0"/>
              <a:t>- docs/architecture.md</a:t>
            </a:r>
          </a:p>
          <a:p>
            <a:r>
              <a:rPr dirty="0"/>
              <a:t>- docs/manuals/architecture-manual.md</a:t>
            </a:r>
          </a:p>
          <a:p>
            <a:r>
              <a:rPr dirty="0"/>
              <a:t>- packages/agent/</a:t>
            </a:r>
            <a:r>
              <a:rPr dirty="0" err="1"/>
              <a:t>src</a:t>
            </a:r>
            <a:r>
              <a:rPr dirty="0"/>
              <a:t>/</a:t>
            </a:r>
            <a:r>
              <a:rPr dirty="0" err="1"/>
              <a:t>graph.ts</a:t>
            </a:r>
            <a:endParaRPr dirty="0"/>
          </a:p>
          <a:p>
            <a:r>
              <a:rPr dirty="0"/>
              <a:t>- packages/agent/</a:t>
            </a:r>
            <a:r>
              <a:rPr dirty="0" err="1"/>
              <a:t>src</a:t>
            </a:r>
            <a:r>
              <a:rPr dirty="0"/>
              <a:t>/</a:t>
            </a:r>
            <a:r>
              <a:rPr dirty="0" err="1"/>
              <a:t>model.ts</a:t>
            </a:r>
            <a:endParaRPr dirty="0"/>
          </a:p>
          <a:p>
            <a:r>
              <a:rPr dirty="0"/>
              <a:t>- packages/agent/</a:t>
            </a:r>
            <a:r>
              <a:rPr dirty="0" err="1"/>
              <a:t>src</a:t>
            </a:r>
            <a:r>
              <a:rPr dirty="0"/>
              <a:t>/</a:t>
            </a:r>
            <a:r>
              <a:rPr dirty="0" err="1"/>
              <a:t>memory_flush.ts</a:t>
            </a:r>
            <a:endParaRPr dirty="0"/>
          </a:p>
          <a:p>
            <a:r>
              <a:rPr dirty="0"/>
              <a:t>- packages/agent/</a:t>
            </a:r>
            <a:r>
              <a:rPr dirty="0" err="1"/>
              <a:t>src</a:t>
            </a:r>
            <a:r>
              <a:rPr dirty="0"/>
              <a:t>/tools/</a:t>
            </a:r>
            <a:r>
              <a:rPr dirty="0" err="1"/>
              <a:t>catalog.ts</a:t>
            </a:r>
            <a:endParaRPr dirty="0"/>
          </a:p>
          <a:p>
            <a:r>
              <a:rPr dirty="0"/>
              <a:t>- Baseline: </a:t>
            </a:r>
            <a:r>
              <a:rPr dirty="0" err="1"/>
              <a:t>janotowers</a:t>
            </a:r>
            <a:r>
              <a:rPr dirty="0"/>
              <a:t>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Gu_OS_Agent_Runtime_and_Harness_Guide_v0.1.docx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docs/architecture.md</a:t>
            </a:r>
          </a:p>
          <a:p>
            <a:pPr indent="0">
              <a:lnSpc>
                <a:spcPct val="100000"/>
              </a:lnSpc>
              <a:buNone/>
            </a:pPr>
            <a:r>
              <a:t>- docs/manuals/architecture-manual.md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packages/agent/src/graph.ts</a:t>
            </a: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packages/agent/src/model.ts</a:t>
            </a: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packages/agent/src/memory_flush.ts</a:t>
            </a: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packages/agent/src/tools/catalog.ts</a:t>
            </a: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Gu_OS_Agent_Runtime_and_Harness_Guide_v0.1.docx</a:t>
            </a:r>
          </a:p>
          <a:p>
            <a:r>
              <a:t>- docs/architecture.md</a:t>
            </a:r>
          </a:p>
          <a:p>
            <a:r>
              <a:t>- docs/manuals/architecture-manual.md</a:t>
            </a:r>
          </a:p>
          <a:p>
            <a:r>
              <a:t>- packages/agent/src/graph.ts</a:t>
            </a:r>
          </a:p>
          <a:p>
            <a:r>
              <a:t>- packages/agent/src/model.ts</a:t>
            </a:r>
          </a:p>
          <a:p>
            <a:r>
              <a:t>- packages/agent/src/memory_flush.ts</a:t>
            </a:r>
          </a:p>
          <a:p>
            <a:r>
              <a:t>- packages/agent/src/tools/catalog.ts</a:t>
            </a:r>
          </a:p>
          <a:p>
            <a: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Gu_OS_Agent_Runtime_and_Harness_Guide_v0.1.docx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docs/architecture.md</a:t>
            </a:r>
          </a:p>
          <a:p>
            <a:pPr indent="0">
              <a:lnSpc>
                <a:spcPct val="100000"/>
              </a:lnSpc>
              <a:buNone/>
            </a:pPr>
            <a:r>
              <a:t>- docs/manuals/architecture-manual.md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t>- packages/agent/src/graph.ts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t>- packages/agent/src/model.ts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t>- packages/agent/src/memory_flush.ts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t>- packages/agent/src/tools/catalog.ts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t>- Baseline: janotowers/Gu-OS main @ 5a6fbb05117042e1f7c47c911e0e2bc14d068340 (2026-09-08)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Gu_OS_Agent_Runtime_and_Harness_Guide_v0.1.docx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docs/architecture.md</a:t>
            </a:r>
          </a:p>
          <a:p>
            <a:pPr indent="0">
              <a:lnSpc>
                <a:spcPct val="100000"/>
              </a:lnSpc>
              <a:buNone/>
            </a:pPr>
            <a:r>
              <a:t>- docs/manuals/architecture-manual.md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packages/agent/src/graph.ts</a:t>
            </a: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packages/agent/src/model.ts</a:t>
            </a: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packages/agent/src/memory_flush.ts</a:t>
            </a: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packages/agent/src/tools/catalog.ts</a:t>
            </a: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Gu_OS_Agent_Runtime_and_Harness_Guide_v0.1.docx</a:t>
            </a:r>
          </a:p>
          <a:p>
            <a:r>
              <a:t>- docs/architecture.md</a:t>
            </a:r>
          </a:p>
          <a:p>
            <a:r>
              <a:t>- docs/manuals/architecture-manual.md</a:t>
            </a:r>
          </a:p>
          <a:p>
            <a:r>
              <a:t>- packages/agent/src/graph.ts</a:t>
            </a:r>
          </a:p>
          <a:p>
            <a:r>
              <a:t>- packages/agent/src/model.ts</a:t>
            </a:r>
          </a:p>
          <a:p>
            <a:r>
              <a:t>- packages/agent/src/memory_flush.ts</a:t>
            </a:r>
          </a:p>
          <a:p>
            <a:r>
              <a:t>- packages/agent/src/tools/catalog.ts</a:t>
            </a:r>
          </a:p>
          <a:p>
            <a: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Gu_OS_Agent_Runtime_and_Harness_Guide_v0.1.docx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docs/architecture.md</a:t>
            </a:r>
          </a:p>
          <a:p>
            <a:pPr indent="0">
              <a:lnSpc>
                <a:spcPct val="100000"/>
              </a:lnSpc>
              <a:buNone/>
            </a:pPr>
            <a:r>
              <a:t>- docs/manuals/architecture-manual.md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packages/agent/src/graph.ts</a:t>
            </a:r>
          </a:p>
          <a:p>
            <a:pPr indent="0">
              <a:lnSpc>
                <a:spcPct val="100000"/>
              </a:lnSpc>
              <a:buNone/>
            </a:pPr>
            <a:r>
              <a:t>- packages/agent/src/model.ts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t>- packages/agent/src/memory_flush.ts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t>- packages/agent/src/tools/catalog.ts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t>- Baseline: janotowers/Gu-OS main @ 5a6fbb05117042e1f7c47c911e0e2bc14d068340 (2026-09-08)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Gu_OS_Agent_Runtime_and_Harness_Guide_v0.1.docx</a:t>
            </a:r>
          </a:p>
          <a:p>
            <a:r>
              <a:t>- docs/architecture.md</a:t>
            </a:r>
          </a:p>
          <a:p>
            <a:r>
              <a:t>- docs/manuals/architecture-manual.md</a:t>
            </a:r>
          </a:p>
          <a:p>
            <a:r>
              <a:t>- packages/agent/src/graph.ts</a:t>
            </a:r>
          </a:p>
          <a:p>
            <a:r>
              <a:t>- packages/agent/src/model.ts</a:t>
            </a:r>
          </a:p>
          <a:p>
            <a:r>
              <a:t>- packages/agent/src/memory_flush.ts</a:t>
            </a:r>
          </a:p>
          <a:p>
            <a:r>
              <a:t>- packages/agent/src/tools/catalog.ts</a:t>
            </a:r>
          </a:p>
          <a:p>
            <a: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BF43F81C-6B5B-4042-BE41-54B3BF626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sz="1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title text format</a:t>
            </a: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C1AB9508-59AA-4504-849E-1AB32058C9C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4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"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F6C73D5C-FFB3-4E47-BA16-922D0FFC3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sz="1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title text format</a:t>
            </a: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A1976C6A-8728-414A-8036-13C31FA6CB2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4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GGA_LIGHT">
    <p:bg>
      <p:bgPr>
        <a:solidFill>
          <a:srgbClr val="FB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0665832-C92A-4CEF-AB28-361EA95432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B2DB6"/>
          </a:solidFill>
          <a:ln w="12700">
            <a:solidFill>
              <a:srgbClr val="5B2D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3E0F7BE-4131-45FD-969A-76BAA4FAB272}"/>
              </a:ext>
            </a:extLst>
          </p:cNvPr>
          <p:cNvSpPr>
            <a:spLocks noGrp="1"/>
          </p:cNvSpPr>
          <p:nvPr/>
        </p:nvSpPr>
        <p:spPr>
          <a:xfrm>
            <a:off x="566928" y="653796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spc="120">
                <a:solidFill>
                  <a:srgbClr val="8D86A0"/>
                </a:solidFill>
                <a:latin typeface="Inter"/>
                <a:ea typeface="Inter"/>
                <a:cs typeface="Inter"/>
              </a:rPr>
              <a:t>CONFIDENTIAL</a:t>
            </a:r>
            <a:endParaRPr sz="75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A06C70B-F60B-4548-8BCB-EFCD87508C4E}"/>
              </a:ext>
            </a:extLst>
          </p:cNvPr>
          <p:cNvSpPr>
            <a:spLocks noGrp="1"/>
          </p:cNvSpPr>
          <p:nvPr/>
        </p:nvSpPr>
        <p:spPr>
          <a:xfrm>
            <a:off x="10561320" y="651052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800">
                <a:solidFill>
                  <a:srgbClr val="8D86A0"/>
                </a:solidFill>
                <a:latin typeface="Inter"/>
                <a:ea typeface="Inter"/>
                <a:cs typeface="Inter"/>
              </a:rPr>
              <a:t>ungga.com</a:t>
            </a:r>
            <a:endParaRPr sz="8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B230E6B9-A5B2-4BE5-97F1-0126BD8BB274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631168" y="6510528"/>
            <a:ext cx="219456" cy="18288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8D86A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8DFDB0-C73F-4AFB-AAD0-0317ABBD4CD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08/09/2026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57B917-A2B7-498B-A49D-ECF04A972B8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ABF582-ABF5-461A-A409-93AE55EA8F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GGA_BLANK"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65B36D5-DFE6-4FCF-A12B-DB5A6B8E7C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50800">
            <a:solidFill>
              <a:srgbClr val="5E2B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4FB8FE4-D27B-4437-A58B-FC0EDD14E864}"/>
              </a:ext>
            </a:extLst>
          </p:cNvPr>
          <p:cNvSpPr>
            <a:spLocks noGrp="1"/>
          </p:cNvSpPr>
          <p:nvPr/>
        </p:nvSpPr>
        <p:spPr>
          <a:xfrm>
            <a:off x="420624" y="6601968"/>
            <a:ext cx="1097280" cy="1097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650">
                <a:solidFill>
                  <a:srgbClr val="7A728D"/>
                </a:solidFill>
                <a:latin typeface="Inter"/>
                <a:ea typeface="Inter"/>
                <a:cs typeface="Inter"/>
              </a:rPr>
              <a:t>CONFIDENTIAL</a:t>
            </a:r>
            <a:endParaRPr sz="65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FAA6023-3A5F-4A80-A53C-E27093E886B1}"/>
              </a:ext>
            </a:extLst>
          </p:cNvPr>
          <p:cNvSpPr>
            <a:spLocks noGrp="1"/>
          </p:cNvSpPr>
          <p:nvPr/>
        </p:nvSpPr>
        <p:spPr>
          <a:xfrm>
            <a:off x="10927080" y="6601968"/>
            <a:ext cx="685800" cy="1097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650">
                <a:solidFill>
                  <a:srgbClr val="7A728D"/>
                </a:solidFill>
                <a:latin typeface="Inter"/>
                <a:ea typeface="Inter"/>
                <a:cs typeface="Inter"/>
              </a:rPr>
              <a:t>ungga.com</a:t>
            </a:r>
            <a:endParaRPr sz="6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A212753-2765-4A78-B1E9-69A1F088167A}"/>
              </a:ext>
            </a:extLst>
          </p:cNvPr>
          <p:cNvSpPr>
            <a:spLocks noGrp="1"/>
          </p:cNvSpPr>
          <p:nvPr/>
        </p:nvSpPr>
        <p:spPr>
          <a:xfrm>
            <a:off x="11503152" y="6601968"/>
            <a:ext cx="384048" cy="1097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650">
                <a:solidFill>
                  <a:srgbClr val="7A728D"/>
                </a:solidFill>
                <a:latin typeface="Inter"/>
                <a:ea typeface="Inter"/>
                <a:cs typeface="Inter"/>
              </a:rPr>
              <a:t>16</a:t>
            </a:r>
            <a:endParaRPr sz="65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GGA_DARK">
    <p:bg>
      <p:bgPr>
        <a:solidFill>
          <a:srgbClr val="1A12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E3E12BD-B46D-4755-83FC-3F323AE8FA99}"/>
              </a:ext>
            </a:extLst>
          </p:cNvPr>
          <p:cNvSpPr>
            <a:spLocks noGrp="1"/>
          </p:cNvSpPr>
          <p:nvPr/>
        </p:nvSpPr>
        <p:spPr>
          <a:xfrm>
            <a:off x="566928" y="653796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spc="120">
                <a:solidFill>
                  <a:srgbClr val="BFB5D8"/>
                </a:solidFill>
                <a:latin typeface="Inter"/>
                <a:ea typeface="Inter"/>
                <a:cs typeface="Inter"/>
              </a:rPr>
              <a:t>CONFIDENTIAL</a:t>
            </a:r>
            <a:endParaRPr sz="7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8FBCA21-194E-443E-B6D5-21176038E5C0}"/>
              </a:ext>
            </a:extLst>
          </p:cNvPr>
          <p:cNvSpPr>
            <a:spLocks noGrp="1"/>
          </p:cNvSpPr>
          <p:nvPr/>
        </p:nvSpPr>
        <p:spPr>
          <a:xfrm>
            <a:off x="10561320" y="651052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800">
                <a:solidFill>
                  <a:srgbClr val="BFB5D8"/>
                </a:solidFill>
                <a:latin typeface="Inter"/>
                <a:ea typeface="Inter"/>
                <a:cs typeface="Inter"/>
              </a:rPr>
              <a:t>ungga.com</a:t>
            </a:r>
            <a:endParaRPr sz="8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35F60F97-8571-4374-AA4C-33EB70F930BE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631168" y="6510528"/>
            <a:ext cx="219456" cy="18288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BFB5D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>
            <a:extLst>
              <a:ext uri="{FF2B5EF4-FFF2-40B4-BE49-F238E27FC236}">
                <a16:creationId xmlns:a16="http://schemas.microsoft.com/office/drawing/2014/main" id="{15224E59-A114-EF97-9AD5-4F714DE083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20143D"/>
          </a:solidFill>
          <a:ln w="12700">
            <a:solidFill>
              <a:srgbClr val="20143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8965042D-42A4-D40C-B362-56D62F2B4A66}"/>
              </a:ext>
            </a:extLst>
          </p:cNvPr>
          <p:cNvSpPr>
            <a:spLocks noGrp="1"/>
          </p:cNvSpPr>
          <p:nvPr/>
        </p:nvSpPr>
        <p:spPr>
          <a:xfrm>
            <a:off x="567000" y="502920"/>
            <a:ext cx="4114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CAB9FF"/>
                </a:solidFill>
                <a:latin typeface="Aptos"/>
                <a:ea typeface="Aptos"/>
                <a:cs typeface="Aptos"/>
              </a:rPr>
              <a:t>UNGGA | INTERNAL SESSION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0316C7E0-8E26-4A2B-880B-6FEF8F6163B9}"/>
              </a:ext>
            </a:extLst>
          </p:cNvPr>
          <p:cNvSpPr>
            <a:spLocks noGrp="1"/>
          </p:cNvSpPr>
          <p:nvPr/>
        </p:nvSpPr>
        <p:spPr>
          <a:xfrm>
            <a:off x="567000" y="1492856"/>
            <a:ext cx="5943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500" b="1" u="none">
                <a:solidFill>
                  <a:srgbClr val="FFFFFF"/>
                </a:solidFill>
              </a:rPr>
              <a:t>Gu OS runtime</a:t>
            </a:r>
            <a:endParaRPr sz="3500" b="0" u="none">
              <a:solidFill>
                <a:srgbClr val="FFFFFF"/>
              </a:solidFill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8F476939-C89E-34BC-BFF7-E9DA39ED9558}"/>
              </a:ext>
            </a:extLst>
          </p:cNvPr>
          <p:cNvSpPr>
            <a:spLocks noGrp="1"/>
          </p:cNvSpPr>
          <p:nvPr/>
        </p:nvSpPr>
        <p:spPr>
          <a:xfrm>
            <a:off x="567000" y="2235832"/>
            <a:ext cx="7589160" cy="63971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0" u="none">
                <a:solidFill>
                  <a:srgbClr val="E9E2FF"/>
                </a:solidFill>
                <a:latin typeface="Aptos"/>
                <a:ea typeface="Aptos"/>
                <a:cs typeface="Aptos"/>
              </a:rPr>
              <a:t>Agent Runtime &amp; Harness</a:t>
            </a:r>
            <a:endParaRPr sz="30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3880D93C-3FD0-A8BD-A47F-30288E4BE158}"/>
              </a:ext>
            </a:extLst>
          </p:cNvPr>
          <p:cNvSpPr>
            <a:spLocks noGrp="1"/>
          </p:cNvSpPr>
          <p:nvPr/>
        </p:nvSpPr>
        <p:spPr>
          <a:xfrm>
            <a:off x="567000" y="3139243"/>
            <a:ext cx="6085174" cy="6510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900" b="0" u="none" dirty="0">
                <a:solidFill>
                  <a:srgbClr val="CFC3F4"/>
                </a:solidFill>
                <a:latin typeface="Aptos"/>
                <a:ea typeface="Aptos"/>
                <a:cs typeface="Aptos"/>
              </a:rPr>
              <a:t>Session 3B · De</a:t>
            </a:r>
            <a:r>
              <a:rPr lang="es-MX" sz="1900" b="0" u="none" dirty="0">
                <a:solidFill>
                  <a:srgbClr val="CFC3F4"/>
                </a:solidFill>
                <a:latin typeface="Aptos"/>
                <a:ea typeface="Aptos"/>
                <a:cs typeface="Aptos"/>
              </a:rPr>
              <a:t> llamada a modelo</a:t>
            </a:r>
            <a:r>
              <a:rPr sz="1900" b="0" u="none" dirty="0">
                <a:solidFill>
                  <a:srgbClr val="CFC3F4"/>
                </a:solidFill>
                <a:latin typeface="Aptos"/>
                <a:ea typeface="Aptos"/>
                <a:cs typeface="Aptos"/>
              </a:rPr>
              <a:t> a </a:t>
            </a:r>
            <a:r>
              <a:rPr sz="1900" b="0" u="none" dirty="0" err="1">
                <a:solidFill>
                  <a:srgbClr val="CFC3F4"/>
                </a:solidFill>
                <a:latin typeface="Aptos"/>
                <a:ea typeface="Aptos"/>
                <a:cs typeface="Aptos"/>
              </a:rPr>
              <a:t>ejecución</a:t>
            </a:r>
            <a:r>
              <a:rPr sz="1900" b="0" u="none" dirty="0">
                <a:solidFill>
                  <a:srgbClr val="CFC3F4"/>
                </a:solidFill>
                <a:latin typeface="Aptos"/>
                <a:ea typeface="Aptos"/>
                <a:cs typeface="Aptos"/>
              </a:rPr>
              <a:t> </a:t>
            </a:r>
            <a:r>
              <a:rPr sz="1900" b="0" u="none" dirty="0" err="1">
                <a:solidFill>
                  <a:srgbClr val="CFC3F4"/>
                </a:solidFill>
                <a:latin typeface="Aptos"/>
                <a:ea typeface="Aptos"/>
                <a:cs typeface="Aptos"/>
              </a:rPr>
              <a:t>gobernada</a:t>
            </a:r>
            <a:endParaRPr sz="1900" b="0" u="none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A6164349-3215-A4F6-3FBF-8BE60EEECA6B}"/>
              </a:ext>
            </a:extLst>
          </p:cNvPr>
          <p:cNvSpPr>
            <a:spLocks noGrp="1"/>
          </p:cNvSpPr>
          <p:nvPr/>
        </p:nvSpPr>
        <p:spPr>
          <a:xfrm>
            <a:off x="567000" y="5053773"/>
            <a:ext cx="6300939" cy="894741"/>
          </a:xfrm>
          <a:prstGeom prst="roundRect">
            <a:avLst>
              <a:gd name="adj" fmla="val 1875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7B49E6">
                <a:alpha val="6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3000" b="0" u="none">
              <a:solidFill>
                <a:srgbClr val="000000"/>
              </a:solidFill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ED36FB87-AC9C-401E-792E-E0B9300034F1}"/>
              </a:ext>
            </a:extLst>
          </p:cNvPr>
          <p:cNvSpPr>
            <a:spLocks noGrp="1"/>
          </p:cNvSpPr>
          <p:nvPr/>
        </p:nvSpPr>
        <p:spPr>
          <a:xfrm>
            <a:off x="765792" y="5188987"/>
            <a:ext cx="5886382" cy="6167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0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Objetivo</a:t>
            </a:r>
            <a:r>
              <a:rPr sz="1500" b="0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: </a:t>
            </a:r>
            <a:r>
              <a:rPr sz="1500" b="0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entender</a:t>
            </a:r>
            <a:r>
              <a:rPr sz="1500" b="0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cómo</a:t>
            </a:r>
            <a:r>
              <a:rPr sz="1500" b="0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Gu OS </a:t>
            </a:r>
            <a:r>
              <a:rPr sz="1500" b="0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compila</a:t>
            </a:r>
            <a:r>
              <a:rPr sz="1500" b="0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contexto</a:t>
            </a:r>
            <a:r>
              <a:rPr sz="1500" b="0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, </a:t>
            </a:r>
            <a:r>
              <a:rPr sz="1500" b="0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controla</a:t>
            </a:r>
            <a:r>
              <a:rPr sz="1500" b="0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el agent loop, </a:t>
            </a:r>
            <a:r>
              <a:rPr sz="1500" b="0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recupera</a:t>
            </a:r>
            <a:r>
              <a:rPr sz="1500" b="0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memoria, </a:t>
            </a:r>
            <a:r>
              <a:rPr sz="1500" b="0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usa</a:t>
            </a:r>
            <a:r>
              <a:rPr sz="1500" b="0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tools, </a:t>
            </a:r>
            <a:r>
              <a:rPr sz="1500" b="0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aplica</a:t>
            </a:r>
            <a:r>
              <a:rPr sz="1500" b="0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aut</a:t>
            </a:r>
            <a:r>
              <a:rPr lang="es-MX" sz="1500" b="0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oridad</a:t>
            </a:r>
            <a:r>
              <a:rPr sz="1500" b="0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y </a:t>
            </a:r>
            <a:r>
              <a:rPr sz="1500" b="0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conecta</a:t>
            </a:r>
            <a:r>
              <a:rPr sz="1500" b="0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el </a:t>
            </a:r>
            <a:r>
              <a:rPr sz="1500" b="0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turno</a:t>
            </a:r>
            <a:r>
              <a:rPr sz="1500" b="0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con </a:t>
            </a:r>
            <a:r>
              <a:rPr sz="1500" b="0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trabajo</a:t>
            </a:r>
            <a:r>
              <a:rPr sz="1500" b="0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durable.</a:t>
            </a:r>
            <a:endParaRPr sz="1500" b="0" u="none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AA47739-366C-D04A-0CA4-C2554390AD0D}"/>
              </a:ext>
            </a:extLst>
          </p:cNvPr>
          <p:cNvSpPr>
            <a:spLocks noGrp="1"/>
          </p:cNvSpPr>
          <p:nvPr/>
        </p:nvSpPr>
        <p:spPr>
          <a:xfrm>
            <a:off x="7675580" y="1100947"/>
            <a:ext cx="3328274" cy="3205734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7B49E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4BFFEF0A-570F-33D2-136B-839BCE005F9E}"/>
              </a:ext>
            </a:extLst>
          </p:cNvPr>
          <p:cNvSpPr>
            <a:spLocks noGrp="1"/>
          </p:cNvSpPr>
          <p:nvPr/>
        </p:nvSpPr>
        <p:spPr>
          <a:xfrm>
            <a:off x="8507788" y="3702852"/>
            <a:ext cx="16455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400" b="1" u="none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Gu</a:t>
            </a:r>
            <a:endParaRPr sz="2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4580023E-1CF3-E90A-C87B-06232376F2D5}"/>
              </a:ext>
            </a:extLst>
          </p:cNvPr>
          <p:cNvSpPr>
            <a:spLocks noGrp="1"/>
          </p:cNvSpPr>
          <p:nvPr/>
        </p:nvSpPr>
        <p:spPr>
          <a:xfrm>
            <a:off x="9374254" y="4370760"/>
            <a:ext cx="360" cy="622080"/>
          </a:xfrm>
          <a:prstGeom prst="line">
            <a:avLst/>
          </a:prstGeom>
          <a:ln w="22860">
            <a:solidFill>
              <a:srgbClr val="CAB9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680639FB-D27D-D3DB-D44B-45166BA776E1}"/>
              </a:ext>
            </a:extLst>
          </p:cNvPr>
          <p:cNvSpPr>
            <a:spLocks noGrp="1"/>
          </p:cNvSpPr>
          <p:nvPr/>
        </p:nvSpPr>
        <p:spPr>
          <a:xfrm>
            <a:off x="7956934" y="5084280"/>
            <a:ext cx="2880000" cy="840960"/>
          </a:xfrm>
          <a:prstGeom prst="roundRect">
            <a:avLst>
              <a:gd name="adj" fmla="val 14130"/>
            </a:avLst>
          </a:prstGeom>
          <a:solidFill>
            <a:srgbClr val="7B49E6"/>
          </a:solidFill>
          <a:ln w="12700">
            <a:solidFill>
              <a:srgbClr val="7B49E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ED89F9FD-33CD-3FDC-D2A2-120B1544279E}"/>
              </a:ext>
            </a:extLst>
          </p:cNvPr>
          <p:cNvSpPr>
            <a:spLocks noGrp="1"/>
          </p:cNvSpPr>
          <p:nvPr/>
        </p:nvSpPr>
        <p:spPr>
          <a:xfrm>
            <a:off x="8459854" y="5374032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400" b="1" u="none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Gu OS</a:t>
            </a:r>
            <a:endParaRPr sz="2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0A392EEC-8670-C71D-F5B6-133FE9D865A3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A0D1D728-2877-56A1-C3AA-A5A762FE2D61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9EC56527-DFE0-0B6D-1A22-25AA8DCC0C05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</a:t>
            </a:r>
            <a:endParaRPr sz="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3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3216" y="1275732"/>
            <a:ext cx="2454948" cy="2454948"/>
          </a:xfrm>
          <a:prstGeom prst="rect">
            <a:avLst/>
          </a:prstGeom>
        </p:spPr>
      </p:pic>
      <p:pic>
        <p:nvPicPr>
          <p:cNvPr id="44" name="Image 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7587" y="396427"/>
            <a:ext cx="791013" cy="6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743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0">
            <a:extLst>
              <a:ext uri="{FF2B5EF4-FFF2-40B4-BE49-F238E27FC236}">
                <a16:creationId xmlns:a16="http://schemas.microsoft.com/office/drawing/2014/main" id="{0CA54AEE-DA0E-4396-B936-7D40AEF2BA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4BB7983F-26EF-48FC-8265-F424BF750A68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CÓMO USAR ESTA SESIÓN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Text 2">
            <a:extLst>
              <a:ext uri="{FF2B5EF4-FFF2-40B4-BE49-F238E27FC236}">
                <a16:creationId xmlns:a16="http://schemas.microsoft.com/office/drawing/2014/main" id="{E0F312F4-7B99-437B-AFFC-303A4970FC62}"/>
              </a:ext>
            </a:extLst>
          </p:cNvPr>
          <p:cNvSpPr>
            <a:spLocks noGrp="1"/>
          </p:cNvSpPr>
          <p:nvPr/>
        </p:nvSpPr>
        <p:spPr>
          <a:xfrm>
            <a:off x="567000" y="804600"/>
            <a:ext cx="104058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El harness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convierte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lang="es-MX"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llamadas a modelos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en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ejecución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gobernada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; el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código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determina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qué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existe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hoy.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BF1A9BBA-E9A8-40A3-8969-F919A74D6694}"/>
              </a:ext>
            </a:extLst>
          </p:cNvPr>
          <p:cNvSpPr>
            <a:spLocks noGrp="1"/>
          </p:cNvSpPr>
          <p:nvPr/>
        </p:nvSpPr>
        <p:spPr>
          <a:xfrm>
            <a:off x="567000" y="1700530"/>
            <a:ext cx="10698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Bajaremos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por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context</a:t>
            </a:r>
            <a:r>
              <a:rPr lang="es-MX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o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memor</a:t>
            </a:r>
            <a:r>
              <a:rPr lang="es-MX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ia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 </a:t>
            </a:r>
            <a:r>
              <a:rPr lang="es-MX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herramientas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 control</a:t>
            </a:r>
            <a:r>
              <a:rPr lang="es-MX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de bucle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 plan</a:t>
            </a:r>
            <a:r>
              <a:rPr lang="es-MX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eación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 s</a:t>
            </a:r>
            <a:r>
              <a:rPr lang="es-MX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eguridad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y </a:t>
            </a:r>
            <a:r>
              <a:rPr lang="es-MX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ambiente de ejecución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.</a:t>
            </a:r>
            <a:endParaRPr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B968F5BA-8550-4799-871D-9C722B77371F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D4D5A9CE-1FD5-4205-9BCF-A3FF17A480F5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308AC89D-676A-4750-A1F1-B58D18D1C512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2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849CC29F-9DAF-4BD6-A38C-45125D257C0D}"/>
              </a:ext>
            </a:extLst>
          </p:cNvPr>
          <p:cNvSpPr>
            <a:spLocks noGrp="1"/>
          </p:cNvSpPr>
          <p:nvPr/>
        </p:nvSpPr>
        <p:spPr>
          <a:xfrm>
            <a:off x="685800" y="2462911"/>
            <a:ext cx="23770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MARCO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Shape 9">
            <a:extLst>
              <a:ext uri="{FF2B5EF4-FFF2-40B4-BE49-F238E27FC236}">
                <a16:creationId xmlns:a16="http://schemas.microsoft.com/office/drawing/2014/main" id="{76AA01F7-6B4F-4613-984E-1E5EB27BAE97}"/>
              </a:ext>
            </a:extLst>
          </p:cNvPr>
          <p:cNvSpPr>
            <a:spLocks noGrp="1"/>
          </p:cNvSpPr>
          <p:nvPr/>
        </p:nvSpPr>
        <p:spPr>
          <a:xfrm>
            <a:off x="685800" y="2828671"/>
            <a:ext cx="3291480" cy="119129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7E256B88-A25E-40CC-B593-98CE4A920162}"/>
              </a:ext>
            </a:extLst>
          </p:cNvPr>
          <p:cNvSpPr>
            <a:spLocks noGrp="1"/>
          </p:cNvSpPr>
          <p:nvPr/>
        </p:nvSpPr>
        <p:spPr>
          <a:xfrm>
            <a:off x="887040" y="3048271"/>
            <a:ext cx="28890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De</a:t>
            </a:r>
            <a:r>
              <a:rPr lang="es-MX" sz="1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1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l</a:t>
            </a:r>
            <a:r>
              <a:rPr lang="es-MX" sz="1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</a:t>
            </a:r>
            <a:r>
              <a:rPr sz="1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lang="es-MX" sz="1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petición</a:t>
            </a:r>
            <a:r>
              <a:rPr sz="1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al </a:t>
            </a:r>
            <a:r>
              <a:rPr sz="1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resultado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9CDA5E85-4AD8-4A44-A254-35393DDD63DF}"/>
              </a:ext>
            </a:extLst>
          </p:cNvPr>
          <p:cNvSpPr>
            <a:spLocks noGrp="1"/>
          </p:cNvSpPr>
          <p:nvPr/>
        </p:nvSpPr>
        <p:spPr>
          <a:xfrm>
            <a:off x="941760" y="3510975"/>
            <a:ext cx="2725779" cy="3846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Graph, modelos, compaction, tools, HITL, persistence y post-turn flush.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Shape 12">
            <a:extLst>
              <a:ext uri="{FF2B5EF4-FFF2-40B4-BE49-F238E27FC236}">
                <a16:creationId xmlns:a16="http://schemas.microsoft.com/office/drawing/2014/main" id="{2075E088-1765-4C99-83FD-A082022825A5}"/>
              </a:ext>
            </a:extLst>
          </p:cNvPr>
          <p:cNvSpPr>
            <a:spLocks noGrp="1"/>
          </p:cNvSpPr>
          <p:nvPr/>
        </p:nvSpPr>
        <p:spPr>
          <a:xfrm>
            <a:off x="4434840" y="2828671"/>
            <a:ext cx="3291480" cy="119129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AC5494F2-88AF-41CD-8785-D5AAFD679CB2}"/>
              </a:ext>
            </a:extLst>
          </p:cNvPr>
          <p:cNvSpPr>
            <a:spLocks noGrp="1"/>
          </p:cNvSpPr>
          <p:nvPr/>
        </p:nvSpPr>
        <p:spPr>
          <a:xfrm>
            <a:off x="4636080" y="3048271"/>
            <a:ext cx="28890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Implemented ≠ target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39C993A8-4AFF-4FB6-8BC6-CF337EF744FB}"/>
              </a:ext>
            </a:extLst>
          </p:cNvPr>
          <p:cNvSpPr>
            <a:spLocks noGrp="1"/>
          </p:cNvSpPr>
          <p:nvPr/>
        </p:nvSpPr>
        <p:spPr>
          <a:xfrm>
            <a:off x="4705920" y="3471967"/>
            <a:ext cx="2779560" cy="4384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Cada claim se verifica contra code/migrations/tests.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Shape 15">
            <a:extLst>
              <a:ext uri="{FF2B5EF4-FFF2-40B4-BE49-F238E27FC236}">
                <a16:creationId xmlns:a16="http://schemas.microsoft.com/office/drawing/2014/main" id="{78477E3F-1308-4A22-A424-7B53A7038EF6}"/>
              </a:ext>
            </a:extLst>
          </p:cNvPr>
          <p:cNvSpPr>
            <a:spLocks noGrp="1"/>
          </p:cNvSpPr>
          <p:nvPr/>
        </p:nvSpPr>
        <p:spPr>
          <a:xfrm>
            <a:off x="8183880" y="2828671"/>
            <a:ext cx="3291480" cy="119129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8A40ACEE-4BC4-46F5-BA82-A813646A3709}"/>
              </a:ext>
            </a:extLst>
          </p:cNvPr>
          <p:cNvSpPr>
            <a:spLocks noGrp="1"/>
          </p:cNvSpPr>
          <p:nvPr/>
        </p:nvSpPr>
        <p:spPr>
          <a:xfrm>
            <a:off x="8385120" y="3048271"/>
            <a:ext cx="28890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Un mapa depurable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E01385D9-762C-4066-94A5-20080ECCE0B5}"/>
              </a:ext>
            </a:extLst>
          </p:cNvPr>
          <p:cNvSpPr>
            <a:spLocks noGrp="1"/>
          </p:cNvSpPr>
          <p:nvPr/>
        </p:nvSpPr>
        <p:spPr>
          <a:xfrm>
            <a:off x="8439840" y="3533986"/>
            <a:ext cx="2779560" cy="37645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Qué responsabilidad vive dónde y qué trade-off conserva.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27CB114E-7483-40E8-80EA-73C4C4EBF86B}"/>
              </a:ext>
            </a:extLst>
          </p:cNvPr>
          <p:cNvSpPr>
            <a:spLocks noGrp="1"/>
          </p:cNvSpPr>
          <p:nvPr/>
        </p:nvSpPr>
        <p:spPr>
          <a:xfrm>
            <a:off x="685800" y="4428871"/>
            <a:ext cx="1371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A84A7A"/>
                </a:solidFill>
                <a:latin typeface="Aptos"/>
                <a:ea typeface="Aptos"/>
                <a:cs typeface="Aptos"/>
              </a:rPr>
              <a:t>PREVIO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19">
            <a:extLst>
              <a:ext uri="{FF2B5EF4-FFF2-40B4-BE49-F238E27FC236}">
                <a16:creationId xmlns:a16="http://schemas.microsoft.com/office/drawing/2014/main" id="{4607EC1A-5109-44BC-B7F7-8D33863E4E3A}"/>
              </a:ext>
            </a:extLst>
          </p:cNvPr>
          <p:cNvSpPr>
            <a:spLocks noGrp="1"/>
          </p:cNvSpPr>
          <p:nvPr/>
        </p:nvSpPr>
        <p:spPr>
          <a:xfrm>
            <a:off x="731520" y="4867711"/>
            <a:ext cx="72720" cy="72720"/>
          </a:xfrm>
          <a:prstGeom prst="ellipse">
            <a:avLst/>
          </a:prstGeom>
          <a:solidFill>
            <a:srgbClr val="A84A7A"/>
          </a:solidFill>
          <a:ln w="12700">
            <a:solidFill>
              <a:srgbClr val="A84A7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15E3E3AC-72F5-4FC2-9BA0-2D2B7E7930A3}"/>
              </a:ext>
            </a:extLst>
          </p:cNvPr>
          <p:cNvSpPr>
            <a:spLocks noGrp="1"/>
          </p:cNvSpPr>
          <p:nvPr/>
        </p:nvSpPr>
        <p:spPr>
          <a:xfrm>
            <a:off x="896040" y="4794631"/>
            <a:ext cx="4955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Session 2: marco agéntico.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Shape 21">
            <a:extLst>
              <a:ext uri="{FF2B5EF4-FFF2-40B4-BE49-F238E27FC236}">
                <a16:creationId xmlns:a16="http://schemas.microsoft.com/office/drawing/2014/main" id="{CD5DBDEB-6279-43F3-B4B2-D4BD75D4C1A1}"/>
              </a:ext>
            </a:extLst>
          </p:cNvPr>
          <p:cNvSpPr>
            <a:spLocks noGrp="1"/>
          </p:cNvSpPr>
          <p:nvPr/>
        </p:nvSpPr>
        <p:spPr>
          <a:xfrm>
            <a:off x="731520" y="5288551"/>
            <a:ext cx="72720" cy="72720"/>
          </a:xfrm>
          <a:prstGeom prst="ellipse">
            <a:avLst/>
          </a:prstGeom>
          <a:solidFill>
            <a:srgbClr val="A84A7A"/>
          </a:solidFill>
          <a:ln w="12700">
            <a:solidFill>
              <a:srgbClr val="A84A7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793AEA1F-8C4B-481A-A871-67F915A2C390}"/>
              </a:ext>
            </a:extLst>
          </p:cNvPr>
          <p:cNvSpPr>
            <a:spLocks noGrp="1"/>
          </p:cNvSpPr>
          <p:nvPr/>
        </p:nvSpPr>
        <p:spPr>
          <a:xfrm>
            <a:off x="896040" y="5215111"/>
            <a:ext cx="4955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Session 3: arquitectura de Gu OS.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Shape 23">
            <a:extLst>
              <a:ext uri="{FF2B5EF4-FFF2-40B4-BE49-F238E27FC236}">
                <a16:creationId xmlns:a16="http://schemas.microsoft.com/office/drawing/2014/main" id="{C681436B-EBE4-4900-AB19-0E54395F3512}"/>
              </a:ext>
            </a:extLst>
          </p:cNvPr>
          <p:cNvSpPr>
            <a:spLocks noGrp="1"/>
          </p:cNvSpPr>
          <p:nvPr/>
        </p:nvSpPr>
        <p:spPr>
          <a:xfrm>
            <a:off x="731520" y="5709031"/>
            <a:ext cx="72720" cy="72720"/>
          </a:xfrm>
          <a:prstGeom prst="ellipse">
            <a:avLst/>
          </a:prstGeom>
          <a:solidFill>
            <a:srgbClr val="A84A7A"/>
          </a:solidFill>
          <a:ln w="12700">
            <a:solidFill>
              <a:srgbClr val="A84A7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Text 24">
            <a:extLst>
              <a:ext uri="{FF2B5EF4-FFF2-40B4-BE49-F238E27FC236}">
                <a16:creationId xmlns:a16="http://schemas.microsoft.com/office/drawing/2014/main" id="{493C7532-C572-42FA-9C8D-198107137DDD}"/>
              </a:ext>
            </a:extLst>
          </p:cNvPr>
          <p:cNvSpPr>
            <a:spLocks noGrp="1"/>
          </p:cNvSpPr>
          <p:nvPr/>
        </p:nvSpPr>
        <p:spPr>
          <a:xfrm>
            <a:off x="896040" y="5635951"/>
            <a:ext cx="4955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Lectura: Runtime &amp; Harness Guide.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Text 25">
            <a:extLst>
              <a:ext uri="{FF2B5EF4-FFF2-40B4-BE49-F238E27FC236}">
                <a16:creationId xmlns:a16="http://schemas.microsoft.com/office/drawing/2014/main" id="{D9DEE2AD-0BA2-4985-82AC-0BD59C829B39}"/>
              </a:ext>
            </a:extLst>
          </p:cNvPr>
          <p:cNvSpPr>
            <a:spLocks noGrp="1"/>
          </p:cNvSpPr>
          <p:nvPr/>
        </p:nvSpPr>
        <p:spPr>
          <a:xfrm>
            <a:off x="6400800" y="4428871"/>
            <a:ext cx="1371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RESULTADO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Shape 26">
            <a:extLst>
              <a:ext uri="{FF2B5EF4-FFF2-40B4-BE49-F238E27FC236}">
                <a16:creationId xmlns:a16="http://schemas.microsoft.com/office/drawing/2014/main" id="{18ED76A9-0B52-442A-8772-5E8AD4FC3057}"/>
              </a:ext>
            </a:extLst>
          </p:cNvPr>
          <p:cNvSpPr>
            <a:spLocks noGrp="1"/>
          </p:cNvSpPr>
          <p:nvPr/>
        </p:nvSpPr>
        <p:spPr>
          <a:xfrm>
            <a:off x="6446520" y="4867711"/>
            <a:ext cx="72720" cy="7272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Text 27">
            <a:extLst>
              <a:ext uri="{FF2B5EF4-FFF2-40B4-BE49-F238E27FC236}">
                <a16:creationId xmlns:a16="http://schemas.microsoft.com/office/drawing/2014/main" id="{C4C9EB7E-2B87-4D55-A83C-5F514FED9E84}"/>
              </a:ext>
            </a:extLst>
          </p:cNvPr>
          <p:cNvSpPr>
            <a:spLocks noGrp="1"/>
          </p:cNvSpPr>
          <p:nvPr/>
        </p:nvSpPr>
        <p:spPr>
          <a:xfrm>
            <a:off x="6611040" y="4794631"/>
            <a:ext cx="4772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Código conectado a conceptos.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Shape 28">
            <a:extLst>
              <a:ext uri="{FF2B5EF4-FFF2-40B4-BE49-F238E27FC236}">
                <a16:creationId xmlns:a16="http://schemas.microsoft.com/office/drawing/2014/main" id="{7668B971-7E99-4305-A9A3-A109CD018498}"/>
              </a:ext>
            </a:extLst>
          </p:cNvPr>
          <p:cNvSpPr>
            <a:spLocks noGrp="1"/>
          </p:cNvSpPr>
          <p:nvPr/>
        </p:nvSpPr>
        <p:spPr>
          <a:xfrm>
            <a:off x="6446520" y="5288551"/>
            <a:ext cx="72720" cy="7272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Text 29">
            <a:extLst>
              <a:ext uri="{FF2B5EF4-FFF2-40B4-BE49-F238E27FC236}">
                <a16:creationId xmlns:a16="http://schemas.microsoft.com/office/drawing/2014/main" id="{5DAFDD79-CDA7-4FAF-BBCD-7A84A2367C4E}"/>
              </a:ext>
            </a:extLst>
          </p:cNvPr>
          <p:cNvSpPr>
            <a:spLocks noGrp="1"/>
          </p:cNvSpPr>
          <p:nvPr/>
        </p:nvSpPr>
        <p:spPr>
          <a:xfrm>
            <a:off x="6611040" y="5215111"/>
            <a:ext cx="4772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Gaps explícitos.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Shape 30">
            <a:extLst>
              <a:ext uri="{FF2B5EF4-FFF2-40B4-BE49-F238E27FC236}">
                <a16:creationId xmlns:a16="http://schemas.microsoft.com/office/drawing/2014/main" id="{D77D5ABE-2520-4B7E-823E-F01719C3EEA8}"/>
              </a:ext>
            </a:extLst>
          </p:cNvPr>
          <p:cNvSpPr>
            <a:spLocks noGrp="1"/>
          </p:cNvSpPr>
          <p:nvPr/>
        </p:nvSpPr>
        <p:spPr>
          <a:xfrm>
            <a:off x="6446520" y="5709031"/>
            <a:ext cx="72720" cy="7272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Text 31">
            <a:extLst>
              <a:ext uri="{FF2B5EF4-FFF2-40B4-BE49-F238E27FC236}">
                <a16:creationId xmlns:a16="http://schemas.microsoft.com/office/drawing/2014/main" id="{83705391-B1D8-4CA2-86FA-B6CF6F5205A4}"/>
              </a:ext>
            </a:extLst>
          </p:cNvPr>
          <p:cNvSpPr>
            <a:spLocks noGrp="1"/>
          </p:cNvSpPr>
          <p:nvPr/>
        </p:nvSpPr>
        <p:spPr>
          <a:xfrm>
            <a:off x="6611040" y="5635951"/>
            <a:ext cx="4772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Preguntas de diseño mejores.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096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Shape 0">
            <a:extLst>
              <a:ext uri="{FF2B5EF4-FFF2-40B4-BE49-F238E27FC236}">
                <a16:creationId xmlns:a16="http://schemas.microsoft.com/office/drawing/2014/main" id="{4B4172A0-99B8-4508-9E7D-AFCBD1AC09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6" name="Text 1">
            <a:extLst>
              <a:ext uri="{FF2B5EF4-FFF2-40B4-BE49-F238E27FC236}">
                <a16:creationId xmlns:a16="http://schemas.microsoft.com/office/drawing/2014/main" id="{4B280F5E-4D21-42CD-8612-7B82CCB3F3DF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EL GRAPH ACTUAL SEPARA HOUSEKEEPING, REASONING Y EXECUTION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7" name="Text 2">
            <a:extLst>
              <a:ext uri="{FF2B5EF4-FFF2-40B4-BE49-F238E27FC236}">
                <a16:creationId xmlns:a16="http://schemas.microsoft.com/office/drawing/2014/main" id="{A317ACC4-F6DE-40CA-B510-C02C45113F27}"/>
              </a:ext>
            </a:extLst>
          </p:cNvPr>
          <p:cNvSpPr>
            <a:spLocks noGrp="1"/>
          </p:cNvSpPr>
          <p:nvPr/>
        </p:nvSpPr>
        <p:spPr>
          <a:xfrm>
            <a:off x="566999" y="804600"/>
            <a:ext cx="10375983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El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turno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entra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por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memory injection,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atraviesa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compaction y </a:t>
            </a:r>
            <a:endParaRPr lang="es-MX" sz="2600" b="1" u="none" dirty="0">
              <a:solidFill>
                <a:srgbClr val="151327"/>
              </a:solidFill>
              <a:latin typeface="Aptos Display"/>
              <a:ea typeface="Aptos Display"/>
              <a:cs typeface="Aptos Display"/>
            </a:endParaRP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alterna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agent ↔ tools hasta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respuesta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o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límite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8" name="Text 3">
            <a:extLst>
              <a:ext uri="{FF2B5EF4-FFF2-40B4-BE49-F238E27FC236}">
                <a16:creationId xmlns:a16="http://schemas.microsoft.com/office/drawing/2014/main" id="{4042EA47-16DE-4A48-954E-C520CD2F38A3}"/>
              </a:ext>
            </a:extLst>
          </p:cNvPr>
          <p:cNvSpPr>
            <a:spLocks noGrp="1"/>
          </p:cNvSpPr>
          <p:nvPr/>
        </p:nvSpPr>
        <p:spPr>
          <a:xfrm>
            <a:off x="567000" y="1591200"/>
            <a:ext cx="10698120" cy="5645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El graph del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turno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no es el Case lifecycle: uno dura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segundos</a:t>
            </a:r>
            <a:r>
              <a:rPr lang="es-MX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el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otro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conserva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responsabilidad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.</a:t>
            </a:r>
            <a:endParaRPr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0" name="Text 5">
            <a:extLst>
              <a:ext uri="{FF2B5EF4-FFF2-40B4-BE49-F238E27FC236}">
                <a16:creationId xmlns:a16="http://schemas.microsoft.com/office/drawing/2014/main" id="{71EEBA0C-6625-4B78-9AA1-1C627BEE1115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1" name="Text 6">
            <a:extLst>
              <a:ext uri="{FF2B5EF4-FFF2-40B4-BE49-F238E27FC236}">
                <a16:creationId xmlns:a16="http://schemas.microsoft.com/office/drawing/2014/main" id="{CE3EE3EE-0098-404D-8978-5893FCC08782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2" name="Text 7">
            <a:extLst>
              <a:ext uri="{FF2B5EF4-FFF2-40B4-BE49-F238E27FC236}">
                <a16:creationId xmlns:a16="http://schemas.microsoft.com/office/drawing/2014/main" id="{ADA63A47-13B1-42C4-8EE0-76B5F1619E3E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3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3" name="Shape 8">
            <a:extLst>
              <a:ext uri="{FF2B5EF4-FFF2-40B4-BE49-F238E27FC236}">
                <a16:creationId xmlns:a16="http://schemas.microsoft.com/office/drawing/2014/main" id="{12D6034E-F669-430F-B740-CE69B0B5AF8F}"/>
              </a:ext>
            </a:extLst>
          </p:cNvPr>
          <p:cNvSpPr>
            <a:spLocks noGrp="1"/>
          </p:cNvSpPr>
          <p:nvPr/>
        </p:nvSpPr>
        <p:spPr>
          <a:xfrm>
            <a:off x="868680" y="2483481"/>
            <a:ext cx="502560" cy="502560"/>
          </a:xfrm>
          <a:prstGeom prst="ellipse">
            <a:avLst/>
          </a:prstGeom>
          <a:solidFill>
            <a:srgbClr val="5F2CCB"/>
          </a:solidFill>
          <a:ln w="12700">
            <a:solidFill>
              <a:srgbClr val="5F2CC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4" name="Text 9">
            <a:extLst>
              <a:ext uri="{FF2B5EF4-FFF2-40B4-BE49-F238E27FC236}">
                <a16:creationId xmlns:a16="http://schemas.microsoft.com/office/drawing/2014/main" id="{23DE94D4-7EF1-47E1-BD23-51001D3CB0D1}"/>
              </a:ext>
            </a:extLst>
          </p:cNvPr>
          <p:cNvSpPr>
            <a:spLocks noGrp="1"/>
          </p:cNvSpPr>
          <p:nvPr/>
        </p:nvSpPr>
        <p:spPr>
          <a:xfrm>
            <a:off x="868680" y="2602281"/>
            <a:ext cx="502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5" name="Shape 10">
            <a:extLst>
              <a:ext uri="{FF2B5EF4-FFF2-40B4-BE49-F238E27FC236}">
                <a16:creationId xmlns:a16="http://schemas.microsoft.com/office/drawing/2014/main" id="{B6E1A1F0-643D-4CB3-91D2-55BCB19BAE3A}"/>
              </a:ext>
            </a:extLst>
          </p:cNvPr>
          <p:cNvSpPr>
            <a:spLocks noGrp="1"/>
          </p:cNvSpPr>
          <p:nvPr/>
        </p:nvSpPr>
        <p:spPr>
          <a:xfrm>
            <a:off x="1600200" y="2392041"/>
            <a:ext cx="9738000" cy="874068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6" name="Text 11">
            <a:extLst>
              <a:ext uri="{FF2B5EF4-FFF2-40B4-BE49-F238E27FC236}">
                <a16:creationId xmlns:a16="http://schemas.microsoft.com/office/drawing/2014/main" id="{FB714849-831E-4414-A7C0-FA5B33752BAB}"/>
              </a:ext>
            </a:extLst>
          </p:cNvPr>
          <p:cNvSpPr>
            <a:spLocks noGrp="1"/>
          </p:cNvSpPr>
          <p:nvPr/>
        </p:nvSpPr>
        <p:spPr>
          <a:xfrm>
            <a:off x="1801440" y="2529201"/>
            <a:ext cx="9335520" cy="2194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1 · Preparar contexto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7" name="Text 12">
            <a:extLst>
              <a:ext uri="{FF2B5EF4-FFF2-40B4-BE49-F238E27FC236}">
                <a16:creationId xmlns:a16="http://schemas.microsoft.com/office/drawing/2014/main" id="{BAC24C04-E92C-4CF9-9793-4F4548B9E311}"/>
              </a:ext>
            </a:extLst>
          </p:cNvPr>
          <p:cNvSpPr>
            <a:spLocks noGrp="1"/>
          </p:cNvSpPr>
          <p:nvPr/>
        </p:nvSpPr>
        <p:spPr>
          <a:xfrm>
            <a:off x="1856160" y="2812665"/>
            <a:ext cx="9226080" cy="28028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memory_injection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recupera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lang="es-MX"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memoria 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personal; compaction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controla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el context budget.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8" name="Shape 13">
            <a:extLst>
              <a:ext uri="{FF2B5EF4-FFF2-40B4-BE49-F238E27FC236}">
                <a16:creationId xmlns:a16="http://schemas.microsoft.com/office/drawing/2014/main" id="{8A45D319-DDF4-4CA6-B83C-A8E760C13EF3}"/>
              </a:ext>
            </a:extLst>
          </p:cNvPr>
          <p:cNvSpPr>
            <a:spLocks noGrp="1"/>
          </p:cNvSpPr>
          <p:nvPr/>
        </p:nvSpPr>
        <p:spPr>
          <a:xfrm>
            <a:off x="868680" y="3554451"/>
            <a:ext cx="502560" cy="50256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9" name="Text 14">
            <a:extLst>
              <a:ext uri="{FF2B5EF4-FFF2-40B4-BE49-F238E27FC236}">
                <a16:creationId xmlns:a16="http://schemas.microsoft.com/office/drawing/2014/main" id="{D7576710-1C3E-4618-B46A-CF4EB01DA9BC}"/>
              </a:ext>
            </a:extLst>
          </p:cNvPr>
          <p:cNvSpPr>
            <a:spLocks noGrp="1"/>
          </p:cNvSpPr>
          <p:nvPr/>
        </p:nvSpPr>
        <p:spPr>
          <a:xfrm>
            <a:off x="868680" y="3673611"/>
            <a:ext cx="502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0" name="Shape 15">
            <a:extLst>
              <a:ext uri="{FF2B5EF4-FFF2-40B4-BE49-F238E27FC236}">
                <a16:creationId xmlns:a16="http://schemas.microsoft.com/office/drawing/2014/main" id="{3316F20E-57CA-453A-AA64-97C6A8DBA74C}"/>
              </a:ext>
            </a:extLst>
          </p:cNvPr>
          <p:cNvSpPr>
            <a:spLocks noGrp="1"/>
          </p:cNvSpPr>
          <p:nvPr/>
        </p:nvSpPr>
        <p:spPr>
          <a:xfrm>
            <a:off x="1600200" y="3463011"/>
            <a:ext cx="9738000" cy="983868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1" name="Text 16">
            <a:extLst>
              <a:ext uri="{FF2B5EF4-FFF2-40B4-BE49-F238E27FC236}">
                <a16:creationId xmlns:a16="http://schemas.microsoft.com/office/drawing/2014/main" id="{B5CEC699-69E3-4A7B-806A-89B814E56356}"/>
              </a:ext>
            </a:extLst>
          </p:cNvPr>
          <p:cNvSpPr>
            <a:spLocks noGrp="1"/>
          </p:cNvSpPr>
          <p:nvPr/>
        </p:nvSpPr>
        <p:spPr>
          <a:xfrm>
            <a:off x="1801440" y="3600171"/>
            <a:ext cx="9335520" cy="2194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2 · Razonar y actuar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2" name="Text 17">
            <a:extLst>
              <a:ext uri="{FF2B5EF4-FFF2-40B4-BE49-F238E27FC236}">
                <a16:creationId xmlns:a16="http://schemas.microsoft.com/office/drawing/2014/main" id="{13196C10-1A9F-4692-B12C-4D0017F73B7F}"/>
              </a:ext>
            </a:extLst>
          </p:cNvPr>
          <p:cNvSpPr>
            <a:spLocks noGrp="1"/>
          </p:cNvSpPr>
          <p:nvPr/>
        </p:nvSpPr>
        <p:spPr>
          <a:xfrm>
            <a:off x="1856160" y="3903513"/>
            <a:ext cx="9226080" cy="4119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agent decide; tools ejecuta, deduplica, deniega o interrumpe para HITL.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3" name="Shape 18">
            <a:extLst>
              <a:ext uri="{FF2B5EF4-FFF2-40B4-BE49-F238E27FC236}">
                <a16:creationId xmlns:a16="http://schemas.microsoft.com/office/drawing/2014/main" id="{0FC8D6BA-D3ED-47B8-A7D2-5146AB2D23EE}"/>
              </a:ext>
            </a:extLst>
          </p:cNvPr>
          <p:cNvSpPr>
            <a:spLocks noGrp="1"/>
          </p:cNvSpPr>
          <p:nvPr/>
        </p:nvSpPr>
        <p:spPr>
          <a:xfrm>
            <a:off x="868680" y="4725171"/>
            <a:ext cx="502560" cy="502560"/>
          </a:xfrm>
          <a:prstGeom prst="ellipse">
            <a:avLst/>
          </a:prstGeom>
          <a:solidFill>
            <a:srgbClr val="F39A2B"/>
          </a:solidFill>
          <a:ln w="12700">
            <a:solidFill>
              <a:srgbClr val="F39A2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4" name="Text 19">
            <a:extLst>
              <a:ext uri="{FF2B5EF4-FFF2-40B4-BE49-F238E27FC236}">
                <a16:creationId xmlns:a16="http://schemas.microsoft.com/office/drawing/2014/main" id="{4F61BFFD-984D-4A21-BD93-BD34B8ED8096}"/>
              </a:ext>
            </a:extLst>
          </p:cNvPr>
          <p:cNvSpPr>
            <a:spLocks noGrp="1"/>
          </p:cNvSpPr>
          <p:nvPr/>
        </p:nvSpPr>
        <p:spPr>
          <a:xfrm>
            <a:off x="868680" y="4843971"/>
            <a:ext cx="502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5" name="Shape 20">
            <a:extLst>
              <a:ext uri="{FF2B5EF4-FFF2-40B4-BE49-F238E27FC236}">
                <a16:creationId xmlns:a16="http://schemas.microsoft.com/office/drawing/2014/main" id="{D654FDA2-D2EC-4A10-AF26-C70C8AFC9042}"/>
              </a:ext>
            </a:extLst>
          </p:cNvPr>
          <p:cNvSpPr>
            <a:spLocks noGrp="1"/>
          </p:cNvSpPr>
          <p:nvPr/>
        </p:nvSpPr>
        <p:spPr>
          <a:xfrm>
            <a:off x="1600200" y="4633730"/>
            <a:ext cx="9738000" cy="983867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6" name="Text 21">
            <a:extLst>
              <a:ext uri="{FF2B5EF4-FFF2-40B4-BE49-F238E27FC236}">
                <a16:creationId xmlns:a16="http://schemas.microsoft.com/office/drawing/2014/main" id="{ED1153E9-3E03-42F4-8EB2-CCB63C127452}"/>
              </a:ext>
            </a:extLst>
          </p:cNvPr>
          <p:cNvSpPr>
            <a:spLocks noGrp="1"/>
          </p:cNvSpPr>
          <p:nvPr/>
        </p:nvSpPr>
        <p:spPr>
          <a:xfrm>
            <a:off x="1801440" y="4770891"/>
            <a:ext cx="9335520" cy="2194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3 · Terminar o continuar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7" name="Text 22">
            <a:extLst>
              <a:ext uri="{FF2B5EF4-FFF2-40B4-BE49-F238E27FC236}">
                <a16:creationId xmlns:a16="http://schemas.microsoft.com/office/drawing/2014/main" id="{3E5A96B2-07AB-46B3-9B63-F790773C9791}"/>
              </a:ext>
            </a:extLst>
          </p:cNvPr>
          <p:cNvSpPr>
            <a:spLocks noGrp="1"/>
          </p:cNvSpPr>
          <p:nvPr/>
        </p:nvSpPr>
        <p:spPr>
          <a:xfrm>
            <a:off x="1856160" y="5064293"/>
            <a:ext cx="9226080" cy="458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Tool result vuelve por compaction; sin tool call o al límite termina el run.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8" name="Shape 23">
            <a:extLst>
              <a:ext uri="{FF2B5EF4-FFF2-40B4-BE49-F238E27FC236}">
                <a16:creationId xmlns:a16="http://schemas.microsoft.com/office/drawing/2014/main" id="{F6668194-9FAE-481C-A98E-28238609DE8E}"/>
              </a:ext>
            </a:extLst>
          </p:cNvPr>
          <p:cNvSpPr>
            <a:spLocks noGrp="1"/>
          </p:cNvSpPr>
          <p:nvPr/>
        </p:nvSpPr>
        <p:spPr>
          <a:xfrm>
            <a:off x="868680" y="5803512"/>
            <a:ext cx="10725480" cy="616121"/>
          </a:xfrm>
          <a:prstGeom prst="roundRect">
            <a:avLst>
              <a:gd name="adj" fmla="val 15385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9" name="Text 24">
            <a:extLst>
              <a:ext uri="{FF2B5EF4-FFF2-40B4-BE49-F238E27FC236}">
                <a16:creationId xmlns:a16="http://schemas.microsoft.com/office/drawing/2014/main" id="{5F78741C-658D-4901-9569-67A1323FFA9D}"/>
              </a:ext>
            </a:extLst>
          </p:cNvPr>
          <p:cNvSpPr>
            <a:spLocks noGrp="1"/>
          </p:cNvSpPr>
          <p:nvPr/>
        </p:nvSpPr>
        <p:spPr>
          <a:xfrm>
            <a:off x="1007918" y="5914090"/>
            <a:ext cx="10440082" cy="44293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20000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agent → tools → compaction → agent; agent decide la salida.</a:t>
            </a:r>
          </a:p>
        </p:txBody>
      </p:sp>
      <p:pic>
        <p:nvPicPr>
          <p:cNvPr id="68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071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0">
            <a:extLst>
              <a:ext uri="{FF2B5EF4-FFF2-40B4-BE49-F238E27FC236}">
                <a16:creationId xmlns:a16="http://schemas.microsoft.com/office/drawing/2014/main" id="{4BBAACC3-A791-45E5-90BD-10F6EBE250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9" name="Text 1">
            <a:extLst>
              <a:ext uri="{FF2B5EF4-FFF2-40B4-BE49-F238E27FC236}">
                <a16:creationId xmlns:a16="http://schemas.microsoft.com/office/drawing/2014/main" id="{F1D40F3B-2F08-4C83-9264-68BFDA97A0B2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MODEL POLICY: UN ROL, UNA EXIGENCIA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0" name="Text 2">
            <a:extLst>
              <a:ext uri="{FF2B5EF4-FFF2-40B4-BE49-F238E27FC236}">
                <a16:creationId xmlns:a16="http://schemas.microsoft.com/office/drawing/2014/main" id="{9F9F0B0F-11C7-4191-AD06-C27263CE56EF}"/>
              </a:ext>
            </a:extLst>
          </p:cNvPr>
          <p:cNvSpPr>
            <a:spLocks noGrp="1"/>
          </p:cNvSpPr>
          <p:nvPr/>
        </p:nvSpPr>
        <p:spPr>
          <a:xfrm>
            <a:off x="567000" y="831234"/>
            <a:ext cx="101952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Gu OS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separa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lang="es-MX"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razonamiento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general, compact</a:t>
            </a:r>
            <a:r>
              <a:rPr lang="es-MX"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ación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,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selec</a:t>
            </a:r>
            <a:r>
              <a:rPr lang="es-MX"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ción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,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clas</a:t>
            </a:r>
            <a:r>
              <a:rPr lang="es-MX"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ificadores</a:t>
            </a:r>
            <a:r>
              <a:rPr lang="es-MX"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y jueces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1" name="Text 3">
            <a:extLst>
              <a:ext uri="{FF2B5EF4-FFF2-40B4-BE49-F238E27FC236}">
                <a16:creationId xmlns:a16="http://schemas.microsoft.com/office/drawing/2014/main" id="{7C9920B2-0B9C-405A-8FC2-3066958F1F12}"/>
              </a:ext>
            </a:extLst>
          </p:cNvPr>
          <p:cNvSpPr>
            <a:spLocks noGrp="1"/>
          </p:cNvSpPr>
          <p:nvPr/>
        </p:nvSpPr>
        <p:spPr>
          <a:xfrm>
            <a:off x="567000" y="1722964"/>
            <a:ext cx="106981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Los defaults son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configuración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con env overrides; no </a:t>
            </a:r>
            <a:r>
              <a:rPr lang="es-MX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docrina</a:t>
            </a:r>
            <a:r>
              <a:rPr lang="es-MX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del 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product</a:t>
            </a:r>
            <a:r>
              <a:rPr lang="es-MX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o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.</a:t>
            </a:r>
            <a:endParaRPr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3" name="Text 5">
            <a:extLst>
              <a:ext uri="{FF2B5EF4-FFF2-40B4-BE49-F238E27FC236}">
                <a16:creationId xmlns:a16="http://schemas.microsoft.com/office/drawing/2014/main" id="{45E5FF60-280C-4427-B9EE-702C6AC4B0BA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4" name="Text 6">
            <a:extLst>
              <a:ext uri="{FF2B5EF4-FFF2-40B4-BE49-F238E27FC236}">
                <a16:creationId xmlns:a16="http://schemas.microsoft.com/office/drawing/2014/main" id="{2C7BE918-435D-46D0-A72D-6BFEFE98180D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5" name="Text 7">
            <a:extLst>
              <a:ext uri="{FF2B5EF4-FFF2-40B4-BE49-F238E27FC236}">
                <a16:creationId xmlns:a16="http://schemas.microsoft.com/office/drawing/2014/main" id="{2B7BB1E1-E16A-4C69-80F5-FD1C55C36297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4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6" name="Shape 8">
            <a:extLst>
              <a:ext uri="{FF2B5EF4-FFF2-40B4-BE49-F238E27FC236}">
                <a16:creationId xmlns:a16="http://schemas.microsoft.com/office/drawing/2014/main" id="{9CCD3A35-0D41-4B31-AFFE-F330AE1968C2}"/>
              </a:ext>
            </a:extLst>
          </p:cNvPr>
          <p:cNvSpPr>
            <a:spLocks noGrp="1"/>
          </p:cNvSpPr>
          <p:nvPr/>
        </p:nvSpPr>
        <p:spPr>
          <a:xfrm>
            <a:off x="82296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078C53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7" name="Text 9">
            <a:extLst>
              <a:ext uri="{FF2B5EF4-FFF2-40B4-BE49-F238E27FC236}">
                <a16:creationId xmlns:a16="http://schemas.microsoft.com/office/drawing/2014/main" id="{2B4765C8-6BF1-46F9-A8A3-80AAFFECDE1A}"/>
              </a:ext>
            </a:extLst>
          </p:cNvPr>
          <p:cNvSpPr>
            <a:spLocks noGrp="1"/>
          </p:cNvSpPr>
          <p:nvPr/>
        </p:nvSpPr>
        <p:spPr>
          <a:xfrm>
            <a:off x="96012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MAIN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8" name="Text 10">
            <a:extLst>
              <a:ext uri="{FF2B5EF4-FFF2-40B4-BE49-F238E27FC236}">
                <a16:creationId xmlns:a16="http://schemas.microsoft.com/office/drawing/2014/main" id="{7F134683-F6F3-4A27-96B2-A8C1CE8A07F5}"/>
              </a:ext>
            </a:extLst>
          </p:cNvPr>
          <p:cNvSpPr>
            <a:spLocks noGrp="1"/>
          </p:cNvSpPr>
          <p:nvPr/>
        </p:nvSpPr>
        <p:spPr>
          <a:xfrm>
            <a:off x="102420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Reasoning + tools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9" name="Text 11">
            <a:extLst>
              <a:ext uri="{FF2B5EF4-FFF2-40B4-BE49-F238E27FC236}">
                <a16:creationId xmlns:a16="http://schemas.microsoft.com/office/drawing/2014/main" id="{9D304FCD-FA8D-4F73-ABAC-B561272A6512}"/>
              </a:ext>
            </a:extLst>
          </p:cNvPr>
          <p:cNvSpPr>
            <a:spLocks noGrp="1"/>
          </p:cNvSpPr>
          <p:nvPr/>
        </p:nvSpPr>
        <p:spPr>
          <a:xfrm>
            <a:off x="107892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openai/gpt-5.4-mini: turno interactivo y classifiers por default.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0" name="Shape 12">
            <a:extLst>
              <a:ext uri="{FF2B5EF4-FFF2-40B4-BE49-F238E27FC236}">
                <a16:creationId xmlns:a16="http://schemas.microsoft.com/office/drawing/2014/main" id="{EF787178-85ED-45E2-B753-CA0056CFE17A}"/>
              </a:ext>
            </a:extLst>
          </p:cNvPr>
          <p:cNvSpPr>
            <a:spLocks noGrp="1"/>
          </p:cNvSpPr>
          <p:nvPr/>
        </p:nvSpPr>
        <p:spPr>
          <a:xfrm>
            <a:off x="452628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F39A2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1" name="Text 13">
            <a:extLst>
              <a:ext uri="{FF2B5EF4-FFF2-40B4-BE49-F238E27FC236}">
                <a16:creationId xmlns:a16="http://schemas.microsoft.com/office/drawing/2014/main" id="{255F5FB9-074F-4C28-876F-51D8F78DF680}"/>
              </a:ext>
            </a:extLst>
          </p:cNvPr>
          <p:cNvSpPr>
            <a:spLocks noGrp="1"/>
          </p:cNvSpPr>
          <p:nvPr/>
        </p:nvSpPr>
        <p:spPr>
          <a:xfrm>
            <a:off x="466344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39A2B"/>
                </a:solidFill>
                <a:latin typeface="Aptos"/>
                <a:ea typeface="Aptos"/>
                <a:cs typeface="Aptos"/>
              </a:rPr>
              <a:t>SUPPORT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2" name="Text 14">
            <a:extLst>
              <a:ext uri="{FF2B5EF4-FFF2-40B4-BE49-F238E27FC236}">
                <a16:creationId xmlns:a16="http://schemas.microsoft.com/office/drawing/2014/main" id="{861EC238-409B-4970-A121-1C58F1D0D043}"/>
              </a:ext>
            </a:extLst>
          </p:cNvPr>
          <p:cNvSpPr>
            <a:spLocks noGrp="1"/>
          </p:cNvSpPr>
          <p:nvPr/>
        </p:nvSpPr>
        <p:spPr>
          <a:xfrm>
            <a:off x="472752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Compactar y seleccionar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3" name="Text 15">
            <a:extLst>
              <a:ext uri="{FF2B5EF4-FFF2-40B4-BE49-F238E27FC236}">
                <a16:creationId xmlns:a16="http://schemas.microsoft.com/office/drawing/2014/main" id="{02F20FE0-34C2-48B1-BC9A-D3E177900EEF}"/>
              </a:ext>
            </a:extLst>
          </p:cNvPr>
          <p:cNvSpPr>
            <a:spLocks noGrp="1"/>
          </p:cNvSpPr>
          <p:nvPr/>
        </p:nvSpPr>
        <p:spPr>
          <a:xfrm>
            <a:off x="478224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Haiku: compaction, memory flush, skill selector y reviewer.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4" name="Shape 16">
            <a:extLst>
              <a:ext uri="{FF2B5EF4-FFF2-40B4-BE49-F238E27FC236}">
                <a16:creationId xmlns:a16="http://schemas.microsoft.com/office/drawing/2014/main" id="{CA0E0125-49B3-48E2-A0AD-93A7A8B1A518}"/>
              </a:ext>
            </a:extLst>
          </p:cNvPr>
          <p:cNvSpPr>
            <a:spLocks noGrp="1"/>
          </p:cNvSpPr>
          <p:nvPr/>
        </p:nvSpPr>
        <p:spPr>
          <a:xfrm>
            <a:off x="822960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A84A7A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5" name="Text 17">
            <a:extLst>
              <a:ext uri="{FF2B5EF4-FFF2-40B4-BE49-F238E27FC236}">
                <a16:creationId xmlns:a16="http://schemas.microsoft.com/office/drawing/2014/main" id="{DC8AAC41-512E-4C1D-B2D3-D6B006038F75}"/>
              </a:ext>
            </a:extLst>
          </p:cNvPr>
          <p:cNvSpPr>
            <a:spLocks noGrp="1"/>
          </p:cNvSpPr>
          <p:nvPr/>
        </p:nvSpPr>
        <p:spPr>
          <a:xfrm>
            <a:off x="836676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A84A7A"/>
                </a:solidFill>
                <a:latin typeface="Aptos"/>
                <a:ea typeface="Aptos"/>
                <a:cs typeface="Aptos"/>
              </a:rPr>
              <a:t>ESCALATION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6" name="Text 18">
            <a:extLst>
              <a:ext uri="{FF2B5EF4-FFF2-40B4-BE49-F238E27FC236}">
                <a16:creationId xmlns:a16="http://schemas.microsoft.com/office/drawing/2014/main" id="{B0807840-7344-4FCC-92B2-FAF7C3C584F6}"/>
              </a:ext>
            </a:extLst>
          </p:cNvPr>
          <p:cNvSpPr>
            <a:spLocks noGrp="1"/>
          </p:cNvSpPr>
          <p:nvPr/>
        </p:nvSpPr>
        <p:spPr>
          <a:xfrm>
            <a:off x="843084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Juicio independiente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7" name="Text 19">
            <a:extLst>
              <a:ext uri="{FF2B5EF4-FFF2-40B4-BE49-F238E27FC236}">
                <a16:creationId xmlns:a16="http://schemas.microsoft.com/office/drawing/2014/main" id="{B127B4FC-74A3-4F76-8BAF-C6AE0C023639}"/>
              </a:ext>
            </a:extLst>
          </p:cNvPr>
          <p:cNvSpPr>
            <a:spLocks noGrp="1"/>
          </p:cNvSpPr>
          <p:nvPr/>
        </p:nvSpPr>
        <p:spPr>
          <a:xfrm>
            <a:off x="848556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Modelos más capaces para judge/escalation y roles especializados.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8" name="Shape 20">
            <a:extLst>
              <a:ext uri="{FF2B5EF4-FFF2-40B4-BE49-F238E27FC236}">
                <a16:creationId xmlns:a16="http://schemas.microsoft.com/office/drawing/2014/main" id="{F50A24BA-26B8-41DD-8033-EE393E903416}"/>
              </a:ext>
            </a:extLst>
          </p:cNvPr>
          <p:cNvSpPr>
            <a:spLocks noGrp="1"/>
          </p:cNvSpPr>
          <p:nvPr/>
        </p:nvSpPr>
        <p:spPr>
          <a:xfrm>
            <a:off x="2240280" y="5730953"/>
            <a:ext cx="7726320" cy="640345"/>
          </a:xfrm>
          <a:prstGeom prst="roundRect">
            <a:avLst>
              <a:gd name="adj" fmla="val 16000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9" name="Text 21">
            <a:extLst>
              <a:ext uri="{FF2B5EF4-FFF2-40B4-BE49-F238E27FC236}">
                <a16:creationId xmlns:a16="http://schemas.microsoft.com/office/drawing/2014/main" id="{8BF542F8-67AE-4291-AE4A-D1D2D0297474}"/>
              </a:ext>
            </a:extLst>
          </p:cNvPr>
          <p:cNvSpPr>
            <a:spLocks noGrp="1"/>
          </p:cNvSpPr>
          <p:nvPr/>
        </p:nvSpPr>
        <p:spPr>
          <a:xfrm>
            <a:off x="2516826" y="5868472"/>
            <a:ext cx="7218948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8606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 policy calibra capacidad, costo y evidencia sin reescribir el harness.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6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834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0">
            <a:extLst>
              <a:ext uri="{FF2B5EF4-FFF2-40B4-BE49-F238E27FC236}">
                <a16:creationId xmlns:a16="http://schemas.microsoft.com/office/drawing/2014/main" id="{37ED2560-55E8-4F03-8AD7-377895563FB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Text 1">
            <a:extLst>
              <a:ext uri="{FF2B5EF4-FFF2-40B4-BE49-F238E27FC236}">
                <a16:creationId xmlns:a16="http://schemas.microsoft.com/office/drawing/2014/main" id="{B5E98044-CA38-438E-8ADC-34ADEA48A135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CONTEXT ENGINEERING ES COMPILAR EVIDENCIA APLICABLE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0" name="Text 2">
            <a:extLst>
              <a:ext uri="{FF2B5EF4-FFF2-40B4-BE49-F238E27FC236}">
                <a16:creationId xmlns:a16="http://schemas.microsoft.com/office/drawing/2014/main" id="{2664FD3F-E083-43FD-A02D-93117B449135}"/>
              </a:ext>
            </a:extLst>
          </p:cNvPr>
          <p:cNvSpPr>
            <a:spLocks noGrp="1"/>
          </p:cNvSpPr>
          <p:nvPr/>
        </p:nvSpPr>
        <p:spPr>
          <a:xfrm>
            <a:off x="567000" y="822356"/>
            <a:ext cx="10432433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5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El prompt </a:t>
            </a:r>
            <a:r>
              <a:rPr sz="25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efectivo</a:t>
            </a:r>
            <a:r>
              <a:rPr sz="25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5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combina</a:t>
            </a:r>
            <a:r>
              <a:rPr sz="25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5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instrucciones</a:t>
            </a:r>
            <a:r>
              <a:rPr sz="25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, </a:t>
            </a:r>
            <a:r>
              <a:rPr lang="es-MX" sz="25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contexto de usuario/organización</a:t>
            </a:r>
            <a:r>
              <a:rPr sz="25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, skills/tools, </a:t>
            </a:r>
            <a:r>
              <a:rPr lang="es-MX" sz="25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mensajes anteriores</a:t>
            </a:r>
            <a:r>
              <a:rPr sz="25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, </a:t>
            </a:r>
            <a:r>
              <a:rPr lang="es-MX" sz="25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memoria </a:t>
            </a:r>
            <a:r>
              <a:rPr sz="25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personal</a:t>
            </a:r>
            <a:r>
              <a:rPr lang="es-MX" sz="25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5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y </a:t>
            </a:r>
            <a:r>
              <a:rPr lang="es-MX" sz="25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estado</a:t>
            </a:r>
            <a:r>
              <a:rPr sz="25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5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relevante</a:t>
            </a:r>
            <a:r>
              <a:rPr sz="25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.</a:t>
            </a:r>
            <a:endParaRPr sz="25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Text 3">
            <a:extLst>
              <a:ext uri="{FF2B5EF4-FFF2-40B4-BE49-F238E27FC236}">
                <a16:creationId xmlns:a16="http://schemas.microsoft.com/office/drawing/2014/main" id="{F54E7B9A-4094-4FBB-B521-3E84A0CCEF8F}"/>
              </a:ext>
            </a:extLst>
          </p:cNvPr>
          <p:cNvSpPr>
            <a:spLocks noGrp="1"/>
          </p:cNvSpPr>
          <p:nvPr/>
        </p:nvSpPr>
        <p:spPr>
          <a:xfrm>
            <a:off x="567000" y="1721575"/>
            <a:ext cx="106981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Más contexto no es más verdad: scope, precedence, freshness y authority deciden qué entra.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Text 5">
            <a:extLst>
              <a:ext uri="{FF2B5EF4-FFF2-40B4-BE49-F238E27FC236}">
                <a16:creationId xmlns:a16="http://schemas.microsoft.com/office/drawing/2014/main" id="{2159E07A-4D9A-4C23-ABF6-F935B12F6A8A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Text 6">
            <a:extLst>
              <a:ext uri="{FF2B5EF4-FFF2-40B4-BE49-F238E27FC236}">
                <a16:creationId xmlns:a16="http://schemas.microsoft.com/office/drawing/2014/main" id="{D4E199A8-A37F-414F-9045-DB1D48F677A3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Text 7">
            <a:extLst>
              <a:ext uri="{FF2B5EF4-FFF2-40B4-BE49-F238E27FC236}">
                <a16:creationId xmlns:a16="http://schemas.microsoft.com/office/drawing/2014/main" id="{AD5DEA2F-C52C-4BC4-B144-3DA6B6F22E6C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>
                <a:solidFill>
                  <a:srgbClr val="7E7798"/>
                </a:solidFill>
                <a:latin typeface="Aptos"/>
                <a:ea typeface="Aptos"/>
                <a:cs typeface="Aptos"/>
              </a:rPr>
              <a:t>5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Shape 8">
            <a:extLst>
              <a:ext uri="{FF2B5EF4-FFF2-40B4-BE49-F238E27FC236}">
                <a16:creationId xmlns:a16="http://schemas.microsoft.com/office/drawing/2014/main" id="{2E3C18FE-C143-4552-A4AF-0398BAAF0B55}"/>
              </a:ext>
            </a:extLst>
          </p:cNvPr>
          <p:cNvSpPr>
            <a:spLocks noGrp="1"/>
          </p:cNvSpPr>
          <p:nvPr/>
        </p:nvSpPr>
        <p:spPr>
          <a:xfrm>
            <a:off x="573053" y="2684449"/>
            <a:ext cx="4845960" cy="2582409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Text 9">
            <a:extLst>
              <a:ext uri="{FF2B5EF4-FFF2-40B4-BE49-F238E27FC236}">
                <a16:creationId xmlns:a16="http://schemas.microsoft.com/office/drawing/2014/main" id="{F1761F2F-5FFF-4FDF-98E0-92BE5F413507}"/>
              </a:ext>
            </a:extLst>
          </p:cNvPr>
          <p:cNvSpPr>
            <a:spLocks noGrp="1"/>
          </p:cNvSpPr>
          <p:nvPr/>
        </p:nvSpPr>
        <p:spPr>
          <a:xfrm>
            <a:off x="710213" y="2830609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CONTEXTO DEL TURNO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Text 10">
            <a:extLst>
              <a:ext uri="{FF2B5EF4-FFF2-40B4-BE49-F238E27FC236}">
                <a16:creationId xmlns:a16="http://schemas.microsoft.com/office/drawing/2014/main" id="{4095029D-21AB-4F27-B3F9-2CFC223C9A02}"/>
              </a:ext>
            </a:extLst>
          </p:cNvPr>
          <p:cNvSpPr>
            <a:spLocks noGrp="1"/>
          </p:cNvSpPr>
          <p:nvPr/>
        </p:nvSpPr>
        <p:spPr>
          <a:xfrm>
            <a:off x="774293" y="3160009"/>
            <a:ext cx="44434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Lo </a:t>
            </a:r>
            <a:r>
              <a:rPr sz="1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que</a:t>
            </a:r>
            <a:r>
              <a:rPr sz="1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el model</a:t>
            </a:r>
            <a:r>
              <a:rPr lang="es-MX" sz="1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o</a:t>
            </a:r>
            <a:r>
              <a:rPr sz="1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1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necesita</a:t>
            </a:r>
            <a:r>
              <a:rPr sz="1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1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ahora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Text 11">
            <a:extLst>
              <a:ext uri="{FF2B5EF4-FFF2-40B4-BE49-F238E27FC236}">
                <a16:creationId xmlns:a16="http://schemas.microsoft.com/office/drawing/2014/main" id="{E5C20C17-8287-4029-9C24-6587923BF2A8}"/>
              </a:ext>
            </a:extLst>
          </p:cNvPr>
          <p:cNvSpPr>
            <a:spLocks noGrp="1"/>
          </p:cNvSpPr>
          <p:nvPr/>
        </p:nvSpPr>
        <p:spPr>
          <a:xfrm>
            <a:off x="829013" y="3671929"/>
            <a:ext cx="4334040" cy="11654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5532"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System/runtime instructions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Profile y account context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Skills + tool schemas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Prior messages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compactados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Personal memory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recuperada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Shape 12">
            <a:extLst>
              <a:ext uri="{FF2B5EF4-FFF2-40B4-BE49-F238E27FC236}">
                <a16:creationId xmlns:a16="http://schemas.microsoft.com/office/drawing/2014/main" id="{124856B5-2DDC-4795-88B6-7AB102075D83}"/>
              </a:ext>
            </a:extLst>
          </p:cNvPr>
          <p:cNvSpPr>
            <a:spLocks noGrp="1"/>
          </p:cNvSpPr>
          <p:nvPr/>
        </p:nvSpPr>
        <p:spPr>
          <a:xfrm>
            <a:off x="6333773" y="2684449"/>
            <a:ext cx="4739640" cy="2582049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Text 13">
            <a:extLst>
              <a:ext uri="{FF2B5EF4-FFF2-40B4-BE49-F238E27FC236}">
                <a16:creationId xmlns:a16="http://schemas.microsoft.com/office/drawing/2014/main" id="{3DCF46AE-B470-4C47-8495-74C03F58A04B}"/>
              </a:ext>
            </a:extLst>
          </p:cNvPr>
          <p:cNvSpPr>
            <a:spLocks noGrp="1"/>
          </p:cNvSpPr>
          <p:nvPr/>
        </p:nvSpPr>
        <p:spPr>
          <a:xfrm>
            <a:off x="6470933" y="2830609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VERDAD DURABLE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Text 14">
            <a:extLst>
              <a:ext uri="{FF2B5EF4-FFF2-40B4-BE49-F238E27FC236}">
                <a16:creationId xmlns:a16="http://schemas.microsoft.com/office/drawing/2014/main" id="{DEB40F6F-55EC-4EA6-A0EC-B4E7394135A8}"/>
              </a:ext>
            </a:extLst>
          </p:cNvPr>
          <p:cNvSpPr>
            <a:spLocks noGrp="1"/>
          </p:cNvSpPr>
          <p:nvPr/>
        </p:nvSpPr>
        <p:spPr>
          <a:xfrm>
            <a:off x="6535013" y="3160009"/>
            <a:ext cx="44434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Lo que gobierna fuera del prompt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Text 15">
            <a:extLst>
              <a:ext uri="{FF2B5EF4-FFF2-40B4-BE49-F238E27FC236}">
                <a16:creationId xmlns:a16="http://schemas.microsoft.com/office/drawing/2014/main" id="{2AA5CCE7-BB79-4204-B6EC-3C6634660C4E}"/>
              </a:ext>
            </a:extLst>
          </p:cNvPr>
          <p:cNvSpPr>
            <a:spLocks noGrp="1"/>
          </p:cNvSpPr>
          <p:nvPr/>
        </p:nvSpPr>
        <p:spPr>
          <a:xfrm>
            <a:off x="6589733" y="3671929"/>
            <a:ext cx="3512734" cy="13705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10000"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Case/work state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Systems of record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Organization/policy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Commitments y decisions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Evidence/outcomes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Shape 16">
            <a:extLst>
              <a:ext uri="{FF2B5EF4-FFF2-40B4-BE49-F238E27FC236}">
                <a16:creationId xmlns:a16="http://schemas.microsoft.com/office/drawing/2014/main" id="{231FC923-B290-4382-BC31-F263B92E7688}"/>
              </a:ext>
            </a:extLst>
          </p:cNvPr>
          <p:cNvSpPr>
            <a:spLocks noGrp="1"/>
          </p:cNvSpPr>
          <p:nvPr/>
        </p:nvSpPr>
        <p:spPr>
          <a:xfrm>
            <a:off x="5510813" y="4074049"/>
            <a:ext cx="731520" cy="360"/>
          </a:xfrm>
          <a:prstGeom prst="line">
            <a:avLst/>
          </a:prstGeom>
          <a:ln w="19050">
            <a:solidFill>
              <a:srgbClr val="5F2CCB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Shape 17">
            <a:extLst>
              <a:ext uri="{FF2B5EF4-FFF2-40B4-BE49-F238E27FC236}">
                <a16:creationId xmlns:a16="http://schemas.microsoft.com/office/drawing/2014/main" id="{8ACD5224-7EA4-40F7-B6CE-F0A80D090F32}"/>
              </a:ext>
            </a:extLst>
          </p:cNvPr>
          <p:cNvSpPr>
            <a:spLocks noGrp="1"/>
          </p:cNvSpPr>
          <p:nvPr/>
        </p:nvSpPr>
        <p:spPr>
          <a:xfrm>
            <a:off x="2468880" y="5713479"/>
            <a:ext cx="7223400" cy="438480"/>
          </a:xfrm>
          <a:prstGeom prst="roundRect">
            <a:avLst>
              <a:gd name="adj" fmla="val 16667"/>
            </a:avLst>
          </a:prstGeom>
          <a:solidFill>
            <a:srgbClr val="F1EBFF"/>
          </a:solidFill>
          <a:ln w="12700">
            <a:solidFill>
              <a:srgbClr val="F1EBFF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Text 18">
            <a:extLst>
              <a:ext uri="{FF2B5EF4-FFF2-40B4-BE49-F238E27FC236}">
                <a16:creationId xmlns:a16="http://schemas.microsoft.com/office/drawing/2014/main" id="{2CC9CA9D-5515-4838-999A-6CDF997CC73A}"/>
              </a:ext>
            </a:extLst>
          </p:cNvPr>
          <p:cNvSpPr>
            <a:spLocks noGrp="1"/>
          </p:cNvSpPr>
          <p:nvPr/>
        </p:nvSpPr>
        <p:spPr>
          <a:xfrm>
            <a:off x="2514600" y="5768199"/>
            <a:ext cx="71319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buNone/>
              <a:tabLst>
                <a:tab pos="0" algn="l"/>
              </a:tabLst>
            </a:pPr>
            <a:r>
              <a:rPr sz="1600" b="1" dirty="0">
                <a:solidFill>
                  <a:srgbClr val="5F2CCB"/>
                </a:solidFill>
              </a:rPr>
              <a:t>El </a:t>
            </a:r>
            <a:r>
              <a:rPr sz="1600" b="1" dirty="0" err="1">
                <a:solidFill>
                  <a:srgbClr val="5F2CCB"/>
                </a:solidFill>
              </a:rPr>
              <a:t>contexto</a:t>
            </a:r>
            <a:r>
              <a:rPr sz="1600" b="1" dirty="0">
                <a:solidFill>
                  <a:srgbClr val="5F2CCB"/>
                </a:solidFill>
              </a:rPr>
              <a:t> se </a:t>
            </a:r>
            <a:r>
              <a:rPr sz="1600" b="1" dirty="0" err="1">
                <a:solidFill>
                  <a:srgbClr val="5F2CCB"/>
                </a:solidFill>
              </a:rPr>
              <a:t>deriva</a:t>
            </a:r>
            <a:r>
              <a:rPr sz="1600" b="1" dirty="0">
                <a:solidFill>
                  <a:srgbClr val="5F2CCB"/>
                </a:solidFill>
              </a:rPr>
              <a:t>; la </a:t>
            </a:r>
            <a:r>
              <a:rPr sz="1600" b="1" dirty="0" err="1">
                <a:solidFill>
                  <a:srgbClr val="5F2CCB"/>
                </a:solidFill>
              </a:rPr>
              <a:t>verdad</a:t>
            </a:r>
            <a:r>
              <a:rPr sz="1600" b="1" dirty="0">
                <a:solidFill>
                  <a:srgbClr val="5F2CCB"/>
                </a:solidFill>
              </a:rPr>
              <a:t> durable </a:t>
            </a:r>
            <a:r>
              <a:rPr sz="1600" b="1" dirty="0" err="1">
                <a:solidFill>
                  <a:srgbClr val="5F2CCB"/>
                </a:solidFill>
              </a:rPr>
              <a:t>gobierna</a:t>
            </a:r>
            <a:r>
              <a:rPr sz="1600" b="1" dirty="0">
                <a:solidFill>
                  <a:srgbClr val="5F2CCB"/>
                </a:solidFill>
              </a:rPr>
              <a:t>.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9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  <p:sp>
        <p:nvSpPr>
          <p:cNvPr id="5" name="Text 11">
            <a:extLst>
              <a:ext uri="{FF2B5EF4-FFF2-40B4-BE49-F238E27FC236}">
                <a16:creationId xmlns:a16="http://schemas.microsoft.com/office/drawing/2014/main" id="{2148283B-6FF9-8FE6-B79F-13BF57068B95}"/>
              </a:ext>
            </a:extLst>
          </p:cNvPr>
          <p:cNvSpPr>
            <a:spLocks noGrp="1"/>
          </p:cNvSpPr>
          <p:nvPr/>
        </p:nvSpPr>
        <p:spPr>
          <a:xfrm>
            <a:off x="5457288" y="3736654"/>
            <a:ext cx="800566" cy="27146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consulta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84722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Shape 0">
            <a:extLst>
              <a:ext uri="{FF2B5EF4-FFF2-40B4-BE49-F238E27FC236}">
                <a16:creationId xmlns:a16="http://schemas.microsoft.com/office/drawing/2014/main" id="{74D908D3-C8D1-4000-BC1F-B8F0F86870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8" name="Text 1">
            <a:extLst>
              <a:ext uri="{FF2B5EF4-FFF2-40B4-BE49-F238E27FC236}">
                <a16:creationId xmlns:a16="http://schemas.microsoft.com/office/drawing/2014/main" id="{169A201C-7EE3-411D-8AF9-3DB0249F1459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COMPACTION CONTROLA BUDGET SIN CONVERTIR RESUMEN EN VERDAD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9" name="Text 2">
            <a:extLst>
              <a:ext uri="{FF2B5EF4-FFF2-40B4-BE49-F238E27FC236}">
                <a16:creationId xmlns:a16="http://schemas.microsoft.com/office/drawing/2014/main" id="{6F13477C-4E13-4D00-9218-DDC6F14AE0FC}"/>
              </a:ext>
            </a:extLst>
          </p:cNvPr>
          <p:cNvSpPr>
            <a:spLocks noGrp="1"/>
          </p:cNvSpPr>
          <p:nvPr/>
        </p:nvSpPr>
        <p:spPr>
          <a:xfrm>
            <a:off x="535101" y="942127"/>
            <a:ext cx="10426941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Microcompact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limpia</a:t>
            </a:r>
            <a:r>
              <a:rPr lang="es-MX"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resultados de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tool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viejos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; LLM compaction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sólo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entra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cerca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del threshold.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0" name="Text 3">
            <a:extLst>
              <a:ext uri="{FF2B5EF4-FFF2-40B4-BE49-F238E27FC236}">
                <a16:creationId xmlns:a16="http://schemas.microsoft.com/office/drawing/2014/main" id="{AD37A698-20FC-468E-93D2-F8B0A07EA4D9}"/>
              </a:ext>
            </a:extLst>
          </p:cNvPr>
          <p:cNvSpPr>
            <a:spLocks noGrp="1"/>
          </p:cNvSpPr>
          <p:nvPr/>
        </p:nvSpPr>
        <p:spPr>
          <a:xfrm>
            <a:off x="566999" y="1816086"/>
            <a:ext cx="10542961" cy="6391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La estrategia preserva continuidad y evita loops ante provider failure.</a:t>
            </a:r>
            <a:endParaRPr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2" name="Text 5">
            <a:extLst>
              <a:ext uri="{FF2B5EF4-FFF2-40B4-BE49-F238E27FC236}">
                <a16:creationId xmlns:a16="http://schemas.microsoft.com/office/drawing/2014/main" id="{B667CD0E-71FE-45D8-944D-6FB3B29AC9C7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3" name="Text 6">
            <a:extLst>
              <a:ext uri="{FF2B5EF4-FFF2-40B4-BE49-F238E27FC236}">
                <a16:creationId xmlns:a16="http://schemas.microsoft.com/office/drawing/2014/main" id="{F4EAA7B9-9505-4A39-8803-AFCA5A501AC4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4" name="Text 7">
            <a:extLst>
              <a:ext uri="{FF2B5EF4-FFF2-40B4-BE49-F238E27FC236}">
                <a16:creationId xmlns:a16="http://schemas.microsoft.com/office/drawing/2014/main" id="{1AECC926-D0AF-450B-92A9-9E85801E5815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6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5" name="Shape 8">
            <a:extLst>
              <a:ext uri="{FF2B5EF4-FFF2-40B4-BE49-F238E27FC236}">
                <a16:creationId xmlns:a16="http://schemas.microsoft.com/office/drawing/2014/main" id="{F1977737-EE53-4062-B8EA-13825F3C4220}"/>
              </a:ext>
            </a:extLst>
          </p:cNvPr>
          <p:cNvSpPr>
            <a:spLocks noGrp="1"/>
          </p:cNvSpPr>
          <p:nvPr/>
        </p:nvSpPr>
        <p:spPr>
          <a:xfrm>
            <a:off x="685800" y="2793020"/>
            <a:ext cx="5211720" cy="27885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6" name="Text 9">
            <a:extLst>
              <a:ext uri="{FF2B5EF4-FFF2-40B4-BE49-F238E27FC236}">
                <a16:creationId xmlns:a16="http://schemas.microsoft.com/office/drawing/2014/main" id="{384B7E18-6DA2-4E3A-8DF6-8677EE580D2B}"/>
              </a:ext>
            </a:extLst>
          </p:cNvPr>
          <p:cNvSpPr>
            <a:spLocks noGrp="1"/>
          </p:cNvSpPr>
          <p:nvPr/>
        </p:nvSpPr>
        <p:spPr>
          <a:xfrm>
            <a:off x="822960" y="293918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MICROCOMPACT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7" name="Text 10">
            <a:extLst>
              <a:ext uri="{FF2B5EF4-FFF2-40B4-BE49-F238E27FC236}">
                <a16:creationId xmlns:a16="http://schemas.microsoft.com/office/drawing/2014/main" id="{BF2F62C5-933B-4EE1-8894-11F1CB03CDAE}"/>
              </a:ext>
            </a:extLst>
          </p:cNvPr>
          <p:cNvSpPr>
            <a:spLocks noGrp="1"/>
          </p:cNvSpPr>
          <p:nvPr/>
        </p:nvSpPr>
        <p:spPr>
          <a:xfrm>
            <a:off x="867162" y="3288458"/>
            <a:ext cx="48092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Barato y determinista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8" name="Text 11">
            <a:extLst>
              <a:ext uri="{FF2B5EF4-FFF2-40B4-BE49-F238E27FC236}">
                <a16:creationId xmlns:a16="http://schemas.microsoft.com/office/drawing/2014/main" id="{BC46776A-8DA9-4233-AEF4-B7ACED3DA96A}"/>
              </a:ext>
            </a:extLst>
          </p:cNvPr>
          <p:cNvSpPr>
            <a:spLocks noGrp="1"/>
          </p:cNvSpPr>
          <p:nvPr/>
        </p:nvSpPr>
        <p:spPr>
          <a:xfrm>
            <a:off x="941760" y="3780500"/>
            <a:ext cx="4809240" cy="163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Siempre</a:t>
            </a:r>
            <a:r>
              <a:rPr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corre</a:t>
            </a:r>
            <a:endParaRPr sz="1400" b="0" u="none" dirty="0">
              <a:solidFill>
                <a:srgbClr val="6F6888"/>
              </a:solidFill>
              <a:latin typeface="Aptos"/>
              <a:ea typeface="Aptos"/>
              <a:cs typeface="Aptos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Conserva</a:t>
            </a:r>
            <a:r>
              <a:rPr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5 </a:t>
            </a:r>
            <a:r>
              <a:rPr sz="14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ToolMessages</a:t>
            </a:r>
            <a:r>
              <a:rPr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recientes</a:t>
            </a:r>
            <a:endParaRPr sz="1400" b="0" u="none" dirty="0">
              <a:solidFill>
                <a:srgbClr val="6F6888"/>
              </a:solidFill>
              <a:latin typeface="Aptos"/>
              <a:ea typeface="Aptos"/>
              <a:cs typeface="Aptos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Limpia</a:t>
            </a:r>
            <a:r>
              <a:rPr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outputs </a:t>
            </a:r>
            <a:r>
              <a:rPr sz="14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antiguos</a:t>
            </a:r>
            <a:endParaRPr sz="1400" b="0" u="none" dirty="0">
              <a:solidFill>
                <a:srgbClr val="6F6888"/>
              </a:solidFill>
              <a:latin typeface="Aptos"/>
              <a:ea typeface="Aptos"/>
              <a:cs typeface="Aptos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No llama un model</a:t>
            </a:r>
            <a:r>
              <a:rPr lang="es-MX"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o</a:t>
            </a:r>
            <a:endParaRPr sz="1400" b="0" u="none" dirty="0">
              <a:solidFill>
                <a:srgbClr val="6F68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79" name="Shape 12">
            <a:extLst>
              <a:ext uri="{FF2B5EF4-FFF2-40B4-BE49-F238E27FC236}">
                <a16:creationId xmlns:a16="http://schemas.microsoft.com/office/drawing/2014/main" id="{91372C0F-C107-4E97-B053-A424B2AB88C1}"/>
              </a:ext>
            </a:extLst>
          </p:cNvPr>
          <p:cNvSpPr>
            <a:spLocks noGrp="1"/>
          </p:cNvSpPr>
          <p:nvPr/>
        </p:nvSpPr>
        <p:spPr>
          <a:xfrm>
            <a:off x="6153480" y="2793020"/>
            <a:ext cx="5367600" cy="27885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0" name="Text 13">
            <a:extLst>
              <a:ext uri="{FF2B5EF4-FFF2-40B4-BE49-F238E27FC236}">
                <a16:creationId xmlns:a16="http://schemas.microsoft.com/office/drawing/2014/main" id="{10DFEA9B-76B4-44A6-87F2-2AC93E0A56B5}"/>
              </a:ext>
            </a:extLst>
          </p:cNvPr>
          <p:cNvSpPr>
            <a:spLocks noGrp="1"/>
          </p:cNvSpPr>
          <p:nvPr/>
        </p:nvSpPr>
        <p:spPr>
          <a:xfrm>
            <a:off x="6446520" y="293918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LLM COMPACTION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1" name="Text 14">
            <a:extLst>
              <a:ext uri="{FF2B5EF4-FFF2-40B4-BE49-F238E27FC236}">
                <a16:creationId xmlns:a16="http://schemas.microsoft.com/office/drawing/2014/main" id="{277CAD91-0E67-4B85-97C6-CB9CC9C55260}"/>
              </a:ext>
            </a:extLst>
          </p:cNvPr>
          <p:cNvSpPr>
            <a:spLocks noGrp="1"/>
          </p:cNvSpPr>
          <p:nvPr/>
        </p:nvSpPr>
        <p:spPr>
          <a:xfrm>
            <a:off x="6441027" y="3268580"/>
            <a:ext cx="49374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buNone/>
              <a:tabLst>
                <a:tab pos="0" algn="l"/>
              </a:tabLst>
            </a:pPr>
            <a:r>
              <a:rPr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Resume con </a:t>
            </a:r>
            <a:r>
              <a:rPr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estructura</a:t>
            </a:r>
            <a:endParaRPr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2" name="Text 15">
            <a:extLst>
              <a:ext uri="{FF2B5EF4-FFF2-40B4-BE49-F238E27FC236}">
                <a16:creationId xmlns:a16="http://schemas.microsoft.com/office/drawing/2014/main" id="{857D2E0E-0096-40E0-94D1-4B45E711CF10}"/>
              </a:ext>
            </a:extLst>
          </p:cNvPr>
          <p:cNvSpPr>
            <a:spLocks noGrp="1"/>
          </p:cNvSpPr>
          <p:nvPr/>
        </p:nvSpPr>
        <p:spPr>
          <a:xfrm>
            <a:off x="6565320" y="3780500"/>
            <a:ext cx="4261565" cy="163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Window 120k estimado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Trigger 80%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Conserva 5 ops recientes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9 secciones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Breaker tras 3 fallos</a:t>
            </a:r>
          </a:p>
        </p:txBody>
      </p:sp>
      <p:pic>
        <p:nvPicPr>
          <p:cNvPr id="49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530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0">
            <a:extLst>
              <a:ext uri="{FF2B5EF4-FFF2-40B4-BE49-F238E27FC236}">
                <a16:creationId xmlns:a16="http://schemas.microsoft.com/office/drawing/2014/main" id="{4BBAACC3-A791-45E5-90BD-10F6EBE250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9" name="Text 1">
            <a:extLst>
              <a:ext uri="{FF2B5EF4-FFF2-40B4-BE49-F238E27FC236}">
                <a16:creationId xmlns:a16="http://schemas.microsoft.com/office/drawing/2014/main" id="{F1D40F3B-2F08-4C83-9264-68BFDA97A0B2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1200" b="1" dirty="0">
                <a:solidFill>
                  <a:srgbClr val="5F2CCB"/>
                </a:solidFill>
                <a:latin typeface="Aptos"/>
                <a:ea typeface="Aptos"/>
                <a:cs typeface="Aptos"/>
              </a:rPr>
              <a:t>LA MEMORIA PERSONAL </a:t>
            </a:r>
            <a:r>
              <a:rPr sz="1200" b="1" u="none" dirty="0">
                <a:solidFill>
                  <a:srgbClr val="5F2CCB"/>
                </a:solidFill>
                <a:latin typeface="Aptos"/>
                <a:ea typeface="Aptos"/>
                <a:cs typeface="Aptos"/>
              </a:rPr>
              <a:t>TIENE TRES TIPOS Y UN </a:t>
            </a:r>
            <a:r>
              <a:rPr lang="es-MX" sz="1200" b="1" u="none" dirty="0">
                <a:solidFill>
                  <a:srgbClr val="5F2CCB"/>
                </a:solidFill>
                <a:latin typeface="Aptos"/>
                <a:ea typeface="Aptos"/>
                <a:cs typeface="Aptos"/>
              </a:rPr>
              <a:t>DUEÑO</a:t>
            </a:r>
            <a:endParaRPr sz="12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0" name="Text 2">
            <a:extLst>
              <a:ext uri="{FF2B5EF4-FFF2-40B4-BE49-F238E27FC236}">
                <a16:creationId xmlns:a16="http://schemas.microsoft.com/office/drawing/2014/main" id="{9F9F0B0F-11C7-4191-AD06-C27263CE56EF}"/>
              </a:ext>
            </a:extLst>
          </p:cNvPr>
          <p:cNvSpPr>
            <a:spLocks noGrp="1"/>
          </p:cNvSpPr>
          <p:nvPr/>
        </p:nvSpPr>
        <p:spPr>
          <a:xfrm>
            <a:off x="567000" y="831234"/>
            <a:ext cx="101952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Gu OS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recuerda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señales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sobre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el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usuario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útiles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a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futuro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; </a:t>
            </a:r>
            <a:r>
              <a:rPr lang="es-MX"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las transacciones de negocio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pertenecen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a Cases/SOR.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1" name="Text 3">
            <a:extLst>
              <a:ext uri="{FF2B5EF4-FFF2-40B4-BE49-F238E27FC236}">
                <a16:creationId xmlns:a16="http://schemas.microsoft.com/office/drawing/2014/main" id="{7C9920B2-0B9C-405A-8FC2-3066958F1F12}"/>
              </a:ext>
            </a:extLst>
          </p:cNvPr>
          <p:cNvSpPr>
            <a:spLocks noGrp="1"/>
          </p:cNvSpPr>
          <p:nvPr/>
        </p:nvSpPr>
        <p:spPr>
          <a:xfrm>
            <a:off x="567000" y="1722964"/>
            <a:ext cx="106981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La extracción conservadora evita congelar leads, propiedades o drafts en memoria personal.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3" name="Text 5">
            <a:extLst>
              <a:ext uri="{FF2B5EF4-FFF2-40B4-BE49-F238E27FC236}">
                <a16:creationId xmlns:a16="http://schemas.microsoft.com/office/drawing/2014/main" id="{45E5FF60-280C-4427-B9EE-702C6AC4B0BA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4" name="Text 6">
            <a:extLst>
              <a:ext uri="{FF2B5EF4-FFF2-40B4-BE49-F238E27FC236}">
                <a16:creationId xmlns:a16="http://schemas.microsoft.com/office/drawing/2014/main" id="{2C7BE918-435D-46D0-A72D-6BFEFE98180D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5" name="Text 7">
            <a:extLst>
              <a:ext uri="{FF2B5EF4-FFF2-40B4-BE49-F238E27FC236}">
                <a16:creationId xmlns:a16="http://schemas.microsoft.com/office/drawing/2014/main" id="{2B7BB1E1-E16A-4C69-80F5-FD1C55C36297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7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6" name="Shape 8">
            <a:extLst>
              <a:ext uri="{FF2B5EF4-FFF2-40B4-BE49-F238E27FC236}">
                <a16:creationId xmlns:a16="http://schemas.microsoft.com/office/drawing/2014/main" id="{9CCD3A35-0D41-4B31-AFFE-F330AE1968C2}"/>
              </a:ext>
            </a:extLst>
          </p:cNvPr>
          <p:cNvSpPr>
            <a:spLocks noGrp="1"/>
          </p:cNvSpPr>
          <p:nvPr/>
        </p:nvSpPr>
        <p:spPr>
          <a:xfrm>
            <a:off x="82296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078C53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7" name="Text 9">
            <a:extLst>
              <a:ext uri="{FF2B5EF4-FFF2-40B4-BE49-F238E27FC236}">
                <a16:creationId xmlns:a16="http://schemas.microsoft.com/office/drawing/2014/main" id="{2B4765C8-6BF1-46F9-A8A3-80AAFFECDE1A}"/>
              </a:ext>
            </a:extLst>
          </p:cNvPr>
          <p:cNvSpPr>
            <a:spLocks noGrp="1"/>
          </p:cNvSpPr>
          <p:nvPr/>
        </p:nvSpPr>
        <p:spPr>
          <a:xfrm>
            <a:off x="96012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EPISODIC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8" name="Text 10">
            <a:extLst>
              <a:ext uri="{FF2B5EF4-FFF2-40B4-BE49-F238E27FC236}">
                <a16:creationId xmlns:a16="http://schemas.microsoft.com/office/drawing/2014/main" id="{7F134683-F6F3-4A27-96B2-A8C1CE8A07F5}"/>
              </a:ext>
            </a:extLst>
          </p:cNvPr>
          <p:cNvSpPr>
            <a:spLocks noGrp="1"/>
          </p:cNvSpPr>
          <p:nvPr/>
        </p:nvSpPr>
        <p:spPr>
          <a:xfrm>
            <a:off x="102420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Qué le ocurrió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9" name="Text 11">
            <a:extLst>
              <a:ext uri="{FF2B5EF4-FFF2-40B4-BE49-F238E27FC236}">
                <a16:creationId xmlns:a16="http://schemas.microsoft.com/office/drawing/2014/main" id="{9D304FCD-FA8D-4F73-ABAC-B561272A6512}"/>
              </a:ext>
            </a:extLst>
          </p:cNvPr>
          <p:cNvSpPr>
            <a:spLocks noGrp="1"/>
          </p:cNvSpPr>
          <p:nvPr/>
        </p:nvSpPr>
        <p:spPr>
          <a:xfrm>
            <a:off x="107892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Eventos personales concretos y relevantes a futuro; con tiempo y provenance.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0" name="Shape 12">
            <a:extLst>
              <a:ext uri="{FF2B5EF4-FFF2-40B4-BE49-F238E27FC236}">
                <a16:creationId xmlns:a16="http://schemas.microsoft.com/office/drawing/2014/main" id="{EF787178-85ED-45E2-B753-CA0056CFE17A}"/>
              </a:ext>
            </a:extLst>
          </p:cNvPr>
          <p:cNvSpPr>
            <a:spLocks noGrp="1"/>
          </p:cNvSpPr>
          <p:nvPr/>
        </p:nvSpPr>
        <p:spPr>
          <a:xfrm>
            <a:off x="452628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F39A2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1" name="Text 13">
            <a:extLst>
              <a:ext uri="{FF2B5EF4-FFF2-40B4-BE49-F238E27FC236}">
                <a16:creationId xmlns:a16="http://schemas.microsoft.com/office/drawing/2014/main" id="{255F5FB9-074F-4C28-876F-51D8F78DF680}"/>
              </a:ext>
            </a:extLst>
          </p:cNvPr>
          <p:cNvSpPr>
            <a:spLocks noGrp="1"/>
          </p:cNvSpPr>
          <p:nvPr/>
        </p:nvSpPr>
        <p:spPr>
          <a:xfrm>
            <a:off x="466344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39A2B"/>
                </a:solidFill>
                <a:latin typeface="Aptos"/>
                <a:ea typeface="Aptos"/>
                <a:cs typeface="Aptos"/>
              </a:rPr>
              <a:t>SEMANTIC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2" name="Text 14">
            <a:extLst>
              <a:ext uri="{FF2B5EF4-FFF2-40B4-BE49-F238E27FC236}">
                <a16:creationId xmlns:a16="http://schemas.microsoft.com/office/drawing/2014/main" id="{861EC238-409B-4970-A121-1C58F1D0D043}"/>
              </a:ext>
            </a:extLst>
          </p:cNvPr>
          <p:cNvSpPr>
            <a:spLocks noGrp="1"/>
          </p:cNvSpPr>
          <p:nvPr/>
        </p:nvSpPr>
        <p:spPr>
          <a:xfrm>
            <a:off x="472752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Qué sabe/prefiere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3" name="Text 15">
            <a:extLst>
              <a:ext uri="{FF2B5EF4-FFF2-40B4-BE49-F238E27FC236}">
                <a16:creationId xmlns:a16="http://schemas.microsoft.com/office/drawing/2014/main" id="{02F20FE0-34C2-48B1-BC9A-D3E177900EEF}"/>
              </a:ext>
            </a:extLst>
          </p:cNvPr>
          <p:cNvSpPr>
            <a:spLocks noGrp="1"/>
          </p:cNvSpPr>
          <p:nvPr/>
        </p:nvSpPr>
        <p:spPr>
          <a:xfrm>
            <a:off x="478224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Preferencias, relaciones y contexto durable; no live business state.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4" name="Shape 16">
            <a:extLst>
              <a:ext uri="{FF2B5EF4-FFF2-40B4-BE49-F238E27FC236}">
                <a16:creationId xmlns:a16="http://schemas.microsoft.com/office/drawing/2014/main" id="{CA0E0125-49B3-48E2-A0AD-93A7A8B1A518}"/>
              </a:ext>
            </a:extLst>
          </p:cNvPr>
          <p:cNvSpPr>
            <a:spLocks noGrp="1"/>
          </p:cNvSpPr>
          <p:nvPr/>
        </p:nvSpPr>
        <p:spPr>
          <a:xfrm>
            <a:off x="822960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A84A7A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5" name="Text 17">
            <a:extLst>
              <a:ext uri="{FF2B5EF4-FFF2-40B4-BE49-F238E27FC236}">
                <a16:creationId xmlns:a16="http://schemas.microsoft.com/office/drawing/2014/main" id="{DC8AAC41-512E-4C1D-B2D3-D6B006038F75}"/>
              </a:ext>
            </a:extLst>
          </p:cNvPr>
          <p:cNvSpPr>
            <a:spLocks noGrp="1"/>
          </p:cNvSpPr>
          <p:nvPr/>
        </p:nvSpPr>
        <p:spPr>
          <a:xfrm>
            <a:off x="836676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A84A7A"/>
                </a:solidFill>
                <a:latin typeface="Aptos"/>
                <a:ea typeface="Aptos"/>
                <a:cs typeface="Aptos"/>
              </a:rPr>
              <a:t>PROCEDURAL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6" name="Text 18">
            <a:extLst>
              <a:ext uri="{FF2B5EF4-FFF2-40B4-BE49-F238E27FC236}">
                <a16:creationId xmlns:a16="http://schemas.microsoft.com/office/drawing/2014/main" id="{B0807840-7344-4FCC-92B2-FAF7C3C584F6}"/>
              </a:ext>
            </a:extLst>
          </p:cNvPr>
          <p:cNvSpPr>
            <a:spLocks noGrp="1"/>
          </p:cNvSpPr>
          <p:nvPr/>
        </p:nvSpPr>
        <p:spPr>
          <a:xfrm>
            <a:off x="843084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Cómo quiere colaborar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7" name="Text 19">
            <a:extLst>
              <a:ext uri="{FF2B5EF4-FFF2-40B4-BE49-F238E27FC236}">
                <a16:creationId xmlns:a16="http://schemas.microsoft.com/office/drawing/2014/main" id="{B127B4FC-74A3-4F76-8BAF-C6AE0C023639}"/>
              </a:ext>
            </a:extLst>
          </p:cNvPr>
          <p:cNvSpPr>
            <a:spLocks noGrp="1"/>
          </p:cNvSpPr>
          <p:nvPr/>
        </p:nvSpPr>
        <p:spPr>
          <a:xfrm>
            <a:off x="848556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Preferencias de interacción; no confundir con una Skill.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8" name="Shape 20">
            <a:extLst>
              <a:ext uri="{FF2B5EF4-FFF2-40B4-BE49-F238E27FC236}">
                <a16:creationId xmlns:a16="http://schemas.microsoft.com/office/drawing/2014/main" id="{F50A24BA-26B8-41DD-8033-EE393E903416}"/>
              </a:ext>
            </a:extLst>
          </p:cNvPr>
          <p:cNvSpPr>
            <a:spLocks noGrp="1"/>
          </p:cNvSpPr>
          <p:nvPr/>
        </p:nvSpPr>
        <p:spPr>
          <a:xfrm>
            <a:off x="2240280" y="5730953"/>
            <a:ext cx="7726320" cy="640345"/>
          </a:xfrm>
          <a:prstGeom prst="roundRect">
            <a:avLst>
              <a:gd name="adj" fmla="val 16000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9" name="Text 21">
            <a:extLst>
              <a:ext uri="{FF2B5EF4-FFF2-40B4-BE49-F238E27FC236}">
                <a16:creationId xmlns:a16="http://schemas.microsoft.com/office/drawing/2014/main" id="{8BF542F8-67AE-4291-AE4A-D1D2D0297474}"/>
              </a:ext>
            </a:extLst>
          </p:cNvPr>
          <p:cNvSpPr>
            <a:spLocks noGrp="1"/>
          </p:cNvSpPr>
          <p:nvPr/>
        </p:nvSpPr>
        <p:spPr>
          <a:xfrm>
            <a:off x="2516826" y="5868472"/>
            <a:ext cx="7218948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Personal memory ayuda a colaborar; no concede autoridad.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6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834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Shape 0">
            <a:extLst>
              <a:ext uri="{FF2B5EF4-FFF2-40B4-BE49-F238E27FC236}">
                <a16:creationId xmlns:a16="http://schemas.microsoft.com/office/drawing/2014/main" id="{4B4172A0-99B8-4508-9E7D-AFCBD1AC09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6" name="Text 1">
            <a:extLst>
              <a:ext uri="{FF2B5EF4-FFF2-40B4-BE49-F238E27FC236}">
                <a16:creationId xmlns:a16="http://schemas.microsoft.com/office/drawing/2014/main" id="{4B280F5E-4D21-42CD-8612-7B82CCB3F3DF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EL FLUSH OCURRE DESPUÉS DEL TURNO Y FUERA DEL GRAPH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7" name="Text 2">
            <a:extLst>
              <a:ext uri="{FF2B5EF4-FFF2-40B4-BE49-F238E27FC236}">
                <a16:creationId xmlns:a16="http://schemas.microsoft.com/office/drawing/2014/main" id="{A317ACC4-F6DE-40CA-B510-C02C45113F27}"/>
              </a:ext>
            </a:extLst>
          </p:cNvPr>
          <p:cNvSpPr>
            <a:spLocks noGrp="1"/>
          </p:cNvSpPr>
          <p:nvPr/>
        </p:nvSpPr>
        <p:spPr>
          <a:xfrm>
            <a:off x="566999" y="804600"/>
            <a:ext cx="10375983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Separar extracción trans-turn reduce latency y permite un pipeline idempotente.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8" name="Text 3">
            <a:extLst>
              <a:ext uri="{FF2B5EF4-FFF2-40B4-BE49-F238E27FC236}">
                <a16:creationId xmlns:a16="http://schemas.microsoft.com/office/drawing/2014/main" id="{4042EA47-16DE-4A48-954E-C520CD2F38A3}"/>
              </a:ext>
            </a:extLst>
          </p:cNvPr>
          <p:cNvSpPr>
            <a:spLocks noGrp="1"/>
          </p:cNvSpPr>
          <p:nvPr/>
        </p:nvSpPr>
        <p:spPr>
          <a:xfrm>
            <a:off x="567000" y="1591200"/>
            <a:ext cx="10698120" cy="5645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Modelo/parse o fallo total no avanzan watermark; fallos parciales sí pueden avanzarlo.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0" name="Text 5">
            <a:extLst>
              <a:ext uri="{FF2B5EF4-FFF2-40B4-BE49-F238E27FC236}">
                <a16:creationId xmlns:a16="http://schemas.microsoft.com/office/drawing/2014/main" id="{71EEBA0C-6625-4B78-9AA1-1C627BEE1115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1" name="Text 6">
            <a:extLst>
              <a:ext uri="{FF2B5EF4-FFF2-40B4-BE49-F238E27FC236}">
                <a16:creationId xmlns:a16="http://schemas.microsoft.com/office/drawing/2014/main" id="{CE3EE3EE-0098-404D-8978-5893FCC08782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2" name="Text 7">
            <a:extLst>
              <a:ext uri="{FF2B5EF4-FFF2-40B4-BE49-F238E27FC236}">
                <a16:creationId xmlns:a16="http://schemas.microsoft.com/office/drawing/2014/main" id="{ADA63A47-13B1-42C4-8EE0-76B5F1619E3E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8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3" name="Shape 8">
            <a:extLst>
              <a:ext uri="{FF2B5EF4-FFF2-40B4-BE49-F238E27FC236}">
                <a16:creationId xmlns:a16="http://schemas.microsoft.com/office/drawing/2014/main" id="{12D6034E-F669-430F-B740-CE69B0B5AF8F}"/>
              </a:ext>
            </a:extLst>
          </p:cNvPr>
          <p:cNvSpPr>
            <a:spLocks noGrp="1"/>
          </p:cNvSpPr>
          <p:nvPr/>
        </p:nvSpPr>
        <p:spPr>
          <a:xfrm>
            <a:off x="868680" y="2483481"/>
            <a:ext cx="502560" cy="502560"/>
          </a:xfrm>
          <a:prstGeom prst="ellipse">
            <a:avLst/>
          </a:prstGeom>
          <a:solidFill>
            <a:srgbClr val="5F2CCB"/>
          </a:solidFill>
          <a:ln w="12700">
            <a:solidFill>
              <a:srgbClr val="5F2CC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4" name="Text 9">
            <a:extLst>
              <a:ext uri="{FF2B5EF4-FFF2-40B4-BE49-F238E27FC236}">
                <a16:creationId xmlns:a16="http://schemas.microsoft.com/office/drawing/2014/main" id="{23DE94D4-7EF1-47E1-BD23-51001D3CB0D1}"/>
              </a:ext>
            </a:extLst>
          </p:cNvPr>
          <p:cNvSpPr>
            <a:spLocks noGrp="1"/>
          </p:cNvSpPr>
          <p:nvPr/>
        </p:nvSpPr>
        <p:spPr>
          <a:xfrm>
            <a:off x="868680" y="2602281"/>
            <a:ext cx="502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5" name="Shape 10">
            <a:extLst>
              <a:ext uri="{FF2B5EF4-FFF2-40B4-BE49-F238E27FC236}">
                <a16:creationId xmlns:a16="http://schemas.microsoft.com/office/drawing/2014/main" id="{B6E1A1F0-643D-4CB3-91D2-55BCB19BAE3A}"/>
              </a:ext>
            </a:extLst>
          </p:cNvPr>
          <p:cNvSpPr>
            <a:spLocks noGrp="1"/>
          </p:cNvSpPr>
          <p:nvPr/>
        </p:nvSpPr>
        <p:spPr>
          <a:xfrm>
            <a:off x="1600200" y="2392041"/>
            <a:ext cx="9738000" cy="874068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6" name="Text 11">
            <a:extLst>
              <a:ext uri="{FF2B5EF4-FFF2-40B4-BE49-F238E27FC236}">
                <a16:creationId xmlns:a16="http://schemas.microsoft.com/office/drawing/2014/main" id="{FB714849-831E-4414-A7C0-FA5B33752BAB}"/>
              </a:ext>
            </a:extLst>
          </p:cNvPr>
          <p:cNvSpPr>
            <a:spLocks noGrp="1"/>
          </p:cNvSpPr>
          <p:nvPr/>
        </p:nvSpPr>
        <p:spPr>
          <a:xfrm>
            <a:off x="1801440" y="2529201"/>
            <a:ext cx="9335520" cy="2194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1 · Seleccionar rango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7" name="Text 12">
            <a:extLst>
              <a:ext uri="{FF2B5EF4-FFF2-40B4-BE49-F238E27FC236}">
                <a16:creationId xmlns:a16="http://schemas.microsoft.com/office/drawing/2014/main" id="{BAC24C04-E92C-4CF9-9793-4F4548B9E311}"/>
              </a:ext>
            </a:extLst>
          </p:cNvPr>
          <p:cNvSpPr>
            <a:spLocks noGrp="1"/>
          </p:cNvSpPr>
          <p:nvPr/>
        </p:nvSpPr>
        <p:spPr>
          <a:xfrm>
            <a:off x="1856160" y="2812665"/>
            <a:ext cx="9226080" cy="3277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Watermark +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mínimo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3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mensajes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; cold cap 50, catch-up cap 200.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8" name="Shape 13">
            <a:extLst>
              <a:ext uri="{FF2B5EF4-FFF2-40B4-BE49-F238E27FC236}">
                <a16:creationId xmlns:a16="http://schemas.microsoft.com/office/drawing/2014/main" id="{8A45D319-DDF4-4CA6-B83C-A8E760C13EF3}"/>
              </a:ext>
            </a:extLst>
          </p:cNvPr>
          <p:cNvSpPr>
            <a:spLocks noGrp="1"/>
          </p:cNvSpPr>
          <p:nvPr/>
        </p:nvSpPr>
        <p:spPr>
          <a:xfrm>
            <a:off x="868680" y="3554451"/>
            <a:ext cx="502560" cy="50256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9" name="Text 14">
            <a:extLst>
              <a:ext uri="{FF2B5EF4-FFF2-40B4-BE49-F238E27FC236}">
                <a16:creationId xmlns:a16="http://schemas.microsoft.com/office/drawing/2014/main" id="{D7576710-1C3E-4618-B46A-CF4EB01DA9BC}"/>
              </a:ext>
            </a:extLst>
          </p:cNvPr>
          <p:cNvSpPr>
            <a:spLocks noGrp="1"/>
          </p:cNvSpPr>
          <p:nvPr/>
        </p:nvSpPr>
        <p:spPr>
          <a:xfrm>
            <a:off x="868680" y="3673611"/>
            <a:ext cx="502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0" name="Shape 15">
            <a:extLst>
              <a:ext uri="{FF2B5EF4-FFF2-40B4-BE49-F238E27FC236}">
                <a16:creationId xmlns:a16="http://schemas.microsoft.com/office/drawing/2014/main" id="{3316F20E-57CA-453A-AA64-97C6A8DBA74C}"/>
              </a:ext>
            </a:extLst>
          </p:cNvPr>
          <p:cNvSpPr>
            <a:spLocks noGrp="1"/>
          </p:cNvSpPr>
          <p:nvPr/>
        </p:nvSpPr>
        <p:spPr>
          <a:xfrm>
            <a:off x="1600200" y="3463011"/>
            <a:ext cx="9738000" cy="983868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1" name="Text 16">
            <a:extLst>
              <a:ext uri="{FF2B5EF4-FFF2-40B4-BE49-F238E27FC236}">
                <a16:creationId xmlns:a16="http://schemas.microsoft.com/office/drawing/2014/main" id="{B5CEC699-69E3-4A7B-806A-89B814E56356}"/>
              </a:ext>
            </a:extLst>
          </p:cNvPr>
          <p:cNvSpPr>
            <a:spLocks noGrp="1"/>
          </p:cNvSpPr>
          <p:nvPr/>
        </p:nvSpPr>
        <p:spPr>
          <a:xfrm>
            <a:off x="1801440" y="3600171"/>
            <a:ext cx="9335520" cy="2194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2 · Extraer conservador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2" name="Text 17">
            <a:extLst>
              <a:ext uri="{FF2B5EF4-FFF2-40B4-BE49-F238E27FC236}">
                <a16:creationId xmlns:a16="http://schemas.microsoft.com/office/drawing/2014/main" id="{13196C10-1A9F-4692-B12C-4D0017F73B7F}"/>
              </a:ext>
            </a:extLst>
          </p:cNvPr>
          <p:cNvSpPr>
            <a:spLocks noGrp="1"/>
          </p:cNvSpPr>
          <p:nvPr/>
        </p:nvSpPr>
        <p:spPr>
          <a:xfrm>
            <a:off x="1856160" y="3903513"/>
            <a:ext cx="9226080" cy="4119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Haiku produce JSON episodic/semantic/procedural; [] es válido.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3" name="Shape 18">
            <a:extLst>
              <a:ext uri="{FF2B5EF4-FFF2-40B4-BE49-F238E27FC236}">
                <a16:creationId xmlns:a16="http://schemas.microsoft.com/office/drawing/2014/main" id="{0FC8D6BA-D3ED-47B8-A7D2-5146AB2D23EE}"/>
              </a:ext>
            </a:extLst>
          </p:cNvPr>
          <p:cNvSpPr>
            <a:spLocks noGrp="1"/>
          </p:cNvSpPr>
          <p:nvPr/>
        </p:nvSpPr>
        <p:spPr>
          <a:xfrm>
            <a:off x="868680" y="4725171"/>
            <a:ext cx="502560" cy="502560"/>
          </a:xfrm>
          <a:prstGeom prst="ellipse">
            <a:avLst/>
          </a:prstGeom>
          <a:solidFill>
            <a:srgbClr val="F39A2B"/>
          </a:solidFill>
          <a:ln w="12700">
            <a:solidFill>
              <a:srgbClr val="F39A2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4" name="Text 19">
            <a:extLst>
              <a:ext uri="{FF2B5EF4-FFF2-40B4-BE49-F238E27FC236}">
                <a16:creationId xmlns:a16="http://schemas.microsoft.com/office/drawing/2014/main" id="{4F61BFFD-984D-4A21-BD93-BD34B8ED8096}"/>
              </a:ext>
            </a:extLst>
          </p:cNvPr>
          <p:cNvSpPr>
            <a:spLocks noGrp="1"/>
          </p:cNvSpPr>
          <p:nvPr/>
        </p:nvSpPr>
        <p:spPr>
          <a:xfrm>
            <a:off x="868680" y="4843971"/>
            <a:ext cx="502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5" name="Shape 20">
            <a:extLst>
              <a:ext uri="{FF2B5EF4-FFF2-40B4-BE49-F238E27FC236}">
                <a16:creationId xmlns:a16="http://schemas.microsoft.com/office/drawing/2014/main" id="{D654FDA2-D2EC-4A10-AF26-C70C8AFC9042}"/>
              </a:ext>
            </a:extLst>
          </p:cNvPr>
          <p:cNvSpPr>
            <a:spLocks noGrp="1"/>
          </p:cNvSpPr>
          <p:nvPr/>
        </p:nvSpPr>
        <p:spPr>
          <a:xfrm>
            <a:off x="1600200" y="4633730"/>
            <a:ext cx="9738000" cy="983867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6" name="Text 21">
            <a:extLst>
              <a:ext uri="{FF2B5EF4-FFF2-40B4-BE49-F238E27FC236}">
                <a16:creationId xmlns:a16="http://schemas.microsoft.com/office/drawing/2014/main" id="{ED1153E9-3E03-42F4-8EB2-CCB63C127452}"/>
              </a:ext>
            </a:extLst>
          </p:cNvPr>
          <p:cNvSpPr>
            <a:spLocks noGrp="1"/>
          </p:cNvSpPr>
          <p:nvPr/>
        </p:nvSpPr>
        <p:spPr>
          <a:xfrm>
            <a:off x="1801440" y="4770891"/>
            <a:ext cx="9335520" cy="2194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3 · Deduplicar y persistir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7" name="Text 22">
            <a:extLst>
              <a:ext uri="{FF2B5EF4-FFF2-40B4-BE49-F238E27FC236}">
                <a16:creationId xmlns:a16="http://schemas.microsoft.com/office/drawing/2014/main" id="{3E5A96B2-07AB-46B3-9B63-F790773C9791}"/>
              </a:ext>
            </a:extLst>
          </p:cNvPr>
          <p:cNvSpPr>
            <a:spLocks noGrp="1"/>
          </p:cNvSpPr>
          <p:nvPr/>
        </p:nvSpPr>
        <p:spPr>
          <a:xfrm>
            <a:off x="1856160" y="5064293"/>
            <a:ext cx="9226080" cy="458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content_hash deduplica; embeddings permiten retrieval; éxito parcial puede avanzar watermark.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8" name="Shape 23">
            <a:extLst>
              <a:ext uri="{FF2B5EF4-FFF2-40B4-BE49-F238E27FC236}">
                <a16:creationId xmlns:a16="http://schemas.microsoft.com/office/drawing/2014/main" id="{F6668194-9FAE-481C-A98E-28238609DE8E}"/>
              </a:ext>
            </a:extLst>
          </p:cNvPr>
          <p:cNvSpPr>
            <a:spLocks noGrp="1"/>
          </p:cNvSpPr>
          <p:nvPr/>
        </p:nvSpPr>
        <p:spPr>
          <a:xfrm>
            <a:off x="868680" y="5803512"/>
            <a:ext cx="10725480" cy="616121"/>
          </a:xfrm>
          <a:prstGeom prst="roundRect">
            <a:avLst>
              <a:gd name="adj" fmla="val 15385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9" name="Text 24">
            <a:extLst>
              <a:ext uri="{FF2B5EF4-FFF2-40B4-BE49-F238E27FC236}">
                <a16:creationId xmlns:a16="http://schemas.microsoft.com/office/drawing/2014/main" id="{5F78741C-658D-4901-9569-67A1323FFA9D}"/>
              </a:ext>
            </a:extLst>
          </p:cNvPr>
          <p:cNvSpPr>
            <a:spLocks noGrp="1"/>
          </p:cNvSpPr>
          <p:nvPr/>
        </p:nvSpPr>
        <p:spPr>
          <a:xfrm>
            <a:off x="1007918" y="5914090"/>
            <a:ext cx="10440082" cy="44293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20000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Best-effort: un fallo parcial puede perder señales; no hay replay garantizado por candidato.</a:t>
            </a:r>
          </a:p>
        </p:txBody>
      </p:sp>
      <p:pic>
        <p:nvPicPr>
          <p:cNvPr id="68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071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Shape 0">
            <a:extLst>
              <a:ext uri="{FF2B5EF4-FFF2-40B4-BE49-F238E27FC236}">
                <a16:creationId xmlns:a16="http://schemas.microsoft.com/office/drawing/2014/main" id="{74D908D3-C8D1-4000-BC1F-B8F0F86870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8" name="Text 1">
            <a:extLst>
              <a:ext uri="{FF2B5EF4-FFF2-40B4-BE49-F238E27FC236}">
                <a16:creationId xmlns:a16="http://schemas.microsoft.com/office/drawing/2014/main" id="{169A201C-7EE3-411D-8AF9-3DB0249F1459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EMBEDDINGS LOCALIZAN CANDIDATOS; POLICY DECIDE SU USO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9" name="Text 2">
            <a:extLst>
              <a:ext uri="{FF2B5EF4-FFF2-40B4-BE49-F238E27FC236}">
                <a16:creationId xmlns:a16="http://schemas.microsoft.com/office/drawing/2014/main" id="{6F13477C-4E13-4D00-9218-DDC6F14AE0FC}"/>
              </a:ext>
            </a:extLst>
          </p:cNvPr>
          <p:cNvSpPr>
            <a:spLocks noGrp="1"/>
          </p:cNvSpPr>
          <p:nvPr/>
        </p:nvSpPr>
        <p:spPr>
          <a:xfrm>
            <a:off x="535101" y="942127"/>
            <a:ext cx="10426941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El input del usuario guía retrieval y detección de cambio de tema.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0" name="Text 3">
            <a:extLst>
              <a:ext uri="{FF2B5EF4-FFF2-40B4-BE49-F238E27FC236}">
                <a16:creationId xmlns:a16="http://schemas.microsoft.com/office/drawing/2014/main" id="{AD37A698-20FC-468E-93D2-F8B0A07EA4D9}"/>
              </a:ext>
            </a:extLst>
          </p:cNvPr>
          <p:cNvSpPr>
            <a:spLocks noGrp="1"/>
          </p:cNvSpPr>
          <p:nvPr/>
        </p:nvSpPr>
        <p:spPr>
          <a:xfrm>
            <a:off x="566999" y="1816086"/>
            <a:ext cx="10542961" cy="6391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Similarity nunca contiene permission, freshness, provenance ni business truth.</a:t>
            </a:r>
            <a:endParaRPr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2" name="Text 5">
            <a:extLst>
              <a:ext uri="{FF2B5EF4-FFF2-40B4-BE49-F238E27FC236}">
                <a16:creationId xmlns:a16="http://schemas.microsoft.com/office/drawing/2014/main" id="{B667CD0E-71FE-45D8-944D-6FB3B29AC9C7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3" name="Text 6">
            <a:extLst>
              <a:ext uri="{FF2B5EF4-FFF2-40B4-BE49-F238E27FC236}">
                <a16:creationId xmlns:a16="http://schemas.microsoft.com/office/drawing/2014/main" id="{F4EAA7B9-9505-4A39-8803-AFCA5A501AC4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4" name="Text 7">
            <a:extLst>
              <a:ext uri="{FF2B5EF4-FFF2-40B4-BE49-F238E27FC236}">
                <a16:creationId xmlns:a16="http://schemas.microsoft.com/office/drawing/2014/main" id="{1AECC926-D0AF-450B-92A9-9E85801E5815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9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5" name="Shape 8">
            <a:extLst>
              <a:ext uri="{FF2B5EF4-FFF2-40B4-BE49-F238E27FC236}">
                <a16:creationId xmlns:a16="http://schemas.microsoft.com/office/drawing/2014/main" id="{F1977737-EE53-4062-B8EA-13825F3C4220}"/>
              </a:ext>
            </a:extLst>
          </p:cNvPr>
          <p:cNvSpPr>
            <a:spLocks noGrp="1"/>
          </p:cNvSpPr>
          <p:nvPr/>
        </p:nvSpPr>
        <p:spPr>
          <a:xfrm>
            <a:off x="685800" y="2793020"/>
            <a:ext cx="5211720" cy="27885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6" name="Text 9">
            <a:extLst>
              <a:ext uri="{FF2B5EF4-FFF2-40B4-BE49-F238E27FC236}">
                <a16:creationId xmlns:a16="http://schemas.microsoft.com/office/drawing/2014/main" id="{384B7E18-6DA2-4E3A-8DF6-8677EE580D2B}"/>
              </a:ext>
            </a:extLst>
          </p:cNvPr>
          <p:cNvSpPr>
            <a:spLocks noGrp="1"/>
          </p:cNvSpPr>
          <p:nvPr/>
        </p:nvSpPr>
        <p:spPr>
          <a:xfrm>
            <a:off x="822960" y="293918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EMBEDDINGS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7" name="Text 10">
            <a:extLst>
              <a:ext uri="{FF2B5EF4-FFF2-40B4-BE49-F238E27FC236}">
                <a16:creationId xmlns:a16="http://schemas.microsoft.com/office/drawing/2014/main" id="{BF2F62C5-933B-4EE1-8894-11F1CB03CDAE}"/>
              </a:ext>
            </a:extLst>
          </p:cNvPr>
          <p:cNvSpPr>
            <a:spLocks noGrp="1"/>
          </p:cNvSpPr>
          <p:nvPr/>
        </p:nvSpPr>
        <p:spPr>
          <a:xfrm>
            <a:off x="867162" y="3288458"/>
            <a:ext cx="48092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Representación para localizar: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8" name="Text 11">
            <a:extLst>
              <a:ext uri="{FF2B5EF4-FFF2-40B4-BE49-F238E27FC236}">
                <a16:creationId xmlns:a16="http://schemas.microsoft.com/office/drawing/2014/main" id="{BC46776A-8DA9-4233-AEF4-B7ACED3DA96A}"/>
              </a:ext>
            </a:extLst>
          </p:cNvPr>
          <p:cNvSpPr>
            <a:spLocks noGrp="1"/>
          </p:cNvSpPr>
          <p:nvPr/>
        </p:nvSpPr>
        <p:spPr>
          <a:xfrm>
            <a:off x="941760" y="3780500"/>
            <a:ext cx="4809240" cy="163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Top-K similarity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Topic-shift cosine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Candidatos semánticos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Clustering futuro</a:t>
            </a:r>
          </a:p>
        </p:txBody>
      </p:sp>
      <p:sp>
        <p:nvSpPr>
          <p:cNvPr id="479" name="Shape 12">
            <a:extLst>
              <a:ext uri="{FF2B5EF4-FFF2-40B4-BE49-F238E27FC236}">
                <a16:creationId xmlns:a16="http://schemas.microsoft.com/office/drawing/2014/main" id="{91372C0F-C107-4E97-B053-A424B2AB88C1}"/>
              </a:ext>
            </a:extLst>
          </p:cNvPr>
          <p:cNvSpPr>
            <a:spLocks noGrp="1"/>
          </p:cNvSpPr>
          <p:nvPr/>
        </p:nvSpPr>
        <p:spPr>
          <a:xfrm>
            <a:off x="6153480" y="2793020"/>
            <a:ext cx="5367600" cy="27885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0" name="Text 13">
            <a:extLst>
              <a:ext uri="{FF2B5EF4-FFF2-40B4-BE49-F238E27FC236}">
                <a16:creationId xmlns:a16="http://schemas.microsoft.com/office/drawing/2014/main" id="{10DFEA9B-76B4-44A6-87F2-2AC93E0A56B5}"/>
              </a:ext>
            </a:extLst>
          </p:cNvPr>
          <p:cNvSpPr>
            <a:spLocks noGrp="1"/>
          </p:cNvSpPr>
          <p:nvPr/>
        </p:nvSpPr>
        <p:spPr>
          <a:xfrm>
            <a:off x="6446520" y="293918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RETRIEVAL + CONTEXT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1" name="Text 14">
            <a:extLst>
              <a:ext uri="{FF2B5EF4-FFF2-40B4-BE49-F238E27FC236}">
                <a16:creationId xmlns:a16="http://schemas.microsoft.com/office/drawing/2014/main" id="{277CAD91-0E67-4B85-97C6-CB9CC9C55260}"/>
              </a:ext>
            </a:extLst>
          </p:cNvPr>
          <p:cNvSpPr>
            <a:spLocks noGrp="1"/>
          </p:cNvSpPr>
          <p:nvPr/>
        </p:nvSpPr>
        <p:spPr>
          <a:xfrm>
            <a:off x="6441027" y="3268580"/>
            <a:ext cx="49374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Política para usar evidencia: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2" name="Text 15">
            <a:extLst>
              <a:ext uri="{FF2B5EF4-FFF2-40B4-BE49-F238E27FC236}">
                <a16:creationId xmlns:a16="http://schemas.microsoft.com/office/drawing/2014/main" id="{857D2E0E-0096-40E0-94D1-4B45E711CF10}"/>
              </a:ext>
            </a:extLst>
          </p:cNvPr>
          <p:cNvSpPr>
            <a:spLocks noGrp="1"/>
          </p:cNvSpPr>
          <p:nvPr/>
        </p:nvSpPr>
        <p:spPr>
          <a:xfrm>
            <a:off x="6565320" y="3780500"/>
            <a:ext cx="4261565" cy="163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User ownership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Threshold + cap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Scope/provenance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Freshness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Authority fuera del vector</a:t>
            </a:r>
          </a:p>
        </p:txBody>
      </p:sp>
      <p:pic>
        <p:nvPicPr>
          <p:cNvPr id="49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530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Shape 0">
            <a:extLst>
              <a:ext uri="{FF2B5EF4-FFF2-40B4-BE49-F238E27FC236}">
                <a16:creationId xmlns:a16="http://schemas.microsoft.com/office/drawing/2014/main" id="{8B25C622-73C8-43BC-85B7-5E602683FB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8" name="Text 1">
            <a:extLst>
              <a:ext uri="{FF2B5EF4-FFF2-40B4-BE49-F238E27FC236}">
                <a16:creationId xmlns:a16="http://schemas.microsoft.com/office/drawing/2014/main" id="{9506D69E-9655-49A4-A754-647742C7AEC1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EL TOOL PATH ES UNA CADENA DE RESPONSABILIDADES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9" name="Text 2">
            <a:extLst>
              <a:ext uri="{FF2B5EF4-FFF2-40B4-BE49-F238E27FC236}">
                <a16:creationId xmlns:a16="http://schemas.microsoft.com/office/drawing/2014/main" id="{84E70C57-B112-4DBB-991B-5F915CA28C4B}"/>
              </a:ext>
            </a:extLst>
          </p:cNvPr>
          <p:cNvSpPr>
            <a:spLocks noGrp="1"/>
          </p:cNvSpPr>
          <p:nvPr/>
        </p:nvSpPr>
        <p:spPr>
          <a:xfrm>
            <a:off x="567000" y="804600"/>
            <a:ext cx="101952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86402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Conocer una tool no equivale a poder ejecutarla; catálogo, availability, policy, adapter y evidence son capas distintas.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0" name="Text 3">
            <a:extLst>
              <a:ext uri="{FF2B5EF4-FFF2-40B4-BE49-F238E27FC236}">
                <a16:creationId xmlns:a16="http://schemas.microsoft.com/office/drawing/2014/main" id="{E92C7BA6-76D8-4990-8855-36A226B5517F}"/>
              </a:ext>
            </a:extLst>
          </p:cNvPr>
          <p:cNvSpPr>
            <a:spLocks noGrp="1"/>
          </p:cNvSpPr>
          <p:nvPr/>
        </p:nvSpPr>
        <p:spPr>
          <a:xfrm>
            <a:off x="567000" y="1552734"/>
            <a:ext cx="9682786" cy="5075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El capability contract debe sobrevivir al cambio de provider.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2" name="Text 5">
            <a:extLst>
              <a:ext uri="{FF2B5EF4-FFF2-40B4-BE49-F238E27FC236}">
                <a16:creationId xmlns:a16="http://schemas.microsoft.com/office/drawing/2014/main" id="{3D1E55AA-4B19-472B-B488-457607506D1E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3" name="Text 6">
            <a:extLst>
              <a:ext uri="{FF2B5EF4-FFF2-40B4-BE49-F238E27FC236}">
                <a16:creationId xmlns:a16="http://schemas.microsoft.com/office/drawing/2014/main" id="{1914CEC5-2A02-4C61-B0D0-C3451437C368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4" name="Text 7">
            <a:extLst>
              <a:ext uri="{FF2B5EF4-FFF2-40B4-BE49-F238E27FC236}">
                <a16:creationId xmlns:a16="http://schemas.microsoft.com/office/drawing/2014/main" id="{47EE1E90-9D10-4037-9AA4-07C0777E5DEE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10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5" name="Shape 8">
            <a:extLst>
              <a:ext uri="{FF2B5EF4-FFF2-40B4-BE49-F238E27FC236}">
                <a16:creationId xmlns:a16="http://schemas.microsoft.com/office/drawing/2014/main" id="{04DD929C-E8A7-40EF-A58B-77606AC73D5E}"/>
              </a:ext>
            </a:extLst>
          </p:cNvPr>
          <p:cNvSpPr>
            <a:spLocks noGrp="1"/>
          </p:cNvSpPr>
          <p:nvPr/>
        </p:nvSpPr>
        <p:spPr>
          <a:xfrm>
            <a:off x="649647" y="2553946"/>
            <a:ext cx="292320" cy="292320"/>
          </a:xfrm>
          <a:prstGeom prst="ellipse">
            <a:avLst/>
          </a:prstGeom>
          <a:solidFill>
            <a:srgbClr val="5F2CCB"/>
          </a:solidFill>
          <a:ln w="12700">
            <a:solidFill>
              <a:srgbClr val="5F2CC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6" name="Text 9">
            <a:extLst>
              <a:ext uri="{FF2B5EF4-FFF2-40B4-BE49-F238E27FC236}">
                <a16:creationId xmlns:a16="http://schemas.microsoft.com/office/drawing/2014/main" id="{89D09C95-B7B0-4EAD-86E4-11097D459FD5}"/>
              </a:ext>
            </a:extLst>
          </p:cNvPr>
          <p:cNvSpPr>
            <a:spLocks noGrp="1"/>
          </p:cNvSpPr>
          <p:nvPr/>
        </p:nvSpPr>
        <p:spPr>
          <a:xfrm>
            <a:off x="649647" y="2618026"/>
            <a:ext cx="29232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7" name="Text 10">
            <a:extLst>
              <a:ext uri="{FF2B5EF4-FFF2-40B4-BE49-F238E27FC236}">
                <a16:creationId xmlns:a16="http://schemas.microsoft.com/office/drawing/2014/main" id="{03BCB5E6-7DB6-4DC3-B22A-565503F1BF0B}"/>
              </a:ext>
            </a:extLst>
          </p:cNvPr>
          <p:cNvSpPr>
            <a:spLocks noGrp="1"/>
          </p:cNvSpPr>
          <p:nvPr/>
        </p:nvSpPr>
        <p:spPr>
          <a:xfrm>
            <a:off x="1061127" y="2517226"/>
            <a:ext cx="4617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Capability request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8" name="Shape 11">
            <a:extLst>
              <a:ext uri="{FF2B5EF4-FFF2-40B4-BE49-F238E27FC236}">
                <a16:creationId xmlns:a16="http://schemas.microsoft.com/office/drawing/2014/main" id="{C9DA9A37-AD16-4C47-ACD4-8959A31D5E37}"/>
              </a:ext>
            </a:extLst>
          </p:cNvPr>
          <p:cNvSpPr>
            <a:spLocks noGrp="1"/>
          </p:cNvSpPr>
          <p:nvPr/>
        </p:nvSpPr>
        <p:spPr>
          <a:xfrm>
            <a:off x="649647" y="3239746"/>
            <a:ext cx="292320" cy="292320"/>
          </a:xfrm>
          <a:prstGeom prst="ellipse">
            <a:avLst/>
          </a:prstGeom>
          <a:solidFill>
            <a:srgbClr val="5F2CCB"/>
          </a:solidFill>
          <a:ln w="12700">
            <a:solidFill>
              <a:srgbClr val="5F2CC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9" name="Text 12">
            <a:extLst>
              <a:ext uri="{FF2B5EF4-FFF2-40B4-BE49-F238E27FC236}">
                <a16:creationId xmlns:a16="http://schemas.microsoft.com/office/drawing/2014/main" id="{1BBC9C46-ACE6-4614-8A4F-34488556E82E}"/>
              </a:ext>
            </a:extLst>
          </p:cNvPr>
          <p:cNvSpPr>
            <a:spLocks noGrp="1"/>
          </p:cNvSpPr>
          <p:nvPr/>
        </p:nvSpPr>
        <p:spPr>
          <a:xfrm>
            <a:off x="649647" y="3303826"/>
            <a:ext cx="29232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0" name="Text 13">
            <a:extLst>
              <a:ext uri="{FF2B5EF4-FFF2-40B4-BE49-F238E27FC236}">
                <a16:creationId xmlns:a16="http://schemas.microsoft.com/office/drawing/2014/main" id="{FE169AB7-BBB4-444C-B3DD-72A23224EC73}"/>
              </a:ext>
            </a:extLst>
          </p:cNvPr>
          <p:cNvSpPr>
            <a:spLocks noGrp="1"/>
          </p:cNvSpPr>
          <p:nvPr/>
        </p:nvSpPr>
        <p:spPr>
          <a:xfrm>
            <a:off x="1061127" y="3203026"/>
            <a:ext cx="4617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Catalog definition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1" name="Shape 14">
            <a:extLst>
              <a:ext uri="{FF2B5EF4-FFF2-40B4-BE49-F238E27FC236}">
                <a16:creationId xmlns:a16="http://schemas.microsoft.com/office/drawing/2014/main" id="{CB3BBA31-DB9D-41ED-94A2-E665BBBE125B}"/>
              </a:ext>
            </a:extLst>
          </p:cNvPr>
          <p:cNvSpPr>
            <a:spLocks noGrp="1"/>
          </p:cNvSpPr>
          <p:nvPr/>
        </p:nvSpPr>
        <p:spPr>
          <a:xfrm>
            <a:off x="649647" y="3925546"/>
            <a:ext cx="292320" cy="292320"/>
          </a:xfrm>
          <a:prstGeom prst="ellipse">
            <a:avLst/>
          </a:prstGeom>
          <a:solidFill>
            <a:srgbClr val="5F2CCB"/>
          </a:solidFill>
          <a:ln w="12700">
            <a:solidFill>
              <a:srgbClr val="5F2CC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2" name="Text 15">
            <a:extLst>
              <a:ext uri="{FF2B5EF4-FFF2-40B4-BE49-F238E27FC236}">
                <a16:creationId xmlns:a16="http://schemas.microsoft.com/office/drawing/2014/main" id="{1F8AB10A-2CAA-4E17-90A2-1E04E422478F}"/>
              </a:ext>
            </a:extLst>
          </p:cNvPr>
          <p:cNvSpPr>
            <a:spLocks noGrp="1"/>
          </p:cNvSpPr>
          <p:nvPr/>
        </p:nvSpPr>
        <p:spPr>
          <a:xfrm>
            <a:off x="649647" y="3989626"/>
            <a:ext cx="29232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3" name="Text 16">
            <a:extLst>
              <a:ext uri="{FF2B5EF4-FFF2-40B4-BE49-F238E27FC236}">
                <a16:creationId xmlns:a16="http://schemas.microsoft.com/office/drawing/2014/main" id="{B1671692-316B-4117-8958-8AC933CE23E4}"/>
              </a:ext>
            </a:extLst>
          </p:cNvPr>
          <p:cNvSpPr>
            <a:spLocks noGrp="1"/>
          </p:cNvSpPr>
          <p:nvPr/>
        </p:nvSpPr>
        <p:spPr>
          <a:xfrm>
            <a:off x="1061127" y="3888826"/>
            <a:ext cx="4617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t>Schema + availability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4" name="Shape 17">
            <a:extLst>
              <a:ext uri="{FF2B5EF4-FFF2-40B4-BE49-F238E27FC236}">
                <a16:creationId xmlns:a16="http://schemas.microsoft.com/office/drawing/2014/main" id="{5F0A08CE-8D08-470D-9B94-BA5C9B613282}"/>
              </a:ext>
            </a:extLst>
          </p:cNvPr>
          <p:cNvSpPr>
            <a:spLocks noGrp="1"/>
          </p:cNvSpPr>
          <p:nvPr/>
        </p:nvSpPr>
        <p:spPr>
          <a:xfrm>
            <a:off x="649647" y="4611346"/>
            <a:ext cx="292320" cy="292320"/>
          </a:xfrm>
          <a:prstGeom prst="ellipse">
            <a:avLst/>
          </a:prstGeom>
          <a:solidFill>
            <a:srgbClr val="5F2CCB"/>
          </a:solidFill>
          <a:ln w="12700">
            <a:solidFill>
              <a:srgbClr val="5F2CC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5" name="Text 18">
            <a:extLst>
              <a:ext uri="{FF2B5EF4-FFF2-40B4-BE49-F238E27FC236}">
                <a16:creationId xmlns:a16="http://schemas.microsoft.com/office/drawing/2014/main" id="{CE0117C1-1B86-44D2-970D-54078423FE9B}"/>
              </a:ext>
            </a:extLst>
          </p:cNvPr>
          <p:cNvSpPr>
            <a:spLocks noGrp="1"/>
          </p:cNvSpPr>
          <p:nvPr/>
        </p:nvSpPr>
        <p:spPr>
          <a:xfrm>
            <a:off x="649647" y="4675426"/>
            <a:ext cx="29232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6" name="Text 19">
            <a:extLst>
              <a:ext uri="{FF2B5EF4-FFF2-40B4-BE49-F238E27FC236}">
                <a16:creationId xmlns:a16="http://schemas.microsoft.com/office/drawing/2014/main" id="{B41C6CDC-A225-4945-80B8-10A88EEE9B88}"/>
              </a:ext>
            </a:extLst>
          </p:cNvPr>
          <p:cNvSpPr>
            <a:spLocks noGrp="1"/>
          </p:cNvSpPr>
          <p:nvPr/>
        </p:nvSpPr>
        <p:spPr>
          <a:xfrm>
            <a:off x="1061127" y="4574626"/>
            <a:ext cx="4617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Risk / approval policy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7" name="Shape 20">
            <a:extLst>
              <a:ext uri="{FF2B5EF4-FFF2-40B4-BE49-F238E27FC236}">
                <a16:creationId xmlns:a16="http://schemas.microsoft.com/office/drawing/2014/main" id="{4BCCD321-7BB4-4839-9E3A-33D3BC80EBC0}"/>
              </a:ext>
            </a:extLst>
          </p:cNvPr>
          <p:cNvSpPr>
            <a:spLocks noGrp="1"/>
          </p:cNvSpPr>
          <p:nvPr/>
        </p:nvSpPr>
        <p:spPr>
          <a:xfrm>
            <a:off x="649647" y="5297146"/>
            <a:ext cx="292320" cy="292320"/>
          </a:xfrm>
          <a:prstGeom prst="ellipse">
            <a:avLst/>
          </a:prstGeom>
          <a:solidFill>
            <a:srgbClr val="5F2CCB"/>
          </a:solidFill>
          <a:ln w="12700">
            <a:solidFill>
              <a:srgbClr val="5F2CC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8" name="Text 21">
            <a:extLst>
              <a:ext uri="{FF2B5EF4-FFF2-40B4-BE49-F238E27FC236}">
                <a16:creationId xmlns:a16="http://schemas.microsoft.com/office/drawing/2014/main" id="{9AA6ABB1-633A-4E6E-9A4D-898DADCB19B9}"/>
              </a:ext>
            </a:extLst>
          </p:cNvPr>
          <p:cNvSpPr>
            <a:spLocks noGrp="1"/>
          </p:cNvSpPr>
          <p:nvPr/>
        </p:nvSpPr>
        <p:spPr>
          <a:xfrm>
            <a:off x="649647" y="5361226"/>
            <a:ext cx="29232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9" name="Text 22">
            <a:extLst>
              <a:ext uri="{FF2B5EF4-FFF2-40B4-BE49-F238E27FC236}">
                <a16:creationId xmlns:a16="http://schemas.microsoft.com/office/drawing/2014/main" id="{3B38EE43-27D2-4B85-AD2D-B01F2C52A774}"/>
              </a:ext>
            </a:extLst>
          </p:cNvPr>
          <p:cNvSpPr>
            <a:spLocks noGrp="1"/>
          </p:cNvSpPr>
          <p:nvPr/>
        </p:nvSpPr>
        <p:spPr>
          <a:xfrm>
            <a:off x="1061127" y="5263146"/>
            <a:ext cx="4617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 dirty="0">
                <a:solidFill>
                  <a:srgbClr val="151327"/>
                </a:solidFill>
                <a:latin typeface="Aptos"/>
                <a:ea typeface="Aptos"/>
                <a:cs typeface="Aptos"/>
              </a:rPr>
              <a:t>Adapter validation</a:t>
            </a:r>
            <a:endParaRPr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0" name="Shape 23">
            <a:extLst>
              <a:ext uri="{FF2B5EF4-FFF2-40B4-BE49-F238E27FC236}">
                <a16:creationId xmlns:a16="http://schemas.microsoft.com/office/drawing/2014/main" id="{88EE5318-6F34-4145-BBF3-90F2DEF12EA7}"/>
              </a:ext>
            </a:extLst>
          </p:cNvPr>
          <p:cNvSpPr>
            <a:spLocks noGrp="1"/>
          </p:cNvSpPr>
          <p:nvPr/>
        </p:nvSpPr>
        <p:spPr>
          <a:xfrm>
            <a:off x="6273207" y="2553946"/>
            <a:ext cx="292320" cy="29232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1" name="Text 24">
            <a:extLst>
              <a:ext uri="{FF2B5EF4-FFF2-40B4-BE49-F238E27FC236}">
                <a16:creationId xmlns:a16="http://schemas.microsoft.com/office/drawing/2014/main" id="{350ED758-CE1A-42C9-996C-975336E8F161}"/>
              </a:ext>
            </a:extLst>
          </p:cNvPr>
          <p:cNvSpPr>
            <a:spLocks noGrp="1"/>
          </p:cNvSpPr>
          <p:nvPr/>
        </p:nvSpPr>
        <p:spPr>
          <a:xfrm>
            <a:off x="6273207" y="2618026"/>
            <a:ext cx="29232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2" name="Text 25">
            <a:extLst>
              <a:ext uri="{FF2B5EF4-FFF2-40B4-BE49-F238E27FC236}">
                <a16:creationId xmlns:a16="http://schemas.microsoft.com/office/drawing/2014/main" id="{573B4A54-2078-4746-9D6E-68697E619D90}"/>
              </a:ext>
            </a:extLst>
          </p:cNvPr>
          <p:cNvSpPr>
            <a:spLocks noGrp="1"/>
          </p:cNvSpPr>
          <p:nvPr/>
        </p:nvSpPr>
        <p:spPr>
          <a:xfrm>
            <a:off x="6684687" y="2518355"/>
            <a:ext cx="4617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 dirty="0">
                <a:solidFill>
                  <a:srgbClr val="151327"/>
                </a:solidFill>
                <a:latin typeface="Aptos"/>
                <a:ea typeface="Aptos"/>
                <a:cs typeface="Aptos"/>
              </a:rPr>
              <a:t>Provider / system call</a:t>
            </a:r>
            <a:endParaRPr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3" name="Shape 26">
            <a:extLst>
              <a:ext uri="{FF2B5EF4-FFF2-40B4-BE49-F238E27FC236}">
                <a16:creationId xmlns:a16="http://schemas.microsoft.com/office/drawing/2014/main" id="{2DBEC732-C9DC-4998-B189-2D3390B63BCF}"/>
              </a:ext>
            </a:extLst>
          </p:cNvPr>
          <p:cNvSpPr>
            <a:spLocks noGrp="1"/>
          </p:cNvSpPr>
          <p:nvPr/>
        </p:nvSpPr>
        <p:spPr>
          <a:xfrm>
            <a:off x="6273207" y="3239746"/>
            <a:ext cx="292320" cy="29232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4" name="Text 27">
            <a:extLst>
              <a:ext uri="{FF2B5EF4-FFF2-40B4-BE49-F238E27FC236}">
                <a16:creationId xmlns:a16="http://schemas.microsoft.com/office/drawing/2014/main" id="{D7AA12D3-E532-493E-8841-37A08663B4F6}"/>
              </a:ext>
            </a:extLst>
          </p:cNvPr>
          <p:cNvSpPr>
            <a:spLocks noGrp="1"/>
          </p:cNvSpPr>
          <p:nvPr/>
        </p:nvSpPr>
        <p:spPr>
          <a:xfrm>
            <a:off x="6273207" y="3303826"/>
            <a:ext cx="29232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5" name="Text 28">
            <a:extLst>
              <a:ext uri="{FF2B5EF4-FFF2-40B4-BE49-F238E27FC236}">
                <a16:creationId xmlns:a16="http://schemas.microsoft.com/office/drawing/2014/main" id="{38582139-A5D1-4C4B-91D3-275176B23820}"/>
              </a:ext>
            </a:extLst>
          </p:cNvPr>
          <p:cNvSpPr>
            <a:spLocks noGrp="1"/>
          </p:cNvSpPr>
          <p:nvPr/>
        </p:nvSpPr>
        <p:spPr>
          <a:xfrm>
            <a:off x="6684687" y="3203026"/>
            <a:ext cx="4617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Normalized result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6" name="Shape 29">
            <a:extLst>
              <a:ext uri="{FF2B5EF4-FFF2-40B4-BE49-F238E27FC236}">
                <a16:creationId xmlns:a16="http://schemas.microsoft.com/office/drawing/2014/main" id="{B740E535-B9D7-487B-A02D-71BC4ECB4CA4}"/>
              </a:ext>
            </a:extLst>
          </p:cNvPr>
          <p:cNvSpPr>
            <a:spLocks noGrp="1"/>
          </p:cNvSpPr>
          <p:nvPr/>
        </p:nvSpPr>
        <p:spPr>
          <a:xfrm>
            <a:off x="6273207" y="3925546"/>
            <a:ext cx="292320" cy="29232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7" name="Text 30">
            <a:extLst>
              <a:ext uri="{FF2B5EF4-FFF2-40B4-BE49-F238E27FC236}">
                <a16:creationId xmlns:a16="http://schemas.microsoft.com/office/drawing/2014/main" id="{AD2FFEB0-14A7-440E-BB87-24C73DA1BF4C}"/>
              </a:ext>
            </a:extLst>
          </p:cNvPr>
          <p:cNvSpPr>
            <a:spLocks noGrp="1"/>
          </p:cNvSpPr>
          <p:nvPr/>
        </p:nvSpPr>
        <p:spPr>
          <a:xfrm>
            <a:off x="6273207" y="3989626"/>
            <a:ext cx="29232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8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8" name="Text 31">
            <a:extLst>
              <a:ext uri="{FF2B5EF4-FFF2-40B4-BE49-F238E27FC236}">
                <a16:creationId xmlns:a16="http://schemas.microsoft.com/office/drawing/2014/main" id="{4C7B5E41-8723-48CD-BC62-C3A9A7958038}"/>
              </a:ext>
            </a:extLst>
          </p:cNvPr>
          <p:cNvSpPr>
            <a:spLocks noGrp="1"/>
          </p:cNvSpPr>
          <p:nvPr/>
        </p:nvSpPr>
        <p:spPr>
          <a:xfrm>
            <a:off x="6684687" y="3908506"/>
            <a:ext cx="4617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 dirty="0">
                <a:solidFill>
                  <a:srgbClr val="151327"/>
                </a:solidFill>
                <a:latin typeface="Aptos"/>
                <a:ea typeface="Aptos"/>
                <a:cs typeface="Aptos"/>
              </a:rPr>
              <a:t>Provenance / refusal</a:t>
            </a:r>
            <a:endParaRPr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9" name="Shape 32">
            <a:extLst>
              <a:ext uri="{FF2B5EF4-FFF2-40B4-BE49-F238E27FC236}">
                <a16:creationId xmlns:a16="http://schemas.microsoft.com/office/drawing/2014/main" id="{1931142D-A0F7-4868-A3A8-21DBDE355E40}"/>
              </a:ext>
            </a:extLst>
          </p:cNvPr>
          <p:cNvSpPr>
            <a:spLocks noGrp="1"/>
          </p:cNvSpPr>
          <p:nvPr/>
        </p:nvSpPr>
        <p:spPr>
          <a:xfrm>
            <a:off x="6273207" y="4611346"/>
            <a:ext cx="292320" cy="29232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0" name="Text 33">
            <a:extLst>
              <a:ext uri="{FF2B5EF4-FFF2-40B4-BE49-F238E27FC236}">
                <a16:creationId xmlns:a16="http://schemas.microsoft.com/office/drawing/2014/main" id="{6EF54F83-55F8-4570-B130-B0D4804A354F}"/>
              </a:ext>
            </a:extLst>
          </p:cNvPr>
          <p:cNvSpPr>
            <a:spLocks noGrp="1"/>
          </p:cNvSpPr>
          <p:nvPr/>
        </p:nvSpPr>
        <p:spPr>
          <a:xfrm>
            <a:off x="6273207" y="4675426"/>
            <a:ext cx="29232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9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1" name="Text 34">
            <a:extLst>
              <a:ext uri="{FF2B5EF4-FFF2-40B4-BE49-F238E27FC236}">
                <a16:creationId xmlns:a16="http://schemas.microsoft.com/office/drawing/2014/main" id="{A8B46107-B766-4267-9D76-7DDEC33A6475}"/>
              </a:ext>
            </a:extLst>
          </p:cNvPr>
          <p:cNvSpPr>
            <a:spLocks noGrp="1"/>
          </p:cNvSpPr>
          <p:nvPr/>
        </p:nvSpPr>
        <p:spPr>
          <a:xfrm>
            <a:off x="6684687" y="4574626"/>
            <a:ext cx="4617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ToolMessage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2" name="Shape 35">
            <a:extLst>
              <a:ext uri="{FF2B5EF4-FFF2-40B4-BE49-F238E27FC236}">
                <a16:creationId xmlns:a16="http://schemas.microsoft.com/office/drawing/2014/main" id="{C14BD1B5-30D3-4EE6-8529-2E84394EA8DA}"/>
              </a:ext>
            </a:extLst>
          </p:cNvPr>
          <p:cNvSpPr>
            <a:spLocks noGrp="1"/>
          </p:cNvSpPr>
          <p:nvPr/>
        </p:nvSpPr>
        <p:spPr>
          <a:xfrm>
            <a:off x="6273207" y="5297146"/>
            <a:ext cx="292320" cy="29232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3" name="Text 36">
            <a:extLst>
              <a:ext uri="{FF2B5EF4-FFF2-40B4-BE49-F238E27FC236}">
                <a16:creationId xmlns:a16="http://schemas.microsoft.com/office/drawing/2014/main" id="{851527BD-DD3A-4E87-B974-10B98A5D0FD5}"/>
              </a:ext>
            </a:extLst>
          </p:cNvPr>
          <p:cNvSpPr>
            <a:spLocks noGrp="1"/>
          </p:cNvSpPr>
          <p:nvPr/>
        </p:nvSpPr>
        <p:spPr>
          <a:xfrm>
            <a:off x="6273207" y="5361226"/>
            <a:ext cx="29232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4" name="Text 37">
            <a:extLst>
              <a:ext uri="{FF2B5EF4-FFF2-40B4-BE49-F238E27FC236}">
                <a16:creationId xmlns:a16="http://schemas.microsoft.com/office/drawing/2014/main" id="{2904190D-C8FF-4A72-A7AB-21BF34739C8A}"/>
              </a:ext>
            </a:extLst>
          </p:cNvPr>
          <p:cNvSpPr>
            <a:spLocks noGrp="1"/>
          </p:cNvSpPr>
          <p:nvPr/>
        </p:nvSpPr>
        <p:spPr>
          <a:xfrm>
            <a:off x="6684687" y="5260426"/>
            <a:ext cx="4617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Verification / next step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7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78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0">
            <a:extLst>
              <a:ext uri="{FF2B5EF4-FFF2-40B4-BE49-F238E27FC236}">
                <a16:creationId xmlns:a16="http://schemas.microsoft.com/office/drawing/2014/main" id="{4BBAACC3-A791-45E5-90BD-10F6EBE250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9" name="Text 1">
            <a:extLst>
              <a:ext uri="{FF2B5EF4-FFF2-40B4-BE49-F238E27FC236}">
                <a16:creationId xmlns:a16="http://schemas.microsoft.com/office/drawing/2014/main" id="{F1D40F3B-2F08-4C83-9264-68BFDA97A0B2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TOOL RISK DEFINE EL DEFAULT; CONTEXT PUEDE ESTRECHARLO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0" name="Text 2">
            <a:extLst>
              <a:ext uri="{FF2B5EF4-FFF2-40B4-BE49-F238E27FC236}">
                <a16:creationId xmlns:a16="http://schemas.microsoft.com/office/drawing/2014/main" id="{9F9F0B0F-11C7-4191-AD06-C27263CE56EF}"/>
              </a:ext>
            </a:extLst>
          </p:cNvPr>
          <p:cNvSpPr>
            <a:spLocks noGrp="1"/>
          </p:cNvSpPr>
          <p:nvPr/>
        </p:nvSpPr>
        <p:spPr>
          <a:xfrm>
            <a:off x="567000" y="831234"/>
            <a:ext cx="101952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Low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puede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auto-execute; medium/high request approval; unknown se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trata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como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high.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1" name="Text 3">
            <a:extLst>
              <a:ext uri="{FF2B5EF4-FFF2-40B4-BE49-F238E27FC236}">
                <a16:creationId xmlns:a16="http://schemas.microsoft.com/office/drawing/2014/main" id="{7C9920B2-0B9C-405A-8FC2-3066958F1F12}"/>
              </a:ext>
            </a:extLst>
          </p:cNvPr>
          <p:cNvSpPr>
            <a:spLocks noGrp="1"/>
          </p:cNvSpPr>
          <p:nvPr/>
        </p:nvSpPr>
        <p:spPr>
          <a:xfrm>
            <a:off x="567000" y="1722964"/>
            <a:ext cx="106981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Scheduled Tasks pueden estrechar auto→approval→deny, nunca ampliar.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3" name="Text 5">
            <a:extLst>
              <a:ext uri="{FF2B5EF4-FFF2-40B4-BE49-F238E27FC236}">
                <a16:creationId xmlns:a16="http://schemas.microsoft.com/office/drawing/2014/main" id="{45E5FF60-280C-4427-B9EE-702C6AC4B0BA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4" name="Text 6">
            <a:extLst>
              <a:ext uri="{FF2B5EF4-FFF2-40B4-BE49-F238E27FC236}">
                <a16:creationId xmlns:a16="http://schemas.microsoft.com/office/drawing/2014/main" id="{2C7BE918-435D-46D0-A72D-6BFEFE98180D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5" name="Text 7">
            <a:extLst>
              <a:ext uri="{FF2B5EF4-FFF2-40B4-BE49-F238E27FC236}">
                <a16:creationId xmlns:a16="http://schemas.microsoft.com/office/drawing/2014/main" id="{2B7BB1E1-E16A-4C69-80F5-FD1C55C36297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11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6" name="Shape 8">
            <a:extLst>
              <a:ext uri="{FF2B5EF4-FFF2-40B4-BE49-F238E27FC236}">
                <a16:creationId xmlns:a16="http://schemas.microsoft.com/office/drawing/2014/main" id="{9CCD3A35-0D41-4B31-AFFE-F330AE1968C2}"/>
              </a:ext>
            </a:extLst>
          </p:cNvPr>
          <p:cNvSpPr>
            <a:spLocks noGrp="1"/>
          </p:cNvSpPr>
          <p:nvPr/>
        </p:nvSpPr>
        <p:spPr>
          <a:xfrm>
            <a:off x="82296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078C53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7" name="Text 9">
            <a:extLst>
              <a:ext uri="{FF2B5EF4-FFF2-40B4-BE49-F238E27FC236}">
                <a16:creationId xmlns:a16="http://schemas.microsoft.com/office/drawing/2014/main" id="{2B4765C8-6BF1-46F9-A8A3-80AAFFECDE1A}"/>
              </a:ext>
            </a:extLst>
          </p:cNvPr>
          <p:cNvSpPr>
            <a:spLocks noGrp="1"/>
          </p:cNvSpPr>
          <p:nvPr/>
        </p:nvSpPr>
        <p:spPr>
          <a:xfrm>
            <a:off x="96012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LOW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8" name="Text 10">
            <a:extLst>
              <a:ext uri="{FF2B5EF4-FFF2-40B4-BE49-F238E27FC236}">
                <a16:creationId xmlns:a16="http://schemas.microsoft.com/office/drawing/2014/main" id="{7F134683-F6F3-4A27-96B2-A8C1CE8A07F5}"/>
              </a:ext>
            </a:extLst>
          </p:cNvPr>
          <p:cNvSpPr>
            <a:spLocks noGrp="1"/>
          </p:cNvSpPr>
          <p:nvPr/>
        </p:nvSpPr>
        <p:spPr>
          <a:xfrm>
            <a:off x="102420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Auto-execute </a:t>
            </a:r>
            <a:r>
              <a:rPr sz="1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por</a:t>
            </a:r>
            <a:r>
              <a:rPr sz="1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default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9" name="Text 11">
            <a:extLst>
              <a:ext uri="{FF2B5EF4-FFF2-40B4-BE49-F238E27FC236}">
                <a16:creationId xmlns:a16="http://schemas.microsoft.com/office/drawing/2014/main" id="{9D304FCD-FA8D-4F73-ABAC-B561272A6512}"/>
              </a:ext>
            </a:extLst>
          </p:cNvPr>
          <p:cNvSpPr>
            <a:spLocks noGrp="1"/>
          </p:cNvSpPr>
          <p:nvPr/>
        </p:nvSpPr>
        <p:spPr>
          <a:xfrm>
            <a:off x="107892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Reads y operaciones acotadas; Policy/tenant siguen aplicando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0" name="Shape 12">
            <a:extLst>
              <a:ext uri="{FF2B5EF4-FFF2-40B4-BE49-F238E27FC236}">
                <a16:creationId xmlns:a16="http://schemas.microsoft.com/office/drawing/2014/main" id="{EF787178-85ED-45E2-B753-CA0056CFE17A}"/>
              </a:ext>
            </a:extLst>
          </p:cNvPr>
          <p:cNvSpPr>
            <a:spLocks noGrp="1"/>
          </p:cNvSpPr>
          <p:nvPr/>
        </p:nvSpPr>
        <p:spPr>
          <a:xfrm>
            <a:off x="452628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F39A2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1" name="Text 13">
            <a:extLst>
              <a:ext uri="{FF2B5EF4-FFF2-40B4-BE49-F238E27FC236}">
                <a16:creationId xmlns:a16="http://schemas.microsoft.com/office/drawing/2014/main" id="{255F5FB9-074F-4C28-876F-51D8F78DF680}"/>
              </a:ext>
            </a:extLst>
          </p:cNvPr>
          <p:cNvSpPr>
            <a:spLocks noGrp="1"/>
          </p:cNvSpPr>
          <p:nvPr/>
        </p:nvSpPr>
        <p:spPr>
          <a:xfrm>
            <a:off x="466344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39A2B"/>
                </a:solidFill>
                <a:latin typeface="Aptos"/>
                <a:ea typeface="Aptos"/>
                <a:cs typeface="Aptos"/>
              </a:rPr>
              <a:t>MEDIUM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2" name="Text 14">
            <a:extLst>
              <a:ext uri="{FF2B5EF4-FFF2-40B4-BE49-F238E27FC236}">
                <a16:creationId xmlns:a16="http://schemas.microsoft.com/office/drawing/2014/main" id="{861EC238-409B-4970-A121-1C58F1D0D043}"/>
              </a:ext>
            </a:extLst>
          </p:cNvPr>
          <p:cNvSpPr>
            <a:spLocks noGrp="1"/>
          </p:cNvSpPr>
          <p:nvPr/>
        </p:nvSpPr>
        <p:spPr>
          <a:xfrm>
            <a:off x="472752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Request approval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3" name="Text 15">
            <a:extLst>
              <a:ext uri="{FF2B5EF4-FFF2-40B4-BE49-F238E27FC236}">
                <a16:creationId xmlns:a16="http://schemas.microsoft.com/office/drawing/2014/main" id="{02F20FE0-34C2-48B1-BC9A-D3E177900EEF}"/>
              </a:ext>
            </a:extLst>
          </p:cNvPr>
          <p:cNvSpPr>
            <a:spLocks noGrp="1"/>
          </p:cNvSpPr>
          <p:nvPr/>
        </p:nvSpPr>
        <p:spPr>
          <a:xfrm>
            <a:off x="478224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Cambios reversibles o commitments; Se muestra acción y argumentos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4" name="Shape 16">
            <a:extLst>
              <a:ext uri="{FF2B5EF4-FFF2-40B4-BE49-F238E27FC236}">
                <a16:creationId xmlns:a16="http://schemas.microsoft.com/office/drawing/2014/main" id="{CA0E0125-49B3-48E2-A0AD-93A7A8B1A518}"/>
              </a:ext>
            </a:extLst>
          </p:cNvPr>
          <p:cNvSpPr>
            <a:spLocks noGrp="1"/>
          </p:cNvSpPr>
          <p:nvPr/>
        </p:nvSpPr>
        <p:spPr>
          <a:xfrm>
            <a:off x="822960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A84A7A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5" name="Text 17">
            <a:extLst>
              <a:ext uri="{FF2B5EF4-FFF2-40B4-BE49-F238E27FC236}">
                <a16:creationId xmlns:a16="http://schemas.microsoft.com/office/drawing/2014/main" id="{DC8AAC41-512E-4C1D-B2D3-D6B006038F75}"/>
              </a:ext>
            </a:extLst>
          </p:cNvPr>
          <p:cNvSpPr>
            <a:spLocks noGrp="1"/>
          </p:cNvSpPr>
          <p:nvPr/>
        </p:nvSpPr>
        <p:spPr>
          <a:xfrm>
            <a:off x="836676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A84A7A"/>
                </a:solidFill>
                <a:latin typeface="Aptos"/>
                <a:ea typeface="Aptos"/>
                <a:cs typeface="Aptos"/>
              </a:rPr>
              <a:t>HIGH / UNKNOWN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6" name="Text 18">
            <a:extLst>
              <a:ext uri="{FF2B5EF4-FFF2-40B4-BE49-F238E27FC236}">
                <a16:creationId xmlns:a16="http://schemas.microsoft.com/office/drawing/2014/main" id="{B0807840-7344-4FCC-92B2-FAF7C3C584F6}"/>
              </a:ext>
            </a:extLst>
          </p:cNvPr>
          <p:cNvSpPr>
            <a:spLocks noGrp="1"/>
          </p:cNvSpPr>
          <p:nvPr/>
        </p:nvSpPr>
        <p:spPr>
          <a:xfrm>
            <a:off x="843084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Request approval / fail closed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7" name="Text 19">
            <a:extLst>
              <a:ext uri="{FF2B5EF4-FFF2-40B4-BE49-F238E27FC236}">
                <a16:creationId xmlns:a16="http://schemas.microsoft.com/office/drawing/2014/main" id="{B127B4FC-74A3-4F76-8BAF-C6AE0C023639}"/>
              </a:ext>
            </a:extLst>
          </p:cNvPr>
          <p:cNvSpPr>
            <a:spLocks noGrp="1"/>
          </p:cNvSpPr>
          <p:nvPr/>
        </p:nvSpPr>
        <p:spPr>
          <a:xfrm>
            <a:off x="848556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Send, delete, publish, bash; Sin catálogo = high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8" name="Shape 20">
            <a:extLst>
              <a:ext uri="{FF2B5EF4-FFF2-40B4-BE49-F238E27FC236}">
                <a16:creationId xmlns:a16="http://schemas.microsoft.com/office/drawing/2014/main" id="{F50A24BA-26B8-41DD-8033-EE393E903416}"/>
              </a:ext>
            </a:extLst>
          </p:cNvPr>
          <p:cNvSpPr>
            <a:spLocks noGrp="1"/>
          </p:cNvSpPr>
          <p:nvPr/>
        </p:nvSpPr>
        <p:spPr>
          <a:xfrm>
            <a:off x="2240280" y="5730953"/>
            <a:ext cx="7726320" cy="640345"/>
          </a:xfrm>
          <a:prstGeom prst="roundRect">
            <a:avLst>
              <a:gd name="adj" fmla="val 16000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9" name="Text 21">
            <a:extLst>
              <a:ext uri="{FF2B5EF4-FFF2-40B4-BE49-F238E27FC236}">
                <a16:creationId xmlns:a16="http://schemas.microsoft.com/office/drawing/2014/main" id="{8BF542F8-67AE-4291-AE4A-D1D2D0297474}"/>
              </a:ext>
            </a:extLst>
          </p:cNvPr>
          <p:cNvSpPr>
            <a:spLocks noGrp="1"/>
          </p:cNvSpPr>
          <p:nvPr/>
        </p:nvSpPr>
        <p:spPr>
          <a:xfrm>
            <a:off x="2516826" y="5868472"/>
            <a:ext cx="7218948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Allowlisting una tool no autoriza cualquier operación o tenant.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6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8349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Shape 0">
            <a:extLst>
              <a:ext uri="{FF2B5EF4-FFF2-40B4-BE49-F238E27FC236}">
                <a16:creationId xmlns:a16="http://schemas.microsoft.com/office/drawing/2014/main" id="{4B4172A0-99B8-4508-9E7D-AFCBD1AC09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6" name="Text 1">
            <a:extLst>
              <a:ext uri="{FF2B5EF4-FFF2-40B4-BE49-F238E27FC236}">
                <a16:creationId xmlns:a16="http://schemas.microsoft.com/office/drawing/2014/main" id="{4B280F5E-4D21-42CD-8612-7B82CCB3F3DF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LOOP CONTROL ES MÁS QUE RETRY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7" name="Text 2">
            <a:extLst>
              <a:ext uri="{FF2B5EF4-FFF2-40B4-BE49-F238E27FC236}">
                <a16:creationId xmlns:a16="http://schemas.microsoft.com/office/drawing/2014/main" id="{A317ACC4-F6DE-40CA-B510-C02C45113F27}"/>
              </a:ext>
            </a:extLst>
          </p:cNvPr>
          <p:cNvSpPr>
            <a:spLocks noGrp="1"/>
          </p:cNvSpPr>
          <p:nvPr/>
        </p:nvSpPr>
        <p:spPr>
          <a:xfrm>
            <a:off x="566999" y="804600"/>
            <a:ext cx="10375983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Budgets, dedupe, checkpoints, idempotency y circuit breakers controlan fallos diferentes.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8" name="Text 3">
            <a:extLst>
              <a:ext uri="{FF2B5EF4-FFF2-40B4-BE49-F238E27FC236}">
                <a16:creationId xmlns:a16="http://schemas.microsoft.com/office/drawing/2014/main" id="{4042EA47-16DE-4A48-954E-C520CD2F38A3}"/>
              </a:ext>
            </a:extLst>
          </p:cNvPr>
          <p:cNvSpPr>
            <a:spLocks noGrp="1"/>
          </p:cNvSpPr>
          <p:nvPr/>
        </p:nvSpPr>
        <p:spPr>
          <a:xfrm>
            <a:off x="567000" y="1591200"/>
            <a:ext cx="10698120" cy="5645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Recovery conserva el work correcto; no repite efectos.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0" name="Text 5">
            <a:extLst>
              <a:ext uri="{FF2B5EF4-FFF2-40B4-BE49-F238E27FC236}">
                <a16:creationId xmlns:a16="http://schemas.microsoft.com/office/drawing/2014/main" id="{71EEBA0C-6625-4B78-9AA1-1C627BEE1115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1" name="Text 6">
            <a:extLst>
              <a:ext uri="{FF2B5EF4-FFF2-40B4-BE49-F238E27FC236}">
                <a16:creationId xmlns:a16="http://schemas.microsoft.com/office/drawing/2014/main" id="{CE3EE3EE-0098-404D-8978-5893FCC08782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2" name="Text 7">
            <a:extLst>
              <a:ext uri="{FF2B5EF4-FFF2-40B4-BE49-F238E27FC236}">
                <a16:creationId xmlns:a16="http://schemas.microsoft.com/office/drawing/2014/main" id="{ADA63A47-13B1-42C4-8EE0-76B5F1619E3E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12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3" name="Shape 8">
            <a:extLst>
              <a:ext uri="{FF2B5EF4-FFF2-40B4-BE49-F238E27FC236}">
                <a16:creationId xmlns:a16="http://schemas.microsoft.com/office/drawing/2014/main" id="{12D6034E-F669-430F-B740-CE69B0B5AF8F}"/>
              </a:ext>
            </a:extLst>
          </p:cNvPr>
          <p:cNvSpPr>
            <a:spLocks noGrp="1"/>
          </p:cNvSpPr>
          <p:nvPr/>
        </p:nvSpPr>
        <p:spPr>
          <a:xfrm>
            <a:off x="868680" y="2483481"/>
            <a:ext cx="502560" cy="502560"/>
          </a:xfrm>
          <a:prstGeom prst="ellipse">
            <a:avLst/>
          </a:prstGeom>
          <a:solidFill>
            <a:srgbClr val="5F2CCB"/>
          </a:solidFill>
          <a:ln w="12700">
            <a:solidFill>
              <a:srgbClr val="5F2CC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4" name="Text 9">
            <a:extLst>
              <a:ext uri="{FF2B5EF4-FFF2-40B4-BE49-F238E27FC236}">
                <a16:creationId xmlns:a16="http://schemas.microsoft.com/office/drawing/2014/main" id="{23DE94D4-7EF1-47E1-BD23-51001D3CB0D1}"/>
              </a:ext>
            </a:extLst>
          </p:cNvPr>
          <p:cNvSpPr>
            <a:spLocks noGrp="1"/>
          </p:cNvSpPr>
          <p:nvPr/>
        </p:nvSpPr>
        <p:spPr>
          <a:xfrm>
            <a:off x="868680" y="2602281"/>
            <a:ext cx="502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5" name="Shape 10">
            <a:extLst>
              <a:ext uri="{FF2B5EF4-FFF2-40B4-BE49-F238E27FC236}">
                <a16:creationId xmlns:a16="http://schemas.microsoft.com/office/drawing/2014/main" id="{B6E1A1F0-643D-4CB3-91D2-55BCB19BAE3A}"/>
              </a:ext>
            </a:extLst>
          </p:cNvPr>
          <p:cNvSpPr>
            <a:spLocks noGrp="1"/>
          </p:cNvSpPr>
          <p:nvPr/>
        </p:nvSpPr>
        <p:spPr>
          <a:xfrm>
            <a:off x="1600200" y="2392041"/>
            <a:ext cx="9738000" cy="874068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6" name="Text 11">
            <a:extLst>
              <a:ext uri="{FF2B5EF4-FFF2-40B4-BE49-F238E27FC236}">
                <a16:creationId xmlns:a16="http://schemas.microsoft.com/office/drawing/2014/main" id="{FB714849-831E-4414-A7C0-FA5B33752BAB}"/>
              </a:ext>
            </a:extLst>
          </p:cNvPr>
          <p:cNvSpPr>
            <a:spLocks noGrp="1"/>
          </p:cNvSpPr>
          <p:nvPr/>
        </p:nvSpPr>
        <p:spPr>
          <a:xfrm>
            <a:off x="1801440" y="2529201"/>
            <a:ext cx="9335520" cy="2194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1 · Limitar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7" name="Text 12">
            <a:extLst>
              <a:ext uri="{FF2B5EF4-FFF2-40B4-BE49-F238E27FC236}">
                <a16:creationId xmlns:a16="http://schemas.microsoft.com/office/drawing/2014/main" id="{BAC24C04-E92C-4CF9-9793-4F4548B9E311}"/>
              </a:ext>
            </a:extLst>
          </p:cNvPr>
          <p:cNvSpPr>
            <a:spLocks noGrp="1"/>
          </p:cNvSpPr>
          <p:nvPr/>
        </p:nvSpPr>
        <p:spPr>
          <a:xfrm>
            <a:off x="1856160" y="2812665"/>
            <a:ext cx="9226080" cy="3277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MAX_TOOL_ITERATIONS=10; compaction breaker=3; provider/time budgets.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8" name="Shape 13">
            <a:extLst>
              <a:ext uri="{FF2B5EF4-FFF2-40B4-BE49-F238E27FC236}">
                <a16:creationId xmlns:a16="http://schemas.microsoft.com/office/drawing/2014/main" id="{8A45D319-DDF4-4CA6-B83C-A8E760C13EF3}"/>
              </a:ext>
            </a:extLst>
          </p:cNvPr>
          <p:cNvSpPr>
            <a:spLocks noGrp="1"/>
          </p:cNvSpPr>
          <p:nvPr/>
        </p:nvSpPr>
        <p:spPr>
          <a:xfrm>
            <a:off x="868680" y="3554451"/>
            <a:ext cx="502560" cy="50256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9" name="Text 14">
            <a:extLst>
              <a:ext uri="{FF2B5EF4-FFF2-40B4-BE49-F238E27FC236}">
                <a16:creationId xmlns:a16="http://schemas.microsoft.com/office/drawing/2014/main" id="{D7576710-1C3E-4618-B46A-CF4EB01DA9BC}"/>
              </a:ext>
            </a:extLst>
          </p:cNvPr>
          <p:cNvSpPr>
            <a:spLocks noGrp="1"/>
          </p:cNvSpPr>
          <p:nvPr/>
        </p:nvSpPr>
        <p:spPr>
          <a:xfrm>
            <a:off x="868680" y="3673611"/>
            <a:ext cx="502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0" name="Shape 15">
            <a:extLst>
              <a:ext uri="{FF2B5EF4-FFF2-40B4-BE49-F238E27FC236}">
                <a16:creationId xmlns:a16="http://schemas.microsoft.com/office/drawing/2014/main" id="{3316F20E-57CA-453A-AA64-97C6A8DBA74C}"/>
              </a:ext>
            </a:extLst>
          </p:cNvPr>
          <p:cNvSpPr>
            <a:spLocks noGrp="1"/>
          </p:cNvSpPr>
          <p:nvPr/>
        </p:nvSpPr>
        <p:spPr>
          <a:xfrm>
            <a:off x="1600200" y="3463011"/>
            <a:ext cx="9738000" cy="983868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1" name="Text 16">
            <a:extLst>
              <a:ext uri="{FF2B5EF4-FFF2-40B4-BE49-F238E27FC236}">
                <a16:creationId xmlns:a16="http://schemas.microsoft.com/office/drawing/2014/main" id="{B5CEC699-69E3-4A7B-806A-89B814E56356}"/>
              </a:ext>
            </a:extLst>
          </p:cNvPr>
          <p:cNvSpPr>
            <a:spLocks noGrp="1"/>
          </p:cNvSpPr>
          <p:nvPr/>
        </p:nvSpPr>
        <p:spPr>
          <a:xfrm>
            <a:off x="1801440" y="3600171"/>
            <a:ext cx="9335520" cy="2194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2 · No duplicar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2" name="Text 17">
            <a:extLst>
              <a:ext uri="{FF2B5EF4-FFF2-40B4-BE49-F238E27FC236}">
                <a16:creationId xmlns:a16="http://schemas.microsoft.com/office/drawing/2014/main" id="{13196C10-1A9F-4692-B12C-4D0017F73B7F}"/>
              </a:ext>
            </a:extLst>
          </p:cNvPr>
          <p:cNvSpPr>
            <a:spLocks noGrp="1"/>
          </p:cNvSpPr>
          <p:nvPr/>
        </p:nvSpPr>
        <p:spPr>
          <a:xfrm>
            <a:off x="1856160" y="3903513"/>
            <a:ext cx="9226080" cy="4119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Same-turn dedupe + domain idempotency + redelivery handling.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3" name="Shape 18">
            <a:extLst>
              <a:ext uri="{FF2B5EF4-FFF2-40B4-BE49-F238E27FC236}">
                <a16:creationId xmlns:a16="http://schemas.microsoft.com/office/drawing/2014/main" id="{0FC8D6BA-D3ED-47B8-A7D2-5146AB2D23EE}"/>
              </a:ext>
            </a:extLst>
          </p:cNvPr>
          <p:cNvSpPr>
            <a:spLocks noGrp="1"/>
          </p:cNvSpPr>
          <p:nvPr/>
        </p:nvSpPr>
        <p:spPr>
          <a:xfrm>
            <a:off x="868680" y="4725171"/>
            <a:ext cx="502560" cy="502560"/>
          </a:xfrm>
          <a:prstGeom prst="ellipse">
            <a:avLst/>
          </a:prstGeom>
          <a:solidFill>
            <a:srgbClr val="F39A2B"/>
          </a:solidFill>
          <a:ln w="12700">
            <a:solidFill>
              <a:srgbClr val="F39A2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4" name="Text 19">
            <a:extLst>
              <a:ext uri="{FF2B5EF4-FFF2-40B4-BE49-F238E27FC236}">
                <a16:creationId xmlns:a16="http://schemas.microsoft.com/office/drawing/2014/main" id="{4F61BFFD-984D-4A21-BD93-BD34B8ED8096}"/>
              </a:ext>
            </a:extLst>
          </p:cNvPr>
          <p:cNvSpPr>
            <a:spLocks noGrp="1"/>
          </p:cNvSpPr>
          <p:nvPr/>
        </p:nvSpPr>
        <p:spPr>
          <a:xfrm>
            <a:off x="868680" y="4843971"/>
            <a:ext cx="502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5" name="Shape 20">
            <a:extLst>
              <a:ext uri="{FF2B5EF4-FFF2-40B4-BE49-F238E27FC236}">
                <a16:creationId xmlns:a16="http://schemas.microsoft.com/office/drawing/2014/main" id="{D654FDA2-D2EC-4A10-AF26-C70C8AFC9042}"/>
              </a:ext>
            </a:extLst>
          </p:cNvPr>
          <p:cNvSpPr>
            <a:spLocks noGrp="1"/>
          </p:cNvSpPr>
          <p:nvPr/>
        </p:nvSpPr>
        <p:spPr>
          <a:xfrm>
            <a:off x="1600200" y="4633730"/>
            <a:ext cx="9738000" cy="983867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6" name="Text 21">
            <a:extLst>
              <a:ext uri="{FF2B5EF4-FFF2-40B4-BE49-F238E27FC236}">
                <a16:creationId xmlns:a16="http://schemas.microsoft.com/office/drawing/2014/main" id="{ED1153E9-3E03-42F4-8EB2-CCB63C127452}"/>
              </a:ext>
            </a:extLst>
          </p:cNvPr>
          <p:cNvSpPr>
            <a:spLocks noGrp="1"/>
          </p:cNvSpPr>
          <p:nvPr/>
        </p:nvSpPr>
        <p:spPr>
          <a:xfrm>
            <a:off x="1801440" y="4770891"/>
            <a:ext cx="9335520" cy="2194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3 · Reanudar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7" name="Text 22">
            <a:extLst>
              <a:ext uri="{FF2B5EF4-FFF2-40B4-BE49-F238E27FC236}">
                <a16:creationId xmlns:a16="http://schemas.microsoft.com/office/drawing/2014/main" id="{3E5A96B2-07AB-46B3-9B63-F790773C9791}"/>
              </a:ext>
            </a:extLst>
          </p:cNvPr>
          <p:cNvSpPr>
            <a:spLocks noGrp="1"/>
          </p:cNvSpPr>
          <p:nvPr/>
        </p:nvSpPr>
        <p:spPr>
          <a:xfrm>
            <a:off x="1856160" y="5064293"/>
            <a:ext cx="9226080" cy="458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Checkpointer preserva pending action; resume reutiliza thread.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8" name="Shape 23">
            <a:extLst>
              <a:ext uri="{FF2B5EF4-FFF2-40B4-BE49-F238E27FC236}">
                <a16:creationId xmlns:a16="http://schemas.microsoft.com/office/drawing/2014/main" id="{F6668194-9FAE-481C-A98E-28238609DE8E}"/>
              </a:ext>
            </a:extLst>
          </p:cNvPr>
          <p:cNvSpPr>
            <a:spLocks noGrp="1"/>
          </p:cNvSpPr>
          <p:nvPr/>
        </p:nvSpPr>
        <p:spPr>
          <a:xfrm>
            <a:off x="868680" y="5803512"/>
            <a:ext cx="10725480" cy="616121"/>
          </a:xfrm>
          <a:prstGeom prst="roundRect">
            <a:avLst>
              <a:gd name="adj" fmla="val 15385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9" name="Text 24">
            <a:extLst>
              <a:ext uri="{FF2B5EF4-FFF2-40B4-BE49-F238E27FC236}">
                <a16:creationId xmlns:a16="http://schemas.microsoft.com/office/drawing/2014/main" id="{5F78741C-658D-4901-9569-67A1323FFA9D}"/>
              </a:ext>
            </a:extLst>
          </p:cNvPr>
          <p:cNvSpPr>
            <a:spLocks noGrp="1"/>
          </p:cNvSpPr>
          <p:nvPr/>
        </p:nvSpPr>
        <p:spPr>
          <a:xfrm>
            <a:off x="1007918" y="5914090"/>
            <a:ext cx="10440082" cy="44293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20000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Retry sólo es legítimo si cambia evidencia, estado o estrategia.</a:t>
            </a:r>
          </a:p>
        </p:txBody>
      </p:sp>
      <p:pic>
        <p:nvPicPr>
          <p:cNvPr id="68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071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Shape 0">
            <a:extLst>
              <a:ext uri="{FF2B5EF4-FFF2-40B4-BE49-F238E27FC236}">
                <a16:creationId xmlns:a16="http://schemas.microsoft.com/office/drawing/2014/main" id="{74D908D3-C8D1-4000-BC1F-B8F0F86870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8" name="Text 1">
            <a:extLst>
              <a:ext uri="{FF2B5EF4-FFF2-40B4-BE49-F238E27FC236}">
                <a16:creationId xmlns:a16="http://schemas.microsoft.com/office/drawing/2014/main" id="{169A201C-7EE3-411D-8AF9-3DB0249F1459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EL MISMO CORE OPERA EN ENTORNOS DISTINTOS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9" name="Text 2">
            <a:extLst>
              <a:ext uri="{FF2B5EF4-FFF2-40B4-BE49-F238E27FC236}">
                <a16:creationId xmlns:a16="http://schemas.microsoft.com/office/drawing/2014/main" id="{6F13477C-4E13-4D00-9218-DDC6F14AE0FC}"/>
              </a:ext>
            </a:extLst>
          </p:cNvPr>
          <p:cNvSpPr>
            <a:spLocks noGrp="1"/>
          </p:cNvSpPr>
          <p:nvPr/>
        </p:nvSpPr>
        <p:spPr>
          <a:xfrm>
            <a:off x="535101" y="942127"/>
            <a:ext cx="10426941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Web y Telegram son interactivos; scheduled tasks y heartbeat no tienen un usuario esperando el mismo turn.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0" name="Text 3">
            <a:extLst>
              <a:ext uri="{FF2B5EF4-FFF2-40B4-BE49-F238E27FC236}">
                <a16:creationId xmlns:a16="http://schemas.microsoft.com/office/drawing/2014/main" id="{AD37A698-20FC-468E-93D2-F8B0A07EA4D9}"/>
              </a:ext>
            </a:extLst>
          </p:cNvPr>
          <p:cNvSpPr>
            <a:spLocks noGrp="1"/>
          </p:cNvSpPr>
          <p:nvPr/>
        </p:nvSpPr>
        <p:spPr>
          <a:xfrm>
            <a:off x="566999" y="1816086"/>
            <a:ext cx="10542961" cy="6391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Channel cambia surface, approval/retry semantics y evidence; no authority.</a:t>
            </a:r>
            <a:endParaRPr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2" name="Text 5">
            <a:extLst>
              <a:ext uri="{FF2B5EF4-FFF2-40B4-BE49-F238E27FC236}">
                <a16:creationId xmlns:a16="http://schemas.microsoft.com/office/drawing/2014/main" id="{B667CD0E-71FE-45D8-944D-6FB3B29AC9C7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3" name="Text 6">
            <a:extLst>
              <a:ext uri="{FF2B5EF4-FFF2-40B4-BE49-F238E27FC236}">
                <a16:creationId xmlns:a16="http://schemas.microsoft.com/office/drawing/2014/main" id="{F4EAA7B9-9505-4A39-8803-AFCA5A501AC4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4" name="Text 7">
            <a:extLst>
              <a:ext uri="{FF2B5EF4-FFF2-40B4-BE49-F238E27FC236}">
                <a16:creationId xmlns:a16="http://schemas.microsoft.com/office/drawing/2014/main" id="{1AECC926-D0AF-450B-92A9-9E85801E5815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13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5" name="Shape 8">
            <a:extLst>
              <a:ext uri="{FF2B5EF4-FFF2-40B4-BE49-F238E27FC236}">
                <a16:creationId xmlns:a16="http://schemas.microsoft.com/office/drawing/2014/main" id="{F1977737-EE53-4062-B8EA-13825F3C4220}"/>
              </a:ext>
            </a:extLst>
          </p:cNvPr>
          <p:cNvSpPr>
            <a:spLocks noGrp="1"/>
          </p:cNvSpPr>
          <p:nvPr/>
        </p:nvSpPr>
        <p:spPr>
          <a:xfrm>
            <a:off x="685800" y="2793020"/>
            <a:ext cx="5211720" cy="27885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6" name="Text 9">
            <a:extLst>
              <a:ext uri="{FF2B5EF4-FFF2-40B4-BE49-F238E27FC236}">
                <a16:creationId xmlns:a16="http://schemas.microsoft.com/office/drawing/2014/main" id="{384B7E18-6DA2-4E3A-8DF6-8677EE580D2B}"/>
              </a:ext>
            </a:extLst>
          </p:cNvPr>
          <p:cNvSpPr>
            <a:spLocks noGrp="1"/>
          </p:cNvSpPr>
          <p:nvPr/>
        </p:nvSpPr>
        <p:spPr>
          <a:xfrm>
            <a:off x="822960" y="293918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INTERACTIVO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7" name="Text 10">
            <a:extLst>
              <a:ext uri="{FF2B5EF4-FFF2-40B4-BE49-F238E27FC236}">
                <a16:creationId xmlns:a16="http://schemas.microsoft.com/office/drawing/2014/main" id="{BF2F62C5-933B-4EE1-8894-11F1CB03CDAE}"/>
              </a:ext>
            </a:extLst>
          </p:cNvPr>
          <p:cNvSpPr>
            <a:spLocks noGrp="1"/>
          </p:cNvSpPr>
          <p:nvPr/>
        </p:nvSpPr>
        <p:spPr>
          <a:xfrm>
            <a:off x="867162" y="3288458"/>
            <a:ext cx="48092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Web / Telegram necesita: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8" name="Text 11">
            <a:extLst>
              <a:ext uri="{FF2B5EF4-FFF2-40B4-BE49-F238E27FC236}">
                <a16:creationId xmlns:a16="http://schemas.microsoft.com/office/drawing/2014/main" id="{BC46776A-8DA9-4233-AEF4-B7ACED3DA96A}"/>
              </a:ext>
            </a:extLst>
          </p:cNvPr>
          <p:cNvSpPr>
            <a:spLocks noGrp="1"/>
          </p:cNvSpPr>
          <p:nvPr/>
        </p:nvSpPr>
        <p:spPr>
          <a:xfrm>
            <a:off x="941760" y="3780500"/>
            <a:ext cx="4809240" cy="163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Auth + session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Streaming / messaging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HITL surface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Cross-channel identity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Post-turn flush</a:t>
            </a:r>
          </a:p>
        </p:txBody>
      </p:sp>
      <p:sp>
        <p:nvSpPr>
          <p:cNvPr id="479" name="Shape 12">
            <a:extLst>
              <a:ext uri="{FF2B5EF4-FFF2-40B4-BE49-F238E27FC236}">
                <a16:creationId xmlns:a16="http://schemas.microsoft.com/office/drawing/2014/main" id="{91372C0F-C107-4E97-B053-A424B2AB88C1}"/>
              </a:ext>
            </a:extLst>
          </p:cNvPr>
          <p:cNvSpPr>
            <a:spLocks noGrp="1"/>
          </p:cNvSpPr>
          <p:nvPr/>
        </p:nvSpPr>
        <p:spPr>
          <a:xfrm>
            <a:off x="6153480" y="2793020"/>
            <a:ext cx="5367600" cy="27885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0" name="Text 13">
            <a:extLst>
              <a:ext uri="{FF2B5EF4-FFF2-40B4-BE49-F238E27FC236}">
                <a16:creationId xmlns:a16="http://schemas.microsoft.com/office/drawing/2014/main" id="{10DFEA9B-76B4-44A6-87F2-2AC93E0A56B5}"/>
              </a:ext>
            </a:extLst>
          </p:cNvPr>
          <p:cNvSpPr>
            <a:spLocks noGrp="1"/>
          </p:cNvSpPr>
          <p:nvPr/>
        </p:nvSpPr>
        <p:spPr>
          <a:xfrm>
            <a:off x="6446520" y="293918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ASÍNCRONO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1" name="Text 14">
            <a:extLst>
              <a:ext uri="{FF2B5EF4-FFF2-40B4-BE49-F238E27FC236}">
                <a16:creationId xmlns:a16="http://schemas.microsoft.com/office/drawing/2014/main" id="{277CAD91-0E67-4B85-97C6-CB9CC9C55260}"/>
              </a:ext>
            </a:extLst>
          </p:cNvPr>
          <p:cNvSpPr>
            <a:spLocks noGrp="1"/>
          </p:cNvSpPr>
          <p:nvPr/>
        </p:nvSpPr>
        <p:spPr>
          <a:xfrm>
            <a:off x="6441027" y="3268580"/>
            <a:ext cx="49374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Cron / heartbeat necesita: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2" name="Text 15">
            <a:extLst>
              <a:ext uri="{FF2B5EF4-FFF2-40B4-BE49-F238E27FC236}">
                <a16:creationId xmlns:a16="http://schemas.microsoft.com/office/drawing/2014/main" id="{857D2E0E-0096-40E0-94D1-4B45E711CF10}"/>
              </a:ext>
            </a:extLst>
          </p:cNvPr>
          <p:cNvSpPr>
            <a:spLocks noGrp="1"/>
          </p:cNvSpPr>
          <p:nvPr/>
        </p:nvSpPr>
        <p:spPr>
          <a:xfrm>
            <a:off x="6565320" y="3780500"/>
            <a:ext cx="4261565" cy="163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Persisted schedule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Risk-scoped policy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Wake-up / checklist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Delivery evidence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No blanket auto-approval</a:t>
            </a:r>
          </a:p>
        </p:txBody>
      </p:sp>
      <p:pic>
        <p:nvPicPr>
          <p:cNvPr id="49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530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0">
            <a:extLst>
              <a:ext uri="{FF2B5EF4-FFF2-40B4-BE49-F238E27FC236}">
                <a16:creationId xmlns:a16="http://schemas.microsoft.com/office/drawing/2014/main" id="{A882DA7A-3DA1-1A55-4EBA-9C75BDA6F6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6" name="Text 1">
            <a:extLst>
              <a:ext uri="{FF2B5EF4-FFF2-40B4-BE49-F238E27FC236}">
                <a16:creationId xmlns:a16="http://schemas.microsoft.com/office/drawing/2014/main" id="{DD354175-608D-1A71-E390-4A51460BF4E4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EL TURN LOOP Y EL WORK LOOP TIENEN OWNERS DISTINTOS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7" name="Text 2">
            <a:extLst>
              <a:ext uri="{FF2B5EF4-FFF2-40B4-BE49-F238E27FC236}">
                <a16:creationId xmlns:a16="http://schemas.microsoft.com/office/drawing/2014/main" id="{1F0F9BBB-715B-CCD0-D86A-82CE0AFC0591}"/>
              </a:ext>
            </a:extLst>
          </p:cNvPr>
          <p:cNvSpPr>
            <a:spLocks noGrp="1"/>
          </p:cNvSpPr>
          <p:nvPr/>
        </p:nvSpPr>
        <p:spPr>
          <a:xfrm>
            <a:off x="567000" y="715820"/>
            <a:ext cx="101952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86402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Una respuesta puede cerrar el turno; un commitment, Case o wake-up mantiene responsabilidad después.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8" name="Text 3">
            <a:extLst>
              <a:ext uri="{FF2B5EF4-FFF2-40B4-BE49-F238E27FC236}">
                <a16:creationId xmlns:a16="http://schemas.microsoft.com/office/drawing/2014/main" id="{582BD880-1DE5-1431-DDC0-428E681E3EE3}"/>
              </a:ext>
            </a:extLst>
          </p:cNvPr>
          <p:cNvSpPr>
            <a:spLocks noGrp="1"/>
          </p:cNvSpPr>
          <p:nvPr/>
        </p:nvSpPr>
        <p:spPr>
          <a:xfrm>
            <a:off x="567000" y="1416923"/>
            <a:ext cx="10698120" cy="5559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La arquitectura elige la raíz durable mínima; personal memory no es operational state.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0" name="Text 5">
            <a:extLst>
              <a:ext uri="{FF2B5EF4-FFF2-40B4-BE49-F238E27FC236}">
                <a16:creationId xmlns:a16="http://schemas.microsoft.com/office/drawing/2014/main" id="{D2D2F6A2-EC10-697E-7210-5676009B1357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1" name="Text 6">
            <a:extLst>
              <a:ext uri="{FF2B5EF4-FFF2-40B4-BE49-F238E27FC236}">
                <a16:creationId xmlns:a16="http://schemas.microsoft.com/office/drawing/2014/main" id="{C8E8C1CA-69BD-676C-6D51-0F12A7F90997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2" name="Text 7">
            <a:extLst>
              <a:ext uri="{FF2B5EF4-FFF2-40B4-BE49-F238E27FC236}">
                <a16:creationId xmlns:a16="http://schemas.microsoft.com/office/drawing/2014/main" id="{782E3E29-A04F-D32C-CB78-16E7FAB75028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14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3" name="Shape 8">
            <a:extLst>
              <a:ext uri="{FF2B5EF4-FFF2-40B4-BE49-F238E27FC236}">
                <a16:creationId xmlns:a16="http://schemas.microsoft.com/office/drawing/2014/main" id="{9FDD9B24-9FEF-8229-883C-80F5E3ED9CB3}"/>
              </a:ext>
            </a:extLst>
          </p:cNvPr>
          <p:cNvSpPr>
            <a:spLocks noGrp="1"/>
          </p:cNvSpPr>
          <p:nvPr/>
        </p:nvSpPr>
        <p:spPr>
          <a:xfrm>
            <a:off x="9362660" y="3067601"/>
            <a:ext cx="2246243" cy="2150444"/>
          </a:xfrm>
          <a:prstGeom prst="roundRect">
            <a:avLst>
              <a:gd name="adj" fmla="val 7143"/>
            </a:avLst>
          </a:prstGeom>
          <a:solidFill>
            <a:srgbClr val="CC99FF">
              <a:alpha val="50000"/>
            </a:srgbClr>
          </a:solidFill>
          <a:ln w="12700">
            <a:solidFill>
              <a:srgbClr val="5F2CC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4" name="Text 9">
            <a:extLst>
              <a:ext uri="{FF2B5EF4-FFF2-40B4-BE49-F238E27FC236}">
                <a16:creationId xmlns:a16="http://schemas.microsoft.com/office/drawing/2014/main" id="{95D2BA50-8761-62A4-6805-2AC02C8CC3CE}"/>
              </a:ext>
            </a:extLst>
          </p:cNvPr>
          <p:cNvSpPr>
            <a:spLocks noGrp="1"/>
          </p:cNvSpPr>
          <p:nvPr/>
        </p:nvSpPr>
        <p:spPr>
          <a:xfrm>
            <a:off x="9556552" y="3244229"/>
            <a:ext cx="1892341" cy="5781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Tool call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5" name="Text 10">
            <a:extLst>
              <a:ext uri="{FF2B5EF4-FFF2-40B4-BE49-F238E27FC236}">
                <a16:creationId xmlns:a16="http://schemas.microsoft.com/office/drawing/2014/main" id="{62EF2D04-2D08-2831-76B6-C735FB76BBFC}"/>
              </a:ext>
            </a:extLst>
          </p:cNvPr>
          <p:cNvSpPr>
            <a:spLocks noGrp="1"/>
          </p:cNvSpPr>
          <p:nvPr/>
        </p:nvSpPr>
        <p:spPr>
          <a:xfrm>
            <a:off x="9434072" y="3913819"/>
            <a:ext cx="2107309" cy="11458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Efecto acotado y resultado inmediato.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7" name="Shape 12">
            <a:extLst>
              <a:ext uri="{FF2B5EF4-FFF2-40B4-BE49-F238E27FC236}">
                <a16:creationId xmlns:a16="http://schemas.microsoft.com/office/drawing/2014/main" id="{11D88C58-7E48-2E2C-33DF-5C4665E241AF}"/>
              </a:ext>
            </a:extLst>
          </p:cNvPr>
          <p:cNvSpPr>
            <a:spLocks noGrp="1"/>
          </p:cNvSpPr>
          <p:nvPr/>
        </p:nvSpPr>
        <p:spPr>
          <a:xfrm>
            <a:off x="6399652" y="2752257"/>
            <a:ext cx="2078085" cy="2257065"/>
          </a:xfrm>
          <a:prstGeom prst="roundRect">
            <a:avLst>
              <a:gd name="adj" fmla="val 7143"/>
            </a:avLst>
          </a:prstGeom>
          <a:solidFill>
            <a:srgbClr val="99FFCC">
              <a:alpha val="50000"/>
            </a:srgbClr>
          </a:solidFill>
          <a:ln w="12700">
            <a:solidFill>
              <a:srgbClr val="546080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8" name="Text 13">
            <a:extLst>
              <a:ext uri="{FF2B5EF4-FFF2-40B4-BE49-F238E27FC236}">
                <a16:creationId xmlns:a16="http://schemas.microsoft.com/office/drawing/2014/main" id="{3B491646-BE3F-253A-DC8F-525F168F7CF2}"/>
              </a:ext>
            </a:extLst>
          </p:cNvPr>
          <p:cNvSpPr>
            <a:spLocks noGrp="1"/>
          </p:cNvSpPr>
          <p:nvPr/>
        </p:nvSpPr>
        <p:spPr>
          <a:xfrm>
            <a:off x="6579030" y="2894243"/>
            <a:ext cx="1719329" cy="59726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Work / schedule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9" name="Text 14">
            <a:extLst>
              <a:ext uri="{FF2B5EF4-FFF2-40B4-BE49-F238E27FC236}">
                <a16:creationId xmlns:a16="http://schemas.microsoft.com/office/drawing/2014/main" id="{2F3F53C4-89BC-D87A-20F4-EDBD2E790419}"/>
              </a:ext>
            </a:extLst>
          </p:cNvPr>
          <p:cNvSpPr>
            <a:spLocks noGrp="1"/>
          </p:cNvSpPr>
          <p:nvPr/>
        </p:nvSpPr>
        <p:spPr>
          <a:xfrm>
            <a:off x="6530255" y="3699376"/>
            <a:ext cx="1869553" cy="9986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Unidad que espera, reintenta o despierta.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1" name="Shape 16">
            <a:extLst>
              <a:ext uri="{FF2B5EF4-FFF2-40B4-BE49-F238E27FC236}">
                <a16:creationId xmlns:a16="http://schemas.microsoft.com/office/drawing/2014/main" id="{A855A8B1-4B3B-1033-08E7-E229B114997E}"/>
              </a:ext>
            </a:extLst>
          </p:cNvPr>
          <p:cNvSpPr>
            <a:spLocks noGrp="1"/>
          </p:cNvSpPr>
          <p:nvPr/>
        </p:nvSpPr>
        <p:spPr>
          <a:xfrm>
            <a:off x="3366780" y="2484561"/>
            <a:ext cx="2078085" cy="2216647"/>
          </a:xfrm>
          <a:prstGeom prst="roundRect">
            <a:avLst>
              <a:gd name="adj" fmla="val 7143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078C53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2" name="Text 17">
            <a:extLst>
              <a:ext uri="{FF2B5EF4-FFF2-40B4-BE49-F238E27FC236}">
                <a16:creationId xmlns:a16="http://schemas.microsoft.com/office/drawing/2014/main" id="{1E4DFB1D-5C00-DAF8-1D3B-742BCF11A11B}"/>
              </a:ext>
            </a:extLst>
          </p:cNvPr>
          <p:cNvSpPr>
            <a:spLocks noGrp="1"/>
          </p:cNvSpPr>
          <p:nvPr/>
        </p:nvSpPr>
        <p:spPr>
          <a:xfrm>
            <a:off x="3546158" y="2697970"/>
            <a:ext cx="1719329" cy="5866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Case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3" name="Text 18">
            <a:extLst>
              <a:ext uri="{FF2B5EF4-FFF2-40B4-BE49-F238E27FC236}">
                <a16:creationId xmlns:a16="http://schemas.microsoft.com/office/drawing/2014/main" id="{479BCBCE-C877-5D81-254B-824FAEA9E464}"/>
              </a:ext>
            </a:extLst>
          </p:cNvPr>
          <p:cNvSpPr>
            <a:spLocks noGrp="1"/>
          </p:cNvSpPr>
          <p:nvPr/>
        </p:nvSpPr>
        <p:spPr>
          <a:xfrm>
            <a:off x="3497382" y="3414925"/>
            <a:ext cx="1849869" cy="11654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Responsabilidad durable con state, participants, policy y evidence.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5" name="Shape 20">
            <a:extLst>
              <a:ext uri="{FF2B5EF4-FFF2-40B4-BE49-F238E27FC236}">
                <a16:creationId xmlns:a16="http://schemas.microsoft.com/office/drawing/2014/main" id="{767E9E23-87D6-D399-C628-63AB925920D2}"/>
              </a:ext>
            </a:extLst>
          </p:cNvPr>
          <p:cNvSpPr>
            <a:spLocks noGrp="1"/>
          </p:cNvSpPr>
          <p:nvPr/>
        </p:nvSpPr>
        <p:spPr>
          <a:xfrm>
            <a:off x="566906" y="2246082"/>
            <a:ext cx="1907915" cy="2125076"/>
          </a:xfrm>
          <a:prstGeom prst="roundRect">
            <a:avLst>
              <a:gd name="adj" fmla="val 714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39A2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6" name="Text 21">
            <a:extLst>
              <a:ext uri="{FF2B5EF4-FFF2-40B4-BE49-F238E27FC236}">
                <a16:creationId xmlns:a16="http://schemas.microsoft.com/office/drawing/2014/main" id="{2843F256-14CC-937F-7108-B04F725DAD56}"/>
              </a:ext>
            </a:extLst>
          </p:cNvPr>
          <p:cNvSpPr>
            <a:spLocks noGrp="1"/>
          </p:cNvSpPr>
          <p:nvPr/>
        </p:nvSpPr>
        <p:spPr>
          <a:xfrm>
            <a:off x="715991" y="2434545"/>
            <a:ext cx="1594141" cy="56258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Operating domain</a:t>
            </a:r>
            <a:endParaRPr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7" name="Text 22">
            <a:extLst>
              <a:ext uri="{FF2B5EF4-FFF2-40B4-BE49-F238E27FC236}">
                <a16:creationId xmlns:a16="http://schemas.microsoft.com/office/drawing/2014/main" id="{63669163-2472-2609-3BF1-16ED831BAC0A}"/>
              </a:ext>
            </a:extLst>
          </p:cNvPr>
          <p:cNvSpPr>
            <a:spLocks noGrp="1"/>
          </p:cNvSpPr>
          <p:nvPr/>
        </p:nvSpPr>
        <p:spPr>
          <a:xfrm>
            <a:off x="613726" y="2960766"/>
            <a:ext cx="1815468" cy="12163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Semántica de negocio que agrupa responsabilidades reusando el kernel.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6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  <p:cxnSp>
        <p:nvCxnSpPr>
          <p:cNvPr id="361" name="Conector: angular 9"/>
          <p:cNvCxnSpPr>
            <a:stCxn id="265" idx="3"/>
            <a:endCxn id="261" idx="1"/>
          </p:cNvCxnSpPr>
          <p:nvPr/>
        </p:nvCxnSpPr>
        <p:spPr>
          <a:xfrm>
            <a:off x="2474821" y="3308620"/>
            <a:ext cx="891959" cy="284265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Conector: angular 14"/>
          <p:cNvCxnSpPr>
            <a:stCxn id="261" idx="3"/>
            <a:endCxn id="257" idx="1"/>
          </p:cNvCxnSpPr>
          <p:nvPr/>
        </p:nvCxnSpPr>
        <p:spPr>
          <a:xfrm>
            <a:off x="5444865" y="3592885"/>
            <a:ext cx="954787" cy="287905"/>
          </a:xfrm>
          <a:prstGeom prst="bentConnector3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Conector: angular 18"/>
          <p:cNvCxnSpPr>
            <a:stCxn id="257" idx="3"/>
            <a:endCxn id="253" idx="1"/>
          </p:cNvCxnSpPr>
          <p:nvPr/>
        </p:nvCxnSpPr>
        <p:spPr>
          <a:xfrm>
            <a:off x="8477737" y="3880790"/>
            <a:ext cx="884923" cy="262033"/>
          </a:xfrm>
          <a:prstGeom prst="bentConnector3">
            <a:avLst>
              <a:gd name="adj1" fmla="val 50000"/>
            </a:avLst>
          </a:prstGeom>
          <a:ln>
            <a:solidFill>
              <a:srgbClr val="746F9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22">
            <a:extLst>
              <a:ext uri="{FF2B5EF4-FFF2-40B4-BE49-F238E27FC236}">
                <a16:creationId xmlns:a16="http://schemas.microsoft.com/office/drawing/2014/main" id="{206A407A-8804-81B3-C1A6-9FC84EF2D345}"/>
              </a:ext>
            </a:extLst>
          </p:cNvPr>
          <p:cNvSpPr>
            <a:spLocks noGrp="1"/>
          </p:cNvSpPr>
          <p:nvPr/>
        </p:nvSpPr>
        <p:spPr>
          <a:xfrm>
            <a:off x="2481118" y="2866403"/>
            <a:ext cx="865783" cy="44183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i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  <a:ea typeface="Aptos"/>
                <a:cs typeface="Aptos"/>
              </a:rPr>
              <a:t>agrupa</a:t>
            </a:r>
            <a:endParaRPr sz="1200" b="1" i="1" u="none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Text 22">
            <a:extLst>
              <a:ext uri="{FF2B5EF4-FFF2-40B4-BE49-F238E27FC236}">
                <a16:creationId xmlns:a16="http://schemas.microsoft.com/office/drawing/2014/main" id="{8B156619-183E-3AC1-6407-70F99B2544E4}"/>
              </a:ext>
            </a:extLst>
          </p:cNvPr>
          <p:cNvSpPr>
            <a:spLocks noGrp="1"/>
          </p:cNvSpPr>
          <p:nvPr/>
        </p:nvSpPr>
        <p:spPr>
          <a:xfrm>
            <a:off x="5468385" y="3082162"/>
            <a:ext cx="899687" cy="44183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i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  <a:ea typeface="Aptos"/>
                <a:cs typeface="Aptos"/>
              </a:rPr>
              <a:t>coordina</a:t>
            </a:r>
            <a:endParaRPr sz="1200" b="1" i="1" u="none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Text 22">
            <a:extLst>
              <a:ext uri="{FF2B5EF4-FFF2-40B4-BE49-F238E27FC236}">
                <a16:creationId xmlns:a16="http://schemas.microsoft.com/office/drawing/2014/main" id="{07A10CED-1BA2-055D-3949-FC59D07DFA14}"/>
              </a:ext>
            </a:extLst>
          </p:cNvPr>
          <p:cNvSpPr>
            <a:spLocks noGrp="1"/>
          </p:cNvSpPr>
          <p:nvPr/>
        </p:nvSpPr>
        <p:spPr>
          <a:xfrm>
            <a:off x="8521133" y="3387276"/>
            <a:ext cx="783476" cy="44183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i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  <a:ea typeface="Aptos"/>
                <a:cs typeface="Aptos"/>
              </a:rPr>
              <a:t>se realiza mediante</a:t>
            </a:r>
            <a:endParaRPr sz="1200" b="1" i="1" u="none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Text 18">
            <a:extLst>
              <a:ext uri="{FF2B5EF4-FFF2-40B4-BE49-F238E27FC236}">
                <a16:creationId xmlns:a16="http://schemas.microsoft.com/office/drawing/2014/main" id="{07243253-56A4-A7BE-B07C-C4B42B326592}"/>
              </a:ext>
            </a:extLst>
          </p:cNvPr>
          <p:cNvSpPr>
            <a:spLocks noGrp="1"/>
          </p:cNvSpPr>
          <p:nvPr/>
        </p:nvSpPr>
        <p:spPr>
          <a:xfrm>
            <a:off x="6184693" y="5035085"/>
            <a:ext cx="2651194" cy="8968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Ej</a:t>
            </a:r>
            <a:r>
              <a:rPr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.: </a:t>
            </a:r>
            <a:r>
              <a:rPr sz="1200" b="1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reconsiderar</a:t>
            </a:r>
            <a:r>
              <a:rPr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mañana</a:t>
            </a:r>
            <a:endParaRPr sz="1200" b="1" u="none" dirty="0">
              <a:solidFill>
                <a:srgbClr val="6F68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Text 18">
            <a:extLst>
              <a:ext uri="{FF2B5EF4-FFF2-40B4-BE49-F238E27FC236}">
                <a16:creationId xmlns:a16="http://schemas.microsoft.com/office/drawing/2014/main" id="{F57873A9-E077-9E17-5EF8-0464E041EEE4}"/>
              </a:ext>
            </a:extLst>
          </p:cNvPr>
          <p:cNvSpPr>
            <a:spLocks noGrp="1"/>
          </p:cNvSpPr>
          <p:nvPr/>
        </p:nvSpPr>
        <p:spPr>
          <a:xfrm>
            <a:off x="3226456" y="4728553"/>
            <a:ext cx="2431464" cy="7951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Ej</a:t>
            </a:r>
            <a:r>
              <a:rPr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.: </a:t>
            </a:r>
            <a:r>
              <a:rPr sz="1200" b="1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mantener</a:t>
            </a:r>
            <a:r>
              <a:rPr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una</a:t>
            </a:r>
            <a:r>
              <a:rPr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oportunidad</a:t>
            </a:r>
            <a:r>
              <a:rPr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viva</a:t>
            </a:r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90B284CB-E804-3A65-2AC1-66D52252ECC3}"/>
              </a:ext>
            </a:extLst>
          </p:cNvPr>
          <p:cNvSpPr>
            <a:spLocks noGrp="1"/>
          </p:cNvSpPr>
          <p:nvPr/>
        </p:nvSpPr>
        <p:spPr>
          <a:xfrm>
            <a:off x="547028" y="4395828"/>
            <a:ext cx="2303978" cy="9216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Ej</a:t>
            </a:r>
            <a:r>
              <a:rPr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.: Relationship Operations</a:t>
            </a:r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6CE8AE74-6110-CE00-E83B-64D0ABA3678A}"/>
              </a:ext>
            </a:extLst>
          </p:cNvPr>
          <p:cNvSpPr>
            <a:spLocks noGrp="1"/>
          </p:cNvSpPr>
          <p:nvPr/>
        </p:nvSpPr>
        <p:spPr>
          <a:xfrm>
            <a:off x="9084619" y="5241384"/>
            <a:ext cx="2951667" cy="8968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Ej</a:t>
            </a:r>
            <a:r>
              <a:rPr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.: </a:t>
            </a:r>
            <a:r>
              <a:rPr sz="1200" b="1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enviar</a:t>
            </a:r>
            <a:r>
              <a:rPr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un </a:t>
            </a:r>
            <a:r>
              <a:rPr sz="1200" b="1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mensaje</a:t>
            </a:r>
            <a:r>
              <a:rPr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autorizado</a:t>
            </a:r>
            <a:endParaRPr sz="1200" b="1" u="none" dirty="0">
              <a:solidFill>
                <a:srgbClr val="6F68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4" name="Shape 41">
            <a:extLst>
              <a:ext uri="{FF2B5EF4-FFF2-40B4-BE49-F238E27FC236}">
                <a16:creationId xmlns:a16="http://schemas.microsoft.com/office/drawing/2014/main" id="{F6BA2A2C-7CD9-4DCB-56F0-137CA2F3165C}"/>
              </a:ext>
            </a:extLst>
          </p:cNvPr>
          <p:cNvSpPr>
            <a:spLocks noGrp="1"/>
          </p:cNvSpPr>
          <p:nvPr/>
        </p:nvSpPr>
        <p:spPr>
          <a:xfrm>
            <a:off x="545820" y="5823380"/>
            <a:ext cx="5728519" cy="614028"/>
          </a:xfrm>
          <a:prstGeom prst="roundRect">
            <a:avLst>
              <a:gd name="adj" fmla="val 8621"/>
            </a:avLst>
          </a:prstGeom>
          <a:solidFill>
            <a:srgbClr val="F0E9FF"/>
          </a:solidFill>
          <a:ln w="1524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2">
            <a:extLst>
              <a:ext uri="{FF2B5EF4-FFF2-40B4-BE49-F238E27FC236}">
                <a16:creationId xmlns:a16="http://schemas.microsoft.com/office/drawing/2014/main" id="{C37FAC06-5F26-8642-35A3-B350DC24DDCB}"/>
              </a:ext>
            </a:extLst>
          </p:cNvPr>
          <p:cNvSpPr>
            <a:spLocks noGrp="1"/>
          </p:cNvSpPr>
          <p:nvPr/>
        </p:nvSpPr>
        <p:spPr>
          <a:xfrm>
            <a:off x="715991" y="5951396"/>
            <a:ext cx="5468702" cy="35730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sz="1600" b="1" dirty="0">
                <a:solidFill>
                  <a:srgbClr val="6034D3"/>
                </a:solidFill>
                <a:latin typeface="Aptos"/>
                <a:ea typeface="Aptos"/>
                <a:cs typeface="Aptos"/>
              </a:rPr>
              <a:t>La </a:t>
            </a:r>
            <a:r>
              <a:rPr sz="1600" b="1" dirty="0" err="1">
                <a:solidFill>
                  <a:srgbClr val="6034D3"/>
                </a:solidFill>
                <a:latin typeface="Aptos"/>
                <a:ea typeface="Aptos"/>
                <a:cs typeface="Aptos"/>
              </a:rPr>
              <a:t>conversación</a:t>
            </a:r>
            <a:r>
              <a:rPr sz="1600" b="1" dirty="0">
                <a:solidFill>
                  <a:srgbClr val="6034D3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1" dirty="0" err="1">
                <a:solidFill>
                  <a:srgbClr val="6034D3"/>
                </a:solidFill>
                <a:latin typeface="Aptos"/>
                <a:ea typeface="Aptos"/>
                <a:cs typeface="Aptos"/>
              </a:rPr>
              <a:t>guía</a:t>
            </a:r>
            <a:r>
              <a:rPr sz="1600" b="1" dirty="0">
                <a:solidFill>
                  <a:srgbClr val="6034D3"/>
                </a:solidFill>
                <a:latin typeface="Aptos"/>
                <a:ea typeface="Aptos"/>
                <a:cs typeface="Aptos"/>
              </a:rPr>
              <a:t>; el owner durable </a:t>
            </a:r>
            <a:r>
              <a:rPr sz="1600" b="1" dirty="0" err="1">
                <a:solidFill>
                  <a:srgbClr val="6034D3"/>
                </a:solidFill>
                <a:latin typeface="Aptos"/>
                <a:ea typeface="Aptos"/>
                <a:cs typeface="Aptos"/>
              </a:rPr>
              <a:t>conserva</a:t>
            </a:r>
            <a:r>
              <a:rPr sz="1600" b="1" dirty="0">
                <a:solidFill>
                  <a:srgbClr val="6034D3"/>
                </a:solidFill>
                <a:latin typeface="Aptos"/>
                <a:ea typeface="Aptos"/>
                <a:cs typeface="Aptos"/>
              </a:rPr>
              <a:t> la </a:t>
            </a:r>
            <a:r>
              <a:rPr sz="1600" b="1" dirty="0" err="1">
                <a:solidFill>
                  <a:srgbClr val="6034D3"/>
                </a:solidFill>
                <a:latin typeface="Aptos"/>
                <a:ea typeface="Aptos"/>
                <a:cs typeface="Aptos"/>
              </a:rPr>
              <a:t>verdad</a:t>
            </a:r>
            <a:r>
              <a:rPr sz="1600" b="1" dirty="0">
                <a:solidFill>
                  <a:srgbClr val="6034D3"/>
                </a:solidFill>
                <a:latin typeface="Aptos"/>
                <a:ea typeface="Aptos"/>
                <a:cs typeface="Aptos"/>
              </a:rPr>
              <a:t>.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25335818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Shape 0">
            <a:extLst>
              <a:ext uri="{FF2B5EF4-FFF2-40B4-BE49-F238E27FC236}">
                <a16:creationId xmlns:a16="http://schemas.microsoft.com/office/drawing/2014/main" id="{4B4172A0-99B8-4508-9E7D-AFCBD1AC09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6" name="Text 1">
            <a:extLst>
              <a:ext uri="{FF2B5EF4-FFF2-40B4-BE49-F238E27FC236}">
                <a16:creationId xmlns:a16="http://schemas.microsoft.com/office/drawing/2014/main" id="{4B280F5E-4D21-42CD-8612-7B82CCB3F3DF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OBSERVABILITY DEBE RECONSTRUIR QUÉ PASÓ Y POR QUÉ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7" name="Text 2">
            <a:extLst>
              <a:ext uri="{FF2B5EF4-FFF2-40B4-BE49-F238E27FC236}">
                <a16:creationId xmlns:a16="http://schemas.microsoft.com/office/drawing/2014/main" id="{A317ACC4-F6DE-40CA-B510-C02C45113F27}"/>
              </a:ext>
            </a:extLst>
          </p:cNvPr>
          <p:cNvSpPr>
            <a:spLocks noGrp="1"/>
          </p:cNvSpPr>
          <p:nvPr/>
        </p:nvSpPr>
        <p:spPr>
          <a:xfrm>
            <a:off x="566999" y="804600"/>
            <a:ext cx="10375983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Logs y usage depuran runtime; hosted evidence y outcomes prueban claims distintos.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8" name="Text 3">
            <a:extLst>
              <a:ext uri="{FF2B5EF4-FFF2-40B4-BE49-F238E27FC236}">
                <a16:creationId xmlns:a16="http://schemas.microsoft.com/office/drawing/2014/main" id="{4042EA47-16DE-4A48-954E-C520CD2F38A3}"/>
              </a:ext>
            </a:extLst>
          </p:cNvPr>
          <p:cNvSpPr>
            <a:spLocks noGrp="1"/>
          </p:cNvSpPr>
          <p:nvPr/>
        </p:nvSpPr>
        <p:spPr>
          <a:xfrm>
            <a:off x="567000" y="1591200"/>
            <a:ext cx="10698120" cy="5645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No registrar suficiente impide recovery; registrar contenido sensible crea otro riesgo.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0" name="Text 5">
            <a:extLst>
              <a:ext uri="{FF2B5EF4-FFF2-40B4-BE49-F238E27FC236}">
                <a16:creationId xmlns:a16="http://schemas.microsoft.com/office/drawing/2014/main" id="{71EEBA0C-6625-4B78-9AA1-1C627BEE1115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1" name="Text 6">
            <a:extLst>
              <a:ext uri="{FF2B5EF4-FFF2-40B4-BE49-F238E27FC236}">
                <a16:creationId xmlns:a16="http://schemas.microsoft.com/office/drawing/2014/main" id="{CE3EE3EE-0098-404D-8978-5893FCC08782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2" name="Text 7">
            <a:extLst>
              <a:ext uri="{FF2B5EF4-FFF2-40B4-BE49-F238E27FC236}">
                <a16:creationId xmlns:a16="http://schemas.microsoft.com/office/drawing/2014/main" id="{ADA63A47-13B1-42C4-8EE0-76B5F1619E3E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15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3" name="Shape 8">
            <a:extLst>
              <a:ext uri="{FF2B5EF4-FFF2-40B4-BE49-F238E27FC236}">
                <a16:creationId xmlns:a16="http://schemas.microsoft.com/office/drawing/2014/main" id="{12D6034E-F669-430F-B740-CE69B0B5AF8F}"/>
              </a:ext>
            </a:extLst>
          </p:cNvPr>
          <p:cNvSpPr>
            <a:spLocks noGrp="1"/>
          </p:cNvSpPr>
          <p:nvPr/>
        </p:nvSpPr>
        <p:spPr>
          <a:xfrm>
            <a:off x="868680" y="2483481"/>
            <a:ext cx="502560" cy="502560"/>
          </a:xfrm>
          <a:prstGeom prst="ellipse">
            <a:avLst/>
          </a:prstGeom>
          <a:solidFill>
            <a:srgbClr val="5F2CCB"/>
          </a:solidFill>
          <a:ln w="12700">
            <a:solidFill>
              <a:srgbClr val="5F2CC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4" name="Text 9">
            <a:extLst>
              <a:ext uri="{FF2B5EF4-FFF2-40B4-BE49-F238E27FC236}">
                <a16:creationId xmlns:a16="http://schemas.microsoft.com/office/drawing/2014/main" id="{23DE94D4-7EF1-47E1-BD23-51001D3CB0D1}"/>
              </a:ext>
            </a:extLst>
          </p:cNvPr>
          <p:cNvSpPr>
            <a:spLocks noGrp="1"/>
          </p:cNvSpPr>
          <p:nvPr/>
        </p:nvSpPr>
        <p:spPr>
          <a:xfrm>
            <a:off x="868680" y="2602281"/>
            <a:ext cx="502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5" name="Shape 10">
            <a:extLst>
              <a:ext uri="{FF2B5EF4-FFF2-40B4-BE49-F238E27FC236}">
                <a16:creationId xmlns:a16="http://schemas.microsoft.com/office/drawing/2014/main" id="{B6E1A1F0-643D-4CB3-91D2-55BCB19BAE3A}"/>
              </a:ext>
            </a:extLst>
          </p:cNvPr>
          <p:cNvSpPr>
            <a:spLocks noGrp="1"/>
          </p:cNvSpPr>
          <p:nvPr/>
        </p:nvSpPr>
        <p:spPr>
          <a:xfrm>
            <a:off x="1600200" y="2392041"/>
            <a:ext cx="9738000" cy="874068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6" name="Text 11">
            <a:extLst>
              <a:ext uri="{FF2B5EF4-FFF2-40B4-BE49-F238E27FC236}">
                <a16:creationId xmlns:a16="http://schemas.microsoft.com/office/drawing/2014/main" id="{FB714849-831E-4414-A7C0-FA5B33752BAB}"/>
              </a:ext>
            </a:extLst>
          </p:cNvPr>
          <p:cNvSpPr>
            <a:spLocks noGrp="1"/>
          </p:cNvSpPr>
          <p:nvPr/>
        </p:nvSpPr>
        <p:spPr>
          <a:xfrm>
            <a:off x="1801440" y="2529201"/>
            <a:ext cx="9335520" cy="2194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1 · Runtime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7" name="Text 12">
            <a:extLst>
              <a:ext uri="{FF2B5EF4-FFF2-40B4-BE49-F238E27FC236}">
                <a16:creationId xmlns:a16="http://schemas.microsoft.com/office/drawing/2014/main" id="{BAC24C04-E92C-4CF9-9793-4F4548B9E311}"/>
              </a:ext>
            </a:extLst>
          </p:cNvPr>
          <p:cNvSpPr>
            <a:spLocks noGrp="1"/>
          </p:cNvSpPr>
          <p:nvPr/>
        </p:nvSpPr>
        <p:spPr>
          <a:xfrm>
            <a:off x="1856160" y="2812665"/>
            <a:ext cx="9226080" cy="28028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Model role/id, latency/tokens, graph path, tool result, interrupt y refusal.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8" name="Shape 13">
            <a:extLst>
              <a:ext uri="{FF2B5EF4-FFF2-40B4-BE49-F238E27FC236}">
                <a16:creationId xmlns:a16="http://schemas.microsoft.com/office/drawing/2014/main" id="{8A45D319-DDF4-4CA6-B83C-A8E760C13EF3}"/>
              </a:ext>
            </a:extLst>
          </p:cNvPr>
          <p:cNvSpPr>
            <a:spLocks noGrp="1"/>
          </p:cNvSpPr>
          <p:nvPr/>
        </p:nvSpPr>
        <p:spPr>
          <a:xfrm>
            <a:off x="868680" y="3554451"/>
            <a:ext cx="502560" cy="50256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9" name="Text 14">
            <a:extLst>
              <a:ext uri="{FF2B5EF4-FFF2-40B4-BE49-F238E27FC236}">
                <a16:creationId xmlns:a16="http://schemas.microsoft.com/office/drawing/2014/main" id="{D7576710-1C3E-4618-B46A-CF4EB01DA9BC}"/>
              </a:ext>
            </a:extLst>
          </p:cNvPr>
          <p:cNvSpPr>
            <a:spLocks noGrp="1"/>
          </p:cNvSpPr>
          <p:nvPr/>
        </p:nvSpPr>
        <p:spPr>
          <a:xfrm>
            <a:off x="868680" y="3673611"/>
            <a:ext cx="502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0" name="Shape 15">
            <a:extLst>
              <a:ext uri="{FF2B5EF4-FFF2-40B4-BE49-F238E27FC236}">
                <a16:creationId xmlns:a16="http://schemas.microsoft.com/office/drawing/2014/main" id="{3316F20E-57CA-453A-AA64-97C6A8DBA74C}"/>
              </a:ext>
            </a:extLst>
          </p:cNvPr>
          <p:cNvSpPr>
            <a:spLocks noGrp="1"/>
          </p:cNvSpPr>
          <p:nvPr/>
        </p:nvSpPr>
        <p:spPr>
          <a:xfrm>
            <a:off x="1600200" y="3463011"/>
            <a:ext cx="9738000" cy="983868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1" name="Text 16">
            <a:extLst>
              <a:ext uri="{FF2B5EF4-FFF2-40B4-BE49-F238E27FC236}">
                <a16:creationId xmlns:a16="http://schemas.microsoft.com/office/drawing/2014/main" id="{B5CEC699-69E3-4A7B-806A-89B814E56356}"/>
              </a:ext>
            </a:extLst>
          </p:cNvPr>
          <p:cNvSpPr>
            <a:spLocks noGrp="1"/>
          </p:cNvSpPr>
          <p:nvPr/>
        </p:nvSpPr>
        <p:spPr>
          <a:xfrm>
            <a:off x="1801440" y="3600171"/>
            <a:ext cx="9335520" cy="2194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2 · Verification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2" name="Text 17">
            <a:extLst>
              <a:ext uri="{FF2B5EF4-FFF2-40B4-BE49-F238E27FC236}">
                <a16:creationId xmlns:a16="http://schemas.microsoft.com/office/drawing/2014/main" id="{13196C10-1A9F-4692-B12C-4D0017F73B7F}"/>
              </a:ext>
            </a:extLst>
          </p:cNvPr>
          <p:cNvSpPr>
            <a:spLocks noGrp="1"/>
          </p:cNvSpPr>
          <p:nvPr/>
        </p:nvSpPr>
        <p:spPr>
          <a:xfrm>
            <a:off x="1856160" y="3903513"/>
            <a:ext cx="9226080" cy="4119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Selftests/evals, hosted path, negative tenancy/authority evidence y replay.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3" name="Shape 18">
            <a:extLst>
              <a:ext uri="{FF2B5EF4-FFF2-40B4-BE49-F238E27FC236}">
                <a16:creationId xmlns:a16="http://schemas.microsoft.com/office/drawing/2014/main" id="{0FC8D6BA-D3ED-47B8-A7D2-5146AB2D23EE}"/>
              </a:ext>
            </a:extLst>
          </p:cNvPr>
          <p:cNvSpPr>
            <a:spLocks noGrp="1"/>
          </p:cNvSpPr>
          <p:nvPr/>
        </p:nvSpPr>
        <p:spPr>
          <a:xfrm>
            <a:off x="868680" y="4725171"/>
            <a:ext cx="502560" cy="502560"/>
          </a:xfrm>
          <a:prstGeom prst="ellipse">
            <a:avLst/>
          </a:prstGeom>
          <a:solidFill>
            <a:srgbClr val="F39A2B"/>
          </a:solidFill>
          <a:ln w="12700">
            <a:solidFill>
              <a:srgbClr val="F39A2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4" name="Text 19">
            <a:extLst>
              <a:ext uri="{FF2B5EF4-FFF2-40B4-BE49-F238E27FC236}">
                <a16:creationId xmlns:a16="http://schemas.microsoft.com/office/drawing/2014/main" id="{4F61BFFD-984D-4A21-BD93-BD34B8ED8096}"/>
              </a:ext>
            </a:extLst>
          </p:cNvPr>
          <p:cNvSpPr>
            <a:spLocks noGrp="1"/>
          </p:cNvSpPr>
          <p:nvPr/>
        </p:nvSpPr>
        <p:spPr>
          <a:xfrm>
            <a:off x="868680" y="4843971"/>
            <a:ext cx="502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5" name="Shape 20">
            <a:extLst>
              <a:ext uri="{FF2B5EF4-FFF2-40B4-BE49-F238E27FC236}">
                <a16:creationId xmlns:a16="http://schemas.microsoft.com/office/drawing/2014/main" id="{D654FDA2-D2EC-4A10-AF26-C70C8AFC9042}"/>
              </a:ext>
            </a:extLst>
          </p:cNvPr>
          <p:cNvSpPr>
            <a:spLocks noGrp="1"/>
          </p:cNvSpPr>
          <p:nvPr/>
        </p:nvSpPr>
        <p:spPr>
          <a:xfrm>
            <a:off x="1600200" y="4633730"/>
            <a:ext cx="9738000" cy="983867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6" name="Text 21">
            <a:extLst>
              <a:ext uri="{FF2B5EF4-FFF2-40B4-BE49-F238E27FC236}">
                <a16:creationId xmlns:a16="http://schemas.microsoft.com/office/drawing/2014/main" id="{ED1153E9-3E03-42F4-8EB2-CCB63C127452}"/>
              </a:ext>
            </a:extLst>
          </p:cNvPr>
          <p:cNvSpPr>
            <a:spLocks noGrp="1"/>
          </p:cNvSpPr>
          <p:nvPr/>
        </p:nvSpPr>
        <p:spPr>
          <a:xfrm>
            <a:off x="1801440" y="4770891"/>
            <a:ext cx="9335520" cy="2194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3 · Outcome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7" name="Text 22">
            <a:extLst>
              <a:ext uri="{FF2B5EF4-FFF2-40B4-BE49-F238E27FC236}">
                <a16:creationId xmlns:a16="http://schemas.microsoft.com/office/drawing/2014/main" id="{3E5A96B2-07AB-46B3-9B63-F790773C9791}"/>
              </a:ext>
            </a:extLst>
          </p:cNvPr>
          <p:cNvSpPr>
            <a:spLocks noGrp="1"/>
          </p:cNvSpPr>
          <p:nvPr/>
        </p:nvSpPr>
        <p:spPr>
          <a:xfrm>
            <a:off x="1856160" y="5064293"/>
            <a:ext cx="9226080" cy="458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Case/Impact/telemetry: qué cambió, no sólo actividad.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8" name="Shape 23">
            <a:extLst>
              <a:ext uri="{FF2B5EF4-FFF2-40B4-BE49-F238E27FC236}">
                <a16:creationId xmlns:a16="http://schemas.microsoft.com/office/drawing/2014/main" id="{F6668194-9FAE-481C-A98E-28238609DE8E}"/>
              </a:ext>
            </a:extLst>
          </p:cNvPr>
          <p:cNvSpPr>
            <a:spLocks noGrp="1"/>
          </p:cNvSpPr>
          <p:nvPr/>
        </p:nvSpPr>
        <p:spPr>
          <a:xfrm>
            <a:off x="868680" y="5803512"/>
            <a:ext cx="10725480" cy="616121"/>
          </a:xfrm>
          <a:prstGeom prst="roundRect">
            <a:avLst>
              <a:gd name="adj" fmla="val 15385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9" name="Text 24">
            <a:extLst>
              <a:ext uri="{FF2B5EF4-FFF2-40B4-BE49-F238E27FC236}">
                <a16:creationId xmlns:a16="http://schemas.microsoft.com/office/drawing/2014/main" id="{5F78741C-658D-4901-9569-67A1323FFA9D}"/>
              </a:ext>
            </a:extLst>
          </p:cNvPr>
          <p:cNvSpPr>
            <a:spLocks noGrp="1"/>
          </p:cNvSpPr>
          <p:nvPr/>
        </p:nvSpPr>
        <p:spPr>
          <a:xfrm>
            <a:off x="1007918" y="5914090"/>
            <a:ext cx="10440082" cy="44293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20000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Gap: memory selftests existen, pero no entran al aggregate root test:selftests.</a:t>
            </a:r>
          </a:p>
        </p:txBody>
      </p:sp>
      <p:pic>
        <p:nvPicPr>
          <p:cNvPr id="68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0714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Shape 0">
            <a:extLst>
              <a:ext uri="{FF2B5EF4-FFF2-40B4-BE49-F238E27FC236}">
                <a16:creationId xmlns:a16="http://schemas.microsoft.com/office/drawing/2014/main" id="{74D908D3-C8D1-4000-BC1F-B8F0F86870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8" name="Text 1">
            <a:extLst>
              <a:ext uri="{FF2B5EF4-FFF2-40B4-BE49-F238E27FC236}">
                <a16:creationId xmlns:a16="http://schemas.microsoft.com/office/drawing/2014/main" id="{169A201C-7EE3-411D-8AF9-3DB0249F1459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TRADE-OFFS EXPLÍCITOS HACEN EL HARNESS EVOLUCIONABLE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9" name="Text 2">
            <a:extLst>
              <a:ext uri="{FF2B5EF4-FFF2-40B4-BE49-F238E27FC236}">
                <a16:creationId xmlns:a16="http://schemas.microsoft.com/office/drawing/2014/main" id="{6F13477C-4E13-4D00-9218-DDC6F14AE0FC}"/>
              </a:ext>
            </a:extLst>
          </p:cNvPr>
          <p:cNvSpPr>
            <a:spLocks noGrp="1"/>
          </p:cNvSpPr>
          <p:nvPr/>
        </p:nvSpPr>
        <p:spPr>
          <a:xfrm>
            <a:off x="535101" y="942127"/>
            <a:ext cx="10426941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El diseño prioriza disponibilidad y autoridad acotada, con costos explícitos.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0" name="Text 3">
            <a:extLst>
              <a:ext uri="{FF2B5EF4-FFF2-40B4-BE49-F238E27FC236}">
                <a16:creationId xmlns:a16="http://schemas.microsoft.com/office/drawing/2014/main" id="{AD37A698-20FC-468E-93D2-F8B0A07EA4D9}"/>
              </a:ext>
            </a:extLst>
          </p:cNvPr>
          <p:cNvSpPr>
            <a:spLocks noGrp="1"/>
          </p:cNvSpPr>
          <p:nvPr/>
        </p:nvSpPr>
        <p:spPr>
          <a:xfrm>
            <a:off x="566999" y="1816086"/>
            <a:ext cx="10542961" cy="6391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Un gap no se arregla ampliando autonomía si el problema es observability, scope o state.</a:t>
            </a:r>
            <a:endParaRPr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2" name="Text 5">
            <a:extLst>
              <a:ext uri="{FF2B5EF4-FFF2-40B4-BE49-F238E27FC236}">
                <a16:creationId xmlns:a16="http://schemas.microsoft.com/office/drawing/2014/main" id="{B667CD0E-71FE-45D8-944D-6FB3B29AC9C7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3" name="Text 6">
            <a:extLst>
              <a:ext uri="{FF2B5EF4-FFF2-40B4-BE49-F238E27FC236}">
                <a16:creationId xmlns:a16="http://schemas.microsoft.com/office/drawing/2014/main" id="{F4EAA7B9-9505-4A39-8803-AFCA5A501AC4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4" name="Text 7">
            <a:extLst>
              <a:ext uri="{FF2B5EF4-FFF2-40B4-BE49-F238E27FC236}">
                <a16:creationId xmlns:a16="http://schemas.microsoft.com/office/drawing/2014/main" id="{1AECC926-D0AF-450B-92A9-9E85801E5815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16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5" name="Shape 8">
            <a:extLst>
              <a:ext uri="{FF2B5EF4-FFF2-40B4-BE49-F238E27FC236}">
                <a16:creationId xmlns:a16="http://schemas.microsoft.com/office/drawing/2014/main" id="{F1977737-EE53-4062-B8EA-13825F3C4220}"/>
              </a:ext>
            </a:extLst>
          </p:cNvPr>
          <p:cNvSpPr>
            <a:spLocks noGrp="1"/>
          </p:cNvSpPr>
          <p:nvPr/>
        </p:nvSpPr>
        <p:spPr>
          <a:xfrm>
            <a:off x="685800" y="2793020"/>
            <a:ext cx="5211720" cy="27885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6" name="Text 9">
            <a:extLst>
              <a:ext uri="{FF2B5EF4-FFF2-40B4-BE49-F238E27FC236}">
                <a16:creationId xmlns:a16="http://schemas.microsoft.com/office/drawing/2014/main" id="{384B7E18-6DA2-4E3A-8DF6-8677EE580D2B}"/>
              </a:ext>
            </a:extLst>
          </p:cNvPr>
          <p:cNvSpPr>
            <a:spLocks noGrp="1"/>
          </p:cNvSpPr>
          <p:nvPr/>
        </p:nvSpPr>
        <p:spPr>
          <a:xfrm>
            <a:off x="822960" y="293918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DECISIONES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7" name="Text 10">
            <a:extLst>
              <a:ext uri="{FF2B5EF4-FFF2-40B4-BE49-F238E27FC236}">
                <a16:creationId xmlns:a16="http://schemas.microsoft.com/office/drawing/2014/main" id="{BF2F62C5-933B-4EE1-8894-11F1CB03CDAE}"/>
              </a:ext>
            </a:extLst>
          </p:cNvPr>
          <p:cNvSpPr>
            <a:spLocks noGrp="1"/>
          </p:cNvSpPr>
          <p:nvPr/>
        </p:nvSpPr>
        <p:spPr>
          <a:xfrm>
            <a:off x="867162" y="3288458"/>
            <a:ext cx="48092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Qué ganamos: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8" name="Text 11">
            <a:extLst>
              <a:ext uri="{FF2B5EF4-FFF2-40B4-BE49-F238E27FC236}">
                <a16:creationId xmlns:a16="http://schemas.microsoft.com/office/drawing/2014/main" id="{BC46776A-8DA9-4233-AEF4-B7ACED3DA96A}"/>
              </a:ext>
            </a:extLst>
          </p:cNvPr>
          <p:cNvSpPr>
            <a:spLocks noGrp="1"/>
          </p:cNvSpPr>
          <p:nvPr/>
        </p:nvSpPr>
        <p:spPr>
          <a:xfrm>
            <a:off x="941760" y="3780500"/>
            <a:ext cx="4809240" cy="163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Memory best-effort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Flush fuera del graph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Role-specific models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Risk tiers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User-scoped memory</a:t>
            </a:r>
          </a:p>
        </p:txBody>
      </p:sp>
      <p:sp>
        <p:nvSpPr>
          <p:cNvPr id="479" name="Shape 12">
            <a:extLst>
              <a:ext uri="{FF2B5EF4-FFF2-40B4-BE49-F238E27FC236}">
                <a16:creationId xmlns:a16="http://schemas.microsoft.com/office/drawing/2014/main" id="{91372C0F-C107-4E97-B053-A424B2AB88C1}"/>
              </a:ext>
            </a:extLst>
          </p:cNvPr>
          <p:cNvSpPr>
            <a:spLocks noGrp="1"/>
          </p:cNvSpPr>
          <p:nvPr/>
        </p:nvSpPr>
        <p:spPr>
          <a:xfrm>
            <a:off x="6153480" y="2793020"/>
            <a:ext cx="5367600" cy="27885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0" name="Text 13">
            <a:extLst>
              <a:ext uri="{FF2B5EF4-FFF2-40B4-BE49-F238E27FC236}">
                <a16:creationId xmlns:a16="http://schemas.microsoft.com/office/drawing/2014/main" id="{10DFEA9B-76B4-44A6-87F2-2AC93E0A56B5}"/>
              </a:ext>
            </a:extLst>
          </p:cNvPr>
          <p:cNvSpPr>
            <a:spLocks noGrp="1"/>
          </p:cNvSpPr>
          <p:nvPr/>
        </p:nvSpPr>
        <p:spPr>
          <a:xfrm>
            <a:off x="6446520" y="293918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COSTOS / PREGUNTAS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1" name="Text 14">
            <a:extLst>
              <a:ext uri="{FF2B5EF4-FFF2-40B4-BE49-F238E27FC236}">
                <a16:creationId xmlns:a16="http://schemas.microsoft.com/office/drawing/2014/main" id="{277CAD91-0E67-4B85-97C6-CB9CC9C55260}"/>
              </a:ext>
            </a:extLst>
          </p:cNvPr>
          <p:cNvSpPr>
            <a:spLocks noGrp="1"/>
          </p:cNvSpPr>
          <p:nvPr/>
        </p:nvSpPr>
        <p:spPr>
          <a:xfrm>
            <a:off x="6441027" y="3268580"/>
            <a:ext cx="49374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Qué vigilamos: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2" name="Text 15">
            <a:extLst>
              <a:ext uri="{FF2B5EF4-FFF2-40B4-BE49-F238E27FC236}">
                <a16:creationId xmlns:a16="http://schemas.microsoft.com/office/drawing/2014/main" id="{857D2E0E-0096-40E0-94D1-4B45E711CF10}"/>
              </a:ext>
            </a:extLst>
          </p:cNvPr>
          <p:cNvSpPr>
            <a:spLocks noGrp="1"/>
          </p:cNvSpPr>
          <p:nvPr/>
        </p:nvSpPr>
        <p:spPr>
          <a:xfrm>
            <a:off x="6565320" y="3780500"/>
            <a:ext cx="4261565" cy="163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Silent degradation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Eventual consistency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Config drift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Operation-level policy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No organizational cognition</a:t>
            </a:r>
          </a:p>
        </p:txBody>
      </p:sp>
      <p:pic>
        <p:nvPicPr>
          <p:cNvPr id="49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5309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Shape 0">
            <a:extLst>
              <a:ext uri="{FF2B5EF4-FFF2-40B4-BE49-F238E27FC236}">
                <a16:creationId xmlns:a16="http://schemas.microsoft.com/office/drawing/2014/main" id="{068D2387-91A3-4A37-8C0A-E1F4C2B189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0" name="Text 1">
            <a:extLst>
              <a:ext uri="{FF2B5EF4-FFF2-40B4-BE49-F238E27FC236}">
                <a16:creationId xmlns:a16="http://schemas.microsoft.com/office/drawing/2014/main" id="{07CE398A-135A-495F-9B48-56598EE386C8}"/>
              </a:ext>
            </a:extLst>
          </p:cNvPr>
          <p:cNvSpPr>
            <a:spLocks noGrp="1"/>
          </p:cNvSpPr>
          <p:nvPr/>
        </p:nvSpPr>
        <p:spPr>
          <a:xfrm>
            <a:off x="567000" y="38109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CURRENT → PARTIAL → TARGET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1" name="Text 2">
            <a:extLst>
              <a:ext uri="{FF2B5EF4-FFF2-40B4-BE49-F238E27FC236}">
                <a16:creationId xmlns:a16="http://schemas.microsoft.com/office/drawing/2014/main" id="{A56FC0E7-BBD3-49B3-BE37-8AA683CBB9BD}"/>
              </a:ext>
            </a:extLst>
          </p:cNvPr>
          <p:cNvSpPr>
            <a:spLocks noGrp="1"/>
          </p:cNvSpPr>
          <p:nvPr/>
        </p:nvSpPr>
        <p:spPr>
          <a:xfrm>
            <a:off x="567000" y="650597"/>
            <a:ext cx="10195200" cy="5219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75674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El runtime actual ya es material; las siguientes mejoras parten de gaps comprobados.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2" name="Text 3">
            <a:extLst>
              <a:ext uri="{FF2B5EF4-FFF2-40B4-BE49-F238E27FC236}">
                <a16:creationId xmlns:a16="http://schemas.microsoft.com/office/drawing/2014/main" id="{B6C80F6D-5004-4B3A-97B0-D3CBA898C8F2}"/>
              </a:ext>
            </a:extLst>
          </p:cNvPr>
          <p:cNvSpPr>
            <a:spLocks noGrp="1"/>
          </p:cNvSpPr>
          <p:nvPr/>
        </p:nvSpPr>
        <p:spPr>
          <a:xfrm>
            <a:off x="567000" y="1219952"/>
            <a:ext cx="10698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Current exige code/tests; Partial nombra un path incompleto; Target deriva de architecture/roadmap.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4" name="Text 5">
            <a:extLst>
              <a:ext uri="{FF2B5EF4-FFF2-40B4-BE49-F238E27FC236}">
                <a16:creationId xmlns:a16="http://schemas.microsoft.com/office/drawing/2014/main" id="{7CB78A67-0BC4-41B1-A13D-D2DE4B729446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5" name="Text 6">
            <a:extLst>
              <a:ext uri="{FF2B5EF4-FFF2-40B4-BE49-F238E27FC236}">
                <a16:creationId xmlns:a16="http://schemas.microsoft.com/office/drawing/2014/main" id="{683A80DD-6F0C-4F61-B3B9-C43AD78BE542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6" name="Text 7">
            <a:extLst>
              <a:ext uri="{FF2B5EF4-FFF2-40B4-BE49-F238E27FC236}">
                <a16:creationId xmlns:a16="http://schemas.microsoft.com/office/drawing/2014/main" id="{CBA4BF8C-F7AB-4E65-9376-57584447DC0A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17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7" name="Shape 8">
            <a:extLst>
              <a:ext uri="{FF2B5EF4-FFF2-40B4-BE49-F238E27FC236}">
                <a16:creationId xmlns:a16="http://schemas.microsoft.com/office/drawing/2014/main" id="{280FE400-3E11-4E05-A493-1305095328D9}"/>
              </a:ext>
            </a:extLst>
          </p:cNvPr>
          <p:cNvSpPr>
            <a:spLocks noGrp="1"/>
          </p:cNvSpPr>
          <p:nvPr/>
        </p:nvSpPr>
        <p:spPr>
          <a:xfrm>
            <a:off x="594360" y="1674567"/>
            <a:ext cx="1892520" cy="347040"/>
          </a:xfrm>
          <a:prstGeom prst="roundRect">
            <a:avLst>
              <a:gd name="adj" fmla="val 21053"/>
            </a:avLst>
          </a:prstGeom>
          <a:solidFill>
            <a:srgbClr val="E8E3F7"/>
          </a:solidFill>
          <a:ln w="12700">
            <a:solidFill>
              <a:srgbClr val="E8E3F7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8" name="Text 9">
            <a:extLst>
              <a:ext uri="{FF2B5EF4-FFF2-40B4-BE49-F238E27FC236}">
                <a16:creationId xmlns:a16="http://schemas.microsoft.com/office/drawing/2014/main" id="{1212E377-D908-46F8-AF92-EA2A1733E733}"/>
              </a:ext>
            </a:extLst>
          </p:cNvPr>
          <p:cNvSpPr>
            <a:spLocks noGrp="1"/>
          </p:cNvSpPr>
          <p:nvPr/>
        </p:nvSpPr>
        <p:spPr>
          <a:xfrm>
            <a:off x="640080" y="1729647"/>
            <a:ext cx="18010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Responsabilidad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9" name="Shape 10">
            <a:extLst>
              <a:ext uri="{FF2B5EF4-FFF2-40B4-BE49-F238E27FC236}">
                <a16:creationId xmlns:a16="http://schemas.microsoft.com/office/drawing/2014/main" id="{34368E52-4134-4B44-ABA4-C112F47C623E}"/>
              </a:ext>
            </a:extLst>
          </p:cNvPr>
          <p:cNvSpPr>
            <a:spLocks noGrp="1"/>
          </p:cNvSpPr>
          <p:nvPr/>
        </p:nvSpPr>
        <p:spPr>
          <a:xfrm>
            <a:off x="2560320" y="1674567"/>
            <a:ext cx="2761200" cy="347040"/>
          </a:xfrm>
          <a:prstGeom prst="roundRect">
            <a:avLst>
              <a:gd name="adj" fmla="val 21053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0" name="Text 11">
            <a:extLst>
              <a:ext uri="{FF2B5EF4-FFF2-40B4-BE49-F238E27FC236}">
                <a16:creationId xmlns:a16="http://schemas.microsoft.com/office/drawing/2014/main" id="{ED5BD8B7-2739-4438-AE08-1AB7B8EFA83E}"/>
              </a:ext>
            </a:extLst>
          </p:cNvPr>
          <p:cNvSpPr>
            <a:spLocks noGrp="1"/>
          </p:cNvSpPr>
          <p:nvPr/>
        </p:nvSpPr>
        <p:spPr>
          <a:xfrm>
            <a:off x="2606040" y="1729647"/>
            <a:ext cx="26697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CURRENT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1" name="Shape 12">
            <a:extLst>
              <a:ext uri="{FF2B5EF4-FFF2-40B4-BE49-F238E27FC236}">
                <a16:creationId xmlns:a16="http://schemas.microsoft.com/office/drawing/2014/main" id="{D4389F78-392C-4258-948B-DC099B963288}"/>
              </a:ext>
            </a:extLst>
          </p:cNvPr>
          <p:cNvSpPr>
            <a:spLocks noGrp="1"/>
          </p:cNvSpPr>
          <p:nvPr/>
        </p:nvSpPr>
        <p:spPr>
          <a:xfrm>
            <a:off x="5394960" y="1674567"/>
            <a:ext cx="3081240" cy="347040"/>
          </a:xfrm>
          <a:prstGeom prst="roundRect">
            <a:avLst>
              <a:gd name="adj" fmla="val 21053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2" name="Text 13">
            <a:extLst>
              <a:ext uri="{FF2B5EF4-FFF2-40B4-BE49-F238E27FC236}">
                <a16:creationId xmlns:a16="http://schemas.microsoft.com/office/drawing/2014/main" id="{35FADD88-0043-47A1-923B-0170C66967CB}"/>
              </a:ext>
            </a:extLst>
          </p:cNvPr>
          <p:cNvSpPr>
            <a:spLocks noGrp="1"/>
          </p:cNvSpPr>
          <p:nvPr/>
        </p:nvSpPr>
        <p:spPr>
          <a:xfrm>
            <a:off x="5440680" y="1729647"/>
            <a:ext cx="29898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PARTIAL / NEXT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3" name="Shape 14">
            <a:extLst>
              <a:ext uri="{FF2B5EF4-FFF2-40B4-BE49-F238E27FC236}">
                <a16:creationId xmlns:a16="http://schemas.microsoft.com/office/drawing/2014/main" id="{3A4D5E7C-2CE7-4ED2-B487-1E97C26837A6}"/>
              </a:ext>
            </a:extLst>
          </p:cNvPr>
          <p:cNvSpPr>
            <a:spLocks noGrp="1"/>
          </p:cNvSpPr>
          <p:nvPr/>
        </p:nvSpPr>
        <p:spPr>
          <a:xfrm>
            <a:off x="8549640" y="1674567"/>
            <a:ext cx="3081240" cy="347040"/>
          </a:xfrm>
          <a:prstGeom prst="roundRect">
            <a:avLst>
              <a:gd name="adj" fmla="val 21053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4" name="Text 15">
            <a:extLst>
              <a:ext uri="{FF2B5EF4-FFF2-40B4-BE49-F238E27FC236}">
                <a16:creationId xmlns:a16="http://schemas.microsoft.com/office/drawing/2014/main" id="{1DF6EB2B-8627-4EC2-AC3E-839B2BB2D391}"/>
              </a:ext>
            </a:extLst>
          </p:cNvPr>
          <p:cNvSpPr>
            <a:spLocks noGrp="1"/>
          </p:cNvSpPr>
          <p:nvPr/>
        </p:nvSpPr>
        <p:spPr>
          <a:xfrm>
            <a:off x="8595360" y="1729647"/>
            <a:ext cx="29898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TARGET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5" name="Shape 16">
            <a:extLst>
              <a:ext uri="{FF2B5EF4-FFF2-40B4-BE49-F238E27FC236}">
                <a16:creationId xmlns:a16="http://schemas.microsoft.com/office/drawing/2014/main" id="{65FAA4C4-788B-46C2-9825-CA6798E83DA0}"/>
              </a:ext>
            </a:extLst>
          </p:cNvPr>
          <p:cNvSpPr>
            <a:spLocks noGrp="1"/>
          </p:cNvSpPr>
          <p:nvPr/>
        </p:nvSpPr>
        <p:spPr>
          <a:xfrm>
            <a:off x="594360" y="2122321"/>
            <a:ext cx="189252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6" name="Text 17">
            <a:extLst>
              <a:ext uri="{FF2B5EF4-FFF2-40B4-BE49-F238E27FC236}">
                <a16:creationId xmlns:a16="http://schemas.microsoft.com/office/drawing/2014/main" id="{C40B1278-78EA-445B-BD57-BE2943F47BE4}"/>
              </a:ext>
            </a:extLst>
          </p:cNvPr>
          <p:cNvSpPr>
            <a:spLocks noGrp="1"/>
          </p:cNvSpPr>
          <p:nvPr/>
        </p:nvSpPr>
        <p:spPr>
          <a:xfrm>
            <a:off x="667440" y="2195401"/>
            <a:ext cx="1746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i="1" u="none" dirty="0">
                <a:solidFill>
                  <a:srgbClr val="151327"/>
                </a:solidFill>
                <a:latin typeface="Aptos"/>
                <a:ea typeface="Aptos"/>
                <a:cs typeface="Aptos"/>
              </a:rPr>
              <a:t>Agent graph</a:t>
            </a:r>
            <a:endParaRPr sz="1400" b="0" i="1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7" name="Shape 18">
            <a:extLst>
              <a:ext uri="{FF2B5EF4-FFF2-40B4-BE49-F238E27FC236}">
                <a16:creationId xmlns:a16="http://schemas.microsoft.com/office/drawing/2014/main" id="{225FCE25-0FF0-4BA8-8C0A-54DA9BDBE47E}"/>
              </a:ext>
            </a:extLst>
          </p:cNvPr>
          <p:cNvSpPr>
            <a:spLocks noGrp="1"/>
          </p:cNvSpPr>
          <p:nvPr/>
        </p:nvSpPr>
        <p:spPr>
          <a:xfrm>
            <a:off x="2560320" y="2122321"/>
            <a:ext cx="276120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8" name="Text 19">
            <a:extLst>
              <a:ext uri="{FF2B5EF4-FFF2-40B4-BE49-F238E27FC236}">
                <a16:creationId xmlns:a16="http://schemas.microsoft.com/office/drawing/2014/main" id="{D5D85398-12C8-4F3C-828B-AB2E174617C8}"/>
              </a:ext>
            </a:extLst>
          </p:cNvPr>
          <p:cNvSpPr>
            <a:spLocks noGrp="1"/>
          </p:cNvSpPr>
          <p:nvPr/>
        </p:nvSpPr>
        <p:spPr>
          <a:xfrm>
            <a:off x="2633400" y="2216667"/>
            <a:ext cx="26146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memory injection + compaction + agent/tools + HITL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9" name="Shape 20">
            <a:extLst>
              <a:ext uri="{FF2B5EF4-FFF2-40B4-BE49-F238E27FC236}">
                <a16:creationId xmlns:a16="http://schemas.microsoft.com/office/drawing/2014/main" id="{9174AA93-E561-4233-8968-3A78AE76F936}"/>
              </a:ext>
            </a:extLst>
          </p:cNvPr>
          <p:cNvSpPr>
            <a:spLocks noGrp="1"/>
          </p:cNvSpPr>
          <p:nvPr/>
        </p:nvSpPr>
        <p:spPr>
          <a:xfrm>
            <a:off x="5394960" y="2122321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0" name="Text 21">
            <a:extLst>
              <a:ext uri="{FF2B5EF4-FFF2-40B4-BE49-F238E27FC236}">
                <a16:creationId xmlns:a16="http://schemas.microsoft.com/office/drawing/2014/main" id="{62E9A645-530F-4119-9221-556FFB8FD75B}"/>
              </a:ext>
            </a:extLst>
          </p:cNvPr>
          <p:cNvSpPr>
            <a:spLocks noGrp="1"/>
          </p:cNvSpPr>
          <p:nvPr/>
        </p:nvSpPr>
        <p:spPr>
          <a:xfrm>
            <a:off x="5468040" y="2156901"/>
            <a:ext cx="293472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Policy más granular y richer evidence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1" name="Shape 22">
            <a:extLst>
              <a:ext uri="{FF2B5EF4-FFF2-40B4-BE49-F238E27FC236}">
                <a16:creationId xmlns:a16="http://schemas.microsoft.com/office/drawing/2014/main" id="{F2BE6532-F179-4D4C-9A9E-FC13DFF4ACA3}"/>
              </a:ext>
            </a:extLst>
          </p:cNvPr>
          <p:cNvSpPr>
            <a:spLocks noGrp="1"/>
          </p:cNvSpPr>
          <p:nvPr/>
        </p:nvSpPr>
        <p:spPr>
          <a:xfrm>
            <a:off x="8549640" y="2122321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2" name="Text 23">
            <a:extLst>
              <a:ext uri="{FF2B5EF4-FFF2-40B4-BE49-F238E27FC236}">
                <a16:creationId xmlns:a16="http://schemas.microsoft.com/office/drawing/2014/main" id="{0A09A824-143F-4514-8B97-60160728274A}"/>
              </a:ext>
            </a:extLst>
          </p:cNvPr>
          <p:cNvSpPr>
            <a:spLocks noGrp="1"/>
          </p:cNvSpPr>
          <p:nvPr/>
        </p:nvSpPr>
        <p:spPr>
          <a:xfrm>
            <a:off x="8622720" y="2166526"/>
            <a:ext cx="2934720" cy="3179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Capability orchestration resiliente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3" name="Shape 24">
            <a:extLst>
              <a:ext uri="{FF2B5EF4-FFF2-40B4-BE49-F238E27FC236}">
                <a16:creationId xmlns:a16="http://schemas.microsoft.com/office/drawing/2014/main" id="{23616B52-E3A7-4FBB-8525-ABBE7585F6FA}"/>
              </a:ext>
            </a:extLst>
          </p:cNvPr>
          <p:cNvSpPr>
            <a:spLocks noGrp="1"/>
          </p:cNvSpPr>
          <p:nvPr/>
        </p:nvSpPr>
        <p:spPr>
          <a:xfrm>
            <a:off x="594360" y="2689321"/>
            <a:ext cx="189252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4" name="Text 25">
            <a:extLst>
              <a:ext uri="{FF2B5EF4-FFF2-40B4-BE49-F238E27FC236}">
                <a16:creationId xmlns:a16="http://schemas.microsoft.com/office/drawing/2014/main" id="{50C743EA-79F3-4CF9-A016-59D3E36C1114}"/>
              </a:ext>
            </a:extLst>
          </p:cNvPr>
          <p:cNvSpPr>
            <a:spLocks noGrp="1"/>
          </p:cNvSpPr>
          <p:nvPr/>
        </p:nvSpPr>
        <p:spPr>
          <a:xfrm>
            <a:off x="667440" y="2762401"/>
            <a:ext cx="1746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Context / memory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5" name="Shape 26">
            <a:extLst>
              <a:ext uri="{FF2B5EF4-FFF2-40B4-BE49-F238E27FC236}">
                <a16:creationId xmlns:a16="http://schemas.microsoft.com/office/drawing/2014/main" id="{674CC7C9-DCA0-4454-9485-0A23FBA43888}"/>
              </a:ext>
            </a:extLst>
          </p:cNvPr>
          <p:cNvSpPr>
            <a:spLocks noGrp="1"/>
          </p:cNvSpPr>
          <p:nvPr/>
        </p:nvSpPr>
        <p:spPr>
          <a:xfrm>
            <a:off x="2560320" y="2689321"/>
            <a:ext cx="276120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6" name="Text 27">
            <a:extLst>
              <a:ext uri="{FF2B5EF4-FFF2-40B4-BE49-F238E27FC236}">
                <a16:creationId xmlns:a16="http://schemas.microsoft.com/office/drawing/2014/main" id="{790622E9-411C-4047-89EC-C29E8729DEFE}"/>
              </a:ext>
            </a:extLst>
          </p:cNvPr>
          <p:cNvSpPr>
            <a:spLocks noGrp="1"/>
          </p:cNvSpPr>
          <p:nvPr/>
        </p:nvSpPr>
        <p:spPr>
          <a:xfrm>
            <a:off x="2633400" y="2775049"/>
            <a:ext cx="2642400" cy="29562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Personal memory 3 tipos + retrieval + flush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7" name="Shape 28">
            <a:extLst>
              <a:ext uri="{FF2B5EF4-FFF2-40B4-BE49-F238E27FC236}">
                <a16:creationId xmlns:a16="http://schemas.microsoft.com/office/drawing/2014/main" id="{BA8AE00E-A3B0-4C38-8D5E-ED7041DD187C}"/>
              </a:ext>
            </a:extLst>
          </p:cNvPr>
          <p:cNvSpPr>
            <a:spLocks noGrp="1"/>
          </p:cNvSpPr>
          <p:nvPr/>
        </p:nvSpPr>
        <p:spPr>
          <a:xfrm>
            <a:off x="5394960" y="2689321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8" name="Text 29">
            <a:extLst>
              <a:ext uri="{FF2B5EF4-FFF2-40B4-BE49-F238E27FC236}">
                <a16:creationId xmlns:a16="http://schemas.microsoft.com/office/drawing/2014/main" id="{0CF37F82-C0D7-4EDC-A5E8-AA32F8887821}"/>
              </a:ext>
            </a:extLst>
          </p:cNvPr>
          <p:cNvSpPr>
            <a:spLocks noGrp="1"/>
          </p:cNvSpPr>
          <p:nvPr/>
        </p:nvSpPr>
        <p:spPr>
          <a:xfrm>
            <a:off x="5468039" y="2714276"/>
            <a:ext cx="3007005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buNone/>
              <a:tabLst>
                <a:tab pos="0" algn="l"/>
              </a:tabLst>
            </a:pPr>
            <a:r>
              <a:rPr sz="125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Precision + tests aggregate</a:t>
            </a:r>
            <a:endParaRPr sz="12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9" name="Shape 30">
            <a:extLst>
              <a:ext uri="{FF2B5EF4-FFF2-40B4-BE49-F238E27FC236}">
                <a16:creationId xmlns:a16="http://schemas.microsoft.com/office/drawing/2014/main" id="{2810C883-8CF2-489A-AE18-623A16E9A4FC}"/>
              </a:ext>
            </a:extLst>
          </p:cNvPr>
          <p:cNvSpPr>
            <a:spLocks noGrp="1"/>
          </p:cNvSpPr>
          <p:nvPr/>
        </p:nvSpPr>
        <p:spPr>
          <a:xfrm>
            <a:off x="8549640" y="2689321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0" name="Text 31">
            <a:extLst>
              <a:ext uri="{FF2B5EF4-FFF2-40B4-BE49-F238E27FC236}">
                <a16:creationId xmlns:a16="http://schemas.microsoft.com/office/drawing/2014/main" id="{AC2EDA0B-9A5F-4C20-B03A-F6830CA884C2}"/>
              </a:ext>
            </a:extLst>
          </p:cNvPr>
          <p:cNvSpPr>
            <a:spLocks noGrp="1"/>
          </p:cNvSpPr>
          <p:nvPr/>
        </p:nvSpPr>
        <p:spPr>
          <a:xfrm>
            <a:off x="8622720" y="2744102"/>
            <a:ext cx="2934720" cy="3265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Scoped context compiler cross-surface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1" name="Shape 32">
            <a:extLst>
              <a:ext uri="{FF2B5EF4-FFF2-40B4-BE49-F238E27FC236}">
                <a16:creationId xmlns:a16="http://schemas.microsoft.com/office/drawing/2014/main" id="{EF884D38-DD74-401B-B715-ADBCCC198039}"/>
              </a:ext>
            </a:extLst>
          </p:cNvPr>
          <p:cNvSpPr>
            <a:spLocks noGrp="1"/>
          </p:cNvSpPr>
          <p:nvPr/>
        </p:nvSpPr>
        <p:spPr>
          <a:xfrm>
            <a:off x="594360" y="3256321"/>
            <a:ext cx="189252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2" name="Text 33">
            <a:extLst>
              <a:ext uri="{FF2B5EF4-FFF2-40B4-BE49-F238E27FC236}">
                <a16:creationId xmlns:a16="http://schemas.microsoft.com/office/drawing/2014/main" id="{8B885F3C-1AC5-4FDC-817D-1DB2660F6EF4}"/>
              </a:ext>
            </a:extLst>
          </p:cNvPr>
          <p:cNvSpPr>
            <a:spLocks noGrp="1"/>
          </p:cNvSpPr>
          <p:nvPr/>
        </p:nvSpPr>
        <p:spPr>
          <a:xfrm>
            <a:off x="667440" y="3329401"/>
            <a:ext cx="1746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i="1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Tools / authority</a:t>
            </a:r>
            <a:endParaRPr sz="1400" b="0" i="1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3" name="Shape 34">
            <a:extLst>
              <a:ext uri="{FF2B5EF4-FFF2-40B4-BE49-F238E27FC236}">
                <a16:creationId xmlns:a16="http://schemas.microsoft.com/office/drawing/2014/main" id="{195B9512-695C-42C5-8460-40334944A7D7}"/>
              </a:ext>
            </a:extLst>
          </p:cNvPr>
          <p:cNvSpPr>
            <a:spLocks noGrp="1"/>
          </p:cNvSpPr>
          <p:nvPr/>
        </p:nvSpPr>
        <p:spPr>
          <a:xfrm>
            <a:off x="2560320" y="3256321"/>
            <a:ext cx="276120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4" name="Text 35">
            <a:extLst>
              <a:ext uri="{FF2B5EF4-FFF2-40B4-BE49-F238E27FC236}">
                <a16:creationId xmlns:a16="http://schemas.microsoft.com/office/drawing/2014/main" id="{8D010195-D595-4212-B6D8-BEB21A5577B8}"/>
              </a:ext>
            </a:extLst>
          </p:cNvPr>
          <p:cNvSpPr>
            <a:spLocks noGrp="1"/>
          </p:cNvSpPr>
          <p:nvPr/>
        </p:nvSpPr>
        <p:spPr>
          <a:xfrm>
            <a:off x="2633400" y="3281276"/>
            <a:ext cx="2506491" cy="35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9855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Catalog, risk, adapters, approval policy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5" name="Shape 36">
            <a:extLst>
              <a:ext uri="{FF2B5EF4-FFF2-40B4-BE49-F238E27FC236}">
                <a16:creationId xmlns:a16="http://schemas.microsoft.com/office/drawing/2014/main" id="{6CF808A2-10A1-4D4A-AC59-ACA0FEEE70D7}"/>
              </a:ext>
            </a:extLst>
          </p:cNvPr>
          <p:cNvSpPr>
            <a:spLocks noGrp="1"/>
          </p:cNvSpPr>
          <p:nvPr/>
        </p:nvSpPr>
        <p:spPr>
          <a:xfrm>
            <a:off x="5394960" y="3256321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6" name="Text 37">
            <a:extLst>
              <a:ext uri="{FF2B5EF4-FFF2-40B4-BE49-F238E27FC236}">
                <a16:creationId xmlns:a16="http://schemas.microsoft.com/office/drawing/2014/main" id="{1033ACC4-86DB-425A-B876-CAEFA3A7C636}"/>
              </a:ext>
            </a:extLst>
          </p:cNvPr>
          <p:cNvSpPr>
            <a:spLocks noGrp="1"/>
          </p:cNvSpPr>
          <p:nvPr/>
        </p:nvSpPr>
        <p:spPr>
          <a:xfrm>
            <a:off x="5468040" y="3300525"/>
            <a:ext cx="2934720" cy="35604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Operation/context policy + org adoption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7" name="Shape 38">
            <a:extLst>
              <a:ext uri="{FF2B5EF4-FFF2-40B4-BE49-F238E27FC236}">
                <a16:creationId xmlns:a16="http://schemas.microsoft.com/office/drawing/2014/main" id="{1E0E6B5D-904C-4F8F-8C4D-F129C698C5CF}"/>
              </a:ext>
            </a:extLst>
          </p:cNvPr>
          <p:cNvSpPr>
            <a:spLocks noGrp="1"/>
          </p:cNvSpPr>
          <p:nvPr/>
        </p:nvSpPr>
        <p:spPr>
          <a:xfrm>
            <a:off x="8549640" y="3256321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8" name="Text 39">
            <a:extLst>
              <a:ext uri="{FF2B5EF4-FFF2-40B4-BE49-F238E27FC236}">
                <a16:creationId xmlns:a16="http://schemas.microsoft.com/office/drawing/2014/main" id="{1BDD6D6A-FC08-4F03-9BB0-60E165E8CEB6}"/>
              </a:ext>
            </a:extLst>
          </p:cNvPr>
          <p:cNvSpPr>
            <a:spLocks noGrp="1"/>
          </p:cNvSpPr>
          <p:nvPr/>
        </p:nvSpPr>
        <p:spPr>
          <a:xfrm>
            <a:off x="8622720" y="3291750"/>
            <a:ext cx="2934720" cy="3648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Governed capability selection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9" name="Shape 40">
            <a:extLst>
              <a:ext uri="{FF2B5EF4-FFF2-40B4-BE49-F238E27FC236}">
                <a16:creationId xmlns:a16="http://schemas.microsoft.com/office/drawing/2014/main" id="{5A37EDCE-48CA-4351-98E3-2587CA5A53D4}"/>
              </a:ext>
            </a:extLst>
          </p:cNvPr>
          <p:cNvSpPr>
            <a:spLocks noGrp="1"/>
          </p:cNvSpPr>
          <p:nvPr/>
        </p:nvSpPr>
        <p:spPr>
          <a:xfrm>
            <a:off x="594360" y="3822961"/>
            <a:ext cx="189252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0" name="Text 41">
            <a:extLst>
              <a:ext uri="{FF2B5EF4-FFF2-40B4-BE49-F238E27FC236}">
                <a16:creationId xmlns:a16="http://schemas.microsoft.com/office/drawing/2014/main" id="{B5EEF3FD-37A0-4DEC-BA02-3090821A9974}"/>
              </a:ext>
            </a:extLst>
          </p:cNvPr>
          <p:cNvSpPr>
            <a:spLocks noGrp="1"/>
          </p:cNvSpPr>
          <p:nvPr/>
        </p:nvSpPr>
        <p:spPr>
          <a:xfrm>
            <a:off x="667440" y="3896401"/>
            <a:ext cx="1746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i="1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Recovery</a:t>
            </a:r>
            <a:endParaRPr sz="1400" b="0" i="1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1" name="Shape 42">
            <a:extLst>
              <a:ext uri="{FF2B5EF4-FFF2-40B4-BE49-F238E27FC236}">
                <a16:creationId xmlns:a16="http://schemas.microsoft.com/office/drawing/2014/main" id="{D4C690DF-B1B0-4D27-9BFA-16BE95152007}"/>
              </a:ext>
            </a:extLst>
          </p:cNvPr>
          <p:cNvSpPr>
            <a:spLocks noGrp="1"/>
          </p:cNvSpPr>
          <p:nvPr/>
        </p:nvSpPr>
        <p:spPr>
          <a:xfrm>
            <a:off x="2560320" y="3822961"/>
            <a:ext cx="276120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2" name="Text 43">
            <a:extLst>
              <a:ext uri="{FF2B5EF4-FFF2-40B4-BE49-F238E27FC236}">
                <a16:creationId xmlns:a16="http://schemas.microsoft.com/office/drawing/2014/main" id="{2487BFE1-0130-453B-B5D0-7E2F396C6F56}"/>
              </a:ext>
            </a:extLst>
          </p:cNvPr>
          <p:cNvSpPr>
            <a:spLocks noGrp="1"/>
          </p:cNvSpPr>
          <p:nvPr/>
        </p:nvSpPr>
        <p:spPr>
          <a:xfrm>
            <a:off x="2633400" y="3838651"/>
            <a:ext cx="261468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Budgets, dedupe, checkpoint/resume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3" name="Shape 44">
            <a:extLst>
              <a:ext uri="{FF2B5EF4-FFF2-40B4-BE49-F238E27FC236}">
                <a16:creationId xmlns:a16="http://schemas.microsoft.com/office/drawing/2014/main" id="{61DA3049-7F36-409E-9C2E-3FD3C5A0FFF9}"/>
              </a:ext>
            </a:extLst>
          </p:cNvPr>
          <p:cNvSpPr>
            <a:spLocks noGrp="1"/>
          </p:cNvSpPr>
          <p:nvPr/>
        </p:nvSpPr>
        <p:spPr>
          <a:xfrm>
            <a:off x="5394960" y="3822961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4" name="Text 45">
            <a:extLst>
              <a:ext uri="{FF2B5EF4-FFF2-40B4-BE49-F238E27FC236}">
                <a16:creationId xmlns:a16="http://schemas.microsoft.com/office/drawing/2014/main" id="{B2A88F81-CA47-441F-BD51-0D1DC0B6B45D}"/>
              </a:ext>
            </a:extLst>
          </p:cNvPr>
          <p:cNvSpPr>
            <a:spLocks noGrp="1"/>
          </p:cNvSpPr>
          <p:nvPr/>
        </p:nvSpPr>
        <p:spPr>
          <a:xfrm>
            <a:off x="5468040" y="3857901"/>
            <a:ext cx="293472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>
                <a:solidFill>
                  <a:srgbClr val="6F6888"/>
                </a:solidFill>
                <a:latin typeface="Aptos"/>
                <a:ea typeface="Aptos"/>
                <a:cs typeface="Aptos"/>
              </a:rPr>
              <a:t>End-to-end replay across more paths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5" name="Shape 46">
            <a:extLst>
              <a:ext uri="{FF2B5EF4-FFF2-40B4-BE49-F238E27FC236}">
                <a16:creationId xmlns:a16="http://schemas.microsoft.com/office/drawing/2014/main" id="{A36FF717-EFD7-4D06-AC8E-6CE117C4DB0A}"/>
              </a:ext>
            </a:extLst>
          </p:cNvPr>
          <p:cNvSpPr>
            <a:spLocks noGrp="1"/>
          </p:cNvSpPr>
          <p:nvPr/>
        </p:nvSpPr>
        <p:spPr>
          <a:xfrm>
            <a:off x="8549640" y="3822961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6" name="Text 47">
            <a:extLst>
              <a:ext uri="{FF2B5EF4-FFF2-40B4-BE49-F238E27FC236}">
                <a16:creationId xmlns:a16="http://schemas.microsoft.com/office/drawing/2014/main" id="{F2478A0F-58F9-48AB-9F98-29ABB64D1D72}"/>
              </a:ext>
            </a:extLst>
          </p:cNvPr>
          <p:cNvSpPr>
            <a:spLocks noGrp="1"/>
          </p:cNvSpPr>
          <p:nvPr/>
        </p:nvSpPr>
        <p:spPr>
          <a:xfrm>
            <a:off x="8622720" y="3896401"/>
            <a:ext cx="2934720" cy="3166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Durable recovery across work loops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7" name="Shape 48">
            <a:extLst>
              <a:ext uri="{FF2B5EF4-FFF2-40B4-BE49-F238E27FC236}">
                <a16:creationId xmlns:a16="http://schemas.microsoft.com/office/drawing/2014/main" id="{5D0EA355-1CFF-4ADF-A68C-32FA2E3C04F4}"/>
              </a:ext>
            </a:extLst>
          </p:cNvPr>
          <p:cNvSpPr>
            <a:spLocks noGrp="1"/>
          </p:cNvSpPr>
          <p:nvPr/>
        </p:nvSpPr>
        <p:spPr>
          <a:xfrm>
            <a:off x="594360" y="4967472"/>
            <a:ext cx="189252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8" name="Text 49">
            <a:extLst>
              <a:ext uri="{FF2B5EF4-FFF2-40B4-BE49-F238E27FC236}">
                <a16:creationId xmlns:a16="http://schemas.microsoft.com/office/drawing/2014/main" id="{A0743C2D-D327-4AC0-8FA0-F24EBB89B240}"/>
              </a:ext>
            </a:extLst>
          </p:cNvPr>
          <p:cNvSpPr>
            <a:spLocks noGrp="1"/>
          </p:cNvSpPr>
          <p:nvPr/>
        </p:nvSpPr>
        <p:spPr>
          <a:xfrm>
            <a:off x="667440" y="5040552"/>
            <a:ext cx="1773720" cy="27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i="1" u="none" dirty="0">
                <a:solidFill>
                  <a:srgbClr val="151327"/>
                </a:solidFill>
                <a:latin typeface="Aptos"/>
                <a:ea typeface="Aptos"/>
                <a:cs typeface="Aptos"/>
              </a:rPr>
              <a:t>Evidence</a:t>
            </a:r>
            <a:endParaRPr sz="1400" b="0" i="1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9" name="Shape 50">
            <a:extLst>
              <a:ext uri="{FF2B5EF4-FFF2-40B4-BE49-F238E27FC236}">
                <a16:creationId xmlns:a16="http://schemas.microsoft.com/office/drawing/2014/main" id="{415F272A-81A1-4C4F-8CFB-09C0D898409D}"/>
              </a:ext>
            </a:extLst>
          </p:cNvPr>
          <p:cNvSpPr>
            <a:spLocks noGrp="1"/>
          </p:cNvSpPr>
          <p:nvPr/>
        </p:nvSpPr>
        <p:spPr>
          <a:xfrm>
            <a:off x="2560320" y="4967472"/>
            <a:ext cx="276120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0" name="Text 51">
            <a:extLst>
              <a:ext uri="{FF2B5EF4-FFF2-40B4-BE49-F238E27FC236}">
                <a16:creationId xmlns:a16="http://schemas.microsoft.com/office/drawing/2014/main" id="{89575DA1-4974-4882-8AB3-4854DB940D86}"/>
              </a:ext>
            </a:extLst>
          </p:cNvPr>
          <p:cNvSpPr>
            <a:spLocks noGrp="1"/>
          </p:cNvSpPr>
          <p:nvPr/>
        </p:nvSpPr>
        <p:spPr>
          <a:xfrm>
            <a:off x="2633400" y="5021302"/>
            <a:ext cx="2614680" cy="3179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20000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Logs, usage, selftests, R1 hosted evidence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1" name="Shape 52">
            <a:extLst>
              <a:ext uri="{FF2B5EF4-FFF2-40B4-BE49-F238E27FC236}">
                <a16:creationId xmlns:a16="http://schemas.microsoft.com/office/drawing/2014/main" id="{2F67F5BD-037D-4292-98A6-9BDA679FE12F}"/>
              </a:ext>
            </a:extLst>
          </p:cNvPr>
          <p:cNvSpPr>
            <a:spLocks noGrp="1"/>
          </p:cNvSpPr>
          <p:nvPr/>
        </p:nvSpPr>
        <p:spPr>
          <a:xfrm>
            <a:off x="5394960" y="4967472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2" name="Text 53">
            <a:extLst>
              <a:ext uri="{FF2B5EF4-FFF2-40B4-BE49-F238E27FC236}">
                <a16:creationId xmlns:a16="http://schemas.microsoft.com/office/drawing/2014/main" id="{D82D087C-E15E-4A29-A55F-A64406C3C2B7}"/>
              </a:ext>
            </a:extLst>
          </p:cNvPr>
          <p:cNvSpPr>
            <a:spLocks noGrp="1"/>
          </p:cNvSpPr>
          <p:nvPr/>
        </p:nvSpPr>
        <p:spPr>
          <a:xfrm>
            <a:off x="5468040" y="5002052"/>
            <a:ext cx="293472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Outcome coverage y logging controls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3" name="Shape 54">
            <a:extLst>
              <a:ext uri="{FF2B5EF4-FFF2-40B4-BE49-F238E27FC236}">
                <a16:creationId xmlns:a16="http://schemas.microsoft.com/office/drawing/2014/main" id="{6BEE19B8-03B5-4DBC-B274-E53450D8E381}"/>
              </a:ext>
            </a:extLst>
          </p:cNvPr>
          <p:cNvSpPr>
            <a:spLocks noGrp="1"/>
          </p:cNvSpPr>
          <p:nvPr/>
        </p:nvSpPr>
        <p:spPr>
          <a:xfrm>
            <a:off x="8549640" y="4967472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4" name="Text 55">
            <a:extLst>
              <a:ext uri="{FF2B5EF4-FFF2-40B4-BE49-F238E27FC236}">
                <a16:creationId xmlns:a16="http://schemas.microsoft.com/office/drawing/2014/main" id="{B5FFBEDC-F9F9-4399-85F3-87F35F70BB23}"/>
              </a:ext>
            </a:extLst>
          </p:cNvPr>
          <p:cNvSpPr>
            <a:spLocks noGrp="1"/>
          </p:cNvSpPr>
          <p:nvPr/>
        </p:nvSpPr>
        <p:spPr>
          <a:xfrm>
            <a:off x="8622720" y="5021302"/>
            <a:ext cx="2934720" cy="2986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Evidence closes actions/work/outcomes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5" name="Shape 56">
            <a:extLst>
              <a:ext uri="{FF2B5EF4-FFF2-40B4-BE49-F238E27FC236}">
                <a16:creationId xmlns:a16="http://schemas.microsoft.com/office/drawing/2014/main" id="{648A8FB7-0F48-4FF7-8193-AB37858E3D14}"/>
              </a:ext>
            </a:extLst>
          </p:cNvPr>
          <p:cNvSpPr>
            <a:spLocks noGrp="1"/>
          </p:cNvSpPr>
          <p:nvPr/>
        </p:nvSpPr>
        <p:spPr>
          <a:xfrm>
            <a:off x="749881" y="6047070"/>
            <a:ext cx="10698120" cy="467980"/>
          </a:xfrm>
          <a:prstGeom prst="roundRect">
            <a:avLst>
              <a:gd name="adj" fmla="val 19048"/>
            </a:avLst>
          </a:prstGeom>
          <a:solidFill>
            <a:srgbClr val="F1EBFF"/>
          </a:solidFill>
          <a:ln w="12700">
            <a:solidFill>
              <a:srgbClr val="F1EBFF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6" name="Text 57">
            <a:extLst>
              <a:ext uri="{FF2B5EF4-FFF2-40B4-BE49-F238E27FC236}">
                <a16:creationId xmlns:a16="http://schemas.microsoft.com/office/drawing/2014/main" id="{039E89D5-271C-4B4F-8325-D5D5E85B335F}"/>
              </a:ext>
            </a:extLst>
          </p:cNvPr>
          <p:cNvSpPr>
            <a:spLocks noGrp="1"/>
          </p:cNvSpPr>
          <p:nvPr/>
        </p:nvSpPr>
        <p:spPr>
          <a:xfrm>
            <a:off x="904775" y="6120775"/>
            <a:ext cx="10433785" cy="34042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buNone/>
              <a:tabLst>
                <a:tab pos="0" algn="l"/>
              </a:tabLst>
            </a:pPr>
            <a:r>
              <a:rPr sz="14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No presentes target como runtime; abre el code path y verifica.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5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  <p:sp>
        <p:nvSpPr>
          <p:cNvPr id="4" name="Shape 32">
            <a:extLst>
              <a:ext uri="{FF2B5EF4-FFF2-40B4-BE49-F238E27FC236}">
                <a16:creationId xmlns:a16="http://schemas.microsoft.com/office/drawing/2014/main" id="{6CDD65E2-D57C-2940-19CE-840EAF8ED1D2}"/>
              </a:ext>
            </a:extLst>
          </p:cNvPr>
          <p:cNvSpPr>
            <a:spLocks noGrp="1"/>
          </p:cNvSpPr>
          <p:nvPr/>
        </p:nvSpPr>
        <p:spPr>
          <a:xfrm>
            <a:off x="593205" y="4383388"/>
            <a:ext cx="189252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 33">
            <a:extLst>
              <a:ext uri="{FF2B5EF4-FFF2-40B4-BE49-F238E27FC236}">
                <a16:creationId xmlns:a16="http://schemas.microsoft.com/office/drawing/2014/main" id="{47C1A929-D052-8CB2-F735-84A7665A369F}"/>
              </a:ext>
            </a:extLst>
          </p:cNvPr>
          <p:cNvSpPr>
            <a:spLocks noGrp="1"/>
          </p:cNvSpPr>
          <p:nvPr/>
        </p:nvSpPr>
        <p:spPr>
          <a:xfrm>
            <a:off x="666285" y="4456468"/>
            <a:ext cx="1746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i="1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Organizations</a:t>
            </a:r>
            <a:endParaRPr sz="1400" b="0" i="1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Shape 34">
            <a:extLst>
              <a:ext uri="{FF2B5EF4-FFF2-40B4-BE49-F238E27FC236}">
                <a16:creationId xmlns:a16="http://schemas.microsoft.com/office/drawing/2014/main" id="{FA83087B-39B5-79CE-FD09-A69FA233008B}"/>
              </a:ext>
            </a:extLst>
          </p:cNvPr>
          <p:cNvSpPr>
            <a:spLocks noGrp="1"/>
          </p:cNvSpPr>
          <p:nvPr/>
        </p:nvSpPr>
        <p:spPr>
          <a:xfrm>
            <a:off x="2559165" y="4383388"/>
            <a:ext cx="276120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Text 35">
            <a:extLst>
              <a:ext uri="{FF2B5EF4-FFF2-40B4-BE49-F238E27FC236}">
                <a16:creationId xmlns:a16="http://schemas.microsoft.com/office/drawing/2014/main" id="{ED8B8A4B-FE37-187B-C07F-641FC5763B86}"/>
              </a:ext>
            </a:extLst>
          </p:cNvPr>
          <p:cNvSpPr>
            <a:spLocks noGrp="1"/>
          </p:cNvSpPr>
          <p:nvPr/>
        </p:nvSpPr>
        <p:spPr>
          <a:xfrm>
            <a:off x="2632245" y="4456468"/>
            <a:ext cx="2506491" cy="35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9838" lnSpcReduction="10000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Schema/RLS foundations; routes mixed scoped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Shape 36">
            <a:extLst>
              <a:ext uri="{FF2B5EF4-FFF2-40B4-BE49-F238E27FC236}">
                <a16:creationId xmlns:a16="http://schemas.microsoft.com/office/drawing/2014/main" id="{675C81C6-8213-95D3-5C96-314EC4340ECF}"/>
              </a:ext>
            </a:extLst>
          </p:cNvPr>
          <p:cNvSpPr>
            <a:spLocks noGrp="1"/>
          </p:cNvSpPr>
          <p:nvPr/>
        </p:nvSpPr>
        <p:spPr>
          <a:xfrm>
            <a:off x="5393805" y="4383388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Text 37">
            <a:extLst>
              <a:ext uri="{FF2B5EF4-FFF2-40B4-BE49-F238E27FC236}">
                <a16:creationId xmlns:a16="http://schemas.microsoft.com/office/drawing/2014/main" id="{A8AAB8DA-E110-8BED-70B5-3EC8832149E1}"/>
              </a:ext>
            </a:extLst>
          </p:cNvPr>
          <p:cNvSpPr>
            <a:spLocks noGrp="1"/>
          </p:cNvSpPr>
          <p:nvPr/>
        </p:nvSpPr>
        <p:spPr>
          <a:xfrm>
            <a:off x="5466885" y="4427592"/>
            <a:ext cx="2934720" cy="35604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Migrate runtime authority and scopes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Shape 38">
            <a:extLst>
              <a:ext uri="{FF2B5EF4-FFF2-40B4-BE49-F238E27FC236}">
                <a16:creationId xmlns:a16="http://schemas.microsoft.com/office/drawing/2014/main" id="{0C50F44A-B478-4A45-0729-02EB4FE0DC6B}"/>
              </a:ext>
            </a:extLst>
          </p:cNvPr>
          <p:cNvSpPr>
            <a:spLocks noGrp="1"/>
          </p:cNvSpPr>
          <p:nvPr/>
        </p:nvSpPr>
        <p:spPr>
          <a:xfrm>
            <a:off x="8548485" y="4383388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Text 39">
            <a:extLst>
              <a:ext uri="{FF2B5EF4-FFF2-40B4-BE49-F238E27FC236}">
                <a16:creationId xmlns:a16="http://schemas.microsoft.com/office/drawing/2014/main" id="{8435773F-923F-DB57-B244-59932C6AC154}"/>
              </a:ext>
            </a:extLst>
          </p:cNvPr>
          <p:cNvSpPr>
            <a:spLocks noGrp="1"/>
          </p:cNvSpPr>
          <p:nvPr/>
        </p:nvSpPr>
        <p:spPr>
          <a:xfrm>
            <a:off x="8621565" y="4418817"/>
            <a:ext cx="2934720" cy="3648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Multi-seat organizational operation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Shape 48">
            <a:extLst>
              <a:ext uri="{FF2B5EF4-FFF2-40B4-BE49-F238E27FC236}">
                <a16:creationId xmlns:a16="http://schemas.microsoft.com/office/drawing/2014/main" id="{676ABF06-2372-0EA0-8A46-65414BA12BC3}"/>
              </a:ext>
            </a:extLst>
          </p:cNvPr>
          <p:cNvSpPr>
            <a:spLocks noGrp="1"/>
          </p:cNvSpPr>
          <p:nvPr/>
        </p:nvSpPr>
        <p:spPr>
          <a:xfrm>
            <a:off x="593205" y="5535362"/>
            <a:ext cx="189252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Text 49">
            <a:extLst>
              <a:ext uri="{FF2B5EF4-FFF2-40B4-BE49-F238E27FC236}">
                <a16:creationId xmlns:a16="http://schemas.microsoft.com/office/drawing/2014/main" id="{A981233E-689F-7D2B-A549-89F66BF724A6}"/>
              </a:ext>
            </a:extLst>
          </p:cNvPr>
          <p:cNvSpPr>
            <a:spLocks noGrp="1"/>
          </p:cNvSpPr>
          <p:nvPr/>
        </p:nvSpPr>
        <p:spPr>
          <a:xfrm>
            <a:off x="666285" y="5608442"/>
            <a:ext cx="1773720" cy="2750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i="1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Durable bridge</a:t>
            </a:r>
            <a:endParaRPr sz="1400" b="0" i="1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Shape 50">
            <a:extLst>
              <a:ext uri="{FF2B5EF4-FFF2-40B4-BE49-F238E27FC236}">
                <a16:creationId xmlns:a16="http://schemas.microsoft.com/office/drawing/2014/main" id="{302A7A4C-6BEA-886B-3467-2B587EC7CAB0}"/>
              </a:ext>
            </a:extLst>
          </p:cNvPr>
          <p:cNvSpPr>
            <a:spLocks noGrp="1"/>
          </p:cNvSpPr>
          <p:nvPr/>
        </p:nvSpPr>
        <p:spPr>
          <a:xfrm>
            <a:off x="2559165" y="5535362"/>
            <a:ext cx="276120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Text 51">
            <a:extLst>
              <a:ext uri="{FF2B5EF4-FFF2-40B4-BE49-F238E27FC236}">
                <a16:creationId xmlns:a16="http://schemas.microsoft.com/office/drawing/2014/main" id="{FA9CB9FD-3FBA-0E32-D061-97B6D373357F}"/>
              </a:ext>
            </a:extLst>
          </p:cNvPr>
          <p:cNvSpPr>
            <a:spLocks noGrp="1"/>
          </p:cNvSpPr>
          <p:nvPr/>
        </p:nvSpPr>
        <p:spPr>
          <a:xfrm>
            <a:off x="2632245" y="5589192"/>
            <a:ext cx="2614680" cy="3179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20000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Cases/Work/Durable Task foundations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Shape 52">
            <a:extLst>
              <a:ext uri="{FF2B5EF4-FFF2-40B4-BE49-F238E27FC236}">
                <a16:creationId xmlns:a16="http://schemas.microsoft.com/office/drawing/2014/main" id="{3C1B59BB-05BF-ED2D-5988-973645E7CC31}"/>
              </a:ext>
            </a:extLst>
          </p:cNvPr>
          <p:cNvSpPr>
            <a:spLocks noGrp="1"/>
          </p:cNvSpPr>
          <p:nvPr/>
        </p:nvSpPr>
        <p:spPr>
          <a:xfrm>
            <a:off x="5393805" y="5535362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Text 53">
            <a:extLst>
              <a:ext uri="{FF2B5EF4-FFF2-40B4-BE49-F238E27FC236}">
                <a16:creationId xmlns:a16="http://schemas.microsoft.com/office/drawing/2014/main" id="{1B29F206-F3C4-5AC2-A781-9F3CE5EEF86A}"/>
              </a:ext>
            </a:extLst>
          </p:cNvPr>
          <p:cNvSpPr>
            <a:spLocks noGrp="1"/>
          </p:cNvSpPr>
          <p:nvPr/>
        </p:nvSpPr>
        <p:spPr>
          <a:xfrm>
            <a:off x="5466885" y="5569942"/>
            <a:ext cx="293472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R1 supervisor loop SL-4 READY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Shape 54">
            <a:extLst>
              <a:ext uri="{FF2B5EF4-FFF2-40B4-BE49-F238E27FC236}">
                <a16:creationId xmlns:a16="http://schemas.microsoft.com/office/drawing/2014/main" id="{149BB92A-CBEE-0B8A-91F5-CDD4CED12FA2}"/>
              </a:ext>
            </a:extLst>
          </p:cNvPr>
          <p:cNvSpPr>
            <a:spLocks noGrp="1"/>
          </p:cNvSpPr>
          <p:nvPr/>
        </p:nvSpPr>
        <p:spPr>
          <a:xfrm>
            <a:off x="8548485" y="5535362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Text 55">
            <a:extLst>
              <a:ext uri="{FF2B5EF4-FFF2-40B4-BE49-F238E27FC236}">
                <a16:creationId xmlns:a16="http://schemas.microsoft.com/office/drawing/2014/main" id="{4C06AB27-26DB-5BBF-1B7B-E7DBEA234548}"/>
              </a:ext>
            </a:extLst>
          </p:cNvPr>
          <p:cNvSpPr>
            <a:spLocks noGrp="1"/>
          </p:cNvSpPr>
          <p:nvPr/>
        </p:nvSpPr>
        <p:spPr>
          <a:xfrm>
            <a:off x="8621565" y="5589192"/>
            <a:ext cx="2934720" cy="2986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Cross-domain responsibility kernel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861898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618F6DEF-7D48-40BC-B18B-856FBF23F32D}"/>
              </a:ext>
            </a:extLst>
          </p:cNvPr>
          <p:cNvSpPr>
            <a:spLocks noGrp="1"/>
          </p:cNvSpPr>
          <p:nvPr/>
        </p:nvSpPr>
        <p:spPr>
          <a:xfrm>
            <a:off x="676656" y="2331720"/>
            <a:ext cx="5669280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59211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3800" b="1">
                <a:solidFill>
                  <a:srgbClr val="FFFFFF"/>
                </a:solidFill>
                <a:latin typeface="Inter Display"/>
                <a:ea typeface="Inter Display"/>
                <a:cs typeface="Inter Display"/>
              </a:rPr>
              <a:t>Un buen harness hace que el modelo</a:t>
            </a:r>
            <a:endParaRPr sz="3800"/>
          </a:p>
          <a:p>
            <a:pPr marL="0" indent="0" algn="l">
              <a:lnSpc>
                <a:spcPct val="100000"/>
              </a:lnSpc>
              <a:buNone/>
            </a:pPr>
            <a:r>
              <a:rPr sz="3800" b="1">
                <a:solidFill>
                  <a:srgbClr val="FFFFFF"/>
                </a:solidFill>
                <a:latin typeface="Inter Display"/>
                <a:ea typeface="Inter Display"/>
                <a:cs typeface="Inter Display"/>
              </a:rPr>
              <a:t>pueda trabajar sin poseer autoridad.</a:t>
            </a:r>
            <a:endParaRPr sz="38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D9D48F3-5576-4724-8683-EA137FCD39ED}"/>
              </a:ext>
            </a:extLst>
          </p:cNvPr>
          <p:cNvSpPr>
            <a:spLocks noGrp="1"/>
          </p:cNvSpPr>
          <p:nvPr/>
        </p:nvSpPr>
        <p:spPr>
          <a:xfrm>
            <a:off x="694944" y="3072384"/>
            <a:ext cx="576072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4973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dirty="0" err="1">
                <a:solidFill>
                  <a:srgbClr val="D8CFEA"/>
                </a:solidFill>
                <a:latin typeface="Inter"/>
                <a:ea typeface="Inter"/>
                <a:cs typeface="Inter"/>
              </a:rPr>
              <a:t>Contexto</a:t>
            </a:r>
            <a:r>
              <a:rPr dirty="0">
                <a:solidFill>
                  <a:srgbClr val="D8CFEA"/>
                </a:solidFill>
                <a:latin typeface="Inter"/>
                <a:ea typeface="Inter"/>
                <a:cs typeface="Inter"/>
              </a:rPr>
              <a:t> </a:t>
            </a:r>
            <a:r>
              <a:rPr dirty="0" err="1">
                <a:solidFill>
                  <a:srgbClr val="D8CFEA"/>
                </a:solidFill>
                <a:latin typeface="Inter"/>
                <a:ea typeface="Inter"/>
                <a:cs typeface="Inter"/>
              </a:rPr>
              <a:t>compilado</a:t>
            </a:r>
            <a:r>
              <a:rPr dirty="0">
                <a:solidFill>
                  <a:srgbClr val="D8CFEA"/>
                </a:solidFill>
                <a:latin typeface="Inter"/>
                <a:ea typeface="Inter"/>
                <a:cs typeface="Inter"/>
              </a:rPr>
              <a:t>. </a:t>
            </a:r>
            <a:r>
              <a:rPr lang="es-MX" dirty="0">
                <a:solidFill>
                  <a:srgbClr val="D8CFEA"/>
                </a:solidFill>
                <a:latin typeface="Inter"/>
                <a:ea typeface="Inter"/>
                <a:cs typeface="Inter"/>
              </a:rPr>
              <a:t>Estado</a:t>
            </a:r>
            <a:r>
              <a:rPr dirty="0">
                <a:solidFill>
                  <a:srgbClr val="D8CFEA"/>
                </a:solidFill>
                <a:latin typeface="Inter"/>
                <a:ea typeface="Inter"/>
                <a:cs typeface="Inter"/>
              </a:rPr>
              <a:t> durable. Effects </a:t>
            </a:r>
            <a:r>
              <a:rPr dirty="0" err="1">
                <a:solidFill>
                  <a:srgbClr val="D8CFEA"/>
                </a:solidFill>
                <a:latin typeface="Inter"/>
                <a:ea typeface="Inter"/>
                <a:cs typeface="Inter"/>
              </a:rPr>
              <a:t>gobernados</a:t>
            </a:r>
            <a:r>
              <a:rPr dirty="0">
                <a:solidFill>
                  <a:srgbClr val="D8CFEA"/>
                </a:solidFill>
                <a:latin typeface="Inter"/>
                <a:ea typeface="Inter"/>
                <a:cs typeface="Inter"/>
              </a:rPr>
              <a:t>. Evidence visible.</a:t>
            </a:r>
            <a:endParaRPr dirty="0"/>
          </a:p>
        </p:txBody>
      </p:sp>
      <p:pic>
        <p:nvPicPr>
          <p:cNvPr id="30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376172"/>
            <a:ext cx="4151376" cy="4151376"/>
          </a:xfrm>
          <a:prstGeom prst="rect">
            <a:avLst/>
          </a:prstGeom>
        </p:spPr>
      </p:pic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AF5DBDF2-E7DA-462E-B9BD-C3A35A73DB26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631167" y="6490252"/>
            <a:ext cx="315668" cy="203156"/>
          </a:xfrm>
          <a:prstGeom prst="rect">
            <a:avLst/>
          </a:prstGeom>
        </p:spPr>
        <p:txBody>
          <a:bodyPr/>
          <a:lstStyle>
            <a:lvl1pPr marL="0" algn="l" defTabSz="914400">
              <a:buNone/>
              <a:defRPr sz="800" kern="1200">
                <a:solidFill>
                  <a:srgbClr val="8D86A0"/>
                </a:solidFill>
                <a:latin typeface="Inter"/>
                <a:ea typeface="Inter"/>
                <a:cs typeface="Inter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fld id="{B1C6C81E-38B9-7560-621D-5A151A79DF9B}" type="slidenum">
              <a:rPr/>
              <a:t>18</a:t>
            </a:fld>
            <a:endParaRPr/>
          </a:p>
        </p:txBody>
      </p:sp>
      <p:pic>
        <p:nvPicPr>
          <p:cNvPr id="32" name="Image 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1349" y="432161"/>
            <a:ext cx="713798" cy="59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02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3446</Words>
  <Application>Microsoft Office PowerPoint</Application>
  <DocSecurity>0</DocSecurity>
  <PresentationFormat>Panorámica</PresentationFormat>
  <Paragraphs>497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6" baseType="lpstr">
      <vt:lpstr>Aptos</vt:lpstr>
      <vt:lpstr>Aptos Display</vt:lpstr>
      <vt:lpstr>Arial</vt:lpstr>
      <vt:lpstr>Inter</vt:lpstr>
      <vt:lpstr>Inter Display</vt:lpstr>
      <vt:lpstr>Symbol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Alejandro Torres</cp:lastModifiedBy>
  <cp:revision>10</cp:revision>
  <dcterms:created xsi:type="dcterms:W3CDTF">2026-09-08T13:16:23Z</dcterms:created>
  <dcterms:modified xsi:type="dcterms:W3CDTF">2026-09-08T17:49:23Z</dcterms:modified>
</cp:coreProperties>
</file>